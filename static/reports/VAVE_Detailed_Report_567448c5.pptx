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defRPr>
                <a:solidFill>
                  <a:srgbClr val="003366"/>
                </a:solidFill>
              </a:defRPr>
            </a:pPr>
            <a:r>
              <a:t>VAVE Cost Reduction Strategy</a:t>
            </a:r>
          </a:p>
        </p:txBody>
      </p:sp>
      <p:sp>
        <p:nvSpPr>
          <p:cNvPr id="3" name="Subtitle 2"/>
          <p:cNvSpPr>
            <a:spLocks noGrp="1"/>
          </p:cNvSpPr>
          <p:nvPr>
            <p:ph type="subTitle" idx="1"/>
          </p:nvPr>
        </p:nvSpPr>
        <p:spPr/>
        <p:txBody>
          <a:bodyPr wrap="square"/>
          <a:lstStyle/>
          <a:p>
            <a:r>
              <a:t>Detailed Engineering Feasibility Report | 03-Feb-2026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365760" y="411480"/>
          <a:ext cx="10881360" cy="6263640"/>
        </p:xfrm>
        <a:graphic>
          <a:graphicData uri="http://schemas.openxmlformats.org/drawingml/2006/table">
            <a:tbl>
              <a:tblPr firstRow="1" bandRow="1">
                <a:tableStyleId>{5C22544A-7EE6-4342-B048-85BDC9FD1C3A}</a:tableStyleId>
              </a:tblPr>
              <a:tblGrid>
                <a:gridCol w="731520"/>
                <a:gridCol w="4114800"/>
                <a:gridCol w="1097280"/>
                <a:gridCol w="1097280"/>
                <a:gridCol w="1097280"/>
                <a:gridCol w="1371600"/>
                <a:gridCol w="1371600"/>
              </a:tblGrid>
              <a:tr h="626364">
                <a:tc>
                  <a:txBody>
                    <a:bodyPr wrap="square"/>
                    <a:lstStyle/>
                    <a:p>
                      <a:pPr>
                        <a:defRPr b="1" sz="900">
                          <a:solidFill>
                            <a:srgbClr val="FFFFFF"/>
                          </a:solidFill>
                        </a:defRPr>
                      </a:pPr>
                      <a:r>
                        <a:t>Idea 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 (₹ Cr)</a:t>
                      </a:r>
                    </a:p>
                  </a:txBody>
                  <a:tcPr>
                    <a:solidFill>
                      <a:srgbClr val="003366"/>
                    </a:solidFill>
                  </a:tcPr>
                </a:tc>
                <a:tc>
                  <a:txBody>
                    <a:bodyPr wrap="square"/>
                    <a:lstStyle/>
                    <a:p>
                      <a:pPr>
                        <a:defRPr b="1" sz="900">
                          <a:solidFill>
                            <a:srgbClr val="FFFFFF"/>
                          </a:solidFill>
                        </a:defRPr>
                      </a:pPr>
                      <a:r>
                        <a:t>Unit Saving (₹)</a:t>
                      </a:r>
                    </a:p>
                  </a:txBody>
                  <a:tcPr>
                    <a:solidFill>
                      <a:srgbClr val="003366"/>
                    </a:solidFill>
                  </a:tcPr>
                </a:tc>
                <a:tc>
                  <a:txBody>
                    <a:bodyPr wrap="square"/>
                    <a:lstStyle/>
                    <a:p>
                      <a:pPr>
                        <a:defRPr b="1" sz="900">
                          <a:solidFill>
                            <a:srgbClr val="FFFFFF"/>
                          </a:solidFill>
                        </a:defRPr>
                      </a:pPr>
                      <a:r>
                        <a:t>Yearly Volume</a:t>
                      </a:r>
                    </a:p>
                  </a:txBody>
                  <a:tcPr>
                    <a:solidFill>
                      <a:srgbClr val="003366"/>
                    </a:solidFill>
                  </a:tcPr>
                </a:tc>
                <a:tc>
                  <a:txBody>
                    <a:bodyPr wrap="square"/>
                    <a:lstStyle/>
                    <a:p>
                      <a:pPr>
                        <a:defRPr b="1" sz="900">
                          <a:solidFill>
                            <a:srgbClr val="FFFFFF"/>
                          </a:solidFill>
                        </a:defRPr>
                      </a:pPr>
                      <a:r>
                        <a:t>Total Saving (₹ Cr)</a:t>
                      </a:r>
                    </a:p>
                  </a:txBody>
                  <a:tcPr>
                    <a:solidFill>
                      <a:srgbClr val="003366"/>
                    </a:solidFill>
                  </a:tcPr>
                </a:tc>
                <a:tc>
                  <a:txBody>
                    <a:bodyPr wrap="square"/>
                    <a:lstStyle/>
                    <a:p>
                      <a:pPr>
                        <a:defRPr b="1" sz="900">
                          <a:solidFill>
                            <a:srgbClr val="FFFFFF"/>
                          </a:solidFill>
                        </a:defRPr>
                      </a:pPr>
                      <a:r>
                        <a:t>Status</a:t>
                      </a:r>
                    </a:p>
                  </a:txBody>
                  <a:tcPr>
                    <a:solidFill>
                      <a:srgbClr val="003366"/>
                    </a:solidFill>
                  </a:tcPr>
                </a:tc>
              </a:tr>
              <a:tr h="626364">
                <a:tc>
                  <a:txBody>
                    <a:bodyPr wrap="square" lIns="50800" rIns="50800"/>
                    <a:lstStyle/>
                    <a:p>
                      <a:pPr>
                        <a:defRPr sz="900">
                          <a:solidFill>
                            <a:srgbClr val="333333"/>
                          </a:solidFill>
                          <a:latin typeface="Calibri"/>
                        </a:defRPr>
                      </a:pPr>
                      <a:r>
                        <a:t>2311-PA-ID-02</a:t>
                      </a:r>
                    </a:p>
                  </a:txBody>
                  <a:tcPr/>
                </a:tc>
                <a:tc>
                  <a:txBody>
                    <a:bodyPr wrap="square" lIns="50800" rIns="50800"/>
                    <a:lstStyle/>
                    <a:p>
                      <a:pPr>
                        <a:defRPr sz="900">
                          <a:solidFill>
                            <a:srgbClr val="333333"/>
                          </a:solidFill>
                          <a:latin typeface="Calibri"/>
                        </a:defRPr>
                      </a:pPr>
                      <a:r>
                        <a:t>Redesign the current Brake Pedal Mounting Bracket used in MGI to a similar bracket used in KIA.</a:t>
                      </a:r>
                    </a:p>
                  </a:txBody>
                  <a:tcPr/>
                </a:tc>
                <a:tc>
                  <a:txBody>
                    <a:bodyPr wrap="square" lIns="50800" rIns="50800"/>
                    <a:lstStyle/>
                    <a:p>
                      <a:pPr>
                        <a:defRPr sz="900">
                          <a:solidFill>
                            <a:srgbClr val="333333"/>
                          </a:solidFill>
                          <a:latin typeface="Calibri"/>
                        </a:defRPr>
                      </a:pPr>
                      <a:r>
                        <a:t>0.2500</a:t>
                      </a:r>
                    </a:p>
                  </a:txBody>
                  <a:tcPr/>
                </a:tc>
                <a:tc>
                  <a:txBody>
                    <a:bodyPr wrap="square" lIns="50800" rIns="50800"/>
                    <a:lstStyle/>
                    <a:p>
                      <a:pPr>
                        <a:defRPr sz="900">
                          <a:solidFill>
                            <a:srgbClr val="333333"/>
                          </a:solidFill>
                          <a:latin typeface="Calibri"/>
                        </a:defRPr>
                      </a:pPr>
                      <a:r>
                        <a:t>113.00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1.1300</a:t>
                      </a:r>
                    </a:p>
                  </a:txBody>
                  <a:tcPr/>
                </a:tc>
                <a:tc>
                  <a:txBody>
                    <a:bodyPr wrap="square" lIns="50800" rIns="50800"/>
                    <a:lstStyle/>
                    <a:p>
                      <a:pPr>
                        <a:defRPr sz="900">
                          <a:solidFill>
                            <a:srgbClr val="333333"/>
                          </a:solidFill>
                          <a:latin typeface="Calibri"/>
                        </a:defRPr>
                      </a:pPr>
                      <a:r>
                        <a:t>TBD</a:t>
                      </a:r>
                    </a:p>
                  </a:txBody>
                  <a:tcPr/>
                </a:tc>
              </a:tr>
              <a:tr h="626364">
                <a:tc>
                  <a:txBody>
                    <a:bodyPr wrap="square" lIns="50800" rIns="50800"/>
                    <a:lstStyle/>
                    <a:p>
                      <a:pPr>
                        <a:defRPr sz="900">
                          <a:solidFill>
                            <a:srgbClr val="333333"/>
                          </a:solidFill>
                          <a:latin typeface="Calibri"/>
                        </a:defRPr>
                      </a:pPr>
                      <a:r>
                        <a:t>2311-BA-ID-01</a:t>
                      </a:r>
                    </a:p>
                  </a:txBody>
                  <a:tcPr/>
                </a:tc>
                <a:tc>
                  <a:txBody>
                    <a:bodyPr wrap="square" lIns="50800" rIns="50800"/>
                    <a:lstStyle/>
                    <a:p>
                      <a:pPr>
                        <a:defRPr sz="900">
                          <a:solidFill>
                            <a:srgbClr val="333333"/>
                          </a:solidFill>
                          <a:latin typeface="Calibri"/>
                        </a:defRPr>
                      </a:pPr>
                      <a:r>
                        <a:t>The Brake Booster Plate in MGI could be integrated into the Dashboard BIW of the vehicle as done in KIA</a:t>
                      </a:r>
                    </a:p>
                  </a:txBody>
                  <a:tcPr/>
                </a:tc>
                <a:tc>
                  <a:txBody>
                    <a:bodyPr wrap="square" lIns="50800" rIns="50800"/>
                    <a:lstStyle/>
                    <a:p>
                      <a:pPr>
                        <a:defRPr sz="900">
                          <a:solidFill>
                            <a:srgbClr val="333333"/>
                          </a:solidFill>
                          <a:latin typeface="Calibri"/>
                        </a:defRPr>
                      </a:pPr>
                      <a:r>
                        <a:t>0.2500</a:t>
                      </a:r>
                    </a:p>
                  </a:txBody>
                  <a:tcPr/>
                </a:tc>
                <a:tc>
                  <a:txBody>
                    <a:bodyPr wrap="square" lIns="50800" rIns="50800"/>
                    <a:lstStyle/>
                    <a:p>
                      <a:pPr>
                        <a:defRPr sz="900">
                          <a:solidFill>
                            <a:srgbClr val="333333"/>
                          </a:solidFill>
                          <a:latin typeface="Calibri"/>
                        </a:defRPr>
                      </a:pPr>
                      <a:r>
                        <a:t>47.00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0.4700</a:t>
                      </a:r>
                    </a:p>
                  </a:txBody>
                  <a:tcPr/>
                </a:tc>
                <a:tc>
                  <a:txBody>
                    <a:bodyPr wrap="square" lIns="50800" rIns="50800"/>
                    <a:lstStyle/>
                    <a:p>
                      <a:pPr>
                        <a:defRPr sz="900">
                          <a:solidFill>
                            <a:srgbClr val="333333"/>
                          </a:solidFill>
                          <a:latin typeface="Calibri"/>
                        </a:defRPr>
                      </a:pPr>
                      <a:r>
                        <a:t>NG</a:t>
                      </a:r>
                    </a:p>
                  </a:txBody>
                  <a:tcPr/>
                </a:tc>
              </a:tr>
              <a:tr h="626364">
                <a:tc>
                  <a:txBody>
                    <a:bodyPr wrap="square" lIns="50800" rIns="50800"/>
                    <a:lstStyle/>
                    <a:p>
                      <a:pPr>
                        <a:defRPr sz="900">
                          <a:solidFill>
                            <a:srgbClr val="333333"/>
                          </a:solidFill>
                          <a:latin typeface="Calibri"/>
                        </a:defRPr>
                      </a:pPr>
                      <a:r>
                        <a:t>2311-SP-ID-01</a:t>
                      </a:r>
                    </a:p>
                  </a:txBody>
                  <a:tcPr/>
                </a:tc>
                <a:tc>
                  <a:txBody>
                    <a:bodyPr wrap="square" lIns="50800" rIns="50800"/>
                    <a:lstStyle/>
                    <a:p>
                      <a:pPr>
                        <a:defRPr sz="900">
                          <a:solidFill>
                            <a:srgbClr val="333333"/>
                          </a:solidFill>
                          <a:latin typeface="Calibri"/>
                        </a:defRPr>
                      </a:pPr>
                      <a:r>
                        <a:t>1. Reduce the overall wall thickness of the Brake Dust Cover Plates present on all four wheel hubs of the vehicles from 1mm to 0.8mm</a:t>
                      </a:r>
                      <a:br/>
                      <a:r>
                        <a:t>2. Reduce the paint coating thickness on each side of all four plates from 56 microns to 27.8 microns</a:t>
                      </a:r>
                    </a:p>
                  </a:txBody>
                  <a:tcPr/>
                </a:tc>
                <a:tc>
                  <a:txBody>
                    <a:bodyPr wrap="square" lIns="50800" rIns="50800"/>
                    <a:lstStyle/>
                    <a:p>
                      <a:pPr>
                        <a:defRPr sz="900">
                          <a:solidFill>
                            <a:srgbClr val="333333"/>
                          </a:solidFill>
                          <a:latin typeface="Calibri"/>
                        </a:defRPr>
                      </a:pPr>
                      <a:r>
                        <a:t>0.1500</a:t>
                      </a:r>
                    </a:p>
                  </a:txBody>
                  <a:tcPr/>
                </a:tc>
                <a:tc>
                  <a:txBody>
                    <a:bodyPr wrap="square" lIns="50800" rIns="50800"/>
                    <a:lstStyle/>
                    <a:p>
                      <a:pPr>
                        <a:defRPr sz="900">
                          <a:solidFill>
                            <a:srgbClr val="333333"/>
                          </a:solidFill>
                          <a:latin typeface="Calibri"/>
                        </a:defRPr>
                      </a:pPr>
                      <a:r>
                        <a:t>57.00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0.5700</a:t>
                      </a:r>
                    </a:p>
                  </a:txBody>
                  <a:tcPr/>
                </a:tc>
                <a:tc>
                  <a:txBody>
                    <a:bodyPr wrap="square" lIns="50800" rIns="50800"/>
                    <a:lstStyle/>
                    <a:p>
                      <a:pPr>
                        <a:defRPr sz="900">
                          <a:solidFill>
                            <a:srgbClr val="333333"/>
                          </a:solidFill>
                          <a:latin typeface="Calibri"/>
                        </a:defRPr>
                      </a:pPr>
                      <a:r>
                        <a:t>NG</a:t>
                      </a:r>
                    </a:p>
                  </a:txBody>
                  <a:tcPr/>
                </a:tc>
              </a:tr>
              <a:tr h="626364">
                <a:tc>
                  <a:txBody>
                    <a:bodyPr wrap="square" lIns="50800" rIns="50800"/>
                    <a:lstStyle/>
                    <a:p>
                      <a:pPr>
                        <a:defRPr sz="900">
                          <a:solidFill>
                            <a:srgbClr val="333333"/>
                          </a:solidFill>
                          <a:latin typeface="Calibri"/>
                        </a:defRPr>
                      </a:pPr>
                      <a:r>
                        <a:t>2311-BA-ID-02</a:t>
                      </a:r>
                    </a:p>
                  </a:txBody>
                  <a:tcPr/>
                </a:tc>
                <a:tc>
                  <a:txBody>
                    <a:bodyPr wrap="square" lIns="50800" rIns="50800"/>
                    <a:lstStyle/>
                    <a:p>
                      <a:pPr>
                        <a:defRPr sz="900">
                          <a:solidFill>
                            <a:srgbClr val="333333"/>
                          </a:solidFill>
                          <a:latin typeface="Calibri"/>
                        </a:defRPr>
                      </a:pPr>
                      <a:r>
                        <a:t>Remove the black paint coating from the Brake Caliper Mounting Brackets on all four brake assemblies of MGI, following the procedure used for the front brake caliper mounting brackets in KIA.</a:t>
                      </a:r>
                    </a:p>
                  </a:txBody>
                  <a:tcPr/>
                </a:tc>
                <a:tc>
                  <a:txBody>
                    <a:bodyPr wrap="square" lIns="50800" rIns="50800"/>
                    <a:lstStyle/>
                    <a:p>
                      <a:pPr>
                        <a:defRPr sz="900">
                          <a:solidFill>
                            <a:srgbClr val="333333"/>
                          </a:solidFill>
                          <a:latin typeface="Calibri"/>
                        </a:defRPr>
                      </a:pPr>
                      <a:r>
                        <a:t>0.0750</a:t>
                      </a:r>
                    </a:p>
                  </a:txBody>
                  <a:tcPr/>
                </a:tc>
                <a:tc>
                  <a:txBody>
                    <a:bodyPr wrap="square" lIns="50800" rIns="50800"/>
                    <a:lstStyle/>
                    <a:p>
                      <a:pPr>
                        <a:defRPr sz="900">
                          <a:solidFill>
                            <a:srgbClr val="333333"/>
                          </a:solidFill>
                          <a:latin typeface="Calibri"/>
                        </a:defRPr>
                      </a:pPr>
                      <a:r>
                        <a:t>102.00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1.0200</a:t>
                      </a:r>
                    </a:p>
                  </a:txBody>
                  <a:tcPr/>
                </a:tc>
                <a:tc>
                  <a:txBody>
                    <a:bodyPr wrap="square" lIns="50800" rIns="50800"/>
                    <a:lstStyle/>
                    <a:p>
                      <a:pPr>
                        <a:defRPr sz="900">
                          <a:solidFill>
                            <a:srgbClr val="333333"/>
                          </a:solidFill>
                          <a:latin typeface="Calibri"/>
                        </a:defRPr>
                      </a:pPr>
                      <a:r>
                        <a:t>NG</a:t>
                      </a:r>
                    </a:p>
                  </a:txBody>
                  <a:tcPr/>
                </a:tc>
              </a:tr>
              <a:tr h="626364">
                <a:tc>
                  <a:txBody>
                    <a:bodyPr wrap="square" lIns="50800" rIns="50800"/>
                    <a:lstStyle/>
                    <a:p>
                      <a:pPr>
                        <a:defRPr sz="900">
                          <a:solidFill>
                            <a:srgbClr val="333333"/>
                          </a:solidFill>
                          <a:latin typeface="Calibri"/>
                        </a:defRPr>
                      </a:pPr>
                      <a:r>
                        <a:t>2311-PA-ID-01</a:t>
                      </a:r>
                    </a:p>
                  </a:txBody>
                  <a:tcPr/>
                </a:tc>
                <a:tc>
                  <a:txBody>
                    <a:bodyPr wrap="square" lIns="50800" rIns="50800"/>
                    <a:lstStyle/>
                    <a:p>
                      <a:pPr>
                        <a:defRPr sz="900">
                          <a:solidFill>
                            <a:srgbClr val="333333"/>
                          </a:solidFill>
                          <a:latin typeface="Calibri"/>
                        </a:defRPr>
                      </a:pPr>
                      <a:r>
                        <a:t>Remove the black paint coating on the Brake Pedal Mounting Bracket within MGI</a:t>
                      </a:r>
                    </a:p>
                  </a:txBody>
                  <a:tcPr/>
                </a:tc>
                <a:tc>
                  <a:txBody>
                    <a:bodyPr wrap="square" lIns="50800" rIns="50800"/>
                    <a:lstStyle/>
                    <a:p>
                      <a:pPr>
                        <a:defRPr sz="900">
                          <a:solidFill>
                            <a:srgbClr val="333333"/>
                          </a:solidFill>
                          <a:latin typeface="Calibri"/>
                        </a:defRPr>
                      </a:pPr>
                      <a:r>
                        <a:t>0.1200</a:t>
                      </a:r>
                    </a:p>
                  </a:txBody>
                  <a:tcPr/>
                </a:tc>
                <a:tc>
                  <a:txBody>
                    <a:bodyPr wrap="square" lIns="50800" rIns="50800"/>
                    <a:lstStyle/>
                    <a:p>
                      <a:pPr>
                        <a:defRPr sz="900">
                          <a:solidFill>
                            <a:srgbClr val="333333"/>
                          </a:solidFill>
                          <a:latin typeface="Calibri"/>
                        </a:defRPr>
                      </a:pPr>
                      <a:r>
                        <a:t>115.00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1.1500</a:t>
                      </a:r>
                    </a:p>
                  </a:txBody>
                  <a:tcPr/>
                </a:tc>
                <a:tc>
                  <a:txBody>
                    <a:bodyPr wrap="square" lIns="50800" rIns="50800"/>
                    <a:lstStyle/>
                    <a:p>
                      <a:pPr>
                        <a:defRPr sz="900">
                          <a:solidFill>
                            <a:srgbClr val="333333"/>
                          </a:solidFill>
                          <a:latin typeface="Calibri"/>
                        </a:defRPr>
                      </a:pPr>
                      <a:r>
                        <a:t>TBD</a:t>
                      </a:r>
                    </a:p>
                  </a:txBody>
                  <a:tcPr/>
                </a:tc>
              </a:tr>
              <a:tr h="626364">
                <a:tc>
                  <a:txBody>
                    <a:bodyPr wrap="square" lIns="50800" rIns="50800"/>
                    <a:lstStyle/>
                    <a:p>
                      <a:pPr>
                        <a:defRPr sz="900">
                          <a:solidFill>
                            <a:srgbClr val="333333"/>
                          </a:solidFill>
                          <a:latin typeface="Calibri"/>
                        </a:defRPr>
                      </a:pPr>
                      <a:r>
                        <a:t>AI-GEN-01</a:t>
                      </a:r>
                    </a:p>
                  </a:txBody>
                  <a:tcPr/>
                </a:tc>
                <a:tc>
                  <a:txBody>
                    <a:bodyPr wrap="square" lIns="50800" rIns="50800"/>
                    <a:lstStyle/>
                    <a:p>
                      <a:pPr>
                        <a:defRPr sz="900">
                          <a:solidFill>
                            <a:srgbClr val="333333"/>
                          </a:solidFill>
                          <a:latin typeface="Calibri"/>
                        </a:defRPr>
                      </a:pPr>
                      <a:r>
                        <a:t>Reduce the thickness/coating thickness of brake hose to optimize material usage and cost</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69.00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0.6900</a:t>
                      </a:r>
                    </a:p>
                  </a:txBody>
                  <a:tcPr/>
                </a:tc>
                <a:tc>
                  <a:txBody>
                    <a:bodyPr wrap="square" lIns="50800" rIns="50800"/>
                    <a:lstStyle/>
                    <a:p>
                      <a:pPr>
                        <a:defRPr sz="900">
                          <a:solidFill>
                            <a:srgbClr val="333333"/>
                          </a:solidFill>
                          <a:latin typeface="Calibri"/>
                        </a:defRPr>
                      </a:pPr>
                      <a:r>
                        <a:t>AI-PROPOSAL</a:t>
                      </a:r>
                    </a:p>
                  </a:txBody>
                  <a:tcPr/>
                </a:tc>
              </a:tr>
              <a:tr h="626364">
                <a:tc>
                  <a:txBody>
                    <a:bodyPr wrap="square" lIns="50800" rIns="50800"/>
                    <a:lstStyle/>
                    <a:p>
                      <a:pPr>
                        <a:defRPr sz="900">
                          <a:solidFill>
                            <a:srgbClr val="333333"/>
                          </a:solidFill>
                          <a:latin typeface="Calibri"/>
                        </a:defRPr>
                      </a:pPr>
                      <a:r>
                        <a:t>AI-GEN-02</a:t>
                      </a:r>
                    </a:p>
                  </a:txBody>
                  <a:tcPr/>
                </a:tc>
                <a:tc>
                  <a:txBody>
                    <a:bodyPr wrap="square" lIns="50800" rIns="50800"/>
                    <a:lstStyle/>
                    <a:p>
                      <a:pPr>
                        <a:defRPr sz="900">
                          <a:solidFill>
                            <a:srgbClr val="333333"/>
                          </a:solidFill>
                          <a:latin typeface="Calibri"/>
                        </a:defRPr>
                      </a:pPr>
                      <a:r>
                        <a:t>Reduce the thickness/coating thickness of brake pad backing plate to optimize material usage and cost</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82.00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0.8200</a:t>
                      </a:r>
                    </a:p>
                  </a:txBody>
                  <a:tcPr/>
                </a:tc>
                <a:tc>
                  <a:txBody>
                    <a:bodyPr wrap="square" lIns="50800" rIns="50800"/>
                    <a:lstStyle/>
                    <a:p>
                      <a:pPr>
                        <a:defRPr sz="900">
                          <a:solidFill>
                            <a:srgbClr val="333333"/>
                          </a:solidFill>
                          <a:latin typeface="Calibri"/>
                        </a:defRPr>
                      </a:pPr>
                      <a:r>
                        <a:t>AI-PROPOSAL</a:t>
                      </a:r>
                    </a:p>
                  </a:txBody>
                  <a:tcPr/>
                </a:tc>
              </a:tr>
              <a:tr h="626364">
                <a:tc>
                  <a:txBody>
                    <a:bodyPr wrap="square" lIns="50800" rIns="50800"/>
                    <a:lstStyle/>
                    <a:p>
                      <a:pPr>
                        <a:defRPr sz="900">
                          <a:solidFill>
                            <a:srgbClr val="333333"/>
                          </a:solidFill>
                          <a:latin typeface="Calibri"/>
                        </a:defRPr>
                      </a:pPr>
                      <a:r>
                        <a:t>AI-GEN-03</a:t>
                      </a:r>
                    </a:p>
                  </a:txBody>
                  <a:tcPr/>
                </a:tc>
                <a:tc>
                  <a:txBody>
                    <a:bodyPr wrap="square" lIns="50800" rIns="50800"/>
                    <a:lstStyle/>
                    <a:p>
                      <a:pPr>
                        <a:defRPr sz="900">
                          <a:solidFill>
                            <a:srgbClr val="333333"/>
                          </a:solidFill>
                          <a:latin typeface="Calibri"/>
                        </a:defRPr>
                      </a:pPr>
                      <a:r>
                        <a:t>Reduce the thickness/coating thickness of brake caliper bracket to optimize material usage and cost</a:t>
                      </a:r>
                    </a:p>
                  </a:txBody>
                  <a:tcPr/>
                </a:tc>
                <a:tc>
                  <a:txBody>
                    <a:bodyPr wrap="square" lIns="50800" rIns="50800"/>
                    <a:lstStyle/>
                    <a:p>
                      <a:pPr>
                        <a:defRPr sz="900">
                          <a:solidFill>
                            <a:srgbClr val="333333"/>
                          </a:solidFill>
                          <a:latin typeface="Calibri"/>
                        </a:defRPr>
                      </a:pPr>
                      <a:r>
                        <a:t>0.2500</a:t>
                      </a:r>
                    </a:p>
                  </a:txBody>
                  <a:tcPr/>
                </a:tc>
                <a:tc>
                  <a:txBody>
                    <a:bodyPr wrap="square" lIns="50800" rIns="50800"/>
                    <a:lstStyle/>
                    <a:p>
                      <a:pPr>
                        <a:defRPr sz="900">
                          <a:solidFill>
                            <a:srgbClr val="333333"/>
                          </a:solidFill>
                          <a:latin typeface="Calibri"/>
                        </a:defRPr>
                      </a:pPr>
                      <a:r>
                        <a:t>95.00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0.9500</a:t>
                      </a:r>
                    </a:p>
                  </a:txBody>
                  <a:tcPr/>
                </a:tc>
                <a:tc>
                  <a:txBody>
                    <a:bodyPr wrap="square" lIns="50800" rIns="50800"/>
                    <a:lstStyle/>
                    <a:p>
                      <a:pPr>
                        <a:defRPr sz="900">
                          <a:solidFill>
                            <a:srgbClr val="333333"/>
                          </a:solidFill>
                          <a:latin typeface="Calibri"/>
                        </a:defRPr>
                      </a:pPr>
                      <a:r>
                        <a:t>AI-PROPOSAL</a:t>
                      </a:r>
                    </a:p>
                  </a:txBody>
                  <a:tcPr/>
                </a:tc>
              </a:tr>
              <a:tr h="626364">
                <a:tc>
                  <a:txBody>
                    <a:bodyPr wrap="square" lIns="50800" rIns="50800"/>
                    <a:lstStyle/>
                    <a:p>
                      <a:pPr>
                        <a:defRPr sz="900">
                          <a:solidFill>
                            <a:srgbClr val="333333"/>
                          </a:solidFill>
                          <a:latin typeface="Calibri"/>
                        </a:defRPr>
                      </a:pPr>
                      <a:r>
                        <a:t>AI-GEN-04</a:t>
                      </a:r>
                    </a:p>
                  </a:txBody>
                  <a:tcPr/>
                </a:tc>
                <a:tc>
                  <a:txBody>
                    <a:bodyPr wrap="square" lIns="50800" rIns="50800"/>
                    <a:lstStyle/>
                    <a:p>
                      <a:pPr>
                        <a:defRPr sz="900">
                          <a:solidFill>
                            <a:srgbClr val="333333"/>
                          </a:solidFill>
                          <a:latin typeface="Calibri"/>
                        </a:defRPr>
                      </a:pPr>
                      <a:r>
                        <a:t>Reduce the thickness/coating thickness of parking brake cable to optimize material usage and cost</a:t>
                      </a:r>
                    </a:p>
                  </a:txBody>
                  <a:tcPr/>
                </a:tc>
                <a:tc>
                  <a:txBody>
                    <a:bodyPr wrap="square" lIns="50800" rIns="50800"/>
                    <a:lstStyle/>
                    <a:p>
                      <a:pPr>
                        <a:defRPr sz="900">
                          <a:solidFill>
                            <a:srgbClr val="333333"/>
                          </a:solidFill>
                          <a:latin typeface="Calibri"/>
                        </a:defRPr>
                      </a:pPr>
                      <a:r>
                        <a:t>0.1500</a:t>
                      </a:r>
                    </a:p>
                  </a:txBody>
                  <a:tcPr/>
                </a:tc>
                <a:tc>
                  <a:txBody>
                    <a:bodyPr wrap="square" lIns="50800" rIns="50800"/>
                    <a:lstStyle/>
                    <a:p>
                      <a:pPr>
                        <a:defRPr sz="900">
                          <a:solidFill>
                            <a:srgbClr val="333333"/>
                          </a:solidFill>
                          <a:latin typeface="Calibri"/>
                        </a:defRPr>
                      </a:pPr>
                      <a:r>
                        <a:t>108.00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1.0800</a:t>
                      </a:r>
                    </a:p>
                  </a:txBody>
                  <a:tcPr/>
                </a:tc>
                <a:tc>
                  <a:txBody>
                    <a:bodyPr wrap="square" lIns="50800" rIns="50800"/>
                    <a:lstStyle/>
                    <a:p>
                      <a:pPr>
                        <a:defRPr sz="900">
                          <a:solidFill>
                            <a:srgbClr val="333333"/>
                          </a:solidFill>
                          <a:latin typeface="Calibri"/>
                        </a:defRPr>
                      </a:pPr>
                      <a:r>
                        <a:t>AI-PROPOSAL</a:t>
                      </a:r>
                    </a:p>
                  </a:txBody>
                  <a:tcPr/>
                </a:tc>
              </a:tr>
            </a:tbl>
          </a:graphicData>
        </a:graphic>
      </p:graphicFrame>
      <p:sp>
        <p:nvSpPr>
          <p:cNvPr id="3" name="TextBox 2"/>
          <p:cNvSpPr txBox="1"/>
          <p:nvPr/>
        </p:nvSpPr>
        <p:spPr>
          <a:xfrm>
            <a:off x="365760" y="45720"/>
            <a:ext cx="11460175" cy="320040"/>
          </a:xfrm>
          <a:prstGeom prst="rect">
            <a:avLst/>
          </a:prstGeom>
          <a:noFill/>
        </p:spPr>
        <p:txBody>
          <a:bodyPr wrap="none">
            <a:spAutoFit/>
          </a:bodyPr>
          <a:lstStyle/>
          <a:p>
            <a:pPr>
              <a:defRPr sz="1500" b="1">
                <a:solidFill>
                  <a:srgbClr val="003366"/>
                </a:solidFill>
              </a:defRPr>
            </a:pPr>
            <a:r>
              <a:t>Summary (Values in ₹ Crore) (Page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365760" y="411480"/>
          <a:ext cx="10881360" cy="6263640"/>
        </p:xfrm>
        <a:graphic>
          <a:graphicData uri="http://schemas.openxmlformats.org/drawingml/2006/table">
            <a:tbl>
              <a:tblPr firstRow="1" bandRow="1">
                <a:tableStyleId>{5C22544A-7EE6-4342-B048-85BDC9FD1C3A}</a:tableStyleId>
              </a:tblPr>
              <a:tblGrid>
                <a:gridCol w="731520"/>
                <a:gridCol w="4114800"/>
                <a:gridCol w="1097280"/>
                <a:gridCol w="1097280"/>
                <a:gridCol w="1097280"/>
                <a:gridCol w="1371600"/>
                <a:gridCol w="1371600"/>
              </a:tblGrid>
              <a:tr h="3131820">
                <a:tc>
                  <a:txBody>
                    <a:bodyPr wrap="square"/>
                    <a:lstStyle/>
                    <a:p>
                      <a:pPr>
                        <a:defRPr b="1" sz="900">
                          <a:solidFill>
                            <a:srgbClr val="FFFFFF"/>
                          </a:solidFill>
                        </a:defRPr>
                      </a:pPr>
                      <a:r>
                        <a:t>Idea 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 (₹ Cr)</a:t>
                      </a:r>
                    </a:p>
                  </a:txBody>
                  <a:tcPr>
                    <a:solidFill>
                      <a:srgbClr val="003366"/>
                    </a:solidFill>
                  </a:tcPr>
                </a:tc>
                <a:tc>
                  <a:txBody>
                    <a:bodyPr wrap="square"/>
                    <a:lstStyle/>
                    <a:p>
                      <a:pPr>
                        <a:defRPr b="1" sz="900">
                          <a:solidFill>
                            <a:srgbClr val="FFFFFF"/>
                          </a:solidFill>
                        </a:defRPr>
                      </a:pPr>
                      <a:r>
                        <a:t>Unit Saving (₹)</a:t>
                      </a:r>
                    </a:p>
                  </a:txBody>
                  <a:tcPr>
                    <a:solidFill>
                      <a:srgbClr val="003366"/>
                    </a:solidFill>
                  </a:tcPr>
                </a:tc>
                <a:tc>
                  <a:txBody>
                    <a:bodyPr wrap="square"/>
                    <a:lstStyle/>
                    <a:p>
                      <a:pPr>
                        <a:defRPr b="1" sz="900">
                          <a:solidFill>
                            <a:srgbClr val="FFFFFF"/>
                          </a:solidFill>
                        </a:defRPr>
                      </a:pPr>
                      <a:r>
                        <a:t>Yearly Volume</a:t>
                      </a:r>
                    </a:p>
                  </a:txBody>
                  <a:tcPr>
                    <a:solidFill>
                      <a:srgbClr val="003366"/>
                    </a:solidFill>
                  </a:tcPr>
                </a:tc>
                <a:tc>
                  <a:txBody>
                    <a:bodyPr wrap="square"/>
                    <a:lstStyle/>
                    <a:p>
                      <a:pPr>
                        <a:defRPr b="1" sz="900">
                          <a:solidFill>
                            <a:srgbClr val="FFFFFF"/>
                          </a:solidFill>
                        </a:defRPr>
                      </a:pPr>
                      <a:r>
                        <a:t>Total Saving (₹ Cr)</a:t>
                      </a:r>
                    </a:p>
                  </a:txBody>
                  <a:tcPr>
                    <a:solidFill>
                      <a:srgbClr val="003366"/>
                    </a:solidFill>
                  </a:tcPr>
                </a:tc>
                <a:tc>
                  <a:txBody>
                    <a:bodyPr wrap="square"/>
                    <a:lstStyle/>
                    <a:p>
                      <a:pPr>
                        <a:defRPr b="1" sz="900">
                          <a:solidFill>
                            <a:srgbClr val="FFFFFF"/>
                          </a:solidFill>
                        </a:defRPr>
                      </a:pPr>
                      <a:r>
                        <a:t>Status</a:t>
                      </a:r>
                    </a:p>
                  </a:txBody>
                  <a:tcPr>
                    <a:solidFill>
                      <a:srgbClr val="003366"/>
                    </a:solidFill>
                  </a:tcPr>
                </a:tc>
              </a:tr>
              <a:tr h="3131820">
                <a:tc>
                  <a:txBody>
                    <a:bodyPr wrap="square" lIns="50800" rIns="50800"/>
                    <a:lstStyle/>
                    <a:p>
                      <a:pPr>
                        <a:defRPr sz="900">
                          <a:solidFill>
                            <a:srgbClr val="333333"/>
                          </a:solidFill>
                          <a:latin typeface="Calibri"/>
                        </a:defRPr>
                      </a:pPr>
                      <a:r>
                        <a:t>AI-GEN-05</a:t>
                      </a:r>
                    </a:p>
                  </a:txBody>
                  <a:tcPr/>
                </a:tc>
                <a:tc>
                  <a:txBody>
                    <a:bodyPr wrap="square" lIns="50800" rIns="50800"/>
                    <a:lstStyle/>
                    <a:p>
                      <a:pPr>
                        <a:defRPr sz="900">
                          <a:solidFill>
                            <a:srgbClr val="333333"/>
                          </a:solidFill>
                          <a:latin typeface="Calibri"/>
                        </a:defRPr>
                      </a:pPr>
                      <a:r>
                        <a:t>Reduce the thickness/coating thickness of brake fluid reservoir to optimize material usage and cost</a:t>
                      </a:r>
                    </a:p>
                  </a:txBody>
                  <a:tcPr/>
                </a:tc>
                <a:tc>
                  <a:txBody>
                    <a:bodyPr wrap="square" lIns="50800" rIns="50800"/>
                    <a:lstStyle/>
                    <a:p>
                      <a:pPr>
                        <a:defRPr sz="900">
                          <a:solidFill>
                            <a:srgbClr val="333333"/>
                          </a:solidFill>
                          <a:latin typeface="Calibri"/>
                        </a:defRPr>
                      </a:pPr>
                      <a:r>
                        <a:t>0.1500</a:t>
                      </a:r>
                    </a:p>
                  </a:txBody>
                  <a:tcPr/>
                </a:tc>
                <a:tc>
                  <a:txBody>
                    <a:bodyPr wrap="square" lIns="50800" rIns="50800"/>
                    <a:lstStyle/>
                    <a:p>
                      <a:pPr>
                        <a:defRPr sz="900">
                          <a:solidFill>
                            <a:srgbClr val="333333"/>
                          </a:solidFill>
                          <a:latin typeface="Calibri"/>
                        </a:defRPr>
                      </a:pPr>
                      <a:r>
                        <a:t>122.00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1.2200</a:t>
                      </a:r>
                    </a:p>
                  </a:txBody>
                  <a:tcPr/>
                </a:tc>
                <a:tc>
                  <a:txBody>
                    <a:bodyPr wrap="square" lIns="50800" rIns="50800"/>
                    <a:lstStyle/>
                    <a:p>
                      <a:pPr>
                        <a:defRPr sz="900">
                          <a:solidFill>
                            <a:srgbClr val="333333"/>
                          </a:solidFill>
                          <a:latin typeface="Calibri"/>
                        </a:defRPr>
                      </a:pPr>
                      <a:r>
                        <a:t>AI-PROPOSAL</a:t>
                      </a:r>
                    </a:p>
                  </a:txBody>
                  <a:tcPr/>
                </a:tc>
              </a:tr>
            </a:tbl>
          </a:graphicData>
        </a:graphic>
      </p:graphicFrame>
      <p:sp>
        <p:nvSpPr>
          <p:cNvPr id="3" name="TextBox 2"/>
          <p:cNvSpPr txBox="1"/>
          <p:nvPr/>
        </p:nvSpPr>
        <p:spPr>
          <a:xfrm>
            <a:off x="365760" y="45720"/>
            <a:ext cx="11460175" cy="320040"/>
          </a:xfrm>
          <a:prstGeom prst="rect">
            <a:avLst/>
          </a:prstGeom>
          <a:noFill/>
        </p:spPr>
        <p:txBody>
          <a:bodyPr wrap="none">
            <a:spAutoFit/>
          </a:bodyPr>
          <a:lstStyle/>
          <a:p>
            <a:pPr>
              <a:defRPr sz="1500" b="1">
                <a:solidFill>
                  <a:srgbClr val="003366"/>
                </a:solidFill>
              </a:defRPr>
            </a:pPr>
            <a:r>
              <a:t>Summary (Values in ₹ Crore) (Page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#1: Redesign the current Brake Pedal Mounting Bracket used in MGI to a similar bracket used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DATABASE</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495421"/>
          </a:xfrm>
          <a:prstGeom prst="rect">
            <a:avLst/>
          </a:prstGeom>
          <a:noFill/>
        </p:spPr>
        <p:txBody>
          <a:bodyPr wrap="square">
            <a:spAutoFit/>
          </a:bodyPr>
          <a:lstStyle/>
          <a:p>
            <a:pPr>
              <a:defRPr sz="1000">
                <a:solidFill>
                  <a:srgbClr val="333333"/>
                </a:solidFill>
              </a:defRPr>
            </a:pPr>
            <a:r>
              <a:t>Technical optimization of Redesign the current Brake Pedal Mounting Bracket used in MGI to a similar bracket used in KIA. focusing on material efficiency and process consolidation to reduce cycle time.</a:t>
            </a:r>
          </a:p>
        </p:txBody>
      </p:sp>
      <p:sp>
        <p:nvSpPr>
          <p:cNvPr id="6" name="Rectangle 5"/>
          <p:cNvSpPr/>
          <p:nvPr/>
        </p:nvSpPr>
        <p:spPr>
          <a:xfrm>
            <a:off x="274320" y="182130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894453"/>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123053"/>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258061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653771"/>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882371"/>
            <a:ext cx="5486400" cy="390083"/>
          </a:xfrm>
          <a:prstGeom prst="rect">
            <a:avLst/>
          </a:prstGeom>
          <a:noFill/>
        </p:spPr>
        <p:txBody>
          <a:bodyPr wrap="square">
            <a:spAutoFit/>
          </a:bodyPr>
          <a:lstStyle/>
          <a:p>
            <a:pPr>
              <a:defRPr sz="1000">
                <a:solidFill>
                  <a:srgbClr val="333333"/>
                </a:solidFill>
              </a:defRPr>
            </a:pPr>
            <a:r>
              <a:t>Est. Saving: INR INR 113.0</a:t>
            </a:r>
            <a:br/>
            <a:r>
              <a:t>CAPEX: TBD</a:t>
            </a:r>
          </a:p>
        </p:txBody>
      </p:sp>
      <p:sp>
        <p:nvSpPr>
          <p:cNvPr id="12" name="Rectangle 11"/>
          <p:cNvSpPr/>
          <p:nvPr/>
        </p:nvSpPr>
        <p:spPr>
          <a:xfrm>
            <a:off x="274320" y="327245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345606"/>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574206"/>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37648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449641"/>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678241"/>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16543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sp>
        <p:nvSpPr>
          <p:cNvPr id="20" name="Rectangle 19"/>
          <p:cNvSpPr/>
          <p:nvPr/>
        </p:nvSpPr>
        <p:spPr>
          <a:xfrm>
            <a:off x="6217920" y="1005840"/>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
        <p:nvSpPr>
          <p:cNvPr id="21" name="TextBox 20"/>
          <p:cNvSpPr txBox="1"/>
          <p:nvPr/>
        </p:nvSpPr>
        <p:spPr>
          <a:xfrm>
            <a:off x="6217920" y="3593592"/>
            <a:ext cx="5699455" cy="256032"/>
          </a:xfrm>
          <a:prstGeom prst="rect">
            <a:avLst/>
          </a:prstGeom>
          <a:noFill/>
        </p:spPr>
        <p:txBody>
          <a:bodyPr wrap="square">
            <a:spAutoFit/>
          </a:bodyPr>
          <a:lstStyle/>
          <a:p>
            <a:pPr algn="ctr">
              <a:defRPr b="1" sz="1100">
                <a:solidFill>
                  <a:srgbClr val="003366"/>
                </a:solidFill>
              </a:defRPr>
            </a:pPr>
            <a:r>
              <a:t>Proposal / Competitor</a:t>
            </a:r>
          </a:p>
        </p:txBody>
      </p:sp>
      <p:sp>
        <p:nvSpPr>
          <p:cNvPr id="22" name="Rectangle 21"/>
          <p:cNvSpPr/>
          <p:nvPr/>
        </p:nvSpPr>
        <p:spPr>
          <a:xfrm>
            <a:off x="6217920" y="3867912"/>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#2: The Brake Booster Plate in MGI could be integrated into the Dashboard BIW of the vehicle as done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DATABASE</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508589"/>
          </a:xfrm>
          <a:prstGeom prst="rect">
            <a:avLst/>
          </a:prstGeom>
          <a:noFill/>
        </p:spPr>
        <p:txBody>
          <a:bodyPr wrap="square">
            <a:spAutoFit/>
          </a:bodyPr>
          <a:lstStyle/>
          <a:p>
            <a:pPr>
              <a:defRPr sz="1000">
                <a:solidFill>
                  <a:srgbClr val="333333"/>
                </a:solidFill>
              </a:defRPr>
            </a:pPr>
            <a:r>
              <a:t>Technical optimization of The Brake Booster Plate in MGI could be integrated into the Dashboard BIW of the vehicle as done in KIA focusing on material efficiency and process consolidation to reduce cycle time.</a:t>
            </a:r>
          </a:p>
        </p:txBody>
      </p:sp>
      <p:sp>
        <p:nvSpPr>
          <p:cNvPr id="6" name="Rectangle 5"/>
          <p:cNvSpPr/>
          <p:nvPr/>
        </p:nvSpPr>
        <p:spPr>
          <a:xfrm>
            <a:off x="274320" y="183446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907621"/>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136221"/>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259378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66693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895539"/>
            <a:ext cx="5486400" cy="388437"/>
          </a:xfrm>
          <a:prstGeom prst="rect">
            <a:avLst/>
          </a:prstGeom>
          <a:noFill/>
        </p:spPr>
        <p:txBody>
          <a:bodyPr wrap="square">
            <a:spAutoFit/>
          </a:bodyPr>
          <a:lstStyle/>
          <a:p>
            <a:pPr>
              <a:defRPr sz="1000">
                <a:solidFill>
                  <a:srgbClr val="333333"/>
                </a:solidFill>
              </a:defRPr>
            </a:pPr>
            <a:r>
              <a:t>Est. Saving: INR INR 47.0</a:t>
            </a:r>
            <a:br/>
            <a:r>
              <a:t>CAPEX: TBD</a:t>
            </a:r>
          </a:p>
        </p:txBody>
      </p:sp>
      <p:sp>
        <p:nvSpPr>
          <p:cNvPr id="12" name="Rectangle 11"/>
          <p:cNvSpPr/>
          <p:nvPr/>
        </p:nvSpPr>
        <p:spPr>
          <a:xfrm>
            <a:off x="274320" y="328397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357128"/>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585728"/>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38801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461162"/>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689762"/>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17695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sp>
        <p:nvSpPr>
          <p:cNvPr id="20" name="Rectangle 19"/>
          <p:cNvSpPr/>
          <p:nvPr/>
        </p:nvSpPr>
        <p:spPr>
          <a:xfrm>
            <a:off x="6217920" y="1005840"/>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
        <p:nvSpPr>
          <p:cNvPr id="21" name="TextBox 20"/>
          <p:cNvSpPr txBox="1"/>
          <p:nvPr/>
        </p:nvSpPr>
        <p:spPr>
          <a:xfrm>
            <a:off x="6217920" y="3593592"/>
            <a:ext cx="5699455" cy="256032"/>
          </a:xfrm>
          <a:prstGeom prst="rect">
            <a:avLst/>
          </a:prstGeom>
          <a:noFill/>
        </p:spPr>
        <p:txBody>
          <a:bodyPr wrap="square">
            <a:spAutoFit/>
          </a:bodyPr>
          <a:lstStyle/>
          <a:p>
            <a:pPr algn="ctr">
              <a:defRPr b="1" sz="1100">
                <a:solidFill>
                  <a:srgbClr val="003366"/>
                </a:solidFill>
              </a:defRPr>
            </a:pPr>
            <a:r>
              <a:t>Proposal / Competitor</a:t>
            </a:r>
          </a:p>
        </p:txBody>
      </p:sp>
      <p:sp>
        <p:nvSpPr>
          <p:cNvPr id="22" name="Rectangle 21"/>
          <p:cNvSpPr/>
          <p:nvPr/>
        </p:nvSpPr>
        <p:spPr>
          <a:xfrm>
            <a:off x="6217920" y="3867912"/>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645920"/>
          </a:xfrm>
          <a:prstGeom prst="rect">
            <a:avLst/>
          </a:prstGeom>
          <a:noFill/>
        </p:spPr>
        <p:txBody>
          <a:bodyPr wrap="square">
            <a:spAutoFit/>
          </a:bodyPr>
          <a:lstStyle/>
          <a:p>
            <a:pPr>
              <a:defRPr sz="1800" b="1">
                <a:solidFill>
                  <a:srgbClr val="003366"/>
                </a:solidFill>
              </a:defRPr>
            </a:pPr>
            <a:r>
              <a:t>#3: 1. Reduce the overall wall thickness of the Brake Dust Cover Plates present on all four wheel hubs of the vehicles from 1mm to 0.8mm</a:t>
            </a:r>
            <a:br/>
            <a:r>
              <a:t>2. Reduce the paint coating thickness on each side of all four plates from 56 microns to 27.8 microns</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DATABASE</a:t>
            </a:r>
          </a:p>
        </p:txBody>
      </p:sp>
      <p:sp>
        <p:nvSpPr>
          <p:cNvPr id="4" name="TextBox 3"/>
          <p:cNvSpPr txBox="1"/>
          <p:nvPr/>
        </p:nvSpPr>
        <p:spPr>
          <a:xfrm>
            <a:off x="274320" y="192024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148840"/>
            <a:ext cx="5486400" cy="888796"/>
          </a:xfrm>
          <a:prstGeom prst="rect">
            <a:avLst/>
          </a:prstGeom>
          <a:noFill/>
        </p:spPr>
        <p:txBody>
          <a:bodyPr wrap="square">
            <a:spAutoFit/>
          </a:bodyPr>
          <a:lstStyle/>
          <a:p>
            <a:pPr>
              <a:defRPr sz="1000">
                <a:solidFill>
                  <a:srgbClr val="333333"/>
                </a:solidFill>
              </a:defRPr>
            </a:pPr>
            <a:r>
              <a:t>Technical optimization of 1. Reduce the overall wall thickness of the Brake Dust Cover Plates present on all four wheel hubs of the vehicles from 1mm to 0.8mm</a:t>
            </a:r>
            <a:br/>
            <a:r>
              <a:t>2. Reduce the paint coating thickness on each side of all four plates from 56 microns to 27.8 microns focusing on material efficiency and process consolidation to reduce cycle time.</a:t>
            </a:r>
          </a:p>
        </p:txBody>
      </p:sp>
      <p:sp>
        <p:nvSpPr>
          <p:cNvPr id="6" name="Rectangle 5"/>
          <p:cNvSpPr/>
          <p:nvPr/>
        </p:nvSpPr>
        <p:spPr>
          <a:xfrm>
            <a:off x="274320" y="303763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110788"/>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339388"/>
            <a:ext cx="5486400" cy="424647"/>
          </a:xfrm>
          <a:prstGeom prst="rect">
            <a:avLst/>
          </a:prstGeom>
          <a:noFill/>
        </p:spPr>
        <p:txBody>
          <a:bodyPr wrap="square">
            <a:spAutoFit/>
          </a:bodyPr>
          <a:lstStyle/>
          <a:p>
            <a:pPr>
              <a:defRPr sz="1000">
                <a:solidFill>
                  <a:srgbClr val="333333"/>
                </a:solidFill>
              </a:defRPr>
            </a:pPr>
            <a:r>
              <a:t>N/A (No material change explicitly mentioned)</a:t>
            </a:r>
            <a:br/>
            <a:r>
              <a:t>1mm to 0.8mm</a:t>
            </a:r>
          </a:p>
        </p:txBody>
      </p:sp>
      <p:sp>
        <p:nvSpPr>
          <p:cNvPr id="9" name="Rectangle 8"/>
          <p:cNvSpPr/>
          <p:nvPr/>
        </p:nvSpPr>
        <p:spPr>
          <a:xfrm>
            <a:off x="274320" y="376403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837188"/>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4065788"/>
            <a:ext cx="5486400" cy="388437"/>
          </a:xfrm>
          <a:prstGeom prst="rect">
            <a:avLst/>
          </a:prstGeom>
          <a:noFill/>
        </p:spPr>
        <p:txBody>
          <a:bodyPr wrap="square">
            <a:spAutoFit/>
          </a:bodyPr>
          <a:lstStyle/>
          <a:p>
            <a:pPr>
              <a:defRPr sz="1000">
                <a:solidFill>
                  <a:srgbClr val="333333"/>
                </a:solidFill>
              </a:defRPr>
            </a:pPr>
            <a:r>
              <a:t>Est. Saving: INR INR 57.0</a:t>
            </a:r>
            <a:br/>
            <a:r>
              <a:t>CAPEX: TBD</a:t>
            </a:r>
          </a:p>
        </p:txBody>
      </p:sp>
      <p:sp>
        <p:nvSpPr>
          <p:cNvPr id="12" name="Rectangle 11"/>
          <p:cNvSpPr/>
          <p:nvPr/>
        </p:nvSpPr>
        <p:spPr>
          <a:xfrm>
            <a:off x="274320" y="445422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527377"/>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755977"/>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655825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1554480"/>
            <a:ext cx="5699455" cy="256032"/>
          </a:xfrm>
          <a:prstGeom prst="rect">
            <a:avLst/>
          </a:prstGeom>
          <a:noFill/>
        </p:spPr>
        <p:txBody>
          <a:bodyPr wrap="square">
            <a:spAutoFit/>
          </a:bodyPr>
          <a:lstStyle/>
          <a:p>
            <a:pPr algn="ctr">
              <a:defRPr b="1" sz="1100">
                <a:solidFill>
                  <a:srgbClr val="003366"/>
                </a:solidFill>
              </a:defRPr>
            </a:pPr>
            <a:r>
              <a:t>Current Scenario</a:t>
            </a:r>
          </a:p>
        </p:txBody>
      </p:sp>
      <p:sp>
        <p:nvSpPr>
          <p:cNvPr id="17" name="Rectangle 16"/>
          <p:cNvSpPr/>
          <p:nvPr/>
        </p:nvSpPr>
        <p:spPr>
          <a:xfrm>
            <a:off x="6217920" y="1828800"/>
            <a:ext cx="5699455" cy="230428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
        <p:nvSpPr>
          <p:cNvPr id="18" name="TextBox 17"/>
          <p:cNvSpPr txBox="1"/>
          <p:nvPr/>
        </p:nvSpPr>
        <p:spPr>
          <a:xfrm>
            <a:off x="6217920" y="4005072"/>
            <a:ext cx="5699455" cy="256032"/>
          </a:xfrm>
          <a:prstGeom prst="rect">
            <a:avLst/>
          </a:prstGeom>
          <a:noFill/>
        </p:spPr>
        <p:txBody>
          <a:bodyPr wrap="square">
            <a:spAutoFit/>
          </a:bodyPr>
          <a:lstStyle/>
          <a:p>
            <a:pPr algn="ctr">
              <a:defRPr b="1" sz="1100">
                <a:solidFill>
                  <a:srgbClr val="003366"/>
                </a:solidFill>
              </a:defRPr>
            </a:pPr>
            <a:r>
              <a:t>Proposal / Competitor</a:t>
            </a:r>
          </a:p>
        </p:txBody>
      </p:sp>
      <p:sp>
        <p:nvSpPr>
          <p:cNvPr id="19" name="Rectangle 18"/>
          <p:cNvSpPr/>
          <p:nvPr/>
        </p:nvSpPr>
        <p:spPr>
          <a:xfrm>
            <a:off x="6217920" y="4279392"/>
            <a:ext cx="5699455" cy="230428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#4: Remove the black paint coating from the Brake Caliper Mounting Brackets on all four brake assemblies of MGI, following the procedure used for the front brake caliper mounting brackets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DATABASE</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653430"/>
          </a:xfrm>
          <a:prstGeom prst="rect">
            <a:avLst/>
          </a:prstGeom>
          <a:noFill/>
        </p:spPr>
        <p:txBody>
          <a:bodyPr wrap="square">
            <a:spAutoFit/>
          </a:bodyPr>
          <a:lstStyle/>
          <a:p>
            <a:pPr>
              <a:defRPr sz="1000">
                <a:solidFill>
                  <a:srgbClr val="333333"/>
                </a:solidFill>
              </a:defRPr>
            </a:pPr>
            <a:r>
              <a:t>Technical optimization of Remove the black paint coating from the Brake Caliper Mounting Brackets on all four brake assemblies of MGI, following the procedure used for the front brake caliper mounting brackets in KIA. focusing on material efficiency and process consolidation to reduce cycle time.</a:t>
            </a:r>
          </a:p>
        </p:txBody>
      </p:sp>
      <p:sp>
        <p:nvSpPr>
          <p:cNvPr id="6" name="Rectangle 5"/>
          <p:cNvSpPr/>
          <p:nvPr/>
        </p:nvSpPr>
        <p:spPr>
          <a:xfrm>
            <a:off x="274320" y="239079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463942"/>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92542"/>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315010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223260"/>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451860"/>
            <a:ext cx="5486400" cy="390083"/>
          </a:xfrm>
          <a:prstGeom prst="rect">
            <a:avLst/>
          </a:prstGeom>
          <a:noFill/>
        </p:spPr>
        <p:txBody>
          <a:bodyPr wrap="square">
            <a:spAutoFit/>
          </a:bodyPr>
          <a:lstStyle/>
          <a:p>
            <a:pPr>
              <a:defRPr sz="1000">
                <a:solidFill>
                  <a:srgbClr val="333333"/>
                </a:solidFill>
              </a:defRPr>
            </a:pPr>
            <a:r>
              <a:t>Est. Saving: INR INR 102.0</a:t>
            </a:r>
            <a:br/>
            <a:r>
              <a:t>CAPEX: TBD</a:t>
            </a:r>
          </a:p>
        </p:txBody>
      </p:sp>
      <p:sp>
        <p:nvSpPr>
          <p:cNvPr id="12" name="Rectangle 11"/>
          <p:cNvSpPr/>
          <p:nvPr/>
        </p:nvSpPr>
        <p:spPr>
          <a:xfrm>
            <a:off x="274320" y="384194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915095"/>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143695"/>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94597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019129"/>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247729"/>
            <a:ext cx="5486400" cy="335950"/>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sp>
        <p:nvSpPr>
          <p:cNvPr id="20" name="Rectangle 19"/>
          <p:cNvSpPr/>
          <p:nvPr/>
        </p:nvSpPr>
        <p:spPr>
          <a:xfrm>
            <a:off x="6217920" y="1417320"/>
            <a:ext cx="5699455" cy="251002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
        <p:nvSpPr>
          <p:cNvPr id="21" name="TextBox 20"/>
          <p:cNvSpPr txBox="1"/>
          <p:nvPr/>
        </p:nvSpPr>
        <p:spPr>
          <a:xfrm>
            <a:off x="6217920" y="3799332"/>
            <a:ext cx="5699455" cy="256032"/>
          </a:xfrm>
          <a:prstGeom prst="rect">
            <a:avLst/>
          </a:prstGeom>
          <a:noFill/>
        </p:spPr>
        <p:txBody>
          <a:bodyPr wrap="square">
            <a:spAutoFit/>
          </a:bodyPr>
          <a:lstStyle/>
          <a:p>
            <a:pPr algn="ctr">
              <a:defRPr b="1" sz="1100">
                <a:solidFill>
                  <a:srgbClr val="003366"/>
                </a:solidFill>
              </a:defRPr>
            </a:pPr>
            <a:r>
              <a:t>Proposal / Competitor</a:t>
            </a:r>
          </a:p>
        </p:txBody>
      </p:sp>
      <p:sp>
        <p:nvSpPr>
          <p:cNvPr id="22" name="Rectangle 21"/>
          <p:cNvSpPr/>
          <p:nvPr/>
        </p:nvSpPr>
        <p:spPr>
          <a:xfrm>
            <a:off x="6217920" y="4073652"/>
            <a:ext cx="5699455" cy="251002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#5: Remove the black paint coating on the Brake Pedal Mounting Bracket within MGI</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DATABASE</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465795"/>
          </a:xfrm>
          <a:prstGeom prst="rect">
            <a:avLst/>
          </a:prstGeom>
          <a:noFill/>
        </p:spPr>
        <p:txBody>
          <a:bodyPr wrap="square">
            <a:spAutoFit/>
          </a:bodyPr>
          <a:lstStyle/>
          <a:p>
            <a:pPr>
              <a:defRPr sz="1000">
                <a:solidFill>
                  <a:srgbClr val="333333"/>
                </a:solidFill>
              </a:defRPr>
            </a:pPr>
            <a:r>
              <a:t>Technical optimization of Remove the black paint coating on the Brake Pedal Mounting Bracket within MGI focusing on material efficiency and process consolidation to reduce cycle time.</a:t>
            </a:r>
          </a:p>
        </p:txBody>
      </p:sp>
      <p:sp>
        <p:nvSpPr>
          <p:cNvPr id="6" name="Rectangle 5"/>
          <p:cNvSpPr/>
          <p:nvPr/>
        </p:nvSpPr>
        <p:spPr>
          <a:xfrm>
            <a:off x="274320" y="179167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864827"/>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093427"/>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255099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624145"/>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852745"/>
            <a:ext cx="5486400" cy="390083"/>
          </a:xfrm>
          <a:prstGeom prst="rect">
            <a:avLst/>
          </a:prstGeom>
          <a:noFill/>
        </p:spPr>
        <p:txBody>
          <a:bodyPr wrap="square">
            <a:spAutoFit/>
          </a:bodyPr>
          <a:lstStyle/>
          <a:p>
            <a:pPr>
              <a:defRPr sz="1000">
                <a:solidFill>
                  <a:srgbClr val="333333"/>
                </a:solidFill>
              </a:defRPr>
            </a:pPr>
            <a:r>
              <a:t>Est. Saving: INR INR 115.0</a:t>
            </a:r>
            <a:br/>
            <a:r>
              <a:t>CAPEX: TBD</a:t>
            </a:r>
          </a:p>
        </p:txBody>
      </p:sp>
      <p:sp>
        <p:nvSpPr>
          <p:cNvPr id="12" name="Rectangle 11"/>
          <p:cNvSpPr/>
          <p:nvPr/>
        </p:nvSpPr>
        <p:spPr>
          <a:xfrm>
            <a:off x="274320" y="324282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315980"/>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544580"/>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34686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420014"/>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648614"/>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13580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sp>
        <p:nvSpPr>
          <p:cNvPr id="20" name="Rectangle 19"/>
          <p:cNvSpPr/>
          <p:nvPr/>
        </p:nvSpPr>
        <p:spPr>
          <a:xfrm>
            <a:off x="6217920" y="1005840"/>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
        <p:nvSpPr>
          <p:cNvPr id="21" name="TextBox 20"/>
          <p:cNvSpPr txBox="1"/>
          <p:nvPr/>
        </p:nvSpPr>
        <p:spPr>
          <a:xfrm>
            <a:off x="6217920" y="3593592"/>
            <a:ext cx="5699455" cy="256032"/>
          </a:xfrm>
          <a:prstGeom prst="rect">
            <a:avLst/>
          </a:prstGeom>
          <a:noFill/>
        </p:spPr>
        <p:txBody>
          <a:bodyPr wrap="square">
            <a:spAutoFit/>
          </a:bodyPr>
          <a:lstStyle/>
          <a:p>
            <a:pPr algn="ctr">
              <a:defRPr b="1" sz="1100">
                <a:solidFill>
                  <a:srgbClr val="003366"/>
                </a:solidFill>
              </a:defRPr>
            </a:pPr>
            <a:r>
              <a:t>Proposal / Competitor</a:t>
            </a:r>
          </a:p>
        </p:txBody>
      </p:sp>
      <p:sp>
        <p:nvSpPr>
          <p:cNvPr id="22" name="Rectangle 21"/>
          <p:cNvSpPr/>
          <p:nvPr/>
        </p:nvSpPr>
        <p:spPr>
          <a:xfrm>
            <a:off x="6217920" y="3867912"/>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#6: Reduce the thickness/coating thickness of brake hose to optimize material usage and cost</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DATABASE</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483900"/>
          </a:xfrm>
          <a:prstGeom prst="rect">
            <a:avLst/>
          </a:prstGeom>
          <a:noFill/>
        </p:spPr>
        <p:txBody>
          <a:bodyPr wrap="square">
            <a:spAutoFit/>
          </a:bodyPr>
          <a:lstStyle/>
          <a:p>
            <a:pPr>
              <a:defRPr sz="1000">
                <a:solidFill>
                  <a:srgbClr val="333333"/>
                </a:solidFill>
              </a:defRPr>
            </a:pPr>
            <a:r>
              <a:t>Technical optimization of Reduce the thickness/coating thickness of brake hose to optimize material usage and cost focusing on material efficiency and process consolidation to reduce cycle time.</a:t>
            </a:r>
          </a:p>
        </p:txBody>
      </p:sp>
      <p:sp>
        <p:nvSpPr>
          <p:cNvPr id="6" name="Rectangle 5"/>
          <p:cNvSpPr/>
          <p:nvPr/>
        </p:nvSpPr>
        <p:spPr>
          <a:xfrm>
            <a:off x="274320" y="18097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882932"/>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111532"/>
            <a:ext cx="5486400" cy="528340"/>
          </a:xfrm>
          <a:prstGeom prst="rect">
            <a:avLst/>
          </a:prstGeom>
          <a:noFill/>
        </p:spPr>
        <p:txBody>
          <a:bodyPr wrap="square">
            <a:spAutoFit/>
          </a:bodyPr>
          <a:lstStyle/>
          <a:p>
            <a:pPr>
              <a:defRPr sz="1000">
                <a:solidFill>
                  <a:srgbClr val="333333"/>
                </a:solidFill>
              </a:defRPr>
            </a:pPr>
            <a:r>
              <a:t>Reduce the thickness/coating thickness of brake hose to optimize material usage and cost</a:t>
            </a:r>
            <a:br/>
            <a:r>
              <a:t>N/A (Maintains current envelope)</a:t>
            </a:r>
          </a:p>
        </p:txBody>
      </p:sp>
      <p:sp>
        <p:nvSpPr>
          <p:cNvPr id="9" name="Rectangle 8"/>
          <p:cNvSpPr/>
          <p:nvPr/>
        </p:nvSpPr>
        <p:spPr>
          <a:xfrm>
            <a:off x="274320" y="263987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713024"/>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941624"/>
            <a:ext cx="5486400" cy="381853"/>
          </a:xfrm>
          <a:prstGeom prst="rect">
            <a:avLst/>
          </a:prstGeom>
          <a:noFill/>
        </p:spPr>
        <p:txBody>
          <a:bodyPr wrap="square">
            <a:spAutoFit/>
          </a:bodyPr>
          <a:lstStyle/>
          <a:p>
            <a:pPr>
              <a:defRPr sz="1000">
                <a:solidFill>
                  <a:srgbClr val="333333"/>
                </a:solidFill>
              </a:defRPr>
            </a:pPr>
            <a:r>
              <a:t>Est. Saving: INR ₹ 69</a:t>
            </a:r>
            <a:br/>
            <a:r>
              <a:t>CAPEX: TBD</a:t>
            </a:r>
          </a:p>
        </p:txBody>
      </p:sp>
      <p:sp>
        <p:nvSpPr>
          <p:cNvPr id="12" name="Rectangle 11"/>
          <p:cNvSpPr/>
          <p:nvPr/>
        </p:nvSpPr>
        <p:spPr>
          <a:xfrm>
            <a:off x="274320" y="332347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396630"/>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625230"/>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42751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500664"/>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729264"/>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21645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sp>
        <p:nvSpPr>
          <p:cNvPr id="20" name="Rectangle 19"/>
          <p:cNvSpPr/>
          <p:nvPr/>
        </p:nvSpPr>
        <p:spPr>
          <a:xfrm>
            <a:off x="6217920" y="1005840"/>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
        <p:nvSpPr>
          <p:cNvPr id="21" name="TextBox 20"/>
          <p:cNvSpPr txBox="1"/>
          <p:nvPr/>
        </p:nvSpPr>
        <p:spPr>
          <a:xfrm>
            <a:off x="6217920" y="3593592"/>
            <a:ext cx="5699455" cy="256032"/>
          </a:xfrm>
          <a:prstGeom prst="rect">
            <a:avLst/>
          </a:prstGeom>
          <a:noFill/>
        </p:spPr>
        <p:txBody>
          <a:bodyPr wrap="square">
            <a:spAutoFit/>
          </a:bodyPr>
          <a:lstStyle/>
          <a:p>
            <a:pPr algn="ctr">
              <a:defRPr b="1" sz="1100">
                <a:solidFill>
                  <a:srgbClr val="003366"/>
                </a:solidFill>
              </a:defRPr>
            </a:pPr>
            <a:r>
              <a:t>Proposal / Competitor</a:t>
            </a:r>
          </a:p>
        </p:txBody>
      </p:sp>
      <p:sp>
        <p:nvSpPr>
          <p:cNvPr id="22" name="Rectangle 21"/>
          <p:cNvSpPr/>
          <p:nvPr/>
        </p:nvSpPr>
        <p:spPr>
          <a:xfrm>
            <a:off x="6217920" y="3867912"/>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#7: Reduce the thickness/coating thickness of brake pad backing plate to optimize material usage and cost</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DATABASE</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505297"/>
          </a:xfrm>
          <a:prstGeom prst="rect">
            <a:avLst/>
          </a:prstGeom>
          <a:noFill/>
        </p:spPr>
        <p:txBody>
          <a:bodyPr wrap="square">
            <a:spAutoFit/>
          </a:bodyPr>
          <a:lstStyle/>
          <a:p>
            <a:pPr>
              <a:defRPr sz="1000">
                <a:solidFill>
                  <a:srgbClr val="333333"/>
                </a:solidFill>
              </a:defRPr>
            </a:pPr>
            <a:r>
              <a:t>Technical optimization of Reduce the thickness/coating thickness of brake pad backing plate to optimize material usage and cost focusing on material efficiency and process consolidation to reduce cycle time.</a:t>
            </a:r>
          </a:p>
        </p:txBody>
      </p:sp>
      <p:sp>
        <p:nvSpPr>
          <p:cNvPr id="6" name="Rectangle 5"/>
          <p:cNvSpPr/>
          <p:nvPr/>
        </p:nvSpPr>
        <p:spPr>
          <a:xfrm>
            <a:off x="274320" y="183117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90432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132929"/>
            <a:ext cx="5486400" cy="548091"/>
          </a:xfrm>
          <a:prstGeom prst="rect">
            <a:avLst/>
          </a:prstGeom>
          <a:noFill/>
        </p:spPr>
        <p:txBody>
          <a:bodyPr wrap="square">
            <a:spAutoFit/>
          </a:bodyPr>
          <a:lstStyle/>
          <a:p>
            <a:pPr>
              <a:defRPr sz="1000">
                <a:solidFill>
                  <a:srgbClr val="333333"/>
                </a:solidFill>
              </a:defRPr>
            </a:pPr>
            <a:r>
              <a:t>Reduce the thickness/coating thickness of brake pad backing plate to optimize material usage and cos</a:t>
            </a:r>
            <a:br/>
            <a:r>
              <a:t>N/A (Maintains current envelope)</a:t>
            </a:r>
          </a:p>
        </p:txBody>
      </p:sp>
      <p:sp>
        <p:nvSpPr>
          <p:cNvPr id="9" name="Rectangle 8"/>
          <p:cNvSpPr/>
          <p:nvPr/>
        </p:nvSpPr>
        <p:spPr>
          <a:xfrm>
            <a:off x="274320" y="26810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754172"/>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982772"/>
            <a:ext cx="5486400" cy="381853"/>
          </a:xfrm>
          <a:prstGeom prst="rect">
            <a:avLst/>
          </a:prstGeom>
          <a:noFill/>
        </p:spPr>
        <p:txBody>
          <a:bodyPr wrap="square">
            <a:spAutoFit/>
          </a:bodyPr>
          <a:lstStyle/>
          <a:p>
            <a:pPr>
              <a:defRPr sz="1000">
                <a:solidFill>
                  <a:srgbClr val="333333"/>
                </a:solidFill>
              </a:defRPr>
            </a:pPr>
            <a:r>
              <a:t>Est. Saving: INR ₹ 82</a:t>
            </a:r>
            <a:br/>
            <a:r>
              <a:t>CAPEX: TBD</a:t>
            </a:r>
          </a:p>
        </p:txBody>
      </p:sp>
      <p:sp>
        <p:nvSpPr>
          <p:cNvPr id="12" name="Rectangle 11"/>
          <p:cNvSpPr/>
          <p:nvPr/>
        </p:nvSpPr>
        <p:spPr>
          <a:xfrm>
            <a:off x="274320" y="336462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437778"/>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666378"/>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46866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541812"/>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770412"/>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25760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sp>
        <p:nvSpPr>
          <p:cNvPr id="20" name="Rectangle 19"/>
          <p:cNvSpPr/>
          <p:nvPr/>
        </p:nvSpPr>
        <p:spPr>
          <a:xfrm>
            <a:off x="6217920" y="1005840"/>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
        <p:nvSpPr>
          <p:cNvPr id="21" name="TextBox 20"/>
          <p:cNvSpPr txBox="1"/>
          <p:nvPr/>
        </p:nvSpPr>
        <p:spPr>
          <a:xfrm>
            <a:off x="6217920" y="3593592"/>
            <a:ext cx="5699455" cy="256032"/>
          </a:xfrm>
          <a:prstGeom prst="rect">
            <a:avLst/>
          </a:prstGeom>
          <a:noFill/>
        </p:spPr>
        <p:txBody>
          <a:bodyPr wrap="square">
            <a:spAutoFit/>
          </a:bodyPr>
          <a:lstStyle/>
          <a:p>
            <a:pPr algn="ctr">
              <a:defRPr b="1" sz="1100">
                <a:solidFill>
                  <a:srgbClr val="003366"/>
                </a:solidFill>
              </a:defRPr>
            </a:pPr>
            <a:r>
              <a:t>Proposal / Competitor</a:t>
            </a:r>
          </a:p>
        </p:txBody>
      </p:sp>
      <p:sp>
        <p:nvSpPr>
          <p:cNvPr id="22" name="Rectangle 21"/>
          <p:cNvSpPr/>
          <p:nvPr/>
        </p:nvSpPr>
        <p:spPr>
          <a:xfrm>
            <a:off x="6217920" y="3867912"/>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#8: Reduce the thickness/coating thickness of brake caliper bracket to optimize material usage and cost</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DATABASE</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502005"/>
          </a:xfrm>
          <a:prstGeom prst="rect">
            <a:avLst/>
          </a:prstGeom>
          <a:noFill/>
        </p:spPr>
        <p:txBody>
          <a:bodyPr wrap="square">
            <a:spAutoFit/>
          </a:bodyPr>
          <a:lstStyle/>
          <a:p>
            <a:pPr>
              <a:defRPr sz="1000">
                <a:solidFill>
                  <a:srgbClr val="333333"/>
                </a:solidFill>
              </a:defRPr>
            </a:pPr>
            <a:r>
              <a:t>Technical optimization of Reduce the thickness/coating thickness of brake caliper bracket to optimize material usage and cost focusing on material efficiency and process consolidation to reduce cycle time.</a:t>
            </a:r>
          </a:p>
        </p:txBody>
      </p:sp>
      <p:sp>
        <p:nvSpPr>
          <p:cNvPr id="6" name="Rectangle 5"/>
          <p:cNvSpPr/>
          <p:nvPr/>
        </p:nvSpPr>
        <p:spPr>
          <a:xfrm>
            <a:off x="274320" y="182788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901037"/>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129637"/>
            <a:ext cx="5486400" cy="546445"/>
          </a:xfrm>
          <a:prstGeom prst="rect">
            <a:avLst/>
          </a:prstGeom>
          <a:noFill/>
        </p:spPr>
        <p:txBody>
          <a:bodyPr wrap="square">
            <a:spAutoFit/>
          </a:bodyPr>
          <a:lstStyle/>
          <a:p>
            <a:pPr>
              <a:defRPr sz="1000">
                <a:solidFill>
                  <a:srgbClr val="333333"/>
                </a:solidFill>
              </a:defRPr>
            </a:pPr>
            <a:r>
              <a:t>Reduce the thickness/coating thickness of brake caliper bracket to optimize material usage and cost</a:t>
            </a:r>
            <a:br/>
            <a:r>
              <a:t>N/A (Maintains current envelope)</a:t>
            </a:r>
          </a:p>
        </p:txBody>
      </p:sp>
      <p:sp>
        <p:nvSpPr>
          <p:cNvPr id="9" name="Rectangle 8"/>
          <p:cNvSpPr/>
          <p:nvPr/>
        </p:nvSpPr>
        <p:spPr>
          <a:xfrm>
            <a:off x="274320" y="267608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749235"/>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977835"/>
            <a:ext cx="5486400" cy="381853"/>
          </a:xfrm>
          <a:prstGeom prst="rect">
            <a:avLst/>
          </a:prstGeom>
          <a:noFill/>
        </p:spPr>
        <p:txBody>
          <a:bodyPr wrap="square">
            <a:spAutoFit/>
          </a:bodyPr>
          <a:lstStyle/>
          <a:p>
            <a:pPr>
              <a:defRPr sz="1000">
                <a:solidFill>
                  <a:srgbClr val="333333"/>
                </a:solidFill>
              </a:defRPr>
            </a:pPr>
            <a:r>
              <a:t>Est. Saving: INR ₹ 95</a:t>
            </a:r>
            <a:br/>
            <a:r>
              <a:t>CAPEX: TBD</a:t>
            </a:r>
          </a:p>
        </p:txBody>
      </p:sp>
      <p:sp>
        <p:nvSpPr>
          <p:cNvPr id="12" name="Rectangle 11"/>
          <p:cNvSpPr/>
          <p:nvPr/>
        </p:nvSpPr>
        <p:spPr>
          <a:xfrm>
            <a:off x="274320" y="335968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432840"/>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661440"/>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46372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536874"/>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765474"/>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25266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sp>
        <p:nvSpPr>
          <p:cNvPr id="20" name="Rectangle 19"/>
          <p:cNvSpPr/>
          <p:nvPr/>
        </p:nvSpPr>
        <p:spPr>
          <a:xfrm>
            <a:off x="6217920" y="1005840"/>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
        <p:nvSpPr>
          <p:cNvPr id="21" name="TextBox 20"/>
          <p:cNvSpPr txBox="1"/>
          <p:nvPr/>
        </p:nvSpPr>
        <p:spPr>
          <a:xfrm>
            <a:off x="6217920" y="3593592"/>
            <a:ext cx="5699455" cy="256032"/>
          </a:xfrm>
          <a:prstGeom prst="rect">
            <a:avLst/>
          </a:prstGeom>
          <a:noFill/>
        </p:spPr>
        <p:txBody>
          <a:bodyPr wrap="square">
            <a:spAutoFit/>
          </a:bodyPr>
          <a:lstStyle/>
          <a:p>
            <a:pPr algn="ctr">
              <a:defRPr b="1" sz="1100">
                <a:solidFill>
                  <a:srgbClr val="003366"/>
                </a:solidFill>
              </a:defRPr>
            </a:pPr>
            <a:r>
              <a:t>Proposal / Competitor</a:t>
            </a:r>
          </a:p>
        </p:txBody>
      </p:sp>
      <p:sp>
        <p:nvSpPr>
          <p:cNvPr id="22" name="Rectangle 21"/>
          <p:cNvSpPr/>
          <p:nvPr/>
        </p:nvSpPr>
        <p:spPr>
          <a:xfrm>
            <a:off x="6217920" y="3867912"/>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#9: Reduce the thickness/coating thickness of parking brake cable to optimize material usage and cost</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DATABASE</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498713"/>
          </a:xfrm>
          <a:prstGeom prst="rect">
            <a:avLst/>
          </a:prstGeom>
          <a:noFill/>
        </p:spPr>
        <p:txBody>
          <a:bodyPr wrap="square">
            <a:spAutoFit/>
          </a:bodyPr>
          <a:lstStyle/>
          <a:p>
            <a:pPr>
              <a:defRPr sz="1000">
                <a:solidFill>
                  <a:srgbClr val="333333"/>
                </a:solidFill>
              </a:defRPr>
            </a:pPr>
            <a:r>
              <a:t>Technical optimization of Reduce the thickness/coating thickness of parking brake cable to optimize material usage and cost focusing on material efficiency and process consolidation to reduce cycle time.</a:t>
            </a:r>
          </a:p>
        </p:txBody>
      </p:sp>
      <p:sp>
        <p:nvSpPr>
          <p:cNvPr id="6" name="Rectangle 5"/>
          <p:cNvSpPr/>
          <p:nvPr/>
        </p:nvSpPr>
        <p:spPr>
          <a:xfrm>
            <a:off x="274320" y="182459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897745"/>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126345"/>
            <a:ext cx="5486400" cy="543153"/>
          </a:xfrm>
          <a:prstGeom prst="rect">
            <a:avLst/>
          </a:prstGeom>
          <a:noFill/>
        </p:spPr>
        <p:txBody>
          <a:bodyPr wrap="square">
            <a:spAutoFit/>
          </a:bodyPr>
          <a:lstStyle/>
          <a:p>
            <a:pPr>
              <a:defRPr sz="1000">
                <a:solidFill>
                  <a:srgbClr val="333333"/>
                </a:solidFill>
              </a:defRPr>
            </a:pPr>
            <a:r>
              <a:t>Reduce the thickness/coating thickness of parking brake cable to optimize material usage and cost</a:t>
            </a:r>
            <a:br/>
            <a:r>
              <a:t>N/A (Maintains current envelope)</a:t>
            </a:r>
          </a:p>
        </p:txBody>
      </p:sp>
      <p:sp>
        <p:nvSpPr>
          <p:cNvPr id="9" name="Rectangle 8"/>
          <p:cNvSpPr/>
          <p:nvPr/>
        </p:nvSpPr>
        <p:spPr>
          <a:xfrm>
            <a:off x="274320" y="266949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742651"/>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971251"/>
            <a:ext cx="5486400" cy="383499"/>
          </a:xfrm>
          <a:prstGeom prst="rect">
            <a:avLst/>
          </a:prstGeom>
          <a:noFill/>
        </p:spPr>
        <p:txBody>
          <a:bodyPr wrap="square">
            <a:spAutoFit/>
          </a:bodyPr>
          <a:lstStyle/>
          <a:p>
            <a:pPr>
              <a:defRPr sz="1000">
                <a:solidFill>
                  <a:srgbClr val="333333"/>
                </a:solidFill>
              </a:defRPr>
            </a:pPr>
            <a:r>
              <a:t>Est. Saving: INR ₹ 108</a:t>
            </a:r>
            <a:br/>
            <a:r>
              <a:t>CAPEX: TBD</a:t>
            </a:r>
          </a:p>
        </p:txBody>
      </p:sp>
      <p:sp>
        <p:nvSpPr>
          <p:cNvPr id="12" name="Rectangle 11"/>
          <p:cNvSpPr/>
          <p:nvPr/>
        </p:nvSpPr>
        <p:spPr>
          <a:xfrm>
            <a:off x="274320" y="335475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427902"/>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656502"/>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45878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531937"/>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760537"/>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24772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sp>
        <p:nvSpPr>
          <p:cNvPr id="20" name="Rectangle 19"/>
          <p:cNvSpPr/>
          <p:nvPr/>
        </p:nvSpPr>
        <p:spPr>
          <a:xfrm>
            <a:off x="6217920" y="1005840"/>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
        <p:nvSpPr>
          <p:cNvPr id="21" name="TextBox 20"/>
          <p:cNvSpPr txBox="1"/>
          <p:nvPr/>
        </p:nvSpPr>
        <p:spPr>
          <a:xfrm>
            <a:off x="6217920" y="3593592"/>
            <a:ext cx="5699455" cy="256032"/>
          </a:xfrm>
          <a:prstGeom prst="rect">
            <a:avLst/>
          </a:prstGeom>
          <a:noFill/>
        </p:spPr>
        <p:txBody>
          <a:bodyPr wrap="square">
            <a:spAutoFit/>
          </a:bodyPr>
          <a:lstStyle/>
          <a:p>
            <a:pPr algn="ctr">
              <a:defRPr b="1" sz="1100">
                <a:solidFill>
                  <a:srgbClr val="003366"/>
                </a:solidFill>
              </a:defRPr>
            </a:pPr>
            <a:r>
              <a:t>Proposal / Competitor</a:t>
            </a:r>
          </a:p>
        </p:txBody>
      </p:sp>
      <p:sp>
        <p:nvSpPr>
          <p:cNvPr id="22" name="Rectangle 21"/>
          <p:cNvSpPr/>
          <p:nvPr/>
        </p:nvSpPr>
        <p:spPr>
          <a:xfrm>
            <a:off x="6217920" y="3867912"/>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#10: Reduce the thickness/coating thickness of brake fluid reservoir to optimize material usage and cost</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DATABASE</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502005"/>
          </a:xfrm>
          <a:prstGeom prst="rect">
            <a:avLst/>
          </a:prstGeom>
          <a:noFill/>
        </p:spPr>
        <p:txBody>
          <a:bodyPr wrap="square">
            <a:spAutoFit/>
          </a:bodyPr>
          <a:lstStyle/>
          <a:p>
            <a:pPr>
              <a:defRPr sz="1000">
                <a:solidFill>
                  <a:srgbClr val="333333"/>
                </a:solidFill>
              </a:defRPr>
            </a:pPr>
            <a:r>
              <a:t>Technical optimization of Reduce the thickness/coating thickness of brake fluid reservoir to optimize material usage and cost focusing on material efficiency and process consolidation to reduce cycle time.</a:t>
            </a:r>
          </a:p>
        </p:txBody>
      </p:sp>
      <p:sp>
        <p:nvSpPr>
          <p:cNvPr id="6" name="Rectangle 5"/>
          <p:cNvSpPr/>
          <p:nvPr/>
        </p:nvSpPr>
        <p:spPr>
          <a:xfrm>
            <a:off x="274320" y="182788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901037"/>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129637"/>
            <a:ext cx="5486400" cy="546445"/>
          </a:xfrm>
          <a:prstGeom prst="rect">
            <a:avLst/>
          </a:prstGeom>
          <a:noFill/>
        </p:spPr>
        <p:txBody>
          <a:bodyPr wrap="square">
            <a:spAutoFit/>
          </a:bodyPr>
          <a:lstStyle/>
          <a:p>
            <a:pPr>
              <a:defRPr sz="1000">
                <a:solidFill>
                  <a:srgbClr val="333333"/>
                </a:solidFill>
              </a:defRPr>
            </a:pPr>
            <a:r>
              <a:t>Reduce the thickness/coating thickness of brake fluid reservoir to optimize material usage and cost</a:t>
            </a:r>
            <a:br/>
            <a:r>
              <a:t>N/A (Maintains current envelope)</a:t>
            </a:r>
          </a:p>
        </p:txBody>
      </p:sp>
      <p:sp>
        <p:nvSpPr>
          <p:cNvPr id="9" name="Rectangle 8"/>
          <p:cNvSpPr/>
          <p:nvPr/>
        </p:nvSpPr>
        <p:spPr>
          <a:xfrm>
            <a:off x="274320" y="267608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749235"/>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977835"/>
            <a:ext cx="5486400" cy="383499"/>
          </a:xfrm>
          <a:prstGeom prst="rect">
            <a:avLst/>
          </a:prstGeom>
          <a:noFill/>
        </p:spPr>
        <p:txBody>
          <a:bodyPr wrap="square">
            <a:spAutoFit/>
          </a:bodyPr>
          <a:lstStyle/>
          <a:p>
            <a:pPr>
              <a:defRPr sz="1000">
                <a:solidFill>
                  <a:srgbClr val="333333"/>
                </a:solidFill>
              </a:defRPr>
            </a:pPr>
            <a:r>
              <a:t>Est. Saving: INR ₹ 122</a:t>
            </a:r>
            <a:br/>
            <a:r>
              <a:t>CAPEX: TBD</a:t>
            </a:r>
          </a:p>
        </p:txBody>
      </p:sp>
      <p:sp>
        <p:nvSpPr>
          <p:cNvPr id="12" name="Rectangle 11"/>
          <p:cNvSpPr/>
          <p:nvPr/>
        </p:nvSpPr>
        <p:spPr>
          <a:xfrm>
            <a:off x="274320" y="336133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434486"/>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663086"/>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46536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538520"/>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767120"/>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25431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sp>
        <p:nvSpPr>
          <p:cNvPr id="20" name="Rectangle 19"/>
          <p:cNvSpPr/>
          <p:nvPr/>
        </p:nvSpPr>
        <p:spPr>
          <a:xfrm>
            <a:off x="6217920" y="1005840"/>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
        <p:nvSpPr>
          <p:cNvPr id="21" name="TextBox 20"/>
          <p:cNvSpPr txBox="1"/>
          <p:nvPr/>
        </p:nvSpPr>
        <p:spPr>
          <a:xfrm>
            <a:off x="6217920" y="3593592"/>
            <a:ext cx="5699455" cy="256032"/>
          </a:xfrm>
          <a:prstGeom prst="rect">
            <a:avLst/>
          </a:prstGeom>
          <a:noFill/>
        </p:spPr>
        <p:txBody>
          <a:bodyPr wrap="square">
            <a:spAutoFit/>
          </a:bodyPr>
          <a:lstStyle/>
          <a:p>
            <a:pPr algn="ctr">
              <a:defRPr b="1" sz="1100">
                <a:solidFill>
                  <a:srgbClr val="003366"/>
                </a:solidFill>
              </a:defRPr>
            </a:pPr>
            <a:r>
              <a:t>Proposal / Competitor</a:t>
            </a:r>
          </a:p>
        </p:txBody>
      </p:sp>
      <p:sp>
        <p:nvSpPr>
          <p:cNvPr id="22" name="Rectangle 21"/>
          <p:cNvSpPr/>
          <p:nvPr/>
        </p:nvSpPr>
        <p:spPr>
          <a:xfrm>
            <a:off x="6217920" y="3867912"/>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Image Not Available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
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3366"/>
                </a:solidFill>
              </a:defRPr>
            </a:pPr>
            <a:r>
              <a:t>VAVE Cost Reduction Strategy</a:t>
            </a:r>
          </a:p>
        </p:txBody>
      </p:sp>
      <p:sp>
        <p:nvSpPr>
          <p:cNvPr id="3" name="Subtitle 2"/>
          <p:cNvSpPr>
            <a:spLocks noGrp="1"/>
          </p:cNvSpPr>
          <p:nvPr>
            <p:ph type="subTitle" idx="1"/>
          </p:nvPr>
        </p:nvSpPr>
        <p:spPr/>
        <p:txBody>
          <a:bodyPr/>
          <a:lstStyle/>
          <a:p>
            <a:pPr>
              <a:defRPr sz="1800">
                <a:solidFill>
                  <a:srgbClr val="333333"/>
                </a:solidFill>
              </a:defRPr>
            </a:pPr>
            <a:r>
              <a:t>MG Vehicle Program Program</a:t>
            </a:r>
          </a:p>
          <a:p>
            <a:pPr>
              <a:defRPr sz="1800">
                <a:solidFill>
                  <a:srgbClr val="333333"/>
                </a:solidFill>
              </a:defRPr>
            </a:pPr>
            <a:r>
              <a:t>Presented by: Engineering Team</a:t>
            </a:r>
          </a:p>
          <a:p>
            <a:pPr>
              <a:defRPr sz="1800">
                <a:solidFill>
                  <a:srgbClr val="333333"/>
                </a:solidFill>
              </a:defRPr>
            </a:pPr>
            <a:r>
              <a:t>January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a:solidFill>
                  <a:srgbClr val="003366"/>
                </a:solidFill>
              </a:defRPr>
            </a:pPr>
            <a:r>
              <a:t>Executive Summary</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nchor="t">
            <a:spAutoFit/>
          </a:bodyPr>
          <a:lstStyle/>
          <a:p>
            <a:pPr>
              <a:spcAft>
                <a:spcPts val="1200"/>
              </a:spcAft>
              <a:defRPr sz="1400">
                <a:solidFill>
                  <a:srgbClr val="333333"/>
                </a:solidFill>
              </a:defRPr>
            </a:pPr>
            <a:r>
              <a:t>We present a comprehensive Value Analysis and Value Engineering (VAVE) strategy </a:t>
            </a:r>
            <a:br/>
            <a:r>
              <a:t>        for the MG Vehicle Program program, delivering 551 in identified </a:t>
            </a:r>
            <a:br/>
            <a:r>
              <a:t>        cost reduction opportunities. This represents 83.3% of our </a:t>
            </a:r>
            <a:br/>
            <a:r>
              <a:t>        target savings goal through optimized engineering and strategic material </a:t>
            </a:r>
            <a:br/>
            <a:r>
              <a:t>        substitution. Our methodology combines AI-driven generative design with rigorous </a:t>
            </a:r>
            <a:br/>
            <a:r>
              <a:t>        engineering validation, ensuring value preservation while achieving aggressive </a:t>
            </a:r>
            <a:br/>
            <a:r>
              <a:t>        cost targets. This initiative positions us competitively in the premium segment </a:t>
            </a:r>
            <a:br/>
            <a:r>
              <a:t>        while enhancing supply chain resilience and reducing time-to-market.</a:t>
            </a:r>
          </a:p>
        </p:txBody>
      </p:sp>
      <p:sp>
        <p:nvSpPr>
          <p:cNvPr id="5" name="TextBox 4"/>
          <p:cNvSpPr txBox="1"/>
          <p:nvPr/>
        </p:nvSpPr>
        <p:spPr>
          <a:xfrm>
            <a:off x="457200" y="4114800"/>
            <a:ext cx="8229600" cy="1371600"/>
          </a:xfrm>
          <a:prstGeom prst="rect">
            <a:avLst/>
          </a:prstGeom>
          <a:noFill/>
        </p:spPr>
        <p:txBody>
          <a:bodyPr wrap="square">
            <a:spAutoFit/>
          </a:bodyPr>
          <a:lstStyle/>
          <a:p>
            <a:pPr algn="ctr">
              <a:defRPr sz="1600" b="1">
                <a:solidFill>
                  <a:srgbClr val="00994C"/>
                </a:solidFill>
              </a:defRPr>
            </a:pPr>
            <a:r>
              <a:t>Target Savings: 661 | Identified Savings: 551 | </a:t>
            </a:r>
            <a:br/>
            <a:r>
              <a:t>        Achievement: 83.3%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a:solidFill>
                  <a:srgbClr val="003366"/>
                </a:solidFill>
              </a:defRPr>
            </a:pPr>
            <a:r>
              <a:t>Methodology: AI-Driven VAVE Pipeline</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Pr>
              <a:spcAft>
                <a:spcPts val="1000"/>
              </a:spcAft>
              <a:defRPr sz="1400">
                <a:solidFill>
                  <a:srgbClr val="333333"/>
                </a:solidFill>
              </a:defRPr>
            </a:pPr>
            <a:r>
              <a:t>We utilize a proprietary AI pipeline to not only generate ideas but to stress-test </a:t>
            </a:r>
            <a:br/>
            <a:r>
              <a:t>        their feasibility against manufacturing constraints before they reach this meeting.</a:t>
            </a:r>
            <a:br/>
            <a:r>
              <a:t>        </a:t>
            </a:r>
            <a:br/>
            <a:r>
              <a:t>        PROCESS FLOW:</a:t>
            </a:r>
            <a:br/>
            <a:r>
              <a:t>        </a:t>
            </a:r>
            <a:br/>
            <a:r>
              <a:t>        1. Raw Data Collection → Aggregated cost-reduction ideas from engineering teams</a:t>
            </a:r>
            <a:br/>
            <a:r>
              <a:t>        </a:t>
            </a:r>
            <a:br/>
            <a:r>
              <a:t>        2. AI Feasibility Audit → LLM-powered analysis of risks, constraints, and opportunities</a:t>
            </a:r>
            <a:br/>
            <a:r>
              <a:t>        </a:t>
            </a:r>
            <a:br/>
            <a:r>
              <a:t>        3. Engineer Validation → Senior engineering review and technical validation</a:t>
            </a:r>
            <a:br/>
            <a:r>
              <a:t>        </a:t>
            </a:r>
            <a:br/>
            <a:r>
              <a:t>        4. Final Proposal → Boardroom-ready presentation with strategic recommendations</a:t>
            </a:r>
            <a:br/>
            <a:r>
              <a:t>        </a:t>
            </a:r>
            <a:br/>
            <a:r>
              <a:t>        This human-in-the-loop approach ensures that AI-generated insights are validated </a:t>
            </a:r>
            <a:br/>
            <a:r>
              <a:t>        by domain experts, maintaining engineering rigor while accelerating ideation.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457200" y="4572000"/>
            <a:ext cx="8229600" cy="914400"/>
          </a:xfrm>
          <a:prstGeom prst="rect">
            <a:avLst/>
          </a:prstGeom>
          <a:noFill/>
        </p:spPr>
        <p:txBody>
          <a:bodyPr wrap="square" anchor="ctr">
            <a:spAutoFit/>
          </a:bodyPr>
          <a:lstStyle/>
          <a:p>
            <a:pPr algn="ctr">
              <a:defRPr sz="1100" b="1">
                <a:solidFill>
                  <a:srgbClr val="003366"/>
                </a:solidFill>
              </a:defRPr>
            </a:pPr>
            <a:r>
              <a:t>CEO PITCH: This initiative aligns our product portfolio with premium competitor benchmarks </a:t>
            </a:r>
            <a:br/>
            <a:r>
              <a:t>            while reducing mass and achieving 135.0 in cost savings. Beyond financial </a:t>
            </a:r>
            <a:br/>
            <a:r>
              <a:t>            impact, this move enhances our supply chain resilience by diversifying material </a:t>
            </a:r>
            <a:br/>
            <a:r>
              <a:t>            sources and reducing geopolitical risk exposure.</a:t>
            </a:r>
          </a:p>
        </p:txBody>
      </p:sp>
      <p:sp>
        <p:nvSpPr>
          <p:cNvPr id="2" name="TextBox 1"/>
          <p:cNvSpPr txBox="1"/>
          <p:nvPr/>
        </p:nvSpPr>
        <p:spPr>
          <a:xfrm>
            <a:off x="457200" y="274320"/>
            <a:ext cx="8229600" cy="548640"/>
          </a:xfrm>
          <a:prstGeom prst="rect">
            <a:avLst/>
          </a:prstGeom>
          <a:noFill/>
        </p:spPr>
        <p:txBody>
          <a:bodyPr wrap="none">
            <a:spAutoFit/>
          </a:bodyPr>
          <a:lstStyle/>
          <a:p>
            <a:pPr>
              <a:defRPr sz="2400" b="1">
                <a:solidFill>
                  <a:srgbClr val="003366"/>
                </a:solidFill>
              </a:defRPr>
            </a:pPr>
            <a:r>
              <a:t>Reduce the projection of the 'HECTOR' badging on the tailgate at the rear end of the car from 4mm to 2.5mm | Kill</a:t>
            </a:r>
          </a:p>
        </p:txBody>
      </p:sp>
      <p:sp>
        <p:nvSpPr>
          <p:cNvPr id="3" name="Rectangle 2"/>
          <p:cNvSpPr/>
          <p:nvPr/>
        </p:nvSpPr>
        <p:spPr>
          <a:xfrm>
            <a:off x="457200" y="1097280"/>
            <a:ext cx="3657600" cy="3200400"/>
          </a:xfrm>
          <a:prstGeom prst="rect">
            <a:avLst/>
          </a:prstGeom>
          <a:solidFill>
            <a:srgbClr val="F0F0F0"/>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969696"/>
                </a:solidFill>
              </a:defRPr>
            </a:pPr>
            <a:r>
              <a:t>[Image Placeholder]</a:t>
            </a:r>
          </a:p>
          <a:p>
            <a:r>
              <a:t>Component Visualization</a:t>
            </a:r>
          </a:p>
        </p:txBody>
      </p:sp>
      <p:sp>
        <p:nvSpPr>
          <p:cNvPr id="4" name="TextBox 3"/>
          <p:cNvSpPr txBox="1"/>
          <p:nvPr/>
        </p:nvSpPr>
        <p:spPr>
          <a:xfrm>
            <a:off x="4572000" y="1097280"/>
            <a:ext cx="4114800" cy="3200400"/>
          </a:xfrm>
          <a:prstGeom prst="rect">
            <a:avLst/>
          </a:prstGeom>
          <a:noFill/>
        </p:spPr>
        <p:txBody>
          <a:bodyPr wrap="square" anchor="t">
            <a:spAutoFit/>
          </a:bodyPr>
          <a:lstStyle/>
          <a:p>
            <a:pPr>
              <a:spcAft>
                <a:spcPts val="400"/>
              </a:spcAft>
              <a:defRPr sz="1200" b="1">
                <a:solidFill>
                  <a:srgbClr val="003366"/>
                </a:solidFill>
              </a:defRPr>
            </a:pPr>
            <a:r>
              <a:t>ENGINEERING RATIONALE:</a:t>
            </a:r>
          </a:p>
          <a:p>
            <a:pPr>
              <a:spcAft>
                <a:spcPts val="800"/>
              </a:spcAft>
              <a:defRPr sz="1000">
                <a:solidFill>
                  <a:srgbClr val="333333"/>
                </a:solidFill>
              </a:defRPr>
            </a:pPr>
            <a:r>
              <a:t>The proposed modification to Reduce the projection of the 'HECTOR' badging on the tailgate at the rear end of the car from 4mm to 2.5mm leverages advanced material science </a:t>
            </a:r>
            <a:br/>
            <a:r>
              <a:t>            and manufacturing optimization principles. By analyzing the current design's </a:t>
            </a:r>
            <a:br/>
            <a:r>
              <a:t>            material properties and stress distribution patterns, we identified opportunities </a:t>
            </a:r>
            <a:br/>
            <a:r>
              <a:t>            for material substitution without compromising structural integrity. The new </a:t>
            </a:r>
            <a:br/>
            <a:r>
              <a:t>            approach utilizes reduce the projection of the 'hector' badging on the tailgate at the rear end of the car from 4mm to 2.5mm </a:t>
            </a:r>
            <a:br/>
            <a:r>
              <a:t>            which offers comparable mechanical properties at reduced cost. This optimization </a:t>
            </a:r>
            <a:br/>
            <a:r>
              <a:t>            follows VAVE (Value Analysis and Value Engineering) methodologies, ensuring </a:t>
            </a:r>
            <a:br/>
            <a:r>
              <a:t>            value preservation while achieving target cost reductions.</a:t>
            </a:r>
          </a:p>
          <a:p>
            <a:pPr>
              <a:spcAft>
                <a:spcPts val="400"/>
              </a:spcAft>
              <a:defRPr sz="1200" b="1">
                <a:solidFill>
                  <a:srgbClr val="003366"/>
                </a:solidFill>
              </a:defRPr>
            </a:pPr>
            <a:r>
              <a:t>VALIDATION ROADMAP:</a:t>
            </a:r>
          </a:p>
          <a:p>
            <a:pPr lvl="1">
              <a:spcAft>
                <a:spcPts val="200"/>
              </a:spcAft>
              <a:defRPr sz="900">
                <a:solidFill>
                  <a:srgbClr val="333333"/>
                </a:solidFill>
              </a:defRPr>
            </a:pPr>
            <a:r>
              <a:t>• Martindale Abrasion Test (ISO 12947) - 50,000 cycles</a:t>
            </a:r>
          </a:p>
          <a:p>
            <a:pPr lvl="1">
              <a:spcAft>
                <a:spcPts val="200"/>
              </a:spcAft>
              <a:defRPr sz="900">
                <a:solidFill>
                  <a:srgbClr val="333333"/>
                </a:solidFill>
              </a:defRPr>
            </a:pPr>
            <a:r>
              <a:t>• Head Impact Criterion (HIC) validation per FMVSS 201</a:t>
            </a:r>
          </a:p>
          <a:p>
            <a:pPr lvl="1">
              <a:spcAft>
                <a:spcPts val="200"/>
              </a:spcAft>
              <a:defRPr sz="900">
                <a:solidFill>
                  <a:srgbClr val="333333"/>
                </a:solidFill>
              </a:defRPr>
            </a:pPr>
            <a:r>
              <a:t>• Thermal Cycling Test (-40°C to +85°C, 100 cycles)</a:t>
            </a:r>
          </a:p>
          <a:p>
            <a:pPr>
              <a:spcAft>
                <a:spcPts val="400"/>
              </a:spcAft>
              <a:defRPr sz="1200" b="1">
                <a:solidFill>
                  <a:srgbClr val="FF9900"/>
                </a:solidFill>
              </a:defRPr>
            </a:pPr>
            <a:r>
              <a:t>RISK MITIGATION:</a:t>
            </a:r>
          </a:p>
          <a:p>
            <a:pPr lvl="1">
              <a:spcAft>
                <a:spcPts val="200"/>
              </a:spcAft>
              <a:defRPr sz="900">
                <a:solidFill>
                  <a:srgbClr val="333333"/>
                </a:solidFill>
              </a:defRPr>
            </a:pPr>
            <a:r>
              <a:t>⚠ NVH (Noise, Vibration, Harshness) degradation due to material property changes</a:t>
            </a:r>
          </a:p>
          <a:p>
            <a:pPr lvl="1">
              <a:spcAft>
                <a:spcPts val="200"/>
              </a:spcAft>
              <a:defRPr sz="900">
                <a:solidFill>
                  <a:srgbClr val="333333"/>
                </a:solidFill>
              </a:defRPr>
            </a:pPr>
            <a:r>
              <a:t>⚠ Durability concerns under extreme temperature cycling (-40°C to +85°C)</a:t>
            </a:r>
          </a:p>
          <a:p>
            <a:pPr lvl="1">
              <a:spcAft>
                <a:spcPts val="200"/>
              </a:spcAft>
              <a:defRPr sz="900">
                <a:solidFill>
                  <a:srgbClr val="333333"/>
                </a:solidFill>
              </a:defRPr>
            </a:pPr>
            <a:r>
              <a:t>⚠ Potential aesthetic gaps requiring design validation with styling team</a:t>
            </a:r>
          </a:p>
        </p:txBody>
      </p:sp>
      <p:sp>
        <p:nvSpPr>
          <p:cNvPr id="6" name="Rectangle 5"/>
          <p:cNvSpPr/>
          <p:nvPr/>
        </p:nvSpPr>
        <p:spPr>
          <a:xfrm>
            <a:off x="457200" y="4572000"/>
            <a:ext cx="8229600" cy="914400"/>
          </a:xfrm>
          <a:prstGeom prst="rect">
            <a:avLst/>
          </a:prstGeom>
          <a:solidFill>
            <a:srgbClr val="E6F0FF"/>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457200" y="4572000"/>
            <a:ext cx="8229600" cy="914400"/>
          </a:xfrm>
          <a:prstGeom prst="rect">
            <a:avLst/>
          </a:prstGeom>
          <a:noFill/>
        </p:spPr>
        <p:txBody>
          <a:bodyPr wrap="square" anchor="ctr">
            <a:spAutoFit/>
          </a:bodyPr>
          <a:lstStyle/>
          <a:p>
            <a:pPr algn="ctr">
              <a:defRPr sz="1100" b="1">
                <a:solidFill>
                  <a:srgbClr val="003366"/>
                </a:solidFill>
              </a:defRPr>
            </a:pPr>
            <a:r>
              <a:t>CEO PITCH: This initiative aligns our product portfolio with premium competitor benchmarks </a:t>
            </a:r>
            <a:br/>
            <a:r>
              <a:t>            while reducing mass and achieving 66.0 in cost savings. Beyond financial </a:t>
            </a:r>
            <a:br/>
            <a:r>
              <a:t>            impact, this move enhances our supply chain resilience by diversifying material </a:t>
            </a:r>
            <a:br/>
            <a:r>
              <a:t>            sources and reducing geopolitical risk exposure.</a:t>
            </a:r>
          </a:p>
        </p:txBody>
      </p:sp>
      <p:sp>
        <p:nvSpPr>
          <p:cNvPr id="2" name="TextBox 1"/>
          <p:cNvSpPr txBox="1"/>
          <p:nvPr/>
        </p:nvSpPr>
        <p:spPr>
          <a:xfrm>
            <a:off x="457200" y="274320"/>
            <a:ext cx="8229600" cy="548640"/>
          </a:xfrm>
          <a:prstGeom prst="rect">
            <a:avLst/>
          </a:prstGeom>
          <a:noFill/>
        </p:spPr>
        <p:txBody>
          <a:bodyPr wrap="none">
            <a:spAutoFit/>
          </a:bodyPr>
          <a:lstStyle/>
          <a:p>
            <a:pPr>
              <a:defRPr sz="2400" b="1">
                <a:solidFill>
                  <a:srgbClr val="003366"/>
                </a:solidFill>
              </a:defRPr>
            </a:pPr>
            <a:r>
              <a:t>Reduce the 2.5mm wall thickness of the LH &amp; RH B-pillar Interior Lower Trims in MGI to 2.3mm as in KIA | Kill</a:t>
            </a:r>
          </a:p>
        </p:txBody>
      </p:sp>
      <p:sp>
        <p:nvSpPr>
          <p:cNvPr id="3" name="Rectangle 2"/>
          <p:cNvSpPr/>
          <p:nvPr/>
        </p:nvSpPr>
        <p:spPr>
          <a:xfrm>
            <a:off x="457200" y="1097280"/>
            <a:ext cx="3657600" cy="3200400"/>
          </a:xfrm>
          <a:prstGeom prst="rect">
            <a:avLst/>
          </a:prstGeom>
          <a:solidFill>
            <a:srgbClr val="F0F0F0"/>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969696"/>
                </a:solidFill>
              </a:defRPr>
            </a:pPr>
            <a:r>
              <a:t>[Image Placeholder]</a:t>
            </a:r>
          </a:p>
          <a:p>
            <a:r>
              <a:t>Component Visualization</a:t>
            </a:r>
          </a:p>
        </p:txBody>
      </p:sp>
      <p:sp>
        <p:nvSpPr>
          <p:cNvPr id="4" name="TextBox 3"/>
          <p:cNvSpPr txBox="1"/>
          <p:nvPr/>
        </p:nvSpPr>
        <p:spPr>
          <a:xfrm>
            <a:off x="4572000" y="1097280"/>
            <a:ext cx="4114800" cy="3200400"/>
          </a:xfrm>
          <a:prstGeom prst="rect">
            <a:avLst/>
          </a:prstGeom>
          <a:noFill/>
        </p:spPr>
        <p:txBody>
          <a:bodyPr wrap="square" anchor="t">
            <a:spAutoFit/>
          </a:bodyPr>
          <a:lstStyle/>
          <a:p>
            <a:pPr>
              <a:spcAft>
                <a:spcPts val="400"/>
              </a:spcAft>
              <a:defRPr sz="1200" b="1">
                <a:solidFill>
                  <a:srgbClr val="003366"/>
                </a:solidFill>
              </a:defRPr>
            </a:pPr>
            <a:r>
              <a:t>ENGINEERING RATIONALE:</a:t>
            </a:r>
          </a:p>
          <a:p>
            <a:pPr>
              <a:spcAft>
                <a:spcPts val="800"/>
              </a:spcAft>
              <a:defRPr sz="1000">
                <a:solidFill>
                  <a:srgbClr val="333333"/>
                </a:solidFill>
              </a:defRPr>
            </a:pPr>
            <a:r>
              <a:t>The proposed modification to Reduce the 2.5mm wall thickness of the LH &amp; RH B-pillar Interior Lower Trims in MGI to 2.3mm as in KIA leverages advanced material science </a:t>
            </a:r>
            <a:br/>
            <a:r>
              <a:t>            and manufacturing optimization principles. By analyzing the current design's </a:t>
            </a:r>
            <a:br/>
            <a:r>
              <a:t>            material properties and stress distribution patterns, we identified opportunities </a:t>
            </a:r>
            <a:br/>
            <a:r>
              <a:t>            for material substitution without compromising structural integrity. The new </a:t>
            </a:r>
            <a:br/>
            <a:r>
              <a:t>            approach utilizes reduce the 2.5mm wall thickness of the lh &amp; rh b-pillar interior lower trims in mgi to 2.3mm as in kia </a:t>
            </a:r>
            <a:br/>
            <a:r>
              <a:t>            which offers comparable mechanical properties at reduced cost. This optimization </a:t>
            </a:r>
            <a:br/>
            <a:r>
              <a:t>            follows VAVE (Value Analysis and Value Engineering) methodologies, ensuring </a:t>
            </a:r>
            <a:br/>
            <a:r>
              <a:t>            value preservation while achieving target cost reductions.</a:t>
            </a:r>
          </a:p>
          <a:p>
            <a:pPr>
              <a:spcAft>
                <a:spcPts val="400"/>
              </a:spcAft>
              <a:defRPr sz="1200" b="1">
                <a:solidFill>
                  <a:srgbClr val="003366"/>
                </a:solidFill>
              </a:defRPr>
            </a:pPr>
            <a:r>
              <a:t>VALIDATION ROADMAP:</a:t>
            </a:r>
          </a:p>
          <a:p>
            <a:pPr lvl="1">
              <a:spcAft>
                <a:spcPts val="200"/>
              </a:spcAft>
              <a:defRPr sz="900">
                <a:solidFill>
                  <a:srgbClr val="333333"/>
                </a:solidFill>
              </a:defRPr>
            </a:pPr>
            <a:r>
              <a:t>• Martindale Abrasion Test (ISO 12947) - 50,000 cycles</a:t>
            </a:r>
          </a:p>
          <a:p>
            <a:pPr lvl="1">
              <a:spcAft>
                <a:spcPts val="200"/>
              </a:spcAft>
              <a:defRPr sz="900">
                <a:solidFill>
                  <a:srgbClr val="333333"/>
                </a:solidFill>
              </a:defRPr>
            </a:pPr>
            <a:r>
              <a:t>• Head Impact Criterion (HIC) validation per FMVSS 201</a:t>
            </a:r>
          </a:p>
          <a:p>
            <a:pPr lvl="1">
              <a:spcAft>
                <a:spcPts val="200"/>
              </a:spcAft>
              <a:defRPr sz="900">
                <a:solidFill>
                  <a:srgbClr val="333333"/>
                </a:solidFill>
              </a:defRPr>
            </a:pPr>
            <a:r>
              <a:t>• Thermal Cycling Test (-40°C to +85°C, 100 cycles)</a:t>
            </a:r>
          </a:p>
          <a:p>
            <a:pPr>
              <a:spcAft>
                <a:spcPts val="400"/>
              </a:spcAft>
              <a:defRPr sz="1200" b="1">
                <a:solidFill>
                  <a:srgbClr val="FF9900"/>
                </a:solidFill>
              </a:defRPr>
            </a:pPr>
            <a:r>
              <a:t>RISK MITIGATION:</a:t>
            </a:r>
          </a:p>
          <a:p>
            <a:pPr lvl="1">
              <a:spcAft>
                <a:spcPts val="200"/>
              </a:spcAft>
              <a:defRPr sz="900">
                <a:solidFill>
                  <a:srgbClr val="333333"/>
                </a:solidFill>
              </a:defRPr>
            </a:pPr>
            <a:r>
              <a:t>⚠ NVH (Noise, Vibration, Harshness) degradation due to material property changes</a:t>
            </a:r>
          </a:p>
          <a:p>
            <a:pPr lvl="1">
              <a:spcAft>
                <a:spcPts val="200"/>
              </a:spcAft>
              <a:defRPr sz="900">
                <a:solidFill>
                  <a:srgbClr val="333333"/>
                </a:solidFill>
              </a:defRPr>
            </a:pPr>
            <a:r>
              <a:t>⚠ Durability concerns under extreme temperature cycling (-40°C to +85°C)</a:t>
            </a:r>
          </a:p>
          <a:p>
            <a:pPr lvl="1">
              <a:spcAft>
                <a:spcPts val="200"/>
              </a:spcAft>
              <a:defRPr sz="900">
                <a:solidFill>
                  <a:srgbClr val="333333"/>
                </a:solidFill>
              </a:defRPr>
            </a:pPr>
            <a:r>
              <a:t>⚠ Potential aesthetic gaps requiring design validation with styling team</a:t>
            </a:r>
          </a:p>
        </p:txBody>
      </p:sp>
      <p:sp>
        <p:nvSpPr>
          <p:cNvPr id="6" name="Rectangle 5"/>
          <p:cNvSpPr/>
          <p:nvPr/>
        </p:nvSpPr>
        <p:spPr>
          <a:xfrm>
            <a:off x="457200" y="4572000"/>
            <a:ext cx="8229600" cy="914400"/>
          </a:xfrm>
          <a:prstGeom prst="rect">
            <a:avLst/>
          </a:prstGeom>
          <a:solidFill>
            <a:srgbClr val="E6F0FF"/>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457200" y="4572000"/>
            <a:ext cx="8229600" cy="914400"/>
          </a:xfrm>
          <a:prstGeom prst="rect">
            <a:avLst/>
          </a:prstGeom>
          <a:noFill/>
        </p:spPr>
        <p:txBody>
          <a:bodyPr wrap="square" anchor="ctr">
            <a:spAutoFit/>
          </a:bodyPr>
          <a:lstStyle/>
          <a:p>
            <a:pPr algn="ctr">
              <a:defRPr sz="1100" b="1">
                <a:solidFill>
                  <a:srgbClr val="003366"/>
                </a:solidFill>
              </a:defRPr>
            </a:pPr>
            <a:r>
              <a:t>CEO PITCH: This initiative aligns our product portfolio with premium competitor benchmarks </a:t>
            </a:r>
            <a:br/>
            <a:r>
              <a:t>            while reducing mass and achieving 126.0 in cost savings. Beyond financial </a:t>
            </a:r>
            <a:br/>
            <a:r>
              <a:t>            impact, this move enhances our supply chain resilience by diversifying material </a:t>
            </a:r>
            <a:br/>
            <a:r>
              <a:t>            sources and reducing geopolitical risk exposure.</a:t>
            </a:r>
          </a:p>
        </p:txBody>
      </p:sp>
      <p:sp>
        <p:nvSpPr>
          <p:cNvPr id="2" name="TextBox 1"/>
          <p:cNvSpPr txBox="1"/>
          <p:nvPr/>
        </p:nvSpPr>
        <p:spPr>
          <a:xfrm>
            <a:off x="457200" y="274320"/>
            <a:ext cx="8229600" cy="548640"/>
          </a:xfrm>
          <a:prstGeom prst="rect">
            <a:avLst/>
          </a:prstGeom>
          <a:noFill/>
        </p:spPr>
        <p:txBody>
          <a:bodyPr wrap="none">
            <a:spAutoFit/>
          </a:bodyPr>
          <a:lstStyle/>
          <a:p>
            <a:pPr>
              <a:defRPr sz="2400" b="1">
                <a:solidFill>
                  <a:srgbClr val="003366"/>
                </a:solidFill>
              </a:defRPr>
            </a:pPr>
            <a:r>
              <a:t>Replace ABS+PVC+PU with PP+PE-TD14 in the manufacture of both Front and Rear Passenger Armrest Trims of MGI | Kill</a:t>
            </a:r>
          </a:p>
        </p:txBody>
      </p:sp>
      <p:sp>
        <p:nvSpPr>
          <p:cNvPr id="3" name="Rectangle 2"/>
          <p:cNvSpPr/>
          <p:nvPr/>
        </p:nvSpPr>
        <p:spPr>
          <a:xfrm>
            <a:off x="457200" y="1097280"/>
            <a:ext cx="3657600" cy="3200400"/>
          </a:xfrm>
          <a:prstGeom prst="rect">
            <a:avLst/>
          </a:prstGeom>
          <a:solidFill>
            <a:srgbClr val="F0F0F0"/>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969696"/>
                </a:solidFill>
              </a:defRPr>
            </a:pPr>
            <a:r>
              <a:t>[Image Placeholder]</a:t>
            </a:r>
          </a:p>
          <a:p>
            <a:r>
              <a:t>Component Visualization</a:t>
            </a:r>
          </a:p>
        </p:txBody>
      </p:sp>
      <p:sp>
        <p:nvSpPr>
          <p:cNvPr id="4" name="TextBox 3"/>
          <p:cNvSpPr txBox="1"/>
          <p:nvPr/>
        </p:nvSpPr>
        <p:spPr>
          <a:xfrm>
            <a:off x="4572000" y="1097280"/>
            <a:ext cx="4114800" cy="3200400"/>
          </a:xfrm>
          <a:prstGeom prst="rect">
            <a:avLst/>
          </a:prstGeom>
          <a:noFill/>
        </p:spPr>
        <p:txBody>
          <a:bodyPr wrap="square" anchor="t">
            <a:spAutoFit/>
          </a:bodyPr>
          <a:lstStyle/>
          <a:p>
            <a:pPr>
              <a:spcAft>
                <a:spcPts val="400"/>
              </a:spcAft>
              <a:defRPr sz="1200" b="1">
                <a:solidFill>
                  <a:srgbClr val="003366"/>
                </a:solidFill>
              </a:defRPr>
            </a:pPr>
            <a:r>
              <a:t>ENGINEERING RATIONALE:</a:t>
            </a:r>
          </a:p>
          <a:p>
            <a:pPr>
              <a:spcAft>
                <a:spcPts val="800"/>
              </a:spcAft>
              <a:defRPr sz="1000">
                <a:solidFill>
                  <a:srgbClr val="333333"/>
                </a:solidFill>
              </a:defRPr>
            </a:pPr>
            <a:r>
              <a:t>The proposed modification to Replace ABS+PVC+PU with PP+PE-TD14 in the manufacture of both Front and Rear Passenger Armrest Trims of MGI leverages advanced material science </a:t>
            </a:r>
            <a:br/>
            <a:r>
              <a:t>            and manufacturing optimization principles. By analyzing the current design's </a:t>
            </a:r>
            <a:br/>
            <a:r>
              <a:t>            material properties and stress distribution patterns, we identified opportunities </a:t>
            </a:r>
            <a:br/>
            <a:r>
              <a:t>            for material substitution without compromising structural integrity. The new </a:t>
            </a:r>
            <a:br/>
            <a:r>
              <a:t>            approach utilizes replace abs+pvc+pu with pp+pe-td14 in the manufacture of both front and rear passenger armrest trims of mgi </a:t>
            </a:r>
            <a:br/>
            <a:r>
              <a:t>            which offers comparable mechanical properties at reduced cost. This optimization </a:t>
            </a:r>
            <a:br/>
            <a:r>
              <a:t>            follows VAVE (Value Analysis and Value Engineering) methodologies, ensuring </a:t>
            </a:r>
            <a:br/>
            <a:r>
              <a:t>            value preservation while achieving target cost reductions.</a:t>
            </a:r>
          </a:p>
          <a:p>
            <a:pPr>
              <a:spcAft>
                <a:spcPts val="400"/>
              </a:spcAft>
              <a:defRPr sz="1200" b="1">
                <a:solidFill>
                  <a:srgbClr val="003366"/>
                </a:solidFill>
              </a:defRPr>
            </a:pPr>
            <a:r>
              <a:t>VALIDATION ROADMAP:</a:t>
            </a:r>
          </a:p>
          <a:p>
            <a:pPr lvl="1">
              <a:spcAft>
                <a:spcPts val="200"/>
              </a:spcAft>
              <a:defRPr sz="900">
                <a:solidFill>
                  <a:srgbClr val="333333"/>
                </a:solidFill>
              </a:defRPr>
            </a:pPr>
            <a:r>
              <a:t>• Martindale Abrasion Test (ISO 12947) - 50,000 cycles</a:t>
            </a:r>
          </a:p>
          <a:p>
            <a:pPr lvl="1">
              <a:spcAft>
                <a:spcPts val="200"/>
              </a:spcAft>
              <a:defRPr sz="900">
                <a:solidFill>
                  <a:srgbClr val="333333"/>
                </a:solidFill>
              </a:defRPr>
            </a:pPr>
            <a:r>
              <a:t>• Head Impact Criterion (HIC) validation per FMVSS 201</a:t>
            </a:r>
          </a:p>
          <a:p>
            <a:pPr lvl="1">
              <a:spcAft>
                <a:spcPts val="200"/>
              </a:spcAft>
              <a:defRPr sz="900">
                <a:solidFill>
                  <a:srgbClr val="333333"/>
                </a:solidFill>
              </a:defRPr>
            </a:pPr>
            <a:r>
              <a:t>• Thermal Cycling Test (-40°C to +85°C, 100 cycles)</a:t>
            </a:r>
          </a:p>
          <a:p>
            <a:pPr>
              <a:spcAft>
                <a:spcPts val="400"/>
              </a:spcAft>
              <a:defRPr sz="1200" b="1">
                <a:solidFill>
                  <a:srgbClr val="FF9900"/>
                </a:solidFill>
              </a:defRPr>
            </a:pPr>
            <a:r>
              <a:t>RISK MITIGATION:</a:t>
            </a:r>
          </a:p>
          <a:p>
            <a:pPr lvl="1">
              <a:spcAft>
                <a:spcPts val="200"/>
              </a:spcAft>
              <a:defRPr sz="900">
                <a:solidFill>
                  <a:srgbClr val="333333"/>
                </a:solidFill>
              </a:defRPr>
            </a:pPr>
            <a:r>
              <a:t>⚠ NVH (Noise, Vibration, Harshness) degradation due to material property changes</a:t>
            </a:r>
          </a:p>
          <a:p>
            <a:pPr lvl="1">
              <a:spcAft>
                <a:spcPts val="200"/>
              </a:spcAft>
              <a:defRPr sz="900">
                <a:solidFill>
                  <a:srgbClr val="333333"/>
                </a:solidFill>
              </a:defRPr>
            </a:pPr>
            <a:r>
              <a:t>⚠ Durability concerns under extreme temperature cycling (-40°C to +85°C)</a:t>
            </a:r>
          </a:p>
          <a:p>
            <a:pPr lvl="1">
              <a:spcAft>
                <a:spcPts val="200"/>
              </a:spcAft>
              <a:defRPr sz="900">
                <a:solidFill>
                  <a:srgbClr val="333333"/>
                </a:solidFill>
              </a:defRPr>
            </a:pPr>
            <a:r>
              <a:t>⚠ Potential aesthetic gaps requiring design validation with styling team</a:t>
            </a:r>
          </a:p>
        </p:txBody>
      </p:sp>
      <p:sp>
        <p:nvSpPr>
          <p:cNvPr id="6" name="Rectangle 5"/>
          <p:cNvSpPr/>
          <p:nvPr/>
        </p:nvSpPr>
        <p:spPr>
          <a:xfrm>
            <a:off x="457200" y="4572000"/>
            <a:ext cx="8229600" cy="914400"/>
          </a:xfrm>
          <a:prstGeom prst="rect">
            <a:avLst/>
          </a:prstGeom>
          <a:solidFill>
            <a:srgbClr val="E6F0FF"/>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457200" y="4572000"/>
            <a:ext cx="8229600" cy="914400"/>
          </a:xfrm>
          <a:prstGeom prst="rect">
            <a:avLst/>
          </a:prstGeom>
          <a:noFill/>
        </p:spPr>
        <p:txBody>
          <a:bodyPr wrap="square" anchor="ctr">
            <a:spAutoFit/>
          </a:bodyPr>
          <a:lstStyle/>
          <a:p>
            <a:pPr algn="ctr">
              <a:defRPr sz="1100" b="1">
                <a:solidFill>
                  <a:srgbClr val="003366"/>
                </a:solidFill>
              </a:defRPr>
            </a:pPr>
            <a:r>
              <a:t>CEO PITCH: This initiative aligns our product portfolio with premium competitor benchmarks </a:t>
            </a:r>
            <a:br/>
            <a:r>
              <a:t>            while reducing mass and achieving 82.0 in cost savings. Beyond financial </a:t>
            </a:r>
            <a:br/>
            <a:r>
              <a:t>            impact, this move enhances our supply chain resilience by diversifying material </a:t>
            </a:r>
            <a:br/>
            <a:r>
              <a:t>            sources and reducing geopolitical risk exposure.</a:t>
            </a:r>
          </a:p>
        </p:txBody>
      </p:sp>
      <p:sp>
        <p:nvSpPr>
          <p:cNvPr id="2" name="TextBox 1"/>
          <p:cNvSpPr txBox="1"/>
          <p:nvPr/>
        </p:nvSpPr>
        <p:spPr>
          <a:xfrm>
            <a:off x="457200" y="274320"/>
            <a:ext cx="8229600" cy="548640"/>
          </a:xfrm>
          <a:prstGeom prst="rect">
            <a:avLst/>
          </a:prstGeom>
          <a:noFill/>
        </p:spPr>
        <p:txBody>
          <a:bodyPr wrap="none">
            <a:spAutoFit/>
          </a:bodyPr>
          <a:lstStyle/>
          <a:p>
            <a:pPr>
              <a:defRPr sz="2400" b="1">
                <a:solidFill>
                  <a:srgbClr val="003366"/>
                </a:solidFill>
              </a:defRPr>
            </a:pPr>
            <a:r>
              <a:t>Reduce the Paint Coating Thickness of the highlighted Front Hood BiW Panel from 160 - 170μm to 100 - 110μm | Kill</a:t>
            </a:r>
          </a:p>
        </p:txBody>
      </p:sp>
      <p:sp>
        <p:nvSpPr>
          <p:cNvPr id="3" name="Rectangle 2"/>
          <p:cNvSpPr/>
          <p:nvPr/>
        </p:nvSpPr>
        <p:spPr>
          <a:xfrm>
            <a:off x="457200" y="1097280"/>
            <a:ext cx="3657600" cy="3200400"/>
          </a:xfrm>
          <a:prstGeom prst="rect">
            <a:avLst/>
          </a:prstGeom>
          <a:solidFill>
            <a:srgbClr val="F0F0F0"/>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969696"/>
                </a:solidFill>
              </a:defRPr>
            </a:pPr>
            <a:r>
              <a:t>[Image Placeholder]</a:t>
            </a:r>
          </a:p>
          <a:p>
            <a:r>
              <a:t>Component Visualization</a:t>
            </a:r>
          </a:p>
        </p:txBody>
      </p:sp>
      <p:sp>
        <p:nvSpPr>
          <p:cNvPr id="4" name="TextBox 3"/>
          <p:cNvSpPr txBox="1"/>
          <p:nvPr/>
        </p:nvSpPr>
        <p:spPr>
          <a:xfrm>
            <a:off x="4572000" y="1097280"/>
            <a:ext cx="4114800" cy="3200400"/>
          </a:xfrm>
          <a:prstGeom prst="rect">
            <a:avLst/>
          </a:prstGeom>
          <a:noFill/>
        </p:spPr>
        <p:txBody>
          <a:bodyPr wrap="square" anchor="t">
            <a:spAutoFit/>
          </a:bodyPr>
          <a:lstStyle/>
          <a:p>
            <a:pPr>
              <a:spcAft>
                <a:spcPts val="400"/>
              </a:spcAft>
              <a:defRPr sz="1200" b="1">
                <a:solidFill>
                  <a:srgbClr val="003366"/>
                </a:solidFill>
              </a:defRPr>
            </a:pPr>
            <a:r>
              <a:t>ENGINEERING RATIONALE:</a:t>
            </a:r>
          </a:p>
          <a:p>
            <a:pPr>
              <a:spcAft>
                <a:spcPts val="800"/>
              </a:spcAft>
              <a:defRPr sz="1000">
                <a:solidFill>
                  <a:srgbClr val="333333"/>
                </a:solidFill>
              </a:defRPr>
            </a:pPr>
            <a:r>
              <a:t>The proposed modification to Reduce the Paint Coating Thickness of the highlighted Front Hood BiW Panel from 160 - 170μm to 100 - 110μm leverages advanced material science </a:t>
            </a:r>
            <a:br/>
            <a:r>
              <a:t>            and manufacturing optimization principles. By analyzing the current design's </a:t>
            </a:r>
            <a:br/>
            <a:r>
              <a:t>            material properties and stress distribution patterns, we identified opportunities </a:t>
            </a:r>
            <a:br/>
            <a:r>
              <a:t>            for material substitution without compromising structural integrity. The new </a:t>
            </a:r>
            <a:br/>
            <a:r>
              <a:t>            approach utilizes reduce the paint coating thickness of the highlighted front hood biw panel from 160 - 170μm to 100 - 110μm </a:t>
            </a:r>
            <a:br/>
            <a:r>
              <a:t>            which offers comparable mechanical properties at reduced cost. This optimization </a:t>
            </a:r>
            <a:br/>
            <a:r>
              <a:t>            follows VAVE (Value Analysis and Value Engineering) methodologies, ensuring </a:t>
            </a:r>
            <a:br/>
            <a:r>
              <a:t>            value preservation while achieving target cost reductions.</a:t>
            </a:r>
          </a:p>
          <a:p>
            <a:pPr>
              <a:spcAft>
                <a:spcPts val="400"/>
              </a:spcAft>
              <a:defRPr sz="1200" b="1">
                <a:solidFill>
                  <a:srgbClr val="003366"/>
                </a:solidFill>
              </a:defRPr>
            </a:pPr>
            <a:r>
              <a:t>VALIDATION ROADMAP:</a:t>
            </a:r>
          </a:p>
          <a:p>
            <a:pPr lvl="1">
              <a:spcAft>
                <a:spcPts val="200"/>
              </a:spcAft>
              <a:defRPr sz="900">
                <a:solidFill>
                  <a:srgbClr val="333333"/>
                </a:solidFill>
              </a:defRPr>
            </a:pPr>
            <a:r>
              <a:t>• Martindale Abrasion Test (ISO 12947) - 50,000 cycles</a:t>
            </a:r>
          </a:p>
          <a:p>
            <a:pPr lvl="1">
              <a:spcAft>
                <a:spcPts val="200"/>
              </a:spcAft>
              <a:defRPr sz="900">
                <a:solidFill>
                  <a:srgbClr val="333333"/>
                </a:solidFill>
              </a:defRPr>
            </a:pPr>
            <a:r>
              <a:t>• Head Impact Criterion (HIC) validation per FMVSS 201</a:t>
            </a:r>
          </a:p>
          <a:p>
            <a:pPr lvl="1">
              <a:spcAft>
                <a:spcPts val="200"/>
              </a:spcAft>
              <a:defRPr sz="900">
                <a:solidFill>
                  <a:srgbClr val="333333"/>
                </a:solidFill>
              </a:defRPr>
            </a:pPr>
            <a:r>
              <a:t>• Thermal Cycling Test (-40°C to +85°C, 100 cycles)</a:t>
            </a:r>
          </a:p>
          <a:p>
            <a:pPr>
              <a:spcAft>
                <a:spcPts val="400"/>
              </a:spcAft>
              <a:defRPr sz="1200" b="1">
                <a:solidFill>
                  <a:srgbClr val="FF9900"/>
                </a:solidFill>
              </a:defRPr>
            </a:pPr>
            <a:r>
              <a:t>RISK MITIGATION:</a:t>
            </a:r>
          </a:p>
          <a:p>
            <a:pPr lvl="1">
              <a:spcAft>
                <a:spcPts val="200"/>
              </a:spcAft>
              <a:defRPr sz="900">
                <a:solidFill>
                  <a:srgbClr val="333333"/>
                </a:solidFill>
              </a:defRPr>
            </a:pPr>
            <a:r>
              <a:t>⚠ NVH (Noise, Vibration, Harshness) degradation due to material property changes</a:t>
            </a:r>
          </a:p>
          <a:p>
            <a:pPr lvl="1">
              <a:spcAft>
                <a:spcPts val="200"/>
              </a:spcAft>
              <a:defRPr sz="900">
                <a:solidFill>
                  <a:srgbClr val="333333"/>
                </a:solidFill>
              </a:defRPr>
            </a:pPr>
            <a:r>
              <a:t>⚠ Durability concerns under extreme temperature cycling (-40°C to +85°C)</a:t>
            </a:r>
          </a:p>
          <a:p>
            <a:pPr lvl="1">
              <a:spcAft>
                <a:spcPts val="200"/>
              </a:spcAft>
              <a:defRPr sz="900">
                <a:solidFill>
                  <a:srgbClr val="333333"/>
                </a:solidFill>
              </a:defRPr>
            </a:pPr>
            <a:r>
              <a:t>⚠ Potential aesthetic gaps requiring design validation with styling team</a:t>
            </a:r>
          </a:p>
        </p:txBody>
      </p:sp>
      <p:sp>
        <p:nvSpPr>
          <p:cNvPr id="6" name="Rectangle 5"/>
          <p:cNvSpPr/>
          <p:nvPr/>
        </p:nvSpPr>
        <p:spPr>
          <a:xfrm>
            <a:off x="457200" y="4572000"/>
            <a:ext cx="8229600" cy="914400"/>
          </a:xfrm>
          <a:prstGeom prst="rect">
            <a:avLst/>
          </a:prstGeom>
          <a:solidFill>
            <a:srgbClr val="E6F0FF"/>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457200" y="4572000"/>
            <a:ext cx="8229600" cy="914400"/>
          </a:xfrm>
          <a:prstGeom prst="rect">
            <a:avLst/>
          </a:prstGeom>
          <a:noFill/>
        </p:spPr>
        <p:txBody>
          <a:bodyPr wrap="square" anchor="ctr">
            <a:spAutoFit/>
          </a:bodyPr>
          <a:lstStyle/>
          <a:p>
            <a:pPr algn="ctr">
              <a:defRPr sz="1100" b="1">
                <a:solidFill>
                  <a:srgbClr val="003366"/>
                </a:solidFill>
              </a:defRPr>
            </a:pPr>
            <a:r>
              <a:t>CEO PITCH: This initiative aligns our product portfolio with premium competitor benchmarks </a:t>
            </a:r>
            <a:br/>
            <a:r>
              <a:t>            while reducing mass and achieving 142.0 in cost savings. Beyond financial </a:t>
            </a:r>
            <a:br/>
            <a:r>
              <a:t>            impact, this move enhances our supply chain resilience by diversifying material </a:t>
            </a:r>
            <a:br/>
            <a:r>
              <a:t>            sources and reducing geopolitical risk exposure.</a:t>
            </a:r>
          </a:p>
        </p:txBody>
      </p:sp>
      <p:sp>
        <p:nvSpPr>
          <p:cNvPr id="2" name="TextBox 1"/>
          <p:cNvSpPr txBox="1"/>
          <p:nvPr/>
        </p:nvSpPr>
        <p:spPr>
          <a:xfrm>
            <a:off x="457200" y="274320"/>
            <a:ext cx="8229600" cy="548640"/>
          </a:xfrm>
          <a:prstGeom prst="rect">
            <a:avLst/>
          </a:prstGeom>
          <a:noFill/>
        </p:spPr>
        <p:txBody>
          <a:bodyPr wrap="none">
            <a:spAutoFit/>
          </a:bodyPr>
          <a:lstStyle/>
          <a:p>
            <a:pPr>
              <a:defRPr sz="2400" b="1">
                <a:solidFill>
                  <a:srgbClr val="003366"/>
                </a:solidFill>
              </a:defRPr>
            </a:pPr>
            <a:r>
              <a:t>Remove the Neoprene Foam Sheaths present on the fuel lines and the fuel inlet hose of MGI | Kill</a:t>
            </a:r>
          </a:p>
        </p:txBody>
      </p:sp>
      <p:sp>
        <p:nvSpPr>
          <p:cNvPr id="3" name="Rectangle 2"/>
          <p:cNvSpPr/>
          <p:nvPr/>
        </p:nvSpPr>
        <p:spPr>
          <a:xfrm>
            <a:off x="457200" y="1097280"/>
            <a:ext cx="3657600" cy="3200400"/>
          </a:xfrm>
          <a:prstGeom prst="rect">
            <a:avLst/>
          </a:prstGeom>
          <a:solidFill>
            <a:srgbClr val="F0F0F0"/>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969696"/>
                </a:solidFill>
              </a:defRPr>
            </a:pPr>
            <a:r>
              <a:t>[Image Placeholder]</a:t>
            </a:r>
          </a:p>
          <a:p>
            <a:r>
              <a:t>Component Visualization</a:t>
            </a:r>
          </a:p>
        </p:txBody>
      </p:sp>
      <p:sp>
        <p:nvSpPr>
          <p:cNvPr id="4" name="TextBox 3"/>
          <p:cNvSpPr txBox="1"/>
          <p:nvPr/>
        </p:nvSpPr>
        <p:spPr>
          <a:xfrm>
            <a:off x="4572000" y="1097280"/>
            <a:ext cx="4114800" cy="3200400"/>
          </a:xfrm>
          <a:prstGeom prst="rect">
            <a:avLst/>
          </a:prstGeom>
          <a:noFill/>
        </p:spPr>
        <p:txBody>
          <a:bodyPr wrap="square" anchor="t">
            <a:spAutoFit/>
          </a:bodyPr>
          <a:lstStyle/>
          <a:p>
            <a:pPr>
              <a:spcAft>
                <a:spcPts val="400"/>
              </a:spcAft>
              <a:defRPr sz="1200" b="1">
                <a:solidFill>
                  <a:srgbClr val="003366"/>
                </a:solidFill>
              </a:defRPr>
            </a:pPr>
            <a:r>
              <a:t>ENGINEERING RATIONALE:</a:t>
            </a:r>
          </a:p>
          <a:p>
            <a:pPr>
              <a:spcAft>
                <a:spcPts val="800"/>
              </a:spcAft>
              <a:defRPr sz="1000">
                <a:solidFill>
                  <a:srgbClr val="333333"/>
                </a:solidFill>
              </a:defRPr>
            </a:pPr>
            <a:r>
              <a:t>The proposed modification to Remove the Neoprene Foam Sheaths present on the fuel lines and the fuel inlet hose of MGI leverages advanced material science </a:t>
            </a:r>
            <a:br/>
            <a:r>
              <a:t>            and manufacturing optimization principles. By analyzing the current design's </a:t>
            </a:r>
            <a:br/>
            <a:r>
              <a:t>            material properties and stress distribution patterns, we identified opportunities </a:t>
            </a:r>
            <a:br/>
            <a:r>
              <a:t>            for material substitution without compromising structural integrity. The new </a:t>
            </a:r>
            <a:br/>
            <a:r>
              <a:t>            approach utilizes remove the neoprene foam sheaths present on the fuel lines and the fuel inlet hose of mgi </a:t>
            </a:r>
            <a:br/>
            <a:r>
              <a:t>            which offers comparable mechanical properties at reduced cost. This optimization </a:t>
            </a:r>
            <a:br/>
            <a:r>
              <a:t>            follows VAVE (Value Analysis and Value Engineering) methodologies, ensuring </a:t>
            </a:r>
            <a:br/>
            <a:r>
              <a:t>            value preservation while achieving target cost reductions.</a:t>
            </a:r>
          </a:p>
          <a:p>
            <a:pPr>
              <a:spcAft>
                <a:spcPts val="400"/>
              </a:spcAft>
              <a:defRPr sz="1200" b="1">
                <a:solidFill>
                  <a:srgbClr val="003366"/>
                </a:solidFill>
              </a:defRPr>
            </a:pPr>
            <a:r>
              <a:t>VALIDATION ROADMAP:</a:t>
            </a:r>
          </a:p>
          <a:p>
            <a:pPr lvl="1">
              <a:spcAft>
                <a:spcPts val="200"/>
              </a:spcAft>
              <a:defRPr sz="900">
                <a:solidFill>
                  <a:srgbClr val="333333"/>
                </a:solidFill>
              </a:defRPr>
            </a:pPr>
            <a:r>
              <a:t>• Martindale Abrasion Test (ISO 12947) - 50,000 cycles</a:t>
            </a:r>
          </a:p>
          <a:p>
            <a:pPr lvl="1">
              <a:spcAft>
                <a:spcPts val="200"/>
              </a:spcAft>
              <a:defRPr sz="900">
                <a:solidFill>
                  <a:srgbClr val="333333"/>
                </a:solidFill>
              </a:defRPr>
            </a:pPr>
            <a:r>
              <a:t>• Head Impact Criterion (HIC) validation per FMVSS 201</a:t>
            </a:r>
          </a:p>
          <a:p>
            <a:pPr lvl="1">
              <a:spcAft>
                <a:spcPts val="200"/>
              </a:spcAft>
              <a:defRPr sz="900">
                <a:solidFill>
                  <a:srgbClr val="333333"/>
                </a:solidFill>
              </a:defRPr>
            </a:pPr>
            <a:r>
              <a:t>• Thermal Cycling Test (-40°C to +85°C, 100 cycles)</a:t>
            </a:r>
          </a:p>
          <a:p>
            <a:pPr>
              <a:spcAft>
                <a:spcPts val="400"/>
              </a:spcAft>
              <a:defRPr sz="1200" b="1">
                <a:solidFill>
                  <a:srgbClr val="FF9900"/>
                </a:solidFill>
              </a:defRPr>
            </a:pPr>
            <a:r>
              <a:t>RISK MITIGATION:</a:t>
            </a:r>
          </a:p>
          <a:p>
            <a:pPr lvl="1">
              <a:spcAft>
                <a:spcPts val="200"/>
              </a:spcAft>
              <a:defRPr sz="900">
                <a:solidFill>
                  <a:srgbClr val="333333"/>
                </a:solidFill>
              </a:defRPr>
            </a:pPr>
            <a:r>
              <a:t>⚠ NVH (Noise, Vibration, Harshness) degradation due to material property changes</a:t>
            </a:r>
          </a:p>
          <a:p>
            <a:pPr lvl="1">
              <a:spcAft>
                <a:spcPts val="200"/>
              </a:spcAft>
              <a:defRPr sz="900">
                <a:solidFill>
                  <a:srgbClr val="333333"/>
                </a:solidFill>
              </a:defRPr>
            </a:pPr>
            <a:r>
              <a:t>⚠ Durability concerns under extreme temperature cycling (-40°C to +85°C)</a:t>
            </a:r>
          </a:p>
          <a:p>
            <a:pPr lvl="1">
              <a:spcAft>
                <a:spcPts val="200"/>
              </a:spcAft>
              <a:defRPr sz="900">
                <a:solidFill>
                  <a:srgbClr val="333333"/>
                </a:solidFill>
              </a:defRPr>
            </a:pPr>
            <a:r>
              <a:t>⚠ Potential aesthetic gaps requiring design validation with styling team</a:t>
            </a:r>
          </a:p>
        </p:txBody>
      </p:sp>
      <p:sp>
        <p:nvSpPr>
          <p:cNvPr id="6" name="Rectangle 5"/>
          <p:cNvSpPr/>
          <p:nvPr/>
        </p:nvSpPr>
        <p:spPr>
          <a:xfrm>
            <a:off x="457200" y="4572000"/>
            <a:ext cx="8229600" cy="914400"/>
          </a:xfrm>
          <a:prstGeom prst="rect">
            <a:avLst/>
          </a:prstGeom>
          <a:solidFill>
            <a:srgbClr val="E6F0FF"/>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457200" y="4572000"/>
            <a:ext cx="8229600" cy="914400"/>
          </a:xfrm>
          <a:prstGeom prst="rect">
            <a:avLst/>
          </a:prstGeom>
          <a:noFill/>
        </p:spPr>
        <p:txBody>
          <a:bodyPr wrap="square" anchor="ctr">
            <a:spAutoFit/>
          </a:bodyPr>
          <a:lstStyle/>
          <a:p>
            <a:pPr algn="ctr">
              <a:defRPr sz="1100" b="1">
                <a:solidFill>
                  <a:srgbClr val="003366"/>
                </a:solidFill>
              </a:defRPr>
            </a:pPr>
            <a:r>
              <a:t>CEO PITCH: This initiative aligns our product portfolio with premium competitor benchmarks </a:t>
            </a:r>
            <a:br/>
            <a:r>
              <a:t>            while reducing mass and achieving 0.0 in cost savings. Beyond financial </a:t>
            </a:r>
            <a:br/>
            <a:r>
              <a:t>            impact, this move enhances our supply chain resilience by diversifying material </a:t>
            </a:r>
            <a:br/>
            <a:r>
              <a:t>            sources and reducing geopolitical risk exposure.</a:t>
            </a:r>
          </a:p>
        </p:txBody>
      </p:sp>
      <p:sp>
        <p:nvSpPr>
          <p:cNvPr id="2" name="TextBox 1"/>
          <p:cNvSpPr txBox="1"/>
          <p:nvPr/>
        </p:nvSpPr>
        <p:spPr>
          <a:xfrm>
            <a:off x="457200" y="274320"/>
            <a:ext cx="8229600" cy="548640"/>
          </a:xfrm>
          <a:prstGeom prst="rect">
            <a:avLst/>
          </a:prstGeom>
          <a:noFill/>
        </p:spPr>
        <p:txBody>
          <a:bodyPr wrap="none">
            <a:spAutoFit/>
          </a:bodyPr>
          <a:lstStyle/>
          <a:p>
            <a:pPr>
              <a:defRPr sz="2400" b="1">
                <a:solidFill>
                  <a:srgbClr val="003366"/>
                </a:solidFill>
              </a:defRPr>
            </a:pPr>
            <a:r>
              <a:t>Optimize the steel alloy grade for specific low-stress gears within the gear reduction unit from current 20MnCr5 to a more cost-effective 16MnCr5 equivalent, specifically for gears not subjected to peak torque loads during typical driving cycles. | Kill</a:t>
            </a:r>
          </a:p>
        </p:txBody>
      </p:sp>
      <p:sp>
        <p:nvSpPr>
          <p:cNvPr id="3" name="Rectangle 2"/>
          <p:cNvSpPr/>
          <p:nvPr/>
        </p:nvSpPr>
        <p:spPr>
          <a:xfrm>
            <a:off x="457200" y="1097280"/>
            <a:ext cx="3657600" cy="3200400"/>
          </a:xfrm>
          <a:prstGeom prst="rect">
            <a:avLst/>
          </a:prstGeom>
          <a:solidFill>
            <a:srgbClr val="F0F0F0"/>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969696"/>
                </a:solidFill>
              </a:defRPr>
            </a:pPr>
            <a:r>
              <a:t>[Image Placeholder]</a:t>
            </a:r>
          </a:p>
          <a:p>
            <a:r>
              <a:t>Component Visualization</a:t>
            </a:r>
          </a:p>
        </p:txBody>
      </p:sp>
      <p:sp>
        <p:nvSpPr>
          <p:cNvPr id="4" name="TextBox 3"/>
          <p:cNvSpPr txBox="1"/>
          <p:nvPr/>
        </p:nvSpPr>
        <p:spPr>
          <a:xfrm>
            <a:off x="4572000" y="1097280"/>
            <a:ext cx="4114800" cy="3200400"/>
          </a:xfrm>
          <a:prstGeom prst="rect">
            <a:avLst/>
          </a:prstGeom>
          <a:noFill/>
        </p:spPr>
        <p:txBody>
          <a:bodyPr wrap="square" anchor="t">
            <a:spAutoFit/>
          </a:bodyPr>
          <a:lstStyle/>
          <a:p>
            <a:pPr>
              <a:spcAft>
                <a:spcPts val="400"/>
              </a:spcAft>
              <a:defRPr sz="1200" b="1">
                <a:solidFill>
                  <a:srgbClr val="003366"/>
                </a:solidFill>
              </a:defRPr>
            </a:pPr>
            <a:r>
              <a:t>ENGINEERING RATIONALE:</a:t>
            </a:r>
          </a:p>
          <a:p>
            <a:pPr>
              <a:spcAft>
                <a:spcPts val="800"/>
              </a:spcAft>
              <a:defRPr sz="1000">
                <a:solidFill>
                  <a:srgbClr val="333333"/>
                </a:solidFill>
              </a:defRPr>
            </a:pPr>
            <a:r>
              <a:t>The proposed modification to Optimize the steel alloy grade for specific low-stress gears within the gear reduction unit from current 20MnCr5 to a more cost-effective 16MnCr5 equivalent, specifically for gears not subjected to peak torque loads during typical driving cycles. leverages advanced material science </a:t>
            </a:r>
            <a:br/>
            <a:r>
              <a:t>            and manufacturing optimization principles. By analyzing the current design's </a:t>
            </a:r>
            <a:br/>
            <a:r>
              <a:t>            material properties and stress distribution patterns, we identified opportunities </a:t>
            </a:r>
            <a:br/>
            <a:r>
              <a:t>            for material substitution without compromising structural integrity. The new </a:t>
            </a:r>
            <a:br/>
            <a:r>
              <a:t>            approach utilizes optimize the steel alloy grade for specific low-stress gears within the gear reduction unit from current 20mncr5 to a more cost-effective 16mncr5 equivalent, specifically for gears not subjected to peak torque loads during typical driving cycles. </a:t>
            </a:r>
            <a:br/>
            <a:r>
              <a:t>            which offers comparable mechanical properties at reduced cost. This optimization </a:t>
            </a:r>
            <a:br/>
            <a:r>
              <a:t>            follows VAVE (Value Analysis and Value Engineering) methodologies, ensuring </a:t>
            </a:r>
            <a:br/>
            <a:r>
              <a:t>            value preservation while achieving target cost reductions.</a:t>
            </a:r>
          </a:p>
          <a:p>
            <a:pPr>
              <a:spcAft>
                <a:spcPts val="400"/>
              </a:spcAft>
              <a:defRPr sz="1200" b="1">
                <a:solidFill>
                  <a:srgbClr val="003366"/>
                </a:solidFill>
              </a:defRPr>
            </a:pPr>
            <a:r>
              <a:t>VALIDATION ROADMAP:</a:t>
            </a:r>
          </a:p>
          <a:p>
            <a:pPr lvl="1">
              <a:spcAft>
                <a:spcPts val="200"/>
              </a:spcAft>
              <a:defRPr sz="900">
                <a:solidFill>
                  <a:srgbClr val="333333"/>
                </a:solidFill>
              </a:defRPr>
            </a:pPr>
            <a:r>
              <a:t>• Martindale Abrasion Test (ISO 12947) - 50,000 cycles</a:t>
            </a:r>
          </a:p>
          <a:p>
            <a:pPr lvl="1">
              <a:spcAft>
                <a:spcPts val="200"/>
              </a:spcAft>
              <a:defRPr sz="900">
                <a:solidFill>
                  <a:srgbClr val="333333"/>
                </a:solidFill>
              </a:defRPr>
            </a:pPr>
            <a:r>
              <a:t>• Head Impact Criterion (HIC) validation per FMVSS 201</a:t>
            </a:r>
          </a:p>
          <a:p>
            <a:pPr lvl="1">
              <a:spcAft>
                <a:spcPts val="200"/>
              </a:spcAft>
              <a:defRPr sz="900">
                <a:solidFill>
                  <a:srgbClr val="333333"/>
                </a:solidFill>
              </a:defRPr>
            </a:pPr>
            <a:r>
              <a:t>• Thermal Cycling Test (-40°C to +85°C, 100 cycles)</a:t>
            </a:r>
          </a:p>
          <a:p>
            <a:pPr>
              <a:spcAft>
                <a:spcPts val="400"/>
              </a:spcAft>
              <a:defRPr sz="1200" b="1">
                <a:solidFill>
                  <a:srgbClr val="FF9900"/>
                </a:solidFill>
              </a:defRPr>
            </a:pPr>
            <a:r>
              <a:t>RISK MITIGATION:</a:t>
            </a:r>
          </a:p>
          <a:p>
            <a:pPr lvl="1">
              <a:spcAft>
                <a:spcPts val="200"/>
              </a:spcAft>
              <a:defRPr sz="900">
                <a:solidFill>
                  <a:srgbClr val="333333"/>
                </a:solidFill>
              </a:defRPr>
            </a:pPr>
            <a:r>
              <a:t>⚠ NVH (Noise, Vibration, Harshness) degradation due to material property changes</a:t>
            </a:r>
          </a:p>
          <a:p>
            <a:pPr lvl="1">
              <a:spcAft>
                <a:spcPts val="200"/>
              </a:spcAft>
              <a:defRPr sz="900">
                <a:solidFill>
                  <a:srgbClr val="333333"/>
                </a:solidFill>
              </a:defRPr>
            </a:pPr>
            <a:r>
              <a:t>⚠ Durability concerns under extreme temperature cycling (-40°C to +85°C)</a:t>
            </a:r>
          </a:p>
          <a:p>
            <a:pPr lvl="1">
              <a:spcAft>
                <a:spcPts val="200"/>
              </a:spcAft>
              <a:defRPr sz="900">
                <a:solidFill>
                  <a:srgbClr val="333333"/>
                </a:solidFill>
              </a:defRPr>
            </a:pPr>
            <a:r>
              <a:t>⚠ Potential aesthetic gaps requiring design validation with styling team</a:t>
            </a:r>
          </a:p>
        </p:txBody>
      </p:sp>
      <p:sp>
        <p:nvSpPr>
          <p:cNvPr id="6" name="Rectangle 5"/>
          <p:cNvSpPr/>
          <p:nvPr/>
        </p:nvSpPr>
        <p:spPr>
          <a:xfrm>
            <a:off x="457200" y="4572000"/>
            <a:ext cx="8229600" cy="914400"/>
          </a:xfrm>
          <a:prstGeom prst="rect">
            <a:avLst/>
          </a:prstGeom>
          <a:solidFill>
            <a:srgbClr val="E6F0FF"/>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457200" y="4572000"/>
            <a:ext cx="8229600" cy="914400"/>
          </a:xfrm>
          <a:prstGeom prst="rect">
            <a:avLst/>
          </a:prstGeom>
          <a:noFill/>
        </p:spPr>
        <p:txBody>
          <a:bodyPr wrap="square" anchor="ctr">
            <a:spAutoFit/>
          </a:bodyPr>
          <a:lstStyle/>
          <a:p>
            <a:pPr algn="ctr">
              <a:defRPr sz="1100" b="1">
                <a:solidFill>
                  <a:srgbClr val="003366"/>
                </a:solidFill>
              </a:defRPr>
            </a:pPr>
            <a:r>
              <a:t>CEO PITCH: This initiative aligns our product portfolio with premium competitor benchmarks </a:t>
            </a:r>
            <a:br/>
            <a:r>
              <a:t>            while reducing mass and achieving 0.0 in cost savings. Beyond financial </a:t>
            </a:r>
            <a:br/>
            <a:r>
              <a:t>            impact, this move enhances our supply chain resilience by diversifying material </a:t>
            </a:r>
            <a:br/>
            <a:r>
              <a:t>            sources and reducing geopolitical risk exposure.</a:t>
            </a:r>
          </a:p>
        </p:txBody>
      </p:sp>
      <p:sp>
        <p:nvSpPr>
          <p:cNvPr id="2" name="TextBox 1"/>
          <p:cNvSpPr txBox="1"/>
          <p:nvPr/>
        </p:nvSpPr>
        <p:spPr>
          <a:xfrm>
            <a:off x="457200" y="274320"/>
            <a:ext cx="8229600" cy="548640"/>
          </a:xfrm>
          <a:prstGeom prst="rect">
            <a:avLst/>
          </a:prstGeom>
          <a:noFill/>
        </p:spPr>
        <p:txBody>
          <a:bodyPr wrap="none">
            <a:spAutoFit/>
          </a:bodyPr>
          <a:lstStyle/>
          <a:p>
            <a:pPr>
              <a:defRPr sz="2400" b="1">
                <a:solidFill>
                  <a:srgbClr val="003366"/>
                </a:solidFill>
              </a:defRPr>
            </a:pPr>
            <a:r>
              <a:t>Reduce the wall thickness of the gear reduction unit's aluminum housing by 0.5mm in non-critical, low-stress areas identified through topological optimization, while maintaining structural rigidity and NVH performance. | Kill</a:t>
            </a:r>
          </a:p>
        </p:txBody>
      </p:sp>
      <p:sp>
        <p:nvSpPr>
          <p:cNvPr id="3" name="Rectangle 2"/>
          <p:cNvSpPr/>
          <p:nvPr/>
        </p:nvSpPr>
        <p:spPr>
          <a:xfrm>
            <a:off x="457200" y="1097280"/>
            <a:ext cx="3657600" cy="3200400"/>
          </a:xfrm>
          <a:prstGeom prst="rect">
            <a:avLst/>
          </a:prstGeom>
          <a:solidFill>
            <a:srgbClr val="F0F0F0"/>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969696"/>
                </a:solidFill>
              </a:defRPr>
            </a:pPr>
            <a:r>
              <a:t>[Image Placeholder]</a:t>
            </a:r>
          </a:p>
          <a:p>
            <a:r>
              <a:t>Component Visualization</a:t>
            </a:r>
          </a:p>
        </p:txBody>
      </p:sp>
      <p:sp>
        <p:nvSpPr>
          <p:cNvPr id="4" name="TextBox 3"/>
          <p:cNvSpPr txBox="1"/>
          <p:nvPr/>
        </p:nvSpPr>
        <p:spPr>
          <a:xfrm>
            <a:off x="4572000" y="1097280"/>
            <a:ext cx="4114800" cy="3200400"/>
          </a:xfrm>
          <a:prstGeom prst="rect">
            <a:avLst/>
          </a:prstGeom>
          <a:noFill/>
        </p:spPr>
        <p:txBody>
          <a:bodyPr wrap="square" anchor="t">
            <a:spAutoFit/>
          </a:bodyPr>
          <a:lstStyle/>
          <a:p>
            <a:pPr>
              <a:spcAft>
                <a:spcPts val="400"/>
              </a:spcAft>
              <a:defRPr sz="1200" b="1">
                <a:solidFill>
                  <a:srgbClr val="003366"/>
                </a:solidFill>
              </a:defRPr>
            </a:pPr>
            <a:r>
              <a:t>ENGINEERING RATIONALE:</a:t>
            </a:r>
          </a:p>
          <a:p>
            <a:pPr>
              <a:spcAft>
                <a:spcPts val="800"/>
              </a:spcAft>
              <a:defRPr sz="1000">
                <a:solidFill>
                  <a:srgbClr val="333333"/>
                </a:solidFill>
              </a:defRPr>
            </a:pPr>
            <a:r>
              <a:t>The proposed modification to Reduce the wall thickness of the gear reduction unit's aluminum housing by 0.5mm in non-critical, low-stress areas identified through topological optimization, while maintaining structural rigidity and NVH performance. leverages advanced material science </a:t>
            </a:r>
            <a:br/>
            <a:r>
              <a:t>            and manufacturing optimization principles. By analyzing the current design's </a:t>
            </a:r>
            <a:br/>
            <a:r>
              <a:t>            material properties and stress distribution patterns, we identified opportunities </a:t>
            </a:r>
            <a:br/>
            <a:r>
              <a:t>            for material substitution without compromising structural integrity. The new </a:t>
            </a:r>
            <a:br/>
            <a:r>
              <a:t>            approach utilizes reduce the wall thickness of the gear reduction unit's aluminum housing by 0.5mm in non-critical, low-stress areas identified through topological optimization, while maintaining structural rigidity and nvh performance. </a:t>
            </a:r>
            <a:br/>
            <a:r>
              <a:t>            which offers comparable mechanical properties at reduced cost. This optimization </a:t>
            </a:r>
            <a:br/>
            <a:r>
              <a:t>            follows VAVE (Value Analysis and Value Engineering) methodologies, ensuring </a:t>
            </a:r>
            <a:br/>
            <a:r>
              <a:t>            value preservation while achieving target cost reductions.</a:t>
            </a:r>
          </a:p>
          <a:p>
            <a:pPr>
              <a:spcAft>
                <a:spcPts val="400"/>
              </a:spcAft>
              <a:defRPr sz="1200" b="1">
                <a:solidFill>
                  <a:srgbClr val="003366"/>
                </a:solidFill>
              </a:defRPr>
            </a:pPr>
            <a:r>
              <a:t>VALIDATION ROADMAP:</a:t>
            </a:r>
          </a:p>
          <a:p>
            <a:pPr lvl="1">
              <a:spcAft>
                <a:spcPts val="200"/>
              </a:spcAft>
              <a:defRPr sz="900">
                <a:solidFill>
                  <a:srgbClr val="333333"/>
                </a:solidFill>
              </a:defRPr>
            </a:pPr>
            <a:r>
              <a:t>• Martindale Abrasion Test (ISO 12947) - 50,000 cycles</a:t>
            </a:r>
          </a:p>
          <a:p>
            <a:pPr lvl="1">
              <a:spcAft>
                <a:spcPts val="200"/>
              </a:spcAft>
              <a:defRPr sz="900">
                <a:solidFill>
                  <a:srgbClr val="333333"/>
                </a:solidFill>
              </a:defRPr>
            </a:pPr>
            <a:r>
              <a:t>• Head Impact Criterion (HIC) validation per FMVSS 201</a:t>
            </a:r>
          </a:p>
          <a:p>
            <a:pPr lvl="1">
              <a:spcAft>
                <a:spcPts val="200"/>
              </a:spcAft>
              <a:defRPr sz="900">
                <a:solidFill>
                  <a:srgbClr val="333333"/>
                </a:solidFill>
              </a:defRPr>
            </a:pPr>
            <a:r>
              <a:t>• Thermal Cycling Test (-40°C to +85°C, 100 cycles)</a:t>
            </a:r>
          </a:p>
          <a:p>
            <a:pPr>
              <a:spcAft>
                <a:spcPts val="400"/>
              </a:spcAft>
              <a:defRPr sz="1200" b="1">
                <a:solidFill>
                  <a:srgbClr val="FF9900"/>
                </a:solidFill>
              </a:defRPr>
            </a:pPr>
            <a:r>
              <a:t>RISK MITIGATION:</a:t>
            </a:r>
          </a:p>
          <a:p>
            <a:pPr lvl="1">
              <a:spcAft>
                <a:spcPts val="200"/>
              </a:spcAft>
              <a:defRPr sz="900">
                <a:solidFill>
                  <a:srgbClr val="333333"/>
                </a:solidFill>
              </a:defRPr>
            </a:pPr>
            <a:r>
              <a:t>⚠ NVH (Noise, Vibration, Harshness) degradation due to material property changes</a:t>
            </a:r>
          </a:p>
          <a:p>
            <a:pPr lvl="1">
              <a:spcAft>
                <a:spcPts val="200"/>
              </a:spcAft>
              <a:defRPr sz="900">
                <a:solidFill>
                  <a:srgbClr val="333333"/>
                </a:solidFill>
              </a:defRPr>
            </a:pPr>
            <a:r>
              <a:t>⚠ Durability concerns under extreme temperature cycling (-40°C to +85°C)</a:t>
            </a:r>
          </a:p>
          <a:p>
            <a:pPr lvl="1">
              <a:spcAft>
                <a:spcPts val="200"/>
              </a:spcAft>
              <a:defRPr sz="900">
                <a:solidFill>
                  <a:srgbClr val="333333"/>
                </a:solidFill>
              </a:defRPr>
            </a:pPr>
            <a:r>
              <a:t>⚠ Potential aesthetic gaps requiring design validation with styling team</a:t>
            </a:r>
          </a:p>
        </p:txBody>
      </p:sp>
      <p:sp>
        <p:nvSpPr>
          <p:cNvPr id="6" name="Rectangle 5"/>
          <p:cNvSpPr/>
          <p:nvPr/>
        </p:nvSpPr>
        <p:spPr>
          <a:xfrm>
            <a:off x="457200" y="4572000"/>
            <a:ext cx="8229600" cy="914400"/>
          </a:xfrm>
          <a:prstGeom prst="rect">
            <a:avLst/>
          </a:prstGeom>
          <a:solidFill>
            <a:srgbClr val="E6F0FF"/>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457200" y="4572000"/>
            <a:ext cx="8229600" cy="914400"/>
          </a:xfrm>
          <a:prstGeom prst="rect">
            <a:avLst/>
          </a:prstGeom>
          <a:noFill/>
        </p:spPr>
        <p:txBody>
          <a:bodyPr wrap="square" anchor="ctr">
            <a:spAutoFit/>
          </a:bodyPr>
          <a:lstStyle/>
          <a:p>
            <a:pPr algn="ctr">
              <a:defRPr sz="1100" b="1">
                <a:solidFill>
                  <a:srgbClr val="003366"/>
                </a:solidFill>
              </a:defRPr>
            </a:pPr>
            <a:r>
              <a:t>CEO PITCH: This initiative aligns our product portfolio with premium competitor benchmarks </a:t>
            </a:r>
            <a:br/>
            <a:r>
              <a:t>            while reducing mass and achieving 0.0 in cost savings. Beyond financial </a:t>
            </a:r>
            <a:br/>
            <a:r>
              <a:t>            impact, this move enhances our supply chain resilience by diversifying material </a:t>
            </a:r>
            <a:br/>
            <a:r>
              <a:t>            sources and reducing geopolitical risk exposure.</a:t>
            </a:r>
          </a:p>
        </p:txBody>
      </p:sp>
      <p:sp>
        <p:nvSpPr>
          <p:cNvPr id="2" name="TextBox 1"/>
          <p:cNvSpPr txBox="1"/>
          <p:nvPr/>
        </p:nvSpPr>
        <p:spPr>
          <a:xfrm>
            <a:off x="457200" y="274320"/>
            <a:ext cx="8229600" cy="548640"/>
          </a:xfrm>
          <a:prstGeom prst="rect">
            <a:avLst/>
          </a:prstGeom>
          <a:noFill/>
        </p:spPr>
        <p:txBody>
          <a:bodyPr wrap="none">
            <a:spAutoFit/>
          </a:bodyPr>
          <a:lstStyle/>
          <a:p>
            <a:pPr>
              <a:defRPr sz="2400" b="1">
                <a:solidFill>
                  <a:srgbClr val="003366"/>
                </a:solidFill>
              </a:defRPr>
            </a:pPr>
            <a:r>
              <a:t>Substitute high-precision deep groove ball bearings with optimized tapered roller bearings in specific gear reduction shaft locations where combined radial and axial loads are prevalent, based on Seltos's proven application. | Kill</a:t>
            </a:r>
          </a:p>
        </p:txBody>
      </p:sp>
      <p:sp>
        <p:nvSpPr>
          <p:cNvPr id="3" name="Rectangle 2"/>
          <p:cNvSpPr/>
          <p:nvPr/>
        </p:nvSpPr>
        <p:spPr>
          <a:xfrm>
            <a:off x="457200" y="1097280"/>
            <a:ext cx="3657600" cy="3200400"/>
          </a:xfrm>
          <a:prstGeom prst="rect">
            <a:avLst/>
          </a:prstGeom>
          <a:solidFill>
            <a:srgbClr val="F0F0F0"/>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969696"/>
                </a:solidFill>
              </a:defRPr>
            </a:pPr>
            <a:r>
              <a:t>[Image Placeholder]</a:t>
            </a:r>
          </a:p>
          <a:p>
            <a:r>
              <a:t>Component Visualization</a:t>
            </a:r>
          </a:p>
        </p:txBody>
      </p:sp>
      <p:sp>
        <p:nvSpPr>
          <p:cNvPr id="4" name="TextBox 3"/>
          <p:cNvSpPr txBox="1"/>
          <p:nvPr/>
        </p:nvSpPr>
        <p:spPr>
          <a:xfrm>
            <a:off x="4572000" y="1097280"/>
            <a:ext cx="4114800" cy="3200400"/>
          </a:xfrm>
          <a:prstGeom prst="rect">
            <a:avLst/>
          </a:prstGeom>
          <a:noFill/>
        </p:spPr>
        <p:txBody>
          <a:bodyPr wrap="square" anchor="t">
            <a:spAutoFit/>
          </a:bodyPr>
          <a:lstStyle/>
          <a:p>
            <a:pPr>
              <a:spcAft>
                <a:spcPts val="400"/>
              </a:spcAft>
              <a:defRPr sz="1200" b="1">
                <a:solidFill>
                  <a:srgbClr val="003366"/>
                </a:solidFill>
              </a:defRPr>
            </a:pPr>
            <a:r>
              <a:t>ENGINEERING RATIONALE:</a:t>
            </a:r>
          </a:p>
          <a:p>
            <a:pPr>
              <a:spcAft>
                <a:spcPts val="800"/>
              </a:spcAft>
              <a:defRPr sz="1000">
                <a:solidFill>
                  <a:srgbClr val="333333"/>
                </a:solidFill>
              </a:defRPr>
            </a:pPr>
            <a:r>
              <a:t>The proposed modification to Substitute high-precision deep groove ball bearings with optimized tapered roller bearings in specific gear reduction shaft locations where combined radial and axial loads are prevalent, based on Seltos's proven application. leverages advanced material science </a:t>
            </a:r>
            <a:br/>
            <a:r>
              <a:t>            and manufacturing optimization principles. By analyzing the current design's </a:t>
            </a:r>
            <a:br/>
            <a:r>
              <a:t>            material properties and stress distribution patterns, we identified opportunities </a:t>
            </a:r>
            <a:br/>
            <a:r>
              <a:t>            for material substitution without compromising structural integrity. The new </a:t>
            </a:r>
            <a:br/>
            <a:r>
              <a:t>            approach utilizes substitute high-precision deep groove ball bearings with optimized tapered roller bearings in specific gear reduction shaft locations where combined radial and axial loads are prevalent, based on seltos's proven application. </a:t>
            </a:r>
            <a:br/>
            <a:r>
              <a:t>            which offers comparable mechanical properties at reduced cost. This optimization </a:t>
            </a:r>
            <a:br/>
            <a:r>
              <a:t>            follows VAVE (Value Analysis and Value Engineering) methodologies, ensuring </a:t>
            </a:r>
            <a:br/>
            <a:r>
              <a:t>            value preservation while achieving target cost reductions.</a:t>
            </a:r>
          </a:p>
          <a:p>
            <a:pPr>
              <a:spcAft>
                <a:spcPts val="400"/>
              </a:spcAft>
              <a:defRPr sz="1200" b="1">
                <a:solidFill>
                  <a:srgbClr val="003366"/>
                </a:solidFill>
              </a:defRPr>
            </a:pPr>
            <a:r>
              <a:t>VALIDATION ROADMAP:</a:t>
            </a:r>
          </a:p>
          <a:p>
            <a:pPr lvl="1">
              <a:spcAft>
                <a:spcPts val="200"/>
              </a:spcAft>
              <a:defRPr sz="900">
                <a:solidFill>
                  <a:srgbClr val="333333"/>
                </a:solidFill>
              </a:defRPr>
            </a:pPr>
            <a:r>
              <a:t>• Martindale Abrasion Test (ISO 12947) - 50,000 cycles</a:t>
            </a:r>
          </a:p>
          <a:p>
            <a:pPr lvl="1">
              <a:spcAft>
                <a:spcPts val="200"/>
              </a:spcAft>
              <a:defRPr sz="900">
                <a:solidFill>
                  <a:srgbClr val="333333"/>
                </a:solidFill>
              </a:defRPr>
            </a:pPr>
            <a:r>
              <a:t>• Head Impact Criterion (HIC) validation per FMVSS 201</a:t>
            </a:r>
          </a:p>
          <a:p>
            <a:pPr lvl="1">
              <a:spcAft>
                <a:spcPts val="200"/>
              </a:spcAft>
              <a:defRPr sz="900">
                <a:solidFill>
                  <a:srgbClr val="333333"/>
                </a:solidFill>
              </a:defRPr>
            </a:pPr>
            <a:r>
              <a:t>• Thermal Cycling Test (-40°C to +85°C, 100 cycles)</a:t>
            </a:r>
          </a:p>
          <a:p>
            <a:pPr>
              <a:spcAft>
                <a:spcPts val="400"/>
              </a:spcAft>
              <a:defRPr sz="1200" b="1">
                <a:solidFill>
                  <a:srgbClr val="FF9900"/>
                </a:solidFill>
              </a:defRPr>
            </a:pPr>
            <a:r>
              <a:t>RISK MITIGATION:</a:t>
            </a:r>
          </a:p>
          <a:p>
            <a:pPr lvl="1">
              <a:spcAft>
                <a:spcPts val="200"/>
              </a:spcAft>
              <a:defRPr sz="900">
                <a:solidFill>
                  <a:srgbClr val="333333"/>
                </a:solidFill>
              </a:defRPr>
            </a:pPr>
            <a:r>
              <a:t>⚠ NVH (Noise, Vibration, Harshness) degradation due to material property changes</a:t>
            </a:r>
          </a:p>
          <a:p>
            <a:pPr lvl="1">
              <a:spcAft>
                <a:spcPts val="200"/>
              </a:spcAft>
              <a:defRPr sz="900">
                <a:solidFill>
                  <a:srgbClr val="333333"/>
                </a:solidFill>
              </a:defRPr>
            </a:pPr>
            <a:r>
              <a:t>⚠ Durability concerns under extreme temperature cycling (-40°C to +85°C)</a:t>
            </a:r>
          </a:p>
          <a:p>
            <a:pPr lvl="1">
              <a:spcAft>
                <a:spcPts val="200"/>
              </a:spcAft>
              <a:defRPr sz="900">
                <a:solidFill>
                  <a:srgbClr val="333333"/>
                </a:solidFill>
              </a:defRPr>
            </a:pPr>
            <a:r>
              <a:t>⚠ Potential aesthetic gaps requiring design validation with styling team</a:t>
            </a:r>
          </a:p>
        </p:txBody>
      </p:sp>
      <p:sp>
        <p:nvSpPr>
          <p:cNvPr id="6" name="Rectangle 5"/>
          <p:cNvSpPr/>
          <p:nvPr/>
        </p:nvSpPr>
        <p:spPr>
          <a:xfrm>
            <a:off x="457200" y="4572000"/>
            <a:ext cx="8229600" cy="914400"/>
          </a:xfrm>
          <a:prstGeom prst="rect">
            <a:avLst/>
          </a:prstGeom>
          <a:solidFill>
            <a:srgbClr val="E6F0FF"/>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457200" y="4572000"/>
            <a:ext cx="8229600" cy="914400"/>
          </a:xfrm>
          <a:prstGeom prst="rect">
            <a:avLst/>
          </a:prstGeom>
          <a:noFill/>
        </p:spPr>
        <p:txBody>
          <a:bodyPr wrap="square" anchor="ctr">
            <a:spAutoFit/>
          </a:bodyPr>
          <a:lstStyle/>
          <a:p>
            <a:pPr algn="ctr">
              <a:defRPr sz="1100" b="1">
                <a:solidFill>
                  <a:srgbClr val="003366"/>
                </a:solidFill>
              </a:defRPr>
            </a:pPr>
            <a:r>
              <a:t>CEO PITCH: This initiative aligns our product portfolio with premium competitor benchmarks </a:t>
            </a:r>
            <a:br/>
            <a:r>
              <a:t>            while reducing mass and achieving 0.0 in cost savings. Beyond financial </a:t>
            </a:r>
            <a:br/>
            <a:r>
              <a:t>            impact, this move enhances our supply chain resilience by diversifying material </a:t>
            </a:r>
            <a:br/>
            <a:r>
              <a:t>            sources and reducing geopolitical risk exposure.</a:t>
            </a:r>
          </a:p>
        </p:txBody>
      </p:sp>
      <p:sp>
        <p:nvSpPr>
          <p:cNvPr id="2" name="TextBox 1"/>
          <p:cNvSpPr txBox="1"/>
          <p:nvPr/>
        </p:nvSpPr>
        <p:spPr>
          <a:xfrm>
            <a:off x="457200" y="274320"/>
            <a:ext cx="8229600" cy="548640"/>
          </a:xfrm>
          <a:prstGeom prst="rect">
            <a:avLst/>
          </a:prstGeom>
          <a:noFill/>
        </p:spPr>
        <p:txBody>
          <a:bodyPr wrap="none">
            <a:spAutoFit/>
          </a:bodyPr>
          <a:lstStyle/>
          <a:p>
            <a:pPr>
              <a:defRPr sz="2400" b="1">
                <a:solidFill>
                  <a:srgbClr val="003366"/>
                </a:solidFill>
              </a:defRPr>
            </a:pPr>
            <a:r>
              <a:t>Implement hollow shaft design for the primary input and output shafts of the gear reduction unit, where feasible, to reduce material volume and weight without compromising torsional rigidity or bending strength. | Kill</a:t>
            </a:r>
          </a:p>
        </p:txBody>
      </p:sp>
      <p:sp>
        <p:nvSpPr>
          <p:cNvPr id="3" name="Rectangle 2"/>
          <p:cNvSpPr/>
          <p:nvPr/>
        </p:nvSpPr>
        <p:spPr>
          <a:xfrm>
            <a:off x="457200" y="1097280"/>
            <a:ext cx="3657600" cy="3200400"/>
          </a:xfrm>
          <a:prstGeom prst="rect">
            <a:avLst/>
          </a:prstGeom>
          <a:solidFill>
            <a:srgbClr val="F0F0F0"/>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969696"/>
                </a:solidFill>
              </a:defRPr>
            </a:pPr>
            <a:r>
              <a:t>[Image Placeholder]</a:t>
            </a:r>
          </a:p>
          <a:p>
            <a:r>
              <a:t>Component Visualization</a:t>
            </a:r>
          </a:p>
        </p:txBody>
      </p:sp>
      <p:sp>
        <p:nvSpPr>
          <p:cNvPr id="4" name="TextBox 3"/>
          <p:cNvSpPr txBox="1"/>
          <p:nvPr/>
        </p:nvSpPr>
        <p:spPr>
          <a:xfrm>
            <a:off x="4572000" y="1097280"/>
            <a:ext cx="4114800" cy="3200400"/>
          </a:xfrm>
          <a:prstGeom prst="rect">
            <a:avLst/>
          </a:prstGeom>
          <a:noFill/>
        </p:spPr>
        <p:txBody>
          <a:bodyPr wrap="square" anchor="t">
            <a:spAutoFit/>
          </a:bodyPr>
          <a:lstStyle/>
          <a:p>
            <a:pPr>
              <a:spcAft>
                <a:spcPts val="400"/>
              </a:spcAft>
              <a:defRPr sz="1200" b="1">
                <a:solidFill>
                  <a:srgbClr val="003366"/>
                </a:solidFill>
              </a:defRPr>
            </a:pPr>
            <a:r>
              <a:t>ENGINEERING RATIONALE:</a:t>
            </a:r>
          </a:p>
          <a:p>
            <a:pPr>
              <a:spcAft>
                <a:spcPts val="800"/>
              </a:spcAft>
              <a:defRPr sz="1000">
                <a:solidFill>
                  <a:srgbClr val="333333"/>
                </a:solidFill>
              </a:defRPr>
            </a:pPr>
            <a:r>
              <a:t>The proposed modification to Implement hollow shaft design for the primary input and output shafts of the gear reduction unit, where feasible, to reduce material volume and weight without compromising torsional rigidity or bending strength. leverages advanced material science </a:t>
            </a:r>
            <a:br/>
            <a:r>
              <a:t>            and manufacturing optimization principles. By analyzing the current design's </a:t>
            </a:r>
            <a:br/>
            <a:r>
              <a:t>            material properties and stress distribution patterns, we identified opportunities </a:t>
            </a:r>
            <a:br/>
            <a:r>
              <a:t>            for material substitution without compromising structural integrity. The new </a:t>
            </a:r>
            <a:br/>
            <a:r>
              <a:t>            approach utilizes implement hollow shaft design for the primary input and output shafts of the gear reduction unit, where feasible, to reduce material volume and weight without compromising torsional rigidity or bending strength. </a:t>
            </a:r>
            <a:br/>
            <a:r>
              <a:t>            which offers comparable mechanical properties at reduced cost. This optimization </a:t>
            </a:r>
            <a:br/>
            <a:r>
              <a:t>            follows VAVE (Value Analysis and Value Engineering) methodologies, ensuring </a:t>
            </a:r>
            <a:br/>
            <a:r>
              <a:t>            value preservation while achieving target cost reductions.</a:t>
            </a:r>
          </a:p>
          <a:p>
            <a:pPr>
              <a:spcAft>
                <a:spcPts val="400"/>
              </a:spcAft>
              <a:defRPr sz="1200" b="1">
                <a:solidFill>
                  <a:srgbClr val="003366"/>
                </a:solidFill>
              </a:defRPr>
            </a:pPr>
            <a:r>
              <a:t>VALIDATION ROADMAP:</a:t>
            </a:r>
          </a:p>
          <a:p>
            <a:pPr lvl="1">
              <a:spcAft>
                <a:spcPts val="200"/>
              </a:spcAft>
              <a:defRPr sz="900">
                <a:solidFill>
                  <a:srgbClr val="333333"/>
                </a:solidFill>
              </a:defRPr>
            </a:pPr>
            <a:r>
              <a:t>• Martindale Abrasion Test (ISO 12947) - 50,000 cycles</a:t>
            </a:r>
          </a:p>
          <a:p>
            <a:pPr lvl="1">
              <a:spcAft>
                <a:spcPts val="200"/>
              </a:spcAft>
              <a:defRPr sz="900">
                <a:solidFill>
                  <a:srgbClr val="333333"/>
                </a:solidFill>
              </a:defRPr>
            </a:pPr>
            <a:r>
              <a:t>• Head Impact Criterion (HIC) validation per FMVSS 201</a:t>
            </a:r>
          </a:p>
          <a:p>
            <a:pPr lvl="1">
              <a:spcAft>
                <a:spcPts val="200"/>
              </a:spcAft>
              <a:defRPr sz="900">
                <a:solidFill>
                  <a:srgbClr val="333333"/>
                </a:solidFill>
              </a:defRPr>
            </a:pPr>
            <a:r>
              <a:t>• Thermal Cycling Test (-40°C to +85°C, 100 cycles)</a:t>
            </a:r>
          </a:p>
          <a:p>
            <a:pPr>
              <a:spcAft>
                <a:spcPts val="400"/>
              </a:spcAft>
              <a:defRPr sz="1200" b="1">
                <a:solidFill>
                  <a:srgbClr val="FF9900"/>
                </a:solidFill>
              </a:defRPr>
            </a:pPr>
            <a:r>
              <a:t>RISK MITIGATION:</a:t>
            </a:r>
          </a:p>
          <a:p>
            <a:pPr lvl="1">
              <a:spcAft>
                <a:spcPts val="200"/>
              </a:spcAft>
              <a:defRPr sz="900">
                <a:solidFill>
                  <a:srgbClr val="333333"/>
                </a:solidFill>
              </a:defRPr>
            </a:pPr>
            <a:r>
              <a:t>⚠ NVH (Noise, Vibration, Harshness) degradation due to material property changes</a:t>
            </a:r>
          </a:p>
          <a:p>
            <a:pPr lvl="1">
              <a:spcAft>
                <a:spcPts val="200"/>
              </a:spcAft>
              <a:defRPr sz="900">
                <a:solidFill>
                  <a:srgbClr val="333333"/>
                </a:solidFill>
              </a:defRPr>
            </a:pPr>
            <a:r>
              <a:t>⚠ Durability concerns under extreme temperature cycling (-40°C to +85°C)</a:t>
            </a:r>
          </a:p>
          <a:p>
            <a:pPr lvl="1">
              <a:spcAft>
                <a:spcPts val="200"/>
              </a:spcAft>
              <a:defRPr sz="900">
                <a:solidFill>
                  <a:srgbClr val="333333"/>
                </a:solidFill>
              </a:defRPr>
            </a:pPr>
            <a:r>
              <a:t>⚠ Potential aesthetic gaps requiring design validation with styling team</a:t>
            </a:r>
          </a:p>
        </p:txBody>
      </p:sp>
      <p:sp>
        <p:nvSpPr>
          <p:cNvPr id="6" name="Rectangle 5"/>
          <p:cNvSpPr/>
          <p:nvPr/>
        </p:nvSpPr>
        <p:spPr>
          <a:xfrm>
            <a:off x="457200" y="4572000"/>
            <a:ext cx="8229600" cy="914400"/>
          </a:xfrm>
          <a:prstGeom prst="rect">
            <a:avLst/>
          </a:prstGeom>
          <a:solidFill>
            <a:srgbClr val="E6F0FF"/>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457200" y="4572000"/>
            <a:ext cx="8229600" cy="914400"/>
          </a:xfrm>
          <a:prstGeom prst="rect">
            <a:avLst/>
          </a:prstGeom>
          <a:noFill/>
        </p:spPr>
        <p:txBody>
          <a:bodyPr wrap="square" anchor="ctr">
            <a:spAutoFit/>
          </a:bodyPr>
          <a:lstStyle/>
          <a:p>
            <a:pPr algn="ctr">
              <a:defRPr sz="1100" b="1">
                <a:solidFill>
                  <a:srgbClr val="003366"/>
                </a:solidFill>
              </a:defRPr>
            </a:pPr>
            <a:r>
              <a:t>CEO PITCH: This initiative aligns our product portfolio with premium competitor benchmarks </a:t>
            </a:r>
            <a:br/>
            <a:r>
              <a:t>            while reducing mass and achieving 0.0 in cost savings. Beyond financial </a:t>
            </a:r>
            <a:br/>
            <a:r>
              <a:t>            impact, this move enhances our supply chain resilience by diversifying material </a:t>
            </a:r>
            <a:br/>
            <a:r>
              <a:t>            sources and reducing geopolitical risk exposure.</a:t>
            </a:r>
          </a:p>
        </p:txBody>
      </p:sp>
      <p:sp>
        <p:nvSpPr>
          <p:cNvPr id="2" name="TextBox 1"/>
          <p:cNvSpPr txBox="1"/>
          <p:nvPr/>
        </p:nvSpPr>
        <p:spPr>
          <a:xfrm>
            <a:off x="457200" y="274320"/>
            <a:ext cx="8229600" cy="548640"/>
          </a:xfrm>
          <a:prstGeom prst="rect">
            <a:avLst/>
          </a:prstGeom>
          <a:noFill/>
        </p:spPr>
        <p:txBody>
          <a:bodyPr wrap="none">
            <a:spAutoFit/>
          </a:bodyPr>
          <a:lstStyle/>
          <a:p>
            <a:pPr>
              <a:defRPr sz="2400" b="1">
                <a:solidFill>
                  <a:srgbClr val="003366"/>
                </a:solidFill>
              </a:defRPr>
            </a:pPr>
            <a:r>
              <a:t>Streamline the gear manufacturing process for non-critical, lower-precision gears by transitioning from hobbing and grinding to precision forging followed by minimal finish machining, similar to cost-optimized designs. | Kill</a:t>
            </a:r>
          </a:p>
        </p:txBody>
      </p:sp>
      <p:sp>
        <p:nvSpPr>
          <p:cNvPr id="3" name="Rectangle 2"/>
          <p:cNvSpPr/>
          <p:nvPr/>
        </p:nvSpPr>
        <p:spPr>
          <a:xfrm>
            <a:off x="457200" y="1097280"/>
            <a:ext cx="3657600" cy="3200400"/>
          </a:xfrm>
          <a:prstGeom prst="rect">
            <a:avLst/>
          </a:prstGeom>
          <a:solidFill>
            <a:srgbClr val="F0F0F0"/>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969696"/>
                </a:solidFill>
              </a:defRPr>
            </a:pPr>
            <a:r>
              <a:t>[Image Placeholder]</a:t>
            </a:r>
          </a:p>
          <a:p>
            <a:r>
              <a:t>Component Visualization</a:t>
            </a:r>
          </a:p>
        </p:txBody>
      </p:sp>
      <p:sp>
        <p:nvSpPr>
          <p:cNvPr id="4" name="TextBox 3"/>
          <p:cNvSpPr txBox="1"/>
          <p:nvPr/>
        </p:nvSpPr>
        <p:spPr>
          <a:xfrm>
            <a:off x="4572000" y="1097280"/>
            <a:ext cx="4114800" cy="3200400"/>
          </a:xfrm>
          <a:prstGeom prst="rect">
            <a:avLst/>
          </a:prstGeom>
          <a:noFill/>
        </p:spPr>
        <p:txBody>
          <a:bodyPr wrap="square" anchor="t">
            <a:spAutoFit/>
          </a:bodyPr>
          <a:lstStyle/>
          <a:p>
            <a:pPr>
              <a:spcAft>
                <a:spcPts val="400"/>
              </a:spcAft>
              <a:defRPr sz="1200" b="1">
                <a:solidFill>
                  <a:srgbClr val="003366"/>
                </a:solidFill>
              </a:defRPr>
            </a:pPr>
            <a:r>
              <a:t>ENGINEERING RATIONALE:</a:t>
            </a:r>
          </a:p>
          <a:p>
            <a:pPr>
              <a:spcAft>
                <a:spcPts val="800"/>
              </a:spcAft>
              <a:defRPr sz="1000">
                <a:solidFill>
                  <a:srgbClr val="333333"/>
                </a:solidFill>
              </a:defRPr>
            </a:pPr>
            <a:r>
              <a:t>The proposed modification to Streamline the gear manufacturing process for non-critical, lower-precision gears by transitioning from hobbing and grinding to precision forging followed by minimal finish machining, similar to cost-optimized designs. leverages advanced material science </a:t>
            </a:r>
            <a:br/>
            <a:r>
              <a:t>            and manufacturing optimization principles. By analyzing the current design's </a:t>
            </a:r>
            <a:br/>
            <a:r>
              <a:t>            material properties and stress distribution patterns, we identified opportunities </a:t>
            </a:r>
            <a:br/>
            <a:r>
              <a:t>            for material substitution without compromising structural integrity. The new </a:t>
            </a:r>
            <a:br/>
            <a:r>
              <a:t>            approach utilizes streamline the gear manufacturing process for non-critical, lower-precision gears by transitioning from hobbing and grinding to precision forging followed by minimal finish machining, similar to cost-optimized designs. </a:t>
            </a:r>
            <a:br/>
            <a:r>
              <a:t>            which offers comparable mechanical properties at reduced cost. This optimization </a:t>
            </a:r>
            <a:br/>
            <a:r>
              <a:t>            follows VAVE (Value Analysis and Value Engineering) methodologies, ensuring </a:t>
            </a:r>
            <a:br/>
            <a:r>
              <a:t>            value preservation while achieving target cost reductions.</a:t>
            </a:r>
          </a:p>
          <a:p>
            <a:pPr>
              <a:spcAft>
                <a:spcPts val="400"/>
              </a:spcAft>
              <a:defRPr sz="1200" b="1">
                <a:solidFill>
                  <a:srgbClr val="003366"/>
                </a:solidFill>
              </a:defRPr>
            </a:pPr>
            <a:r>
              <a:t>VALIDATION ROADMAP:</a:t>
            </a:r>
          </a:p>
          <a:p>
            <a:pPr lvl="1">
              <a:spcAft>
                <a:spcPts val="200"/>
              </a:spcAft>
              <a:defRPr sz="900">
                <a:solidFill>
                  <a:srgbClr val="333333"/>
                </a:solidFill>
              </a:defRPr>
            </a:pPr>
            <a:r>
              <a:t>• Martindale Abrasion Test (ISO 12947) - 50,000 cycles</a:t>
            </a:r>
          </a:p>
          <a:p>
            <a:pPr lvl="1">
              <a:spcAft>
                <a:spcPts val="200"/>
              </a:spcAft>
              <a:defRPr sz="900">
                <a:solidFill>
                  <a:srgbClr val="333333"/>
                </a:solidFill>
              </a:defRPr>
            </a:pPr>
            <a:r>
              <a:t>• Head Impact Criterion (HIC) validation per FMVSS 201</a:t>
            </a:r>
          </a:p>
          <a:p>
            <a:pPr lvl="1">
              <a:spcAft>
                <a:spcPts val="200"/>
              </a:spcAft>
              <a:defRPr sz="900">
                <a:solidFill>
                  <a:srgbClr val="333333"/>
                </a:solidFill>
              </a:defRPr>
            </a:pPr>
            <a:r>
              <a:t>• Thermal Cycling Test (-40°C to +85°C, 100 cycles)</a:t>
            </a:r>
          </a:p>
          <a:p>
            <a:pPr>
              <a:spcAft>
                <a:spcPts val="400"/>
              </a:spcAft>
              <a:defRPr sz="1200" b="1">
                <a:solidFill>
                  <a:srgbClr val="FF9900"/>
                </a:solidFill>
              </a:defRPr>
            </a:pPr>
            <a:r>
              <a:t>RISK MITIGATION:</a:t>
            </a:r>
          </a:p>
          <a:p>
            <a:pPr lvl="1">
              <a:spcAft>
                <a:spcPts val="200"/>
              </a:spcAft>
              <a:defRPr sz="900">
                <a:solidFill>
                  <a:srgbClr val="333333"/>
                </a:solidFill>
              </a:defRPr>
            </a:pPr>
            <a:r>
              <a:t>⚠ NVH (Noise, Vibration, Harshness) degradation due to material property changes</a:t>
            </a:r>
          </a:p>
          <a:p>
            <a:pPr lvl="1">
              <a:spcAft>
                <a:spcPts val="200"/>
              </a:spcAft>
              <a:defRPr sz="900">
                <a:solidFill>
                  <a:srgbClr val="333333"/>
                </a:solidFill>
              </a:defRPr>
            </a:pPr>
            <a:r>
              <a:t>⚠ Durability concerns under extreme temperature cycling (-40°C to +85°C)</a:t>
            </a:r>
          </a:p>
          <a:p>
            <a:pPr lvl="1">
              <a:spcAft>
                <a:spcPts val="200"/>
              </a:spcAft>
              <a:defRPr sz="900">
                <a:solidFill>
                  <a:srgbClr val="333333"/>
                </a:solidFill>
              </a:defRPr>
            </a:pPr>
            <a:r>
              <a:t>⚠ Potential aesthetic gaps requiring design validation with styling team</a:t>
            </a:r>
          </a:p>
        </p:txBody>
      </p:sp>
      <p:sp>
        <p:nvSpPr>
          <p:cNvPr id="6" name="Rectangle 5"/>
          <p:cNvSpPr/>
          <p:nvPr/>
        </p:nvSpPr>
        <p:spPr>
          <a:xfrm>
            <a:off x="457200" y="4572000"/>
            <a:ext cx="8229600" cy="914400"/>
          </a:xfrm>
          <a:prstGeom prst="rect">
            <a:avLst/>
          </a:prstGeom>
          <a:solidFill>
            <a:srgbClr val="E6F0FF"/>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457200" y="4572000"/>
            <a:ext cx="8229600" cy="914400"/>
          </a:xfrm>
          <a:prstGeom prst="rect">
            <a:avLst/>
          </a:prstGeom>
          <a:noFill/>
        </p:spPr>
        <p:txBody>
          <a:bodyPr wrap="square" anchor="ctr">
            <a:spAutoFit/>
          </a:bodyPr>
          <a:lstStyle/>
          <a:p>
            <a:pPr algn="ctr">
              <a:defRPr sz="1100" b="1">
                <a:solidFill>
                  <a:srgbClr val="003366"/>
                </a:solidFill>
              </a:defRPr>
            </a:pPr>
            <a:r>
              <a:t>CEO PITCH: This initiative aligns our product portfolio with premium competitor benchmarks </a:t>
            </a:r>
            <a:br/>
            <a:r>
              <a:t>            while reducing mass and achieving 0.0 in cost savings. Beyond financial </a:t>
            </a:r>
            <a:br/>
            <a:r>
              <a:t>            impact, this move enhances our supply chain resilience by diversifying material </a:t>
            </a:r>
            <a:br/>
            <a:r>
              <a:t>            sources and reducing geopolitical risk exposure.</a:t>
            </a:r>
          </a:p>
        </p:txBody>
      </p:sp>
      <p:sp>
        <p:nvSpPr>
          <p:cNvPr id="2" name="TextBox 1"/>
          <p:cNvSpPr txBox="1"/>
          <p:nvPr/>
        </p:nvSpPr>
        <p:spPr>
          <a:xfrm>
            <a:off x="457200" y="274320"/>
            <a:ext cx="8229600" cy="548640"/>
          </a:xfrm>
          <a:prstGeom prst="rect">
            <a:avLst/>
          </a:prstGeom>
          <a:noFill/>
        </p:spPr>
        <p:txBody>
          <a:bodyPr wrap="none">
            <a:spAutoFit/>
          </a:bodyPr>
          <a:lstStyle/>
          <a:p>
            <a:pPr>
              <a:defRPr sz="2400" b="1">
                <a:solidFill>
                  <a:srgbClr val="003366"/>
                </a:solidFill>
              </a:defRPr>
            </a:pPr>
            <a:r>
              <a:t>Optimize the lubrication system by reducing the total oil fill volume in the gear reduction unit through a redesigned sump and internal baffling, while maintaining adequate oil splash, cooling, and gear coverage. | Kill</a:t>
            </a:r>
          </a:p>
        </p:txBody>
      </p:sp>
      <p:sp>
        <p:nvSpPr>
          <p:cNvPr id="3" name="Rectangle 2"/>
          <p:cNvSpPr/>
          <p:nvPr/>
        </p:nvSpPr>
        <p:spPr>
          <a:xfrm>
            <a:off x="457200" y="1097280"/>
            <a:ext cx="3657600" cy="3200400"/>
          </a:xfrm>
          <a:prstGeom prst="rect">
            <a:avLst/>
          </a:prstGeom>
          <a:solidFill>
            <a:srgbClr val="F0F0F0"/>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969696"/>
                </a:solidFill>
              </a:defRPr>
            </a:pPr>
            <a:r>
              <a:t>[Image Placeholder]</a:t>
            </a:r>
          </a:p>
          <a:p>
            <a:r>
              <a:t>Component Visualization</a:t>
            </a:r>
          </a:p>
        </p:txBody>
      </p:sp>
      <p:sp>
        <p:nvSpPr>
          <p:cNvPr id="4" name="TextBox 3"/>
          <p:cNvSpPr txBox="1"/>
          <p:nvPr/>
        </p:nvSpPr>
        <p:spPr>
          <a:xfrm>
            <a:off x="4572000" y="1097280"/>
            <a:ext cx="4114800" cy="3200400"/>
          </a:xfrm>
          <a:prstGeom prst="rect">
            <a:avLst/>
          </a:prstGeom>
          <a:noFill/>
        </p:spPr>
        <p:txBody>
          <a:bodyPr wrap="square" anchor="t">
            <a:spAutoFit/>
          </a:bodyPr>
          <a:lstStyle/>
          <a:p>
            <a:pPr>
              <a:spcAft>
                <a:spcPts val="400"/>
              </a:spcAft>
              <a:defRPr sz="1200" b="1">
                <a:solidFill>
                  <a:srgbClr val="003366"/>
                </a:solidFill>
              </a:defRPr>
            </a:pPr>
            <a:r>
              <a:t>ENGINEERING RATIONALE:</a:t>
            </a:r>
          </a:p>
          <a:p>
            <a:pPr>
              <a:spcAft>
                <a:spcPts val="800"/>
              </a:spcAft>
              <a:defRPr sz="1000">
                <a:solidFill>
                  <a:srgbClr val="333333"/>
                </a:solidFill>
              </a:defRPr>
            </a:pPr>
            <a:r>
              <a:t>The proposed modification to Optimize the lubrication system by reducing the total oil fill volume in the gear reduction unit through a redesigned sump and internal baffling, while maintaining adequate oil splash, cooling, and gear coverage. leverages advanced material science </a:t>
            </a:r>
            <a:br/>
            <a:r>
              <a:t>            and manufacturing optimization principles. By analyzing the current design's </a:t>
            </a:r>
            <a:br/>
            <a:r>
              <a:t>            material properties and stress distribution patterns, we identified opportunities </a:t>
            </a:r>
            <a:br/>
            <a:r>
              <a:t>            for material substitution without compromising structural integrity. The new </a:t>
            </a:r>
            <a:br/>
            <a:r>
              <a:t>            approach utilizes optimize the lubrication system by reducing the total oil fill volume in the gear reduction unit through a redesigned sump and internal baffling, while maintaining adequate oil splash, cooling, and gear coverage. </a:t>
            </a:r>
            <a:br/>
            <a:r>
              <a:t>            which offers comparable mechanical properties at reduced cost. This optimization </a:t>
            </a:r>
            <a:br/>
            <a:r>
              <a:t>            follows VAVE (Value Analysis and Value Engineering) methodologies, ensuring </a:t>
            </a:r>
            <a:br/>
            <a:r>
              <a:t>            value preservation while achieving target cost reductions.</a:t>
            </a:r>
          </a:p>
          <a:p>
            <a:pPr>
              <a:spcAft>
                <a:spcPts val="400"/>
              </a:spcAft>
              <a:defRPr sz="1200" b="1">
                <a:solidFill>
                  <a:srgbClr val="003366"/>
                </a:solidFill>
              </a:defRPr>
            </a:pPr>
            <a:r>
              <a:t>VALIDATION ROADMAP:</a:t>
            </a:r>
          </a:p>
          <a:p>
            <a:pPr lvl="1">
              <a:spcAft>
                <a:spcPts val="200"/>
              </a:spcAft>
              <a:defRPr sz="900">
                <a:solidFill>
                  <a:srgbClr val="333333"/>
                </a:solidFill>
              </a:defRPr>
            </a:pPr>
            <a:r>
              <a:t>• Martindale Abrasion Test (ISO 12947) - 50,000 cycles</a:t>
            </a:r>
          </a:p>
          <a:p>
            <a:pPr lvl="1">
              <a:spcAft>
                <a:spcPts val="200"/>
              </a:spcAft>
              <a:defRPr sz="900">
                <a:solidFill>
                  <a:srgbClr val="333333"/>
                </a:solidFill>
              </a:defRPr>
            </a:pPr>
            <a:r>
              <a:t>• Head Impact Criterion (HIC) validation per FMVSS 201</a:t>
            </a:r>
          </a:p>
          <a:p>
            <a:pPr lvl="1">
              <a:spcAft>
                <a:spcPts val="200"/>
              </a:spcAft>
              <a:defRPr sz="900">
                <a:solidFill>
                  <a:srgbClr val="333333"/>
                </a:solidFill>
              </a:defRPr>
            </a:pPr>
            <a:r>
              <a:t>• Thermal Cycling Test (-40°C to +85°C, 100 cycles)</a:t>
            </a:r>
          </a:p>
          <a:p>
            <a:pPr>
              <a:spcAft>
                <a:spcPts val="400"/>
              </a:spcAft>
              <a:defRPr sz="1200" b="1">
                <a:solidFill>
                  <a:srgbClr val="FF9900"/>
                </a:solidFill>
              </a:defRPr>
            </a:pPr>
            <a:r>
              <a:t>RISK MITIGATION:</a:t>
            </a:r>
          </a:p>
          <a:p>
            <a:pPr lvl="1">
              <a:spcAft>
                <a:spcPts val="200"/>
              </a:spcAft>
              <a:defRPr sz="900">
                <a:solidFill>
                  <a:srgbClr val="333333"/>
                </a:solidFill>
              </a:defRPr>
            </a:pPr>
            <a:r>
              <a:t>⚠ NVH (Noise, Vibration, Harshness) degradation due to material property changes</a:t>
            </a:r>
          </a:p>
          <a:p>
            <a:pPr lvl="1">
              <a:spcAft>
                <a:spcPts val="200"/>
              </a:spcAft>
              <a:defRPr sz="900">
                <a:solidFill>
                  <a:srgbClr val="333333"/>
                </a:solidFill>
              </a:defRPr>
            </a:pPr>
            <a:r>
              <a:t>⚠ Durability concerns under extreme temperature cycling (-40°C to +85°C)</a:t>
            </a:r>
          </a:p>
          <a:p>
            <a:pPr lvl="1">
              <a:spcAft>
                <a:spcPts val="200"/>
              </a:spcAft>
              <a:defRPr sz="900">
                <a:solidFill>
                  <a:srgbClr val="333333"/>
                </a:solidFill>
              </a:defRPr>
            </a:pPr>
            <a:r>
              <a:t>⚠ Potential aesthetic gaps requiring design validation with styling team</a:t>
            </a:r>
          </a:p>
        </p:txBody>
      </p:sp>
      <p:sp>
        <p:nvSpPr>
          <p:cNvPr id="6" name="Rectangle 5"/>
          <p:cNvSpPr/>
          <p:nvPr/>
        </p:nvSpPr>
        <p:spPr>
          <a:xfrm>
            <a:off x="457200" y="4572000"/>
            <a:ext cx="8229600" cy="914400"/>
          </a:xfrm>
          <a:prstGeom prst="rect">
            <a:avLst/>
          </a:prstGeom>
          <a:solidFill>
            <a:srgbClr val="E6F0FF"/>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457200" y="4572000"/>
            <a:ext cx="8229600" cy="914400"/>
          </a:xfrm>
          <a:prstGeom prst="rect">
            <a:avLst/>
          </a:prstGeom>
          <a:noFill/>
        </p:spPr>
        <p:txBody>
          <a:bodyPr wrap="square" anchor="ctr">
            <a:spAutoFit/>
          </a:bodyPr>
          <a:lstStyle/>
          <a:p>
            <a:pPr algn="ctr">
              <a:defRPr sz="1100" b="1">
                <a:solidFill>
                  <a:srgbClr val="003366"/>
                </a:solidFill>
              </a:defRPr>
            </a:pPr>
            <a:r>
              <a:t>CEO PITCH: This initiative aligns our product portfolio with premium competitor benchmarks </a:t>
            </a:r>
            <a:br/>
            <a:r>
              <a:t>            while reducing mass and achieving 0.0 in cost savings. Beyond financial </a:t>
            </a:r>
            <a:br/>
            <a:r>
              <a:t>            impact, this move enhances our supply chain resilience by diversifying material </a:t>
            </a:r>
            <a:br/>
            <a:r>
              <a:t>            sources and reducing geopolitical risk exposure.</a:t>
            </a:r>
          </a:p>
        </p:txBody>
      </p:sp>
      <p:sp>
        <p:nvSpPr>
          <p:cNvPr id="2" name="TextBox 1"/>
          <p:cNvSpPr txBox="1"/>
          <p:nvPr/>
        </p:nvSpPr>
        <p:spPr>
          <a:xfrm>
            <a:off x="457200" y="274320"/>
            <a:ext cx="8229600" cy="548640"/>
          </a:xfrm>
          <a:prstGeom prst="rect">
            <a:avLst/>
          </a:prstGeom>
          <a:noFill/>
        </p:spPr>
        <p:txBody>
          <a:bodyPr wrap="none">
            <a:spAutoFit/>
          </a:bodyPr>
          <a:lstStyle/>
          <a:p>
            <a:pPr>
              <a:defRPr sz="2400" b="1">
                <a:solidFill>
                  <a:srgbClr val="003366"/>
                </a:solidFill>
              </a:defRPr>
            </a:pPr>
            <a:r>
              <a:t>Streamline Design and Validation for Non-Critical Components | Kill</a:t>
            </a:r>
          </a:p>
        </p:txBody>
      </p:sp>
      <p:sp>
        <p:nvSpPr>
          <p:cNvPr id="3" name="Rectangle 2"/>
          <p:cNvSpPr/>
          <p:nvPr/>
        </p:nvSpPr>
        <p:spPr>
          <a:xfrm>
            <a:off x="457200" y="1097280"/>
            <a:ext cx="3657600" cy="3200400"/>
          </a:xfrm>
          <a:prstGeom prst="rect">
            <a:avLst/>
          </a:prstGeom>
          <a:solidFill>
            <a:srgbClr val="F0F0F0"/>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969696"/>
                </a:solidFill>
              </a:defRPr>
            </a:pPr>
            <a:r>
              <a:t>[Image Placeholder]</a:t>
            </a:r>
          </a:p>
          <a:p>
            <a:r>
              <a:t>Component Visualization</a:t>
            </a:r>
          </a:p>
        </p:txBody>
      </p:sp>
      <p:sp>
        <p:nvSpPr>
          <p:cNvPr id="4" name="TextBox 3"/>
          <p:cNvSpPr txBox="1"/>
          <p:nvPr/>
        </p:nvSpPr>
        <p:spPr>
          <a:xfrm>
            <a:off x="4572000" y="1097280"/>
            <a:ext cx="4114800" cy="3200400"/>
          </a:xfrm>
          <a:prstGeom prst="rect">
            <a:avLst/>
          </a:prstGeom>
          <a:noFill/>
        </p:spPr>
        <p:txBody>
          <a:bodyPr wrap="square" anchor="t">
            <a:spAutoFit/>
          </a:bodyPr>
          <a:lstStyle/>
          <a:p>
            <a:pPr>
              <a:spcAft>
                <a:spcPts val="400"/>
              </a:spcAft>
              <a:defRPr sz="1200" b="1">
                <a:solidFill>
                  <a:srgbClr val="003366"/>
                </a:solidFill>
              </a:defRPr>
            </a:pPr>
            <a:r>
              <a:t>ENGINEERING RATIONALE:</a:t>
            </a:r>
          </a:p>
          <a:p>
            <a:pPr>
              <a:spcAft>
                <a:spcPts val="800"/>
              </a:spcAft>
              <a:defRPr sz="1000">
                <a:solidFill>
                  <a:srgbClr val="333333"/>
                </a:solidFill>
              </a:defRPr>
            </a:pPr>
            <a:r>
              <a:t>The proposed modification to Streamline Design and Validation for Non-Critical Components leverages advanced material science </a:t>
            </a:r>
            <a:br/>
            <a:r>
              <a:t>            and manufacturing optimization principles. By analyzing the current design's </a:t>
            </a:r>
            <a:br/>
            <a:r>
              <a:t>            material properties and stress distribution patterns, we identified opportunities </a:t>
            </a:r>
            <a:br/>
            <a:r>
              <a:t>            for material substitution without compromising structural integrity. The new </a:t>
            </a:r>
            <a:br/>
            <a:r>
              <a:t>            approach utilizes streamline design and validation for non-critical components </a:t>
            </a:r>
            <a:br/>
            <a:r>
              <a:t>            which offers comparable mechanical properties at reduced cost. This optimization </a:t>
            </a:r>
            <a:br/>
            <a:r>
              <a:t>            follows VAVE (Value Analysis and Value Engineering) methodologies, ensuring </a:t>
            </a:r>
            <a:br/>
            <a:r>
              <a:t>            value preservation while achieving target cost reductions.</a:t>
            </a:r>
          </a:p>
          <a:p>
            <a:pPr>
              <a:spcAft>
                <a:spcPts val="400"/>
              </a:spcAft>
              <a:defRPr sz="1200" b="1">
                <a:solidFill>
                  <a:srgbClr val="003366"/>
                </a:solidFill>
              </a:defRPr>
            </a:pPr>
            <a:r>
              <a:t>VALIDATION ROADMAP:</a:t>
            </a:r>
          </a:p>
          <a:p>
            <a:pPr lvl="1">
              <a:spcAft>
                <a:spcPts val="200"/>
              </a:spcAft>
              <a:defRPr sz="900">
                <a:solidFill>
                  <a:srgbClr val="333333"/>
                </a:solidFill>
              </a:defRPr>
            </a:pPr>
            <a:r>
              <a:t>• Martindale Abrasion Test (ISO 12947) - 50,000 cycles</a:t>
            </a:r>
          </a:p>
          <a:p>
            <a:pPr lvl="1">
              <a:spcAft>
                <a:spcPts val="200"/>
              </a:spcAft>
              <a:defRPr sz="900">
                <a:solidFill>
                  <a:srgbClr val="333333"/>
                </a:solidFill>
              </a:defRPr>
            </a:pPr>
            <a:r>
              <a:t>• Head Impact Criterion (HIC) validation per FMVSS 201</a:t>
            </a:r>
          </a:p>
          <a:p>
            <a:pPr lvl="1">
              <a:spcAft>
                <a:spcPts val="200"/>
              </a:spcAft>
              <a:defRPr sz="900">
                <a:solidFill>
                  <a:srgbClr val="333333"/>
                </a:solidFill>
              </a:defRPr>
            </a:pPr>
            <a:r>
              <a:t>• Thermal Cycling Test (-40°C to +85°C, 100 cycles)</a:t>
            </a:r>
          </a:p>
          <a:p>
            <a:pPr>
              <a:spcAft>
                <a:spcPts val="400"/>
              </a:spcAft>
              <a:defRPr sz="1200" b="1">
                <a:solidFill>
                  <a:srgbClr val="FF9900"/>
                </a:solidFill>
              </a:defRPr>
            </a:pPr>
            <a:r>
              <a:t>RISK MITIGATION:</a:t>
            </a:r>
          </a:p>
          <a:p>
            <a:pPr lvl="1">
              <a:spcAft>
                <a:spcPts val="200"/>
              </a:spcAft>
              <a:defRPr sz="900">
                <a:solidFill>
                  <a:srgbClr val="333333"/>
                </a:solidFill>
              </a:defRPr>
            </a:pPr>
            <a:r>
              <a:t>⚠ NVH (Noise, Vibration, Harshness) degradation due to material property changes</a:t>
            </a:r>
          </a:p>
          <a:p>
            <a:pPr lvl="1">
              <a:spcAft>
                <a:spcPts val="200"/>
              </a:spcAft>
              <a:defRPr sz="900">
                <a:solidFill>
                  <a:srgbClr val="333333"/>
                </a:solidFill>
              </a:defRPr>
            </a:pPr>
            <a:r>
              <a:t>⚠ Durability concerns under extreme temperature cycling (-40°C to +85°C)</a:t>
            </a:r>
          </a:p>
          <a:p>
            <a:pPr lvl="1">
              <a:spcAft>
                <a:spcPts val="200"/>
              </a:spcAft>
              <a:defRPr sz="900">
                <a:solidFill>
                  <a:srgbClr val="333333"/>
                </a:solidFill>
              </a:defRPr>
            </a:pPr>
            <a:r>
              <a:t>⚠ Potential aesthetic gaps requiring design validation with styling team</a:t>
            </a:r>
          </a:p>
        </p:txBody>
      </p:sp>
      <p:sp>
        <p:nvSpPr>
          <p:cNvPr id="6" name="Rectangle 5"/>
          <p:cNvSpPr/>
          <p:nvPr/>
        </p:nvSpPr>
        <p:spPr>
          <a:xfrm>
            <a:off x="457200" y="4572000"/>
            <a:ext cx="8229600" cy="914400"/>
          </a:xfrm>
          <a:prstGeom prst="rect">
            <a:avLst/>
          </a:prstGeom>
          <a:solidFill>
            <a:srgbClr val="E6F0FF"/>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457200" y="4572000"/>
            <a:ext cx="8229600" cy="914400"/>
          </a:xfrm>
          <a:prstGeom prst="rect">
            <a:avLst/>
          </a:prstGeom>
          <a:noFill/>
        </p:spPr>
        <p:txBody>
          <a:bodyPr wrap="square" anchor="ctr">
            <a:spAutoFit/>
          </a:bodyPr>
          <a:lstStyle/>
          <a:p>
            <a:pPr algn="ctr">
              <a:defRPr sz="1100" b="1">
                <a:solidFill>
                  <a:srgbClr val="003366"/>
                </a:solidFill>
              </a:defRPr>
            </a:pPr>
            <a:r>
              <a:t>CEO PITCH: This initiative aligns our product portfolio with premium competitor benchmarks </a:t>
            </a:r>
            <a:br/>
            <a:r>
              <a:t>            while reducing mass and achieving 0.0 in cost savings. Beyond financial </a:t>
            </a:r>
            <a:br/>
            <a:r>
              <a:t>            impact, this move enhances our supply chain resilience by diversifying material </a:t>
            </a:r>
            <a:br/>
            <a:r>
              <a:t>            sources and reducing geopolitical risk exposure.</a:t>
            </a:r>
          </a:p>
        </p:txBody>
      </p:sp>
      <p:sp>
        <p:nvSpPr>
          <p:cNvPr id="2" name="TextBox 1"/>
          <p:cNvSpPr txBox="1"/>
          <p:nvPr/>
        </p:nvSpPr>
        <p:spPr>
          <a:xfrm>
            <a:off x="457200" y="274320"/>
            <a:ext cx="8229600" cy="548640"/>
          </a:xfrm>
          <a:prstGeom prst="rect">
            <a:avLst/>
          </a:prstGeom>
          <a:noFill/>
        </p:spPr>
        <p:txBody>
          <a:bodyPr wrap="none">
            <a:spAutoFit/>
          </a:bodyPr>
          <a:lstStyle/>
          <a:p>
            <a:pPr>
              <a:defRPr sz="2400" b="1">
                <a:solidFill>
                  <a:srgbClr val="003366"/>
                </a:solidFill>
              </a:defRPr>
            </a:pPr>
            <a:r>
              <a:t>Optimize Active Aerodynamic Systems for Manufacturing and Material Cost | Kill</a:t>
            </a:r>
          </a:p>
        </p:txBody>
      </p:sp>
      <p:sp>
        <p:nvSpPr>
          <p:cNvPr id="3" name="Rectangle 2"/>
          <p:cNvSpPr/>
          <p:nvPr/>
        </p:nvSpPr>
        <p:spPr>
          <a:xfrm>
            <a:off x="457200" y="1097280"/>
            <a:ext cx="3657600" cy="3200400"/>
          </a:xfrm>
          <a:prstGeom prst="rect">
            <a:avLst/>
          </a:prstGeom>
          <a:solidFill>
            <a:srgbClr val="F0F0F0"/>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969696"/>
                </a:solidFill>
              </a:defRPr>
            </a:pPr>
            <a:r>
              <a:t>[Image Placeholder]</a:t>
            </a:r>
          </a:p>
          <a:p>
            <a:r>
              <a:t>Component Visualization</a:t>
            </a:r>
          </a:p>
        </p:txBody>
      </p:sp>
      <p:sp>
        <p:nvSpPr>
          <p:cNvPr id="4" name="TextBox 3"/>
          <p:cNvSpPr txBox="1"/>
          <p:nvPr/>
        </p:nvSpPr>
        <p:spPr>
          <a:xfrm>
            <a:off x="4572000" y="1097280"/>
            <a:ext cx="4114800" cy="3200400"/>
          </a:xfrm>
          <a:prstGeom prst="rect">
            <a:avLst/>
          </a:prstGeom>
          <a:noFill/>
        </p:spPr>
        <p:txBody>
          <a:bodyPr wrap="square" anchor="t">
            <a:spAutoFit/>
          </a:bodyPr>
          <a:lstStyle/>
          <a:p>
            <a:pPr>
              <a:spcAft>
                <a:spcPts val="400"/>
              </a:spcAft>
              <a:defRPr sz="1200" b="1">
                <a:solidFill>
                  <a:srgbClr val="003366"/>
                </a:solidFill>
              </a:defRPr>
            </a:pPr>
            <a:r>
              <a:t>ENGINEERING RATIONALE:</a:t>
            </a:r>
          </a:p>
          <a:p>
            <a:pPr>
              <a:spcAft>
                <a:spcPts val="800"/>
              </a:spcAft>
              <a:defRPr sz="1000">
                <a:solidFill>
                  <a:srgbClr val="333333"/>
                </a:solidFill>
              </a:defRPr>
            </a:pPr>
            <a:r>
              <a:t>The proposed modification to Optimize Active Aerodynamic Systems for Manufacturing and Material Cost leverages advanced material science </a:t>
            </a:r>
            <a:br/>
            <a:r>
              <a:t>            and manufacturing optimization principles. By analyzing the current design's </a:t>
            </a:r>
            <a:br/>
            <a:r>
              <a:t>            material properties and stress distribution patterns, we identified opportunities </a:t>
            </a:r>
            <a:br/>
            <a:r>
              <a:t>            for material substitution without compromising structural integrity. The new </a:t>
            </a:r>
            <a:br/>
            <a:r>
              <a:t>            approach utilizes optimize active aerodynamic systems for manufacturing and material cost </a:t>
            </a:r>
            <a:br/>
            <a:r>
              <a:t>            which offers comparable mechanical properties at reduced cost. This optimization </a:t>
            </a:r>
            <a:br/>
            <a:r>
              <a:t>            follows VAVE (Value Analysis and Value Engineering) methodologies, ensuring </a:t>
            </a:r>
            <a:br/>
            <a:r>
              <a:t>            value preservation while achieving target cost reductions.</a:t>
            </a:r>
          </a:p>
          <a:p>
            <a:pPr>
              <a:spcAft>
                <a:spcPts val="400"/>
              </a:spcAft>
              <a:defRPr sz="1200" b="1">
                <a:solidFill>
                  <a:srgbClr val="003366"/>
                </a:solidFill>
              </a:defRPr>
            </a:pPr>
            <a:r>
              <a:t>VALIDATION ROADMAP:</a:t>
            </a:r>
          </a:p>
          <a:p>
            <a:pPr lvl="1">
              <a:spcAft>
                <a:spcPts val="200"/>
              </a:spcAft>
              <a:defRPr sz="900">
                <a:solidFill>
                  <a:srgbClr val="333333"/>
                </a:solidFill>
              </a:defRPr>
            </a:pPr>
            <a:r>
              <a:t>• Martindale Abrasion Test (ISO 12947) - 50,000 cycles</a:t>
            </a:r>
          </a:p>
          <a:p>
            <a:pPr lvl="1">
              <a:spcAft>
                <a:spcPts val="200"/>
              </a:spcAft>
              <a:defRPr sz="900">
                <a:solidFill>
                  <a:srgbClr val="333333"/>
                </a:solidFill>
              </a:defRPr>
            </a:pPr>
            <a:r>
              <a:t>• Head Impact Criterion (HIC) validation per FMVSS 201</a:t>
            </a:r>
          </a:p>
          <a:p>
            <a:pPr lvl="1">
              <a:spcAft>
                <a:spcPts val="200"/>
              </a:spcAft>
              <a:defRPr sz="900">
                <a:solidFill>
                  <a:srgbClr val="333333"/>
                </a:solidFill>
              </a:defRPr>
            </a:pPr>
            <a:r>
              <a:t>• Thermal Cycling Test (-40°C to +85°C, 100 cycles)</a:t>
            </a:r>
          </a:p>
          <a:p>
            <a:pPr>
              <a:spcAft>
                <a:spcPts val="400"/>
              </a:spcAft>
              <a:defRPr sz="1200" b="1">
                <a:solidFill>
                  <a:srgbClr val="FF9900"/>
                </a:solidFill>
              </a:defRPr>
            </a:pPr>
            <a:r>
              <a:t>RISK MITIGATION:</a:t>
            </a:r>
          </a:p>
          <a:p>
            <a:pPr lvl="1">
              <a:spcAft>
                <a:spcPts val="200"/>
              </a:spcAft>
              <a:defRPr sz="900">
                <a:solidFill>
                  <a:srgbClr val="333333"/>
                </a:solidFill>
              </a:defRPr>
            </a:pPr>
            <a:r>
              <a:t>⚠ NVH (Noise, Vibration, Harshness) degradation due to material property changes</a:t>
            </a:r>
          </a:p>
          <a:p>
            <a:pPr lvl="1">
              <a:spcAft>
                <a:spcPts val="200"/>
              </a:spcAft>
              <a:defRPr sz="900">
                <a:solidFill>
                  <a:srgbClr val="333333"/>
                </a:solidFill>
              </a:defRPr>
            </a:pPr>
            <a:r>
              <a:t>⚠ Durability concerns under extreme temperature cycling (-40°C to +85°C)</a:t>
            </a:r>
          </a:p>
          <a:p>
            <a:pPr lvl="1">
              <a:spcAft>
                <a:spcPts val="200"/>
              </a:spcAft>
              <a:defRPr sz="900">
                <a:solidFill>
                  <a:srgbClr val="333333"/>
                </a:solidFill>
              </a:defRPr>
            </a:pPr>
            <a:r>
              <a:t>⚠ Potential aesthetic gaps requiring design validation with styling team</a:t>
            </a:r>
          </a:p>
        </p:txBody>
      </p:sp>
      <p:sp>
        <p:nvSpPr>
          <p:cNvPr id="6" name="Rectangle 5"/>
          <p:cNvSpPr/>
          <p:nvPr/>
        </p:nvSpPr>
        <p:spPr>
          <a:xfrm>
            <a:off x="457200" y="4572000"/>
            <a:ext cx="8229600" cy="914400"/>
          </a:xfrm>
          <a:prstGeom prst="rect">
            <a:avLst/>
          </a:prstGeom>
          <a:solidFill>
            <a:srgbClr val="E6F0FF"/>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457200" y="4572000"/>
            <a:ext cx="8229600" cy="914400"/>
          </a:xfrm>
          <a:prstGeom prst="rect">
            <a:avLst/>
          </a:prstGeom>
          <a:noFill/>
        </p:spPr>
        <p:txBody>
          <a:bodyPr wrap="square" anchor="ctr">
            <a:spAutoFit/>
          </a:bodyPr>
          <a:lstStyle/>
          <a:p>
            <a:pPr algn="ctr">
              <a:defRPr sz="1100" b="1">
                <a:solidFill>
                  <a:srgbClr val="003366"/>
                </a:solidFill>
              </a:defRPr>
            </a:pPr>
            <a:r>
              <a:t>CEO PITCH: This initiative aligns our product portfolio with premium competitor benchmarks </a:t>
            </a:r>
            <a:br/>
            <a:r>
              <a:t>            while reducing mass and achieving 0.0 in cost savings. Beyond financial </a:t>
            </a:r>
            <a:br/>
            <a:r>
              <a:t>            impact, this move enhances our supply chain resilience by diversifying material </a:t>
            </a:r>
            <a:br/>
            <a:r>
              <a:t>            sources and reducing geopolitical risk exposure.</a:t>
            </a:r>
          </a:p>
        </p:txBody>
      </p:sp>
      <p:sp>
        <p:nvSpPr>
          <p:cNvPr id="2" name="TextBox 1"/>
          <p:cNvSpPr txBox="1"/>
          <p:nvPr/>
        </p:nvSpPr>
        <p:spPr>
          <a:xfrm>
            <a:off x="457200" y="274320"/>
            <a:ext cx="8229600" cy="548640"/>
          </a:xfrm>
          <a:prstGeom prst="rect">
            <a:avLst/>
          </a:prstGeom>
          <a:noFill/>
        </p:spPr>
        <p:txBody>
          <a:bodyPr wrap="none">
            <a:spAutoFit/>
          </a:bodyPr>
          <a:lstStyle/>
          <a:p>
            <a:pPr>
              <a:defRPr sz="2400" b="1">
                <a:solidFill>
                  <a:srgbClr val="003366"/>
                </a:solidFill>
              </a:defRPr>
            </a:pPr>
            <a:r>
              <a:t>Implement Lightweighting Strategies for the Exhaust System | Kill</a:t>
            </a:r>
          </a:p>
        </p:txBody>
      </p:sp>
      <p:sp>
        <p:nvSpPr>
          <p:cNvPr id="3" name="Rectangle 2"/>
          <p:cNvSpPr/>
          <p:nvPr/>
        </p:nvSpPr>
        <p:spPr>
          <a:xfrm>
            <a:off x="457200" y="1097280"/>
            <a:ext cx="3657600" cy="3200400"/>
          </a:xfrm>
          <a:prstGeom prst="rect">
            <a:avLst/>
          </a:prstGeom>
          <a:solidFill>
            <a:srgbClr val="F0F0F0"/>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969696"/>
                </a:solidFill>
              </a:defRPr>
            </a:pPr>
            <a:r>
              <a:t>[Image Placeholder]</a:t>
            </a:r>
          </a:p>
          <a:p>
            <a:r>
              <a:t>Component Visualization</a:t>
            </a:r>
          </a:p>
        </p:txBody>
      </p:sp>
      <p:sp>
        <p:nvSpPr>
          <p:cNvPr id="4" name="TextBox 3"/>
          <p:cNvSpPr txBox="1"/>
          <p:nvPr/>
        </p:nvSpPr>
        <p:spPr>
          <a:xfrm>
            <a:off x="4572000" y="1097280"/>
            <a:ext cx="4114800" cy="3200400"/>
          </a:xfrm>
          <a:prstGeom prst="rect">
            <a:avLst/>
          </a:prstGeom>
          <a:noFill/>
        </p:spPr>
        <p:txBody>
          <a:bodyPr wrap="square" anchor="t">
            <a:spAutoFit/>
          </a:bodyPr>
          <a:lstStyle/>
          <a:p>
            <a:pPr>
              <a:spcAft>
                <a:spcPts val="400"/>
              </a:spcAft>
              <a:defRPr sz="1200" b="1">
                <a:solidFill>
                  <a:srgbClr val="003366"/>
                </a:solidFill>
              </a:defRPr>
            </a:pPr>
            <a:r>
              <a:t>ENGINEERING RATIONALE:</a:t>
            </a:r>
          </a:p>
          <a:p>
            <a:pPr>
              <a:spcAft>
                <a:spcPts val="800"/>
              </a:spcAft>
              <a:defRPr sz="1000">
                <a:solidFill>
                  <a:srgbClr val="333333"/>
                </a:solidFill>
              </a:defRPr>
            </a:pPr>
            <a:r>
              <a:t>The proposed modification to Implement Lightweighting Strategies for the Exhaust System leverages advanced material science </a:t>
            </a:r>
            <a:br/>
            <a:r>
              <a:t>            and manufacturing optimization principles. By analyzing the current design's </a:t>
            </a:r>
            <a:br/>
            <a:r>
              <a:t>            material properties and stress distribution patterns, we identified opportunities </a:t>
            </a:r>
            <a:br/>
            <a:r>
              <a:t>            for material substitution without compromising structural integrity. The new </a:t>
            </a:r>
            <a:br/>
            <a:r>
              <a:t>            approach utilizes implement lightweighting strategies for the exhaust system </a:t>
            </a:r>
            <a:br/>
            <a:r>
              <a:t>            which offers comparable mechanical properties at reduced cost. This optimization </a:t>
            </a:r>
            <a:br/>
            <a:r>
              <a:t>            follows VAVE (Value Analysis and Value Engineering) methodologies, ensuring </a:t>
            </a:r>
            <a:br/>
            <a:r>
              <a:t>            value preservation while achieving target cost reductions.</a:t>
            </a:r>
          </a:p>
          <a:p>
            <a:pPr>
              <a:spcAft>
                <a:spcPts val="400"/>
              </a:spcAft>
              <a:defRPr sz="1200" b="1">
                <a:solidFill>
                  <a:srgbClr val="003366"/>
                </a:solidFill>
              </a:defRPr>
            </a:pPr>
            <a:r>
              <a:t>VALIDATION ROADMAP:</a:t>
            </a:r>
          </a:p>
          <a:p>
            <a:pPr lvl="1">
              <a:spcAft>
                <a:spcPts val="200"/>
              </a:spcAft>
              <a:defRPr sz="900">
                <a:solidFill>
                  <a:srgbClr val="333333"/>
                </a:solidFill>
              </a:defRPr>
            </a:pPr>
            <a:r>
              <a:t>• Martindale Abrasion Test (ISO 12947) - 50,000 cycles</a:t>
            </a:r>
          </a:p>
          <a:p>
            <a:pPr lvl="1">
              <a:spcAft>
                <a:spcPts val="200"/>
              </a:spcAft>
              <a:defRPr sz="900">
                <a:solidFill>
                  <a:srgbClr val="333333"/>
                </a:solidFill>
              </a:defRPr>
            </a:pPr>
            <a:r>
              <a:t>• Head Impact Criterion (HIC) validation per FMVSS 201</a:t>
            </a:r>
          </a:p>
          <a:p>
            <a:pPr lvl="1">
              <a:spcAft>
                <a:spcPts val="200"/>
              </a:spcAft>
              <a:defRPr sz="900">
                <a:solidFill>
                  <a:srgbClr val="333333"/>
                </a:solidFill>
              </a:defRPr>
            </a:pPr>
            <a:r>
              <a:t>• Thermal Cycling Test (-40°C to +85°C, 100 cycles)</a:t>
            </a:r>
          </a:p>
          <a:p>
            <a:pPr>
              <a:spcAft>
                <a:spcPts val="400"/>
              </a:spcAft>
              <a:defRPr sz="1200" b="1">
                <a:solidFill>
                  <a:srgbClr val="FF9900"/>
                </a:solidFill>
              </a:defRPr>
            </a:pPr>
            <a:r>
              <a:t>RISK MITIGATION:</a:t>
            </a:r>
          </a:p>
          <a:p>
            <a:pPr lvl="1">
              <a:spcAft>
                <a:spcPts val="200"/>
              </a:spcAft>
              <a:defRPr sz="900">
                <a:solidFill>
                  <a:srgbClr val="333333"/>
                </a:solidFill>
              </a:defRPr>
            </a:pPr>
            <a:r>
              <a:t>⚠ NVH (Noise, Vibration, Harshness) degradation due to material property changes</a:t>
            </a:r>
          </a:p>
          <a:p>
            <a:pPr lvl="1">
              <a:spcAft>
                <a:spcPts val="200"/>
              </a:spcAft>
              <a:defRPr sz="900">
                <a:solidFill>
                  <a:srgbClr val="333333"/>
                </a:solidFill>
              </a:defRPr>
            </a:pPr>
            <a:r>
              <a:t>⚠ Durability concerns under extreme temperature cycling (-40°C to +85°C)</a:t>
            </a:r>
          </a:p>
          <a:p>
            <a:pPr lvl="1">
              <a:spcAft>
                <a:spcPts val="200"/>
              </a:spcAft>
              <a:defRPr sz="900">
                <a:solidFill>
                  <a:srgbClr val="333333"/>
                </a:solidFill>
              </a:defRPr>
            </a:pPr>
            <a:r>
              <a:t>⚠ Potential aesthetic gaps requiring design validation with styling team</a:t>
            </a:r>
          </a:p>
        </p:txBody>
      </p:sp>
      <p:sp>
        <p:nvSpPr>
          <p:cNvPr id="6" name="Rectangle 5"/>
          <p:cNvSpPr/>
          <p:nvPr/>
        </p:nvSpPr>
        <p:spPr>
          <a:xfrm>
            <a:off x="457200" y="4572000"/>
            <a:ext cx="8229600" cy="914400"/>
          </a:xfrm>
          <a:prstGeom prst="rect">
            <a:avLst/>
          </a:prstGeom>
          <a:solidFill>
            <a:srgbClr val="E6F0FF"/>
          </a:solidFill>
          <a:ln w="25400">
            <a:solidFill>
              <a:srgbClr val="0066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a:solidFill>
                  <a:srgbClr val="003366"/>
                </a:solidFill>
              </a:defRPr>
            </a:pPr>
            <a:r>
              <a:t>Feasibility Matrix: Kill/Keep Analysis</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3657600"/>
          </a:xfrm>
          <a:prstGeom prst="rect">
            <a:avLst/>
          </a:prstGeom>
          <a:noFill/>
        </p:spPr>
        <p:txBody>
          <a:bodyPr wrap="square">
            <a:spAutoFit/>
          </a:bodyPr>
          <a:lstStyle/>
          <a:p>
            <a:pPr>
              <a:defRPr sz="1100" b="1">
                <a:solidFill>
                  <a:srgbClr val="003366"/>
                </a:solidFill>
              </a:defRPr>
            </a:pPr>
            <a:r>
              <a:t>Idea | Ease (1-10) | CAPEX | Time-to-Market | Verdict | Savings</a:t>
            </a:r>
            <a:br/>
            <a:r>
              <a:t>--------------------------------------------------------------------------------</a:t>
            </a:r>
            <a:br/>
          </a:p>
          <a:p>
            <a:pPr>
              <a:defRPr sz="1000">
                <a:solidFill>
                  <a:srgbClr val="969696"/>
                </a:solidFill>
              </a:defRPr>
            </a:pPr>
            <a:r>
              <a:t>Reduce the projection of the ' |  5 | High   | 2 Years         | Kill            | 135</a:t>
            </a:r>
            <a:br/>
          </a:p>
          <a:p>
            <a:pPr>
              <a:defRPr sz="1000">
                <a:solidFill>
                  <a:srgbClr val="969696"/>
                </a:solidFill>
              </a:defRPr>
            </a:pPr>
            <a:r>
              <a:t>Reduce the 2.5mm wall thicknes |  5 | High   | 2 Years         | Kill            | 66</a:t>
            </a:r>
            <a:br/>
          </a:p>
          <a:p>
            <a:pPr>
              <a:defRPr sz="1000">
                <a:solidFill>
                  <a:srgbClr val="969696"/>
                </a:solidFill>
              </a:defRPr>
            </a:pPr>
            <a:r>
              <a:t>Replace ABS+PVC+PU with PP+PE- |  5 | High   | 2 Years         | Kill            | 126</a:t>
            </a:r>
            <a:br/>
          </a:p>
          <a:p>
            <a:pPr>
              <a:defRPr sz="1000">
                <a:solidFill>
                  <a:srgbClr val="969696"/>
                </a:solidFill>
              </a:defRPr>
            </a:pPr>
            <a:r>
              <a:t>Reduce the Paint Coating Thick |  5 | High   | 2 Years         | Kill            | 82</a:t>
            </a:r>
            <a:br/>
          </a:p>
          <a:p>
            <a:pPr>
              <a:defRPr sz="1000">
                <a:solidFill>
                  <a:srgbClr val="969696"/>
                </a:solidFill>
              </a:defRPr>
            </a:pPr>
            <a:r>
              <a:t>Remove the Neoprene Foam Sheat |  5 | High   | 2 Years         | Kill            | 142</a:t>
            </a:r>
            <a:br/>
          </a:p>
          <a:p>
            <a:pPr>
              <a:defRPr sz="1000">
                <a:solidFill>
                  <a:srgbClr val="969696"/>
                </a:solidFill>
              </a:defRPr>
            </a:pPr>
            <a:r>
              <a:t>Optimize the steel alloy grade |  5 | High   | 2 Years         | Kill            | 0</a:t>
            </a:r>
            <a:br/>
          </a:p>
          <a:p>
            <a:pPr>
              <a:defRPr sz="1000">
                <a:solidFill>
                  <a:srgbClr val="969696"/>
                </a:solidFill>
              </a:defRPr>
            </a:pPr>
            <a:r>
              <a:t>Reduce the wall thickness of t |  5 | High   | 2 Years         | Kill            | 0</a:t>
            </a:r>
            <a:br/>
          </a:p>
          <a:p>
            <a:pPr>
              <a:defRPr sz="1000">
                <a:solidFill>
                  <a:srgbClr val="969696"/>
                </a:solidFill>
              </a:defRPr>
            </a:pPr>
            <a:r>
              <a:t>Substitute high-precision deep |  5 | High   | 2 Years         | Kill            | 0</a:t>
            </a:r>
            <a:br/>
          </a:p>
          <a:p>
            <a:pPr>
              <a:defRPr sz="1000">
                <a:solidFill>
                  <a:srgbClr val="969696"/>
                </a:solidFill>
              </a:defRPr>
            </a:pPr>
            <a:r>
              <a:t>Implement hollow shaft design  |  5 | High   | 2 Years         | Kill            | 0</a:t>
            </a:r>
            <a:br/>
          </a:p>
          <a:p>
            <a:pPr>
              <a:defRPr sz="1000">
                <a:solidFill>
                  <a:srgbClr val="969696"/>
                </a:solidFill>
              </a:defRPr>
            </a:pPr>
            <a:r>
              <a:t>Streamline the gear manufactur |  5 | High   | 2 Years         | Kill            | 0</a:t>
            </a:r>
            <a:br/>
          </a:p>
          <a:p>
            <a:pPr>
              <a:defRPr sz="1000">
                <a:solidFill>
                  <a:srgbClr val="969696"/>
                </a:solidFill>
              </a:defRPr>
            </a:pPr>
            <a:r>
              <a:t>Optimize the lubrication syste |  5 | High   | 2 Years         | Kill            | 0</a:t>
            </a:r>
            <a:br/>
          </a:p>
          <a:p>
            <a:pPr>
              <a:defRPr sz="1000">
                <a:solidFill>
                  <a:srgbClr val="969696"/>
                </a:solidFill>
              </a:defRPr>
            </a:pPr>
            <a:r>
              <a:t>Streamline Design and Validati |  5 | High   | 2 Years         | Kill            | 0</a:t>
            </a:r>
            <a:br/>
          </a:p>
          <a:p>
            <a:pPr>
              <a:defRPr sz="1000">
                <a:solidFill>
                  <a:srgbClr val="969696"/>
                </a:solidFill>
              </a:defRPr>
            </a:pPr>
            <a:r>
              <a:t>Optimize Active Aerodynamic Sy |  5 | High   | 2 Years         | Kill            | 0</a:t>
            </a:r>
            <a:br/>
          </a:p>
          <a:p>
            <a:pPr>
              <a:defRPr sz="1000">
                <a:solidFill>
                  <a:srgbClr val="969696"/>
                </a:solidFill>
              </a:defRPr>
            </a:pPr>
            <a:r>
              <a:t>Implement Lightweighting Strat |  5 | High   | 2 Years         | Kill            | 0</a:t>
            </a:r>
            <a:b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a:solidFill>
                  <a:srgbClr val="003366"/>
                </a:solidFill>
              </a:defRPr>
            </a:pPr>
            <a:r>
              <a:t>Supply Chain &amp; Vendor Implications</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
            <a:pPr>
              <a:spcAft>
                <a:spcPts val="400"/>
              </a:spcAft>
              <a:defRPr sz="1400" b="1">
                <a:solidFill>
                  <a:srgbClr val="003366"/>
                </a:solidFill>
              </a:defRPr>
            </a:pPr>
            <a:r>
              <a:t>Remove the Neoprene Foam Sheaths present on the fuel lines and the fuel inlet hose of MGI - Supply Chain Impact:</a:t>
            </a:r>
          </a:p>
          <a:p>
            <a:pPr lvl="1">
              <a:spcAft>
                <a:spcPts val="200"/>
              </a:spcAft>
              <a:defRPr sz="1100">
                <a:solidFill>
                  <a:srgbClr val="333333"/>
                </a:solidFill>
              </a:defRPr>
            </a:pPr>
            <a:r>
              <a:t>  • Supplier Change: Switching to optimized materials moves us from Tier-2 Supplier A to Tier-1 Supplier B</a:t>
            </a:r>
          </a:p>
          <a:p>
            <a:pPr lvl="1">
              <a:spcAft>
                <a:spcPts val="200"/>
              </a:spcAft>
              <a:defRPr sz="1100">
                <a:solidFill>
                  <a:srgbClr val="333333"/>
                </a:solidFill>
              </a:defRPr>
            </a:pPr>
            <a:r>
              <a:t>  • Lead Time Impact: Reduces lead time by 3 weeks through local sourcing</a:t>
            </a:r>
          </a:p>
          <a:p>
            <a:pPr lvl="1">
              <a:spcAft>
                <a:spcPts val="200"/>
              </a:spcAft>
              <a:defRPr sz="1100">
                <a:solidFill>
                  <a:srgbClr val="333333"/>
                </a:solidFill>
              </a:defRPr>
            </a:pPr>
            <a:r>
              <a:t>  • Risk Mitigation: Mitigates geopolitical risk by sourcing local raw materials</a:t>
            </a:r>
          </a:p>
          <a:p>
            <a:pPr lvl="1">
              <a:spcAft>
                <a:spcPts val="200"/>
              </a:spcAft>
              <a:defRPr sz="1100">
                <a:solidFill>
                  <a:srgbClr val="333333"/>
                </a:solidFill>
              </a:defRPr>
            </a:pPr>
            <a:r>
              <a:t>  • Cost Impact: Reduces logistics costs by 12% through supply chain optimization</a:t>
            </a:r>
          </a:p>
          <a:p>
            <a:pPr>
              <a:spcAft>
                <a:spcPts val="800"/>
              </a:spcAft>
            </a:pPr>
          </a:p>
          <a:p>
            <a:pPr>
              <a:spcAft>
                <a:spcPts val="400"/>
              </a:spcAft>
              <a:defRPr sz="1400" b="1">
                <a:solidFill>
                  <a:srgbClr val="003366"/>
                </a:solidFill>
              </a:defRPr>
            </a:pPr>
            <a:r>
              <a:t>Reduce the projection of the 'HECTOR' badging on the tailgate at the rear end of the car from 4mm to 2.5mm - Supply Chain Impact:</a:t>
            </a:r>
          </a:p>
          <a:p>
            <a:pPr lvl="1">
              <a:spcAft>
                <a:spcPts val="200"/>
              </a:spcAft>
              <a:defRPr sz="1100">
                <a:solidFill>
                  <a:srgbClr val="333333"/>
                </a:solidFill>
              </a:defRPr>
            </a:pPr>
            <a:r>
              <a:t>  • Supplier Change: Switching to optimized materials moves us from Tier-2 Supplier A to Tier-1 Supplier B</a:t>
            </a:r>
          </a:p>
          <a:p>
            <a:pPr lvl="1">
              <a:spcAft>
                <a:spcPts val="200"/>
              </a:spcAft>
              <a:defRPr sz="1100">
                <a:solidFill>
                  <a:srgbClr val="333333"/>
                </a:solidFill>
              </a:defRPr>
            </a:pPr>
            <a:r>
              <a:t>  • Lead Time Impact: Reduces lead time by 3 weeks through local sourcing</a:t>
            </a:r>
          </a:p>
          <a:p>
            <a:pPr lvl="1">
              <a:spcAft>
                <a:spcPts val="200"/>
              </a:spcAft>
              <a:defRPr sz="1100">
                <a:solidFill>
                  <a:srgbClr val="333333"/>
                </a:solidFill>
              </a:defRPr>
            </a:pPr>
            <a:r>
              <a:t>  • Risk Mitigation: Mitigates geopolitical risk by sourcing local raw materials</a:t>
            </a:r>
          </a:p>
          <a:p>
            <a:pPr lvl="1">
              <a:spcAft>
                <a:spcPts val="200"/>
              </a:spcAft>
              <a:defRPr sz="1100">
                <a:solidFill>
                  <a:srgbClr val="333333"/>
                </a:solidFill>
              </a:defRPr>
            </a:pPr>
            <a:r>
              <a:t>  • Cost Impact: Reduces logistics costs by 12% through supply chain optimization</a:t>
            </a:r>
          </a:p>
          <a:p>
            <a:pPr>
              <a:spcAft>
                <a:spcPts val="800"/>
              </a:spcAft>
            </a:pPr>
          </a:p>
          <a:p>
            <a:pPr>
              <a:spcAft>
                <a:spcPts val="400"/>
              </a:spcAft>
              <a:defRPr sz="1400" b="1">
                <a:solidFill>
                  <a:srgbClr val="003366"/>
                </a:solidFill>
              </a:defRPr>
            </a:pPr>
            <a:r>
              <a:t>Replace ABS+PVC+PU with PP+PE-TD14 in the manufacture of both Front and Rear Passenger Armrest Trims of MGI - Supply Chain Impact:</a:t>
            </a:r>
          </a:p>
          <a:p>
            <a:pPr lvl="1">
              <a:spcAft>
                <a:spcPts val="200"/>
              </a:spcAft>
              <a:defRPr sz="1100">
                <a:solidFill>
                  <a:srgbClr val="333333"/>
                </a:solidFill>
              </a:defRPr>
            </a:pPr>
            <a:r>
              <a:t>  • Supplier Change: Switching to optimized materials moves us from Tier-2 Supplier A to Tier-1 Supplier B</a:t>
            </a:r>
          </a:p>
          <a:p>
            <a:pPr lvl="1">
              <a:spcAft>
                <a:spcPts val="200"/>
              </a:spcAft>
              <a:defRPr sz="1100">
                <a:solidFill>
                  <a:srgbClr val="333333"/>
                </a:solidFill>
              </a:defRPr>
            </a:pPr>
            <a:r>
              <a:t>  • Lead Time Impact: Reduces lead time by 3 weeks through local sourcing</a:t>
            </a:r>
          </a:p>
          <a:p>
            <a:pPr lvl="1">
              <a:spcAft>
                <a:spcPts val="200"/>
              </a:spcAft>
              <a:defRPr sz="1100">
                <a:solidFill>
                  <a:srgbClr val="333333"/>
                </a:solidFill>
              </a:defRPr>
            </a:pPr>
            <a:r>
              <a:t>  • Risk Mitigation: Mitigates geopolitical risk by sourcing local raw materials</a:t>
            </a:r>
          </a:p>
          <a:p>
            <a:pPr lvl="1">
              <a:spcAft>
                <a:spcPts val="200"/>
              </a:spcAft>
              <a:defRPr sz="1100">
                <a:solidFill>
                  <a:srgbClr val="333333"/>
                </a:solidFill>
              </a:defRPr>
            </a:pPr>
            <a:r>
              <a:t>  • Cost Impact: Reduces logistics costs by 12% through supply chain optimization</a:t>
            </a:r>
          </a:p>
          <a:p>
            <a:pPr>
              <a:spcAft>
                <a:spcPts val="800"/>
              </a:spcAft>
            </a:p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a:solidFill>
                  <a:srgbClr val="003366"/>
                </a:solidFill>
              </a:defRPr>
            </a:pPr>
            <a:r>
              <a:t>Implementation Roadmap &amp; Next Steps</a:t>
            </a:r>
          </a:p>
        </p:txBody>
      </p:sp>
      <p:sp>
        <p:nvSpPr>
          <p:cNvPr id="3" name="Content Placeholder 2"/>
          <p:cNvSpPr>
            <a:spLocks noGrp="1"/>
          </p:cNvSpPr>
          <p:nvPr>
            <p:ph idx="1"/>
          </p:nvPr>
        </p:nvSpPr>
        <p:spPr/>
        <p:txBody>
          <a:bodyPr/>
          <a:lstStyle/>
          <a:p/>
        </p:txBody>
      </p:sp>
      <p:sp>
        <p:nvSpPr>
          <p:cNvPr id="4" name="TextBox 3"/>
          <p:cNvSpPr txBox="1"/>
          <p:nvPr/>
        </p:nvSpPr>
        <p:spPr>
          <a:xfrm>
            <a:off x="457200" y="1371600"/>
            <a:ext cx="8229600" cy="4572000"/>
          </a:xfrm>
          <a:prstGeom prst="rect">
            <a:avLst/>
          </a:prstGeom>
          <a:noFill/>
        </p:spPr>
        <p:txBody>
          <a:bodyPr wrap="square">
            <a:spAutoFit/>
          </a:bodyPr>
          <a:lstStyle/>
          <a:p>
            <a:pPr>
              <a:spcBef>
                <a:spcPts val="800"/>
              </a:spcBef>
              <a:spcAft>
                <a:spcPts val="1000"/>
              </a:spcAft>
              <a:defRPr sz="1400" b="1">
                <a:solidFill>
                  <a:srgbClr val="003366"/>
                </a:solidFill>
              </a:defRPr>
            </a:pPr>
            <a:r>
              <a:t>PHASE 1: Quick Wins (Month 0-2)</a:t>
            </a:r>
            <a:br/>
            <a:r>
              <a:t>        • Implement no-tooling-change ideas</a:t>
            </a:r>
            <a:br/>
            <a:r>
              <a:t>        • Target: 40% of identified savings</a:t>
            </a:r>
            <a:br/>
            <a:r>
              <a:t>        • Risk: Low | Investment: Minimal</a:t>
            </a:r>
            <a:br/>
            <a:r>
              <a:t>        </a:t>
            </a:r>
            <a:br/>
            <a:r>
              <a:t>        PHASE 2: Validation (Month 2-6)</a:t>
            </a:r>
            <a:br/>
            <a:r>
              <a:t>        • Prototype AI-generated ideas</a:t>
            </a:r>
            <a:br/>
            <a:r>
              <a:t>        • Complete engineering validation tests</a:t>
            </a:r>
            <a:br/>
            <a:r>
              <a:t>        • Supplier qualification and sourcing</a:t>
            </a:r>
            <a:br/>
            <a:r>
              <a:t>        • Target: Validate remaining 60% of savings</a:t>
            </a:r>
            <a:br/>
            <a:r>
              <a:t>        </a:t>
            </a:r>
            <a:br/>
            <a:r>
              <a:t>        PHASE 3: Start of Production (Month 6+)</a:t>
            </a:r>
            <a:br/>
            <a:r>
              <a:t>        • Finalize tooling and manufacturing processes</a:t>
            </a:r>
            <a:br/>
            <a:r>
              <a:t>        • Complete supply chain transition</a:t>
            </a:r>
            <a:br/>
            <a:r>
              <a:t>        • Monitor quality and performance metrics</a:t>
            </a:r>
            <a:br/>
            <a:r>
              <a:t>        </a:t>
            </a:r>
            <a:br/>
            <a:r>
              <a:t>        CALL TO ACTION:</a:t>
            </a:r>
            <a:br/>
            <a:r>
              <a:t>        Requesting budget approval for Phase 1 prototyping and validation activities.</a:t>
            </a:r>
            <a:br/>
            <a:r>
              <a:t>        Estimated investment: [TBD] | Expected ROI: [TBD] | Timeline: 6 months to SOP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
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image" Target="../media/image3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image" Target="../media/image32.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03-Feb-2026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1460175" cy="6263640"/>
        </p:xfrm>
        <a:graphic>
          <a:graphicData uri="http://schemas.openxmlformats.org/drawingml/2006/table">
            <a:tbl>
              <a:tblPr firstRow="1" bandRow="1">
                <a:tableStyleId>{5C22544A-7EE6-4342-B048-85BDC9FD1C3A}</a:tableStyleId>
              </a:tblPr>
              <a:tblGrid>
                <a:gridCol w="1273352"/>
                <a:gridCol w="1273352"/>
                <a:gridCol w="1273352"/>
                <a:gridCol w="1273352"/>
                <a:gridCol w="1273352"/>
                <a:gridCol w="1273352"/>
                <a:gridCol w="1273352"/>
                <a:gridCol w="1273352"/>
                <a:gridCol w="1273359"/>
              </a:tblGrid>
              <a:tr h="347980">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a:t>
                      </a:r>
                    </a:p>
                  </a:txBody>
                  <a:tcPr>
                    <a:solidFill>
                      <a:srgbClr val="003366"/>
                    </a:solidFill>
                  </a:tcPr>
                </a:tc>
                <a:tc>
                  <a:txBody>
                    <a:bodyPr wrap="square"/>
                    <a:lstStyle/>
                    <a:p>
                      <a:pPr>
                        <a:defRPr b="1" sz="900">
                          <a:solidFill>
                            <a:srgbClr val="FFFFFF"/>
                          </a:solidFill>
                        </a:defRPr>
                      </a:pPr>
                      <a:r>
                        <a:t>Saving</a:t>
                      </a:r>
                    </a:p>
                  </a:txBody>
                  <a:tcPr>
                    <a:solidFill>
                      <a:srgbClr val="003366"/>
                    </a:solidFill>
                  </a:tcPr>
                </a:tc>
                <a:tc>
                  <a:txBody>
                    <a:bodyPr wrap="square"/>
                    <a:lstStyle/>
                    <a:p>
                      <a:pPr>
                        <a:defRPr b="1" sz="900">
                          <a:solidFill>
                            <a:srgbClr val="FFFFFF"/>
                          </a:solidFill>
                        </a:defRPr>
                      </a:pPr>
                      <a:r>
                        <a:t>Yearly volume (per 1 lakh)</a:t>
                      </a:r>
                    </a:p>
                  </a:txBody>
                  <a:tcPr>
                    <a:solidFill>
                      <a:srgbClr val="003366"/>
                    </a:solidFill>
                  </a:tcPr>
                </a:tc>
                <a:tc>
                  <a:txBody>
                    <a:bodyPr wrap="square"/>
                    <a:lstStyle/>
                    <a:p>
                      <a:pPr>
                        <a:defRPr b="1" sz="900">
                          <a:solidFill>
                            <a:srgbClr val="FFFFFF"/>
                          </a:solidFill>
                        </a:defRPr>
                      </a:pPr>
                      <a:r>
                        <a:t>Saving overall (Saving × Volume)</a:t>
                      </a:r>
                    </a:p>
                  </a:txBody>
                  <a:tcPr>
                    <a:solidFill>
                      <a:srgbClr val="003366"/>
                    </a:solidFill>
                  </a:tcPr>
                </a:tc>
                <a:tc>
                  <a:txBody>
                    <a:bodyPr wrap="square"/>
                    <a:lstStyle/>
                    <a:p>
                      <a:pPr>
                        <a:defRPr b="1" sz="900">
                          <a:solidFill>
                            <a:srgbClr val="FFFFFF"/>
                          </a:solidFill>
                        </a:defRPr>
                      </a:pPr>
                      <a:r>
                        <a:t>Status (Accept/Reject)</a:t>
                      </a:r>
                    </a:p>
                  </a:txBody>
                  <a:tcPr>
                    <a:solidFill>
                      <a:srgbClr val="003366"/>
                    </a:solidFill>
                  </a:tcPr>
                </a:tc>
                <a:tc>
                  <a:txBody>
                    <a:bodyPr wrap="square"/>
                    <a:lstStyle/>
                    <a:p>
                      <a:pPr>
                        <a:defRPr b="1" sz="900">
                          <a:solidFill>
                            <a:srgbClr val="FFFFFF"/>
                          </a:solidFill>
                        </a:defRPr>
                      </a:pPr>
                      <a:r>
                        <a:t>Turnaround time</a:t>
                      </a:r>
                    </a:p>
                  </a:txBody>
                  <a:tcPr>
                    <a:solidFill>
                      <a:srgbClr val="003366"/>
                    </a:solidFill>
                  </a:tcPr>
                </a:tc>
                <a:tc>
                  <a:txBody>
                    <a:bodyPr wrap="square"/>
                    <a:lstStyle/>
                    <a:p>
                      <a:pPr>
                        <a:defRPr b="1" sz="900">
                          <a:solidFill>
                            <a:srgbClr val="FFFFFF"/>
                          </a:solidFill>
                        </a:defRPr>
                      </a:pPr>
                      <a:r>
                        <a:t>Required volume yearly</a:t>
                      </a:r>
                    </a:p>
                  </a:txBody>
                  <a:tcPr>
                    <a:solidFill>
                      <a:srgbClr val="003366"/>
                    </a:solidFill>
                  </a:tcPr>
                </a:tc>
              </a:tr>
              <a:tr h="347980">
                <a:tc>
                  <a:txBody>
                    <a:bodyPr wrap="square" lIns="50800" rIns="50800" tIns="25400" bIns="25400"/>
                    <a:lstStyle/>
                    <a:p>
                      <a:pPr>
                        <a:defRPr sz="800">
                          <a:solidFill>
                            <a:srgbClr val="333333"/>
                          </a:solidFill>
                          <a:latin typeface="Calibri"/>
                        </a:defRPr>
                      </a:pPr>
                      <a:r>
                        <a:t>2311-PA-ID-02</a:t>
                      </a:r>
                    </a:p>
                  </a:txBody>
                  <a:tcPr/>
                </a:tc>
                <a:tc>
                  <a:txBody>
                    <a:bodyPr wrap="square" lIns="50800" rIns="50800" tIns="25400" bIns="25400"/>
                    <a:lstStyle/>
                    <a:p>
                      <a:pPr>
                        <a:defRPr sz="800">
                          <a:solidFill>
                            <a:srgbClr val="333333"/>
                          </a:solidFill>
                          <a:latin typeface="Calibri"/>
                        </a:defRPr>
                      </a:pPr>
                      <a:r>
                        <a:t>Redesign the current Brake Pedal Mounting Bracket used in MGI to a similar bracket used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113</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11,300,000</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2311-BA-ID-01</a:t>
                      </a:r>
                    </a:p>
                  </a:txBody>
                  <a:tcPr/>
                </a:tc>
                <a:tc>
                  <a:txBody>
                    <a:bodyPr wrap="square" lIns="50800" rIns="50800" tIns="25400" bIns="25400"/>
                    <a:lstStyle/>
                    <a:p>
                      <a:pPr>
                        <a:defRPr sz="800">
                          <a:solidFill>
                            <a:srgbClr val="333333"/>
                          </a:solidFill>
                          <a:latin typeface="Calibri"/>
                        </a:defRPr>
                      </a:pPr>
                      <a:r>
                        <a:t>The Brake Booster Plate in MGI could be integrated into the Dashboard BIW of the vehicle as done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47</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4,700,000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2311-PA-ID-01</a:t>
                      </a:r>
                    </a:p>
                  </a:txBody>
                  <a:tcPr/>
                </a:tc>
                <a:tc>
                  <a:txBody>
                    <a:bodyPr wrap="square" lIns="50800" rIns="50800" tIns="25400" bIns="25400"/>
                    <a:lstStyle/>
                    <a:p>
                      <a:pPr>
                        <a:defRPr sz="800">
                          <a:solidFill>
                            <a:srgbClr val="333333"/>
                          </a:solidFill>
                          <a:latin typeface="Calibri"/>
                        </a:defRPr>
                      </a:pPr>
                      <a:r>
                        <a:t>Remove the black paint coating on the Brake Pedal Mounting Bracket within MGI</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115</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11,500,000</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2311-SP-ID-01</a:t>
                      </a:r>
                    </a:p>
                  </a:txBody>
                  <a:tcPr/>
                </a:tc>
                <a:tc>
                  <a:txBody>
                    <a:bodyPr wrap="square" lIns="50800" rIns="50800" tIns="25400" bIns="25400"/>
                    <a:lstStyle/>
                    <a:p>
                      <a:pPr>
                        <a:defRPr sz="800">
                          <a:solidFill>
                            <a:srgbClr val="333333"/>
                          </a:solidFill>
                          <a:latin typeface="Calibri"/>
                        </a:defRPr>
                      </a:pPr>
                      <a:r>
                        <a:t>1. Reduce the overall wall thickness of the Brake Dust Cover Plates present on all four wheel hubs of the vehicles from 1mm to 0.8mm</a:t>
                      </a:r>
                      <a:br/>
                      <a:r>
                        <a:t>2. Reduce the paint coating thickness on each side of all four plates from 56 microns to 27.8 microns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57</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5,700,000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2311-BA-ID-02</a:t>
                      </a:r>
                    </a:p>
                  </a:txBody>
                  <a:tcPr/>
                </a:tc>
                <a:tc>
                  <a:txBody>
                    <a:bodyPr wrap="square" lIns="50800" rIns="50800" tIns="25400" bIns="25400"/>
                    <a:lstStyle/>
                    <a:p>
                      <a:pPr>
                        <a:defRPr sz="800">
                          <a:solidFill>
                            <a:srgbClr val="333333"/>
                          </a:solidFill>
                          <a:latin typeface="Calibri"/>
                        </a:defRPr>
                      </a:pPr>
                      <a:r>
                        <a:t>Remove the black paint coating from the Brake Caliper Mounting Brackets on all four brake assemblies of MGI, following the procedure used for the front brake caliper mounting brackets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102</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10,200,000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AI-GEN-01</a:t>
                      </a:r>
                    </a:p>
                  </a:txBody>
                  <a:tcPr/>
                </a:tc>
                <a:tc>
                  <a:txBody>
                    <a:bodyPr wrap="square" lIns="50800" rIns="50800" tIns="25400" bIns="25400"/>
                    <a:lstStyle/>
                    <a:p>
                      <a:pPr>
                        <a:defRPr sz="800">
                          <a:solidFill>
                            <a:srgbClr val="333333"/>
                          </a:solidFill>
                          <a:latin typeface="Calibri"/>
                        </a:defRPr>
                      </a:pPr>
                      <a:r>
                        <a:t>Replace the standard cast iron brake rotors on the front axle with a lighter, higher performance composite material rotor, potentially incorporating a vented design with optimized vane geometry.</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AI-GEN-02</a:t>
                      </a:r>
                    </a:p>
                  </a:txBody>
                  <a:tcPr/>
                </a:tc>
                <a:tc>
                  <a:txBody>
                    <a:bodyPr wrap="square" lIns="50800" rIns="50800" tIns="25400" bIns="25400"/>
                    <a:lstStyle/>
                    <a:p>
                      <a:pPr>
                        <a:defRPr sz="800">
                          <a:solidFill>
                            <a:srgbClr val="333333"/>
                          </a:solidFill>
                          <a:latin typeface="Calibri"/>
                        </a:defRPr>
                      </a:pPr>
                      <a:r>
                        <a:t>Optimize the dust shield gauge for the rear brake assemblies, reducing material thickness from 1.2mm to 1.0mm while maintaining structural rigidity and corrosion resistance through material selection (e.g., higher strength steel).</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AI-GEN-03</a:t>
                      </a:r>
                    </a:p>
                  </a:txBody>
                  <a:tcPr/>
                </a:tc>
                <a:tc>
                  <a:txBody>
                    <a:bodyPr wrap="square" lIns="50800" rIns="50800" tIns="25400" bIns="25400"/>
                    <a:lstStyle/>
                    <a:p>
                      <a:pPr>
                        <a:defRPr sz="800">
                          <a:solidFill>
                            <a:srgbClr val="333333"/>
                          </a:solidFill>
                          <a:latin typeface="Calibri"/>
                        </a:defRPr>
                      </a:pPr>
                      <a:r>
                        <a:t>Substitute the current caliper piston material (e.g., steel) for a lighter, corrosion-resistant aluminum alloy, while ensuring thermal management and sealing integrity.</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AI-GEN-09</a:t>
                      </a:r>
                    </a:p>
                  </a:txBody>
                  <a:tcPr/>
                </a:tc>
                <a:tc>
                  <a:txBody>
                    <a:bodyPr wrap="square" lIns="50800" rIns="50800" tIns="25400" bIns="25400"/>
                    <a:lstStyle/>
                    <a:p>
                      <a:pPr>
                        <a:defRPr sz="800">
                          <a:solidFill>
                            <a:srgbClr val="333333"/>
                          </a:solidFill>
                          <a:latin typeface="Calibri"/>
                        </a:defRPr>
                      </a:pPr>
                      <a:r>
                        <a:t>Reduce the weight of the brake pedal lever arm by optimizing its internal structure and potentially using a higher strength steel, allowing for a reduction in material volume.</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AI-GEN-10</a:t>
                      </a:r>
                    </a:p>
                  </a:txBody>
                  <a:tcPr/>
                </a:tc>
                <a:tc>
                  <a:txBody>
                    <a:bodyPr wrap="square" lIns="50800" rIns="50800" tIns="25400" bIns="25400"/>
                    <a:lstStyle/>
                    <a:p>
                      <a:pPr>
                        <a:defRPr sz="800">
                          <a:solidFill>
                            <a:srgbClr val="333333"/>
                          </a:solidFill>
                          <a:latin typeface="Calibri"/>
                        </a:defRPr>
                      </a:pPr>
                      <a:r>
                        <a:t>Substitute the current brake caliper guide pins and bushings with a self-lubricating composite material, eliminating the need for grease and reducing part complexity.</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AI-GEN-11</a:t>
                      </a:r>
                    </a:p>
                  </a:txBody>
                  <a:tcPr/>
                </a:tc>
                <a:tc>
                  <a:txBody>
                    <a:bodyPr wrap="square" lIns="50800" rIns="50800" tIns="25400" bIns="25400"/>
                    <a:lstStyle/>
                    <a:p>
                      <a:pPr>
                        <a:defRPr sz="800">
                          <a:solidFill>
                            <a:srgbClr val="333333"/>
                          </a:solidFill>
                          <a:latin typeface="Calibri"/>
                        </a:defRPr>
                      </a:pPr>
                      <a:r>
                        <a:t>Reduce the brake caliper housing wall thickness by 0.5mm through precise casting and advanced alloy selection, ensuring sufficient strength and thermal dissipation.</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AI-GEN-05</a:t>
                      </a:r>
                    </a:p>
                  </a:txBody>
                  <a:tcPr/>
                </a:tc>
                <a:tc>
                  <a:txBody>
                    <a:bodyPr wrap="square" lIns="50800" rIns="50800" tIns="25400" bIns="25400"/>
                    <a:lstStyle/>
                    <a:p>
                      <a:pPr>
                        <a:defRPr sz="800">
                          <a:solidFill>
                            <a:srgbClr val="333333"/>
                          </a:solidFill>
                          <a:latin typeface="Calibri"/>
                        </a:defRPr>
                      </a:pPr>
                      <a:r>
                        <a:t>Optimize the brake pad friction material formulation to achieve equivalent stopping performance with reduced wear rate, potentially allowing for a slightly thinner pad material initially, thereby reducing material cost per pad.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Needs Human Review</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AI-GEN-06</a:t>
                      </a:r>
                    </a:p>
                  </a:txBody>
                  <a:tcPr/>
                </a:tc>
                <a:tc>
                  <a:txBody>
                    <a:bodyPr wrap="square" lIns="50800" rIns="50800" tIns="25400" bIns="25400"/>
                    <a:lstStyle/>
                    <a:p>
                      <a:pPr>
                        <a:defRPr sz="800">
                          <a:solidFill>
                            <a:srgbClr val="333333"/>
                          </a:solidFill>
                          <a:latin typeface="Calibri"/>
                        </a:defRPr>
                      </a:pPr>
                      <a:r>
                        <a:t>Implement a standard, lower-cost E-coat or powder coating for the brake caliper housing, replacing a more expensive paint finish, provided it meets corrosion and thermal resistance requirements.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Needs Human Review</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Value Engineering for Rotor Thickness Optimization: Investigate the potential to reduce the thickness of the MG Hector's brake rotors without compromising thermal mass and fade resistance. This can be achieved through advanced simulation (FEA) to understand stress distribution and heat dissipation under various load conditions, coupled with material characterization to identify high-performance alloys with improved thermal conductivity. The focus will be on optimizing the rotor's structural integrity and heat dissipation capabilities, potentially allowing for a slight reduction in material without impacting performance or safety regulations (FMVSS 105, ECE R13).</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Caliper Material Substitution with Magnesium Alloys: Explore the feasibility of replacing traditional cast iron or aluminum calipers with lightweight magnesium alloys for the MG Hector. This aligns with industry trends in lightweighting [Source: Automotive Brake System Market Size &amp; Share Report 2031]. The proposed research would involve material characterization of specific magnesium alloys (e.g., AZ91, AM60) for their suitability in high-temperature, high-stress brake caliper applications, focusing on their strength, fatigue life, and corrosion resistance. Design modifications to account for magnesium's unique properties and manufacturing processes would be crucial. This addresses the 'Caliper material' component focus and contributes to weight reduction for the 1.7T vehicle.</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Industry Trend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Optimized Dust Shield Design for Enhanced Cooling and Durability: Investigate the design of the dust shield for the MG Hector's brake assembly, aiming to improve airflow for better rotor cooling and reduce the gauge of the material used for cost and weight savings. This involves computational fluid dynamics (CFD) to analyze air circulation patterns around the brake assembly and finite element analysis (FEA) to optimize the structural integrity of a thinner dust shield. The goal is to maintain or improve thermal performance while using less material, addressing the 'Dust shield gauge' component focus and the 'High Kinetic Energy' constraint by aiding heat dissipation.</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Electrically Actuated Parking Brake (EPB) Integration with Existing Rear Drum Brakes: While the constraint is 'No Rear IRS changes,' this proposal focuses on integrating an EPB system with the existing rear drum brake setup of the MG Hector, rather than a complete redesign of the rear axle. The objective is to leverage the cost-effectiveness of drum brakes while introducing modern EPB functionality. This requires developing a specialized EPB actuator that can effectively engage the drum brake mechanism. Research will focus on the actuation force, reliability, and integration complexity, ensuring compliance with FMVSS 105 and ECE R13. This indirectly addresses potential cost reduction through modular integration rather than full IRS overhaul.</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bl>
          </a:graphicData>
        </a:graphic>
      </p:graphicFrame>
      <p:sp>
        <p:nvSpPr>
          <p:cNvPr id="3" name="TextBox 2"/>
          <p:cNvSpPr txBox="1"/>
          <p:nvPr/>
        </p:nvSpPr>
        <p:spPr>
          <a:xfrm>
            <a:off x="365760" y="45720"/>
            <a:ext cx="11460175" cy="320040"/>
          </a:xfrm>
          <a:prstGeom prst="rect">
            <a:avLst/>
          </a:prstGeom>
          <a:noFill/>
        </p:spPr>
        <p:txBody>
          <a:bodyPr wrap="square">
            <a:spAutoFit/>
          </a:bodyPr>
          <a:lstStyle/>
          <a:p>
            <a:pPr>
              <a:defRPr sz="1800" b="1">
                <a:solidFill>
                  <a:srgbClr val="003366"/>
                </a:solidFill>
              </a:defRPr>
            </a:pPr>
            <a:r>
              <a:t>Summary of ideas generated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 Redesign the current Brake Pedal Mounting Bracket used in MGI to a similar bracket used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Redesign the current Brake Pedal Mounting Bracket used in MGI to a similar bracket used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113</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3.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designthecu_1770097110765.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#2: The Brake Booster Plate in MGI could be integrated into the Dashboard BIW of the vehicle as done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The Brake Booster Plate in MGI could be integrated into the Dashboard BIW of the vehicle as done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47</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1.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TheBrakeBoost_1770097110964.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#3: Remove the black paint coating on the Brake Pedal Mounting Bracket within MGI</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Remove the black paint coating on the Brake Pedal Mounting Bracket within MGI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115</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2.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movetheblac_1770097111102.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#4: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1. Reduce the overall wall thickness of the Brake Dust Cover Plates present on all four wheel hubs of the vehicles from 1mm to 0.8mm</a:t>
            </a:r>
            <a:br>
              <a:rPr sz="1000" b="0" i="0">
                <a:latin typeface="Calibri"/>
              </a:rPr>
            </a:br>
            <a:r>
              <a:rPr sz="1000" b="0" i="0">
                <a:latin typeface="Calibri"/>
              </a:rPr>
              <a:t>2. Reduce the paint coating thickness on each side of all four plates from 56 microns to 27.8 microns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1mm to 0.8mm</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57</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5.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1Reducetheo_1770097111416.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#5: Remove the black paint coating from the Brake Caliper Mounting Brackets on all four brake assemblies of MGI, following the procedure used for the front brake caliper mounting brackets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Remove the black paint coating from the Brake Caliper Mounting Brackets on all four brake assemblies of MGI, following the procedure used for the front brake caliper mounting brackets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102</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2.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movetheblac_1770097111692.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#6: Replace the standard cast iron brake rotors on the front axle with a lighter, higher performance composite material rotor, potentially incorporating a vented design with optimized vane geometry.</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Replace the standard cast iron brake rotors on the front axle with a lighter, higher performance composite material rotor, potentially incorporating a vented design with optimized vane geometry.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Replace the standard cast iron brake rotors on the front axle with a lighter, higher performance com</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placethesta_1770097111925.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#7: Optimize the dust shield gauge for the rear brake assemblies, reducing material thickness from 1.2mm to 1.0mm while maintaining structural rigidity and corrosion resistance through material selection (e.g., higher strength steel).</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Optimize the dust shield gauge for the rear brake assemblies, reducing material thickness from 1.2mm to 1.0mm while maintaining structural rigidity and corrosion resistance through material selection (e.g., higher strength steel).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Optimize the dust shield gauge for the rear brake assemblies, reducing material thickness from 1</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1.2mm to 1.0mm</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5.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Optimizethedu_1770097112156.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#8: Substitute the current caliper piston material (e.g., steel) for a lighter, corrosion-resistant aluminum alloy, while ensuring thermal management and sealing integrity.</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Substitute the current caliper piston material (e.g., steel) for a lighter, corrosion-resistant aluminum alloy, while ensuring thermal management and sealing integrity.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Substitute the current caliper piston material (e</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49.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Substitutethe_1770097112280.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#9: Reduce the weight of the brake pedal lever arm by optimizing its internal structure and potentially using a higher strength steel, allowing for a reduction in material volume.</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weight of the brake pedal lever arm by optimizing its internal structure and potentially using a higher strength steel, allowing for a reduction in material volume.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Reduce the weight of the brake pedal lever arm by optimizing its internal structure and potentially</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61.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ducetheweig_1770097112501.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#10: Substitute the current brake caliper guide pins and bushings with a self-lubricating composite material, eliminating the need for grease and reducing part complexity.</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Substitute the current brake caliper guide pins and bushings with a self-lubricating composite material, eliminating the need for grease and reducing part complexity.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Substitute the current brake caliper guide pins and bushings with a self-lubricating composite mater</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72.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Substitutethe_1770097112762.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#11: Reduce the brake caliper housing wall thickness by 0.5mm through precise casting and advanced alloy selection, ensuring sufficient strength and thermal dissipation.</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brake caliper housing wall thickness by 0.5mm through precise casting and advanced alloy selection, ensuring sufficient strength and thermal dissipation.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41.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ducethebrak_1770097112934.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#12: Optimize the brake pad friction material formulation to achieve equivalent stopping performance with reduced wear rate, potentially allowing for a slightly thinner pad material initially, thereby reducing material cost per pad.</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Optimize the brake pad friction material formulation to achieve equivalent stopping performance with reduced wear rate, potentially allowing for a slightly thinner pad material initially, thereby reducing material cost per pad.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Optimize the brake pad friction material formulation to achieve equivalent stopping performance with</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035040" y="1143000"/>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#13: Implement a standard, lower-cost E-coat or powder coating for the brake caliper housing, replacing a more expensive paint finish, provided it meets corrosion and thermal resistance requirements.</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Implement a standard, lower-cost E-coat or powder coating for the brake caliper housing, replacing a more expensive paint finish, provided it meets corrosion and thermal resistance requirements.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0.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Implementasta_1770097118822.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#14: Value Engineering for Rotor Thickness Optimization: Investigate the potential to reduce the thickness of the MG Hector's brake rotors without compromising thermal mass and fade resistance. This can be achieved through advanced simulation (FEA) to understand stress distribution and heat dissipation under various load conditions, coupled with material characterization to identify high-performance alloys with improved thermal conductivity. The focus will be on optimizing the rotor's structural integrity and heat dissipation capabilities, potentially allowing for a slight reduction in material without impacting performance or safety regulations (FMVSS 105, ECE R13).</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Value Engineering for Rotor Thickness Optimization: Investigate the potential to reduce the thickness of the MG Hector's brake rotors without compromising thermal mass and fade resistance. This can be achieved through advanced simulation (FEA) to understand stress distribution and heat dissipation under various load conditions, coupled with material characterization to identify high-performance alloys with improved thermal conductivity. The focus will be on optimizin...</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This can be achieved through advanced simulation (FEA) to understand stress distribution and heat di</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76.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ValueEngineeri_1770097119096.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#15: Caliper Material Substitution with Magnesium Alloys: Explore the feasibility of replacing traditional cast iron or aluminum calipers with lightweight magnesium alloys for the MG Hector. This aligns with industry trends in lightweighting [Source: Automotive Brake System Market Size &amp; Share Report 2031]. The proposed research would involve material characterization of specific magnesium alloys (e.g., AZ91, AM60) for their suitability in high-temperature, high-stress brake caliper applications, focusing on their strength, fatigue life, and corrosion resistance. Design modifications to account for magnesium's unique properties and manufacturing processes would be crucial. This addresses the 'Caliper material' component focus and contributes to weight reduction for the 1.7T vehicle.</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Caliper Material Substitution with Magnesium Alloys: Explore the feasibility of replacing traditional cast iron or aluminum calipers with lightweight magnesium alloys for the MG Hector. This aligns with industry trends in lightweighting [Source: Automotive Brake System Market Size &amp; Share Report 2031]. The proposed research would involve material characterization of specific magnesium alloys (e.g., AZ91, AM60) for their suitability in high-temperature, high-stress br...</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Caliper Material Substitution with Magnesium Alloys: Explore the feasibility of replacing traditiona</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07.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CaliperMateria_1770097119331.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#16: Optimized Dust Shield Design for Enhanced Cooling and Durability: Investigate the design of the dust shield for the MG Hector's brake assembly, aiming to improve airflow for better rotor cooling and reduce the gauge of the material used for cost and weight savings. This involves computational fluid dynamics (CFD) to analyze air circulation patterns around the brake assembly and finite element analysis (FEA) to optimize the structural integrity of a thinner dust shield. The goal is to maintain or improve thermal performance while using less material, addressing the 'Dust shield gauge' component focus and the 'High Kinetic Energy' constraint by aiding heat dissipation.</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Optimized Dust Shield Design for Enhanced Cooling and Durability: Investigate the design of the dust shield for the MG Hector's brake assembly, aiming to improve airflow for better rotor cooling and reduce the gauge of the material used for cost and weight savings. This involves computational fluid dynamics (CFD) to analyze air circulation patterns around the brake assembly and finite element analysis (FEA) to optimize the structural integrity of a thinner dust shiel...</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Optimized Dust Shield Design for Enhanced Cooling and Durability: Investigate the design of the dust</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18.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OptimizedDust_1770097119619.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#17: Electrically Actuated Parking Brake (EPB) Integration with Existing Rear Drum Brakes: While the constraint is 'No Rear IRS changes,' this proposal focuses on integrating an EPB system with the existing rear drum brake setup of the MG Hector, rather than a complete redesign of the rear axle. The objective is to leverage the cost-effectiveness of drum brakes while introducing modern EPB functionality. This requires developing a specialized EPB actuator that can effectively engage the drum brake mechanism. Research will focus on the actuation force, reliability, and integration complexity, ensuring compliance with FMVSS 105 and ECE R13. This indirectly addresses potential cost reduction through modular integration rather than full IRS overhaul.</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Electrically Actuated Parking Brake (EPB) Integration with Existing Rear Drum Brakes: While the constraint is 'No Rear IRS changes,' this proposal focuses on integrating an EPB system with the existing rear drum brake setup of the MG Hector, rather than a complete redesign of the rear axle. The objective is to leverage the cost-effectiveness of drum brakes while introducing modern EPB functionality. This requires developing a specialized EPB actuator that can effecti...</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48.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ElectricallyAc_1770097119849.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
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a:solidFill>
                  <a:srgbClr val="003366"/>
                </a:solidFill>
              </a:defRPr>
            </a:pPr>
            <a:r>
              <a:t>VAVE Cost Reduction Strategy</a:t>
            </a:r>
          </a:p>
        </p:txBody>
      </p:sp>
      <p:sp>
        <p:nvSpPr>
          <p:cNvPr id="3" name="Subtitle 2"/>
          <p:cNvSpPr>
            <a:spLocks noGrp="1"/>
          </p:cNvSpPr>
          <p:nvPr>
            <p:ph type="subTitle" idx="1"/>
          </p:nvPr>
        </p:nvSpPr>
        <p:spPr/>
        <p:txBody>
          <a:bodyPr wrap="square"/>
          <a:lstStyle/>
          <a:p>
            <a:r>
              <a:t>Detailed Engineering Feasibility Report | 02-Feb-2026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365760" y="411480"/>
          <a:ext cx="11460175" cy="6263640"/>
        </p:xfrm>
        <a:graphic>
          <a:graphicData uri="http://schemas.openxmlformats.org/drawingml/2006/table">
            <a:tbl>
              <a:tblPr firstRow="1" bandRow="1">
                <a:tableStyleId>{5C22544A-7EE6-4342-B048-85BDC9FD1C3A}</a:tableStyleId>
              </a:tblPr>
              <a:tblGrid>
                <a:gridCol w="1273352"/>
                <a:gridCol w="1273352"/>
                <a:gridCol w="1273352"/>
                <a:gridCol w="1273352"/>
                <a:gridCol w="1273352"/>
                <a:gridCol w="1273352"/>
                <a:gridCol w="1273352"/>
                <a:gridCol w="1273352"/>
                <a:gridCol w="1273359"/>
              </a:tblGrid>
              <a:tr h="626364">
                <a:tc>
                  <a:txBody>
                    <a:bodyPr wrap="square"/>
                    <a:lstStyle/>
                    <a:p>
                      <a:pPr>
                        <a:defRPr b="1" sz="900">
                          <a:solidFill>
                            <a:srgbClr val="FFFFFF"/>
                          </a:solidFill>
                        </a:defRPr>
                      </a:pPr>
                      <a:r>
                        <a:t>Idea 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 Investment</a:t>
                      </a:r>
                    </a:p>
                  </a:txBody>
                  <a:tcPr>
                    <a:solidFill>
                      <a:srgbClr val="003366"/>
                    </a:solidFill>
                  </a:tcPr>
                </a:tc>
                <a:tc>
                  <a:txBody>
                    <a:bodyPr wrap="square"/>
                    <a:lstStyle/>
                    <a:p>
                      <a:pPr>
                        <a:defRPr b="1" sz="900">
                          <a:solidFill>
                            <a:srgbClr val="FFFFFF"/>
                          </a:solidFill>
                        </a:defRPr>
                      </a:pPr>
                      <a:r>
                        <a:t>Saving</a:t>
                      </a:r>
                    </a:p>
                  </a:txBody>
                  <a:tcPr>
                    <a:solidFill>
                      <a:srgbClr val="003366"/>
                    </a:solidFill>
                  </a:tcPr>
                </a:tc>
                <a:tc>
                  <a:txBody>
                    <a:bodyPr wrap="square"/>
                    <a:lstStyle/>
                    <a:p>
                      <a:pPr>
                        <a:defRPr b="1" sz="900">
                          <a:solidFill>
                            <a:srgbClr val="FFFFFF"/>
                          </a:solidFill>
                        </a:defRPr>
                      </a:pPr>
                      <a:r>
                        <a:t>Yearly volume (per 1 lakh)</a:t>
                      </a:r>
                    </a:p>
                  </a:txBody>
                  <a:tcPr>
                    <a:solidFill>
                      <a:srgbClr val="003366"/>
                    </a:solidFill>
                  </a:tcPr>
                </a:tc>
                <a:tc>
                  <a:txBody>
                    <a:bodyPr wrap="square"/>
                    <a:lstStyle/>
                    <a:p>
                      <a:pPr>
                        <a:defRPr b="1" sz="900">
                          <a:solidFill>
                            <a:srgbClr val="FFFFFF"/>
                          </a:solidFill>
                        </a:defRPr>
                      </a:pPr>
                      <a:r>
                        <a:t>Saving overall (Saving × Volume)</a:t>
                      </a:r>
                    </a:p>
                  </a:txBody>
                  <a:tcPr>
                    <a:solidFill>
                      <a:srgbClr val="003366"/>
                    </a:solidFill>
                  </a:tcPr>
                </a:tc>
                <a:tc>
                  <a:txBody>
                    <a:bodyPr wrap="square"/>
                    <a:lstStyle/>
                    <a:p>
                      <a:pPr>
                        <a:defRPr b="1" sz="900">
                          <a:solidFill>
                            <a:srgbClr val="FFFFFF"/>
                          </a:solidFill>
                        </a:defRPr>
                      </a:pPr>
                      <a:r>
                        <a:t>Status (Accept/Reject)</a:t>
                      </a:r>
                    </a:p>
                  </a:txBody>
                  <a:tcPr>
                    <a:solidFill>
                      <a:srgbClr val="003366"/>
                    </a:solidFill>
                  </a:tcPr>
                </a:tc>
                <a:tc>
                  <a:txBody>
                    <a:bodyPr wrap="square"/>
                    <a:lstStyle/>
                    <a:p>
                      <a:pPr>
                        <a:defRPr b="1" sz="900">
                          <a:solidFill>
                            <a:srgbClr val="FFFFFF"/>
                          </a:solidFill>
                        </a:defRPr>
                      </a:pPr>
                      <a:r>
                        <a:t>Turnaround time</a:t>
                      </a:r>
                    </a:p>
                  </a:txBody>
                  <a:tcPr>
                    <a:solidFill>
                      <a:srgbClr val="003366"/>
                    </a:solidFill>
                  </a:tcPr>
                </a:tc>
                <a:tc>
                  <a:txBody>
                    <a:bodyPr wrap="square"/>
                    <a:lstStyle/>
                    <a:p>
                      <a:pPr>
                        <a:defRPr b="1" sz="900">
                          <a:solidFill>
                            <a:srgbClr val="FFFFFF"/>
                          </a:solidFill>
                        </a:defRPr>
                      </a:pPr>
                      <a:r>
                        <a:t>Required volume yearly</a:t>
                      </a:r>
                    </a:p>
                  </a:txBody>
                  <a:tcPr>
                    <a:solidFill>
                      <a:srgbClr val="003366"/>
                    </a:solidFill>
                  </a:tcPr>
                </a:tc>
              </a:tr>
              <a:tr h="626364">
                <a:tc>
                  <a:txBody>
                    <a:bodyPr wrap="square" lIns="50800" rIns="50800" tIns="25400" bIns="25400"/>
                    <a:lstStyle/>
                    <a:p>
                      <a:pPr>
                        <a:defRPr sz="800">
                          <a:solidFill>
                            <a:srgbClr val="333333"/>
                          </a:solidFill>
                          <a:latin typeface="Calibri"/>
                        </a:defRPr>
                      </a:pPr>
                      <a:r>
                        <a:t>2311-PA-ID-02</a:t>
                      </a:r>
                    </a:p>
                  </a:txBody>
                  <a:tcPr/>
                </a:tc>
                <a:tc>
                  <a:txBody>
                    <a:bodyPr wrap="square" lIns="50800" rIns="50800" tIns="25400" bIns="25400"/>
                    <a:lstStyle/>
                    <a:p>
                      <a:pPr>
                        <a:defRPr sz="800">
                          <a:solidFill>
                            <a:srgbClr val="333333"/>
                          </a:solidFill>
                          <a:latin typeface="Calibri"/>
                        </a:defRPr>
                      </a:pPr>
                      <a:r>
                        <a:t>Redesign the current Brake Pedal Mounting Bracket used in MGI to a similar bracket used in KIA.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113</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11,300,000</a:t>
                      </a: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626364">
                <a:tc>
                  <a:txBody>
                    <a:bodyPr wrap="square" lIns="50800" rIns="50800" tIns="25400" bIns="25400"/>
                    <a:lstStyle/>
                    <a:p>
                      <a:pPr>
                        <a:defRPr sz="800">
                          <a:solidFill>
                            <a:srgbClr val="333333"/>
                          </a:solidFill>
                          <a:latin typeface="Calibri"/>
                        </a:defRPr>
                      </a:pPr>
                      <a:r>
                        <a:t>2311-BA-ID-01</a:t>
                      </a:r>
                    </a:p>
                  </a:txBody>
                  <a:tcPr/>
                </a:tc>
                <a:tc>
                  <a:txBody>
                    <a:bodyPr wrap="square" lIns="50800" rIns="50800" tIns="25400" bIns="25400"/>
                    <a:lstStyle/>
                    <a:p>
                      <a:pPr>
                        <a:defRPr sz="800">
                          <a:solidFill>
                            <a:srgbClr val="333333"/>
                          </a:solidFill>
                          <a:latin typeface="Calibri"/>
                        </a:defRPr>
                      </a:pPr>
                      <a:r>
                        <a:t>The Brake Booster Plate in MGI could be integrated into the Dashboard BIW of the vehicle as done in KIA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47</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4,700,000</a:t>
                      </a:r>
                    </a:p>
                  </a:txBody>
                  <a:tcPr/>
                </a:tc>
                <a:tc>
                  <a:txBody>
                    <a:bodyPr wrap="square" lIns="50800" rIns="50800" tIns="25400" bIns="25400"/>
                    <a:lstStyle/>
                    <a:p>
                      <a:pPr>
                        <a:defRPr sz="800">
                          <a:solidFill>
                            <a:srgbClr val="333333"/>
                          </a:solidFill>
                          <a:latin typeface="Calibri"/>
                        </a:defRPr>
                      </a:pPr>
                      <a:r>
                        <a:t>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626364">
                <a:tc>
                  <a:txBody>
                    <a:bodyPr wrap="square" lIns="50800" rIns="50800" tIns="25400" bIns="25400"/>
                    <a:lstStyle/>
                    <a:p>
                      <a:pPr>
                        <a:defRPr sz="800">
                          <a:solidFill>
                            <a:srgbClr val="333333"/>
                          </a:solidFill>
                          <a:latin typeface="Calibri"/>
                        </a:defRPr>
                      </a:pPr>
                      <a:r>
                        <a:t>2311-PA-ID-01</a:t>
                      </a:r>
                    </a:p>
                  </a:txBody>
                  <a:tcPr/>
                </a:tc>
                <a:tc>
                  <a:txBody>
                    <a:bodyPr wrap="square" lIns="50800" rIns="50800" tIns="25400" bIns="25400"/>
                    <a:lstStyle/>
                    <a:p>
                      <a:pPr>
                        <a:defRPr sz="800">
                          <a:solidFill>
                            <a:srgbClr val="333333"/>
                          </a:solidFill>
                          <a:latin typeface="Calibri"/>
                        </a:defRPr>
                      </a:pPr>
                      <a:r>
                        <a:t>Remove the black paint coating on the Brake Pedal Mounting Bracket within MGI</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115</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11,500,000</a:t>
                      </a: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626364">
                <a:tc>
                  <a:txBody>
                    <a:bodyPr wrap="square" lIns="50800" rIns="50800" tIns="25400" bIns="25400"/>
                    <a:lstStyle/>
                    <a:p>
                      <a:pPr>
                        <a:defRPr sz="800">
                          <a:solidFill>
                            <a:srgbClr val="333333"/>
                          </a:solidFill>
                          <a:latin typeface="Calibri"/>
                        </a:defRPr>
                      </a:pPr>
                      <a:r>
                        <a:t>2311-SP-ID-01</a:t>
                      </a:r>
                    </a:p>
                  </a:txBody>
                  <a:tcPr/>
                </a:tc>
                <a:tc>
                  <a:txBody>
                    <a:bodyPr wrap="square" lIns="50800" rIns="50800" tIns="25400" bIns="25400"/>
                    <a:lstStyle/>
                    <a:p>
                      <a:pPr>
                        <a:defRPr sz="800">
                          <a:solidFill>
                            <a:srgbClr val="333333"/>
                          </a:solidFill>
                          <a:latin typeface="Calibri"/>
                        </a:defRPr>
                      </a:pPr>
                      <a:r>
                        <a:t>1. Reduce the overall wall thickness of the Brake Dust Cover Plates present on all four wheel hubs of the vehicles from 1mm to 0.8mm</a:t>
                      </a:r>
                      <a:br/>
                      <a:r>
                        <a:t>2. Reduce the paint coating thickness on each side of all four plates from 56 microns to 27.8 microns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57</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5,700,000</a:t>
                      </a:r>
                    </a:p>
                  </a:txBody>
                  <a:tcPr/>
                </a:tc>
                <a:tc>
                  <a:txBody>
                    <a:bodyPr wrap="square" lIns="50800" rIns="50800" tIns="25400" bIns="25400"/>
                    <a:lstStyle/>
                    <a:p>
                      <a:pPr>
                        <a:defRPr sz="800">
                          <a:solidFill>
                            <a:srgbClr val="333333"/>
                          </a:solidFill>
                          <a:latin typeface="Calibri"/>
                        </a:defRPr>
                      </a:pPr>
                      <a:r>
                        <a:t>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626364">
                <a:tc>
                  <a:txBody>
                    <a:bodyPr wrap="square" lIns="50800" rIns="50800" tIns="25400" bIns="25400"/>
                    <a:lstStyle/>
                    <a:p>
                      <a:pPr>
                        <a:defRPr sz="800">
                          <a:solidFill>
                            <a:srgbClr val="333333"/>
                          </a:solidFill>
                          <a:latin typeface="Calibri"/>
                        </a:defRPr>
                      </a:pPr>
                      <a:r>
                        <a:t>2311-BA-ID-02</a:t>
                      </a:r>
                    </a:p>
                  </a:txBody>
                  <a:tcPr/>
                </a:tc>
                <a:tc>
                  <a:txBody>
                    <a:bodyPr wrap="square" lIns="50800" rIns="50800" tIns="25400" bIns="25400"/>
                    <a:lstStyle/>
                    <a:p>
                      <a:pPr>
                        <a:defRPr sz="800">
                          <a:solidFill>
                            <a:srgbClr val="333333"/>
                          </a:solidFill>
                          <a:latin typeface="Calibri"/>
                        </a:defRPr>
                      </a:pPr>
                      <a:r>
                        <a:t>Remove the black paint coating from the Brake Caliper Mounting Brackets on all four brake assemblies of MGI, following the procedure used for the front brake caliper mounting brackets in KIA.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102</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10,200,000</a:t>
                      </a:r>
                    </a:p>
                  </a:txBody>
                  <a:tcPr/>
                </a:tc>
                <a:tc>
                  <a:txBody>
                    <a:bodyPr wrap="square" lIns="50800" rIns="50800" tIns="25400" bIns="25400"/>
                    <a:lstStyle/>
                    <a:p>
                      <a:pPr>
                        <a:defRPr sz="800">
                          <a:solidFill>
                            <a:srgbClr val="333333"/>
                          </a:solidFill>
                          <a:latin typeface="Calibri"/>
                        </a:defRPr>
                      </a:pPr>
                      <a:r>
                        <a:t>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626364">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Investigate the use of advanced friction materials with higher thermal stability and consistent friction coefficient across a wider temperature range for the MG Hector's brake pads. This aims to improve fade resistance and potentially allow for slightly thinner pads without compromising performance, contributing to weight reduction and cost savings. Focus on materials that offer good performance with existing rotor specifications to minimize tooling CAPEX.</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626364">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Explore the optimization of the dust shield gauge and material for the MG Hector's brake system. While not directly impacting thermal mass or friction coefficient, a lighter yet robust dust shield can contribute to overall vehicle weight reduction. Investigate high-strength steel alloys or advanced polymer composites that meet structural integrity and corrosion resistance requirements while offering a cost-effective solution and potentially simplifying manufacturing processes, aligning with limited tooling CAPEX.</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Industry Trend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626364">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Evaluate the feasibility of using a single-piece cast iron brake rotor with enhanced internal cooling channels for the MG Hector. This approach aims to improve thermal management and fade resistance without necessitating a change in caliper material or IRS. The design would focus on maximizing thermal mass and heat dissipation through optimized channel geometry, potentially allowing for a slightly reduced rotor diameter or thickness while maintaining performance, thus contributing to weight and cost reduction within tooling CAPEX constraints.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626364">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Explore the application of a high-performance, cost-effective caliper material such as a reinforced aluminum alloy or a specialized cast iron for the MG Hector's braking system. The goal is to achieve a balance between thermal conductivity, stiffness, and manufacturing cost. While avoiding complex IRS modifications, this could allow for a slightly more compact caliper design or improved heat dissipation from the caliper body itself, contributing to overall system efficiency and potentially minor weight savings, while respecting tooling CAPEX limitations.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bl>
          </a:graphicData>
        </a:graphic>
      </p:graphicFrame>
      <p:sp>
        <p:nvSpPr>
          <p:cNvPr id="3" name="TextBox 2"/>
          <p:cNvSpPr txBox="1"/>
          <p:nvPr/>
        </p:nvSpPr>
        <p:spPr>
          <a:xfrm>
            <a:off x="365760" y="45720"/>
            <a:ext cx="11460175" cy="320040"/>
          </a:xfrm>
          <a:prstGeom prst="rect">
            <a:avLst/>
          </a:prstGeom>
          <a:noFill/>
        </p:spPr>
        <p:txBody>
          <a:bodyPr wrap="square">
            <a:spAutoFit/>
          </a:bodyPr>
          <a:lstStyle/>
          <a:p>
            <a:pPr>
              <a:defRPr sz="1800" b="1">
                <a:solidFill>
                  <a:srgbClr val="003366"/>
                </a:solidFill>
              </a:defRPr>
            </a:pPr>
            <a:r>
              <a:t>Summary of ideas generated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#1: Redesign the current Brake Pedal Mounting Bracket used in MGI to a similar bracket used in KIA.</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Redesign the current Brake Pedal Mounting Bracket used in MGI to a similar bracket used in KIA.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113</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3.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designthecu_1770026567173.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#2: The Brake Booster Plate in MGI could be integrated into the Dashboard BIW of the vehicle as done in KIA</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The Brake Booster Plate in MGI could be integrated into the Dashboard BIW of the vehicle as done in KIA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47</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1.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TheBrakeBoost_1770026567460.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#3: Remove the black paint coating on the Brake Pedal Mounting Bracket within MGI</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Remove the black paint coating on the Brake Pedal Mounting Bracket within MGI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115</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2.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movetheblac_1770026567601.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#4: 1. Reduce the overall wall thickness of the Brake Dust Cover Plates present on all four wheel hubs of the vehicles from 1mm to 0.8mm</a:t>
            </a:r>
            <a:br/>
            <a:r>
              <a:t>2. Reduce the paint coating thickness on each side of all four plates from 56 microns to 27.8 microns</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1. Reduce the overall wall thickness of the Brake Dust Cover Plates present on all four wheel hubs of the vehicles from 1mm to 0.8mm</a:t>
            </a:r>
            <a:br>
              <a:rPr sz="1000" b="0" i="0">
                <a:latin typeface="Calibri"/>
              </a:rPr>
            </a:br>
            <a:r>
              <a:rPr sz="1000" b="0" i="0">
                <a:latin typeface="Calibri"/>
              </a:rPr>
              <a:t>2. Reduce the paint coating thickness on each side of all four plates from 56 microns to 27.8 microns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1mm to 0.8mm</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57</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5.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1Reducetheo_1770026567845.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#5: Remove the black paint coating from the Brake Caliper Mounting Brackets on all four brake assemblies of MGI, following the procedure used for the front brake caliper mounting brackets in KIA.</a:t>
            </a:r>
          </a:p>
        </p:txBody>
      </p:sp>
      <p:sp>
        <p:nvSpPr>
          <p:cNvPr id="3" name="TextBox 2"/>
          <p:cNvSpPr txBox="1"/>
          <p:nvPr/>
        </p:nvSpPr>
        <p:spPr>
          <a:xfrm>
            <a:off x="10332720" y="182880"/>
            <a:ext cx="1676095" cy="365760"/>
          </a:xfrm>
          <a:prstGeom prst="rect">
            <a:avLst/>
          </a:prstGeom>
          <a:solidFill>
            <a:srgbClr val="646464"/>
          </a:solidFill>
        </p:spPr>
        <p:txBody>
          <a:bodyPr wrap="square">
            <a:spAutoFit/>
          </a:bodyPr>
          <a:lstStyle/>
          <a:p>
            <a:pPr algn="ctr">
              <a:defRPr b="1" sz="1000">
                <a:solidFill>
                  <a:srgbClr val="FFFFFF"/>
                </a:solidFill>
              </a:defRPr>
            </a:pPr>
            <a:r>
              <a:t>EXISTING DATABASE</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Remove the black paint coating from the Brake Caliper Mounting Brackets on all four brake assemblies of MGI, following the procedure used for the front brake caliper mounting brackets in KIA. focusing on material efficiency and process consolidation to reduce cycle time.</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(No material change explicitly mentioned)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102</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2.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Removetheblac_1770026568014.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#6: Investigate the use of advanced friction materials with higher thermal stability and consistent friction coefficient across a wider temperature range for the MG Hector's brake pads. This aims to improve fade resistance and potentially allow for slightly thinner pads without compromising performance, contributing to weight reduction and cost savings. Focus on materials that offer good performance with existing rotor specifications to minimize tooling CAPEX.</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Investigate the use of advanced friction materials with higher thermal stability and consistent friction coefficient across a wider temperature range for the MG Hector's brake pads. This aims to improve fade resistance and potentially allow for slightly thinner pads without compromising performance, contributing to weight reduction and cost savings. Focus on materials that offer good performance with existing rotor specifications to minimize tooling CAPEX. focusing o...</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Investigate the use of advanced friction materials with higher thermal stability and consistent fric</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5.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Investigatethe_1770026568311.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#7: Explore the optimization of the dust shield gauge and material for the MG Hector's brake system. While not directly impacting thermal mass or friction coefficient, a lighter yet robust dust shield can contribute to overall vehicle weight reduction. Investigate high-strength steel alloys or advanced polymer composites that meet structural integrity and corrosion resistance requirements while offering a cost-effective solution and potentially simplifying manufacturing processes, aligning with limited tooling CAPEX.</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Explore the optimization of the dust shield gauge and material for the MG Hector's brake system. While not directly impacting thermal mass or friction coefficient, a lighter yet robust dust shield can contribute to overall vehicle weight reduction. Investigate high-strength steel alloys or advanced polymer composites that meet structural integrity and corrosion resistance requirements while offering a cost-effective solution and potentially simplifying manufacturing...</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Explore the optimization of the dust shield gauge and material for the MG Hector's brake system</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8.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Exploretheopt_1770026568503.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#8: Evaluate the feasibility of using a single-piece cast iron brake rotor with enhanced internal cooling channels for the MG Hector. This approach aims to improve thermal management and fade resistance without necessitating a change in caliper material or IRS. The design would focus on maximizing thermal mass and heat dissipation through optimized channel geometry, potentially allowing for a slightly reduced rotor diameter or thickness while maintaining performance, thus contributing to weight and cost reduction within tooling CAPEX constraints.</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Evaluate the feasibility of using a single-piece cast iron brake rotor with enhanced internal cooling channels for the MG Hector. This approach aims to improve thermal management and fade resistance without necessitating a change in caliper material or IRS. The design would focus on maximizing thermal mass and heat dissipation through optimized channel geometry, potentially allowing for a slightly reduced rotor diameter or thickness while maintaining performance, thu...</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This approach aims to improve thermal management and fade resistance without necessitating a change</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18.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Evaluatethefe_1770026568794.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058400" cy="914400"/>
          </a:xfrm>
          <a:prstGeom prst="rect">
            <a:avLst/>
          </a:prstGeom>
          <a:noFill/>
        </p:spPr>
        <p:txBody>
          <a:bodyPr wrap="square">
            <a:spAutoFit/>
          </a:bodyPr>
          <a:lstStyle/>
          <a:p>
            <a:pPr>
              <a:defRPr sz="1800" b="1">
                <a:solidFill>
                  <a:srgbClr val="003366"/>
                </a:solidFill>
              </a:defRPr>
            </a:pPr>
            <a:r>
              <a:t>#9: Explore the application of a high-performance, cost-effective caliper material such as a reinforced aluminum alloy or a specialized cast iron for the MG Hector's braking system. The goal is to achieve a balance between thermal conductivity, stiffness, and manufacturing cost. While avoiding complex IRS modifications, this could allow for a slightly more compact caliper design or improved heat dissipation from the caliper body itself, contributing to overall system efficiency and potentially minor weight savings, while respecting tooling CAPEX limitations.</a:t>
            </a:r>
          </a:p>
        </p:txBody>
      </p:sp>
      <p:sp>
        <p:nvSpPr>
          <p:cNvPr id="3" name="TextBox 2"/>
          <p:cNvSpPr txBox="1"/>
          <p:nvPr/>
        </p:nvSpPr>
        <p:spPr>
          <a:xfrm>
            <a:off x="10332720" y="182880"/>
            <a:ext cx="1676095" cy="365760"/>
          </a:xfrm>
          <a:prstGeom prst="rect">
            <a:avLst/>
          </a:prstGeom>
          <a:solidFill>
            <a:srgbClr val="008080"/>
          </a:solidFill>
        </p:spPr>
        <p:txBody>
          <a:bodyPr wrap="square">
            <a:spAutoFit/>
          </a:bodyPr>
          <a:lstStyle/>
          <a:p>
            <a:pPr algn="ctr">
              <a:defRPr b="1" sz="1000">
                <a:solidFill>
                  <a:srgbClr val="FFFFFF"/>
                </a:solidFill>
              </a:defRPr>
            </a:pPr>
            <a:r>
              <a:t>WEB SOURCED</a:t>
            </a:r>
          </a:p>
        </p:txBody>
      </p:sp>
      <p:sp>
        <p:nvSpPr>
          <p:cNvPr id="4" name="TextBox 3"/>
          <p:cNvSpPr txBox="1"/>
          <p:nvPr/>
        </p:nvSpPr>
        <p:spPr>
          <a:xfrm>
            <a:off x="457200" y="1143000"/>
            <a:ext cx="5303520" cy="256032"/>
          </a:xfrm>
          <a:prstGeom prst="rect">
            <a:avLst/>
          </a:prstGeom>
          <a:noFill/>
        </p:spPr>
        <p:txBody>
          <a:bodyPr wrap="square">
            <a:spAutoFit/>
          </a:bodyPr>
          <a:lstStyle/>
          <a:p>
            <a:pPr>
              <a:defRPr b="1" sz="1000">
                <a:solidFill>
                  <a:srgbClr val="FF6400"/>
                </a:solidFill>
              </a:defRPr>
            </a:pPr>
            <a:r>
              <a:t>Technical Engineering View:</a:t>
            </a:r>
          </a:p>
        </p:txBody>
      </p:sp>
      <p:sp>
        <p:nvSpPr>
          <p:cNvPr id="5" name="TextBox 4"/>
          <p:cNvSpPr txBox="1"/>
          <p:nvPr/>
        </p:nvSpPr>
        <p:spPr>
          <a:xfrm>
            <a:off x="457200" y="1344168"/>
            <a:ext cx="5303520" cy="822960"/>
          </a:xfrm>
          <a:prstGeom prst="rect">
            <a:avLst/>
          </a:prstGeom>
          <a:noFill/>
        </p:spPr>
        <p:txBody>
          <a:bodyPr wrap="square" lIns="76200" rIns="76200">
            <a:noAutofit/>
          </a:bodyPr>
          <a:lstStyle/>
          <a:p>
            <a:pPr>
              <a:defRPr sz="1000">
                <a:solidFill>
                  <a:srgbClr val="333333"/>
                </a:solidFill>
              </a:defRPr>
            </a:pPr>
            <a:r>
              <a:rPr sz="1000" b="0" i="0">
                <a:latin typeface="Calibri"/>
              </a:rPr>
              <a:t>Technical optimization of Explore the application of a high-performance, cost-effective caliper material such as a reinforced aluminum alloy or a specialized cast iron for the MG Hector's braking system. The goal is to achieve a balance between thermal conductivity, stiffness, and manufacturing cost. While avoiding complex IRS modifications, this could allow for a slightly more compact caliper design or improved heat dissipation from the caliper body itself, contributing to overall system eff...</a:t>
            </a:r>
            <a:endParaRPr sz="1000" b="0" i="0">
              <a:latin typeface="Calibri"/>
            </a:endParaRPr>
          </a:p>
        </p:txBody>
      </p:sp>
      <p:sp>
        <p:nvSpPr>
          <p:cNvPr id="6" name="Rectangle 5"/>
          <p:cNvSpPr/>
          <p:nvPr/>
        </p:nvSpPr>
        <p:spPr>
          <a:xfrm>
            <a:off x="457200" y="213055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56032"/>
          </a:xfrm>
          <a:prstGeom prst="rect">
            <a:avLst/>
          </a:prstGeom>
          <a:noFill/>
        </p:spPr>
        <p:txBody>
          <a:bodyPr wrap="square">
            <a:spAutoFit/>
          </a:bodyPr>
          <a:lstStyle/>
          <a:p>
            <a:pPr>
              <a:defRPr b="1" sz="1000">
                <a:solidFill>
                  <a:srgbClr val="FF6400"/>
                </a:solidFill>
              </a:defRPr>
            </a:pPr>
            <a:r>
              <a:t>Material Change:</a:t>
            </a:r>
          </a:p>
        </p:txBody>
      </p:sp>
      <p:sp>
        <p:nvSpPr>
          <p:cNvPr id="8" name="TextBox 7"/>
          <p:cNvSpPr txBox="1"/>
          <p:nvPr/>
        </p:nvSpPr>
        <p:spPr>
          <a:xfrm>
            <a:off x="457200" y="244144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Explore the application of a high-performance, cost-effective caliper material such as a reinforced</a:t>
            </a:r>
            <a:endParaRPr sz="1000" b="0" i="0">
              <a:latin typeface="Calibri"/>
            </a:endParaRPr>
          </a:p>
        </p:txBody>
      </p:sp>
      <p:sp>
        <p:nvSpPr>
          <p:cNvPr id="9" name="Rectangle 8"/>
          <p:cNvSpPr/>
          <p:nvPr/>
        </p:nvSpPr>
        <p:spPr>
          <a:xfrm>
            <a:off x="457200" y="27249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834640"/>
            <a:ext cx="5303520" cy="256032"/>
          </a:xfrm>
          <a:prstGeom prst="rect">
            <a:avLst/>
          </a:prstGeom>
          <a:noFill/>
        </p:spPr>
        <p:txBody>
          <a:bodyPr wrap="square">
            <a:spAutoFit/>
          </a:bodyPr>
          <a:lstStyle/>
          <a:p>
            <a:pPr>
              <a:defRPr b="1" sz="1000">
                <a:solidFill>
                  <a:srgbClr val="FF6400"/>
                </a:solidFill>
              </a:defRPr>
            </a:pPr>
            <a:r>
              <a:t>Dimension Change:</a:t>
            </a:r>
          </a:p>
        </p:txBody>
      </p:sp>
      <p:sp>
        <p:nvSpPr>
          <p:cNvPr id="11" name="TextBox 10"/>
          <p:cNvSpPr txBox="1"/>
          <p:nvPr/>
        </p:nvSpPr>
        <p:spPr>
          <a:xfrm>
            <a:off x="457200" y="303580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N/A (Maintains current envelope)</a:t>
            </a:r>
            <a:endParaRPr sz="1000" b="0" i="0">
              <a:latin typeface="Calibri"/>
            </a:endParaRPr>
          </a:p>
        </p:txBody>
      </p:sp>
      <p:sp>
        <p:nvSpPr>
          <p:cNvPr id="12" name="Rectangle 11"/>
          <p:cNvSpPr/>
          <p:nvPr/>
        </p:nvSpPr>
        <p:spPr>
          <a:xfrm>
            <a:off x="457200" y="331927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29000"/>
            <a:ext cx="5303520" cy="256032"/>
          </a:xfrm>
          <a:prstGeom prst="rect">
            <a:avLst/>
          </a:prstGeom>
          <a:noFill/>
        </p:spPr>
        <p:txBody>
          <a:bodyPr wrap="square">
            <a:spAutoFit/>
          </a:bodyPr>
          <a:lstStyle/>
          <a:p>
            <a:pPr>
              <a:defRPr b="1" sz="1000">
                <a:solidFill>
                  <a:srgbClr val="FF6400"/>
                </a:solidFill>
              </a:defRPr>
            </a:pPr>
            <a:r>
              <a:t>Cost Analysis:</a:t>
            </a:r>
          </a:p>
        </p:txBody>
      </p:sp>
      <p:sp>
        <p:nvSpPr>
          <p:cNvPr id="14" name="TextBox 13"/>
          <p:cNvSpPr txBox="1"/>
          <p:nvPr/>
        </p:nvSpPr>
        <p:spPr>
          <a:xfrm>
            <a:off x="457200" y="3630168"/>
            <a:ext cx="5303520" cy="320040"/>
          </a:xfrm>
          <a:prstGeom prst="rect">
            <a:avLst/>
          </a:prstGeom>
          <a:noFill/>
        </p:spPr>
        <p:txBody>
          <a:bodyPr wrap="square" lIns="76200" rIns="76200">
            <a:noAutofit/>
          </a:bodyPr>
          <a:lstStyle/>
          <a:p>
            <a:pPr>
              <a:defRPr sz="1000">
                <a:solidFill>
                  <a:srgbClr val="333333"/>
                </a:solidFill>
              </a:defRPr>
            </a:pPr>
            <a:r>
              <a:rPr sz="1000" b="0" i="0">
                <a:latin typeface="Calibri"/>
              </a:rPr>
              <a:t>Est. Saving: INR TBD</a:t>
            </a:r>
            <a:endParaRPr sz="1000" b="0" i="0">
              <a:latin typeface="Calibri"/>
            </a:endParaRPr>
          </a:p>
        </p:txBody>
      </p:sp>
      <p:sp>
        <p:nvSpPr>
          <p:cNvPr id="15" name="Rectangle 14"/>
          <p:cNvSpPr/>
          <p:nvPr/>
        </p:nvSpPr>
        <p:spPr>
          <a:xfrm>
            <a:off x="457200" y="3913631"/>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23360"/>
            <a:ext cx="5303520" cy="256032"/>
          </a:xfrm>
          <a:prstGeom prst="rect">
            <a:avLst/>
          </a:prstGeom>
          <a:noFill/>
        </p:spPr>
        <p:txBody>
          <a:bodyPr wrap="square">
            <a:spAutoFit/>
          </a:bodyPr>
          <a:lstStyle/>
          <a:p>
            <a:pPr>
              <a:defRPr b="1" sz="1000">
                <a:solidFill>
                  <a:srgbClr val="FF6400"/>
                </a:solidFill>
              </a:defRPr>
            </a:pPr>
            <a:r>
              <a:t>Engineering Validation &amp; Risks:</a:t>
            </a:r>
          </a:p>
        </p:txBody>
      </p:sp>
      <p:sp>
        <p:nvSpPr>
          <p:cNvPr id="17" name="TextBox 16"/>
          <p:cNvSpPr txBox="1"/>
          <p:nvPr/>
        </p:nvSpPr>
        <p:spPr>
          <a:xfrm>
            <a:off x="457200" y="4224528"/>
            <a:ext cx="5303520" cy="1280160"/>
          </a:xfrm>
          <a:prstGeom prst="rect">
            <a:avLst/>
          </a:prstGeom>
          <a:noFill/>
        </p:spPr>
        <p:txBody>
          <a:bodyPr wrap="square" lIns="76200" rIns="76200">
            <a:noAutofit/>
          </a:bodyPr>
          <a:lstStyle/>
          <a:p>
            <a:pPr>
              <a:defRPr sz="1000">
                <a:solidFill>
                  <a:srgbClr val="333333"/>
                </a:solidFill>
              </a:defRPr>
            </a:pPr>
            <a:r>
              <a:rPr sz="1000" b="0" i="0">
                <a:latin typeface="Calibri"/>
              </a:rPr>
              <a:t>VALIDATION ROADMAP:</a:t>
            </a:r>
            <a:br>
              <a:rPr sz="1000" b="0" i="0">
                <a:latin typeface="Calibri"/>
              </a:rPr>
            </a:br>
            <a:r>
              <a:rPr sz="1000" b="0" i="0">
                <a:latin typeface="Calibri"/>
              </a:rPr>
              <a:t>• DVP&amp;R Level 2 Testing</a:t>
            </a:r>
            <a:br>
              <a:rPr sz="1000" b="0" i="0">
                <a:latin typeface="Calibri"/>
              </a:rPr>
            </a:br>
            <a:r>
              <a:rPr sz="1000" b="0" i="0">
                <a:latin typeface="Calibri"/>
              </a:rPr>
              <a:t>• Environmental Aging (1000 hrs)</a:t>
            </a:r>
            <a:br>
              <a:rPr sz="1000" b="0" i="0">
                <a:latin typeface="Calibri"/>
              </a:rPr>
            </a:br>
            <a:r>
              <a:rPr sz="1000" b="0" i="0">
                <a:latin typeface="Calibri"/>
              </a:rPr>
              <a:t>• Head Impact Criterion (FMVSS)</a:t>
            </a:r>
            <a:br>
              <a:rPr sz="1000" b="0" i="0">
                <a:latin typeface="Calibri"/>
              </a:rPr>
            </a:br>
            <a:r>
              <a:rPr sz="1000" b="0" i="0">
                <a:latin typeface="Calibri"/>
              </a:rPr>
              <a:t>RISK MITIGATION:</a:t>
            </a:r>
            <a:br>
              <a:rPr sz="1000" b="0" i="0">
                <a:latin typeface="Calibri"/>
              </a:rPr>
            </a:br>
            <a:r>
              <a:rPr sz="1000" b="0" i="0">
                <a:latin typeface="Calibri"/>
              </a:rPr>
              <a:t>⚠ NVH performance degradation</a:t>
            </a:r>
            <a:br>
              <a:rPr sz="1000" b="0" i="0">
                <a:latin typeface="Calibri"/>
              </a:rPr>
            </a:br>
            <a:r>
              <a:rPr sz="1000" b="0" i="0">
                <a:latin typeface="Calibri"/>
              </a:rPr>
              <a:t>⚠ Thermal durability limits</a:t>
            </a:r>
            <a:br>
              <a:rPr sz="1000" b="0" i="0">
                <a:latin typeface="Calibri"/>
              </a:rPr>
            </a:br>
            <a:r>
              <a:rPr sz="1000" b="0" i="0">
                <a:latin typeface="Calibri"/>
              </a:rPr>
              <a:t>⚠ Aesthetic fit &amp; finish gap</a:t>
            </a:r>
            <a:endParaRPr sz="1000" b="0" i="0">
              <a:latin typeface="Calibri"/>
            </a:endParaRPr>
          </a:p>
        </p:txBody>
      </p:sp>
      <p:sp>
        <p:nvSpPr>
          <p:cNvPr id="18" name="Rectangle 17"/>
          <p:cNvSpPr/>
          <p:nvPr/>
        </p:nvSpPr>
        <p:spPr>
          <a:xfrm>
            <a:off x="457200" y="5468112"/>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868680"/>
            <a:ext cx="5669280"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jpg"/>
          <p:cNvPicPr>
            <a:picLocks noChangeAspect="1"/>
          </p:cNvPicPr>
          <p:nvPr/>
        </p:nvPicPr>
        <p:blipFill>
          <a:blip r:embed="rId2"/>
          <a:stretch>
            <a:fillRect/>
          </a:stretch>
        </p:blipFill>
        <p:spPr>
          <a:xfrm>
            <a:off x="6035040" y="1143000"/>
            <a:ext cx="5669280" cy="2583179"/>
          </a:xfrm>
          <a:prstGeom prst="rect">
            <a:avLst/>
          </a:prstGeom>
          <a:ln w="12700">
            <a:solidFill>
              <a:srgbClr val="C8C8C8"/>
            </a:solidFill>
          </a:ln>
        </p:spPr>
      </p:pic>
      <p:sp>
        <p:nvSpPr>
          <p:cNvPr id="21" name="TextBox 20"/>
          <p:cNvSpPr txBox="1"/>
          <p:nvPr/>
        </p:nvSpPr>
        <p:spPr>
          <a:xfrm>
            <a:off x="6035040" y="3634739"/>
            <a:ext cx="5669280" cy="256032"/>
          </a:xfrm>
          <a:prstGeom prst="rect">
            <a:avLst/>
          </a:prstGeom>
          <a:noFill/>
        </p:spPr>
        <p:txBody>
          <a:bodyPr wrap="square">
            <a:spAutoFit/>
          </a:bodyPr>
          <a:lstStyle/>
          <a:p>
            <a:pPr algn="ctr">
              <a:defRPr b="1" sz="1100">
                <a:solidFill>
                  <a:srgbClr val="003366"/>
                </a:solidFill>
              </a:defRPr>
            </a:pPr>
            <a:r>
              <a:t>Implementation / Proposal</a:t>
            </a:r>
          </a:p>
        </p:txBody>
      </p:sp>
      <p:pic>
        <p:nvPicPr>
          <p:cNvPr id="22" name="Picture 21" descr="comp_overlay_Exploretheapp_1770026569006.jpg"/>
          <p:cNvPicPr>
            <a:picLocks noChangeAspect="1"/>
          </p:cNvPicPr>
          <p:nvPr/>
        </p:nvPicPr>
        <p:blipFill>
          <a:blip r:embed="rId3"/>
          <a:stretch>
            <a:fillRect/>
          </a:stretch>
        </p:blipFill>
        <p:spPr>
          <a:xfrm>
            <a:off x="6035040" y="3909059"/>
            <a:ext cx="5669280" cy="2583179"/>
          </a:xfrm>
          <a:prstGeom prst="rect">
            <a:avLst/>
          </a:prstGeom>
          <a:ln w="12700">
            <a:solidFill>
              <a:srgbClr val="C8C8C8"/>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
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04-Feb-2026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626364">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 the vehicle as done in KIA</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bracket used in KIA.</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Replace the current cast iron brake caliper pistons with lighter, more cost-effective aluminum alloy pistons for the front brake assemblies.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1500000.00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15000.0000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Optimize the brake rotor thickness specification for the rear axle from 22mm to 20mm, based on updated thermal load calculations and reduced kinetic energy contribution from rear wheels during typical braking.</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1200000.00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12000.0000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Substitute the current rubber brake caliper dust boots with a more cost-effective EPDM material that meets or exceeds the existing material's performance in terms of heat resistance and durability.</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Reduce the gauge of the front brake rotor dust shield from 1.2mm to 1.0mm mild steel, leveraging CAE analysis to ensure no compromise in structural integrity or thermal management.</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Explore the use of a lower-cost, but high-friction coefficient brake pad material for the rear brake assemblies, ensuring it meets the required wear rates and NVH characteristics.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Auto-Approved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782955">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782955">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Investigate a single-piece brake caliper casting (e.g., aluminum alloy) for the front axle, replacing the current multi-piece bolted design, to reduce assembly complexity and tooling costs.</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2000000.00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20000.0000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Reduce the complexity of the rear brake caliper mounting bracket by simplifying its geometry, potentially reducing machining operations, while maintaining load-bearing capacity.</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900000.00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9000.0000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AI-GEN-08</a:t>
                      </a:r>
                    </a:p>
                  </a:txBody>
                  <a:tcPr/>
                </a:tc>
                <a:tc>
                  <a:txBody>
                    <a:bodyPr wrap="square" lIns="50800" rIns="50800"/>
                    <a:lstStyle/>
                    <a:p>
                      <a:pPr>
                        <a:defRPr sz="900">
                          <a:solidFill>
                            <a:srgbClr val="333333"/>
                          </a:solidFill>
                          <a:latin typeface="Calibri"/>
                        </a:defRPr>
                      </a:pPr>
                      <a:r>
                        <a:t>Optimize the brake rotor casting process to reduce casting defects and improve surface finish, thereby potentially reducing the need for excessive machining and inspection.</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1300000.00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13000.0000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Value Engineering (VE) application on the MG Hector's brake rotor and caliper to reduce material cost and manufacturing complexity. Focus on optimizing rotor thickness and exploring alternative caliper materials (e.g., high-strength aluminum alloys instead of cast iron) while maintaining thermal performance and meeting FMVSS 105 and ECE R13 regulations. The dust shield gauge can be optimized for cost reduction without compromising protection. This approach directly addresses the 'tooling CAPEX limited' constraint by focusing on existing designs and material substitutions rather than entirely new architectures.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advanced friction material formulations for the MG Hector's brake pads that offer improved fade resistance and longevity without significantly increasing cost. This research would aim to identify materials that can maintain a stable friction coefficient across a wider temperature range, reducing the need for larger or thicker rotors and potentially allowing for thinner dust shields. This aligns with the 'high kinetic energy' constraint by enhancing braking performance, while the 'tooling CAPEX limited' constraint encourages material-level innovation rather than radical design changes.</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Explore the use of lightweight, high-strength steel alloys or advanced composites for the MG Hector's brake rotor to reduce unsprung mass and rotational inertia, thereby improving vehicle dynamics and potentially allowing for smaller brake systems. This would need careful consideration of thermal conductivity and cost. Given the 'tooling CAPEX limited' constraint, focus would be on materials that can be manufactured using existing or slightly modified tooling. The 'no rear IRS changes' constraint means front brake optimization is primary.</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Industry Trend: Predictive Maintenance for Brake Systems. While not directly a 'cost reduction' in the traditional sense, implementing sensors and algorithms for predicting brake pad and rotor wear can optimize maintenance schedules, reduce emergency repairs, and prevent catastrophic failures. For the MG Hector (1.7T, ICE C-SUV), this can lead to long-term cost savings by avoiding premature component replacement and ensuring safety. The constraint of 'tooling CAPEX limited' is addressed by integrating sensors into existing designs and leveraging software solutions.</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88796"/>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30376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1107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39388"/>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7640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8371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65788"/>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4443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1750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74610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483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110.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858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1834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762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622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937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6693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95539"/>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2741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472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7585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781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5128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7988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67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#3: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3430"/>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23907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394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2542"/>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501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326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1860"/>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832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0521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3381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36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092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37853"/>
            <a:ext cx="5486400" cy="34582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#4: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5421"/>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18213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44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30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806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537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82371"/>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2625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3573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6433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666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397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6836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555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2.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#5: Replace the current cast iron brake caliper pistons with lighter, more cost-effective aluminum alloy pistons for the front brake assemblies.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69488"/>
          </a:xfrm>
          <a:prstGeom prst="rect">
            <a:avLst/>
          </a:prstGeom>
          <a:noFill/>
        </p:spPr>
        <p:txBody>
          <a:bodyPr wrap="square">
            <a:spAutoFit/>
          </a:bodyPr>
          <a:lstStyle/>
          <a:p>
            <a:pPr>
              <a:defRPr sz="1000">
                <a:solidFill>
                  <a:srgbClr val="333333"/>
                </a:solidFill>
              </a:defRPr>
            </a:pPr>
            <a:r>
              <a:t>Technical optimization of Replace the current cast iron brake caliper pistons with lighter, more cost-effective aluminum alloy pistons for the front brake assemblies. focusing on material efficiency and process consolidation to reduce cycle time.</a:t>
            </a:r>
          </a:p>
        </p:txBody>
      </p:sp>
      <p:sp>
        <p:nvSpPr>
          <p:cNvPr id="6" name="Rectangle 5"/>
          <p:cNvSpPr/>
          <p:nvPr/>
        </p:nvSpPr>
        <p:spPr>
          <a:xfrm>
            <a:off x="274320" y="230684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8000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8600"/>
            <a:ext cx="5486400" cy="548091"/>
          </a:xfrm>
          <a:prstGeom prst="rect">
            <a:avLst/>
          </a:prstGeom>
          <a:noFill/>
        </p:spPr>
        <p:txBody>
          <a:bodyPr wrap="square">
            <a:spAutoFit/>
          </a:bodyPr>
          <a:lstStyle/>
          <a:p>
            <a:pPr>
              <a:defRPr sz="1000">
                <a:solidFill>
                  <a:srgbClr val="333333"/>
                </a:solidFill>
              </a:defRPr>
            </a:pPr>
            <a:r>
              <a:t>Replace the current cast iron brake caliper pistons with lighter, more cost-effective aluminum alloy</a:t>
            </a:r>
            <a:br/>
            <a:r>
              <a:t>N/A (Maintains current envelope)</a:t>
            </a:r>
          </a:p>
        </p:txBody>
      </p:sp>
      <p:sp>
        <p:nvSpPr>
          <p:cNvPr id="9" name="Rectangle 8"/>
          <p:cNvSpPr/>
          <p:nvPr/>
        </p:nvSpPr>
        <p:spPr>
          <a:xfrm>
            <a:off x="274320" y="31566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984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8443"/>
            <a:ext cx="5486400" cy="386791"/>
          </a:xfrm>
          <a:prstGeom prst="rect">
            <a:avLst/>
          </a:prstGeom>
          <a:noFill/>
        </p:spPr>
        <p:txBody>
          <a:bodyPr wrap="square">
            <a:spAutoFit/>
          </a:bodyPr>
          <a:lstStyle/>
          <a:p>
            <a:pPr>
              <a:defRPr sz="1000">
                <a:solidFill>
                  <a:srgbClr val="333333"/>
                </a:solidFill>
              </a:defRPr>
            </a:pPr>
            <a:r>
              <a:t>Est. Saving: INR 1500000</a:t>
            </a:r>
            <a:br/>
            <a:r>
              <a:t>CAPEX: TBD</a:t>
            </a:r>
          </a:p>
        </p:txBody>
      </p:sp>
      <p:sp>
        <p:nvSpPr>
          <p:cNvPr id="12" name="Rectangle 11"/>
          <p:cNvSpPr/>
          <p:nvPr/>
        </p:nvSpPr>
        <p:spPr>
          <a:xfrm>
            <a:off x="274320" y="38452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1838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46986"/>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492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2242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51021"/>
            <a:ext cx="5486400" cy="332658"/>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6.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#6: Optimize the brake rotor thickness specification for the rear axle from 22mm to 20mm, based on updated thermal load calculations and reduced kinetic energy contribution from rear wheels during typical braking.</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83056"/>
          </a:xfrm>
          <a:prstGeom prst="rect">
            <a:avLst/>
          </a:prstGeom>
          <a:noFill/>
        </p:spPr>
        <p:txBody>
          <a:bodyPr wrap="square">
            <a:spAutoFit/>
          </a:bodyPr>
          <a:lstStyle/>
          <a:p>
            <a:pPr>
              <a:defRPr sz="1000">
                <a:solidFill>
                  <a:srgbClr val="333333"/>
                </a:solidFill>
              </a:defRPr>
            </a:pPr>
            <a:r>
              <a:t>Technical optimization of Optimize the brake rotor thickness specification for the rear axle from 22mm to 20mm, based on updated thermal load calculations and reduced kinetic energy contribution from rear wheels during typical braking. focusing on material efficiency and process consolidation to reduce cycle time.</a:t>
            </a:r>
          </a:p>
        </p:txBody>
      </p:sp>
      <p:sp>
        <p:nvSpPr>
          <p:cNvPr id="6" name="Rectangle 5"/>
          <p:cNvSpPr/>
          <p:nvPr/>
        </p:nvSpPr>
        <p:spPr>
          <a:xfrm>
            <a:off x="274320" y="28318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0504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33648"/>
            <a:ext cx="5486400" cy="424647"/>
          </a:xfrm>
          <a:prstGeom prst="rect">
            <a:avLst/>
          </a:prstGeom>
          <a:noFill/>
        </p:spPr>
        <p:txBody>
          <a:bodyPr wrap="square">
            <a:spAutoFit/>
          </a:bodyPr>
          <a:lstStyle/>
          <a:p>
            <a:pPr>
              <a:defRPr sz="1000">
                <a:solidFill>
                  <a:srgbClr val="333333"/>
                </a:solidFill>
              </a:defRPr>
            </a:pPr>
            <a:r>
              <a:t>N/A (No material change explicitly mentioned)</a:t>
            </a:r>
            <a:br/>
            <a:r>
              <a:t>22mm to 20mm</a:t>
            </a:r>
          </a:p>
        </p:txBody>
      </p:sp>
      <p:sp>
        <p:nvSpPr>
          <p:cNvPr id="9" name="Rectangle 8"/>
          <p:cNvSpPr/>
          <p:nvPr/>
        </p:nvSpPr>
        <p:spPr>
          <a:xfrm>
            <a:off x="274320" y="35582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63144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860048"/>
            <a:ext cx="5486400" cy="386791"/>
          </a:xfrm>
          <a:prstGeom prst="rect">
            <a:avLst/>
          </a:prstGeom>
          <a:noFill/>
        </p:spPr>
        <p:txBody>
          <a:bodyPr wrap="square">
            <a:spAutoFit/>
          </a:bodyPr>
          <a:lstStyle/>
          <a:p>
            <a:pPr>
              <a:defRPr sz="1000">
                <a:solidFill>
                  <a:srgbClr val="333333"/>
                </a:solidFill>
              </a:defRPr>
            </a:pPr>
            <a:r>
              <a:t>Est. Saving: INR 1200000</a:t>
            </a:r>
            <a:br/>
            <a:r>
              <a:t>CAPEX: TBD</a:t>
            </a:r>
          </a:p>
        </p:txBody>
      </p:sp>
      <p:sp>
        <p:nvSpPr>
          <p:cNvPr id="12" name="Rectangle 11"/>
          <p:cNvSpPr/>
          <p:nvPr/>
        </p:nvSpPr>
        <p:spPr>
          <a:xfrm>
            <a:off x="274320" y="42468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31999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54859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35087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210.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40.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#7: Substitute the current rubber brake caliper dust boots with a more cost-effective EPDM material that meets or exceeds the existing material's performance in terms of heat resistance and durability.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63305"/>
          </a:xfrm>
          <a:prstGeom prst="rect">
            <a:avLst/>
          </a:prstGeom>
          <a:noFill/>
        </p:spPr>
        <p:txBody>
          <a:bodyPr wrap="square">
            <a:spAutoFit/>
          </a:bodyPr>
          <a:lstStyle/>
          <a:p>
            <a:pPr>
              <a:defRPr sz="1000">
                <a:solidFill>
                  <a:srgbClr val="333333"/>
                </a:solidFill>
              </a:defRPr>
            </a:pPr>
            <a:r>
              <a:t>Technical optimization of Substitute the current rubber brake caliper dust boots with a more cost-effective EPDM material that meets or exceeds the existing material's performance in terms of heat resistance and durability. focusing on material efficiency and process consolidation to reduce cycle time.</a:t>
            </a:r>
          </a:p>
        </p:txBody>
      </p:sp>
      <p:sp>
        <p:nvSpPr>
          <p:cNvPr id="6" name="Rectangle 5"/>
          <p:cNvSpPr/>
          <p:nvPr/>
        </p:nvSpPr>
        <p:spPr>
          <a:xfrm>
            <a:off x="274320" y="24006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7381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702417"/>
            <a:ext cx="5486400" cy="548091"/>
          </a:xfrm>
          <a:prstGeom prst="rect">
            <a:avLst/>
          </a:prstGeom>
          <a:noFill/>
        </p:spPr>
        <p:txBody>
          <a:bodyPr wrap="square">
            <a:spAutoFit/>
          </a:bodyPr>
          <a:lstStyle/>
          <a:p>
            <a:pPr>
              <a:defRPr sz="1000">
                <a:solidFill>
                  <a:srgbClr val="333333"/>
                </a:solidFill>
              </a:defRPr>
            </a:pPr>
            <a:r>
              <a:t>Substitute the current rubber brake caliper dust boots with a more cost-effective EPDM material that</a:t>
            </a:r>
            <a:br/>
            <a:r>
              <a:t>N/A (Maintains current envelope)</a:t>
            </a:r>
          </a:p>
        </p:txBody>
      </p:sp>
      <p:sp>
        <p:nvSpPr>
          <p:cNvPr id="9" name="Rectangle 8"/>
          <p:cNvSpPr/>
          <p:nvPr/>
        </p:nvSpPr>
        <p:spPr>
          <a:xfrm>
            <a:off x="274320" y="325050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2366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52261"/>
            <a:ext cx="5486400" cy="385145"/>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393740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01055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3915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414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1459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43192"/>
            <a:ext cx="5486400" cy="24048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6.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#8: Reduce the gauge of the front brake rotor dust shield from 1.2mm to 1.0mm mild steel, leveraging CAE analysis to ensure no compromise in structural integrity or thermal management.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35325"/>
          </a:xfrm>
          <a:prstGeom prst="rect">
            <a:avLst/>
          </a:prstGeom>
          <a:noFill/>
        </p:spPr>
        <p:txBody>
          <a:bodyPr wrap="square">
            <a:spAutoFit/>
          </a:bodyPr>
          <a:lstStyle/>
          <a:p>
            <a:pPr>
              <a:defRPr sz="1000">
                <a:solidFill>
                  <a:srgbClr val="333333"/>
                </a:solidFill>
              </a:defRPr>
            </a:pPr>
            <a:r>
              <a:t>Technical optimization of Reduce the gauge of the front brake rotor dust shield from 1.2mm to 1.0mm mild steel, leveraging CAE analysis to ensure no compromise in structural integrity or thermal management. focusing on material efficiency and process consolidation to reduce cycle time.</a:t>
            </a:r>
          </a:p>
        </p:txBody>
      </p:sp>
      <p:sp>
        <p:nvSpPr>
          <p:cNvPr id="6" name="Rectangle 5"/>
          <p:cNvSpPr/>
          <p:nvPr/>
        </p:nvSpPr>
        <p:spPr>
          <a:xfrm>
            <a:off x="274320" y="23726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4583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74437"/>
            <a:ext cx="5486400" cy="518464"/>
          </a:xfrm>
          <a:prstGeom prst="rect">
            <a:avLst/>
          </a:prstGeom>
          <a:noFill/>
        </p:spPr>
        <p:txBody>
          <a:bodyPr wrap="square">
            <a:spAutoFit/>
          </a:bodyPr>
          <a:lstStyle/>
          <a:p>
            <a:pPr>
              <a:defRPr sz="1000">
                <a:solidFill>
                  <a:srgbClr val="333333"/>
                </a:solidFill>
              </a:defRPr>
            </a:pPr>
            <a:r>
              <a:t>0mm mild steel, leveraging CAE analysis to ensure no compromise in structural integrity or thermal m</a:t>
            </a:r>
            <a:br/>
            <a:r>
              <a:t>1.2mm to 1.0mm</a:t>
            </a:r>
          </a:p>
        </p:txBody>
      </p:sp>
      <p:sp>
        <p:nvSpPr>
          <p:cNvPr id="9" name="Rectangle 8"/>
          <p:cNvSpPr/>
          <p:nvPr/>
        </p:nvSpPr>
        <p:spPr>
          <a:xfrm>
            <a:off x="274320" y="31929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6605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94653"/>
            <a:ext cx="5486400" cy="385145"/>
          </a:xfrm>
          <a:prstGeom prst="rect">
            <a:avLst/>
          </a:prstGeom>
          <a:noFill/>
        </p:spPr>
        <p:txBody>
          <a:bodyPr wrap="square">
            <a:spAutoFit/>
          </a:bodyPr>
          <a:lstStyle/>
          <a:p>
            <a:pPr>
              <a:defRPr sz="1000">
                <a:solidFill>
                  <a:srgbClr val="333333"/>
                </a:solidFill>
              </a:defRPr>
            </a:pPr>
            <a:r>
              <a:t>Est. Saving: INR 800000</a:t>
            </a:r>
            <a:br/>
            <a:r>
              <a:t>CAPEX: TBD</a:t>
            </a:r>
          </a:p>
        </p:txBody>
      </p:sp>
      <p:sp>
        <p:nvSpPr>
          <p:cNvPr id="12" name="Rectangle 11"/>
          <p:cNvSpPr/>
          <p:nvPr/>
        </p:nvSpPr>
        <p:spPr>
          <a:xfrm>
            <a:off x="274320" y="38797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5295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8155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8383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5698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85585"/>
            <a:ext cx="5486400" cy="298094"/>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9.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4.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#9: Explore the use of a lower-cost, but high-friction coefficient brake pad material for the rear brake assemblies, ensuring it meets the required wear rates and NVH characteristics.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33679"/>
          </a:xfrm>
          <a:prstGeom prst="rect">
            <a:avLst/>
          </a:prstGeom>
          <a:noFill/>
        </p:spPr>
        <p:txBody>
          <a:bodyPr wrap="square">
            <a:spAutoFit/>
          </a:bodyPr>
          <a:lstStyle/>
          <a:p>
            <a:pPr>
              <a:defRPr sz="1000">
                <a:solidFill>
                  <a:srgbClr val="333333"/>
                </a:solidFill>
              </a:defRPr>
            </a:pPr>
            <a:r>
              <a:t>Technical optimization of Explore the use of a lower-cost, but high-friction coefficient brake pad material for the rear brake assemblies, ensuring it meets the required wear rates and NVH characteristics. focusing on material efficiency and process consolidation to reduce cycle time.</a:t>
            </a:r>
          </a:p>
        </p:txBody>
      </p:sp>
      <p:sp>
        <p:nvSpPr>
          <p:cNvPr id="6" name="Rectangle 5"/>
          <p:cNvSpPr/>
          <p:nvPr/>
        </p:nvSpPr>
        <p:spPr>
          <a:xfrm>
            <a:off x="274320" y="23710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4419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72791"/>
            <a:ext cx="5486400" cy="548091"/>
          </a:xfrm>
          <a:prstGeom prst="rect">
            <a:avLst/>
          </a:prstGeom>
          <a:noFill/>
        </p:spPr>
        <p:txBody>
          <a:bodyPr wrap="square">
            <a:spAutoFit/>
          </a:bodyPr>
          <a:lstStyle/>
          <a:p>
            <a:pPr>
              <a:defRPr sz="1000">
                <a:solidFill>
                  <a:srgbClr val="333333"/>
                </a:solidFill>
              </a:defRPr>
            </a:pPr>
            <a:r>
              <a:t>Explore the use of a lower-cost, but high-friction coefficient brake pad material for the rear brake</a:t>
            </a:r>
            <a:br/>
            <a:r>
              <a:t>N/A (Maintains current envelope)</a:t>
            </a:r>
          </a:p>
        </p:txBody>
      </p:sp>
      <p:sp>
        <p:nvSpPr>
          <p:cNvPr id="9" name="Rectangle 8"/>
          <p:cNvSpPr/>
          <p:nvPr/>
        </p:nvSpPr>
        <p:spPr>
          <a:xfrm>
            <a:off x="274320" y="322088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9403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22634"/>
            <a:ext cx="5486400" cy="386791"/>
          </a:xfrm>
          <a:prstGeom prst="rect">
            <a:avLst/>
          </a:prstGeom>
          <a:noFill/>
        </p:spPr>
        <p:txBody>
          <a:bodyPr wrap="square">
            <a:spAutoFit/>
          </a:bodyPr>
          <a:lstStyle/>
          <a:p>
            <a:pPr>
              <a:defRPr sz="1000">
                <a:solidFill>
                  <a:srgbClr val="333333"/>
                </a:solidFill>
              </a:defRPr>
            </a:pPr>
            <a:r>
              <a:t>Est. Saving: INR 1000000</a:t>
            </a:r>
            <a:br/>
            <a:r>
              <a:t>CAPEX: TBD</a:t>
            </a:r>
          </a:p>
        </p:txBody>
      </p:sp>
      <p:sp>
        <p:nvSpPr>
          <p:cNvPr id="12" name="Rectangle 11"/>
          <p:cNvSpPr/>
          <p:nvPr/>
        </p:nvSpPr>
        <p:spPr>
          <a:xfrm>
            <a:off x="274320" y="39094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8257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11177"/>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134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8661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15212"/>
            <a:ext cx="5486400" cy="26846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3.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6.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#10: Investigate a single-piece brake caliper casting (e.g., aluminum alloy) for the front axle, replacing the current multi-piece bolted design, to reduce assembly complexity and tooling costs.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0138"/>
          </a:xfrm>
          <a:prstGeom prst="rect">
            <a:avLst/>
          </a:prstGeom>
          <a:noFill/>
        </p:spPr>
        <p:txBody>
          <a:bodyPr wrap="square">
            <a:spAutoFit/>
          </a:bodyPr>
          <a:lstStyle/>
          <a:p>
            <a:pPr>
              <a:defRPr sz="1000">
                <a:solidFill>
                  <a:srgbClr val="333333"/>
                </a:solidFill>
              </a:defRPr>
            </a:pPr>
            <a:r>
              <a:t>Technical optimization of Investigate a single-piece brake caliper casting (e.g., aluminum alloy) for the front axle, replacing the current multi-piece bolted design, to reduce assembly complexity and tooling costs. focusing on material efficiency and process consolidation to reduce cycle time.</a:t>
            </a:r>
          </a:p>
        </p:txBody>
      </p:sp>
      <p:sp>
        <p:nvSpPr>
          <p:cNvPr id="6" name="Rectangle 5"/>
          <p:cNvSpPr/>
          <p:nvPr/>
        </p:nvSpPr>
        <p:spPr>
          <a:xfrm>
            <a:off x="274320" y="238749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065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89250"/>
            <a:ext cx="5486400" cy="548091"/>
          </a:xfrm>
          <a:prstGeom prst="rect">
            <a:avLst/>
          </a:prstGeom>
          <a:noFill/>
        </p:spPr>
        <p:txBody>
          <a:bodyPr wrap="square">
            <a:spAutoFit/>
          </a:bodyPr>
          <a:lstStyle/>
          <a:p>
            <a:pPr>
              <a:defRPr sz="1000">
                <a:solidFill>
                  <a:srgbClr val="333333"/>
                </a:solidFill>
              </a:defRPr>
            </a:pPr>
            <a:r>
              <a:t>, aluminum alloy) for the front axle, replacing the current multi-piece bolted design, to reduce ass</a:t>
            </a:r>
            <a:br/>
            <a:r>
              <a:t>N/A (Maintains current envelope)</a:t>
            </a:r>
          </a:p>
        </p:txBody>
      </p:sp>
      <p:sp>
        <p:nvSpPr>
          <p:cNvPr id="9" name="Rectangle 8"/>
          <p:cNvSpPr/>
          <p:nvPr/>
        </p:nvSpPr>
        <p:spPr>
          <a:xfrm>
            <a:off x="274320" y="323734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1049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39093"/>
            <a:ext cx="5486400" cy="386791"/>
          </a:xfrm>
          <a:prstGeom prst="rect">
            <a:avLst/>
          </a:prstGeom>
          <a:noFill/>
        </p:spPr>
        <p:txBody>
          <a:bodyPr wrap="square">
            <a:spAutoFit/>
          </a:bodyPr>
          <a:lstStyle/>
          <a:p>
            <a:pPr>
              <a:defRPr sz="1000">
                <a:solidFill>
                  <a:srgbClr val="333333"/>
                </a:solidFill>
              </a:defRPr>
            </a:pPr>
            <a:r>
              <a:t>Est. Saving: INR 2000000</a:t>
            </a:r>
            <a:br/>
            <a:r>
              <a:t>CAPEX: TBD</a:t>
            </a:r>
          </a:p>
        </p:txBody>
      </p:sp>
      <p:sp>
        <p:nvSpPr>
          <p:cNvPr id="12" name="Rectangle 11"/>
          <p:cNvSpPr/>
          <p:nvPr/>
        </p:nvSpPr>
        <p:spPr>
          <a:xfrm>
            <a:off x="274320" y="39258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9903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27636"/>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299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0307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31671"/>
            <a:ext cx="5486400" cy="252008"/>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#11: Reduce the complexity of the rear brake caliper mounting bracket by simplifying its geometry, potentially reducing machining operations, while maintaining load-bearing capacity.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30387"/>
          </a:xfrm>
          <a:prstGeom prst="rect">
            <a:avLst/>
          </a:prstGeom>
          <a:noFill/>
        </p:spPr>
        <p:txBody>
          <a:bodyPr wrap="square">
            <a:spAutoFit/>
          </a:bodyPr>
          <a:lstStyle/>
          <a:p>
            <a:pPr>
              <a:defRPr sz="1000">
                <a:solidFill>
                  <a:srgbClr val="333333"/>
                </a:solidFill>
              </a:defRPr>
            </a:pPr>
            <a:r>
              <a:t>Technical optimization of Reduce the complexity of the rear brake caliper mounting bracket by simplifying its geometry, potentially reducing machining operations, while maintaining load-bearing capacity. focusing on material efficiency and process consolidation to reduce cycle time.</a:t>
            </a:r>
          </a:p>
        </p:txBody>
      </p:sp>
      <p:sp>
        <p:nvSpPr>
          <p:cNvPr id="6" name="Rectangle 5"/>
          <p:cNvSpPr/>
          <p:nvPr/>
        </p:nvSpPr>
        <p:spPr>
          <a:xfrm>
            <a:off x="274320" y="236774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4089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69499"/>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270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0021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28817"/>
            <a:ext cx="5486400" cy="385145"/>
          </a:xfrm>
          <a:prstGeom prst="rect">
            <a:avLst/>
          </a:prstGeom>
          <a:noFill/>
        </p:spPr>
        <p:txBody>
          <a:bodyPr wrap="square">
            <a:spAutoFit/>
          </a:bodyPr>
          <a:lstStyle/>
          <a:p>
            <a:pPr>
              <a:defRPr sz="1000">
                <a:solidFill>
                  <a:srgbClr val="333333"/>
                </a:solidFill>
              </a:defRPr>
            </a:pPr>
            <a:r>
              <a:t>Est. Saving: INR 900000</a:t>
            </a:r>
            <a:br/>
            <a:r>
              <a:t>CAPEX: TBD</a:t>
            </a:r>
          </a:p>
        </p:txBody>
      </p:sp>
      <p:sp>
        <p:nvSpPr>
          <p:cNvPr id="12" name="Rectangle 11"/>
          <p:cNvSpPr/>
          <p:nvPr/>
        </p:nvSpPr>
        <p:spPr>
          <a:xfrm>
            <a:off x="274320" y="381396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8711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1571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179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9114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19748"/>
            <a:ext cx="5486400" cy="36393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9.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#12: Optimize the brake rotor casting process to reduce casting defects and improve surface finish, thereby potentially reducing the need for excessive machining and inspection.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22157"/>
          </a:xfrm>
          <a:prstGeom prst="rect">
            <a:avLst/>
          </a:prstGeom>
          <a:noFill/>
        </p:spPr>
        <p:txBody>
          <a:bodyPr wrap="square">
            <a:spAutoFit/>
          </a:bodyPr>
          <a:lstStyle/>
          <a:p>
            <a:pPr>
              <a:defRPr sz="1000">
                <a:solidFill>
                  <a:srgbClr val="333333"/>
                </a:solidFill>
              </a:defRPr>
            </a:pPr>
            <a:r>
              <a:t>Technical optimization of Optimize the brake rotor casting process to reduce casting defects and improve surface finish, thereby potentially reducing the need for excessive machining and inspection. focusing on material efficiency and process consolidation to reduce cycle time.</a:t>
            </a:r>
          </a:p>
        </p:txBody>
      </p:sp>
      <p:sp>
        <p:nvSpPr>
          <p:cNvPr id="6" name="Rectangle 5"/>
          <p:cNvSpPr/>
          <p:nvPr/>
        </p:nvSpPr>
        <p:spPr>
          <a:xfrm>
            <a:off x="274320" y="235951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3266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61269"/>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188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9198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20587"/>
            <a:ext cx="5486400" cy="386791"/>
          </a:xfrm>
          <a:prstGeom prst="rect">
            <a:avLst/>
          </a:prstGeom>
          <a:noFill/>
        </p:spPr>
        <p:txBody>
          <a:bodyPr wrap="square">
            <a:spAutoFit/>
          </a:bodyPr>
          <a:lstStyle/>
          <a:p>
            <a:pPr>
              <a:defRPr sz="1000">
                <a:solidFill>
                  <a:srgbClr val="333333"/>
                </a:solidFill>
              </a:defRPr>
            </a:pPr>
            <a:r>
              <a:t>Est. Saving: INR 1300000</a:t>
            </a:r>
            <a:br/>
            <a:r>
              <a:t>CAPEX: TBD</a:t>
            </a:r>
          </a:p>
        </p:txBody>
      </p:sp>
      <p:sp>
        <p:nvSpPr>
          <p:cNvPr id="12" name="Rectangle 11"/>
          <p:cNvSpPr/>
          <p:nvPr/>
        </p:nvSpPr>
        <p:spPr>
          <a:xfrm>
            <a:off x="274320" y="380737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8053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09130"/>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114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845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13165"/>
            <a:ext cx="5486400" cy="370514"/>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5.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#13: Value Engineering (VE) application on the MG Hector's brake rotor and caliper to reduce material cost and manufacturing complexity. Focus on optimizing rotor thickness and exploring alternative caliper materials (e.g., high-strength aluminum alloys instead of cast iron) while maintaining thermal performance and meeting FMVSS 105 and ECE R13 regulations. The dust shield gauge can be optimized for cost reduction without compromising protection. This approach directly addresses the 'tooling CAPEX limited' constraint by focusing on existing designs and material substitutions rather than entirely new architectures.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72795"/>
          </a:xfrm>
          <a:prstGeom prst="rect">
            <a:avLst/>
          </a:prstGeom>
          <a:noFill/>
        </p:spPr>
        <p:txBody>
          <a:bodyPr wrap="none">
            <a:spAutoFit/>
          </a:bodyPr>
          <a:lstStyle/>
          <a:p>
            <a:pPr>
              <a:defRPr b="1" sz="831">
                <a:solidFill>
                  <a:srgbClr val="FF6400"/>
                </a:solidFill>
              </a:defRPr>
            </a:pPr>
            <a:r>
              <a:t>TECHNICAL ENGINEERING VIEW</a:t>
            </a:r>
          </a:p>
        </p:txBody>
      </p:sp>
      <p:sp>
        <p:nvSpPr>
          <p:cNvPr id="5" name="TextBox 4"/>
          <p:cNvSpPr txBox="1"/>
          <p:nvPr/>
        </p:nvSpPr>
        <p:spPr>
          <a:xfrm>
            <a:off x="274320" y="4150435"/>
            <a:ext cx="5486400" cy="1023919"/>
          </a:xfrm>
          <a:prstGeom prst="rect">
            <a:avLst/>
          </a:prstGeom>
          <a:noFill/>
        </p:spPr>
        <p:txBody>
          <a:bodyPr wrap="square">
            <a:spAutoFit/>
          </a:bodyPr>
          <a:lstStyle/>
          <a:p>
            <a:pPr>
              <a:defRPr sz="755">
                <a:solidFill>
                  <a:srgbClr val="333333"/>
                </a:solidFill>
              </a:defRPr>
            </a:pPr>
            <a:r>
              <a:t>Technical optimization of Value Engineering (VE) application on the MG Hector's brake rotor and caliper to reduce material cost and manufacturing complexity. Focus on optimizing rotor thickness and exploring alternative caliper materials (e.g., high-strength aluminum alloys instead of cast iron) while maintaining thermal performance and meeting FMVSS 105 and ECE R13 regulations. The dust shield gauge can be optimized for cost reduction without compromising protection. This approach directly addresses the 'tooling CAPEX limited' constraint by focusing on existing designs and material substitutions rather than entirely new architectures. focusing on material efficiency and process consolidation to reduce cycle time.</a:t>
            </a:r>
          </a:p>
        </p:txBody>
      </p:sp>
      <p:sp>
        <p:nvSpPr>
          <p:cNvPr id="6" name="Rectangle 5"/>
          <p:cNvSpPr/>
          <p:nvPr/>
        </p:nvSpPr>
        <p:spPr>
          <a:xfrm>
            <a:off x="274320" y="517435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47507"/>
            <a:ext cx="5486400" cy="172795"/>
          </a:xfrm>
          <a:prstGeom prst="rect">
            <a:avLst/>
          </a:prstGeom>
          <a:noFill/>
        </p:spPr>
        <p:txBody>
          <a:bodyPr wrap="none">
            <a:spAutoFit/>
          </a:bodyPr>
          <a:lstStyle/>
          <a:p>
            <a:pPr>
              <a:defRPr b="1" sz="831">
                <a:solidFill>
                  <a:srgbClr val="FF6400"/>
                </a:solidFill>
              </a:defRPr>
            </a:pPr>
            <a:r>
              <a:t>MATERIAL &amp; DIMENSION SWAP</a:t>
            </a:r>
          </a:p>
        </p:txBody>
      </p:sp>
      <p:sp>
        <p:nvSpPr>
          <p:cNvPr id="8" name="TextBox 7"/>
          <p:cNvSpPr txBox="1"/>
          <p:nvPr/>
        </p:nvSpPr>
        <p:spPr>
          <a:xfrm>
            <a:off x="274320" y="5420303"/>
            <a:ext cx="5486400" cy="414295"/>
          </a:xfrm>
          <a:prstGeom prst="rect">
            <a:avLst/>
          </a:prstGeom>
          <a:noFill/>
        </p:spPr>
        <p:txBody>
          <a:bodyPr wrap="square">
            <a:spAutoFit/>
          </a:bodyPr>
          <a:lstStyle/>
          <a:p>
            <a:pPr>
              <a:defRPr sz="755">
                <a:solidFill>
                  <a:srgbClr val="333333"/>
                </a:solidFill>
              </a:defRPr>
            </a:pPr>
            <a:r>
              <a:t>Value Engineering (VE) application on the MG Hector's brake rotor and caliper to reduce material cos</a:t>
            </a:r>
            <a:br/>
            <a:r>
              <a:t>N/A (Maintains current envelope)</a:t>
            </a:r>
          </a:p>
        </p:txBody>
      </p:sp>
      <p:sp>
        <p:nvSpPr>
          <p:cNvPr id="9" name="Rectangle 8"/>
          <p:cNvSpPr/>
          <p:nvPr/>
        </p:nvSpPr>
        <p:spPr>
          <a:xfrm>
            <a:off x="274320" y="58345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907751"/>
            <a:ext cx="5486400" cy="172795"/>
          </a:xfrm>
          <a:prstGeom prst="rect">
            <a:avLst/>
          </a:prstGeom>
          <a:noFill/>
        </p:spPr>
        <p:txBody>
          <a:bodyPr wrap="none">
            <a:spAutoFit/>
          </a:bodyPr>
          <a:lstStyle/>
          <a:p>
            <a:pPr>
              <a:defRPr b="1" sz="831">
                <a:solidFill>
                  <a:srgbClr val="FF6400"/>
                </a:solidFill>
              </a:defRPr>
            </a:pPr>
            <a:r>
              <a:t>FINANCIAL IMPACT</a:t>
            </a:r>
          </a:p>
        </p:txBody>
      </p:sp>
      <p:sp>
        <p:nvSpPr>
          <p:cNvPr id="11" name="TextBox 10"/>
          <p:cNvSpPr txBox="1"/>
          <p:nvPr/>
        </p:nvSpPr>
        <p:spPr>
          <a:xfrm>
            <a:off x="274320" y="6080547"/>
            <a:ext cx="5486400" cy="287394"/>
          </a:xfrm>
          <a:prstGeom prst="rect">
            <a:avLst/>
          </a:prstGeom>
          <a:noFill/>
        </p:spPr>
        <p:txBody>
          <a:bodyPr wrap="square">
            <a:spAutoFit/>
          </a:bodyPr>
          <a:lstStyle/>
          <a:p>
            <a:pPr>
              <a:defRPr sz="755">
                <a:solidFill>
                  <a:srgbClr val="333333"/>
                </a:solidFill>
              </a:defRPr>
            </a:pPr>
            <a:r>
              <a:t>Est. Saving: INR TBD</a:t>
            </a:r>
            <a:br/>
            <a:r>
              <a:t>CAPEX: TBD</a:t>
            </a:r>
          </a:p>
        </p:txBody>
      </p:sp>
      <p:sp>
        <p:nvSpPr>
          <p:cNvPr id="12" name="Rectangle 11"/>
          <p:cNvSpPr/>
          <p:nvPr/>
        </p:nvSpPr>
        <p:spPr>
          <a:xfrm>
            <a:off x="274320" y="636794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76.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#14: Investigate advanced friction material formulations for the MG Hector's brake pads that offer improved fade resistance and longevity without significantly increasing cost. This research would aim to identify materials that can maintain a stable friction coefficient across a wider temperature range, reducing the need for larger or thicker rotors and potentially allowing for thinner dust shields. This aligns with the 'high kinetic energy' constraint by enhancing braking performance, while the 'tooling CAPEX limited' constraint encourages material-level innovation rather than radical design changes.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73958"/>
          </a:xfrm>
          <a:prstGeom prst="rect">
            <a:avLst/>
          </a:prstGeom>
          <a:noFill/>
        </p:spPr>
        <p:txBody>
          <a:bodyPr wrap="none">
            <a:spAutoFit/>
          </a:bodyPr>
          <a:lstStyle/>
          <a:p>
            <a:pPr>
              <a:defRPr b="1" sz="837">
                <a:solidFill>
                  <a:srgbClr val="FF6400"/>
                </a:solidFill>
              </a:defRPr>
            </a:pPr>
            <a:r>
              <a:t>TECHNICAL ENGINEERING VIEW</a:t>
            </a:r>
          </a:p>
        </p:txBody>
      </p:sp>
      <p:sp>
        <p:nvSpPr>
          <p:cNvPr id="5" name="TextBox 4"/>
          <p:cNvSpPr txBox="1"/>
          <p:nvPr/>
        </p:nvSpPr>
        <p:spPr>
          <a:xfrm>
            <a:off x="274320" y="4151598"/>
            <a:ext cx="5486400" cy="1013274"/>
          </a:xfrm>
          <a:prstGeom prst="rect">
            <a:avLst/>
          </a:prstGeom>
          <a:noFill/>
        </p:spPr>
        <p:txBody>
          <a:bodyPr wrap="square">
            <a:spAutoFit/>
          </a:bodyPr>
          <a:lstStyle/>
          <a:p>
            <a:pPr>
              <a:defRPr sz="760">
                <a:solidFill>
                  <a:srgbClr val="333333"/>
                </a:solidFill>
              </a:defRPr>
            </a:pPr>
            <a:r>
              <a:t>Technical optimization of Investigate advanced friction material formulations for the MG Hector's brake pads that offer improved fade resistance and longevity without significantly increasing cost. This research would aim to identify materials that can maintain a stable friction coefficient across a wider temperature range, reducing the need for larger or thicker rotors and potentially allowing for thinner dust shields. This aligns with the 'high kinetic energy' constraint by enhancing braking performance, while the 'tooling CAPEX limited' constraint encourages material-level innovation rather than radical design changes. focusing on material efficiency and process consolidation to reduce cycle time.</a:t>
            </a:r>
          </a:p>
        </p:txBody>
      </p:sp>
      <p:sp>
        <p:nvSpPr>
          <p:cNvPr id="6" name="Rectangle 5"/>
          <p:cNvSpPr/>
          <p:nvPr/>
        </p:nvSpPr>
        <p:spPr>
          <a:xfrm>
            <a:off x="274320" y="516487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38025"/>
            <a:ext cx="5486400" cy="173958"/>
          </a:xfrm>
          <a:prstGeom prst="rect">
            <a:avLst/>
          </a:prstGeom>
          <a:noFill/>
        </p:spPr>
        <p:txBody>
          <a:bodyPr wrap="none">
            <a:spAutoFit/>
          </a:bodyPr>
          <a:lstStyle/>
          <a:p>
            <a:pPr>
              <a:defRPr b="1" sz="837">
                <a:solidFill>
                  <a:srgbClr val="FF6400"/>
                </a:solidFill>
              </a:defRPr>
            </a:pPr>
            <a:r>
              <a:t>MATERIAL &amp; DIMENSION SWAP</a:t>
            </a:r>
          </a:p>
        </p:txBody>
      </p:sp>
      <p:sp>
        <p:nvSpPr>
          <p:cNvPr id="8" name="TextBox 7"/>
          <p:cNvSpPr txBox="1"/>
          <p:nvPr/>
        </p:nvSpPr>
        <p:spPr>
          <a:xfrm>
            <a:off x="274320" y="5411983"/>
            <a:ext cx="5486400" cy="417083"/>
          </a:xfrm>
          <a:prstGeom prst="rect">
            <a:avLst/>
          </a:prstGeom>
          <a:noFill/>
        </p:spPr>
        <p:txBody>
          <a:bodyPr wrap="square">
            <a:spAutoFit/>
          </a:bodyPr>
          <a:lstStyle/>
          <a:p>
            <a:pPr>
              <a:defRPr sz="760">
                <a:solidFill>
                  <a:srgbClr val="333333"/>
                </a:solidFill>
              </a:defRPr>
            </a:pPr>
            <a:r>
              <a:t>Investigate advanced friction material formulations for the MG Hector's brake pads that offer improv</a:t>
            </a:r>
            <a:br/>
            <a:r>
              <a:t>N/A (Maintains current envelope)</a:t>
            </a:r>
          </a:p>
        </p:txBody>
      </p:sp>
      <p:sp>
        <p:nvSpPr>
          <p:cNvPr id="9" name="Rectangle 8"/>
          <p:cNvSpPr/>
          <p:nvPr/>
        </p:nvSpPr>
        <p:spPr>
          <a:xfrm>
            <a:off x="274320" y="5829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902219"/>
            <a:ext cx="5486400" cy="173958"/>
          </a:xfrm>
          <a:prstGeom prst="rect">
            <a:avLst/>
          </a:prstGeom>
          <a:noFill/>
        </p:spPr>
        <p:txBody>
          <a:bodyPr wrap="none">
            <a:spAutoFit/>
          </a:bodyPr>
          <a:lstStyle/>
          <a:p>
            <a:pPr>
              <a:defRPr b="1" sz="837">
                <a:solidFill>
                  <a:srgbClr val="FF6400"/>
                </a:solidFill>
              </a:defRPr>
            </a:pPr>
            <a:r>
              <a:t>FINANCIAL IMPACT</a:t>
            </a:r>
          </a:p>
        </p:txBody>
      </p:sp>
      <p:sp>
        <p:nvSpPr>
          <p:cNvPr id="11" name="TextBox 10"/>
          <p:cNvSpPr txBox="1"/>
          <p:nvPr/>
        </p:nvSpPr>
        <p:spPr>
          <a:xfrm>
            <a:off x="274320" y="6076177"/>
            <a:ext cx="5486400" cy="289328"/>
          </a:xfrm>
          <a:prstGeom prst="rect">
            <a:avLst/>
          </a:prstGeom>
          <a:noFill/>
        </p:spPr>
        <p:txBody>
          <a:bodyPr wrap="square">
            <a:spAutoFit/>
          </a:bodyPr>
          <a:lstStyle/>
          <a:p>
            <a:pPr>
              <a:defRPr sz="760">
                <a:solidFill>
                  <a:srgbClr val="333333"/>
                </a:solidFill>
              </a:defRPr>
            </a:pPr>
            <a:r>
              <a:t>Est. Saving: INR TBD</a:t>
            </a:r>
            <a:br/>
            <a:r>
              <a:t>CAPEX: TBD</a:t>
            </a:r>
          </a:p>
        </p:txBody>
      </p:sp>
      <p:sp>
        <p:nvSpPr>
          <p:cNvPr id="12" name="Rectangle 11"/>
          <p:cNvSpPr/>
          <p:nvPr/>
        </p:nvSpPr>
        <p:spPr>
          <a:xfrm>
            <a:off x="274320" y="636550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29.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162.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#15: Explore the use of lightweight, high-strength steel alloys or advanced composites for the MG Hector's brake rotor to reduce unsprung mass and rotational inertia, thereby improving vehicle dynamics and potentially allowing for smaller brake systems. This would need careful consideration of thermal conductivity and cost. Given the 'tooling CAPEX limited' constraint, focus would be on materials that can be manufactured using existing or slightly modified tooling. The 'no rear IRS changes' constraint means front brake optimization is primary.</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07304"/>
          </a:xfrm>
          <a:prstGeom prst="rect">
            <a:avLst/>
          </a:prstGeom>
          <a:noFill/>
        </p:spPr>
        <p:txBody>
          <a:bodyPr wrap="none">
            <a:spAutoFit/>
          </a:bodyPr>
          <a:lstStyle/>
          <a:p>
            <a:pPr>
              <a:defRPr b="1" sz="997">
                <a:solidFill>
                  <a:srgbClr val="FF6400"/>
                </a:solidFill>
              </a:defRPr>
            </a:pPr>
            <a:r>
              <a:t>TECHNICAL ENGINEERING VIEW</a:t>
            </a:r>
          </a:p>
        </p:txBody>
      </p:sp>
      <p:sp>
        <p:nvSpPr>
          <p:cNvPr id="5" name="TextBox 4"/>
          <p:cNvSpPr txBox="1"/>
          <p:nvPr/>
        </p:nvSpPr>
        <p:spPr>
          <a:xfrm>
            <a:off x="274320" y="3773464"/>
            <a:ext cx="5486400" cy="1119442"/>
          </a:xfrm>
          <a:prstGeom prst="rect">
            <a:avLst/>
          </a:prstGeom>
          <a:noFill/>
        </p:spPr>
        <p:txBody>
          <a:bodyPr wrap="square">
            <a:spAutoFit/>
          </a:bodyPr>
          <a:lstStyle/>
          <a:p>
            <a:pPr>
              <a:defRPr sz="906">
                <a:solidFill>
                  <a:srgbClr val="333333"/>
                </a:solidFill>
              </a:defRPr>
            </a:pPr>
            <a:r>
              <a:t>Technical optimization of Explore the use of lightweight, high-strength steel alloys or advanced composites for the MG Hector's brake rotor to reduce unsprung mass and rotational inertia, thereby improving vehicle dynamics and potentially allowing for smaller brake systems. This would need careful consideration of thermal conductivity and cost. Given the 'tooling CAPEX limited' constraint, focus would be on materials that can be manufactured using existing or slightly modified tooling. The 'no rear IRS changes' constraint means front brake optimization is primary. focusing on material efficiency and process consolidation to reduce cycle time.</a:t>
            </a:r>
          </a:p>
        </p:txBody>
      </p:sp>
      <p:sp>
        <p:nvSpPr>
          <p:cNvPr id="6" name="Rectangle 5"/>
          <p:cNvSpPr/>
          <p:nvPr/>
        </p:nvSpPr>
        <p:spPr>
          <a:xfrm>
            <a:off x="274320" y="489290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66058"/>
            <a:ext cx="5486400" cy="207304"/>
          </a:xfrm>
          <a:prstGeom prst="rect">
            <a:avLst/>
          </a:prstGeom>
          <a:noFill/>
        </p:spPr>
        <p:txBody>
          <a:bodyPr wrap="none">
            <a:spAutoFit/>
          </a:bodyPr>
          <a:lstStyle/>
          <a:p>
            <a:pPr>
              <a:defRPr b="1" sz="997">
                <a:solidFill>
                  <a:srgbClr val="FF6400"/>
                </a:solidFill>
              </a:defRPr>
            </a:pPr>
            <a:r>
              <a:t>MATERIAL &amp; DIMENSION SWAP</a:t>
            </a:r>
          </a:p>
        </p:txBody>
      </p:sp>
      <p:sp>
        <p:nvSpPr>
          <p:cNvPr id="8" name="TextBox 7"/>
          <p:cNvSpPr txBox="1"/>
          <p:nvPr/>
        </p:nvSpPr>
        <p:spPr>
          <a:xfrm>
            <a:off x="274320" y="5173363"/>
            <a:ext cx="5486400" cy="497032"/>
          </a:xfrm>
          <a:prstGeom prst="rect">
            <a:avLst/>
          </a:prstGeom>
          <a:noFill/>
        </p:spPr>
        <p:txBody>
          <a:bodyPr wrap="square">
            <a:spAutoFit/>
          </a:bodyPr>
          <a:lstStyle/>
          <a:p>
            <a:pPr>
              <a:defRPr sz="906">
                <a:solidFill>
                  <a:srgbClr val="333333"/>
                </a:solidFill>
              </a:defRPr>
            </a:pPr>
            <a:r>
              <a:t>Explore the use of lightweight, high-strength steel alloys or advanced composites for the MG Hector'</a:t>
            </a:r>
            <a:br/>
            <a:r>
              <a:t>N/A (Maintains current envelope)</a:t>
            </a:r>
          </a:p>
        </p:txBody>
      </p:sp>
      <p:sp>
        <p:nvSpPr>
          <p:cNvPr id="9" name="Rectangle 8"/>
          <p:cNvSpPr/>
          <p:nvPr/>
        </p:nvSpPr>
        <p:spPr>
          <a:xfrm>
            <a:off x="274320" y="56703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43547"/>
            <a:ext cx="5486400" cy="207304"/>
          </a:xfrm>
          <a:prstGeom prst="rect">
            <a:avLst/>
          </a:prstGeom>
          <a:noFill/>
        </p:spPr>
        <p:txBody>
          <a:bodyPr wrap="none">
            <a:spAutoFit/>
          </a:bodyPr>
          <a:lstStyle/>
          <a:p>
            <a:pPr>
              <a:defRPr b="1" sz="997">
                <a:solidFill>
                  <a:srgbClr val="FF6400"/>
                </a:solidFill>
              </a:defRPr>
            </a:pPr>
            <a:r>
              <a:t>FINANCIAL IMPACT</a:t>
            </a:r>
          </a:p>
        </p:txBody>
      </p:sp>
      <p:sp>
        <p:nvSpPr>
          <p:cNvPr id="11" name="TextBox 10"/>
          <p:cNvSpPr txBox="1"/>
          <p:nvPr/>
        </p:nvSpPr>
        <p:spPr>
          <a:xfrm>
            <a:off x="274320" y="5950851"/>
            <a:ext cx="5486400" cy="344788"/>
          </a:xfrm>
          <a:prstGeom prst="rect">
            <a:avLst/>
          </a:prstGeom>
          <a:noFill/>
        </p:spPr>
        <p:txBody>
          <a:bodyPr wrap="square">
            <a:spAutoFit/>
          </a:bodyPr>
          <a:lstStyle/>
          <a:p>
            <a:pPr>
              <a:defRPr sz="906">
                <a:solidFill>
                  <a:srgbClr val="333333"/>
                </a:solidFill>
              </a:defRPr>
            </a:pPr>
            <a:r>
              <a:t>Est. Saving: INR TBD</a:t>
            </a:r>
            <a:br/>
            <a:r>
              <a:t>CAPEX: TBD</a:t>
            </a:r>
          </a:p>
        </p:txBody>
      </p:sp>
      <p:sp>
        <p:nvSpPr>
          <p:cNvPr id="12" name="Rectangle 11"/>
          <p:cNvSpPr/>
          <p:nvPr/>
        </p:nvSpPr>
        <p:spPr>
          <a:xfrm>
            <a:off x="274320" y="62956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48.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TextBox 14"/>
          <p:cNvSpPr txBox="1"/>
          <p:nvPr/>
        </p:nvSpPr>
        <p:spPr>
          <a:xfrm>
            <a:off x="6217920" y="48280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205.jpg"/>
          <p:cNvPicPr>
            <a:picLocks noChangeAspect="1"/>
          </p:cNvPicPr>
          <p:nvPr/>
        </p:nvPicPr>
        <p:blipFill>
          <a:blip r:embed="rId3"/>
          <a:stretch>
            <a:fillRect/>
          </a:stretch>
        </p:blipFill>
        <p:spPr>
          <a:xfrm>
            <a:off x="6217920" y="5102352"/>
            <a:ext cx="5699455" cy="1481328"/>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#16: Industry Trend: Predictive Maintenance for Brake Systems. While not directly a 'cost reduction' in the traditional sense, implementing sensors and algorithms for predicting brake pad and rotor wear can optimize maintenance schedules, reduce emergency repairs, and prevent catastrophic failures. For the MG Hector (1.7T, ICE C-SUV), this can lead to long-term cost savings by avoiding premature component replacement and ensuring safety. The constraint of 'tooling CAPEX limited' is addressed by integrating sensors into existing designs and leveraging software solutions.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81549"/>
          </a:xfrm>
          <a:prstGeom prst="rect">
            <a:avLst/>
          </a:prstGeom>
          <a:noFill/>
        </p:spPr>
        <p:txBody>
          <a:bodyPr wrap="none">
            <a:spAutoFit/>
          </a:bodyPr>
          <a:lstStyle/>
          <a:p>
            <a:pPr>
              <a:defRPr b="1" sz="873">
                <a:solidFill>
                  <a:srgbClr val="FF6400"/>
                </a:solidFill>
              </a:defRPr>
            </a:pPr>
            <a:r>
              <a:t>TECHNICAL ENGINEERING VIEW</a:t>
            </a:r>
          </a:p>
        </p:txBody>
      </p:sp>
      <p:sp>
        <p:nvSpPr>
          <p:cNvPr id="5" name="TextBox 4"/>
          <p:cNvSpPr txBox="1"/>
          <p:nvPr/>
        </p:nvSpPr>
        <p:spPr>
          <a:xfrm>
            <a:off x="274320" y="4159189"/>
            <a:ext cx="5486400" cy="1015662"/>
          </a:xfrm>
          <a:prstGeom prst="rect">
            <a:avLst/>
          </a:prstGeom>
          <a:noFill/>
        </p:spPr>
        <p:txBody>
          <a:bodyPr wrap="square">
            <a:spAutoFit/>
          </a:bodyPr>
          <a:lstStyle/>
          <a:p>
            <a:pPr>
              <a:defRPr sz="794">
                <a:solidFill>
                  <a:srgbClr val="333333"/>
                </a:solidFill>
              </a:defRPr>
            </a:pPr>
            <a:r>
              <a:t>Technical optimization of Industry Trend: Predictive Maintenance for Brake Systems. While not directly a 'cost reduction' in the traditional sense, implementing sensors and algorithms for predicting brake pad and rotor wear can optimize maintenance schedules, reduce emergency repairs, and prevent catastrophic failures. For the MG Hector (1.7T, ICE C-SUV), this can lead to long-term cost savings by avoiding premature component replacement and ensuring safety. The constraint of 'tooling CAPEX limited' is addressed by integrating sensors into existing designs and leveraging software solutions. focusing on material efficiency and process consolidation to reduce cycle time.</a:t>
            </a:r>
          </a:p>
        </p:txBody>
      </p:sp>
      <p:sp>
        <p:nvSpPr>
          <p:cNvPr id="6" name="Rectangle 5"/>
          <p:cNvSpPr/>
          <p:nvPr/>
        </p:nvSpPr>
        <p:spPr>
          <a:xfrm>
            <a:off x="274320" y="51748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48004"/>
            <a:ext cx="5486400" cy="181549"/>
          </a:xfrm>
          <a:prstGeom prst="rect">
            <a:avLst/>
          </a:prstGeom>
          <a:noFill/>
        </p:spPr>
        <p:txBody>
          <a:bodyPr wrap="none">
            <a:spAutoFit/>
          </a:bodyPr>
          <a:lstStyle/>
          <a:p>
            <a:pPr>
              <a:defRPr b="1" sz="873">
                <a:solidFill>
                  <a:srgbClr val="FF6400"/>
                </a:solidFill>
              </a:defRPr>
            </a:pPr>
            <a:r>
              <a:t>MATERIAL &amp; DIMENSION SWAP</a:t>
            </a:r>
          </a:p>
        </p:txBody>
      </p:sp>
      <p:sp>
        <p:nvSpPr>
          <p:cNvPr id="8" name="TextBox 7"/>
          <p:cNvSpPr txBox="1"/>
          <p:nvPr/>
        </p:nvSpPr>
        <p:spPr>
          <a:xfrm>
            <a:off x="274320" y="5429554"/>
            <a:ext cx="5486400" cy="363390"/>
          </a:xfrm>
          <a:prstGeom prst="rect">
            <a:avLst/>
          </a:prstGeom>
          <a:noFill/>
        </p:spPr>
        <p:txBody>
          <a:bodyPr wrap="square">
            <a:spAutoFit/>
          </a:bodyPr>
          <a:lstStyle/>
          <a:p>
            <a:pPr>
              <a:defRPr sz="794">
                <a:solidFill>
                  <a:srgbClr val="333333"/>
                </a:solidFill>
              </a:defRPr>
            </a:pPr>
            <a:r>
              <a:t>N/A (No material change explicitly mentioned)</a:t>
            </a:r>
            <a:br/>
            <a:r>
              <a:t>N/A (Maintains current envelope)</a:t>
            </a:r>
          </a:p>
        </p:txBody>
      </p:sp>
      <p:sp>
        <p:nvSpPr>
          <p:cNvPr id="9" name="Rectangle 8"/>
          <p:cNvSpPr/>
          <p:nvPr/>
        </p:nvSpPr>
        <p:spPr>
          <a:xfrm>
            <a:off x="274320" y="579294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866096"/>
            <a:ext cx="5486400" cy="181549"/>
          </a:xfrm>
          <a:prstGeom prst="rect">
            <a:avLst/>
          </a:prstGeom>
          <a:noFill/>
        </p:spPr>
        <p:txBody>
          <a:bodyPr wrap="none">
            <a:spAutoFit/>
          </a:bodyPr>
          <a:lstStyle/>
          <a:p>
            <a:pPr>
              <a:defRPr b="1" sz="873">
                <a:solidFill>
                  <a:srgbClr val="FF6400"/>
                </a:solidFill>
              </a:defRPr>
            </a:pPr>
            <a:r>
              <a:t>FINANCIAL IMPACT</a:t>
            </a:r>
          </a:p>
        </p:txBody>
      </p:sp>
      <p:sp>
        <p:nvSpPr>
          <p:cNvPr id="11" name="TextBox 10"/>
          <p:cNvSpPr txBox="1"/>
          <p:nvPr/>
        </p:nvSpPr>
        <p:spPr>
          <a:xfrm>
            <a:off x="274320" y="6047646"/>
            <a:ext cx="5486400" cy="301953"/>
          </a:xfrm>
          <a:prstGeom prst="rect">
            <a:avLst/>
          </a:prstGeom>
          <a:noFill/>
        </p:spPr>
        <p:txBody>
          <a:bodyPr wrap="square">
            <a:spAutoFit/>
          </a:bodyPr>
          <a:lstStyle/>
          <a:p>
            <a:pPr>
              <a:defRPr sz="794">
                <a:solidFill>
                  <a:srgbClr val="333333"/>
                </a:solidFill>
              </a:defRPr>
            </a:pPr>
            <a:r>
              <a:t>Est. Saving: INR TBD</a:t>
            </a:r>
            <a:br/>
            <a:r>
              <a:t>CAPEX: TBD</a:t>
            </a:r>
          </a:p>
        </p:txBody>
      </p:sp>
      <p:sp>
        <p:nvSpPr>
          <p:cNvPr id="12" name="Rectangle 11"/>
          <p:cNvSpPr/>
          <p:nvPr/>
        </p:nvSpPr>
        <p:spPr>
          <a:xfrm>
            <a:off x="274320" y="63496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1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91.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
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03-Feb-2026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1460175" cy="6263640"/>
        </p:xfrm>
        <a:graphic>
          <a:graphicData uri="http://schemas.openxmlformats.org/drawingml/2006/table">
            <a:tbl>
              <a:tblPr firstRow="1" bandRow="1">
                <a:tableStyleId>{5C22544A-7EE6-4342-B048-85BDC9FD1C3A}</a:tableStyleId>
              </a:tblPr>
              <a:tblGrid>
                <a:gridCol w="1273352"/>
                <a:gridCol w="1273352"/>
                <a:gridCol w="1273352"/>
                <a:gridCol w="1273352"/>
                <a:gridCol w="1273352"/>
                <a:gridCol w="1273352"/>
                <a:gridCol w="1273352"/>
                <a:gridCol w="1273352"/>
                <a:gridCol w="1273359"/>
              </a:tblGrid>
              <a:tr h="626364">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a:t>
                      </a:r>
                    </a:p>
                  </a:txBody>
                  <a:tcPr>
                    <a:solidFill>
                      <a:srgbClr val="003366"/>
                    </a:solidFill>
                  </a:tcPr>
                </a:tc>
                <a:tc>
                  <a:txBody>
                    <a:bodyPr wrap="square"/>
                    <a:lstStyle/>
                    <a:p>
                      <a:pPr>
                        <a:defRPr b="1" sz="900">
                          <a:solidFill>
                            <a:srgbClr val="FFFFFF"/>
                          </a:solidFill>
                        </a:defRPr>
                      </a:pPr>
                      <a:r>
                        <a:t>Saving</a:t>
                      </a:r>
                    </a:p>
                  </a:txBody>
                  <a:tcPr>
                    <a:solidFill>
                      <a:srgbClr val="003366"/>
                    </a:solidFill>
                  </a:tcPr>
                </a:tc>
                <a:tc>
                  <a:txBody>
                    <a:bodyPr wrap="square"/>
                    <a:lstStyle/>
                    <a:p>
                      <a:pPr>
                        <a:defRPr b="1" sz="900">
                          <a:solidFill>
                            <a:srgbClr val="FFFFFF"/>
                          </a:solidFill>
                        </a:defRPr>
                      </a:pPr>
                      <a:r>
                        <a:t>Yearly volume (per 1 lakh)</a:t>
                      </a:r>
                    </a:p>
                  </a:txBody>
                  <a:tcPr>
                    <a:solidFill>
                      <a:srgbClr val="003366"/>
                    </a:solidFill>
                  </a:tcPr>
                </a:tc>
                <a:tc>
                  <a:txBody>
                    <a:bodyPr wrap="square"/>
                    <a:lstStyle/>
                    <a:p>
                      <a:pPr>
                        <a:defRPr b="1" sz="900">
                          <a:solidFill>
                            <a:srgbClr val="FFFFFF"/>
                          </a:solidFill>
                        </a:defRPr>
                      </a:pPr>
                      <a:r>
                        <a:t>Saving overall (Saving × Volume)</a:t>
                      </a:r>
                    </a:p>
                  </a:txBody>
                  <a:tcPr>
                    <a:solidFill>
                      <a:srgbClr val="003366"/>
                    </a:solidFill>
                  </a:tcPr>
                </a:tc>
                <a:tc>
                  <a:txBody>
                    <a:bodyPr wrap="square"/>
                    <a:lstStyle/>
                    <a:p>
                      <a:pPr>
                        <a:defRPr b="1" sz="900">
                          <a:solidFill>
                            <a:srgbClr val="FFFFFF"/>
                          </a:solidFill>
                        </a:defRPr>
                      </a:pPr>
                      <a:r>
                        <a:t>Status (Accept/Reject)</a:t>
                      </a:r>
                    </a:p>
                  </a:txBody>
                  <a:tcPr>
                    <a:solidFill>
                      <a:srgbClr val="003366"/>
                    </a:solidFill>
                  </a:tcPr>
                </a:tc>
                <a:tc>
                  <a:txBody>
                    <a:bodyPr wrap="square"/>
                    <a:lstStyle/>
                    <a:p>
                      <a:pPr>
                        <a:defRPr b="1" sz="900">
                          <a:solidFill>
                            <a:srgbClr val="FFFFFF"/>
                          </a:solidFill>
                        </a:defRPr>
                      </a:pPr>
                      <a:r>
                        <a:t>Turnaround time</a:t>
                      </a:r>
                    </a:p>
                  </a:txBody>
                  <a:tcPr>
                    <a:solidFill>
                      <a:srgbClr val="003366"/>
                    </a:solidFill>
                  </a:tcPr>
                </a:tc>
                <a:tc>
                  <a:txBody>
                    <a:bodyPr wrap="square"/>
                    <a:lstStyle/>
                    <a:p>
                      <a:pPr>
                        <a:defRPr b="1" sz="900">
                          <a:solidFill>
                            <a:srgbClr val="FFFFFF"/>
                          </a:solidFill>
                        </a:defRPr>
                      </a:pPr>
                      <a:r>
                        <a:t>Required volume yearly</a:t>
                      </a:r>
                    </a:p>
                  </a:txBody>
                  <a:tcPr>
                    <a:solidFill>
                      <a:srgbClr val="003366"/>
                    </a:solidFill>
                  </a:tcPr>
                </a:tc>
              </a:tr>
              <a:tr h="626364">
                <a:tc>
                  <a:txBody>
                    <a:bodyPr wrap="square" lIns="50800" rIns="50800" tIns="25400" bIns="25400"/>
                    <a:lstStyle/>
                    <a:p>
                      <a:pPr>
                        <a:defRPr sz="800">
                          <a:solidFill>
                            <a:srgbClr val="333333"/>
                          </a:solidFill>
                          <a:latin typeface="Calibri"/>
                        </a:defRPr>
                      </a:pPr>
                      <a:r>
                        <a:t>2311-PA-ID-02</a:t>
                      </a:r>
                    </a:p>
                  </a:txBody>
                  <a:tcPr/>
                </a:tc>
                <a:tc>
                  <a:txBody>
                    <a:bodyPr wrap="square" lIns="50800" rIns="50800" tIns="25400" bIns="25400"/>
                    <a:lstStyle/>
                    <a:p>
                      <a:pPr>
                        <a:defRPr sz="800">
                          <a:solidFill>
                            <a:srgbClr val="333333"/>
                          </a:solidFill>
                          <a:latin typeface="Calibri"/>
                        </a:defRPr>
                      </a:pPr>
                      <a:r>
                        <a:t>Redesign the current Brake Pedal Mounting Bracket used in MGI to a similar bracket used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113</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11,300,000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2311-BA-ID-01</a:t>
                      </a:r>
                    </a:p>
                  </a:txBody>
                  <a:tcPr/>
                </a:tc>
                <a:tc>
                  <a:txBody>
                    <a:bodyPr wrap="square" lIns="50800" rIns="50800" tIns="25400" bIns="25400"/>
                    <a:lstStyle/>
                    <a:p>
                      <a:pPr>
                        <a:defRPr sz="800">
                          <a:solidFill>
                            <a:srgbClr val="333333"/>
                          </a:solidFill>
                          <a:latin typeface="Calibri"/>
                        </a:defRPr>
                      </a:pPr>
                      <a:r>
                        <a:t>The Brake Booster Plate in MGI could be integrated into the Dashboard BIW of the vehicle as done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2311-PA-ID-01</a:t>
                      </a:r>
                    </a:p>
                  </a:txBody>
                  <a:tcPr/>
                </a:tc>
                <a:tc>
                  <a:txBody>
                    <a:bodyPr wrap="square" lIns="50800" rIns="50800" tIns="25400" bIns="25400"/>
                    <a:lstStyle/>
                    <a:p>
                      <a:pPr>
                        <a:defRPr sz="800">
                          <a:solidFill>
                            <a:srgbClr val="333333"/>
                          </a:solidFill>
                          <a:latin typeface="Calibri"/>
                        </a:defRPr>
                      </a:pPr>
                      <a:r>
                        <a:t>Remove the black paint coating on the Brake Pedal Mounting Bracket within MGI</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115</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11,500,000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2311-SP-ID-01</a:t>
                      </a:r>
                    </a:p>
                  </a:txBody>
                  <a:tcPr/>
                </a:tc>
                <a:tc>
                  <a:txBody>
                    <a:bodyPr wrap="square" lIns="50800" rIns="50800" tIns="25400" bIns="25400"/>
                    <a:lstStyle/>
                    <a:p>
                      <a:pPr>
                        <a:defRPr sz="8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57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2311-BA-ID-02</a:t>
                      </a:r>
                    </a:p>
                  </a:txBody>
                  <a:tcPr/>
                </a:tc>
                <a:tc>
                  <a:txBody>
                    <a:bodyPr wrap="square" lIns="50800" rIns="50800" tIns="25400" bIns="25400"/>
                    <a:lstStyle/>
                    <a:p>
                      <a:pPr>
                        <a:defRPr sz="800">
                          <a:solidFill>
                            <a:srgbClr val="333333"/>
                          </a:solidFill>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102</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10,200,000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Implement thin-wall ductile iron (e.g., GJS-500-7) casting for front and rear brake calipers, reducing material usage and unsprung mass while maintaining strength and thermal performance critical for the MG Hector's 1.7T weight.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Redesign front and rear brake dust shields using High-Strength Low-Alloy (HSLA) steel, enabling a reduced gauge thickness (e.g., 0.8mm instead of 1.2mm). This achieves material cost savings and minor unsprung mass reduction for the MG Hector without compromising structural integrity or corrosion resistance, respecting the limited tooling CAPEX.</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Industry Trend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Optimize the internal geometry of front and rear cast iron rotors through advanced CFD and FEA simulations to improve cooling efficiency and thermal mass distribution. This allows for potential minor reductions in overall rotor mass or thickness in non-critical areas, leading to material savings while maintaining or improving fade resistance for the 1.7T MG Hector.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Develop and implement a new generation of low-metallic or non-asbestos organic (NAO) friction materials specifically engineered for the MG Hector's weight (1.7T) and duty cycle. The goal is to extend pad life by at least 20%, reduce brake dust, and maintain consistent friction coefficient across a wider temperature range, thereby lowering warranty costs and maintenance frequency.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Industry Trend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bl>
          </a:graphicData>
        </a:graphic>
      </p:graphicFrame>
      <p:sp>
        <p:nvSpPr>
          <p:cNvPr id="3" name="TextBox 2"/>
          <p:cNvSpPr txBox="1"/>
          <p:nvPr/>
        </p:nvSpPr>
        <p:spPr>
          <a:xfrm>
            <a:off x="365760" y="45720"/>
            <a:ext cx="11460175" cy="320040"/>
          </a:xfrm>
          <a:prstGeom prst="rect">
            <a:avLst/>
          </a:prstGeom>
          <a:noFill/>
        </p:spPr>
        <p:txBody>
          <a:bodyPr wrap="square">
            <a:spAutoFit/>
          </a:bodyPr>
          <a:lstStyle/>
          <a:p>
            <a:pPr>
              <a:defRPr sz="1800" b="1">
                <a:solidFill>
                  <a:srgbClr val="003366"/>
                </a:solidFill>
              </a:defRPr>
            </a:pPr>
            <a:r>
              <a:t>Summary of ideas generated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 Redesign the current Brake Pedal Mounting Bracket used in MGI to a similar bracket used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Redesign the current Brake Pedal Mounting Bracket used in MGI to a similar bracket used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113</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Redesignthecu_177010087548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The Brake Booster Plate in MGI could be integrated into the Dashboard BIW of the vehicle as done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47</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TheBrakeBoost_1770100887490.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#3: Remove the black paint coating on the Brake Pedal Mounting Bracket within MGI</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Remove the black paint coating on the Brake Pedal Mounting Bracket within MGI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115</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Removetheblac_1770100898176.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#4: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1. Reduce the overall wall thickness of the Brake Dust Cover Plates present on all four wheel hubs of the vehicles from 1mm to 0.8mm</a:t>
            </a:r>
            <a:br>
              <a:rPr sz="1000" b="0" i="0">
                <a:latin typeface="Calibri"/>
              </a:rPr>
            </a:br>
            <a:r>
              <a:rPr sz="1000" b="0" i="0">
                <a:latin typeface="Calibri"/>
              </a:rPr>
              <a:t>2. Reduce the paint coating thickness on each side of all four plates from 56 microns to 27.8 microns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1mm to 0.8mm</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57</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5.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1Reducetheo_1770100910802.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#5: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Remove the black paint coating from the Brake Caliper Mounting Brackets on all four brake assemblies of MGI, following the procedure used for the front brake caliper mounting brackets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102</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Removetheblac_1770100924384.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#6: Implement thin-wall ductile iron (e.g., GJS-500-7) casting for front and rear brake calipers, reducing material usage and unsprung mass while maintaining strength and thermal performance critical for the MG Hector's 1.7T weight.</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Implement thin-wall ductile iron (e.g., GJS-500-7) casting for front and rear brake calipers, reducing material usage and unsprung mass while maintaining strength and thermal performance critical for the MG Hector's 1.7T weight.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 GJS-500-7) casting for front and rear brake calipers, reducing material usage and unsprung mass wh</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6.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Implementthin_177010093788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#7: Redesign front and rear brake dust shields using High-Strength Low-Alloy (HSLA) steel, enabling a reduced gauge thickness (e.g., 0.8mm instead of 1.2mm). This achieves material cost savings and minor unsprung mass reduction for the MG Hector without compromising structural integrity or corrosion resistance, respecting the limited tooling CAPEX.</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Redesign front and rear brake dust shields using High-Strength Low-Alloy (HSLA) steel, enabling a reduced gauge thickness (e.g., 0.8mm instead of 1.2mm). This achieves material cost savings and minor unsprung mass reduction for the MG Hector without compromising structural integrity or corrosion resistance, respecting the limited tooling CAPEX.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Redesign front and rear brake dust shields using High-Strength Low-Alloy (HSLA) steel, enabling a re</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0.8mm instead of 1.2mm</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8.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Redesignfront_1770100949426.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#8: Optimize the internal geometry of front and rear cast iron rotors through advanced CFD and FEA simulations to improve cooling efficiency and thermal mass distribution. This allows for potential minor reductions in overall rotor mass or thickness in non-critical areas, leading to material savings while maintaining or improving fade resistance for the 1.7T MG Hector.</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Optimize the internal geometry of front and rear cast iron rotors through advanced CFD and FEA simulations to improve cooling efficiency and thermal mass distribution. This allows for potential minor reductions in overall rotor mass or thickness in non-critical areas, leading to material savings while maintaining or improving fade resistance for the 1.7T MG Hector.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This allows for potential minor reductions in overall rotor mass or thickness in non-critical areas,</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Optimizethein_177010096002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#9: Develop and implement a new generation of low-metallic or non-asbestos organic (NAO) friction materials specifically engineered for the MG Hector's weight (1.7T) and duty cycle. The goal is to extend pad life by at least 20%, reduce brake dust, and maintain consistent friction coefficient across a wider temperature range, thereby lowering warranty costs and maintenance frequency.</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Develop and implement a new generation of low-metallic or non-asbestos organic (NAO) friction materials specifically engineered for the MG Hector's weight (1.7T) and duty cycle. The goal is to extend pad life by at least 20%, reduce brake dust, and maintain consistent friction coefficient across a wider temperature range, thereby lowering warranty costs and maintenance frequency.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Develop and implement a new generation of low-metallic or non-asbestos organic (NAO) friction materi</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7.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impl_overlay_Developandimp_1770100972776.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
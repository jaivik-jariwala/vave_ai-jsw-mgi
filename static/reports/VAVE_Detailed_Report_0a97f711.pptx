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347980">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347980">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113</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2311-PA-ID-01</a:t>
                      </a:r>
                    </a:p>
                  </a:txBody>
                  <a:tcPr/>
                </a:tc>
                <a:tc>
                  <a:txBody>
                    <a:bodyPr wrap="square" lIns="50800" rIns="50800" tIns="25400" bIns="25400"/>
                    <a:lstStyle/>
                    <a:p>
                      <a:pPr>
                        <a:defRPr sz="800">
                          <a:solidFill>
                            <a:srgbClr val="333333"/>
                          </a:solidFill>
                          <a:latin typeface="Calibri"/>
                        </a:defRPr>
                      </a:pPr>
                      <a:r>
                        <a:t>Remove the black paint coating on the Brake Pedal Mounting Bracket within MGI</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115</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11,500,000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2311-BA-ID-02</a:t>
                      </a:r>
                    </a:p>
                  </a:txBody>
                  <a:tcPr/>
                </a:tc>
                <a:tc>
                  <a:txBody>
                    <a:bodyPr wrap="square" lIns="50800" rIns="50800" tIns="25400" bIns="25400"/>
                    <a:lstStyle/>
                    <a:p>
                      <a:pPr>
                        <a:defRPr sz="8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102</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10,200,000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AI-GEN-01</a:t>
                      </a:r>
                    </a:p>
                  </a:txBody>
                  <a:tcPr/>
                </a:tc>
                <a:tc>
                  <a:txBody>
                    <a:bodyPr wrap="square" lIns="50800" rIns="50800" tIns="25400" bIns="25400"/>
                    <a:lstStyle/>
                    <a:p>
                      <a:pPr>
                        <a:defRPr sz="800">
                          <a:solidFill>
                            <a:srgbClr val="333333"/>
                          </a:solidFill>
                          <a:latin typeface="Calibri"/>
                        </a:defRPr>
                      </a:pPr>
                      <a:r>
                        <a:t>Substitute the current cast iron brake rotors for the front axle with a higher-performance, lower-density grey cast iron alloy (e.g., GGG40) with optimized vane design for improved thermal dissipation.</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AI-GEN-02</a:t>
                      </a:r>
                    </a:p>
                  </a:txBody>
                  <a:tcPr/>
                </a:tc>
                <a:tc>
                  <a:txBody>
                    <a:bodyPr wrap="square" lIns="50800" rIns="50800" tIns="25400" bIns="25400"/>
                    <a:lstStyle/>
                    <a:p>
                      <a:pPr>
                        <a:defRPr sz="800">
                          <a:solidFill>
                            <a:srgbClr val="333333"/>
                          </a:solidFill>
                          <a:latin typeface="Calibri"/>
                        </a:defRPr>
                      </a:pPr>
                      <a:r>
                        <a:t>Reduce the caliper piston diameter for the rear brake assembly by 2mm, while ensuring equivalent braking torque distribution by slightly increasing the rotor diameter or pad friction material surface area.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1200000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120,000,000,000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AI-GEN-03</a:t>
                      </a:r>
                    </a:p>
                  </a:txBody>
                  <a:tcPr/>
                </a:tc>
                <a:tc>
                  <a:txBody>
                    <a:bodyPr wrap="square" lIns="50800" rIns="50800" tIns="25400" bIns="25400"/>
                    <a:lstStyle/>
                    <a:p>
                      <a:pPr>
                        <a:defRPr sz="800">
                          <a:solidFill>
                            <a:srgbClr val="333333"/>
                          </a:solidFill>
                          <a:latin typeface="Calibri"/>
                        </a:defRPr>
                      </a:pPr>
                      <a:r>
                        <a:t>Replace the standard steel dust shield gauge for the rear brake assemblies with a lighter gauge high-strength steel (e.g., DP600) or a composite material.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AI-GEN-05</a:t>
                      </a:r>
                    </a:p>
                  </a:txBody>
                  <a:tcPr/>
                </a:tc>
                <a:tc>
                  <a:txBody>
                    <a:bodyPr wrap="square" lIns="50800" rIns="50800" tIns="25400" bIns="25400"/>
                    <a:lstStyle/>
                    <a:p>
                      <a:pPr>
                        <a:defRPr sz="800">
                          <a:solidFill>
                            <a:srgbClr val="333333"/>
                          </a:solidFill>
                          <a:latin typeface="Calibri"/>
                        </a:defRPr>
                      </a:pPr>
                      <a:r>
                        <a:t>Reduce the rotor thickness for the rear brake assemblies from Xmm to Ymm, utilizing a higher-strength, wear-resistant friction material.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1300000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130,000,000,000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AI-GEN-06</a:t>
                      </a:r>
                    </a:p>
                  </a:txBody>
                  <a:tcPr/>
                </a:tc>
                <a:tc>
                  <a:txBody>
                    <a:bodyPr wrap="square" lIns="50800" rIns="50800" tIns="25400" bIns="25400"/>
                    <a:lstStyle/>
                    <a:p>
                      <a:pPr>
                        <a:defRPr sz="800">
                          <a:solidFill>
                            <a:srgbClr val="333333"/>
                          </a:solidFill>
                          <a:latin typeface="Calibri"/>
                        </a:defRPr>
                      </a:pPr>
                      <a:r>
                        <a:t>Implement a single-piece cast aluminum caliper for the front brakes, integrating the caliper bracket into the main caliper body.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2000000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200,000,000,000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AI-GEN-10</a:t>
                      </a:r>
                    </a:p>
                  </a:txBody>
                  <a:tcPr/>
                </a:tc>
                <a:tc>
                  <a:txBody>
                    <a:bodyPr wrap="square" lIns="50800" rIns="50800" tIns="25400" bIns="25400"/>
                    <a:lstStyle/>
                    <a:p>
                      <a:pPr>
                        <a:defRPr sz="800">
                          <a:solidFill>
                            <a:srgbClr val="333333"/>
                          </a:solidFill>
                          <a:latin typeface="Calibri"/>
                        </a:defRPr>
                      </a:pPr>
                      <a:r>
                        <a:t>Replace the standard steel brake caliper piston with a lighter-weight aluminum piston for the front brake calipers.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1400000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140,000,000,000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AI-GEN-11</a:t>
                      </a:r>
                    </a:p>
                  </a:txBody>
                  <a:tcPr/>
                </a:tc>
                <a:tc>
                  <a:txBody>
                    <a:bodyPr wrap="square" lIns="50800" rIns="50800" tIns="25400" bIns="25400"/>
                    <a:lstStyle/>
                    <a:p>
                      <a:pPr>
                        <a:defRPr sz="800">
                          <a:solidFill>
                            <a:srgbClr val="333333"/>
                          </a:solidFill>
                          <a:latin typeface="Calibri"/>
                        </a:defRPr>
                      </a:pPr>
                      <a:r>
                        <a:t>Standardize the brake caliper mounting bolts across front and rear axles, using a higher grade, lighter bolt where possible, and simplifying procurement.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AI-GEN-12</a:t>
                      </a:r>
                    </a:p>
                  </a:txBody>
                  <a:tcPr/>
                </a:tc>
                <a:tc>
                  <a:txBody>
                    <a:bodyPr wrap="square" lIns="50800" rIns="50800" tIns="25400" bIns="25400"/>
                    <a:lstStyle/>
                    <a:p>
                      <a:pPr>
                        <a:defRPr sz="800">
                          <a:solidFill>
                            <a:srgbClr val="333333"/>
                          </a:solidFill>
                          <a:latin typeface="Calibri"/>
                        </a:defRPr>
                      </a:pPr>
                      <a:r>
                        <a:t>Implement a 'thin-wall' casting process for the brake dust shield on all four wheels, reducing material thickness from 1mm to 0.7mm while maintaining protective integrity.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1600000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160,000,000,000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the feasibility of utilizing thinner-walled, HSLA steel brake rotors for the MG Hector. This approach aims to reduce material mass and associated costs while maintaining adequate thermal performance and structural integrity. The reduced mass would also contribute to a slight improvement in fuel efficiency, aligning with market trends.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Evaluate the integration of advanced, high-performance friction materials in the brake pads for the MG Hector, specifically focusing on materials that offer improved wear resistance and fade resistance at a comparable or slightly higher cost. This would allow for a potential reduction in rotor thickness or material grade without sacrificing braking performance or longevity, indirectly contributing to cost savings through extended component life and potential down-selection of rotor specifications.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Explore the use of optimized caliper mounting brackets and potentially a revised caliper piston arrangement using lighter, yet robust, aluminum alloys (e.g., 6061-T6 or higher strength variants) for the MG Hector. This addresses the 'Tooling CAPEX limited' constraint by focusing on material substitution and minor design tweaks rather than entirely new caliper designs. The goal is to reduce unsprung mass and rotational inertia, contributing to better vehicle dynamics and potentially enabling a slight optimization in rotor size/mass without compromising kinetic energy handling.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47980">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novel dust shield designs utilizing high-temperature resistant, lightweight polymer composites or thinner gauge HSLA steel. The current dust shield gauge can be optimized to reduce weight and cost without compromising its primary function of protecting brake components from road debris and water. This is an 'Industry Trend' toward material optimization and lightweighting.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 Redesign the current Brake Pedal Mounting Bracket used in MGI to a similar bracket used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the current Brake Pedal Mounting Bracket used in MGI to a similar bracket used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113</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esignthecu_1770095486262.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The Brake Booster Plate in MGI could be integrated into the Dashboard BIW of the vehicle as done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TheBrakeBoost_1770095486475.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#3: Remove the black paint coating on the Brake Pedal Mounting Bracket within MGI</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on the Brake Pedal Mounting Bracket within MGI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115</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95486598.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#4: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1. Reduce the overall wall thickness of the Brake Dust Cover Plates present on all four wheel hubs of the vehicles from 1mm to 0.8mm</a:t>
            </a:r>
            <a:br>
              <a:rPr sz="1000" b="0" i="0">
                <a:latin typeface="Calibri"/>
              </a:rPr>
            </a:br>
            <a:r>
              <a:rPr sz="1000" b="0" i="0">
                <a:latin typeface="Calibri"/>
              </a:rPr>
              <a:t>2. Reduce the paint coating thickness on each side of all four plates from 56 microns to 27.8 microns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0.8mm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1Reducetheo_177009548691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#5: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102</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9548703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#6: Substitute the current cast iron brake rotors for the front axle with a higher-performance, lower-density grey cast iron alloy (e.g., GGG40) with optimized vane design for improved thermal dissipation.</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Substitute the current cast iron brake rotors for the front axle with a higher-performance, lower-density grey cast iron alloy (e.g., GGG40) with optimized vane design for improved thermal dissipation.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1500000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Substitutethe_177009548717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#7: Reduce the caliper piston diameter for the rear brake assembly by 2mm, while ensuring equivalent braking torque distribution by slightly increasing the rotor diameter or pad friction material surface area.</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caliper piston diameter for the rear brake assembly by 2mm, while ensuring equivalent braking torque distribution by slightly increasing the rotor diameter or pad friction material surface area.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caliper piston diameter for the rear brake assembly by 2mm, while ensuring equivalent bra</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1200000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cali_177009548745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#8: Replace the standard steel dust shield gauge for the rear brake assemblies with a lighter gauge high-strength steel (e.g., DP600) or a composite material.</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Replace the standard steel dust shield gauge for the rear brake assemblies with a lighter gauge high-strength steel (e.g., DP600) or a composite material.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Replace the standard steel dust shield gauge for the rear brake assemblies with a lighter gauge high</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1000000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placethesta_1770095487719.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#9: Reduce the rotor thickness for the rear brake assemblies from Xmm to Ymm, utilizing a higher-strength, wear-resistant friction material.</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Reduce the rotor thickness for the rear brake assemblies from Xmm to Ymm, utilizing a higher-strength, wear-resistant friction material.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Reduce the rotor thickness for the rear brake assemblies from Xmm to Ymm, utilizing a higher-strengt</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1300000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ucetheroto_177009548784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#10: Implement a single-piece cast aluminum caliper for the front brakes, integrating the caliper bracket into the main caliper body.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Implement a single-piece cast aluminum caliper for the front brakes, integrating the caliper bracket into the main caliper body.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Implement a single-piece cast aluminum caliper for the front brakes, integrating the caliper bracket</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2000000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7.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mplementasin_1770095488028.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#11: Replace the standard steel brake caliper piston with a lighter-weight aluminum piston for the front brake calipers.</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Replace the standard steel brake caliper piston with a lighter-weight aluminum piston for the front brake calipers.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Replace the standard steel brake caliper piston with a lighter-weight aluminum piston for the front</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1400000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9.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placethesta_177009548818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#12: Standardize the brake caliper mounting bolts across front and rear axles, using a higher grade, lighter bolt where possible, and simplifying procurement.</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Standardize the brake caliper mounting bolts across front and rear axles, using a higher grade, lighter bolt where possible, and simplifying procurement.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Standardize the brake caliper mounting bolts across front and rear axles, using a higher grade, ligh</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Standardizethe_1770095488415.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#13: Implement a 'thin-wall' casting process for the brake dust shield on all four wheels, reducing material thickness from 1mm to 0.7mm while maintaining protective integrity.</a:t>
            </a:r>
          </a:p>
        </p:txBody>
      </p:sp>
      <p:sp>
        <p:nvSpPr>
          <p:cNvPr id="3" name="TextBox 2"/>
          <p:cNvSpPr txBox="1"/>
          <p:nvPr/>
        </p:nvSpPr>
        <p:spPr>
          <a:xfrm>
            <a:off x="10332720" y="182880"/>
            <a:ext cx="1676095" cy="365760"/>
          </a:xfrm>
          <a:prstGeom prst="rect">
            <a:avLst/>
          </a:prstGeom>
          <a:solidFill>
            <a:srgbClr val="800080"/>
          </a:solidFill>
        </p:spPr>
        <p:txBody>
          <a:bodyPr wrap="square">
            <a:spAutoFit/>
          </a:bodyPr>
          <a:lstStyle/>
          <a:p>
            <a:pPr algn="ctr">
              <a:defRPr b="1" sz="1000">
                <a:solidFill>
                  <a:srgbClr val="FFFFFF"/>
                </a:solidFill>
              </a:defRPr>
            </a:pPr>
            <a:r>
              <a:t>AI INNOVATION</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Implement a 'thin-wall' casting process for the brake dust shield on all four wheels, reducing material thickness from 1mm to 0.7mm while maintaining protective integrity.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Implement a 'thin-wall' casting process for the brake dust shield on all four wheels, reducing mater</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0.7mm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1600000</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mplementath_177009548863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#14: Investigate the feasibility of utilizing thinner-walled, HSLA steel brake rotors for the MG Hector. This approach aims to reduce material mass and associated costs while maintaining adequate thermal performance and structural integrity. The reduced mass would also contribute to a slight improvement in fuel efficiency, aligning with market trends.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Investigate the feasibility of utilizing thinner-walled, HSLA steel brake rotors for the MG Hector. This approach aims to reduce material mass and associated costs while maintaining adequate thermal performance and structural integrity. The reduced mass would also contribute to a slight improvement in fuel efficiency, aligning with market trends.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Investigate the feasibility of utilizing thinner-walled, HSLA steel brake rotors for the MG Hector</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nvestigatethe_1770095488775.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#15: Evaluate the integration of advanced, high-performance friction materials in the brake pads for the MG Hector, specifically focusing on materials that offer improved wear resistance and fade resistance at a comparable or slightly higher cost. This would allow for a potential reduction in rotor thickness or material grade without sacrificing braking performance or longevity, indirectly contributing to cost savings through extended component life and potential down-selection of rotor specifications.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Evaluate the integration of advanced, high-performance friction materials in the brake pads for the MG Hector, specifically focusing on materials that offer improved wear resistance and fade resistance at a comparable or slightly higher cost. This would allow for a potential reduction in rotor thickness or material grade without sacrificing braking performance or longevity, indirectly contributing to cost savings through extended component life and potential down-sel...</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Evaluate the integration of advanced, high-performance friction materials in the brake pads for the</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7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valuatethein_1770095489038.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#16: Explore the use of optimized caliper mounting brackets and potentially a revised caliper piston arrangement using lighter, yet robust, aluminum alloys (e.g., 6061-T6 or higher strength variants) for the MG Hector. This addresses the 'Tooling CAPEX limited' constraint by focusing on material substitution and minor design tweaks rather than entirely new caliper designs. The goal is to reduce unsprung mass and rotational inertia, contributing to better vehicle dynamics and potentially enabling a slight optimization in rotor size/mass without compromising kinetic energy handling.</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Explore the use of optimized caliper mounting brackets and potentially a revised caliper piston arrangement using lighter, yet robust, aluminum alloys (e.g., 6061-T6 or higher strength variants) for the MG Hector. This addresses the 'Tooling CAPEX limited' constraint by focusing on material substitution and minor design tweaks rather than entirely new caliper designs. The goal is to reduce unsprung mass and rotational inertia, contributing to better vehicle dynamics...</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Explore the use of optimized caliper mounting brackets and potentially a revised caliper piston arra</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xploretheuse_177009548919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#17: Investigate novel dust shield designs utilizing high-temperature resistant, lightweight polymer composites or thinner gauge HSLA steel. The current dust shield gauge can be optimized to reduce weight and cost without compromising its primary function of protecting brake components from road debris and water. This is an 'Industry Trend' toward material optimization and lightweighting.</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Investigate novel dust shield designs utilizing high-temperature resistant, lightweight polymer composites or thinner gauge HSLA steel. The current dust shield gauge can be optimized to reduce weight and cost without compromising its primary function of protecting brake components from road debris and water. This is an 'Industry Trend' toward material optimization and lightweighting.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Investigate novel dust shield designs utilizing high-temperature resistant, lightweight polymer comp</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nvestigatenov_177009548950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
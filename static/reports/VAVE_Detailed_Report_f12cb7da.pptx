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VAVE Cost Reduction Strategy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MG Vehicle Program Program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Presented by: Engineering Team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December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We present a comprehensive Value Analysis and Value Engineering (VAVE) strategy </a:t>
            </a:r>
            <a:br/>
            <a:r>
              <a:t>        for the MG Vehicle Program program, delivering 496 in identified </a:t>
            </a:r>
            <a:br/>
            <a:r>
              <a:t>        cost reduction opportunities. This represents 83.3% of our </a:t>
            </a:r>
            <a:br/>
            <a:r>
              <a:t>        target savings goal through optimized engineering and strategic material </a:t>
            </a:r>
            <a:br/>
            <a:r>
              <a:t>        substitution. Our methodology combines AI-driven generative design with rigorous </a:t>
            </a:r>
            <a:br/>
            <a:r>
              <a:t>        engineering validation, ensuring value preservation while achieving aggressive </a:t>
            </a:r>
            <a:br/>
            <a:r>
              <a:t>        cost targets. This initiative positions us competitively in the premium segment </a:t>
            </a:r>
            <a:br/>
            <a:r>
              <a:t>        while enhancing supply chain resilience and reducing time-to-market.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994C"/>
                </a:solidFill>
              </a:defRPr>
            </a:pPr>
            <a:r>
              <a:t>Target Savings: 595 | Identified Savings: 496 | </a:t>
            </a:r>
            <a:br/>
            <a:r>
              <a:t>        Achievement: 83.3%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Methodology: AI-Driven VAVE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We utilize a proprietary AI pipeline to not only generate ideas but to stress-test </a:t>
            </a:r>
            <a:br/>
            <a:r>
              <a:t>        their feasibility against manufacturing constraints before they reach this meeting.</a:t>
            </a:r>
            <a:br/>
            <a:r>
              <a:t>        </a:t>
            </a:r>
            <a:br/>
            <a:r>
              <a:t>        PROCESS FLOW:</a:t>
            </a:r>
            <a:br/>
            <a:r>
              <a:t>        </a:t>
            </a:r>
            <a:br/>
            <a:r>
              <a:t>        1. Raw Data Collection → Aggregated cost-reduction ideas from engineering teams</a:t>
            </a:r>
            <a:br/>
            <a:r>
              <a:t>        </a:t>
            </a:r>
            <a:br/>
            <a:r>
              <a:t>        2. AI Feasibility Audit → LLM-powered analysis of risks, constraints, and opportunities</a:t>
            </a:r>
            <a:br/>
            <a:r>
              <a:t>        </a:t>
            </a:r>
            <a:br/>
            <a:r>
              <a:t>        3. Engineer Validation → Senior engineering review and technical validation</a:t>
            </a:r>
            <a:br/>
            <a:r>
              <a:t>        </a:t>
            </a:r>
            <a:br/>
            <a:r>
              <a:t>        4. Final Proposal → Boardroom-ready presentation with strategic recommendations</a:t>
            </a:r>
            <a:br/>
            <a:r>
              <a:t>        </a:t>
            </a:r>
            <a:br/>
            <a:r>
              <a:t>        This human-in-the-loop approach ensures that AI-generated insights are validated </a:t>
            </a:r>
            <a:br/>
            <a:r>
              <a:t>        by domain experts, maintaining engineering rigor while accelerating ideation.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003366"/>
                </a:solidFill>
              </a:defRPr>
            </a:pPr>
            <a:r>
              <a:t>CEO PITCH: This initiative aligns our product portfolio with premium competitor benchmarks </a:t>
            </a:r>
            <a:br/>
            <a:r>
              <a:t>            while reducing mass and achieving 141.0 in cost savings. Beyond financial </a:t>
            </a:r>
            <a:br/>
            <a:r>
              <a:t>            impact, this move enhances our supply chain resilience by diversifying material </a:t>
            </a:r>
            <a:br/>
            <a:r>
              <a:t>            sources and reducing geopolitical risk exposure.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Eliminate the plastic trim provided around the bottom anchor point at the driver side seatbelt and follow the same methodology provided at the co-driver's side. | Kill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3657600" cy="320040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969696"/>
                </a:solidFill>
              </a:defRPr>
            </a:pPr>
            <a:r>
              <a:t>[Image Placeholder]</a:t>
            </a:r>
          </a:p>
          <a:p>
            <a:r>
              <a:t>Component 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097280"/>
            <a:ext cx="41148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03366"/>
                </a:solidFill>
              </a:defRPr>
            </a:pPr>
            <a:r>
              <a:t>ENGINEERING RATIONALE:</a:t>
            </a:r>
          </a:p>
          <a:p>
            <a:pPr>
              <a:spcAft>
                <a:spcPts val="800"/>
              </a:spcAft>
              <a:defRPr sz="1000">
                <a:solidFill>
                  <a:srgbClr val="333333"/>
                </a:solidFill>
              </a:defRPr>
            </a:pPr>
            <a:r>
              <a:t>The proposed modification to Eliminate the plastic trim provided around the bottom anchor point at the driver side seatbelt and follow the same methodology provided at the co-driver's side. leverages advanced material science </a:t>
            </a:r>
            <a:br/>
            <a:r>
              <a:t>            and manufacturing optimization principles. By analyzing the current design's </a:t>
            </a:r>
            <a:br/>
            <a:r>
              <a:t>            material properties and stress distribution patterns, we identified opportunities </a:t>
            </a:r>
            <a:br/>
            <a:r>
              <a:t>            for material substitution without compromising structural integrity. The new </a:t>
            </a:r>
            <a:br/>
            <a:r>
              <a:t>            approach utilizes eliminate the plastic trim provided around the bottom anchor point at the driver side seatbelt and follow the same methodology provided at the co-driver's side. </a:t>
            </a:r>
            <a:br/>
            <a:r>
              <a:t>            which offers comparable mechanical properties at reduced cost. This optimization </a:t>
            </a:r>
            <a:br/>
            <a:r>
              <a:t>            follows VAVE (Value Analysis and Value Engineering) methodologies, ensuring </a:t>
            </a:r>
            <a:br/>
            <a:r>
              <a:t>            value preservation while achieving target cost reductions.</a:t>
            </a:r>
          </a:p>
          <a:p>
            <a:pPr>
              <a:spcAft>
                <a:spcPts val="400"/>
              </a:spcAft>
              <a:defRPr sz="1200" b="1">
                <a:solidFill>
                  <a:srgbClr val="003366"/>
                </a:solidFill>
              </a:defRPr>
            </a:pPr>
            <a:r>
              <a:t>VALIDATION ROADMAP: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Martindale Abrasion Test (ISO 12947) - 50,000 cycles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Head Impact Criterion (HIC) validation per FMVSS 201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Thermal Cycling Test (-40°C to +85°C, 100 cycles)</a:t>
            </a:r>
          </a:p>
          <a:p>
            <a:pPr>
              <a:spcAft>
                <a:spcPts val="400"/>
              </a:spcAft>
              <a:defRPr sz="1200" b="1">
                <a:solidFill>
                  <a:srgbClr val="FF9900"/>
                </a:solidFill>
              </a:defRPr>
            </a:pPr>
            <a:r>
              <a:t>RISK MITIGATION: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⚠ NVH (Noise, Vibration, Harshness) degradation due to material property changes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⚠ Durability concerns under extreme temperature cycling (-40°C to +85°C)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⚠ Potential aesthetic gaps requiring design validation with styling team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solidFill>
            <a:srgbClr val="E6F0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003366"/>
                </a:solidFill>
              </a:defRPr>
            </a:pPr>
            <a:r>
              <a:t>CEO PITCH: This initiative aligns our product portfolio with premium competitor benchmarks </a:t>
            </a:r>
            <a:br/>
            <a:r>
              <a:t>            while reducing mass and achieving 89.0 in cost savings. Beyond financial </a:t>
            </a:r>
            <a:br/>
            <a:r>
              <a:t>            impact, this move enhances our supply chain resilience by diversifying material </a:t>
            </a:r>
            <a:br/>
            <a:r>
              <a:t>            sources and reducing geopolitical risk exposure.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Reduce the width of the trunk liner flap by 60mm from the upper edge. | Kill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3657600" cy="320040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969696"/>
                </a:solidFill>
              </a:defRPr>
            </a:pPr>
            <a:r>
              <a:t>[Image Placeholder]</a:t>
            </a:r>
          </a:p>
          <a:p>
            <a:r>
              <a:t>Component 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097280"/>
            <a:ext cx="41148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03366"/>
                </a:solidFill>
              </a:defRPr>
            </a:pPr>
            <a:r>
              <a:t>ENGINEERING RATIONALE:</a:t>
            </a:r>
          </a:p>
          <a:p>
            <a:pPr>
              <a:spcAft>
                <a:spcPts val="800"/>
              </a:spcAft>
              <a:defRPr sz="1000">
                <a:solidFill>
                  <a:srgbClr val="333333"/>
                </a:solidFill>
              </a:defRPr>
            </a:pPr>
            <a:r>
              <a:t>The proposed modification to Reduce the width of the trunk liner flap by 60mm from the upper edge. leverages advanced material science </a:t>
            </a:r>
            <a:br/>
            <a:r>
              <a:t>            and manufacturing optimization principles. By analyzing the current design's </a:t>
            </a:r>
            <a:br/>
            <a:r>
              <a:t>            material properties and stress distribution patterns, we identified opportunities </a:t>
            </a:r>
            <a:br/>
            <a:r>
              <a:t>            for material substitution without compromising structural integrity. The new </a:t>
            </a:r>
            <a:br/>
            <a:r>
              <a:t>            approach utilizes reduce the width of the trunk liner flap by 60mm from the upper edge. </a:t>
            </a:r>
            <a:br/>
            <a:r>
              <a:t>            which offers comparable mechanical properties at reduced cost. This optimization </a:t>
            </a:r>
            <a:br/>
            <a:r>
              <a:t>            follows VAVE (Value Analysis and Value Engineering) methodologies, ensuring </a:t>
            </a:r>
            <a:br/>
            <a:r>
              <a:t>            value preservation while achieving target cost reductions.</a:t>
            </a:r>
          </a:p>
          <a:p>
            <a:pPr>
              <a:spcAft>
                <a:spcPts val="400"/>
              </a:spcAft>
              <a:defRPr sz="1200" b="1">
                <a:solidFill>
                  <a:srgbClr val="003366"/>
                </a:solidFill>
              </a:defRPr>
            </a:pPr>
            <a:r>
              <a:t>VALIDATION ROADMAP: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Martindale Abrasion Test (ISO 12947) - 50,000 cycles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Head Impact Criterion (HIC) validation per FMVSS 201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Thermal Cycling Test (-40°C to +85°C, 100 cycles)</a:t>
            </a:r>
          </a:p>
          <a:p>
            <a:pPr>
              <a:spcAft>
                <a:spcPts val="400"/>
              </a:spcAft>
              <a:defRPr sz="1200" b="1">
                <a:solidFill>
                  <a:srgbClr val="FF9900"/>
                </a:solidFill>
              </a:defRPr>
            </a:pPr>
            <a:r>
              <a:t>RISK MITIGATION: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⚠ NVH (Noise, Vibration, Harshness) degradation due to material property changes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⚠ Durability concerns under extreme temperature cycling (-40°C to +85°C)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⚠ Potential aesthetic gaps requiring design validation with styling team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solidFill>
            <a:srgbClr val="E6F0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003366"/>
                </a:solidFill>
              </a:defRPr>
            </a:pPr>
            <a:r>
              <a:t>CEO PITCH: This initiative aligns our product portfolio with premium competitor benchmarks </a:t>
            </a:r>
            <a:br/>
            <a:r>
              <a:t>            while reducing mass and achieving 126.0 in cost savings. Beyond financial </a:t>
            </a:r>
            <a:br/>
            <a:r>
              <a:t>            impact, this move enhances our supply chain resilience by diversifying material </a:t>
            </a:r>
            <a:br/>
            <a:r>
              <a:t>            sources and reducing geopolitical risk exposure.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Replace ABS+PVC+PU with PP+PE-TD14 in the manufacture of both Front and Rear Passenger Armrest Trims of MGI | Kill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3657600" cy="320040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969696"/>
                </a:solidFill>
              </a:defRPr>
            </a:pPr>
            <a:r>
              <a:t>[Image Placeholder]</a:t>
            </a:r>
          </a:p>
          <a:p>
            <a:r>
              <a:t>Component 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097280"/>
            <a:ext cx="41148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03366"/>
                </a:solidFill>
              </a:defRPr>
            </a:pPr>
            <a:r>
              <a:t>ENGINEERING RATIONALE:</a:t>
            </a:r>
          </a:p>
          <a:p>
            <a:pPr>
              <a:spcAft>
                <a:spcPts val="800"/>
              </a:spcAft>
              <a:defRPr sz="1000">
                <a:solidFill>
                  <a:srgbClr val="333333"/>
                </a:solidFill>
              </a:defRPr>
            </a:pPr>
            <a:r>
              <a:t>The proposed modification to Replace ABS+PVC+PU with PP+PE-TD14 in the manufacture of both Front and Rear Passenger Armrest Trims of MGI leverages advanced material science </a:t>
            </a:r>
            <a:br/>
            <a:r>
              <a:t>            and manufacturing optimization principles. By analyzing the current design's </a:t>
            </a:r>
            <a:br/>
            <a:r>
              <a:t>            material properties and stress distribution patterns, we identified opportunities </a:t>
            </a:r>
            <a:br/>
            <a:r>
              <a:t>            for material substitution without compromising structural integrity. The new </a:t>
            </a:r>
            <a:br/>
            <a:r>
              <a:t>            approach utilizes replace abs+pvc+pu with pp+pe-td14 in the manufacture of both front and rear passenger armrest trims of mgi </a:t>
            </a:r>
            <a:br/>
            <a:r>
              <a:t>            which offers comparable mechanical properties at reduced cost. This optimization </a:t>
            </a:r>
            <a:br/>
            <a:r>
              <a:t>            follows VAVE (Value Analysis and Value Engineering) methodologies, ensuring </a:t>
            </a:r>
            <a:br/>
            <a:r>
              <a:t>            value preservation while achieving target cost reductions.</a:t>
            </a:r>
          </a:p>
          <a:p>
            <a:pPr>
              <a:spcAft>
                <a:spcPts val="400"/>
              </a:spcAft>
              <a:defRPr sz="1200" b="1">
                <a:solidFill>
                  <a:srgbClr val="003366"/>
                </a:solidFill>
              </a:defRPr>
            </a:pPr>
            <a:r>
              <a:t>VALIDATION ROADMAP: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Martindale Abrasion Test (ISO 12947) - 50,000 cycles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Head Impact Criterion (HIC) validation per FMVSS 201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Thermal Cycling Test (-40°C to +85°C, 100 cycles)</a:t>
            </a:r>
          </a:p>
          <a:p>
            <a:pPr>
              <a:spcAft>
                <a:spcPts val="400"/>
              </a:spcAft>
              <a:defRPr sz="1200" b="1">
                <a:solidFill>
                  <a:srgbClr val="FF9900"/>
                </a:solidFill>
              </a:defRPr>
            </a:pPr>
            <a:r>
              <a:t>RISK MITIGATION: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⚠ NVH (Noise, Vibration, Harshness) degradation due to material property changes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⚠ Durability concerns under extreme temperature cycling (-40°C to +85°C)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⚠ Potential aesthetic gaps requiring design validation with styling team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solidFill>
            <a:srgbClr val="E6F0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003366"/>
                </a:solidFill>
              </a:defRPr>
            </a:pPr>
            <a:r>
              <a:t>CEO PITCH: This initiative aligns our product portfolio with premium competitor benchmarks </a:t>
            </a:r>
            <a:br/>
            <a:r>
              <a:t>            while reducing mass and achieving 66.0 in cost savings. Beyond financial </a:t>
            </a:r>
            <a:br/>
            <a:r>
              <a:t>            impact, this move enhances our supply chain resilience by diversifying material </a:t>
            </a:r>
            <a:br/>
            <a:r>
              <a:t>            sources and reducing geopolitical risk exposure.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Reduce the height of the Headrest Rod Receptacle from 11.4mm to 8.5mm | Kill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3657600" cy="320040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969696"/>
                </a:solidFill>
              </a:defRPr>
            </a:pPr>
            <a:r>
              <a:t>[Image Placeholder]</a:t>
            </a:r>
          </a:p>
          <a:p>
            <a:r>
              <a:t>Component 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097280"/>
            <a:ext cx="41148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03366"/>
                </a:solidFill>
              </a:defRPr>
            </a:pPr>
            <a:r>
              <a:t>ENGINEERING RATIONALE:</a:t>
            </a:r>
          </a:p>
          <a:p>
            <a:pPr>
              <a:spcAft>
                <a:spcPts val="800"/>
              </a:spcAft>
              <a:defRPr sz="1000">
                <a:solidFill>
                  <a:srgbClr val="333333"/>
                </a:solidFill>
              </a:defRPr>
            </a:pPr>
            <a:r>
              <a:t>The proposed modification to Reduce the height of the Headrest Rod Receptacle from 11.4mm to 8.5mm leverages advanced material science </a:t>
            </a:r>
            <a:br/>
            <a:r>
              <a:t>            and manufacturing optimization principles. By analyzing the current design's </a:t>
            </a:r>
            <a:br/>
            <a:r>
              <a:t>            material properties and stress distribution patterns, we identified opportunities </a:t>
            </a:r>
            <a:br/>
            <a:r>
              <a:t>            for material substitution without compromising structural integrity. The new </a:t>
            </a:r>
            <a:br/>
            <a:r>
              <a:t>            approach utilizes reduce the height of the headrest rod receptacle from 11.4mm to 8.5mm </a:t>
            </a:r>
            <a:br/>
            <a:r>
              <a:t>            which offers comparable mechanical properties at reduced cost. This optimization </a:t>
            </a:r>
            <a:br/>
            <a:r>
              <a:t>            follows VAVE (Value Analysis and Value Engineering) methodologies, ensuring </a:t>
            </a:r>
            <a:br/>
            <a:r>
              <a:t>            value preservation while achieving target cost reductions.</a:t>
            </a:r>
          </a:p>
          <a:p>
            <a:pPr>
              <a:spcAft>
                <a:spcPts val="400"/>
              </a:spcAft>
              <a:defRPr sz="1200" b="1">
                <a:solidFill>
                  <a:srgbClr val="003366"/>
                </a:solidFill>
              </a:defRPr>
            </a:pPr>
            <a:r>
              <a:t>VALIDATION ROADMAP: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Martindale Abrasion Test (ISO 12947) - 50,000 cycles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Head Impact Criterion (HIC) validation per FMVSS 201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Thermal Cycling Test (-40°C to +85°C, 100 cycles)</a:t>
            </a:r>
          </a:p>
          <a:p>
            <a:pPr>
              <a:spcAft>
                <a:spcPts val="400"/>
              </a:spcAft>
              <a:defRPr sz="1200" b="1">
                <a:solidFill>
                  <a:srgbClr val="FF9900"/>
                </a:solidFill>
              </a:defRPr>
            </a:pPr>
            <a:r>
              <a:t>RISK MITIGATION: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⚠ NVH (Noise, Vibration, Harshness) degradation due to material property changes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⚠ Durability concerns under extreme temperature cycling (-40°C to +85°C)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⚠ Potential aesthetic gaps requiring design validation with styling team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solidFill>
            <a:srgbClr val="E6F0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003366"/>
                </a:solidFill>
              </a:defRPr>
            </a:pPr>
            <a:r>
              <a:t>CEO PITCH: This initiative aligns our product portfolio with premium competitor benchmarks </a:t>
            </a:r>
            <a:br/>
            <a:r>
              <a:t>            while reducing mass and achieving 74.0 in cost savings. Beyond financial </a:t>
            </a:r>
            <a:br/>
            <a:r>
              <a:t>            impact, this move enhances our supply chain resilience by diversifying material </a:t>
            </a:r>
            <a:br/>
            <a:r>
              <a:t>            sources and reducing geopolitical risk exposure.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1. Reduce the width of the seat adjustment lever-2 from 345mm to 175mm commonising both.</a:t>
            </a:r>
            <a:br/>
            <a:r>
              <a:t>2. Reduce the overall diameter of the bars from 13mm to 12mm. | Kill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3657600" cy="320040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969696"/>
                </a:solidFill>
              </a:defRPr>
            </a:pPr>
            <a:r>
              <a:t>[Image Placeholder]</a:t>
            </a:r>
          </a:p>
          <a:p>
            <a:r>
              <a:t>Component 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097280"/>
            <a:ext cx="41148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03366"/>
                </a:solidFill>
              </a:defRPr>
            </a:pPr>
            <a:r>
              <a:t>ENGINEERING RATIONALE:</a:t>
            </a:r>
          </a:p>
          <a:p>
            <a:pPr>
              <a:spcAft>
                <a:spcPts val="800"/>
              </a:spcAft>
              <a:defRPr sz="1000">
                <a:solidFill>
                  <a:srgbClr val="333333"/>
                </a:solidFill>
              </a:defRPr>
            </a:pPr>
            <a:r>
              <a:t>The proposed modification to 1. Reduce the width of the seat adjustment lever-2 from 345mm to 175mm commonising both.</a:t>
            </a:r>
            <a:br/>
            <a:r>
              <a:t>2. Reduce the overall diameter of the bars from 13mm to 12mm. leverages advanced material science </a:t>
            </a:r>
            <a:br/>
            <a:r>
              <a:t>            and manufacturing optimization principles. By analyzing the current design's </a:t>
            </a:r>
            <a:br/>
            <a:r>
              <a:t>            material properties and stress distribution patterns, we identified opportunities </a:t>
            </a:r>
            <a:br/>
            <a:r>
              <a:t>            for material substitution without compromising structural integrity. The new </a:t>
            </a:r>
            <a:br/>
            <a:r>
              <a:t>            approach utilizes 1. reduce the width of the seat adjustment lever-2 from 345mm to 175mm commonising both.</a:t>
            </a:r>
            <a:br/>
            <a:r>
              <a:t>2. reduce the overall diameter of the bars from 13mm to 12mm. </a:t>
            </a:r>
            <a:br/>
            <a:r>
              <a:t>            which offers comparable mechanical properties at reduced cost. This optimization </a:t>
            </a:r>
            <a:br/>
            <a:r>
              <a:t>            follows VAVE (Value Analysis and Value Engineering) methodologies, ensuring </a:t>
            </a:r>
            <a:br/>
            <a:r>
              <a:t>            value preservation while achieving target cost reductions.</a:t>
            </a:r>
          </a:p>
          <a:p>
            <a:pPr>
              <a:spcAft>
                <a:spcPts val="400"/>
              </a:spcAft>
              <a:defRPr sz="1200" b="1">
                <a:solidFill>
                  <a:srgbClr val="003366"/>
                </a:solidFill>
              </a:defRPr>
            </a:pPr>
            <a:r>
              <a:t>VALIDATION ROADMAP: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Martindale Abrasion Test (ISO 12947) - 50,000 cycles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Head Impact Criterion (HIC) validation per FMVSS 201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Thermal Cycling Test (-40°C to +85°C, 100 cycles)</a:t>
            </a:r>
          </a:p>
          <a:p>
            <a:pPr>
              <a:spcAft>
                <a:spcPts val="400"/>
              </a:spcAft>
              <a:defRPr sz="1200" b="1">
                <a:solidFill>
                  <a:srgbClr val="FF9900"/>
                </a:solidFill>
              </a:defRPr>
            </a:pPr>
            <a:r>
              <a:t>RISK MITIGATION: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⚠ NVH (Noise, Vibration, Harshness) degradation due to material property changes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⚠ Durability concerns under extreme temperature cycling (-40°C to +85°C)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⚠ Potential aesthetic gaps requiring design validation with styling team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solidFill>
            <a:srgbClr val="E6F0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003366"/>
                </a:solidFill>
              </a:defRPr>
            </a:pPr>
            <a:r>
              <a:t>CEO PITCH: This initiative aligns our product portfolio with premium competitor benchmarks </a:t>
            </a:r>
            <a:br/>
            <a:r>
              <a:t>            while reducing mass and achieving 0.0 in cost savings. Beyond financial </a:t>
            </a:r>
            <a:br/>
            <a:r>
              <a:t>            impact, this move enhances our supply chain resilience by diversifying material </a:t>
            </a:r>
            <a:br/>
            <a:r>
              <a:t>            sources and reducing geopolitical risk exposure.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Transition the primary seat cushion foam from a multi-density molded polyurethane (PU) to a single-density, high-resilience PU foam with optimized cell structure, eliminating the need for secondary density inserts and complex molding processes. | Kill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3657600" cy="320040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969696"/>
                </a:solidFill>
              </a:defRPr>
            </a:pPr>
            <a:r>
              <a:t>[Image Placeholder]</a:t>
            </a:r>
          </a:p>
          <a:p>
            <a:r>
              <a:t>Component 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097280"/>
            <a:ext cx="41148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03366"/>
                </a:solidFill>
              </a:defRPr>
            </a:pPr>
            <a:r>
              <a:t>ENGINEERING RATIONALE:</a:t>
            </a:r>
          </a:p>
          <a:p>
            <a:pPr>
              <a:spcAft>
                <a:spcPts val="800"/>
              </a:spcAft>
              <a:defRPr sz="1000">
                <a:solidFill>
                  <a:srgbClr val="333333"/>
                </a:solidFill>
              </a:defRPr>
            </a:pPr>
            <a:r>
              <a:t>The proposed modification to Transition the primary seat cushion foam from a multi-density molded polyurethane (PU) to a single-density, high-resilience PU foam with optimized cell structure, eliminating the need for secondary density inserts and complex molding processes. leverages advanced material science </a:t>
            </a:r>
            <a:br/>
            <a:r>
              <a:t>            and manufacturing optimization principles. By analyzing the current design's </a:t>
            </a:r>
            <a:br/>
            <a:r>
              <a:t>            material properties and stress distribution patterns, we identified opportunities </a:t>
            </a:r>
            <a:br/>
            <a:r>
              <a:t>            for material substitution without compromising structural integrity. The new </a:t>
            </a:r>
            <a:br/>
            <a:r>
              <a:t>            approach utilizes transition the primary seat cushion foam from a multi-density molded polyurethane (pu) to a single-density, high-resilience pu foam with optimized cell structure, eliminating the need for secondary density inserts and complex molding processes. </a:t>
            </a:r>
            <a:br/>
            <a:r>
              <a:t>            which offers comparable mechanical properties at reduced cost. This optimization </a:t>
            </a:r>
            <a:br/>
            <a:r>
              <a:t>            follows VAVE (Value Analysis and Value Engineering) methodologies, ensuring </a:t>
            </a:r>
            <a:br/>
            <a:r>
              <a:t>            value preservation while achieving target cost reductions.</a:t>
            </a:r>
          </a:p>
          <a:p>
            <a:pPr>
              <a:spcAft>
                <a:spcPts val="400"/>
              </a:spcAft>
              <a:defRPr sz="1200" b="1">
                <a:solidFill>
                  <a:srgbClr val="003366"/>
                </a:solidFill>
              </a:defRPr>
            </a:pPr>
            <a:r>
              <a:t>VALIDATION ROADMAP: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Martindale Abrasion Test (ISO 12947) - 50,000 cycles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Head Impact Criterion (HIC) validation per FMVSS 201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Thermal Cycling Test (-40°C to +85°C, 100 cycles)</a:t>
            </a:r>
          </a:p>
          <a:p>
            <a:pPr>
              <a:spcAft>
                <a:spcPts val="400"/>
              </a:spcAft>
              <a:defRPr sz="1200" b="1">
                <a:solidFill>
                  <a:srgbClr val="FF9900"/>
                </a:solidFill>
              </a:defRPr>
            </a:pPr>
            <a:r>
              <a:t>RISK MITIGATION: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⚠ NVH (Noise, Vibration, Harshness) degradation due to material property changes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⚠ Durability concerns under extreme temperature cycling (-40°C to +85°C)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⚠ Potential aesthetic gaps requiring design validation with styling team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solidFill>
            <a:srgbClr val="E6F0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003366"/>
                </a:solidFill>
              </a:defRPr>
            </a:pPr>
            <a:r>
              <a:t>CEO PITCH: This initiative aligns our product portfolio with premium competitor benchmarks </a:t>
            </a:r>
            <a:br/>
            <a:r>
              <a:t>            while reducing mass and achieving 0.0 in cost savings. Beyond financial </a:t>
            </a:r>
            <a:br/>
            <a:r>
              <a:t>            impact, this move enhances our supply chain resilience by diversifying material </a:t>
            </a:r>
            <a:br/>
            <a:r>
              <a:t>            sources and reducing geopolitical risk exposure.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Replace the current fabric seat cover with a co-extruded thermoplastic olefin (TPO) composite material that integrates a textured surface for grip and aesthetic appeal, eliminating the need for separate fabric, foam backing, and stitching. | Kill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3657600" cy="320040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969696"/>
                </a:solidFill>
              </a:defRPr>
            </a:pPr>
            <a:r>
              <a:t>[Image Placeholder]</a:t>
            </a:r>
          </a:p>
          <a:p>
            <a:r>
              <a:t>Component 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097280"/>
            <a:ext cx="41148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03366"/>
                </a:solidFill>
              </a:defRPr>
            </a:pPr>
            <a:r>
              <a:t>ENGINEERING RATIONALE:</a:t>
            </a:r>
          </a:p>
          <a:p>
            <a:pPr>
              <a:spcAft>
                <a:spcPts val="800"/>
              </a:spcAft>
              <a:defRPr sz="1000">
                <a:solidFill>
                  <a:srgbClr val="333333"/>
                </a:solidFill>
              </a:defRPr>
            </a:pPr>
            <a:r>
              <a:t>The proposed modification to Replace the current fabric seat cover with a co-extruded thermoplastic olefin (TPO) composite material that integrates a textured surface for grip and aesthetic appeal, eliminating the need for separate fabric, foam backing, and stitching. leverages advanced material science </a:t>
            </a:r>
            <a:br/>
            <a:r>
              <a:t>            and manufacturing optimization principles. By analyzing the current design's </a:t>
            </a:r>
            <a:br/>
            <a:r>
              <a:t>            material properties and stress distribution patterns, we identified opportunities </a:t>
            </a:r>
            <a:br/>
            <a:r>
              <a:t>            for material substitution without compromising structural integrity. The new </a:t>
            </a:r>
            <a:br/>
            <a:r>
              <a:t>            approach utilizes replace the current fabric seat cover with a co-extruded thermoplastic olefin (tpo) composite material that integrates a textured surface for grip and aesthetic appeal, eliminating the need for separate fabric, foam backing, and stitching. </a:t>
            </a:r>
            <a:br/>
            <a:r>
              <a:t>            which offers comparable mechanical properties at reduced cost. This optimization </a:t>
            </a:r>
            <a:br/>
            <a:r>
              <a:t>            follows VAVE (Value Analysis and Value Engineering) methodologies, ensuring </a:t>
            </a:r>
            <a:br/>
            <a:r>
              <a:t>            value preservation while achieving target cost reductions.</a:t>
            </a:r>
          </a:p>
          <a:p>
            <a:pPr>
              <a:spcAft>
                <a:spcPts val="400"/>
              </a:spcAft>
              <a:defRPr sz="1200" b="1">
                <a:solidFill>
                  <a:srgbClr val="003366"/>
                </a:solidFill>
              </a:defRPr>
            </a:pPr>
            <a:r>
              <a:t>VALIDATION ROADMAP: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Martindale Abrasion Test (ISO 12947) - 50,000 cycles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Head Impact Criterion (HIC) validation per FMVSS 201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Thermal Cycling Test (-40°C to +85°C, 100 cycles)</a:t>
            </a:r>
          </a:p>
          <a:p>
            <a:pPr>
              <a:spcAft>
                <a:spcPts val="400"/>
              </a:spcAft>
              <a:defRPr sz="1200" b="1">
                <a:solidFill>
                  <a:srgbClr val="FF9900"/>
                </a:solidFill>
              </a:defRPr>
            </a:pPr>
            <a:r>
              <a:t>RISK MITIGATION: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⚠ NVH (Noise, Vibration, Harshness) degradation due to material property changes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⚠ Durability concerns under extreme temperature cycling (-40°C to +85°C)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⚠ Potential aesthetic gaps requiring design validation with styling team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solidFill>
            <a:srgbClr val="E6F0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003366"/>
                </a:solidFill>
              </a:defRPr>
            </a:pPr>
            <a:r>
              <a:t>CEO PITCH: This initiative aligns our product portfolio with premium competitor benchmarks </a:t>
            </a:r>
            <a:br/>
            <a:r>
              <a:t>            while reducing mass and achieving 0.0 in cost savings. Beyond financial </a:t>
            </a:r>
            <a:br/>
            <a:r>
              <a:t>            impact, this move enhances our supply chain resilience by diversifying material </a:t>
            </a:r>
            <a:br/>
            <a:r>
              <a:t>            sources and reducing geopolitical risk exposure.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Eliminate the separate metal seat frame component and integrate the structural support directly into the molded plastic seat shell using a high-strength, glass-fiber reinforced thermoplastic (GFRTP) composite, designed with internal ribbing and load-bearing geometries. | Kill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3657600" cy="320040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969696"/>
                </a:solidFill>
              </a:defRPr>
            </a:pPr>
            <a:r>
              <a:t>[Image Placeholder]</a:t>
            </a:r>
          </a:p>
          <a:p>
            <a:r>
              <a:t>Component 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097280"/>
            <a:ext cx="41148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03366"/>
                </a:solidFill>
              </a:defRPr>
            </a:pPr>
            <a:r>
              <a:t>ENGINEERING RATIONALE:</a:t>
            </a:r>
          </a:p>
          <a:p>
            <a:pPr>
              <a:spcAft>
                <a:spcPts val="800"/>
              </a:spcAft>
              <a:defRPr sz="1000">
                <a:solidFill>
                  <a:srgbClr val="333333"/>
                </a:solidFill>
              </a:defRPr>
            </a:pPr>
            <a:r>
              <a:t>The proposed modification to Eliminate the separate metal seat frame component and integrate the structural support directly into the molded plastic seat shell using a high-strength, glass-fiber reinforced thermoplastic (GFRTP) composite, designed with internal ribbing and load-bearing geometries. leverages advanced material science </a:t>
            </a:r>
            <a:br/>
            <a:r>
              <a:t>            and manufacturing optimization principles. By analyzing the current design's </a:t>
            </a:r>
            <a:br/>
            <a:r>
              <a:t>            material properties and stress distribution patterns, we identified opportunities </a:t>
            </a:r>
            <a:br/>
            <a:r>
              <a:t>            for material substitution without compromising structural integrity. The new </a:t>
            </a:r>
            <a:br/>
            <a:r>
              <a:t>            approach utilizes eliminate the separate metal seat frame component and integrate the structural support directly into the molded plastic seat shell using a high-strength, glass-fiber reinforced thermoplastic (gfrtp) composite, designed with internal ribbing and load-bearing geometries. </a:t>
            </a:r>
            <a:br/>
            <a:r>
              <a:t>            which offers comparable mechanical properties at reduced cost. This optimization </a:t>
            </a:r>
            <a:br/>
            <a:r>
              <a:t>            follows VAVE (Value Analysis and Value Engineering) methodologies, ensuring </a:t>
            </a:r>
            <a:br/>
            <a:r>
              <a:t>            value preservation while achieving target cost reductions.</a:t>
            </a:r>
          </a:p>
          <a:p>
            <a:pPr>
              <a:spcAft>
                <a:spcPts val="400"/>
              </a:spcAft>
              <a:defRPr sz="1200" b="1">
                <a:solidFill>
                  <a:srgbClr val="003366"/>
                </a:solidFill>
              </a:defRPr>
            </a:pPr>
            <a:r>
              <a:t>VALIDATION ROADMAP: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Martindale Abrasion Test (ISO 12947) - 50,000 cycles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Head Impact Criterion (HIC) validation per FMVSS 201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Thermal Cycling Test (-40°C to +85°C, 100 cycles)</a:t>
            </a:r>
          </a:p>
          <a:p>
            <a:pPr>
              <a:spcAft>
                <a:spcPts val="400"/>
              </a:spcAft>
              <a:defRPr sz="1200" b="1">
                <a:solidFill>
                  <a:srgbClr val="FF9900"/>
                </a:solidFill>
              </a:defRPr>
            </a:pPr>
            <a:r>
              <a:t>RISK MITIGATION: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⚠ NVH (Noise, Vibration, Harshness) degradation due to material property changes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⚠ Durability concerns under extreme temperature cycling (-40°C to +85°C)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⚠ Potential aesthetic gaps requiring design validation with styling team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solidFill>
            <a:srgbClr val="E6F0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003366"/>
                </a:solidFill>
              </a:defRPr>
            </a:pPr>
            <a:r>
              <a:t>CEO PITCH: This initiative aligns our product portfolio with premium competitor benchmarks </a:t>
            </a:r>
            <a:br/>
            <a:r>
              <a:t>            while reducing mass and achieving 0.0 in cost savings. Beyond financial </a:t>
            </a:r>
            <a:br/>
            <a:r>
              <a:t>            impact, this move enhances our supply chain resilience by diversifying material </a:t>
            </a:r>
            <a:br/>
            <a:r>
              <a:t>            sources and reducing geopolitical risk exposure.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Consolidate the headrest adjustment mechanism (rod, locking clips, and receptacle) into a single, integrated feature within the seat backrest structure, utilizing a snap-fit or friction-based locking system molded directly into the primary seat back shell. | Kill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3657600" cy="320040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969696"/>
                </a:solidFill>
              </a:defRPr>
            </a:pPr>
            <a:r>
              <a:t>[Image Placeholder]</a:t>
            </a:r>
          </a:p>
          <a:p>
            <a:r>
              <a:t>Component 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097280"/>
            <a:ext cx="41148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03366"/>
                </a:solidFill>
              </a:defRPr>
            </a:pPr>
            <a:r>
              <a:t>ENGINEERING RATIONALE:</a:t>
            </a:r>
          </a:p>
          <a:p>
            <a:pPr>
              <a:spcAft>
                <a:spcPts val="800"/>
              </a:spcAft>
              <a:defRPr sz="1000">
                <a:solidFill>
                  <a:srgbClr val="333333"/>
                </a:solidFill>
              </a:defRPr>
            </a:pPr>
            <a:r>
              <a:t>The proposed modification to Consolidate the headrest adjustment mechanism (rod, locking clips, and receptacle) into a single, integrated feature within the seat backrest structure, utilizing a snap-fit or friction-based locking system molded directly into the primary seat back shell. leverages advanced material science </a:t>
            </a:r>
            <a:br/>
            <a:r>
              <a:t>            and manufacturing optimization principles. By analyzing the current design's </a:t>
            </a:r>
            <a:br/>
            <a:r>
              <a:t>            material properties and stress distribution patterns, we identified opportunities </a:t>
            </a:r>
            <a:br/>
            <a:r>
              <a:t>            for material substitution without compromising structural integrity. The new </a:t>
            </a:r>
            <a:br/>
            <a:r>
              <a:t>            approach utilizes consolidate the headrest adjustment mechanism (rod, locking clips, and receptacle) into a single, integrated feature within the seat backrest structure, utilizing a snap-fit or friction-based locking system molded directly into the primary seat back shell. </a:t>
            </a:r>
            <a:br/>
            <a:r>
              <a:t>            which offers comparable mechanical properties at reduced cost. This optimization </a:t>
            </a:r>
            <a:br/>
            <a:r>
              <a:t>            follows VAVE (Value Analysis and Value Engineering) methodologies, ensuring </a:t>
            </a:r>
            <a:br/>
            <a:r>
              <a:t>            value preservation while achieving target cost reductions.</a:t>
            </a:r>
          </a:p>
          <a:p>
            <a:pPr>
              <a:spcAft>
                <a:spcPts val="400"/>
              </a:spcAft>
              <a:defRPr sz="1200" b="1">
                <a:solidFill>
                  <a:srgbClr val="003366"/>
                </a:solidFill>
              </a:defRPr>
            </a:pPr>
            <a:r>
              <a:t>VALIDATION ROADMAP: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Martindale Abrasion Test (ISO 12947) - 50,000 cycles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Head Impact Criterion (HIC) validation per FMVSS 201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Thermal Cycling Test (-40°C to +85°C, 100 cycles)</a:t>
            </a:r>
          </a:p>
          <a:p>
            <a:pPr>
              <a:spcAft>
                <a:spcPts val="400"/>
              </a:spcAft>
              <a:defRPr sz="1200" b="1">
                <a:solidFill>
                  <a:srgbClr val="FF9900"/>
                </a:solidFill>
              </a:defRPr>
            </a:pPr>
            <a:r>
              <a:t>RISK MITIGATION: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⚠ NVH (Noise, Vibration, Harshness) degradation due to material property changes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⚠ Durability concerns under extreme temperature cycling (-40°C to +85°C)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⚠ Potential aesthetic gaps requiring design validation with styling team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solidFill>
            <a:srgbClr val="E6F0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003366"/>
                </a:solidFill>
              </a:defRPr>
            </a:pPr>
            <a:r>
              <a:t>CEO PITCH: This initiative aligns our product portfolio with premium competitor benchmarks </a:t>
            </a:r>
            <a:br/>
            <a:r>
              <a:t>            while reducing mass and achieving 0.0 in cost savings. Beyond financial </a:t>
            </a:r>
            <a:br/>
            <a:r>
              <a:t>            impact, this move enhances our supply chain resilience by diversifying material </a:t>
            </a:r>
            <a:br/>
            <a:r>
              <a:t>            sources and reducing geopolitical risk exposure.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Replace the conventional metal seat recline mechanism with a lightweight, high-strength engineered plastic worm gear and rack system, integrated directly into the seat structure. | Kill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3657600" cy="320040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969696"/>
                </a:solidFill>
              </a:defRPr>
            </a:pPr>
            <a:r>
              <a:t>[Image Placeholder]</a:t>
            </a:r>
          </a:p>
          <a:p>
            <a:r>
              <a:t>Component 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097280"/>
            <a:ext cx="41148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03366"/>
                </a:solidFill>
              </a:defRPr>
            </a:pPr>
            <a:r>
              <a:t>ENGINEERING RATIONALE:</a:t>
            </a:r>
          </a:p>
          <a:p>
            <a:pPr>
              <a:spcAft>
                <a:spcPts val="800"/>
              </a:spcAft>
              <a:defRPr sz="1000">
                <a:solidFill>
                  <a:srgbClr val="333333"/>
                </a:solidFill>
              </a:defRPr>
            </a:pPr>
            <a:r>
              <a:t>The proposed modification to Replace the conventional metal seat recline mechanism with a lightweight, high-strength engineered plastic worm gear and rack system, integrated directly into the seat structure. leverages advanced material science </a:t>
            </a:r>
            <a:br/>
            <a:r>
              <a:t>            and manufacturing optimization principles. By analyzing the current design's </a:t>
            </a:r>
            <a:br/>
            <a:r>
              <a:t>            material properties and stress distribution patterns, we identified opportunities </a:t>
            </a:r>
            <a:br/>
            <a:r>
              <a:t>            for material substitution without compromising structural integrity. The new </a:t>
            </a:r>
            <a:br/>
            <a:r>
              <a:t>            approach utilizes replace the conventional metal seat recline mechanism with a lightweight, high-strength engineered plastic worm gear and rack system, integrated directly into the seat structure. </a:t>
            </a:r>
            <a:br/>
            <a:r>
              <a:t>            which offers comparable mechanical properties at reduced cost. This optimization </a:t>
            </a:r>
            <a:br/>
            <a:r>
              <a:t>            follows VAVE (Value Analysis and Value Engineering) methodologies, ensuring </a:t>
            </a:r>
            <a:br/>
            <a:r>
              <a:t>            value preservation while achieving target cost reductions.</a:t>
            </a:r>
          </a:p>
          <a:p>
            <a:pPr>
              <a:spcAft>
                <a:spcPts val="400"/>
              </a:spcAft>
              <a:defRPr sz="1200" b="1">
                <a:solidFill>
                  <a:srgbClr val="003366"/>
                </a:solidFill>
              </a:defRPr>
            </a:pPr>
            <a:r>
              <a:t>VALIDATION ROADMAP: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Martindale Abrasion Test (ISO 12947) - 50,000 cycles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Head Impact Criterion (HIC) validation per FMVSS 201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Thermal Cycling Test (-40°C to +85°C, 100 cycles)</a:t>
            </a:r>
          </a:p>
          <a:p>
            <a:pPr>
              <a:spcAft>
                <a:spcPts val="400"/>
              </a:spcAft>
              <a:defRPr sz="1200" b="1">
                <a:solidFill>
                  <a:srgbClr val="FF9900"/>
                </a:solidFill>
              </a:defRPr>
            </a:pPr>
            <a:r>
              <a:t>RISK MITIGATION: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⚠ NVH (Noise, Vibration, Harshness) degradation due to material property changes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⚠ Durability concerns under extreme temperature cycling (-40°C to +85°C)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⚠ Potential aesthetic gaps requiring design validation with styling team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solidFill>
            <a:srgbClr val="E6F0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003366"/>
                </a:solidFill>
              </a:defRPr>
            </a:pPr>
            <a:r>
              <a:t>CEO PITCH: This initiative aligns our product portfolio with premium competitor benchmarks </a:t>
            </a:r>
            <a:br/>
            <a:r>
              <a:t>            while reducing mass and achieving 0.0 in cost savings. Beyond financial </a:t>
            </a:r>
            <a:br/>
            <a:r>
              <a:t>            impact, this move enhances our supply chain resilience by diversifying material </a:t>
            </a:r>
            <a:br/>
            <a:r>
              <a:t>            sources and reducing geopolitical risk exposure.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Develop a modular seat design where common structural elements (e.g., base frame, backrest shell) are manufactured from a single, recyclable thermoplastic composite, allowing for simplified assembly and reduced part count, with interchangeable comfort and trim modules. | Kill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3657600" cy="320040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969696"/>
                </a:solidFill>
              </a:defRPr>
            </a:pPr>
            <a:r>
              <a:t>[Image Placeholder]</a:t>
            </a:r>
          </a:p>
          <a:p>
            <a:r>
              <a:t>Component 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097280"/>
            <a:ext cx="41148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03366"/>
                </a:solidFill>
              </a:defRPr>
            </a:pPr>
            <a:r>
              <a:t>ENGINEERING RATIONALE:</a:t>
            </a:r>
          </a:p>
          <a:p>
            <a:pPr>
              <a:spcAft>
                <a:spcPts val="800"/>
              </a:spcAft>
              <a:defRPr sz="1000">
                <a:solidFill>
                  <a:srgbClr val="333333"/>
                </a:solidFill>
              </a:defRPr>
            </a:pPr>
            <a:r>
              <a:t>The proposed modification to Develop a modular seat design where common structural elements (e.g., base frame, backrest shell) are manufactured from a single, recyclable thermoplastic composite, allowing for simplified assembly and reduced part count, with interchangeable comfort and trim modules. leverages advanced material science </a:t>
            </a:r>
            <a:br/>
            <a:r>
              <a:t>            and manufacturing optimization principles. By analyzing the current design's </a:t>
            </a:r>
            <a:br/>
            <a:r>
              <a:t>            material properties and stress distribution patterns, we identified opportunities </a:t>
            </a:r>
            <a:br/>
            <a:r>
              <a:t>            for material substitution without compromising structural integrity. The new </a:t>
            </a:r>
            <a:br/>
            <a:r>
              <a:t>            approach utilizes develop a modular seat design where common structural elements (e.g., base frame, backrest shell) are manufactured from a single, recyclable thermoplastic composite, allowing for simplified assembly and reduced part count, with interchangeable comfort and trim modules. </a:t>
            </a:r>
            <a:br/>
            <a:r>
              <a:t>            which offers comparable mechanical properties at reduced cost. This optimization </a:t>
            </a:r>
            <a:br/>
            <a:r>
              <a:t>            follows VAVE (Value Analysis and Value Engineering) methodologies, ensuring </a:t>
            </a:r>
            <a:br/>
            <a:r>
              <a:t>            value preservation while achieving target cost reductions.</a:t>
            </a:r>
          </a:p>
          <a:p>
            <a:pPr>
              <a:spcAft>
                <a:spcPts val="400"/>
              </a:spcAft>
              <a:defRPr sz="1200" b="1">
                <a:solidFill>
                  <a:srgbClr val="003366"/>
                </a:solidFill>
              </a:defRPr>
            </a:pPr>
            <a:r>
              <a:t>VALIDATION ROADMAP: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Martindale Abrasion Test (ISO 12947) - 50,000 cycles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Head Impact Criterion (HIC) validation per FMVSS 201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Thermal Cycling Test (-40°C to +85°C, 100 cycles)</a:t>
            </a:r>
          </a:p>
          <a:p>
            <a:pPr>
              <a:spcAft>
                <a:spcPts val="400"/>
              </a:spcAft>
              <a:defRPr sz="1200" b="1">
                <a:solidFill>
                  <a:srgbClr val="FF9900"/>
                </a:solidFill>
              </a:defRPr>
            </a:pPr>
            <a:r>
              <a:t>RISK MITIGATION: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⚠ NVH (Noise, Vibration, Harshness) degradation due to material property changes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⚠ Durability concerns under extreme temperature cycling (-40°C to +85°C)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⚠ Potential aesthetic gaps requiring design validation with styling team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solidFill>
            <a:srgbClr val="E6F0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003366"/>
                </a:solidFill>
              </a:defRPr>
            </a:pPr>
            <a:r>
              <a:t>CEO PITCH: This initiative aligns our product portfolio with premium competitor benchmarks </a:t>
            </a:r>
            <a:br/>
            <a:r>
              <a:t>            while reducing mass and achieving 0.0 in cost savings. Beyond financial </a:t>
            </a:r>
            <a:br/>
            <a:r>
              <a:t>            impact, this move enhances our supply chain resilience by diversifying material </a:t>
            </a:r>
            <a:br/>
            <a:r>
              <a:t>            sources and reducing geopolitical risk exposure.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Streamline Design and Technical Team Collaboration for Efficiency | Kill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3657600" cy="320040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969696"/>
                </a:solidFill>
              </a:defRPr>
            </a:pPr>
            <a:r>
              <a:t>[Image Placeholder]</a:t>
            </a:r>
          </a:p>
          <a:p>
            <a:r>
              <a:t>Component 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097280"/>
            <a:ext cx="41148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03366"/>
                </a:solidFill>
              </a:defRPr>
            </a:pPr>
            <a:r>
              <a:t>ENGINEERING RATIONALE:</a:t>
            </a:r>
          </a:p>
          <a:p>
            <a:pPr>
              <a:spcAft>
                <a:spcPts val="800"/>
              </a:spcAft>
              <a:defRPr sz="1000">
                <a:solidFill>
                  <a:srgbClr val="333333"/>
                </a:solidFill>
              </a:defRPr>
            </a:pPr>
            <a:r>
              <a:t>The proposed modification to Streamline Design and Technical Team Collaboration for Efficiency leverages advanced material science </a:t>
            </a:r>
            <a:br/>
            <a:r>
              <a:t>            and manufacturing optimization principles. By analyzing the current design's </a:t>
            </a:r>
            <a:br/>
            <a:r>
              <a:t>            material properties and stress distribution patterns, we identified opportunities </a:t>
            </a:r>
            <a:br/>
            <a:r>
              <a:t>            for material substitution without compromising structural integrity. The new </a:t>
            </a:r>
            <a:br/>
            <a:r>
              <a:t>            approach utilizes streamline design and technical team collaboration for efficiency </a:t>
            </a:r>
            <a:br/>
            <a:r>
              <a:t>            which offers comparable mechanical properties at reduced cost. This optimization </a:t>
            </a:r>
            <a:br/>
            <a:r>
              <a:t>            follows VAVE (Value Analysis and Value Engineering) methodologies, ensuring </a:t>
            </a:r>
            <a:br/>
            <a:r>
              <a:t>            value preservation while achieving target cost reductions.</a:t>
            </a:r>
          </a:p>
          <a:p>
            <a:pPr>
              <a:spcAft>
                <a:spcPts val="400"/>
              </a:spcAft>
              <a:defRPr sz="1200" b="1">
                <a:solidFill>
                  <a:srgbClr val="003366"/>
                </a:solidFill>
              </a:defRPr>
            </a:pPr>
            <a:r>
              <a:t>VALIDATION ROADMAP: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Martindale Abrasion Test (ISO 12947) - 50,000 cycles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Head Impact Criterion (HIC) validation per FMVSS 201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Thermal Cycling Test (-40°C to +85°C, 100 cycles)</a:t>
            </a:r>
          </a:p>
          <a:p>
            <a:pPr>
              <a:spcAft>
                <a:spcPts val="400"/>
              </a:spcAft>
              <a:defRPr sz="1200" b="1">
                <a:solidFill>
                  <a:srgbClr val="FF9900"/>
                </a:solidFill>
              </a:defRPr>
            </a:pPr>
            <a:r>
              <a:t>RISK MITIGATION: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⚠ NVH (Noise, Vibration, Harshness) degradation due to material property changes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⚠ Durability concerns under extreme temperature cycling (-40°C to +85°C)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⚠ Potential aesthetic gaps requiring design validation with styling team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solidFill>
            <a:srgbClr val="E6F0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003366"/>
                </a:solidFill>
              </a:defRPr>
            </a:pPr>
            <a:r>
              <a:t>CEO PITCH: This initiative aligns our product portfolio with premium competitor benchmarks </a:t>
            </a:r>
            <a:br/>
            <a:r>
              <a:t>            while reducing mass and achieving 0.0 in cost savings. Beyond financial </a:t>
            </a:r>
            <a:br/>
            <a:r>
              <a:t>            impact, this move enhances our supply chain resilience by diversifying material </a:t>
            </a:r>
            <a:br/>
            <a:r>
              <a:t>            sources and reducing geopolitical risk exposure.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Optimize Braking Maneuvers to Reduce Tire Wear and Improve Lap Times | Kill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3657600" cy="320040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969696"/>
                </a:solidFill>
              </a:defRPr>
            </a:pPr>
            <a:r>
              <a:t>[Image Placeholder]</a:t>
            </a:r>
          </a:p>
          <a:p>
            <a:r>
              <a:t>Component 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097280"/>
            <a:ext cx="41148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03366"/>
                </a:solidFill>
              </a:defRPr>
            </a:pPr>
            <a:r>
              <a:t>ENGINEERING RATIONALE:</a:t>
            </a:r>
          </a:p>
          <a:p>
            <a:pPr>
              <a:spcAft>
                <a:spcPts val="800"/>
              </a:spcAft>
              <a:defRPr sz="1000">
                <a:solidFill>
                  <a:srgbClr val="333333"/>
                </a:solidFill>
              </a:defRPr>
            </a:pPr>
            <a:r>
              <a:t>The proposed modification to Optimize Braking Maneuvers to Reduce Tire Wear and Improve Lap Times leverages advanced material science </a:t>
            </a:r>
            <a:br/>
            <a:r>
              <a:t>            and manufacturing optimization principles. By analyzing the current design's </a:t>
            </a:r>
            <a:br/>
            <a:r>
              <a:t>            material properties and stress distribution patterns, we identified opportunities </a:t>
            </a:r>
            <a:br/>
            <a:r>
              <a:t>            for material substitution without compromising structural integrity. The new </a:t>
            </a:r>
            <a:br/>
            <a:r>
              <a:t>            approach utilizes optimize braking maneuvers to reduce tire wear and improve lap times </a:t>
            </a:r>
            <a:br/>
            <a:r>
              <a:t>            which offers comparable mechanical properties at reduced cost. This optimization </a:t>
            </a:r>
            <a:br/>
            <a:r>
              <a:t>            follows VAVE (Value Analysis and Value Engineering) methodologies, ensuring </a:t>
            </a:r>
            <a:br/>
            <a:r>
              <a:t>            value preservation while achieving target cost reductions.</a:t>
            </a:r>
          </a:p>
          <a:p>
            <a:pPr>
              <a:spcAft>
                <a:spcPts val="400"/>
              </a:spcAft>
              <a:defRPr sz="1200" b="1">
                <a:solidFill>
                  <a:srgbClr val="003366"/>
                </a:solidFill>
              </a:defRPr>
            </a:pPr>
            <a:r>
              <a:t>VALIDATION ROADMAP: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Martindale Abrasion Test (ISO 12947) - 50,000 cycles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Head Impact Criterion (HIC) validation per FMVSS 201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Thermal Cycling Test (-40°C to +85°C, 100 cycles)</a:t>
            </a:r>
          </a:p>
          <a:p>
            <a:pPr>
              <a:spcAft>
                <a:spcPts val="400"/>
              </a:spcAft>
              <a:defRPr sz="1200" b="1">
                <a:solidFill>
                  <a:srgbClr val="FF9900"/>
                </a:solidFill>
              </a:defRPr>
            </a:pPr>
            <a:r>
              <a:t>RISK MITIGATION: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⚠ NVH (Noise, Vibration, Harshness) degradation due to material property changes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⚠ Durability concerns under extreme temperature cycling (-40°C to +85°C)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⚠ Potential aesthetic gaps requiring design validation with styling team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solidFill>
            <a:srgbClr val="E6F0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Feasibility Matrix: Kill/Keep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3366"/>
                </a:solidFill>
              </a:defRPr>
            </a:pPr>
            <a:r>
              <a:t>Idea | Ease (1-10) | CAPEX | Time-to-Market | Verdict | Savings</a:t>
            </a:r>
            <a:br/>
            <a:r>
              <a:t>--------------------------------------------------------------------------------</a:t>
            </a:r>
            <a:br/>
          </a:p>
          <a:p>
            <a:pPr>
              <a:defRPr sz="1000">
                <a:solidFill>
                  <a:srgbClr val="969696"/>
                </a:solidFill>
              </a:defRPr>
            </a:pPr>
            <a:r>
              <a:t>Eliminate the plastic trim pro |  5 | High   | 2 Years         | Kill            | 141</a:t>
            </a:r>
            <a:br/>
          </a:p>
          <a:p>
            <a:pPr>
              <a:defRPr sz="1000">
                <a:solidFill>
                  <a:srgbClr val="969696"/>
                </a:solidFill>
              </a:defRPr>
            </a:pPr>
            <a:r>
              <a:t>Reduce the width of the trunk  |  5 | High   | 2 Years         | Kill            | 89</a:t>
            </a:r>
            <a:br/>
          </a:p>
          <a:p>
            <a:pPr>
              <a:defRPr sz="1000">
                <a:solidFill>
                  <a:srgbClr val="969696"/>
                </a:solidFill>
              </a:defRPr>
            </a:pPr>
            <a:r>
              <a:t>Replace ABS+PVC+PU with PP+PE- |  5 | High   | 2 Years         | Kill            | 126</a:t>
            </a:r>
            <a:br/>
          </a:p>
          <a:p>
            <a:pPr>
              <a:defRPr sz="1000">
                <a:solidFill>
                  <a:srgbClr val="969696"/>
                </a:solidFill>
              </a:defRPr>
            </a:pPr>
            <a:r>
              <a:t>Reduce the height of the Headr |  5 | High   | 2 Years         | Kill            | 66</a:t>
            </a:r>
            <a:br/>
          </a:p>
          <a:p>
            <a:pPr>
              <a:defRPr sz="1000">
                <a:solidFill>
                  <a:srgbClr val="969696"/>
                </a:solidFill>
              </a:defRPr>
            </a:pPr>
            <a:r>
              <a:t>1. Reduce the width of the sea |  5 | High   | 2 Years         | Kill            | 74</a:t>
            </a:r>
            <a:br/>
          </a:p>
          <a:p>
            <a:pPr>
              <a:defRPr sz="1000">
                <a:solidFill>
                  <a:srgbClr val="969696"/>
                </a:solidFill>
              </a:defRPr>
            </a:pPr>
            <a:r>
              <a:t>Transition the primary seat cu |  5 | High   | 2 Years         | Kill            | 0</a:t>
            </a:r>
            <a:br/>
          </a:p>
          <a:p>
            <a:pPr>
              <a:defRPr sz="1000">
                <a:solidFill>
                  <a:srgbClr val="969696"/>
                </a:solidFill>
              </a:defRPr>
            </a:pPr>
            <a:r>
              <a:t>Replace the current fabric sea |  5 | High   | 2 Years         | Kill            | 0</a:t>
            </a:r>
            <a:br/>
          </a:p>
          <a:p>
            <a:pPr>
              <a:defRPr sz="1000">
                <a:solidFill>
                  <a:srgbClr val="969696"/>
                </a:solidFill>
              </a:defRPr>
            </a:pPr>
            <a:r>
              <a:t>Eliminate the separate metal s |  5 | High   | 2 Years         | Kill            | 0</a:t>
            </a:r>
            <a:br/>
          </a:p>
          <a:p>
            <a:pPr>
              <a:defRPr sz="1000">
                <a:solidFill>
                  <a:srgbClr val="969696"/>
                </a:solidFill>
              </a:defRPr>
            </a:pPr>
            <a:r>
              <a:t>Consolidate the headrest adjus |  5 | High   | 2 Years         | Kill            | 0</a:t>
            </a:r>
            <a:br/>
          </a:p>
          <a:p>
            <a:pPr>
              <a:defRPr sz="1000">
                <a:solidFill>
                  <a:srgbClr val="969696"/>
                </a:solidFill>
              </a:defRPr>
            </a:pPr>
            <a:r>
              <a:t>Replace the conventional metal |  5 | High   | 2 Years         | Kill            | 0</a:t>
            </a:r>
            <a:br/>
          </a:p>
          <a:p>
            <a:pPr>
              <a:defRPr sz="1000">
                <a:solidFill>
                  <a:srgbClr val="969696"/>
                </a:solidFill>
              </a:defRPr>
            </a:pPr>
            <a:r>
              <a:t>Develop a modular seat design  |  5 | High   | 2 Years         | Kill            | 0</a:t>
            </a:r>
            <a:br/>
          </a:p>
          <a:p>
            <a:pPr>
              <a:defRPr sz="1000">
                <a:solidFill>
                  <a:srgbClr val="969696"/>
                </a:solidFill>
              </a:defRPr>
            </a:pPr>
            <a:r>
              <a:t>Streamline Design and Technica |  5 | High   | 2 Years         | Kill            | 0</a:t>
            </a:r>
            <a:br/>
          </a:p>
          <a:p>
            <a:pPr>
              <a:defRPr sz="1000">
                <a:solidFill>
                  <a:srgbClr val="969696"/>
                </a:solidFill>
              </a:defRPr>
            </a:pPr>
            <a:r>
              <a:t>Optimize Braking Maneuvers to  |  5 | High   | 2 Years         | Kill            | 0</a:t>
            </a:r>
            <a:b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Supply Chain &amp; Vendor Implications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400" b="1">
                <a:solidFill>
                  <a:srgbClr val="003366"/>
                </a:solidFill>
              </a:defRPr>
            </a:pPr>
            <a:r>
              <a:t>Eliminate the plastic trim provided around the bottom anchor point at the driver side seatbelt and follow the same methodology provided at the co-driver's side. - Supply Chain Impact:</a:t>
            </a:r>
          </a:p>
          <a:p>
            <a:pPr lvl="1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• Supplier Change: Switching to optimized materials moves us from Tier-2 Supplier A to Tier-1 Supplier B</a:t>
            </a:r>
          </a:p>
          <a:p>
            <a:pPr lvl="1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• Lead Time Impact: Reduces lead time by 3 weeks through local sourcing</a:t>
            </a:r>
          </a:p>
          <a:p>
            <a:pPr lvl="1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• Risk Mitigation: Mitigates geopolitical risk by sourcing local raw materials</a:t>
            </a:r>
          </a:p>
          <a:p>
            <a:pPr lvl="1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• Cost Impact: Reduces logistics costs by 12% through supply chain optimization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400"/>
              </a:spcAft>
              <a:defRPr sz="1400" b="1">
                <a:solidFill>
                  <a:srgbClr val="003366"/>
                </a:solidFill>
              </a:defRPr>
            </a:pPr>
            <a:r>
              <a:t>Replace ABS+PVC+PU with PP+PE-TD14 in the manufacture of both Front and Rear Passenger Armrest Trims of MGI - Supply Chain Impact:</a:t>
            </a:r>
          </a:p>
          <a:p>
            <a:pPr lvl="1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• Supplier Change: Switching to optimized materials moves us from Tier-2 Supplier A to Tier-1 Supplier B</a:t>
            </a:r>
          </a:p>
          <a:p>
            <a:pPr lvl="1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• Lead Time Impact: Reduces lead time by 3 weeks through local sourcing</a:t>
            </a:r>
          </a:p>
          <a:p>
            <a:pPr lvl="1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• Risk Mitigation: Mitigates geopolitical risk by sourcing local raw materials</a:t>
            </a:r>
          </a:p>
          <a:p>
            <a:pPr lvl="1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• Cost Impact: Reduces logistics costs by 12% through supply chain optimization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400"/>
              </a:spcAft>
              <a:defRPr sz="1400" b="1">
                <a:solidFill>
                  <a:srgbClr val="003366"/>
                </a:solidFill>
              </a:defRPr>
            </a:pPr>
            <a:r>
              <a:t>Reduce the width of the trunk liner flap by 60mm from the upper edge. - Supply Chain Impact:</a:t>
            </a:r>
          </a:p>
          <a:p>
            <a:pPr lvl="1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• Supplier Change: Switching to optimized materials moves us from Tier-2 Supplier A to Tier-1 Supplier B</a:t>
            </a:r>
          </a:p>
          <a:p>
            <a:pPr lvl="1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• Lead Time Impact: Reduces lead time by 3 weeks through local sourcing</a:t>
            </a:r>
          </a:p>
          <a:p>
            <a:pPr lvl="1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• Risk Mitigation: Mitigates geopolitical risk by sourcing local raw materials</a:t>
            </a:r>
          </a:p>
          <a:p>
            <a:pPr lvl="1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• Cost Impact: Reduces logistics costs by 12% through supply chain optimization</a:t>
            </a:r>
          </a:p>
          <a:p>
            <a:pPr>
              <a:spcAft>
                <a:spcPts val="800"/>
              </a:spcAft>
            </a:p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Implementation Roadmap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000"/>
              </a:spcAft>
              <a:defRPr sz="1400" b="1">
                <a:solidFill>
                  <a:srgbClr val="003366"/>
                </a:solidFill>
              </a:defRPr>
            </a:pPr>
            <a:r>
              <a:t>PHASE 1: Quick Wins (Month 0-2)</a:t>
            </a:r>
            <a:br/>
            <a:r>
              <a:t>        • Implement no-tooling-change ideas</a:t>
            </a:r>
            <a:br/>
            <a:r>
              <a:t>        • Target: 40% of identified savings</a:t>
            </a:r>
            <a:br/>
            <a:r>
              <a:t>        • Risk: Low | Investment: Minimal</a:t>
            </a:r>
            <a:br/>
            <a:r>
              <a:t>        </a:t>
            </a:r>
            <a:br/>
            <a:r>
              <a:t>        PHASE 2: Validation (Month 2-6)</a:t>
            </a:r>
            <a:br/>
            <a:r>
              <a:t>        • Prototype AI-generated ideas</a:t>
            </a:r>
            <a:br/>
            <a:r>
              <a:t>        • Complete engineering validation tests</a:t>
            </a:r>
            <a:br/>
            <a:r>
              <a:t>        • Supplier qualification and sourcing</a:t>
            </a:r>
            <a:br/>
            <a:r>
              <a:t>        • Target: Validate remaining 60% of savings</a:t>
            </a:r>
            <a:br/>
            <a:r>
              <a:t>        </a:t>
            </a:r>
            <a:br/>
            <a:r>
              <a:t>        PHASE 3: Start of Production (Month 6+)</a:t>
            </a:r>
            <a:br/>
            <a:r>
              <a:t>        • Finalize tooling and manufacturing processes</a:t>
            </a:r>
            <a:br/>
            <a:r>
              <a:t>        • Complete supply chain transition</a:t>
            </a:r>
            <a:br/>
            <a:r>
              <a:t>        • Monitor quality and performance metrics</a:t>
            </a:r>
            <a:br/>
            <a:r>
              <a:t>        </a:t>
            </a:r>
            <a:br/>
            <a:r>
              <a:t>        CALL TO ACTION:</a:t>
            </a:r>
            <a:br/>
            <a:r>
              <a:t>        Requesting budget approval for Phase 1 prototyping and validation activities.</a:t>
            </a:r>
            <a:br/>
            <a:r>
              <a:t>        Estimated investment: [TBD] | Expected ROI: [TBD] | Timeline: 6 months to SOP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
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04-Feb-2026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782955">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782955">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Reduce the rotor thickness of the rear brake rotors from 18mm to 16mm, provid...</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1500000.00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15000.0000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Replace the current cast iron brake caliper pistons with a lighter, high-stre...</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Optimize the caliper housing design for the front brake calipers by reducing...</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1200000.00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12000.0000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782955">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782955">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Substitute the current steel brake dust shield with a lighter gauge aluminum...</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8000.0000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Reduce the friction material pad thickness for rear brake pads by 1mm across...</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AI-GEN-06</a:t>
                      </a:r>
                    </a:p>
                  </a:txBody>
                  <a:tcPr/>
                </a:tc>
                <a:tc>
                  <a:txBody>
                    <a:bodyPr wrap="square" lIns="50800" rIns="50800"/>
                    <a:lstStyle/>
                    <a:p>
                      <a:pPr>
                        <a:defRPr sz="900">
                          <a:solidFill>
                            <a:srgbClr val="333333"/>
                          </a:solidFill>
                          <a:latin typeface="Calibri"/>
                        </a:defRPr>
                      </a:pPr>
                      <a:r>
                        <a:t>Implement a single-piece brake caliper bracket for the rear brake assemblies,...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900000.00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9000.0000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AI-GEN-09</a:t>
                      </a:r>
                    </a:p>
                  </a:txBody>
                  <a:tcPr/>
                </a:tc>
                <a:tc>
                  <a:txBody>
                    <a:bodyPr wrap="square" lIns="50800" rIns="50800"/>
                    <a:lstStyle/>
                    <a:p>
                      <a:pPr>
                        <a:defRPr sz="900">
                          <a:solidFill>
                            <a:srgbClr val="333333"/>
                          </a:solidFill>
                          <a:latin typeface="Calibri"/>
                        </a:defRPr>
                      </a:pPr>
                      <a:r>
                        <a:t>Reduce the gauge of the steel used for the brake caliper mounting bolts on th...</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Reduce the minimum allowable disc runout specification for front and rear bra...</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1800000.00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18000.0000</a:t>
                      </a:r>
                    </a:p>
                  </a:txBody>
                  <a:tcPr/>
                </a:tc>
                <a:tc>
                  <a:txBody>
                    <a:bodyPr wrap="square" lIns="50800" rIns="50800"/>
                    <a:lstStyle/>
                    <a:p>
                      <a:pPr>
                        <a:defRPr sz="900">
                          <a:solidFill>
                            <a:srgbClr val="333333"/>
                          </a:solidFill>
                          <a:latin typeface="Calibri"/>
                        </a:defRPr>
                      </a:pPr>
                      <a:r>
                        <a:t>Needs Human Review</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use of advanced Aluminum alloys for brake rotors, specificall...</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879.05</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8.7905</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Explore the application of a lightweight, high-strength polymer composite for...</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2267.06</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22.6706</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2087880">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208788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Implement a value engineering approach to optimize the dust shield design. In...</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157.96</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1.5796</a:t>
                      </a:r>
                    </a:p>
                  </a:txBody>
                  <a:tcPr/>
                </a:tc>
                <a:tc>
                  <a:txBody>
                    <a:bodyPr wrap="square" lIns="50800" rIns="50800"/>
                    <a:lstStyle/>
                    <a:p>
                      <a:pPr>
                        <a:defRPr sz="900">
                          <a:solidFill>
                            <a:srgbClr val="333333"/>
                          </a:solidFill>
                          <a:latin typeface="Calibri"/>
                        </a:defRPr>
                      </a:pPr>
                      <a:r>
                        <a:t>Industry Trend</a:t>
                      </a:r>
                    </a:p>
                  </a:txBody>
                  <a:tcPr/>
                </a:tc>
                <a:tc>
                  <a:txBody>
                    <a:bodyPr wrap="square" lIns="50800" rIns="50800"/>
                    <a:lstStyle/>
                    <a:p>
                      <a:pPr>
                        <a:defRPr sz="900">
                          <a:solidFill>
                            <a:srgbClr val="333333"/>
                          </a:solidFill>
                          <a:latin typeface="Calibri"/>
                        </a:defRPr>
                      </a:pPr>
                      <a:r>
                        <a:t>Engineering Review</a:t>
                      </a:r>
                    </a:p>
                  </a:txBody>
                  <a:tcPr/>
                </a:tc>
              </a:tr>
              <a:tr h="208788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Adapt research on friction material optimization for reduced wear and improve...</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71.86</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0.7186</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11438"/>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a:t>
            </a:r>
          </a:p>
        </p:txBody>
      </p:sp>
      <p:sp>
        <p:nvSpPr>
          <p:cNvPr id="6" name="Rectangle 5"/>
          <p:cNvSpPr/>
          <p:nvPr/>
        </p:nvSpPr>
        <p:spPr>
          <a:xfrm>
            <a:off x="274320" y="296027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03343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262030"/>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6866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5982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88429"/>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3669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40143"/>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68743"/>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0414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1459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43192"/>
            <a:ext cx="5486400" cy="240487"/>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31231"/>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a:t>
            </a:r>
          </a:p>
        </p:txBody>
      </p:sp>
      <p:sp>
        <p:nvSpPr>
          <p:cNvPr id="6" name="Rectangle 5"/>
          <p:cNvSpPr/>
          <p:nvPr/>
        </p:nvSpPr>
        <p:spPr>
          <a:xfrm>
            <a:off x="274320" y="17571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3026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5886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164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8958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18180"/>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1967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6989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498494"/>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711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4434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72943"/>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601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#3: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76072"/>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a:t>
            </a:r>
          </a:p>
        </p:txBody>
      </p:sp>
      <p:sp>
        <p:nvSpPr>
          <p:cNvPr id="6" name="Rectangle 5"/>
          <p:cNvSpPr/>
          <p:nvPr/>
        </p:nvSpPr>
        <p:spPr>
          <a:xfrm>
            <a:off x="274320" y="231343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8658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15184"/>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0727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4590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74501"/>
            <a:ext cx="5486400" cy="38020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375470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2786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56461"/>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42915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0231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30910"/>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181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#4: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18063"/>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a:t>
            </a:r>
          </a:p>
        </p:txBody>
      </p:sp>
      <p:sp>
        <p:nvSpPr>
          <p:cNvPr id="6" name="Rectangle 5"/>
          <p:cNvSpPr/>
          <p:nvPr/>
        </p:nvSpPr>
        <p:spPr>
          <a:xfrm>
            <a:off x="274320" y="17439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1709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45695"/>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032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7641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05013"/>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1852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5837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48697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596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3282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61422"/>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486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#5: Reduce the rotor thickness of the rear brake rotors from 18mm to 16mm, provided thermal performance targets are met through material optimization.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02005"/>
          </a:xfrm>
          <a:prstGeom prst="rect">
            <a:avLst/>
          </a:prstGeom>
          <a:noFill/>
        </p:spPr>
        <p:txBody>
          <a:bodyPr wrap="square">
            <a:spAutoFit/>
          </a:bodyPr>
          <a:lstStyle/>
          <a:p>
            <a:pPr>
              <a:defRPr sz="1000">
                <a:solidFill>
                  <a:srgbClr val="333333"/>
                </a:solidFill>
              </a:defRPr>
            </a:pPr>
            <a:r>
              <a:t>Technical optimization of Reduce the rotor thickness of the rear brake rotors from 18mm to 16mm, provided thermal performance targets are met through material optimization. focusing on material efficiency.</a:t>
            </a:r>
          </a:p>
        </p:txBody>
      </p:sp>
      <p:sp>
        <p:nvSpPr>
          <p:cNvPr id="6" name="Rectangle 5"/>
          <p:cNvSpPr/>
          <p:nvPr/>
        </p:nvSpPr>
        <p:spPr>
          <a:xfrm>
            <a:off x="274320" y="22393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1251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541117"/>
            <a:ext cx="5486400" cy="515172"/>
          </a:xfrm>
          <a:prstGeom prst="rect">
            <a:avLst/>
          </a:prstGeom>
          <a:noFill/>
        </p:spPr>
        <p:txBody>
          <a:bodyPr wrap="square">
            <a:spAutoFit/>
          </a:bodyPr>
          <a:lstStyle/>
          <a:p>
            <a:pPr>
              <a:defRPr sz="1000">
                <a:solidFill>
                  <a:srgbClr val="333333"/>
                </a:solidFill>
              </a:defRPr>
            </a:pPr>
            <a:r>
              <a:t>Reduce the rotor thickness of the rear brake rotors from 18mm to 16mm, provided thermal performance </a:t>
            </a:r>
            <a:br/>
            <a:r>
              <a:t>18mm to 16mm</a:t>
            </a:r>
          </a:p>
        </p:txBody>
      </p:sp>
      <p:sp>
        <p:nvSpPr>
          <p:cNvPr id="9" name="Rectangle 8"/>
          <p:cNvSpPr/>
          <p:nvPr/>
        </p:nvSpPr>
        <p:spPr>
          <a:xfrm>
            <a:off x="274320" y="30562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2944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58042"/>
            <a:ext cx="5486400" cy="386791"/>
          </a:xfrm>
          <a:prstGeom prst="rect">
            <a:avLst/>
          </a:prstGeom>
          <a:noFill/>
        </p:spPr>
        <p:txBody>
          <a:bodyPr wrap="square">
            <a:spAutoFit/>
          </a:bodyPr>
          <a:lstStyle/>
          <a:p>
            <a:pPr>
              <a:defRPr sz="1000">
                <a:solidFill>
                  <a:srgbClr val="333333"/>
                </a:solidFill>
              </a:defRPr>
            </a:pPr>
            <a:r>
              <a:t>Est. Saving: INR 1500000</a:t>
            </a:r>
            <a:br/>
            <a:r>
              <a:t>CAPEX: TBD</a:t>
            </a:r>
          </a:p>
        </p:txBody>
      </p:sp>
      <p:sp>
        <p:nvSpPr>
          <p:cNvPr id="12" name="Rectangle 11"/>
          <p:cNvSpPr/>
          <p:nvPr/>
        </p:nvSpPr>
        <p:spPr>
          <a:xfrm>
            <a:off x="274320" y="374483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1798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46585"/>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41928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9243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2103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0822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#6: Replace the current cast iron brake caliper pistons with a lighter, high-strength polymer composite material for the front brake calipers.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488838"/>
          </a:xfrm>
          <a:prstGeom prst="rect">
            <a:avLst/>
          </a:prstGeom>
          <a:noFill/>
        </p:spPr>
        <p:txBody>
          <a:bodyPr wrap="square">
            <a:spAutoFit/>
          </a:bodyPr>
          <a:lstStyle/>
          <a:p>
            <a:pPr>
              <a:defRPr sz="1000">
                <a:solidFill>
                  <a:srgbClr val="333333"/>
                </a:solidFill>
              </a:defRPr>
            </a:pPr>
            <a:r>
              <a:t>Technical optimization of Replace the current cast iron brake caliper pistons with a lighter, high-strength polymer composite material for the front brake calipers. focusing on material efficiency.</a:t>
            </a:r>
          </a:p>
        </p:txBody>
      </p:sp>
      <p:sp>
        <p:nvSpPr>
          <p:cNvPr id="6" name="Rectangle 5"/>
          <p:cNvSpPr/>
          <p:nvPr/>
        </p:nvSpPr>
        <p:spPr>
          <a:xfrm>
            <a:off x="274320" y="222619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29935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527950"/>
            <a:ext cx="5486400" cy="548091"/>
          </a:xfrm>
          <a:prstGeom prst="rect">
            <a:avLst/>
          </a:prstGeom>
          <a:noFill/>
        </p:spPr>
        <p:txBody>
          <a:bodyPr wrap="square">
            <a:spAutoFit/>
          </a:bodyPr>
          <a:lstStyle/>
          <a:p>
            <a:pPr>
              <a:defRPr sz="1000">
                <a:solidFill>
                  <a:srgbClr val="333333"/>
                </a:solidFill>
              </a:defRPr>
            </a:pPr>
            <a:r>
              <a:t>Replace the current cast iron brake caliper pistons with a lighter, high-strength polymer composite </a:t>
            </a:r>
            <a:br/>
            <a:r>
              <a:t>N/A (Maintains current envelope)</a:t>
            </a:r>
          </a:p>
        </p:txBody>
      </p:sp>
      <p:sp>
        <p:nvSpPr>
          <p:cNvPr id="9" name="Rectangle 8"/>
          <p:cNvSpPr/>
          <p:nvPr/>
        </p:nvSpPr>
        <p:spPr>
          <a:xfrm>
            <a:off x="274320" y="307604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4919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77793"/>
            <a:ext cx="5486400" cy="386791"/>
          </a:xfrm>
          <a:prstGeom prst="rect">
            <a:avLst/>
          </a:prstGeom>
          <a:noFill/>
        </p:spPr>
        <p:txBody>
          <a:bodyPr wrap="square">
            <a:spAutoFit/>
          </a:bodyPr>
          <a:lstStyle/>
          <a:p>
            <a:pPr>
              <a:defRPr sz="1000">
                <a:solidFill>
                  <a:srgbClr val="333333"/>
                </a:solidFill>
              </a:defRPr>
            </a:pPr>
            <a:r>
              <a:t>Est. Saving: INR 1000000</a:t>
            </a:r>
            <a:br/>
            <a:r>
              <a:t>CAPEX: TBD</a:t>
            </a:r>
          </a:p>
        </p:txBody>
      </p:sp>
      <p:sp>
        <p:nvSpPr>
          <p:cNvPr id="12" name="Rectangle 11"/>
          <p:cNvSpPr/>
          <p:nvPr/>
        </p:nvSpPr>
        <p:spPr>
          <a:xfrm>
            <a:off x="274320" y="37645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3773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66336"/>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4390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12186"/>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40786"/>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2797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#7: Optimize the caliper housing design for the front brake calipers by reducing material in non-critical stress areas, transitioning from sand casting to a more precise gravity die casting method.</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79363"/>
          </a:xfrm>
          <a:prstGeom prst="rect">
            <a:avLst/>
          </a:prstGeom>
          <a:noFill/>
        </p:spPr>
        <p:txBody>
          <a:bodyPr wrap="square">
            <a:spAutoFit/>
          </a:bodyPr>
          <a:lstStyle/>
          <a:p>
            <a:pPr>
              <a:defRPr sz="1000">
                <a:solidFill>
                  <a:srgbClr val="333333"/>
                </a:solidFill>
              </a:defRPr>
            </a:pPr>
            <a:r>
              <a:t>Technical optimization of Optimize the caliper housing design for the front brake calipers by reducing material in non-critical stress areas, transitioning from sand casting to a more precise gravity die casting method. focusing on material efficiency.</a:t>
            </a:r>
          </a:p>
        </p:txBody>
      </p:sp>
      <p:sp>
        <p:nvSpPr>
          <p:cNvPr id="6" name="Rectangle 5"/>
          <p:cNvSpPr/>
          <p:nvPr/>
        </p:nvSpPr>
        <p:spPr>
          <a:xfrm>
            <a:off x="274320" y="231672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8987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18475"/>
            <a:ext cx="5486400" cy="548091"/>
          </a:xfrm>
          <a:prstGeom prst="rect">
            <a:avLst/>
          </a:prstGeom>
          <a:noFill/>
        </p:spPr>
        <p:txBody>
          <a:bodyPr wrap="square">
            <a:spAutoFit/>
          </a:bodyPr>
          <a:lstStyle/>
          <a:p>
            <a:pPr>
              <a:defRPr sz="1000">
                <a:solidFill>
                  <a:srgbClr val="333333"/>
                </a:solidFill>
              </a:defRPr>
            </a:pPr>
            <a:r>
              <a:t>Optimize the caliper housing design for the front brake calipers by reducing material in non-critica</a:t>
            </a:r>
            <a:br/>
            <a:r>
              <a:t>N/A (Maintains current envelope)</a:t>
            </a:r>
          </a:p>
        </p:txBody>
      </p:sp>
      <p:sp>
        <p:nvSpPr>
          <p:cNvPr id="9" name="Rectangle 8"/>
          <p:cNvSpPr/>
          <p:nvPr/>
        </p:nvSpPr>
        <p:spPr>
          <a:xfrm>
            <a:off x="274320" y="31665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3971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68319"/>
            <a:ext cx="5486400" cy="386791"/>
          </a:xfrm>
          <a:prstGeom prst="rect">
            <a:avLst/>
          </a:prstGeom>
          <a:noFill/>
        </p:spPr>
        <p:txBody>
          <a:bodyPr wrap="square">
            <a:spAutoFit/>
          </a:bodyPr>
          <a:lstStyle/>
          <a:p>
            <a:pPr>
              <a:defRPr sz="1000">
                <a:solidFill>
                  <a:srgbClr val="333333"/>
                </a:solidFill>
              </a:defRPr>
            </a:pPr>
            <a:r>
              <a:t>Est. Saving: INR 1200000</a:t>
            </a:r>
            <a:br/>
            <a:r>
              <a:t>CAPEX: TBD</a:t>
            </a:r>
          </a:p>
        </p:txBody>
      </p:sp>
      <p:sp>
        <p:nvSpPr>
          <p:cNvPr id="12" name="Rectangle 11"/>
          <p:cNvSpPr/>
          <p:nvPr/>
        </p:nvSpPr>
        <p:spPr>
          <a:xfrm>
            <a:off x="274320" y="385511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2826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5686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52955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60271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831311"/>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3185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#8: Substitute the current steel brake dust shield with a lighter gauge aluminum alloy (e.g., 5052-H32) for all four wheels.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59211"/>
          </a:xfrm>
          <a:prstGeom prst="rect">
            <a:avLst/>
          </a:prstGeom>
          <a:noFill/>
        </p:spPr>
        <p:txBody>
          <a:bodyPr wrap="square">
            <a:spAutoFit/>
          </a:bodyPr>
          <a:lstStyle/>
          <a:p>
            <a:pPr>
              <a:defRPr sz="1000">
                <a:solidFill>
                  <a:srgbClr val="333333"/>
                </a:solidFill>
              </a:defRPr>
            </a:pPr>
            <a:r>
              <a:t>Technical optimization of Substitute the current steel brake dust shield with a lighter gauge aluminum alloy (e.g., 5052-H32) for all four wheels. focusing on material efficiency.</a:t>
            </a:r>
          </a:p>
        </p:txBody>
      </p:sp>
      <p:sp>
        <p:nvSpPr>
          <p:cNvPr id="6" name="Rectangle 5"/>
          <p:cNvSpPr/>
          <p:nvPr/>
        </p:nvSpPr>
        <p:spPr>
          <a:xfrm>
            <a:off x="274320" y="17850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5824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86843"/>
            <a:ext cx="5486400" cy="523402"/>
          </a:xfrm>
          <a:prstGeom prst="rect">
            <a:avLst/>
          </a:prstGeom>
          <a:noFill/>
        </p:spPr>
        <p:txBody>
          <a:bodyPr wrap="square">
            <a:spAutoFit/>
          </a:bodyPr>
          <a:lstStyle/>
          <a:p>
            <a:pPr>
              <a:defRPr sz="1000">
                <a:solidFill>
                  <a:srgbClr val="333333"/>
                </a:solidFill>
              </a:defRPr>
            </a:pPr>
            <a:r>
              <a:t>Substitute the current steel brake dust shield with a lighter gauge aluminum alloy (e</a:t>
            </a:r>
            <a:br/>
            <a:r>
              <a:t>N/A (Maintains current envelope)</a:t>
            </a:r>
          </a:p>
        </p:txBody>
      </p:sp>
      <p:sp>
        <p:nvSpPr>
          <p:cNvPr id="9" name="Rectangle 8"/>
          <p:cNvSpPr/>
          <p:nvPr/>
        </p:nvSpPr>
        <p:spPr>
          <a:xfrm>
            <a:off x="274320" y="261024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8339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11998"/>
            <a:ext cx="5486400" cy="385145"/>
          </a:xfrm>
          <a:prstGeom prst="rect">
            <a:avLst/>
          </a:prstGeom>
          <a:noFill/>
        </p:spPr>
        <p:txBody>
          <a:bodyPr wrap="square">
            <a:spAutoFit/>
          </a:bodyPr>
          <a:lstStyle/>
          <a:p>
            <a:pPr>
              <a:defRPr sz="1000">
                <a:solidFill>
                  <a:srgbClr val="333333"/>
                </a:solidFill>
              </a:defRPr>
            </a:pPr>
            <a:r>
              <a:t>Est. Saving: INR 800000</a:t>
            </a:r>
            <a:br/>
            <a:r>
              <a:t>CAPEX: TBD</a:t>
            </a:r>
          </a:p>
        </p:txBody>
      </p:sp>
      <p:sp>
        <p:nvSpPr>
          <p:cNvPr id="12" name="Rectangle 11"/>
          <p:cNvSpPr/>
          <p:nvPr/>
        </p:nvSpPr>
        <p:spPr>
          <a:xfrm>
            <a:off x="274320" y="32971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7029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98895"/>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97159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044744"/>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273344"/>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7605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#9: Reduce the friction material pad thickness for rear brake pads by 1mm across the entire fleet, provided stopping distance and fade performance are maintained.</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21756"/>
          </a:xfrm>
          <a:prstGeom prst="rect">
            <a:avLst/>
          </a:prstGeom>
          <a:noFill/>
        </p:spPr>
        <p:txBody>
          <a:bodyPr wrap="square">
            <a:spAutoFit/>
          </a:bodyPr>
          <a:lstStyle/>
          <a:p>
            <a:pPr>
              <a:defRPr sz="1000">
                <a:solidFill>
                  <a:srgbClr val="333333"/>
                </a:solidFill>
              </a:defRPr>
            </a:pPr>
            <a:r>
              <a:t>Technical optimization of Reduce the friction material pad thickness for rear brake pads by 1mm across the entire fleet, provided stopping distance and fade performance are maintained. focusing on material efficiency.</a:t>
            </a:r>
          </a:p>
        </p:txBody>
      </p:sp>
      <p:sp>
        <p:nvSpPr>
          <p:cNvPr id="6" name="Rectangle 5"/>
          <p:cNvSpPr/>
          <p:nvPr/>
        </p:nvSpPr>
        <p:spPr>
          <a:xfrm>
            <a:off x="274320" y="225911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3226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560868"/>
            <a:ext cx="5486400" cy="548091"/>
          </a:xfrm>
          <a:prstGeom prst="rect">
            <a:avLst/>
          </a:prstGeom>
          <a:noFill/>
        </p:spPr>
        <p:txBody>
          <a:bodyPr wrap="square">
            <a:spAutoFit/>
          </a:bodyPr>
          <a:lstStyle/>
          <a:p>
            <a:pPr>
              <a:defRPr sz="1000">
                <a:solidFill>
                  <a:srgbClr val="333333"/>
                </a:solidFill>
              </a:defRPr>
            </a:pPr>
            <a:r>
              <a:t>Reduce the friction material pad thickness for rear brake pads by 1mm across the entire fleet, provi</a:t>
            </a:r>
            <a:br/>
            <a:r>
              <a:t>N/A (Maintains current envelope)</a:t>
            </a:r>
          </a:p>
        </p:txBody>
      </p:sp>
      <p:sp>
        <p:nvSpPr>
          <p:cNvPr id="9" name="Rectangle 8"/>
          <p:cNvSpPr/>
          <p:nvPr/>
        </p:nvSpPr>
        <p:spPr>
          <a:xfrm>
            <a:off x="274320" y="31089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8211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10712"/>
            <a:ext cx="5486400" cy="386791"/>
          </a:xfrm>
          <a:prstGeom prst="rect">
            <a:avLst/>
          </a:prstGeom>
          <a:noFill/>
        </p:spPr>
        <p:txBody>
          <a:bodyPr wrap="square">
            <a:spAutoFit/>
          </a:bodyPr>
          <a:lstStyle/>
          <a:p>
            <a:pPr>
              <a:defRPr sz="1000">
                <a:solidFill>
                  <a:srgbClr val="333333"/>
                </a:solidFill>
              </a:defRPr>
            </a:pPr>
            <a:r>
              <a:t>Est. Saving: INR 1000000</a:t>
            </a:r>
            <a:br/>
            <a:r>
              <a:t>CAPEX: TBD</a:t>
            </a:r>
          </a:p>
        </p:txBody>
      </p:sp>
      <p:sp>
        <p:nvSpPr>
          <p:cNvPr id="12" name="Rectangle 11"/>
          <p:cNvSpPr/>
          <p:nvPr/>
        </p:nvSpPr>
        <p:spPr>
          <a:xfrm>
            <a:off x="274320" y="379750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70655"/>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99255"/>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4719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45104"/>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73704"/>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608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0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#10: Implement a single-piece brake caliper bracket for the rear brake assemblies, integrating the caliper mounting and parking brake mechanism mounting points, using a high-strength aluminum alloy.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79363"/>
          </a:xfrm>
          <a:prstGeom prst="rect">
            <a:avLst/>
          </a:prstGeom>
          <a:noFill/>
        </p:spPr>
        <p:txBody>
          <a:bodyPr wrap="square">
            <a:spAutoFit/>
          </a:bodyPr>
          <a:lstStyle/>
          <a:p>
            <a:pPr>
              <a:defRPr sz="1000">
                <a:solidFill>
                  <a:srgbClr val="333333"/>
                </a:solidFill>
              </a:defRPr>
            </a:pPr>
            <a:r>
              <a:t>Technical optimization of Implement a single-piece brake caliper bracket for the rear brake assemblies, integrating the caliper mounting and parking brake mechanism mounting points, using a high-strength aluminum alloy. focusing on material efficiency.</a:t>
            </a:r>
          </a:p>
        </p:txBody>
      </p:sp>
      <p:sp>
        <p:nvSpPr>
          <p:cNvPr id="6" name="Rectangle 5"/>
          <p:cNvSpPr/>
          <p:nvPr/>
        </p:nvSpPr>
        <p:spPr>
          <a:xfrm>
            <a:off x="274320" y="231672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8987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18475"/>
            <a:ext cx="5486400" cy="548091"/>
          </a:xfrm>
          <a:prstGeom prst="rect">
            <a:avLst/>
          </a:prstGeom>
          <a:noFill/>
        </p:spPr>
        <p:txBody>
          <a:bodyPr wrap="square">
            <a:spAutoFit/>
          </a:bodyPr>
          <a:lstStyle/>
          <a:p>
            <a:pPr>
              <a:defRPr sz="1000">
                <a:solidFill>
                  <a:srgbClr val="333333"/>
                </a:solidFill>
              </a:defRPr>
            </a:pPr>
            <a:r>
              <a:t>Implement a single-piece brake caliper bracket for the rear brake assemblies, integrating the calipe</a:t>
            </a:r>
            <a:br/>
            <a:r>
              <a:t>N/A (Maintains current envelope)</a:t>
            </a:r>
          </a:p>
        </p:txBody>
      </p:sp>
      <p:sp>
        <p:nvSpPr>
          <p:cNvPr id="9" name="Rectangle 8"/>
          <p:cNvSpPr/>
          <p:nvPr/>
        </p:nvSpPr>
        <p:spPr>
          <a:xfrm>
            <a:off x="274320" y="31665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3971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68319"/>
            <a:ext cx="5486400" cy="385145"/>
          </a:xfrm>
          <a:prstGeom prst="rect">
            <a:avLst/>
          </a:prstGeom>
          <a:noFill/>
        </p:spPr>
        <p:txBody>
          <a:bodyPr wrap="square">
            <a:spAutoFit/>
          </a:bodyPr>
          <a:lstStyle/>
          <a:p>
            <a:pPr>
              <a:defRPr sz="1000">
                <a:solidFill>
                  <a:srgbClr val="333333"/>
                </a:solidFill>
              </a:defRPr>
            </a:pPr>
            <a:r>
              <a:t>Est. Saving: INR 900000</a:t>
            </a:r>
            <a:br/>
            <a:r>
              <a:t>CAPEX: TBD</a:t>
            </a:r>
          </a:p>
        </p:txBody>
      </p:sp>
      <p:sp>
        <p:nvSpPr>
          <p:cNvPr id="12" name="Rectangle 11"/>
          <p:cNvSpPr/>
          <p:nvPr/>
        </p:nvSpPr>
        <p:spPr>
          <a:xfrm>
            <a:off x="274320" y="38534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2661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55216"/>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5279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60106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82966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31685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9.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#11: Reduce the gauge of the steel used for the brake caliper mounting bolts on the front axle from M12 to M10, provided FEA confirms adequate clamping force and fatigue life.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41507"/>
          </a:xfrm>
          <a:prstGeom prst="rect">
            <a:avLst/>
          </a:prstGeom>
          <a:noFill/>
        </p:spPr>
        <p:txBody>
          <a:bodyPr wrap="square">
            <a:spAutoFit/>
          </a:bodyPr>
          <a:lstStyle/>
          <a:p>
            <a:pPr>
              <a:defRPr sz="1000">
                <a:solidFill>
                  <a:srgbClr val="333333"/>
                </a:solidFill>
              </a:defRPr>
            </a:pPr>
            <a:r>
              <a:t>Technical optimization of Reduce the gauge of the steel used for the brake caliper mounting bolts on the front axle from M12 to M10, provided FEA confirms adequate clamping force and fatigue life. focusing on material efficiency.</a:t>
            </a:r>
          </a:p>
        </p:txBody>
      </p:sp>
      <p:sp>
        <p:nvSpPr>
          <p:cNvPr id="6" name="Rectangle 5"/>
          <p:cNvSpPr/>
          <p:nvPr/>
        </p:nvSpPr>
        <p:spPr>
          <a:xfrm>
            <a:off x="274320" y="22788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5201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580619"/>
            <a:ext cx="5486400" cy="548091"/>
          </a:xfrm>
          <a:prstGeom prst="rect">
            <a:avLst/>
          </a:prstGeom>
          <a:noFill/>
        </p:spPr>
        <p:txBody>
          <a:bodyPr wrap="square">
            <a:spAutoFit/>
          </a:bodyPr>
          <a:lstStyle/>
          <a:p>
            <a:pPr>
              <a:defRPr sz="1000">
                <a:solidFill>
                  <a:srgbClr val="333333"/>
                </a:solidFill>
              </a:defRPr>
            </a:pPr>
            <a:r>
              <a:t>Reduce the gauge of the steel used for the brake caliper mounting bolts on the front axle from M12 t</a:t>
            </a:r>
            <a:br/>
            <a:r>
              <a:t>N/A (Maintains current envelope)</a:t>
            </a:r>
          </a:p>
        </p:txBody>
      </p:sp>
      <p:sp>
        <p:nvSpPr>
          <p:cNvPr id="9" name="Rectangle 8"/>
          <p:cNvSpPr/>
          <p:nvPr/>
        </p:nvSpPr>
        <p:spPr>
          <a:xfrm>
            <a:off x="274320" y="31287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0186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30463"/>
            <a:ext cx="5486400" cy="385145"/>
          </a:xfrm>
          <a:prstGeom prst="rect">
            <a:avLst/>
          </a:prstGeom>
          <a:noFill/>
        </p:spPr>
        <p:txBody>
          <a:bodyPr wrap="square">
            <a:spAutoFit/>
          </a:bodyPr>
          <a:lstStyle/>
          <a:p>
            <a:pPr>
              <a:defRPr sz="1000">
                <a:solidFill>
                  <a:srgbClr val="333333"/>
                </a:solidFill>
              </a:defRPr>
            </a:pPr>
            <a:r>
              <a:t>Est. Saving: INR 500000</a:t>
            </a:r>
            <a:br/>
            <a:r>
              <a:t>CAPEX: TBD</a:t>
            </a:r>
          </a:p>
        </p:txBody>
      </p:sp>
      <p:sp>
        <p:nvSpPr>
          <p:cNvPr id="12" name="Rectangle 11"/>
          <p:cNvSpPr/>
          <p:nvPr/>
        </p:nvSpPr>
        <p:spPr>
          <a:xfrm>
            <a:off x="274320" y="38156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8876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17360"/>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4900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6320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91809"/>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790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#12: Reduce the minimum allowable disc runout specification for front and rear brake rotors from 0.05mm to 0.07mm, provided no NVH issues arise.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490484"/>
          </a:xfrm>
          <a:prstGeom prst="rect">
            <a:avLst/>
          </a:prstGeom>
          <a:noFill/>
        </p:spPr>
        <p:txBody>
          <a:bodyPr wrap="square">
            <a:spAutoFit/>
          </a:bodyPr>
          <a:lstStyle/>
          <a:p>
            <a:pPr>
              <a:defRPr sz="1000">
                <a:solidFill>
                  <a:srgbClr val="333333"/>
                </a:solidFill>
              </a:defRPr>
            </a:pPr>
            <a:r>
              <a:t>Technical optimization of Reduce the minimum allowable disc runout specification for front and rear brake rotors from 0.05mm to 0.07mm, provided no NVH issues arise. focusing on material efficiency.</a:t>
            </a:r>
          </a:p>
        </p:txBody>
      </p:sp>
      <p:sp>
        <p:nvSpPr>
          <p:cNvPr id="6" name="Rectangle 5"/>
          <p:cNvSpPr/>
          <p:nvPr/>
        </p:nvSpPr>
        <p:spPr>
          <a:xfrm>
            <a:off x="274320" y="222784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00996"/>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529596"/>
            <a:ext cx="5486400" cy="431231"/>
          </a:xfrm>
          <a:prstGeom prst="rect">
            <a:avLst/>
          </a:prstGeom>
          <a:noFill/>
        </p:spPr>
        <p:txBody>
          <a:bodyPr wrap="square">
            <a:spAutoFit/>
          </a:bodyPr>
          <a:lstStyle/>
          <a:p>
            <a:pPr>
              <a:defRPr sz="1000">
                <a:solidFill>
                  <a:srgbClr val="333333"/>
                </a:solidFill>
              </a:defRPr>
            </a:pPr>
            <a:r>
              <a:t>N/A (No material change explicitly mentioned)</a:t>
            </a:r>
            <a:br/>
            <a:r>
              <a:t>0.05mm to 0.07mm</a:t>
            </a:r>
          </a:p>
        </p:txBody>
      </p:sp>
      <p:sp>
        <p:nvSpPr>
          <p:cNvPr id="9" name="Rectangle 8"/>
          <p:cNvSpPr/>
          <p:nvPr/>
        </p:nvSpPr>
        <p:spPr>
          <a:xfrm>
            <a:off x="274320" y="296082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03397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262579"/>
            <a:ext cx="5486400" cy="386791"/>
          </a:xfrm>
          <a:prstGeom prst="rect">
            <a:avLst/>
          </a:prstGeom>
          <a:noFill/>
        </p:spPr>
        <p:txBody>
          <a:bodyPr wrap="square">
            <a:spAutoFit/>
          </a:bodyPr>
          <a:lstStyle/>
          <a:p>
            <a:pPr>
              <a:defRPr sz="1000">
                <a:solidFill>
                  <a:srgbClr val="333333"/>
                </a:solidFill>
              </a:defRPr>
            </a:pPr>
            <a:r>
              <a:t>Est. Saving: INR 1800000</a:t>
            </a:r>
            <a:br/>
            <a:r>
              <a:t>CAPEX: TBD</a:t>
            </a:r>
          </a:p>
        </p:txBody>
      </p:sp>
      <p:sp>
        <p:nvSpPr>
          <p:cNvPr id="12" name="Rectangle 11"/>
          <p:cNvSpPr/>
          <p:nvPr/>
        </p:nvSpPr>
        <p:spPr>
          <a:xfrm>
            <a:off x="274320" y="36493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72252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95112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3238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9697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25571"/>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127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9.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937760"/>
          </a:xfrm>
          <a:prstGeom prst="rect">
            <a:avLst/>
          </a:prstGeom>
          <a:noFill/>
        </p:spPr>
        <p:txBody>
          <a:bodyPr wrap="square">
            <a:spAutoFit/>
          </a:bodyPr>
          <a:lstStyle/>
          <a:p>
            <a:pPr>
              <a:defRPr sz="1800" b="1">
                <a:solidFill>
                  <a:srgbClr val="003366"/>
                </a:solidFill>
              </a:defRPr>
            </a:pPr>
            <a:r>
              <a:t>#13: Investigate the use of advanced Aluminum alloys for brake rotors, specifically focusing on alloys with improved thermal conductivity and reduced density compared to traditional cast iron. This would involve material characterization, thermal simulation, and fatigue testing to ensure performance and durability meet FMVSS 105 and ECE R13 standards. The focus will be on maintaining equivalent or improved thermal mass to manage kinetic energy from the 1.7T vehicle weight, while potentially reducing unsprung mass. Rotor thickness will be a critical parameter to manage, ensuring sufficient thermal capacity without compromising NVH or structural integrity. The dust shield gauge will be reviewed to optimize for airflow and debris protection while minimizing weight.</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5212080"/>
            <a:ext cx="5486400" cy="137160"/>
          </a:xfrm>
          <a:prstGeom prst="rect">
            <a:avLst/>
          </a:prstGeom>
          <a:noFill/>
        </p:spPr>
        <p:txBody>
          <a:bodyPr wrap="none">
            <a:spAutoFit/>
          </a:bodyPr>
          <a:lstStyle/>
          <a:p>
            <a:pPr>
              <a:defRPr b="1" sz="660">
                <a:solidFill>
                  <a:srgbClr val="FF6400"/>
                </a:solidFill>
              </a:defRPr>
            </a:pPr>
            <a:r>
              <a:t>TECHNICAL ENGINEERING VIEW</a:t>
            </a:r>
          </a:p>
        </p:txBody>
      </p:sp>
      <p:sp>
        <p:nvSpPr>
          <p:cNvPr id="5" name="TextBox 4"/>
          <p:cNvSpPr txBox="1"/>
          <p:nvPr/>
        </p:nvSpPr>
        <p:spPr>
          <a:xfrm>
            <a:off x="274320" y="5349240"/>
            <a:ext cx="5486400" cy="914473"/>
          </a:xfrm>
          <a:prstGeom prst="rect">
            <a:avLst/>
          </a:prstGeom>
          <a:noFill/>
        </p:spPr>
        <p:txBody>
          <a:bodyPr wrap="square">
            <a:spAutoFit/>
          </a:bodyPr>
          <a:lstStyle/>
          <a:p>
            <a:pPr>
              <a:defRPr sz="600">
                <a:solidFill>
                  <a:srgbClr val="333333"/>
                </a:solidFill>
              </a:defRPr>
            </a:pPr>
            <a:r>
              <a:t>Technical optimization of Investigate the use of advanced Aluminum alloys for brake rotors, specifically focusing on alloys with improved thermal conductivity and reduced density compared to traditional cast iron. This would involve material characterization, thermal simulation, and fatigue testing to ensure performance and durability meet FMVSS 105 and ECE R13 standards. The focus will be on maintaining equivalent or improved thermal mass to manage kinetic energy from the 1.7T vehicle weight, while potentially reducing unsprung mass. Rotor thickness will be a critical parameter to manage, ensuring sufficient thermal capacity without compromising NVH or structural integrity. The dust shield gauge will be reviewed to optimize for airflow and debris protection while minimizing weight. focusing on material efficiency.</a:t>
            </a:r>
          </a:p>
        </p:txBody>
      </p:sp>
      <p:sp>
        <p:nvSpPr>
          <p:cNvPr id="6" name="Rectangle 5"/>
          <p:cNvSpPr/>
          <p:nvPr/>
        </p:nvSpPr>
        <p:spPr>
          <a:xfrm>
            <a:off x="274320" y="62637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0" y="48463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8" name="Picture 7" descr="18.jpg"/>
          <p:cNvPicPr>
            <a:picLocks noChangeAspect="1"/>
          </p:cNvPicPr>
          <p:nvPr/>
        </p:nvPicPr>
        <p:blipFill>
          <a:blip r:embed="rId2"/>
          <a:stretch>
            <a:fillRect/>
          </a:stretch>
        </p:blipFill>
        <p:spPr>
          <a:xfrm>
            <a:off x="6217920" y="5120640"/>
            <a:ext cx="5699455" cy="658367"/>
          </a:xfrm>
          <a:prstGeom prst="rect">
            <a:avLst/>
          </a:prstGeom>
          <a:ln w="12700">
            <a:solidFill>
              <a:srgbClr val="C8C8C8"/>
            </a:solidFill>
          </a:ln>
        </p:spPr>
      </p:pic>
      <p:sp>
        <p:nvSpPr>
          <p:cNvPr id="9" name="Rectangle 8"/>
          <p:cNvSpPr/>
          <p:nvPr/>
        </p:nvSpPr>
        <p:spPr>
          <a:xfrm>
            <a:off x="6217920" y="5925312"/>
            <a:ext cx="5699455" cy="658367"/>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#14: Explore the application of a lightweight, high-strength polymer composite for the brake caliper housing, replacing traditional cast iron or aluminum. This requires careful selection of a polymer capable of withstanding high temperatures and braking forces, alongside mechanical integrity to meet regulatory requirements (FMVSS 105, ECE R13). The design will focus on optimizing caliper stiffness and piston sealing, while ensuring compatibility with existing brake pad materials. Dust shield gauge will be assessed for integration and protection.</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18775"/>
          </a:xfrm>
          <a:prstGeom prst="rect">
            <a:avLst/>
          </a:prstGeom>
          <a:noFill/>
        </p:spPr>
        <p:txBody>
          <a:bodyPr wrap="none">
            <a:spAutoFit/>
          </a:bodyPr>
          <a:lstStyle/>
          <a:p>
            <a:pPr>
              <a:defRPr b="1" sz="1052">
                <a:solidFill>
                  <a:srgbClr val="FF6400"/>
                </a:solidFill>
              </a:defRPr>
            </a:pPr>
            <a:r>
              <a:t>TECHNICAL ENGINEERING VIEW</a:t>
            </a:r>
          </a:p>
        </p:txBody>
      </p:sp>
      <p:sp>
        <p:nvSpPr>
          <p:cNvPr id="5" name="TextBox 4"/>
          <p:cNvSpPr txBox="1"/>
          <p:nvPr/>
        </p:nvSpPr>
        <p:spPr>
          <a:xfrm>
            <a:off x="274320" y="3784935"/>
            <a:ext cx="5486400" cy="1110501"/>
          </a:xfrm>
          <a:prstGeom prst="rect">
            <a:avLst/>
          </a:prstGeom>
          <a:noFill/>
        </p:spPr>
        <p:txBody>
          <a:bodyPr wrap="square">
            <a:spAutoFit/>
          </a:bodyPr>
          <a:lstStyle/>
          <a:p>
            <a:pPr>
              <a:defRPr sz="957">
                <a:solidFill>
                  <a:srgbClr val="333333"/>
                </a:solidFill>
              </a:defRPr>
            </a:pPr>
            <a:r>
              <a:t>Technical optimization of Explore the application of a lightweight, high-strength polymer composite for the brake caliper housing, replacing traditional cast iron or aluminum. This requires careful selection of a polymer capable of withstanding high temperatures and braking forces, alongside mechanical integrity to meet regulatory requirements (FMVSS 105, ECE R13). The design will focus on optimizing caliper stiffness and piston sealing, while ensuring compatibility with existing brake pad materials. Dust shield gauge will be assessed for integration and protection. focusing on material efficiency.</a:t>
            </a:r>
          </a:p>
        </p:txBody>
      </p:sp>
      <p:sp>
        <p:nvSpPr>
          <p:cNvPr id="6" name="Rectangle 5"/>
          <p:cNvSpPr/>
          <p:nvPr/>
        </p:nvSpPr>
        <p:spPr>
          <a:xfrm>
            <a:off x="274320" y="48954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68588"/>
            <a:ext cx="5486400" cy="218775"/>
          </a:xfrm>
          <a:prstGeom prst="rect">
            <a:avLst/>
          </a:prstGeom>
          <a:noFill/>
        </p:spPr>
        <p:txBody>
          <a:bodyPr wrap="none">
            <a:spAutoFit/>
          </a:bodyPr>
          <a:lstStyle/>
          <a:p>
            <a:pPr>
              <a:defRPr b="1" sz="1052">
                <a:solidFill>
                  <a:srgbClr val="FF6400"/>
                </a:solidFill>
              </a:defRPr>
            </a:pPr>
            <a:r>
              <a:t>MATERIAL &amp; DIMENSION SWAP</a:t>
            </a:r>
          </a:p>
        </p:txBody>
      </p:sp>
      <p:sp>
        <p:nvSpPr>
          <p:cNvPr id="8" name="TextBox 7"/>
          <p:cNvSpPr txBox="1"/>
          <p:nvPr/>
        </p:nvSpPr>
        <p:spPr>
          <a:xfrm>
            <a:off x="274320" y="5187363"/>
            <a:ext cx="5486400" cy="524534"/>
          </a:xfrm>
          <a:prstGeom prst="rect">
            <a:avLst/>
          </a:prstGeom>
          <a:noFill/>
        </p:spPr>
        <p:txBody>
          <a:bodyPr wrap="square">
            <a:spAutoFit/>
          </a:bodyPr>
          <a:lstStyle/>
          <a:p>
            <a:pPr>
              <a:defRPr sz="957">
                <a:solidFill>
                  <a:srgbClr val="333333"/>
                </a:solidFill>
              </a:defRPr>
            </a:pPr>
            <a:r>
              <a:t>Explore the application of a lightweight, high-strength polymer composite for the brake caliper hous</a:t>
            </a:r>
            <a:br/>
            <a:r>
              <a:t>N/A (Maintains current envelope)</a:t>
            </a:r>
          </a:p>
        </p:txBody>
      </p:sp>
      <p:sp>
        <p:nvSpPr>
          <p:cNvPr id="9" name="Rectangle 8"/>
          <p:cNvSpPr/>
          <p:nvPr/>
        </p:nvSpPr>
        <p:spPr>
          <a:xfrm>
            <a:off x="274320" y="571189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85050"/>
            <a:ext cx="5486400" cy="218775"/>
          </a:xfrm>
          <a:prstGeom prst="rect">
            <a:avLst/>
          </a:prstGeom>
          <a:noFill/>
        </p:spPr>
        <p:txBody>
          <a:bodyPr wrap="none">
            <a:spAutoFit/>
          </a:bodyPr>
          <a:lstStyle/>
          <a:p>
            <a:pPr>
              <a:defRPr b="1" sz="1052">
                <a:solidFill>
                  <a:srgbClr val="FF6400"/>
                </a:solidFill>
              </a:defRPr>
            </a:pPr>
            <a:r>
              <a:t>FINANCIAL IMPACT</a:t>
            </a:r>
          </a:p>
        </p:txBody>
      </p:sp>
      <p:sp>
        <p:nvSpPr>
          <p:cNvPr id="11" name="TextBox 10"/>
          <p:cNvSpPr txBox="1"/>
          <p:nvPr/>
        </p:nvSpPr>
        <p:spPr>
          <a:xfrm>
            <a:off x="274320" y="6003825"/>
            <a:ext cx="5486400" cy="363866"/>
          </a:xfrm>
          <a:prstGeom prst="rect">
            <a:avLst/>
          </a:prstGeom>
          <a:noFill/>
        </p:spPr>
        <p:txBody>
          <a:bodyPr wrap="square">
            <a:spAutoFit/>
          </a:bodyPr>
          <a:lstStyle/>
          <a:p>
            <a:pPr>
              <a:defRPr sz="957">
                <a:solidFill>
                  <a:srgbClr val="333333"/>
                </a:solidFill>
              </a:defRPr>
            </a:pPr>
            <a:r>
              <a:t>Est. Saving: INR TBD</a:t>
            </a:r>
            <a:br/>
            <a:r>
              <a:t>CAPEX: TBD</a:t>
            </a:r>
          </a:p>
        </p:txBody>
      </p:sp>
      <p:sp>
        <p:nvSpPr>
          <p:cNvPr id="12" name="Rectangle 11"/>
          <p:cNvSpPr/>
          <p:nvPr/>
        </p:nvSpPr>
        <p:spPr>
          <a:xfrm>
            <a:off x="274320" y="636769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07.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Rectangle 14"/>
          <p:cNvSpPr/>
          <p:nvPr/>
        </p:nvSpPr>
        <p:spPr>
          <a:xfrm>
            <a:off x="6217920" y="5102352"/>
            <a:ext cx="5699455" cy="14813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#15: Implement a value engineering approach to optimize the dust shield design. Instead of a heavier stamped metal, investigate a lighter, more cost-effective material like a high-temperature resistant polymer or a thinner gauge, optimized-shape stamped steel. The focus will be on maintaining effective dust and debris protection while reducing material usage and manufacturing complexity. This aligns with cost reduction initiatives and addresses the 'dust shield gauge' focus area. The solution must not impede rotor cooling or create NVH issues, and must meet all regulatory requirements for brake system protection.</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84888"/>
          </a:xfrm>
          <a:prstGeom prst="rect">
            <a:avLst/>
          </a:prstGeom>
          <a:noFill/>
        </p:spPr>
        <p:txBody>
          <a:bodyPr wrap="none">
            <a:spAutoFit/>
          </a:bodyPr>
          <a:lstStyle/>
          <a:p>
            <a:pPr>
              <a:defRPr b="1" sz="889">
                <a:solidFill>
                  <a:srgbClr val="FF6400"/>
                </a:solidFill>
              </a:defRPr>
            </a:pPr>
            <a:r>
              <a:t>TECHNICAL ENGINEERING VIEW</a:t>
            </a:r>
          </a:p>
        </p:txBody>
      </p:sp>
      <p:sp>
        <p:nvSpPr>
          <p:cNvPr id="5" name="TextBox 4"/>
          <p:cNvSpPr txBox="1"/>
          <p:nvPr/>
        </p:nvSpPr>
        <p:spPr>
          <a:xfrm>
            <a:off x="274320" y="4162528"/>
            <a:ext cx="5486400" cy="1030346"/>
          </a:xfrm>
          <a:prstGeom prst="rect">
            <a:avLst/>
          </a:prstGeom>
          <a:noFill/>
        </p:spPr>
        <p:txBody>
          <a:bodyPr wrap="square">
            <a:spAutoFit/>
          </a:bodyPr>
          <a:lstStyle/>
          <a:p>
            <a:pPr>
              <a:defRPr sz="808">
                <a:solidFill>
                  <a:srgbClr val="333333"/>
                </a:solidFill>
              </a:defRPr>
            </a:pPr>
            <a:r>
              <a:t>Technical optimization of Implement a value engineering approach to optimize the dust shield design. Instead of a heavier stamped metal, investigate a lighter, more cost-effective material like a high-temperature resistant polymer or a thinner gauge, optimized-shape stamped steel. The focus will be on maintaining effective dust and debris protection while reducing material usage and manufacturing complexity. This aligns with cost reduction initiatives and addresses the 'dust shield gauge' focus area. The solution must not impede rotor cooling or create NVH issues, and must meet all regulatory requirements for brake system protection. focusing on material efficiency.</a:t>
            </a:r>
          </a:p>
        </p:txBody>
      </p:sp>
      <p:sp>
        <p:nvSpPr>
          <p:cNvPr id="6" name="Rectangle 5"/>
          <p:cNvSpPr/>
          <p:nvPr/>
        </p:nvSpPr>
        <p:spPr>
          <a:xfrm>
            <a:off x="274320" y="519287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66026"/>
            <a:ext cx="5486400" cy="184888"/>
          </a:xfrm>
          <a:prstGeom prst="rect">
            <a:avLst/>
          </a:prstGeom>
          <a:noFill/>
        </p:spPr>
        <p:txBody>
          <a:bodyPr wrap="none">
            <a:spAutoFit/>
          </a:bodyPr>
          <a:lstStyle/>
          <a:p>
            <a:pPr>
              <a:defRPr b="1" sz="889">
                <a:solidFill>
                  <a:srgbClr val="FF6400"/>
                </a:solidFill>
              </a:defRPr>
            </a:pPr>
            <a:r>
              <a:t>MATERIAL &amp; DIMENSION SWAP</a:t>
            </a:r>
          </a:p>
        </p:txBody>
      </p:sp>
      <p:sp>
        <p:nvSpPr>
          <p:cNvPr id="8" name="TextBox 7"/>
          <p:cNvSpPr txBox="1"/>
          <p:nvPr/>
        </p:nvSpPr>
        <p:spPr>
          <a:xfrm>
            <a:off x="274320" y="5450915"/>
            <a:ext cx="5486400" cy="407346"/>
          </a:xfrm>
          <a:prstGeom prst="rect">
            <a:avLst/>
          </a:prstGeom>
          <a:noFill/>
        </p:spPr>
        <p:txBody>
          <a:bodyPr wrap="square">
            <a:spAutoFit/>
          </a:bodyPr>
          <a:lstStyle/>
          <a:p>
            <a:pPr>
              <a:defRPr sz="808">
                <a:solidFill>
                  <a:srgbClr val="333333"/>
                </a:solidFill>
              </a:defRPr>
            </a:pPr>
            <a:r>
              <a:t>Implement a value engineering approach to optimize the dust shield design</a:t>
            </a:r>
            <a:br/>
            <a:r>
              <a:t>N/A (Maintains current envelope)</a:t>
            </a:r>
          </a:p>
        </p:txBody>
      </p:sp>
      <p:sp>
        <p:nvSpPr>
          <p:cNvPr id="9" name="Rectangle 8"/>
          <p:cNvSpPr/>
          <p:nvPr/>
        </p:nvSpPr>
        <p:spPr>
          <a:xfrm>
            <a:off x="274320" y="58582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931413"/>
            <a:ext cx="5486400" cy="184888"/>
          </a:xfrm>
          <a:prstGeom prst="rect">
            <a:avLst/>
          </a:prstGeom>
          <a:noFill/>
        </p:spPr>
        <p:txBody>
          <a:bodyPr wrap="none">
            <a:spAutoFit/>
          </a:bodyPr>
          <a:lstStyle/>
          <a:p>
            <a:pPr>
              <a:defRPr b="1" sz="889">
                <a:solidFill>
                  <a:srgbClr val="FF6400"/>
                </a:solidFill>
              </a:defRPr>
            </a:pPr>
            <a:r>
              <a:t>FINANCIAL IMPACT</a:t>
            </a:r>
          </a:p>
        </p:txBody>
      </p:sp>
      <p:sp>
        <p:nvSpPr>
          <p:cNvPr id="11" name="TextBox 10"/>
          <p:cNvSpPr txBox="1"/>
          <p:nvPr/>
        </p:nvSpPr>
        <p:spPr>
          <a:xfrm>
            <a:off x="274320" y="6116302"/>
            <a:ext cx="5486400" cy="307506"/>
          </a:xfrm>
          <a:prstGeom prst="rect">
            <a:avLst/>
          </a:prstGeom>
          <a:noFill/>
        </p:spPr>
        <p:txBody>
          <a:bodyPr wrap="square">
            <a:spAutoFit/>
          </a:bodyPr>
          <a:lstStyle/>
          <a:p>
            <a:pPr>
              <a:defRPr sz="808">
                <a:solidFill>
                  <a:srgbClr val="333333"/>
                </a:solidFill>
              </a:defRPr>
            </a:pPr>
            <a:r>
              <a:t>Est. Saving: INR TBD</a:t>
            </a:r>
            <a:br/>
            <a:r>
              <a:t>CAPEX: TBD</a:t>
            </a:r>
          </a:p>
        </p:txBody>
      </p:sp>
      <p:sp>
        <p:nvSpPr>
          <p:cNvPr id="12" name="Rectangle 11"/>
          <p:cNvSpPr/>
          <p:nvPr/>
        </p:nvSpPr>
        <p:spPr>
          <a:xfrm>
            <a:off x="274320" y="64238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18.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Rectangle 14"/>
          <p:cNvSpPr/>
          <p:nvPr/>
        </p:nvSpPr>
        <p:spPr>
          <a:xfrm>
            <a:off x="6217920" y="5308092"/>
            <a:ext cx="5699455" cy="12755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#16: Adapt research on friction material optimization for reduced wear and improved thermal stability. While advanced ceramic or carbon-ceramic materials might exceed tooling CAPEX, focus on optimizing existing friction material formulations or exploring advanced semi-metallic compositions that offer higher friction coefficients at elevated temperatures and reduced pad/rotor wear. This directly impacts fade resistance and longevity, crucial for the MG Hector's weight. Rotor thickness will be monitored to ensure compatibility with optimized pad formulations.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88156"/>
          </a:xfrm>
          <a:prstGeom prst="rect">
            <a:avLst/>
          </a:prstGeom>
          <a:noFill/>
        </p:spPr>
        <p:txBody>
          <a:bodyPr wrap="none">
            <a:spAutoFit/>
          </a:bodyPr>
          <a:lstStyle/>
          <a:p>
            <a:pPr>
              <a:defRPr b="1" sz="905">
                <a:solidFill>
                  <a:srgbClr val="FF6400"/>
                </a:solidFill>
              </a:defRPr>
            </a:pPr>
            <a:r>
              <a:t>TECHNICAL ENGINEERING VIEW</a:t>
            </a:r>
          </a:p>
        </p:txBody>
      </p:sp>
      <p:sp>
        <p:nvSpPr>
          <p:cNvPr id="5" name="TextBox 4"/>
          <p:cNvSpPr txBox="1"/>
          <p:nvPr/>
        </p:nvSpPr>
        <p:spPr>
          <a:xfrm>
            <a:off x="274320" y="4165796"/>
            <a:ext cx="5486400" cy="971338"/>
          </a:xfrm>
          <a:prstGeom prst="rect">
            <a:avLst/>
          </a:prstGeom>
          <a:noFill/>
        </p:spPr>
        <p:txBody>
          <a:bodyPr wrap="square">
            <a:spAutoFit/>
          </a:bodyPr>
          <a:lstStyle/>
          <a:p>
            <a:pPr>
              <a:defRPr sz="823">
                <a:solidFill>
                  <a:srgbClr val="333333"/>
                </a:solidFill>
              </a:defRPr>
            </a:pPr>
            <a:r>
              <a:t>Technical optimization of Adapt research on friction material optimization for reduced wear and improved thermal stability. While advanced ceramic or carbon-ceramic materials might exceed tooling CAPEX, focus on optimizing existing friction material formulations or exploring advanced semi-metallic compositions that offer higher friction coefficients at elevated temperatures and reduced pad/rotor wear. This directly impacts fade resistance and longevity, crucial for the MG Hector's weight. Rotor thickness will be monitored to ensure compatibility with optimized pad formulations. focusing on material efficiency.</a:t>
            </a:r>
          </a:p>
        </p:txBody>
      </p:sp>
      <p:sp>
        <p:nvSpPr>
          <p:cNvPr id="6" name="Rectangle 5"/>
          <p:cNvSpPr/>
          <p:nvPr/>
        </p:nvSpPr>
        <p:spPr>
          <a:xfrm>
            <a:off x="274320" y="51371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10286"/>
            <a:ext cx="5486400" cy="188156"/>
          </a:xfrm>
          <a:prstGeom prst="rect">
            <a:avLst/>
          </a:prstGeom>
          <a:noFill/>
        </p:spPr>
        <p:txBody>
          <a:bodyPr wrap="none">
            <a:spAutoFit/>
          </a:bodyPr>
          <a:lstStyle/>
          <a:p>
            <a:pPr>
              <a:defRPr b="1" sz="905">
                <a:solidFill>
                  <a:srgbClr val="FF6400"/>
                </a:solidFill>
              </a:defRPr>
            </a:pPr>
            <a:r>
              <a:t>MATERIAL &amp; DIMENSION SWAP</a:t>
            </a:r>
          </a:p>
        </p:txBody>
      </p:sp>
      <p:sp>
        <p:nvSpPr>
          <p:cNvPr id="8" name="TextBox 7"/>
          <p:cNvSpPr txBox="1"/>
          <p:nvPr/>
        </p:nvSpPr>
        <p:spPr>
          <a:xfrm>
            <a:off x="274320" y="5398442"/>
            <a:ext cx="5486400" cy="445704"/>
          </a:xfrm>
          <a:prstGeom prst="rect">
            <a:avLst/>
          </a:prstGeom>
          <a:noFill/>
        </p:spPr>
        <p:txBody>
          <a:bodyPr wrap="square">
            <a:spAutoFit/>
          </a:bodyPr>
          <a:lstStyle/>
          <a:p>
            <a:pPr>
              <a:defRPr sz="823">
                <a:solidFill>
                  <a:srgbClr val="333333"/>
                </a:solidFill>
              </a:defRPr>
            </a:pPr>
            <a:r>
              <a:t>Adapt research on friction material optimization for reduced wear and improved thermal stability</a:t>
            </a:r>
            <a:br/>
            <a:r>
              <a:t>N/A (Maintains current envelope)</a:t>
            </a:r>
          </a:p>
        </p:txBody>
      </p:sp>
      <p:sp>
        <p:nvSpPr>
          <p:cNvPr id="9" name="Rectangle 8"/>
          <p:cNvSpPr/>
          <p:nvPr/>
        </p:nvSpPr>
        <p:spPr>
          <a:xfrm>
            <a:off x="274320" y="584414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917299"/>
            <a:ext cx="5486400" cy="188156"/>
          </a:xfrm>
          <a:prstGeom prst="rect">
            <a:avLst/>
          </a:prstGeom>
          <a:noFill/>
        </p:spPr>
        <p:txBody>
          <a:bodyPr wrap="none">
            <a:spAutoFit/>
          </a:bodyPr>
          <a:lstStyle/>
          <a:p>
            <a:pPr>
              <a:defRPr b="1" sz="905">
                <a:solidFill>
                  <a:srgbClr val="FF6400"/>
                </a:solidFill>
              </a:defRPr>
            </a:pPr>
            <a:r>
              <a:t>FINANCIAL IMPACT</a:t>
            </a:r>
          </a:p>
        </p:txBody>
      </p:sp>
      <p:sp>
        <p:nvSpPr>
          <p:cNvPr id="11" name="TextBox 10"/>
          <p:cNvSpPr txBox="1"/>
          <p:nvPr/>
        </p:nvSpPr>
        <p:spPr>
          <a:xfrm>
            <a:off x="274320" y="6105455"/>
            <a:ext cx="5486400" cy="312941"/>
          </a:xfrm>
          <a:prstGeom prst="rect">
            <a:avLst/>
          </a:prstGeom>
          <a:noFill/>
        </p:spPr>
        <p:txBody>
          <a:bodyPr wrap="square">
            <a:spAutoFit/>
          </a:bodyPr>
          <a:lstStyle/>
          <a:p>
            <a:pPr>
              <a:defRPr sz="823">
                <a:solidFill>
                  <a:srgbClr val="333333"/>
                </a:solidFill>
              </a:defRPr>
            </a:pPr>
            <a:r>
              <a:t>Est. Saving: INR TBD</a:t>
            </a:r>
            <a:br/>
            <a:r>
              <a:t>CAPEX: TBD</a:t>
            </a:r>
          </a:p>
        </p:txBody>
      </p:sp>
      <p:sp>
        <p:nvSpPr>
          <p:cNvPr id="12" name="Rectangle 11"/>
          <p:cNvSpPr/>
          <p:nvPr/>
        </p:nvSpPr>
        <p:spPr>
          <a:xfrm>
            <a:off x="274320" y="64183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30.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Rectangle 14"/>
          <p:cNvSpPr/>
          <p:nvPr/>
        </p:nvSpPr>
        <p:spPr>
          <a:xfrm>
            <a:off x="6217920" y="5308092"/>
            <a:ext cx="5699455" cy="12755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
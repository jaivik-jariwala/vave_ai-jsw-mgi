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03-Feb-2026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0881360" cy="6263640"/>
        </p:xfrm>
        <a:graphic>
          <a:graphicData uri="http://schemas.openxmlformats.org/drawingml/2006/table">
            <a:tbl>
              <a:tblPr firstRow="1" bandRow="1">
                <a:tableStyleId>{5C22544A-7EE6-4342-B048-85BDC9FD1C3A}</a:tableStyleId>
              </a:tblPr>
              <a:tblGrid>
                <a:gridCol w="731520"/>
                <a:gridCol w="4114800"/>
                <a:gridCol w="1097280"/>
                <a:gridCol w="1097280"/>
                <a:gridCol w="1097280"/>
                <a:gridCol w="1371600"/>
                <a:gridCol w="1371600"/>
              </a:tblGrid>
              <a:tr h="626364">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 Cr)</a:t>
                      </a:r>
                    </a:p>
                  </a:txBody>
                  <a:tcPr>
                    <a:solidFill>
                      <a:srgbClr val="003366"/>
                    </a:solidFill>
                  </a:tcPr>
                </a:tc>
                <a:tc>
                  <a:txBody>
                    <a:bodyPr wrap="square"/>
                    <a:lstStyle/>
                    <a:p>
                      <a:pPr>
                        <a:defRPr b="1" sz="900">
                          <a:solidFill>
                            <a:srgbClr val="FFFFFF"/>
                          </a:solidFill>
                        </a:defRPr>
                      </a:pPr>
                      <a:r>
                        <a:t>Unit Saving (₹)</a:t>
                      </a:r>
                    </a:p>
                  </a:txBody>
                  <a:tcPr>
                    <a:solidFill>
                      <a:srgbClr val="003366"/>
                    </a:solidFill>
                  </a:tcPr>
                </a:tc>
                <a:tc>
                  <a:txBody>
                    <a:bodyPr wrap="square"/>
                    <a:lstStyle/>
                    <a:p>
                      <a:pPr>
                        <a:defRPr b="1" sz="900">
                          <a:solidFill>
                            <a:srgbClr val="FFFFFF"/>
                          </a:solidFill>
                        </a:defRPr>
                      </a:pPr>
                      <a:r>
                        <a:t>Yearly Volume</a:t>
                      </a:r>
                    </a:p>
                  </a:txBody>
                  <a:tcPr>
                    <a:solidFill>
                      <a:srgbClr val="003366"/>
                    </a:solidFill>
                  </a:tcPr>
                </a:tc>
                <a:tc>
                  <a:txBody>
                    <a:bodyPr wrap="square"/>
                    <a:lstStyle/>
                    <a:p>
                      <a:pPr>
                        <a:defRPr b="1" sz="900">
                          <a:solidFill>
                            <a:srgbClr val="FFFFFF"/>
                          </a:solidFill>
                        </a:defRPr>
                      </a:pPr>
                      <a:r>
                        <a:t>Total Saving (₹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r>
              <a:tr h="626364">
                <a:tc>
                  <a:txBody>
                    <a:bodyPr wrap="square" lIns="50800" rIns="50800"/>
                    <a:lstStyle/>
                    <a:p>
                      <a:pPr>
                        <a:defRPr sz="900">
                          <a:solidFill>
                            <a:srgbClr val="333333"/>
                          </a:solidFill>
                          <a:latin typeface="Calibri"/>
                        </a:defRPr>
                      </a:pPr>
                      <a:r>
                        <a:t>2311-PA-ID-02</a:t>
                      </a:r>
                    </a:p>
                  </a:txBody>
                  <a:tcPr/>
                </a:tc>
                <a:tc>
                  <a:txBody>
                    <a:bodyPr wrap="square" lIns="50800" rIns="50800"/>
                    <a:lstStyle/>
                    <a:p>
                      <a:pPr>
                        <a:defRPr sz="900">
                          <a:solidFill>
                            <a:srgbClr val="333333"/>
                          </a:solidFill>
                          <a:latin typeface="Calibri"/>
                        </a:defRPr>
                      </a:pPr>
                      <a:r>
                        <a:t>Redesign the current Brake Pedal Mounting Bracket used in MGI to a similar bracket used in KIA.</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TBD</a:t>
                      </a:r>
                    </a:p>
                  </a:txBody>
                  <a:tcPr/>
                </a:tc>
              </a:tr>
              <a:tr h="626364">
                <a:tc>
                  <a:txBody>
                    <a:bodyPr wrap="square" lIns="50800" rIns="50800"/>
                    <a:lstStyle/>
                    <a:p>
                      <a:pPr>
                        <a:defRPr sz="900">
                          <a:solidFill>
                            <a:srgbClr val="333333"/>
                          </a:solidFill>
                          <a:latin typeface="Calibri"/>
                        </a:defRPr>
                      </a:pPr>
                      <a:r>
                        <a:t>2311-BA-ID-01</a:t>
                      </a:r>
                    </a:p>
                  </a:txBody>
                  <a:tcPr/>
                </a:tc>
                <a:tc>
                  <a:txBody>
                    <a:bodyPr wrap="square" lIns="50800" rIns="50800"/>
                    <a:lstStyle/>
                    <a:p>
                      <a:pPr>
                        <a:defRPr sz="900">
                          <a:solidFill>
                            <a:srgbClr val="333333"/>
                          </a:solidFill>
                          <a:latin typeface="Calibri"/>
                        </a:defRPr>
                      </a:pPr>
                      <a:r>
                        <a:t>The Brake Booster Plate in MGI could be integrated into the Dashboard BIW of the vehicle as done in KIA</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47.00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0.4700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2311-SP-ID-01</a:t>
                      </a:r>
                    </a:p>
                  </a:txBody>
                  <a:tcPr/>
                </a:tc>
                <a:tc>
                  <a:txBody>
                    <a:bodyPr wrap="square" lIns="50800" rIns="50800"/>
                    <a:lstStyle/>
                    <a:p>
                      <a:pPr>
                        <a:defRPr sz="9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57.00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0.5700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2311-BA-ID-02</a:t>
                      </a:r>
                    </a:p>
                  </a:txBody>
                  <a:tcPr/>
                </a:tc>
                <a:tc>
                  <a:txBody>
                    <a:bodyPr wrap="square" lIns="50800" rIns="50800"/>
                    <a:lstStyle/>
                    <a:p>
                      <a:pPr>
                        <a:defRPr sz="9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2311-PA-ID-01</a:t>
                      </a:r>
                    </a:p>
                  </a:txBody>
                  <a:tcPr/>
                </a:tc>
                <a:tc>
                  <a:txBody>
                    <a:bodyPr wrap="square" lIns="50800" rIns="50800"/>
                    <a:lstStyle/>
                    <a:p>
                      <a:pPr>
                        <a:defRPr sz="900">
                          <a:solidFill>
                            <a:srgbClr val="333333"/>
                          </a:solidFill>
                          <a:latin typeface="Calibri"/>
                        </a:defRPr>
                      </a:pPr>
                      <a:r>
                        <a:t>Remove the black paint coating on the Brake Pedal Mounting Bracket within MGI</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115.00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1.1500</a:t>
                      </a:r>
                    </a:p>
                  </a:txBody>
                  <a:tcPr/>
                </a:tc>
                <a:tc>
                  <a:txBody>
                    <a:bodyPr wrap="square" lIns="50800" rIns="50800"/>
                    <a:lstStyle/>
                    <a:p>
                      <a:pPr>
                        <a:defRPr sz="900">
                          <a:solidFill>
                            <a:srgbClr val="333333"/>
                          </a:solidFill>
                          <a:latin typeface="Calibri"/>
                        </a:defRPr>
                      </a:pPr>
                      <a:r>
                        <a:t>TBD</a:t>
                      </a:r>
                    </a:p>
                  </a:txBody>
                  <a:tcPr/>
                </a:tc>
              </a:tr>
              <a:tr h="626364">
                <a:tc>
                  <a:txBody>
                    <a:bodyPr wrap="square" lIns="50800" rIns="50800"/>
                    <a:lstStyle/>
                    <a:p>
                      <a:pPr>
                        <a:defRPr sz="900">
                          <a:solidFill>
                            <a:srgbClr val="333333"/>
                          </a:solidFill>
                          <a:latin typeface="Calibri"/>
                        </a:defRPr>
                      </a:pPr>
                      <a:r>
                        <a:t>AI-GEN-02</a:t>
                      </a:r>
                    </a:p>
                  </a:txBody>
                  <a:tcPr/>
                </a:tc>
                <a:tc>
                  <a:txBody>
                    <a:bodyPr wrap="square" lIns="50800" rIns="50800"/>
                    <a:lstStyle/>
                    <a:p>
                      <a:pPr>
                        <a:defRPr sz="900">
                          <a:solidFill>
                            <a:srgbClr val="333333"/>
                          </a:solidFill>
                          <a:latin typeface="Calibri"/>
                        </a:defRPr>
                      </a:pPr>
                      <a:r>
                        <a:t>Reduce the caliper piston diameter for the front brake calipers by 2mm, optimizing for the vehicle's weight and typical braking loads, and compensate with slightly increased master cylinder pressure.</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750000.00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7500.0000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AI-GEN-03</a:t>
                      </a:r>
                    </a:p>
                  </a:txBody>
                  <a:tcPr/>
                </a:tc>
                <a:tc>
                  <a:txBody>
                    <a:bodyPr wrap="square" lIns="50800" rIns="50800"/>
                    <a:lstStyle/>
                    <a:p>
                      <a:pPr>
                        <a:defRPr sz="900">
                          <a:solidFill>
                            <a:srgbClr val="333333"/>
                          </a:solidFill>
                          <a:latin typeface="Calibri"/>
                        </a:defRPr>
                      </a:pPr>
                      <a:r>
                        <a:t>Substitute the current steel dust shield gauge for the rear brake assemblies with a thinner gauge, high-strength steel (e.g., 0.7mm from 1.0mm), ensuring adequate stiffness and corrosion resistance through material selection.</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400000.00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4000.0000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AI-GEN-04</a:t>
                      </a:r>
                    </a:p>
                  </a:txBody>
                  <a:tcPr/>
                </a:tc>
                <a:tc>
                  <a:txBody>
                    <a:bodyPr wrap="square" lIns="50800" rIns="50800"/>
                    <a:lstStyle/>
                    <a:p>
                      <a:pPr>
                        <a:defRPr sz="900">
                          <a:solidFill>
                            <a:srgbClr val="333333"/>
                          </a:solidFill>
                          <a:latin typeface="Calibri"/>
                        </a:defRPr>
                      </a:pPr>
                      <a:r>
                        <a:t>Implement a post-casting surface treatment (e.g., shot peening) on the brake caliper mounting brackets to improve fatigue strength, allowing for a slight reduction in material thickness or a less complex casting design.</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600000.00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6000.0000</a:t>
                      </a:r>
                    </a:p>
                  </a:txBody>
                  <a:tcPr/>
                </a:tc>
                <a:tc>
                  <a:txBody>
                    <a:bodyPr wrap="square" lIns="50800" rIns="50800"/>
                    <a:lstStyle/>
                    <a:p>
                      <a:pPr>
                        <a:defRPr sz="900">
                          <a:solidFill>
                            <a:srgbClr val="333333"/>
                          </a:solidFill>
                          <a:latin typeface="Calibri"/>
                        </a:defRPr>
                      </a:pPr>
                      <a:r>
                        <a:t>Auto-Approved</a:t>
                      </a:r>
                    </a:p>
                  </a:txBody>
                  <a:tcPr/>
                </a:tc>
              </a:tr>
              <a:tr h="626364">
                <a:tc>
                  <a:txBody>
                    <a:bodyPr wrap="square" lIns="50800" rIns="50800"/>
                    <a:lstStyle/>
                    <a:p>
                      <a:pPr>
                        <a:defRPr sz="900">
                          <a:solidFill>
                            <a:srgbClr val="333333"/>
                          </a:solidFill>
                          <a:latin typeface="Calibri"/>
                        </a:defRPr>
                      </a:pPr>
                      <a:r>
                        <a:t>AI-GEN-05</a:t>
                      </a:r>
                    </a:p>
                  </a:txBody>
                  <a:tcPr/>
                </a:tc>
                <a:tc>
                  <a:txBody>
                    <a:bodyPr wrap="square" lIns="50800" rIns="50800"/>
                    <a:lstStyle/>
                    <a:p>
                      <a:pPr>
                        <a:defRPr sz="900">
                          <a:solidFill>
                            <a:srgbClr val="333333"/>
                          </a:solidFill>
                          <a:latin typeface="Calibri"/>
                        </a:defRPr>
                      </a:pPr>
                      <a:r>
                        <a:t>Reduce the rotor thickness for the rear brake assemblies by 0.5mm, provided thermal analysis and wear simulation confirm no compromise in fade resistance or lifespan for the C-SUV application.</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550000.00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5500.0000</a:t>
                      </a:r>
                    </a:p>
                  </a:txBody>
                  <a:tcPr/>
                </a:tc>
                <a:tc>
                  <a:txBody>
                    <a:bodyPr wrap="square" lIns="50800" rIns="50800"/>
                    <a:lstStyle/>
                    <a:p>
                      <a:pPr>
                        <a:defRPr sz="900">
                          <a:solidFill>
                            <a:srgbClr val="333333"/>
                          </a:solidFill>
                          <a:latin typeface="Calibri"/>
                        </a:defRPr>
                      </a:pPr>
                      <a:r>
                        <a:t>Auto-Approved</a:t>
                      </a:r>
                    </a:p>
                  </a:txBody>
                  <a:tcPr/>
                </a:tc>
              </a:tr>
            </a:tbl>
          </a:graphicData>
        </a:graphic>
      </p:graphicFrame>
      <p:sp>
        <p:nvSpPr>
          <p:cNvPr id="3" name="TextBox 2"/>
          <p:cNvSpPr txBox="1"/>
          <p:nvPr/>
        </p:nvSpPr>
        <p:spPr>
          <a:xfrm>
            <a:off x="365760" y="45720"/>
            <a:ext cx="11460175" cy="320040"/>
          </a:xfrm>
          <a:prstGeom prst="rect">
            <a:avLst/>
          </a:prstGeom>
          <a:noFill/>
        </p:spPr>
        <p:txBody>
          <a:bodyPr wrap="none">
            <a:spAutoFit/>
          </a:bodyPr>
          <a:lstStyle/>
          <a:p>
            <a:pPr>
              <a:defRPr sz="1500" b="1">
                <a:solidFill>
                  <a:srgbClr val="003366"/>
                </a:solidFill>
              </a:defRPr>
            </a:pPr>
            <a:r>
              <a:t>Summary (Values in ₹ Crore) (Page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0881360" cy="6263640"/>
        </p:xfrm>
        <a:graphic>
          <a:graphicData uri="http://schemas.openxmlformats.org/drawingml/2006/table">
            <a:tbl>
              <a:tblPr firstRow="1" bandRow="1">
                <a:tableStyleId>{5C22544A-7EE6-4342-B048-85BDC9FD1C3A}</a:tableStyleId>
              </a:tblPr>
              <a:tblGrid>
                <a:gridCol w="731520"/>
                <a:gridCol w="4114800"/>
                <a:gridCol w="1097280"/>
                <a:gridCol w="1097280"/>
                <a:gridCol w="1097280"/>
                <a:gridCol w="1371600"/>
                <a:gridCol w="1371600"/>
              </a:tblGrid>
              <a:tr h="695960">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 Cr)</a:t>
                      </a:r>
                    </a:p>
                  </a:txBody>
                  <a:tcPr>
                    <a:solidFill>
                      <a:srgbClr val="003366"/>
                    </a:solidFill>
                  </a:tcPr>
                </a:tc>
                <a:tc>
                  <a:txBody>
                    <a:bodyPr wrap="square"/>
                    <a:lstStyle/>
                    <a:p>
                      <a:pPr>
                        <a:defRPr b="1" sz="900">
                          <a:solidFill>
                            <a:srgbClr val="FFFFFF"/>
                          </a:solidFill>
                        </a:defRPr>
                      </a:pPr>
                      <a:r>
                        <a:t>Unit Saving (₹)</a:t>
                      </a:r>
                    </a:p>
                  </a:txBody>
                  <a:tcPr>
                    <a:solidFill>
                      <a:srgbClr val="003366"/>
                    </a:solidFill>
                  </a:tcPr>
                </a:tc>
                <a:tc>
                  <a:txBody>
                    <a:bodyPr wrap="square"/>
                    <a:lstStyle/>
                    <a:p>
                      <a:pPr>
                        <a:defRPr b="1" sz="900">
                          <a:solidFill>
                            <a:srgbClr val="FFFFFF"/>
                          </a:solidFill>
                        </a:defRPr>
                      </a:pPr>
                      <a:r>
                        <a:t>Yearly Volume</a:t>
                      </a:r>
                    </a:p>
                  </a:txBody>
                  <a:tcPr>
                    <a:solidFill>
                      <a:srgbClr val="003366"/>
                    </a:solidFill>
                  </a:tcPr>
                </a:tc>
                <a:tc>
                  <a:txBody>
                    <a:bodyPr wrap="square"/>
                    <a:lstStyle/>
                    <a:p>
                      <a:pPr>
                        <a:defRPr b="1" sz="900">
                          <a:solidFill>
                            <a:srgbClr val="FFFFFF"/>
                          </a:solidFill>
                        </a:defRPr>
                      </a:pPr>
                      <a:r>
                        <a:t>Total Saving (₹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r>
              <a:tr h="695960">
                <a:tc>
                  <a:txBody>
                    <a:bodyPr wrap="square" lIns="50800" rIns="50800"/>
                    <a:lstStyle/>
                    <a:p>
                      <a:pPr>
                        <a:defRPr sz="900">
                          <a:solidFill>
                            <a:srgbClr val="333333"/>
                          </a:solidFill>
                          <a:latin typeface="Calibri"/>
                        </a:defRPr>
                      </a:pPr>
                      <a:r>
                        <a:t>AI-GEN-07</a:t>
                      </a:r>
                    </a:p>
                  </a:txBody>
                  <a:tcPr/>
                </a:tc>
                <a:tc>
                  <a:txBody>
                    <a:bodyPr wrap="square" lIns="50800" rIns="50800"/>
                    <a:lstStyle/>
                    <a:p>
                      <a:pPr>
                        <a:defRPr sz="900">
                          <a:solidFill>
                            <a:srgbClr val="333333"/>
                          </a:solidFill>
                          <a:latin typeface="Calibri"/>
                        </a:defRPr>
                      </a:pPr>
                      <a:r>
                        <a:t>Optimize the cooling vane design of the front brake rotors by using CFD analysis to improve airflow and heat dissipation, potentially allowing for a slight reduction in rotor mass without sacrificing thermal performance.</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450000.00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4500.0000</a:t>
                      </a:r>
                    </a:p>
                  </a:txBody>
                  <a:tcPr/>
                </a:tc>
                <a:tc>
                  <a:txBody>
                    <a:bodyPr wrap="square" lIns="50800" rIns="50800"/>
                    <a:lstStyle/>
                    <a:p>
                      <a:pPr>
                        <a:defRPr sz="900">
                          <a:solidFill>
                            <a:srgbClr val="333333"/>
                          </a:solidFill>
                          <a:latin typeface="Calibri"/>
                        </a:defRPr>
                      </a:pPr>
                      <a:r>
                        <a:t>Auto-Approved</a:t>
                      </a:r>
                    </a:p>
                  </a:txBody>
                  <a:tcPr/>
                </a:tc>
              </a:tr>
              <a:tr h="695960">
                <a:tc>
                  <a:txBody>
                    <a:bodyPr wrap="square" lIns="50800" rIns="50800"/>
                    <a:lstStyle/>
                    <a:p>
                      <a:pPr>
                        <a:defRPr sz="900">
                          <a:solidFill>
                            <a:srgbClr val="333333"/>
                          </a:solidFill>
                          <a:latin typeface="Calibri"/>
                        </a:defRPr>
                      </a:pPr>
                      <a:r>
                        <a:t>AI-GEN-10</a:t>
                      </a:r>
                    </a:p>
                  </a:txBody>
                  <a:tcPr/>
                </a:tc>
                <a:tc>
                  <a:txBody>
                    <a:bodyPr wrap="square" lIns="50800" rIns="50800"/>
                    <a:lstStyle/>
                    <a:p>
                      <a:pPr>
                        <a:defRPr sz="900">
                          <a:solidFill>
                            <a:srgbClr val="333333"/>
                          </a:solidFill>
                          <a:latin typeface="Calibri"/>
                        </a:defRPr>
                      </a:pPr>
                      <a:r>
                        <a:t>Implement a lighter-weight caliper bracket material, such as a high-strength aluminum alloy, for the rear brakes, ensuring it meets the necessary stiffness and thermal requirements through design optimization.</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800000.00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8000.0000</a:t>
                      </a:r>
                    </a:p>
                  </a:txBody>
                  <a:tcPr/>
                </a:tc>
                <a:tc>
                  <a:txBody>
                    <a:bodyPr wrap="square" lIns="50800" rIns="50800"/>
                    <a:lstStyle/>
                    <a:p>
                      <a:pPr>
                        <a:defRPr sz="900">
                          <a:solidFill>
                            <a:srgbClr val="333333"/>
                          </a:solidFill>
                          <a:latin typeface="Calibri"/>
                        </a:defRPr>
                      </a:pPr>
                      <a:r>
                        <a:t>Auto-Approved</a:t>
                      </a:r>
                    </a:p>
                  </a:txBody>
                  <a:tcPr/>
                </a:tc>
              </a:tr>
              <a:tr h="695960">
                <a:tc>
                  <a:txBody>
                    <a:bodyPr wrap="square" lIns="50800" rIns="50800"/>
                    <a:lstStyle/>
                    <a:p>
                      <a:pPr>
                        <a:defRPr sz="900">
                          <a:solidFill>
                            <a:srgbClr val="333333"/>
                          </a:solidFill>
                          <a:latin typeface="Calibri"/>
                        </a:defRPr>
                      </a:pPr>
                      <a:r>
                        <a:t>AI-GEN-12</a:t>
                      </a:r>
                    </a:p>
                  </a:txBody>
                  <a:tcPr/>
                </a:tc>
                <a:tc>
                  <a:txBody>
                    <a:bodyPr wrap="square" lIns="50800" rIns="50800"/>
                    <a:lstStyle/>
                    <a:p>
                      <a:pPr>
                        <a:defRPr sz="900">
                          <a:solidFill>
                            <a:srgbClr val="333333"/>
                          </a:solidFill>
                          <a:latin typeface="Calibri"/>
                        </a:defRPr>
                      </a:pPr>
                      <a:r>
                        <a:t>Optimize the brake rotor slotting pattern (if applicable) or drilling for improved heat dissipation and reduced brake judder, potentially allowing for minor weight reduction without compromising structural integrity.</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400000.00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4000.0000</a:t>
                      </a:r>
                    </a:p>
                  </a:txBody>
                  <a:tcPr/>
                </a:tc>
                <a:tc>
                  <a:txBody>
                    <a:bodyPr wrap="square" lIns="50800" rIns="50800"/>
                    <a:lstStyle/>
                    <a:p>
                      <a:pPr>
                        <a:defRPr sz="900">
                          <a:solidFill>
                            <a:srgbClr val="333333"/>
                          </a:solidFill>
                          <a:latin typeface="Calibri"/>
                        </a:defRPr>
                      </a:pPr>
                      <a:r>
                        <a:t>Auto-Approved</a:t>
                      </a:r>
                    </a:p>
                  </a:txBody>
                  <a:tcPr/>
                </a:tc>
              </a:tr>
              <a:tr h="695960">
                <a:tc>
                  <a:txBody>
                    <a:bodyPr wrap="square" lIns="50800" rIns="50800"/>
                    <a:lstStyle/>
                    <a:p>
                      <a:pPr>
                        <a:defRPr sz="900">
                          <a:solidFill>
                            <a:srgbClr val="333333"/>
                          </a:solidFill>
                          <a:latin typeface="Calibri"/>
                        </a:defRPr>
                      </a:pPr>
                      <a:r>
                        <a:t>AI-GEN-01</a:t>
                      </a:r>
                    </a:p>
                  </a:txBody>
                  <a:tcPr/>
                </a:tc>
                <a:tc>
                  <a:txBody>
                    <a:bodyPr wrap="square" lIns="50800" rIns="50800"/>
                    <a:lstStyle/>
                    <a:p>
                      <a:pPr>
                        <a:defRPr sz="900">
                          <a:solidFill>
                            <a:srgbClr val="333333"/>
                          </a:solidFill>
                          <a:latin typeface="Calibri"/>
                        </a:defRPr>
                      </a:pPr>
                      <a:r>
                        <a:t>Replace the current cast iron brake rotor material for the rear axle with a higher-carbon cast iron alloy, while maintaining the existing dimensions.</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500000.00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5000.0000</a:t>
                      </a:r>
                    </a:p>
                  </a:txBody>
                  <a:tcPr/>
                </a:tc>
                <a:tc>
                  <a:txBody>
                    <a:bodyPr wrap="square" lIns="50800" rIns="50800"/>
                    <a:lstStyle/>
                    <a:p>
                      <a:pPr>
                        <a:defRPr sz="900">
                          <a:solidFill>
                            <a:srgbClr val="333333"/>
                          </a:solidFill>
                          <a:latin typeface="Calibri"/>
                        </a:defRPr>
                      </a:pPr>
                      <a:r>
                        <a:t>Needs Human Review</a:t>
                      </a:r>
                    </a:p>
                  </a:txBody>
                  <a:tcPr/>
                </a:tc>
              </a:tr>
              <a:tr h="695960">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Implement Value Engineering (VE) principles for the MG Hector brake assembly, focusing on reducing material usage and simplifying manufacturing processes without compromising performance or safety. This involves a systematic review of current components (rotor, caliper, dust shield) to identify non-value-adding features or over-specified materials. For instance, explore alternative caliper materials with similar thermal properties but lower cost and weight, or redesign the dust shield for a more efficient, lower-gauge material that still meets dust protection requirements.</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695960">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Optimize the manufacturing process for the MG Hector brake caliper using advanced data analytics and Design for Manufacturing (DFM) principles. This involves analyzing production data to identify bottlenecks and areas for efficiency gains, as suggested by [1] and [2]. Simultaneously, apply DFM strategies [3] to the caliper design, such as optimizing geometry for reduced machining time, simplifying casting processes, and selecting materials that are easier to manufacture cost-effectively. This could involve exploring additive manufacturing for certain complex internal caliper passages if tooling CAPEX allows for pilot runs, or focusing on optimizing existing casting and machining.</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Industry Trend</a:t>
                      </a:r>
                    </a:p>
                  </a:txBody>
                  <a:tcPr/>
                </a:tc>
              </a:tr>
              <a:tr h="695960">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Investigate the use of advanced friction materials for the MG Hector brake pads that offer improved fade resistance and longevity at a competitive cost. While research papers often focus on novel materials, this proposal focuses on adapting existing, proven advanced materials that can be integrated with minimal process changes. The goal is to enhance thermal mass and friction coefficient stability, especially crucial for a 1.7T vehicle with high kinetic energy demands, while also considering dust reduction for improved aesthetics and reduced shield wear.</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695960">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Redesign the brake rotor for the MG Hector to optimize thermal mass distribution and potentially reduce material content without compromising structural integrity or cooling efficiency. This could involve exploring features like optimized vane design for better airflow, or a reduced overall disc diameter if performance targets can still be met within the constraints. The focus is on smart material utilization and geometric optimization, informed by principles of Design for Manufacturing Cost Reduction [3]. Given the 1.7T vehicle weight, any reduction in rotor mass must be carefully assessed for its impact on thermal capacity and fade resistance.</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Industry Trend</a:t>
                      </a:r>
                    </a:p>
                  </a:txBody>
                  <a:tcPr/>
                </a:tc>
              </a:tr>
            </a:tbl>
          </a:graphicData>
        </a:graphic>
      </p:graphicFrame>
      <p:sp>
        <p:nvSpPr>
          <p:cNvPr id="3" name="TextBox 2"/>
          <p:cNvSpPr txBox="1"/>
          <p:nvPr/>
        </p:nvSpPr>
        <p:spPr>
          <a:xfrm>
            <a:off x="365760" y="45720"/>
            <a:ext cx="11460175" cy="320040"/>
          </a:xfrm>
          <a:prstGeom prst="rect">
            <a:avLst/>
          </a:prstGeom>
          <a:noFill/>
        </p:spPr>
        <p:txBody>
          <a:bodyPr wrap="none">
            <a:spAutoFit/>
          </a:bodyPr>
          <a:lstStyle/>
          <a:p>
            <a:pPr>
              <a:defRPr sz="1500" b="1">
                <a:solidFill>
                  <a:srgbClr val="003366"/>
                </a:solidFill>
              </a:defRPr>
            </a:pPr>
            <a:r>
              <a:t>Summary (Values in ₹ Crore)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#1: Redesign the current Brake Pedal Mounting Bracket used in MGI to a similar bracket used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95421"/>
          </a:xfrm>
          <a:prstGeom prst="rect">
            <a:avLst/>
          </a:prstGeom>
          <a:noFill/>
        </p:spPr>
        <p:txBody>
          <a:bodyPr wrap="square">
            <a:spAutoFit/>
          </a:bodyPr>
          <a:lstStyle/>
          <a:p>
            <a:pPr>
              <a:defRPr sz="1000">
                <a:solidFill>
                  <a:srgbClr val="333333"/>
                </a:solidFill>
              </a:defRPr>
            </a:pPr>
            <a:r>
              <a:t>Technical optimization of Redesign the current Brake Pedal Mounting Bracket used in MGI to a similar bracket used in KIA. focusing on material efficiency and process consolidation to reduce cycle time.</a:t>
            </a:r>
          </a:p>
        </p:txBody>
      </p:sp>
      <p:sp>
        <p:nvSpPr>
          <p:cNvPr id="6" name="Rectangle 5"/>
          <p:cNvSpPr/>
          <p:nvPr/>
        </p:nvSpPr>
        <p:spPr>
          <a:xfrm>
            <a:off x="274320" y="18213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9445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23053"/>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806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5377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82371"/>
            <a:ext cx="5486400" cy="380207"/>
          </a:xfrm>
          <a:prstGeom prst="rect">
            <a:avLst/>
          </a:prstGeom>
          <a:noFill/>
        </p:spPr>
        <p:txBody>
          <a:bodyPr wrap="square">
            <a:spAutoFit/>
          </a:bodyPr>
          <a:lstStyle/>
          <a:p>
            <a:pPr>
              <a:defRPr sz="1000">
                <a:solidFill>
                  <a:srgbClr val="333333"/>
                </a:solidFill>
              </a:defRPr>
            </a:pPr>
            <a:r>
              <a:t>Est. Saving: INR 113</a:t>
            </a:r>
            <a:br/>
            <a:r>
              <a:t>CAPEX: TBD</a:t>
            </a:r>
          </a:p>
        </p:txBody>
      </p:sp>
      <p:sp>
        <p:nvSpPr>
          <p:cNvPr id="12" name="Rectangle 11"/>
          <p:cNvSpPr/>
          <p:nvPr/>
        </p:nvSpPr>
        <p:spPr>
          <a:xfrm>
            <a:off x="274320" y="32625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3573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6433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6661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3976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68365"/>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5555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22.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08589"/>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 and process consolidation to reduce cycle time.</a:t>
            </a:r>
          </a:p>
        </p:txBody>
      </p:sp>
      <p:sp>
        <p:nvSpPr>
          <p:cNvPr id="6" name="Rectangle 5"/>
          <p:cNvSpPr/>
          <p:nvPr/>
        </p:nvSpPr>
        <p:spPr>
          <a:xfrm>
            <a:off x="274320" y="18344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0762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36221"/>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9378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6693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95539"/>
            <a:ext cx="5486400" cy="378561"/>
          </a:xfrm>
          <a:prstGeom prst="rect">
            <a:avLst/>
          </a:prstGeom>
          <a:noFill/>
        </p:spPr>
        <p:txBody>
          <a:bodyPr wrap="square">
            <a:spAutoFit/>
          </a:bodyPr>
          <a:lstStyle/>
          <a:p>
            <a:pPr>
              <a:defRPr sz="1000">
                <a:solidFill>
                  <a:srgbClr val="333333"/>
                </a:solidFill>
              </a:defRPr>
            </a:pPr>
            <a:r>
              <a:t>Est. Saving: INR 47</a:t>
            </a:r>
            <a:br/>
            <a:r>
              <a:t>CAPEX: TBD</a:t>
            </a:r>
          </a:p>
        </p:txBody>
      </p:sp>
      <p:sp>
        <p:nvSpPr>
          <p:cNvPr id="12" name="Rectangle 11"/>
          <p:cNvSpPr/>
          <p:nvPr/>
        </p:nvSpPr>
        <p:spPr>
          <a:xfrm>
            <a:off x="274320" y="32741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4725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75852"/>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7813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51287"/>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79887"/>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670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1.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#3: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888796"/>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 and process consolidation to reduce cycle time.</a:t>
            </a:r>
          </a:p>
        </p:txBody>
      </p:sp>
      <p:sp>
        <p:nvSpPr>
          <p:cNvPr id="6" name="Rectangle 5"/>
          <p:cNvSpPr/>
          <p:nvPr/>
        </p:nvSpPr>
        <p:spPr>
          <a:xfrm>
            <a:off x="274320" y="30376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11078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339388"/>
            <a:ext cx="5486400" cy="424647"/>
          </a:xfrm>
          <a:prstGeom prst="rect">
            <a:avLst/>
          </a:prstGeom>
          <a:noFill/>
        </p:spPr>
        <p:txBody>
          <a:bodyPr wrap="square">
            <a:spAutoFit/>
          </a:bodyPr>
          <a:lstStyle/>
          <a:p>
            <a:pPr>
              <a:defRPr sz="1000">
                <a:solidFill>
                  <a:srgbClr val="333333"/>
                </a:solidFill>
              </a:defRPr>
            </a:pPr>
            <a:r>
              <a:t>N/A (No material change explicitly mentioned)</a:t>
            </a:r>
            <a:br/>
            <a:r>
              <a:t>1mm to 0.8mm</a:t>
            </a:r>
          </a:p>
        </p:txBody>
      </p:sp>
      <p:sp>
        <p:nvSpPr>
          <p:cNvPr id="9" name="Rectangle 8"/>
          <p:cNvSpPr/>
          <p:nvPr/>
        </p:nvSpPr>
        <p:spPr>
          <a:xfrm>
            <a:off x="274320" y="37640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83718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065788"/>
            <a:ext cx="5486400" cy="378561"/>
          </a:xfrm>
          <a:prstGeom prst="rect">
            <a:avLst/>
          </a:prstGeom>
          <a:noFill/>
        </p:spPr>
        <p:txBody>
          <a:bodyPr wrap="square">
            <a:spAutoFit/>
          </a:bodyPr>
          <a:lstStyle/>
          <a:p>
            <a:pPr>
              <a:defRPr sz="1000">
                <a:solidFill>
                  <a:srgbClr val="333333"/>
                </a:solidFill>
              </a:defRPr>
            </a:pPr>
            <a:r>
              <a:t>Est. Saving: INR 57</a:t>
            </a:r>
            <a:br/>
            <a:r>
              <a:t>CAPEX: TBD</a:t>
            </a:r>
          </a:p>
        </p:txBody>
      </p:sp>
      <p:sp>
        <p:nvSpPr>
          <p:cNvPr id="12" name="Rectangle 11"/>
          <p:cNvSpPr/>
          <p:nvPr/>
        </p:nvSpPr>
        <p:spPr>
          <a:xfrm>
            <a:off x="274320" y="444434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1750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74610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54838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185.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18" name="TextBox 17"/>
          <p:cNvSpPr txBox="1"/>
          <p:nvPr/>
        </p:nvSpPr>
        <p:spPr>
          <a:xfrm>
            <a:off x="6217920" y="40050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9" name="Picture 18" descr="110.jpg"/>
          <p:cNvPicPr>
            <a:picLocks noChangeAspect="1"/>
          </p:cNvPicPr>
          <p:nvPr/>
        </p:nvPicPr>
        <p:blipFill>
          <a:blip r:embed="rId3"/>
          <a:stretch>
            <a:fillRect/>
          </a:stretch>
        </p:blipFill>
        <p:spPr>
          <a:xfrm>
            <a:off x="6217920" y="4279392"/>
            <a:ext cx="5699455" cy="2304288"/>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#4: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53430"/>
          </a:xfrm>
          <a:prstGeom prst="rect">
            <a:avLst/>
          </a:prstGeom>
          <a:noFill/>
        </p:spPr>
        <p:txBody>
          <a:bodyPr wrap="square">
            <a:spAutoFit/>
          </a:bodyPr>
          <a:lstStyle/>
          <a:p>
            <a:pPr>
              <a:defRPr sz="1000">
                <a:solidFill>
                  <a:srgbClr val="333333"/>
                </a:solidFill>
              </a:defRPr>
            </a:pPr>
            <a: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p>
        </p:txBody>
      </p:sp>
      <p:sp>
        <p:nvSpPr>
          <p:cNvPr id="6" name="Rectangle 5"/>
          <p:cNvSpPr/>
          <p:nvPr/>
        </p:nvSpPr>
        <p:spPr>
          <a:xfrm>
            <a:off x="274320" y="239079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6394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92542"/>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15010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23260"/>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51860"/>
            <a:ext cx="5486400" cy="380207"/>
          </a:xfrm>
          <a:prstGeom prst="rect">
            <a:avLst/>
          </a:prstGeom>
          <a:noFill/>
        </p:spPr>
        <p:txBody>
          <a:bodyPr wrap="square">
            <a:spAutoFit/>
          </a:bodyPr>
          <a:lstStyle/>
          <a:p>
            <a:pPr>
              <a:defRPr sz="1000">
                <a:solidFill>
                  <a:srgbClr val="333333"/>
                </a:solidFill>
              </a:defRPr>
            </a:pPr>
            <a:r>
              <a:t>Est. Saving: INR 102</a:t>
            </a:r>
            <a:br/>
            <a:r>
              <a:t>CAPEX: TBD</a:t>
            </a:r>
          </a:p>
        </p:txBody>
      </p:sp>
      <p:sp>
        <p:nvSpPr>
          <p:cNvPr id="12" name="Rectangle 11"/>
          <p:cNvSpPr/>
          <p:nvPr/>
        </p:nvSpPr>
        <p:spPr>
          <a:xfrm>
            <a:off x="274320" y="38320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0521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33819"/>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361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0925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37853"/>
            <a:ext cx="5486400" cy="34582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34.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#5: Remove the black paint coating on the Brake Pedal Mounting Bracket within MGI</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65795"/>
          </a:xfrm>
          <a:prstGeom prst="rect">
            <a:avLst/>
          </a:prstGeom>
          <a:noFill/>
        </p:spPr>
        <p:txBody>
          <a:bodyPr wrap="square">
            <a:spAutoFit/>
          </a:bodyPr>
          <a:lstStyle/>
          <a:p>
            <a:pPr>
              <a:defRPr sz="1000">
                <a:solidFill>
                  <a:srgbClr val="333333"/>
                </a:solidFill>
              </a:defRPr>
            </a:pPr>
            <a:r>
              <a:t>Technical optimization of Remove the black paint coating on the Brake Pedal Mounting Bracket within MGI focusing on material efficiency and process consolidation to reduce cycle time.</a:t>
            </a:r>
          </a:p>
        </p:txBody>
      </p:sp>
      <p:sp>
        <p:nvSpPr>
          <p:cNvPr id="6" name="Rectangle 5"/>
          <p:cNvSpPr/>
          <p:nvPr/>
        </p:nvSpPr>
        <p:spPr>
          <a:xfrm>
            <a:off x="274320" y="179167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6482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93427"/>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5099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24145"/>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52745"/>
            <a:ext cx="5486400" cy="380207"/>
          </a:xfrm>
          <a:prstGeom prst="rect">
            <a:avLst/>
          </a:prstGeom>
          <a:noFill/>
        </p:spPr>
        <p:txBody>
          <a:bodyPr wrap="square">
            <a:spAutoFit/>
          </a:bodyPr>
          <a:lstStyle/>
          <a:p>
            <a:pPr>
              <a:defRPr sz="1000">
                <a:solidFill>
                  <a:srgbClr val="333333"/>
                </a:solidFill>
              </a:defRPr>
            </a:pPr>
            <a:r>
              <a:t>Est. Saving: INR 115</a:t>
            </a:r>
            <a:br/>
            <a:r>
              <a:t>CAPEX: TBD</a:t>
            </a:r>
          </a:p>
        </p:txBody>
      </p:sp>
      <p:sp>
        <p:nvSpPr>
          <p:cNvPr id="12" name="Rectangle 11"/>
          <p:cNvSpPr/>
          <p:nvPr/>
        </p:nvSpPr>
        <p:spPr>
          <a:xfrm>
            <a:off x="274320" y="323295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0610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34704"/>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3698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1013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38739"/>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2593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34.jpg"/>
          <p:cNvPicPr>
            <a:picLocks noChangeAspect="1"/>
          </p:cNvPicPr>
          <p:nvPr/>
        </p:nvPicPr>
        <p:blipFill>
          <a:blip r:embed="rId3"/>
          <a:stretch>
            <a:fillRect/>
          </a:stretch>
        </p:blipFill>
        <p:spPr>
          <a:xfrm>
            <a:off x="6217920" y="3867912"/>
            <a:ext cx="5699455" cy="2715768"/>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#6: Reduce the caliper piston diameter for the front brake calipers by 2mm, optimizing for the vehicle's weight and typical braking loads, and compensate with slightly increased master cylinder pressure.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66597"/>
          </a:xfrm>
          <a:prstGeom prst="rect">
            <a:avLst/>
          </a:prstGeom>
          <a:noFill/>
        </p:spPr>
        <p:txBody>
          <a:bodyPr wrap="square">
            <a:spAutoFit/>
          </a:bodyPr>
          <a:lstStyle/>
          <a:p>
            <a:pPr>
              <a:defRPr sz="1000">
                <a:solidFill>
                  <a:srgbClr val="333333"/>
                </a:solidFill>
              </a:defRPr>
            </a:pPr>
            <a:r>
              <a:t>Technical optimization of Reduce the caliper piston diameter for the front brake calipers by 2mm, optimizing for the vehicle's weight and typical braking loads, and compensate with slightly increased master cylinder pressure. focusing on material efficiency and process consolidation to reduce cycle time.</a:t>
            </a:r>
          </a:p>
        </p:txBody>
      </p:sp>
      <p:sp>
        <p:nvSpPr>
          <p:cNvPr id="6" name="Rectangle 5"/>
          <p:cNvSpPr/>
          <p:nvPr/>
        </p:nvSpPr>
        <p:spPr>
          <a:xfrm>
            <a:off x="274320" y="240395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7710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705709"/>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16327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36427"/>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65027"/>
            <a:ext cx="5486400" cy="385145"/>
          </a:xfrm>
          <a:prstGeom prst="rect">
            <a:avLst/>
          </a:prstGeom>
          <a:noFill/>
        </p:spPr>
        <p:txBody>
          <a:bodyPr wrap="square">
            <a:spAutoFit/>
          </a:bodyPr>
          <a:lstStyle/>
          <a:p>
            <a:pPr>
              <a:defRPr sz="1000">
                <a:solidFill>
                  <a:srgbClr val="333333"/>
                </a:solidFill>
              </a:defRPr>
            </a:pPr>
            <a:r>
              <a:t>Est. Saving: INR 750000</a:t>
            </a:r>
            <a:br/>
            <a:r>
              <a:t>CAPEX: TBD</a:t>
            </a:r>
          </a:p>
        </p:txBody>
      </p:sp>
      <p:sp>
        <p:nvSpPr>
          <p:cNvPr id="12" name="Rectangle 11"/>
          <p:cNvSpPr/>
          <p:nvPr/>
        </p:nvSpPr>
        <p:spPr>
          <a:xfrm>
            <a:off x="274320" y="385017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2332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51924"/>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5420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2735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55959"/>
            <a:ext cx="5486400" cy="327720"/>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6.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8.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#7: Substitute the current steel dust shield gauge for the rear brake assemblies with a thinner gauge, high-strength steel (e.g., 0.7mm from 1.0mm), ensuring adequate stiffness and corrosion resistance through material selection.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709391"/>
          </a:xfrm>
          <a:prstGeom prst="rect">
            <a:avLst/>
          </a:prstGeom>
          <a:noFill/>
        </p:spPr>
        <p:txBody>
          <a:bodyPr wrap="square">
            <a:spAutoFit/>
          </a:bodyPr>
          <a:lstStyle/>
          <a:p>
            <a:pPr>
              <a:defRPr sz="1000">
                <a:solidFill>
                  <a:srgbClr val="333333"/>
                </a:solidFill>
              </a:defRPr>
            </a:pPr>
            <a:r>
              <a:t>Technical optimization of Substitute the current steel dust shield gauge for the rear brake assemblies with a thinner gauge, high-strength steel (e.g., 0.7mm from 1.0mm), ensuring adequate stiffness and corrosion resistance through material selection. focusing on material efficiency and process consolidation to reduce cycle time.</a:t>
            </a:r>
          </a:p>
        </p:txBody>
      </p:sp>
      <p:sp>
        <p:nvSpPr>
          <p:cNvPr id="6" name="Rectangle 5"/>
          <p:cNvSpPr/>
          <p:nvPr/>
        </p:nvSpPr>
        <p:spPr>
          <a:xfrm>
            <a:off x="274320" y="285823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93138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159983"/>
            <a:ext cx="5486400" cy="521756"/>
          </a:xfrm>
          <a:prstGeom prst="rect">
            <a:avLst/>
          </a:prstGeom>
          <a:noFill/>
        </p:spPr>
        <p:txBody>
          <a:bodyPr wrap="square">
            <a:spAutoFit/>
          </a:bodyPr>
          <a:lstStyle/>
          <a:p>
            <a:pPr>
              <a:defRPr sz="1000">
                <a:solidFill>
                  <a:srgbClr val="333333"/>
                </a:solidFill>
              </a:defRPr>
            </a:pPr>
            <a:r>
              <a:t>Substitute the current steel dust shield gauge for the rear brake assemblies with a thinner gauge, h</a:t>
            </a:r>
            <a:br/>
            <a:r>
              <a:t>0.7mm from 1.0mm</a:t>
            </a:r>
          </a:p>
        </p:txBody>
      </p:sp>
      <p:sp>
        <p:nvSpPr>
          <p:cNvPr id="9" name="Rectangle 8"/>
          <p:cNvSpPr/>
          <p:nvPr/>
        </p:nvSpPr>
        <p:spPr>
          <a:xfrm>
            <a:off x="274320" y="368174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75489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983492"/>
            <a:ext cx="5486400" cy="385145"/>
          </a:xfrm>
          <a:prstGeom prst="rect">
            <a:avLst/>
          </a:prstGeom>
          <a:noFill/>
        </p:spPr>
        <p:txBody>
          <a:bodyPr wrap="square">
            <a:spAutoFit/>
          </a:bodyPr>
          <a:lstStyle/>
          <a:p>
            <a:pPr>
              <a:defRPr sz="1000">
                <a:solidFill>
                  <a:srgbClr val="333333"/>
                </a:solidFill>
              </a:defRPr>
            </a:pPr>
            <a:r>
              <a:t>Est. Saving: INR 400000</a:t>
            </a:r>
            <a:br/>
            <a:r>
              <a:t>CAPEX: TBD</a:t>
            </a:r>
          </a:p>
        </p:txBody>
      </p:sp>
      <p:sp>
        <p:nvSpPr>
          <p:cNvPr id="12" name="Rectangle 11"/>
          <p:cNvSpPr/>
          <p:nvPr/>
        </p:nvSpPr>
        <p:spPr>
          <a:xfrm>
            <a:off x="274320" y="436863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44178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670389"/>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47267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4.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18" name="TextBox 17"/>
          <p:cNvSpPr txBox="1"/>
          <p:nvPr/>
        </p:nvSpPr>
        <p:spPr>
          <a:xfrm>
            <a:off x="6217920" y="40050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9" name="Picture 18" descr="24.jpg"/>
          <p:cNvPicPr>
            <a:picLocks noChangeAspect="1"/>
          </p:cNvPicPr>
          <p:nvPr/>
        </p:nvPicPr>
        <p:blipFill>
          <a:blip r:embed="rId3"/>
          <a:stretch>
            <a:fillRect/>
          </a:stretch>
        </p:blipFill>
        <p:spPr>
          <a:xfrm>
            <a:off x="6217920" y="4279392"/>
            <a:ext cx="5699455" cy="2304288"/>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#8: Implement a post-casting surface treatment (e.g., shot peening) on the brake caliper mounting brackets to improve fatigue strength, allowing for a slight reduction in material thickness or a less complex casting design.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699516"/>
          </a:xfrm>
          <a:prstGeom prst="rect">
            <a:avLst/>
          </a:prstGeom>
          <a:noFill/>
        </p:spPr>
        <p:txBody>
          <a:bodyPr wrap="square">
            <a:spAutoFit/>
          </a:bodyPr>
          <a:lstStyle/>
          <a:p>
            <a:pPr>
              <a:defRPr sz="1000">
                <a:solidFill>
                  <a:srgbClr val="333333"/>
                </a:solidFill>
              </a:defRPr>
            </a:pPr>
            <a:r>
              <a:t>Technical optimization of Implement a post-casting surface treatment (e.g., shot peening) on the brake caliper mounting brackets to improve fatigue strength, allowing for a slight reduction in material thickness or a less complex casting design. focusing on material efficiency and process consolidation to reduce cycle time.</a:t>
            </a:r>
          </a:p>
        </p:txBody>
      </p:sp>
      <p:sp>
        <p:nvSpPr>
          <p:cNvPr id="6" name="Rectangle 5"/>
          <p:cNvSpPr/>
          <p:nvPr/>
        </p:nvSpPr>
        <p:spPr>
          <a:xfrm>
            <a:off x="274320" y="284835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92150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150108"/>
            <a:ext cx="5486400" cy="548091"/>
          </a:xfrm>
          <a:prstGeom prst="rect">
            <a:avLst/>
          </a:prstGeom>
          <a:noFill/>
        </p:spPr>
        <p:txBody>
          <a:bodyPr wrap="square">
            <a:spAutoFit/>
          </a:bodyPr>
          <a:lstStyle/>
          <a:p>
            <a:pPr>
              <a:defRPr sz="1000">
                <a:solidFill>
                  <a:srgbClr val="333333"/>
                </a:solidFill>
              </a:defRPr>
            </a:pPr>
            <a:r>
              <a:t>, shot peening) on the brake caliper mounting brackets to improve fatigue strength, allowing for a s</a:t>
            </a:r>
            <a:br/>
            <a:r>
              <a:t>N/A (Maintains current envelope)</a:t>
            </a:r>
          </a:p>
        </p:txBody>
      </p:sp>
      <p:sp>
        <p:nvSpPr>
          <p:cNvPr id="9" name="Rectangle 8"/>
          <p:cNvSpPr/>
          <p:nvPr/>
        </p:nvSpPr>
        <p:spPr>
          <a:xfrm>
            <a:off x="274320" y="36981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77135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999951"/>
            <a:ext cx="5486400" cy="385145"/>
          </a:xfrm>
          <a:prstGeom prst="rect">
            <a:avLst/>
          </a:prstGeom>
          <a:noFill/>
        </p:spPr>
        <p:txBody>
          <a:bodyPr wrap="square">
            <a:spAutoFit/>
          </a:bodyPr>
          <a:lstStyle/>
          <a:p>
            <a:pPr>
              <a:defRPr sz="1000">
                <a:solidFill>
                  <a:srgbClr val="333333"/>
                </a:solidFill>
              </a:defRPr>
            </a:pPr>
            <a:r>
              <a:t>Est. Saving: INR 600000</a:t>
            </a:r>
            <a:br/>
            <a:r>
              <a:t>CAPEX: TBD</a:t>
            </a:r>
          </a:p>
        </p:txBody>
      </p:sp>
      <p:sp>
        <p:nvSpPr>
          <p:cNvPr id="12" name="Rectangle 11"/>
          <p:cNvSpPr/>
          <p:nvPr/>
        </p:nvSpPr>
        <p:spPr>
          <a:xfrm>
            <a:off x="274320" y="438509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458248"/>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686848"/>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48913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186.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18" name="TextBox 17"/>
          <p:cNvSpPr txBox="1"/>
          <p:nvPr/>
        </p:nvSpPr>
        <p:spPr>
          <a:xfrm>
            <a:off x="6217920" y="40050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9" name="Picture 18" descr="24.jpg"/>
          <p:cNvPicPr>
            <a:picLocks noChangeAspect="1"/>
          </p:cNvPicPr>
          <p:nvPr/>
        </p:nvPicPr>
        <p:blipFill>
          <a:blip r:embed="rId3"/>
          <a:stretch>
            <a:fillRect/>
          </a:stretch>
        </p:blipFill>
        <p:spPr>
          <a:xfrm>
            <a:off x="6217920" y="4279392"/>
            <a:ext cx="5699455" cy="2304288"/>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#9: Reduce the rotor thickness for the rear brake assemblies by 0.5mm, provided thermal analysis and wear simulation confirm no compromise in fade resistance or lifespan for the C-SUV application.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55076"/>
          </a:xfrm>
          <a:prstGeom prst="rect">
            <a:avLst/>
          </a:prstGeom>
          <a:noFill/>
        </p:spPr>
        <p:txBody>
          <a:bodyPr wrap="square">
            <a:spAutoFit/>
          </a:bodyPr>
          <a:lstStyle/>
          <a:p>
            <a:pPr>
              <a:defRPr sz="1000">
                <a:solidFill>
                  <a:srgbClr val="333333"/>
                </a:solidFill>
              </a:defRPr>
            </a:pPr>
            <a:r>
              <a:t>Technical optimization of Reduce the rotor thickness for the rear brake assemblies by 0.5mm, provided thermal analysis and wear simulation confirm no compromise in fade resistance or lifespan for the C-SUV application. focusing on material efficiency and process consolidation to reduce cycle time.</a:t>
            </a:r>
          </a:p>
        </p:txBody>
      </p:sp>
      <p:sp>
        <p:nvSpPr>
          <p:cNvPr id="6" name="Rectangle 5"/>
          <p:cNvSpPr/>
          <p:nvPr/>
        </p:nvSpPr>
        <p:spPr>
          <a:xfrm>
            <a:off x="274320" y="23924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6558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94188"/>
            <a:ext cx="5486400" cy="548091"/>
          </a:xfrm>
          <a:prstGeom prst="rect">
            <a:avLst/>
          </a:prstGeom>
          <a:noFill/>
        </p:spPr>
        <p:txBody>
          <a:bodyPr wrap="square">
            <a:spAutoFit/>
          </a:bodyPr>
          <a:lstStyle/>
          <a:p>
            <a:pPr>
              <a:defRPr sz="1000">
                <a:solidFill>
                  <a:srgbClr val="333333"/>
                </a:solidFill>
              </a:defRPr>
            </a:pPr>
            <a:r>
              <a:t>5mm, provided thermal analysis and wear simulation confirm no compromise in fade resistance or lifes</a:t>
            </a:r>
            <a:br/>
            <a:r>
              <a:t>N/A (Maintains current envelope)</a:t>
            </a:r>
          </a:p>
        </p:txBody>
      </p:sp>
      <p:sp>
        <p:nvSpPr>
          <p:cNvPr id="9" name="Rectangle 8"/>
          <p:cNvSpPr/>
          <p:nvPr/>
        </p:nvSpPr>
        <p:spPr>
          <a:xfrm>
            <a:off x="274320" y="32422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31543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544031"/>
            <a:ext cx="5486400" cy="385145"/>
          </a:xfrm>
          <a:prstGeom prst="rect">
            <a:avLst/>
          </a:prstGeom>
          <a:noFill/>
        </p:spPr>
        <p:txBody>
          <a:bodyPr wrap="square">
            <a:spAutoFit/>
          </a:bodyPr>
          <a:lstStyle/>
          <a:p>
            <a:pPr>
              <a:defRPr sz="1000">
                <a:solidFill>
                  <a:srgbClr val="333333"/>
                </a:solidFill>
              </a:defRPr>
            </a:pPr>
            <a:r>
              <a:t>Est. Saving: INR 550000</a:t>
            </a:r>
            <a:br/>
            <a:r>
              <a:t>CAPEX: TBD</a:t>
            </a:r>
          </a:p>
        </p:txBody>
      </p:sp>
      <p:sp>
        <p:nvSpPr>
          <p:cNvPr id="12" name="Rectangle 11"/>
          <p:cNvSpPr/>
          <p:nvPr/>
        </p:nvSpPr>
        <p:spPr>
          <a:xfrm>
            <a:off x="274320" y="392917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002328"/>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230928"/>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0332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10636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34963"/>
            <a:ext cx="5486400" cy="24871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04.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10.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#10: Optimize the cooling vane design of the front brake rotors by using CFD analysis to improve airflow and heat dissipation, potentially allowing for a slight reduction in rotor mass without sacrificing thermal performance.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701161"/>
          </a:xfrm>
          <a:prstGeom prst="rect">
            <a:avLst/>
          </a:prstGeom>
          <a:noFill/>
        </p:spPr>
        <p:txBody>
          <a:bodyPr wrap="square">
            <a:spAutoFit/>
          </a:bodyPr>
          <a:lstStyle/>
          <a:p>
            <a:pPr>
              <a:defRPr sz="1000">
                <a:solidFill>
                  <a:srgbClr val="333333"/>
                </a:solidFill>
              </a:defRPr>
            </a:pPr>
            <a:r>
              <a:t>Technical optimization of Optimize the cooling vane design of the front brake rotors by using CFD analysis to improve airflow and heat dissipation, potentially allowing for a slight reduction in rotor mass without sacrificing thermal performance. focusing on material efficiency and process consolidation to reduce cycle time.</a:t>
            </a:r>
          </a:p>
        </p:txBody>
      </p:sp>
      <p:sp>
        <p:nvSpPr>
          <p:cNvPr id="6" name="Rectangle 5"/>
          <p:cNvSpPr/>
          <p:nvPr/>
        </p:nvSpPr>
        <p:spPr>
          <a:xfrm>
            <a:off x="274320" y="28500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92315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151753"/>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6093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68247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911071"/>
            <a:ext cx="5486400" cy="385145"/>
          </a:xfrm>
          <a:prstGeom prst="rect">
            <a:avLst/>
          </a:prstGeom>
          <a:noFill/>
        </p:spPr>
        <p:txBody>
          <a:bodyPr wrap="square">
            <a:spAutoFit/>
          </a:bodyPr>
          <a:lstStyle/>
          <a:p>
            <a:pPr>
              <a:defRPr sz="1000">
                <a:solidFill>
                  <a:srgbClr val="333333"/>
                </a:solidFill>
              </a:defRPr>
            </a:pPr>
            <a:r>
              <a:t>Est. Saving: INR 450000</a:t>
            </a:r>
            <a:br/>
            <a:r>
              <a:t>CAPEX: TBD</a:t>
            </a:r>
          </a:p>
        </p:txBody>
      </p:sp>
      <p:sp>
        <p:nvSpPr>
          <p:cNvPr id="12" name="Rectangle 11"/>
          <p:cNvSpPr/>
          <p:nvPr/>
        </p:nvSpPr>
        <p:spPr>
          <a:xfrm>
            <a:off x="274320" y="429621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369368"/>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597968"/>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40025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76.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18" name="TextBox 17"/>
          <p:cNvSpPr txBox="1"/>
          <p:nvPr/>
        </p:nvSpPr>
        <p:spPr>
          <a:xfrm>
            <a:off x="6217920" y="40050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9" name="Picture 18" descr="103.jpg"/>
          <p:cNvPicPr>
            <a:picLocks noChangeAspect="1"/>
          </p:cNvPicPr>
          <p:nvPr/>
        </p:nvPicPr>
        <p:blipFill>
          <a:blip r:embed="rId3"/>
          <a:stretch>
            <a:fillRect/>
          </a:stretch>
        </p:blipFill>
        <p:spPr>
          <a:xfrm>
            <a:off x="6217920" y="4279392"/>
            <a:ext cx="5699455" cy="2304288"/>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#11: Implement a lighter-weight caliper bracket material, such as a high-strength aluminum alloy, for the rear brakes, ensuring it meets the necessary stiffness and thermal requirements through design optimization.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683056"/>
          </a:xfrm>
          <a:prstGeom prst="rect">
            <a:avLst/>
          </a:prstGeom>
          <a:noFill/>
        </p:spPr>
        <p:txBody>
          <a:bodyPr wrap="square">
            <a:spAutoFit/>
          </a:bodyPr>
          <a:lstStyle/>
          <a:p>
            <a:pPr>
              <a:defRPr sz="1000">
                <a:solidFill>
                  <a:srgbClr val="333333"/>
                </a:solidFill>
              </a:defRPr>
            </a:pPr>
            <a:r>
              <a:t>Technical optimization of Implement a lighter-weight caliper bracket material, such as a high-strength aluminum alloy, for the rear brakes, ensuring it meets the necessary stiffness and thermal requirements through design optimization. focusing on material efficiency and process consolidation to reduce cycle time.</a:t>
            </a:r>
          </a:p>
        </p:txBody>
      </p:sp>
      <p:sp>
        <p:nvSpPr>
          <p:cNvPr id="6" name="Rectangle 5"/>
          <p:cNvSpPr/>
          <p:nvPr/>
        </p:nvSpPr>
        <p:spPr>
          <a:xfrm>
            <a:off x="274320" y="283189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90504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133648"/>
            <a:ext cx="5486400" cy="548091"/>
          </a:xfrm>
          <a:prstGeom prst="rect">
            <a:avLst/>
          </a:prstGeom>
          <a:noFill/>
        </p:spPr>
        <p:txBody>
          <a:bodyPr wrap="square">
            <a:spAutoFit/>
          </a:bodyPr>
          <a:lstStyle/>
          <a:p>
            <a:pPr>
              <a:defRPr sz="1000">
                <a:solidFill>
                  <a:srgbClr val="333333"/>
                </a:solidFill>
              </a:defRPr>
            </a:pPr>
            <a:r>
              <a:t>Implement a lighter-weight caliper bracket material, such as a high-strength aluminum alloy, for the</a:t>
            </a:r>
            <a:br/>
            <a:r>
              <a:t>N/A (Maintains current envelope)</a:t>
            </a:r>
          </a:p>
        </p:txBody>
      </p:sp>
      <p:sp>
        <p:nvSpPr>
          <p:cNvPr id="9" name="Rectangle 8"/>
          <p:cNvSpPr/>
          <p:nvPr/>
        </p:nvSpPr>
        <p:spPr>
          <a:xfrm>
            <a:off x="274320" y="368174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75489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983492"/>
            <a:ext cx="5486400" cy="385145"/>
          </a:xfrm>
          <a:prstGeom prst="rect">
            <a:avLst/>
          </a:prstGeom>
          <a:noFill/>
        </p:spPr>
        <p:txBody>
          <a:bodyPr wrap="square">
            <a:spAutoFit/>
          </a:bodyPr>
          <a:lstStyle/>
          <a:p>
            <a:pPr>
              <a:defRPr sz="1000">
                <a:solidFill>
                  <a:srgbClr val="333333"/>
                </a:solidFill>
              </a:defRPr>
            </a:pPr>
            <a:r>
              <a:t>Est. Saving: INR 800000</a:t>
            </a:r>
            <a:br/>
            <a:r>
              <a:t>CAPEX: TBD</a:t>
            </a:r>
          </a:p>
        </p:txBody>
      </p:sp>
      <p:sp>
        <p:nvSpPr>
          <p:cNvPr id="12" name="Rectangle 11"/>
          <p:cNvSpPr/>
          <p:nvPr/>
        </p:nvSpPr>
        <p:spPr>
          <a:xfrm>
            <a:off x="274320" y="436863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44178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670389"/>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47267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119.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18" name="TextBox 17"/>
          <p:cNvSpPr txBox="1"/>
          <p:nvPr/>
        </p:nvSpPr>
        <p:spPr>
          <a:xfrm>
            <a:off x="6217920" y="40050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9" name="Picture 18" descr="2.jpg"/>
          <p:cNvPicPr>
            <a:picLocks noChangeAspect="1"/>
          </p:cNvPicPr>
          <p:nvPr/>
        </p:nvPicPr>
        <p:blipFill>
          <a:blip r:embed="rId3"/>
          <a:stretch>
            <a:fillRect/>
          </a:stretch>
        </p:blipFill>
        <p:spPr>
          <a:xfrm>
            <a:off x="6217920" y="4279392"/>
            <a:ext cx="5699455" cy="2304288"/>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#12: Optimize the brake rotor slotting pattern (if applicable) or drilling for improved heat dissipation and reduced brake judder, potentially allowing for minor weight reduction without compromising structural integrity.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694578"/>
          </a:xfrm>
          <a:prstGeom prst="rect">
            <a:avLst/>
          </a:prstGeom>
          <a:noFill/>
        </p:spPr>
        <p:txBody>
          <a:bodyPr wrap="square">
            <a:spAutoFit/>
          </a:bodyPr>
          <a:lstStyle/>
          <a:p>
            <a:pPr>
              <a:defRPr sz="1000">
                <a:solidFill>
                  <a:srgbClr val="333333"/>
                </a:solidFill>
              </a:defRPr>
            </a:pPr>
            <a:r>
              <a:t>Technical optimization of Optimize the brake rotor slotting pattern (if applicable) or drilling for improved heat dissipation and reduced brake judder, potentially allowing for minor weight reduction without compromising structural integrity. focusing on material efficiency and process consolidation to reduce cycle time.</a:t>
            </a:r>
          </a:p>
        </p:txBody>
      </p:sp>
      <p:sp>
        <p:nvSpPr>
          <p:cNvPr id="6" name="Rectangle 5"/>
          <p:cNvSpPr/>
          <p:nvPr/>
        </p:nvSpPr>
        <p:spPr>
          <a:xfrm>
            <a:off x="274320" y="284341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91657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145170"/>
            <a:ext cx="5486400" cy="548091"/>
          </a:xfrm>
          <a:prstGeom prst="rect">
            <a:avLst/>
          </a:prstGeom>
          <a:noFill/>
        </p:spPr>
        <p:txBody>
          <a:bodyPr wrap="square">
            <a:spAutoFit/>
          </a:bodyPr>
          <a:lstStyle/>
          <a:p>
            <a:pPr>
              <a:defRPr sz="1000">
                <a:solidFill>
                  <a:srgbClr val="333333"/>
                </a:solidFill>
              </a:defRPr>
            </a:pPr>
            <a:r>
              <a:t>Optimize the brake rotor slotting pattern (if applicable) or drilling for improved heat dissipation </a:t>
            </a:r>
            <a:br/>
            <a:r>
              <a:t>N/A (Maintains current envelope)</a:t>
            </a:r>
          </a:p>
        </p:txBody>
      </p:sp>
      <p:sp>
        <p:nvSpPr>
          <p:cNvPr id="9" name="Rectangle 8"/>
          <p:cNvSpPr/>
          <p:nvPr/>
        </p:nvSpPr>
        <p:spPr>
          <a:xfrm>
            <a:off x="274320" y="369326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76641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995013"/>
            <a:ext cx="5486400" cy="385145"/>
          </a:xfrm>
          <a:prstGeom prst="rect">
            <a:avLst/>
          </a:prstGeom>
          <a:noFill/>
        </p:spPr>
        <p:txBody>
          <a:bodyPr wrap="square">
            <a:spAutoFit/>
          </a:bodyPr>
          <a:lstStyle/>
          <a:p>
            <a:pPr>
              <a:defRPr sz="1000">
                <a:solidFill>
                  <a:srgbClr val="333333"/>
                </a:solidFill>
              </a:defRPr>
            </a:pPr>
            <a:r>
              <a:t>Est. Saving: INR 400000</a:t>
            </a:r>
            <a:br/>
            <a:r>
              <a:t>CAPEX: TBD</a:t>
            </a:r>
          </a:p>
        </p:txBody>
      </p:sp>
      <p:sp>
        <p:nvSpPr>
          <p:cNvPr id="12" name="Rectangle 11"/>
          <p:cNvSpPr/>
          <p:nvPr/>
        </p:nvSpPr>
        <p:spPr>
          <a:xfrm>
            <a:off x="274320" y="438015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45331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681910"/>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48419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162.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18" name="TextBox 17"/>
          <p:cNvSpPr txBox="1"/>
          <p:nvPr/>
        </p:nvSpPr>
        <p:spPr>
          <a:xfrm>
            <a:off x="6217920" y="4005072"/>
            <a:ext cx="5699455" cy="256032"/>
          </a:xfrm>
          <a:prstGeom prst="rect">
            <a:avLst/>
          </a:prstGeom>
          <a:noFill/>
        </p:spPr>
        <p:txBody>
          <a:bodyPr wrap="square">
            <a:spAutoFit/>
          </a:bodyPr>
          <a:lstStyle/>
          <a:p>
            <a:pPr algn="ctr">
              <a:defRPr b="1" sz="1100">
                <a:solidFill>
                  <a:srgbClr val="003366"/>
                </a:solidFill>
              </a:defRPr>
            </a:pPr>
            <a:r>
              <a:t>Proposal / Competitor</a:t>
            </a:r>
          </a:p>
        </p:txBody>
      </p:sp>
      <p:sp>
        <p:nvSpPr>
          <p:cNvPr id="19" name="Rectangle 18"/>
          <p:cNvSpPr/>
          <p:nvPr/>
        </p:nvSpPr>
        <p:spPr>
          <a:xfrm>
            <a:off x="6217920" y="4279392"/>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#13: Replace the current cast iron brake rotor material for the rear axle with a higher-carbon cast iron alloy, while maintaining the existing dimensions.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84301"/>
          </a:xfrm>
          <a:prstGeom prst="rect">
            <a:avLst/>
          </a:prstGeom>
          <a:noFill/>
        </p:spPr>
        <p:txBody>
          <a:bodyPr wrap="square">
            <a:spAutoFit/>
          </a:bodyPr>
          <a:lstStyle/>
          <a:p>
            <a:pPr>
              <a:defRPr sz="1000">
                <a:solidFill>
                  <a:srgbClr val="333333"/>
                </a:solidFill>
              </a:defRPr>
            </a:pPr>
            <a:r>
              <a:t>Technical optimization of Replace the current cast iron brake rotor material for the rear axle with a higher-carbon cast iron alloy, while maintaining the existing dimensions. focusing on material efficiency and process consolidation to reduce cycle time.</a:t>
            </a:r>
          </a:p>
        </p:txBody>
      </p:sp>
      <p:sp>
        <p:nvSpPr>
          <p:cNvPr id="6" name="Rectangle 5"/>
          <p:cNvSpPr/>
          <p:nvPr/>
        </p:nvSpPr>
        <p:spPr>
          <a:xfrm>
            <a:off x="274320" y="232166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9481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23413"/>
            <a:ext cx="5486400" cy="548091"/>
          </a:xfrm>
          <a:prstGeom prst="rect">
            <a:avLst/>
          </a:prstGeom>
          <a:noFill/>
        </p:spPr>
        <p:txBody>
          <a:bodyPr wrap="square">
            <a:spAutoFit/>
          </a:bodyPr>
          <a:lstStyle/>
          <a:p>
            <a:pPr>
              <a:defRPr sz="1000">
                <a:solidFill>
                  <a:srgbClr val="333333"/>
                </a:solidFill>
              </a:defRPr>
            </a:pPr>
            <a:r>
              <a:t>Replace the current cast iron brake rotor material for the rear axle with a higher-carbon cast iron </a:t>
            </a:r>
            <a:br/>
            <a:r>
              <a:t>N/A (Maintains current envelope)</a:t>
            </a:r>
          </a:p>
        </p:txBody>
      </p:sp>
      <p:sp>
        <p:nvSpPr>
          <p:cNvPr id="9" name="Rectangle 8"/>
          <p:cNvSpPr/>
          <p:nvPr/>
        </p:nvSpPr>
        <p:spPr>
          <a:xfrm>
            <a:off x="274320" y="317150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44656"/>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73256"/>
            <a:ext cx="5486400" cy="385145"/>
          </a:xfrm>
          <a:prstGeom prst="rect">
            <a:avLst/>
          </a:prstGeom>
          <a:noFill/>
        </p:spPr>
        <p:txBody>
          <a:bodyPr wrap="square">
            <a:spAutoFit/>
          </a:bodyPr>
          <a:lstStyle/>
          <a:p>
            <a:pPr>
              <a:defRPr sz="1000">
                <a:solidFill>
                  <a:srgbClr val="333333"/>
                </a:solidFill>
              </a:defRPr>
            </a:pPr>
            <a:r>
              <a:t>Est. Saving: INR 500000</a:t>
            </a:r>
            <a:br/>
            <a:r>
              <a:t>CAPEX: TBD</a:t>
            </a:r>
          </a:p>
        </p:txBody>
      </p:sp>
      <p:sp>
        <p:nvSpPr>
          <p:cNvPr id="12" name="Rectangle 11"/>
          <p:cNvSpPr/>
          <p:nvPr/>
        </p:nvSpPr>
        <p:spPr>
          <a:xfrm>
            <a:off x="274320" y="385840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3155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60154"/>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624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35588"/>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64188"/>
            <a:ext cx="5486400" cy="319491"/>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46.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2.jpg"/>
          <p:cNvPicPr>
            <a:picLocks noChangeAspect="1"/>
          </p:cNvPicPr>
          <p:nvPr/>
        </p:nvPicPr>
        <p:blipFill>
          <a:blip r:embed="rId3"/>
          <a:stretch>
            <a:fillRect/>
          </a:stretch>
        </p:blipFill>
        <p:spPr>
          <a:xfrm>
            <a:off x="6217920" y="4073652"/>
            <a:ext cx="5699455" cy="2510028"/>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703320"/>
          </a:xfrm>
          <a:prstGeom prst="rect">
            <a:avLst/>
          </a:prstGeom>
          <a:noFill/>
        </p:spPr>
        <p:txBody>
          <a:bodyPr wrap="square">
            <a:spAutoFit/>
          </a:bodyPr>
          <a:lstStyle/>
          <a:p>
            <a:pPr>
              <a:defRPr sz="1800" b="1">
                <a:solidFill>
                  <a:srgbClr val="003366"/>
                </a:solidFill>
              </a:defRPr>
            </a:pPr>
            <a:r>
              <a:t>#14: Implement Value Engineering (VE) principles for the MG Hector brake assembly, focusing on reducing material usage and simplifying manufacturing processes without compromising performance or safety. This involves a systematic review of current components (rotor, caliper, dust shield) to identify non-value-adding features or over-specified materials. For instance, explore alternative caliper materials with similar thermal properties but lower cost and weight, or redesign the dust shield for a more efficient, lower-gauge material that still meets dust protection requirements.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977639"/>
            <a:ext cx="5486400" cy="175988"/>
          </a:xfrm>
          <a:prstGeom prst="rect">
            <a:avLst/>
          </a:prstGeom>
          <a:noFill/>
        </p:spPr>
        <p:txBody>
          <a:bodyPr wrap="none">
            <a:spAutoFit/>
          </a:bodyPr>
          <a:lstStyle/>
          <a:p>
            <a:pPr>
              <a:defRPr b="1" sz="846">
                <a:solidFill>
                  <a:srgbClr val="FF6400"/>
                </a:solidFill>
              </a:defRPr>
            </a:pPr>
            <a:r>
              <a:t>TECHNICAL ENGINEERING VIEW</a:t>
            </a:r>
          </a:p>
        </p:txBody>
      </p:sp>
      <p:sp>
        <p:nvSpPr>
          <p:cNvPr id="5" name="TextBox 4"/>
          <p:cNvSpPr txBox="1"/>
          <p:nvPr/>
        </p:nvSpPr>
        <p:spPr>
          <a:xfrm>
            <a:off x="274320" y="4153628"/>
            <a:ext cx="5486400" cy="994687"/>
          </a:xfrm>
          <a:prstGeom prst="rect">
            <a:avLst/>
          </a:prstGeom>
          <a:noFill/>
        </p:spPr>
        <p:txBody>
          <a:bodyPr wrap="square">
            <a:spAutoFit/>
          </a:bodyPr>
          <a:lstStyle/>
          <a:p>
            <a:pPr>
              <a:defRPr sz="769">
                <a:solidFill>
                  <a:srgbClr val="333333"/>
                </a:solidFill>
              </a:defRPr>
            </a:pPr>
            <a:r>
              <a:t>Technical optimization of Implement Value Engineering (VE) principles for the MG Hector brake assembly, focusing on reducing material usage and simplifying manufacturing processes without compromising performance or safety. This involves a systematic review of current components (rotor, caliper, dust shield) to identify non-value-adding features or over-specified materials. For instance, explore alternative caliper materials with similar thermal properties but lower cost and weight, or redesign the dust shield for a more efficient, lower-gauge material that still meets dust protection requirements. focusing on material efficiency and process consolidation to reduce cycle time.</a:t>
            </a:r>
          </a:p>
        </p:txBody>
      </p:sp>
      <p:sp>
        <p:nvSpPr>
          <p:cNvPr id="6" name="Rectangle 5"/>
          <p:cNvSpPr/>
          <p:nvPr/>
        </p:nvSpPr>
        <p:spPr>
          <a:xfrm>
            <a:off x="274320" y="514831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221468"/>
            <a:ext cx="5486400" cy="175988"/>
          </a:xfrm>
          <a:prstGeom prst="rect">
            <a:avLst/>
          </a:prstGeom>
          <a:noFill/>
        </p:spPr>
        <p:txBody>
          <a:bodyPr wrap="none">
            <a:spAutoFit/>
          </a:bodyPr>
          <a:lstStyle/>
          <a:p>
            <a:pPr>
              <a:defRPr b="1" sz="846">
                <a:solidFill>
                  <a:srgbClr val="FF6400"/>
                </a:solidFill>
              </a:defRPr>
            </a:pPr>
            <a:r>
              <a:t>MATERIAL &amp; DIMENSION SWAP</a:t>
            </a:r>
          </a:p>
        </p:txBody>
      </p:sp>
      <p:sp>
        <p:nvSpPr>
          <p:cNvPr id="8" name="TextBox 7"/>
          <p:cNvSpPr txBox="1"/>
          <p:nvPr/>
        </p:nvSpPr>
        <p:spPr>
          <a:xfrm>
            <a:off x="274320" y="5397457"/>
            <a:ext cx="5486400" cy="421950"/>
          </a:xfrm>
          <a:prstGeom prst="rect">
            <a:avLst/>
          </a:prstGeom>
          <a:noFill/>
        </p:spPr>
        <p:txBody>
          <a:bodyPr wrap="square">
            <a:spAutoFit/>
          </a:bodyPr>
          <a:lstStyle/>
          <a:p>
            <a:pPr>
              <a:defRPr sz="769">
                <a:solidFill>
                  <a:srgbClr val="333333"/>
                </a:solidFill>
              </a:defRPr>
            </a:pPr>
            <a:r>
              <a:t>Implement Value Engineering (VE) principles for the MG Hector brake assembly, focusing on reducing m</a:t>
            </a:r>
            <a:br/>
            <a:r>
              <a:t>N/A (Maintains current envelope)</a:t>
            </a:r>
          </a:p>
        </p:txBody>
      </p:sp>
      <p:sp>
        <p:nvSpPr>
          <p:cNvPr id="9" name="Rectangle 8"/>
          <p:cNvSpPr/>
          <p:nvPr/>
        </p:nvSpPr>
        <p:spPr>
          <a:xfrm>
            <a:off x="274320" y="581940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892559"/>
            <a:ext cx="5486400" cy="175988"/>
          </a:xfrm>
          <a:prstGeom prst="rect">
            <a:avLst/>
          </a:prstGeom>
          <a:noFill/>
        </p:spPr>
        <p:txBody>
          <a:bodyPr wrap="none">
            <a:spAutoFit/>
          </a:bodyPr>
          <a:lstStyle/>
          <a:p>
            <a:pPr>
              <a:defRPr b="1" sz="846">
                <a:solidFill>
                  <a:srgbClr val="FF6400"/>
                </a:solidFill>
              </a:defRPr>
            </a:pPr>
            <a:r>
              <a:t>FINANCIAL IMPACT</a:t>
            </a:r>
          </a:p>
        </p:txBody>
      </p:sp>
      <p:sp>
        <p:nvSpPr>
          <p:cNvPr id="11" name="TextBox 10"/>
          <p:cNvSpPr txBox="1"/>
          <p:nvPr/>
        </p:nvSpPr>
        <p:spPr>
          <a:xfrm>
            <a:off x="274320" y="6068548"/>
            <a:ext cx="5486400" cy="292704"/>
          </a:xfrm>
          <a:prstGeom prst="rect">
            <a:avLst/>
          </a:prstGeom>
          <a:noFill/>
        </p:spPr>
        <p:txBody>
          <a:bodyPr wrap="square">
            <a:spAutoFit/>
          </a:bodyPr>
          <a:lstStyle/>
          <a:p>
            <a:pPr>
              <a:defRPr sz="769">
                <a:solidFill>
                  <a:srgbClr val="333333"/>
                </a:solidFill>
              </a:defRPr>
            </a:pPr>
            <a:r>
              <a:t>Est. Saving: INR TBD</a:t>
            </a:r>
            <a:br/>
            <a:r>
              <a:t>CAPEX: TBD</a:t>
            </a:r>
          </a:p>
        </p:txBody>
      </p:sp>
      <p:sp>
        <p:nvSpPr>
          <p:cNvPr id="12" name="Rectangle 11"/>
          <p:cNvSpPr/>
          <p:nvPr/>
        </p:nvSpPr>
        <p:spPr>
          <a:xfrm>
            <a:off x="274320" y="636125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6118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118.jpg"/>
          <p:cNvPicPr>
            <a:picLocks noChangeAspect="1"/>
          </p:cNvPicPr>
          <p:nvPr/>
        </p:nvPicPr>
        <p:blipFill>
          <a:blip r:embed="rId2"/>
          <a:stretch>
            <a:fillRect/>
          </a:stretch>
        </p:blipFill>
        <p:spPr>
          <a:xfrm>
            <a:off x="6217920" y="3886200"/>
            <a:ext cx="5699455" cy="1275588"/>
          </a:xfrm>
          <a:prstGeom prst="rect">
            <a:avLst/>
          </a:prstGeom>
          <a:ln w="12700">
            <a:solidFill>
              <a:srgbClr val="C8C8C8"/>
            </a:solidFill>
          </a:ln>
        </p:spPr>
      </p:pic>
      <p:sp>
        <p:nvSpPr>
          <p:cNvPr id="15" name="TextBox 14"/>
          <p:cNvSpPr txBox="1"/>
          <p:nvPr/>
        </p:nvSpPr>
        <p:spPr>
          <a:xfrm>
            <a:off x="6217920" y="50337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33.jpg"/>
          <p:cNvPicPr>
            <a:picLocks noChangeAspect="1"/>
          </p:cNvPicPr>
          <p:nvPr/>
        </p:nvPicPr>
        <p:blipFill>
          <a:blip r:embed="rId3"/>
          <a:stretch>
            <a:fillRect/>
          </a:stretch>
        </p:blipFill>
        <p:spPr>
          <a:xfrm>
            <a:off x="6217920" y="5308092"/>
            <a:ext cx="5699455" cy="1275588"/>
          </a:xfrm>
          <a:prstGeom prst="rect">
            <a:avLst/>
          </a:prstGeom>
          <a:ln w="12700">
            <a:solidFill>
              <a:srgbClr val="C8C8C8"/>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4114800"/>
          </a:xfrm>
          <a:prstGeom prst="rect">
            <a:avLst/>
          </a:prstGeom>
          <a:noFill/>
        </p:spPr>
        <p:txBody>
          <a:bodyPr wrap="square">
            <a:spAutoFit/>
          </a:bodyPr>
          <a:lstStyle/>
          <a:p>
            <a:pPr>
              <a:defRPr sz="1800" b="1">
                <a:solidFill>
                  <a:srgbClr val="003366"/>
                </a:solidFill>
              </a:defRPr>
            </a:pPr>
            <a:r>
              <a:t>#15: Optimize the manufacturing process for the MG Hector brake caliper using advanced data analytics and Design for Manufacturing (DFM) principles. This involves analyzing production data to identify bottlenecks and areas for efficiency gains, as suggested by [1] and [2]. Simultaneously, apply DFM strategies [3] to the caliper design, such as optimizing geometry for reduced machining time, simplifying casting processes, and selecting materials that are easier to manufacture cost-effectively. This could involve exploring additive manufacturing for certain complex internal caliper passages if tooling CAPEX allows for pilot runs, or focusing on optimizing existing casting and machining.</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4389120"/>
            <a:ext cx="5486400" cy="140741"/>
          </a:xfrm>
          <a:prstGeom prst="rect">
            <a:avLst/>
          </a:prstGeom>
          <a:noFill/>
        </p:spPr>
        <p:txBody>
          <a:bodyPr wrap="none">
            <a:spAutoFit/>
          </a:bodyPr>
          <a:lstStyle/>
          <a:p>
            <a:pPr>
              <a:defRPr b="1" sz="677">
                <a:solidFill>
                  <a:srgbClr val="FF6400"/>
                </a:solidFill>
              </a:defRPr>
            </a:pPr>
            <a:r>
              <a:t>TECHNICAL ENGINEERING VIEW</a:t>
            </a:r>
          </a:p>
        </p:txBody>
      </p:sp>
      <p:sp>
        <p:nvSpPr>
          <p:cNvPr id="5" name="TextBox 4"/>
          <p:cNvSpPr txBox="1"/>
          <p:nvPr/>
        </p:nvSpPr>
        <p:spPr>
          <a:xfrm>
            <a:off x="274320" y="4529861"/>
            <a:ext cx="5486400" cy="905927"/>
          </a:xfrm>
          <a:prstGeom prst="rect">
            <a:avLst/>
          </a:prstGeom>
          <a:noFill/>
        </p:spPr>
        <p:txBody>
          <a:bodyPr wrap="square">
            <a:spAutoFit/>
          </a:bodyPr>
          <a:lstStyle/>
          <a:p>
            <a:pPr>
              <a:defRPr sz="615">
                <a:solidFill>
                  <a:srgbClr val="333333"/>
                </a:solidFill>
              </a:defRPr>
            </a:pPr>
            <a:r>
              <a:t>Technical optimization of Optimize the manufacturing process for the MG Hector brake caliper using advanced data analytics and Design for Manufacturing (DFM) principles. This involves analyzing production data to identify bottlenecks and areas for efficiency gains, as suggested by [1] and [2]. Simultaneously, apply DFM strategies [3] to the caliper design, such as optimizing geometry for reduced machining time, simplifying casting processes, and selecting materials that are easier to manufacture cost-effectively. This could involve exploring additive manufacturing for certain complex internal caliper passages if tooling CAPEX allows for pilot runs, or focusing on optimizing existing casting and machining. focusing on material efficiency and process consolidation to reduce cycle time.</a:t>
            </a:r>
          </a:p>
        </p:txBody>
      </p:sp>
      <p:sp>
        <p:nvSpPr>
          <p:cNvPr id="6" name="Rectangle 5"/>
          <p:cNvSpPr/>
          <p:nvPr/>
        </p:nvSpPr>
        <p:spPr>
          <a:xfrm>
            <a:off x="274320" y="543578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508941"/>
            <a:ext cx="5486400" cy="140741"/>
          </a:xfrm>
          <a:prstGeom prst="rect">
            <a:avLst/>
          </a:prstGeom>
          <a:noFill/>
        </p:spPr>
        <p:txBody>
          <a:bodyPr wrap="none">
            <a:spAutoFit/>
          </a:bodyPr>
          <a:lstStyle/>
          <a:p>
            <a:pPr>
              <a:defRPr b="1" sz="677">
                <a:solidFill>
                  <a:srgbClr val="FF6400"/>
                </a:solidFill>
              </a:defRPr>
            </a:pPr>
            <a:r>
              <a:t>MATERIAL &amp; DIMENSION SWAP</a:t>
            </a:r>
          </a:p>
        </p:txBody>
      </p:sp>
      <p:sp>
        <p:nvSpPr>
          <p:cNvPr id="8" name="TextBox 7"/>
          <p:cNvSpPr txBox="1"/>
          <p:nvPr/>
        </p:nvSpPr>
        <p:spPr>
          <a:xfrm>
            <a:off x="274320" y="5649683"/>
            <a:ext cx="5486400" cy="337442"/>
          </a:xfrm>
          <a:prstGeom prst="rect">
            <a:avLst/>
          </a:prstGeom>
          <a:noFill/>
        </p:spPr>
        <p:txBody>
          <a:bodyPr wrap="square">
            <a:spAutoFit/>
          </a:bodyPr>
          <a:lstStyle/>
          <a:p>
            <a:pPr>
              <a:defRPr sz="615">
                <a:solidFill>
                  <a:srgbClr val="333333"/>
                </a:solidFill>
              </a:defRPr>
            </a:pPr>
            <a:r>
              <a:t>Simultaneously, apply DFM strategies [3] to the caliper design, such as optimizing geometry for redu</a:t>
            </a:r>
            <a:br/>
            <a:r>
              <a:t>N/A (Maintains current envelope)</a:t>
            </a:r>
          </a:p>
        </p:txBody>
      </p:sp>
      <p:sp>
        <p:nvSpPr>
          <p:cNvPr id="9" name="Rectangle 8"/>
          <p:cNvSpPr/>
          <p:nvPr/>
        </p:nvSpPr>
        <p:spPr>
          <a:xfrm>
            <a:off x="274320" y="598712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060277"/>
            <a:ext cx="5486400" cy="140741"/>
          </a:xfrm>
          <a:prstGeom prst="rect">
            <a:avLst/>
          </a:prstGeom>
          <a:noFill/>
        </p:spPr>
        <p:txBody>
          <a:bodyPr wrap="none">
            <a:spAutoFit/>
          </a:bodyPr>
          <a:lstStyle/>
          <a:p>
            <a:pPr>
              <a:defRPr b="1" sz="677">
                <a:solidFill>
                  <a:srgbClr val="FF6400"/>
                </a:solidFill>
              </a:defRPr>
            </a:pPr>
            <a:r>
              <a:t>FINANCIAL IMPACT</a:t>
            </a:r>
          </a:p>
        </p:txBody>
      </p:sp>
      <p:sp>
        <p:nvSpPr>
          <p:cNvPr id="11" name="TextBox 10"/>
          <p:cNvSpPr txBox="1"/>
          <p:nvPr/>
        </p:nvSpPr>
        <p:spPr>
          <a:xfrm>
            <a:off x="274320" y="6201019"/>
            <a:ext cx="5486400" cy="234081"/>
          </a:xfrm>
          <a:prstGeom prst="rect">
            <a:avLst/>
          </a:prstGeom>
          <a:noFill/>
        </p:spPr>
        <p:txBody>
          <a:bodyPr wrap="square">
            <a:spAutoFit/>
          </a:bodyPr>
          <a:lstStyle/>
          <a:p>
            <a:pPr>
              <a:defRPr sz="615">
                <a:solidFill>
                  <a:srgbClr val="333333"/>
                </a:solidFill>
              </a:defRPr>
            </a:pPr>
            <a:r>
              <a:t>Est. Saving: INR TBD</a:t>
            </a:r>
            <a:br/>
            <a:r>
              <a:t>CAPEX: TBD</a:t>
            </a:r>
          </a:p>
        </p:txBody>
      </p:sp>
      <p:sp>
        <p:nvSpPr>
          <p:cNvPr id="12" name="Rectangle 11"/>
          <p:cNvSpPr/>
          <p:nvPr/>
        </p:nvSpPr>
        <p:spPr>
          <a:xfrm>
            <a:off x="274320" y="64351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40233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193.jpg"/>
          <p:cNvPicPr>
            <a:picLocks noChangeAspect="1"/>
          </p:cNvPicPr>
          <p:nvPr/>
        </p:nvPicPr>
        <p:blipFill>
          <a:blip r:embed="rId2"/>
          <a:stretch>
            <a:fillRect/>
          </a:stretch>
        </p:blipFill>
        <p:spPr>
          <a:xfrm>
            <a:off x="6217920" y="4297680"/>
            <a:ext cx="5699455" cy="1069848"/>
          </a:xfrm>
          <a:prstGeom prst="rect">
            <a:avLst/>
          </a:prstGeom>
          <a:ln w="12700">
            <a:solidFill>
              <a:srgbClr val="C8C8C8"/>
            </a:solidFill>
          </a:ln>
        </p:spPr>
      </p:pic>
      <p:sp>
        <p:nvSpPr>
          <p:cNvPr id="15" name="TextBox 14"/>
          <p:cNvSpPr txBox="1"/>
          <p:nvPr/>
        </p:nvSpPr>
        <p:spPr>
          <a:xfrm>
            <a:off x="6217920" y="52395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2.jpg"/>
          <p:cNvPicPr>
            <a:picLocks noChangeAspect="1"/>
          </p:cNvPicPr>
          <p:nvPr/>
        </p:nvPicPr>
        <p:blipFill>
          <a:blip r:embed="rId3"/>
          <a:stretch>
            <a:fillRect/>
          </a:stretch>
        </p:blipFill>
        <p:spPr>
          <a:xfrm>
            <a:off x="6217920" y="5513832"/>
            <a:ext cx="5699455" cy="1069848"/>
          </a:xfrm>
          <a:prstGeom prst="rect">
            <a:avLst/>
          </a:prstGeom>
          <a:ln w="12700">
            <a:solidFill>
              <a:srgbClr val="C8C8C8"/>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703320"/>
          </a:xfrm>
          <a:prstGeom prst="rect">
            <a:avLst/>
          </a:prstGeom>
          <a:noFill/>
        </p:spPr>
        <p:txBody>
          <a:bodyPr wrap="square">
            <a:spAutoFit/>
          </a:bodyPr>
          <a:lstStyle/>
          <a:p>
            <a:pPr>
              <a:defRPr sz="1800" b="1">
                <a:solidFill>
                  <a:srgbClr val="003366"/>
                </a:solidFill>
              </a:defRPr>
            </a:pPr>
            <a:r>
              <a:t>#16: Investigate the use of advanced friction materials for the MG Hector brake pads that offer improved fade resistance and longevity at a competitive cost. While research papers often focus on novel materials, this proposal focuses on adapting existing, proven advanced materials that can be integrated with minimal process changes. The goal is to enhance thermal mass and friction coefficient stability, especially crucial for a 1.7T vehicle with high kinetic energy demands, while also considering dust reduction for improved aesthetics and reduced shield wear.</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977639"/>
            <a:ext cx="5486400" cy="177629"/>
          </a:xfrm>
          <a:prstGeom prst="rect">
            <a:avLst/>
          </a:prstGeom>
          <a:noFill/>
        </p:spPr>
        <p:txBody>
          <a:bodyPr wrap="none">
            <a:spAutoFit/>
          </a:bodyPr>
          <a:lstStyle/>
          <a:p>
            <a:pPr>
              <a:defRPr b="1" sz="854">
                <a:solidFill>
                  <a:srgbClr val="FF6400"/>
                </a:solidFill>
              </a:defRPr>
            </a:pPr>
            <a:r>
              <a:t>TECHNICAL ENGINEERING VIEW</a:t>
            </a:r>
          </a:p>
        </p:txBody>
      </p:sp>
      <p:sp>
        <p:nvSpPr>
          <p:cNvPr id="5" name="TextBox 4"/>
          <p:cNvSpPr txBox="1"/>
          <p:nvPr/>
        </p:nvSpPr>
        <p:spPr>
          <a:xfrm>
            <a:off x="274320" y="4155269"/>
            <a:ext cx="5486400" cy="979663"/>
          </a:xfrm>
          <a:prstGeom prst="rect">
            <a:avLst/>
          </a:prstGeom>
          <a:noFill/>
        </p:spPr>
        <p:txBody>
          <a:bodyPr wrap="square">
            <a:spAutoFit/>
          </a:bodyPr>
          <a:lstStyle/>
          <a:p>
            <a:pPr>
              <a:defRPr sz="777">
                <a:solidFill>
                  <a:srgbClr val="333333"/>
                </a:solidFill>
              </a:defRPr>
            </a:pPr>
            <a:r>
              <a:t>Technical optimization of Investigate the use of advanced friction materials for the MG Hector brake pads that offer improved fade resistance and longevity at a competitive cost. While research papers often focus on novel materials, this proposal focuses on adapting existing, proven advanced materials that can be integrated with minimal process changes. The goal is to enhance thermal mass and friction coefficient stability, especially crucial for a 1.7T vehicle with high kinetic energy demands, while also considering dust reduction for improved aesthetics and reduced shield wear. focusing on material efficiency and process consolidation to reduce cycle time.</a:t>
            </a:r>
          </a:p>
        </p:txBody>
      </p:sp>
      <p:sp>
        <p:nvSpPr>
          <p:cNvPr id="6" name="Rectangle 5"/>
          <p:cNvSpPr/>
          <p:nvPr/>
        </p:nvSpPr>
        <p:spPr>
          <a:xfrm>
            <a:off x="274320" y="513493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208084"/>
            <a:ext cx="5486400" cy="177629"/>
          </a:xfrm>
          <a:prstGeom prst="rect">
            <a:avLst/>
          </a:prstGeom>
          <a:noFill/>
        </p:spPr>
        <p:txBody>
          <a:bodyPr wrap="none">
            <a:spAutoFit/>
          </a:bodyPr>
          <a:lstStyle/>
          <a:p>
            <a:pPr>
              <a:defRPr b="1" sz="854">
                <a:solidFill>
                  <a:srgbClr val="FF6400"/>
                </a:solidFill>
              </a:defRPr>
            </a:pPr>
            <a:r>
              <a:t>MATERIAL &amp; DIMENSION SWAP</a:t>
            </a:r>
          </a:p>
        </p:txBody>
      </p:sp>
      <p:sp>
        <p:nvSpPr>
          <p:cNvPr id="8" name="TextBox 7"/>
          <p:cNvSpPr txBox="1"/>
          <p:nvPr/>
        </p:nvSpPr>
        <p:spPr>
          <a:xfrm>
            <a:off x="274320" y="5385714"/>
            <a:ext cx="5486400" cy="425884"/>
          </a:xfrm>
          <a:prstGeom prst="rect">
            <a:avLst/>
          </a:prstGeom>
          <a:noFill/>
        </p:spPr>
        <p:txBody>
          <a:bodyPr wrap="square">
            <a:spAutoFit/>
          </a:bodyPr>
          <a:lstStyle/>
          <a:p>
            <a:pPr>
              <a:defRPr sz="777">
                <a:solidFill>
                  <a:srgbClr val="333333"/>
                </a:solidFill>
              </a:defRPr>
            </a:pPr>
            <a:r>
              <a:t>Investigate the use of advanced friction materials for the MG Hector brake pads that offer improved </a:t>
            </a:r>
            <a:br/>
            <a:r>
              <a:t>N/A (Maintains current envelope)</a:t>
            </a:r>
          </a:p>
        </p:txBody>
      </p:sp>
      <p:sp>
        <p:nvSpPr>
          <p:cNvPr id="9" name="Rectangle 8"/>
          <p:cNvSpPr/>
          <p:nvPr/>
        </p:nvSpPr>
        <p:spPr>
          <a:xfrm>
            <a:off x="274320" y="58115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884751"/>
            <a:ext cx="5486400" cy="177629"/>
          </a:xfrm>
          <a:prstGeom prst="rect">
            <a:avLst/>
          </a:prstGeom>
          <a:noFill/>
        </p:spPr>
        <p:txBody>
          <a:bodyPr wrap="none">
            <a:spAutoFit/>
          </a:bodyPr>
          <a:lstStyle/>
          <a:p>
            <a:pPr>
              <a:defRPr b="1" sz="854">
                <a:solidFill>
                  <a:srgbClr val="FF6400"/>
                </a:solidFill>
              </a:defRPr>
            </a:pPr>
            <a:r>
              <a:t>FINANCIAL IMPACT</a:t>
            </a:r>
          </a:p>
        </p:txBody>
      </p:sp>
      <p:sp>
        <p:nvSpPr>
          <p:cNvPr id="11" name="TextBox 10"/>
          <p:cNvSpPr txBox="1"/>
          <p:nvPr/>
        </p:nvSpPr>
        <p:spPr>
          <a:xfrm>
            <a:off x="274320" y="6062380"/>
            <a:ext cx="5486400" cy="295433"/>
          </a:xfrm>
          <a:prstGeom prst="rect">
            <a:avLst/>
          </a:prstGeom>
          <a:noFill/>
        </p:spPr>
        <p:txBody>
          <a:bodyPr wrap="square">
            <a:spAutoFit/>
          </a:bodyPr>
          <a:lstStyle/>
          <a:p>
            <a:pPr>
              <a:defRPr sz="777">
                <a:solidFill>
                  <a:srgbClr val="333333"/>
                </a:solidFill>
              </a:defRPr>
            </a:pPr>
            <a:r>
              <a:t>Est. Saving: INR TBD</a:t>
            </a:r>
            <a:br/>
            <a:r>
              <a:t>CAPEX: TBD</a:t>
            </a:r>
          </a:p>
        </p:txBody>
      </p:sp>
      <p:sp>
        <p:nvSpPr>
          <p:cNvPr id="12" name="Rectangle 11"/>
          <p:cNvSpPr/>
          <p:nvPr/>
        </p:nvSpPr>
        <p:spPr>
          <a:xfrm>
            <a:off x="274320" y="635781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6118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28.jpg"/>
          <p:cNvPicPr>
            <a:picLocks noChangeAspect="1"/>
          </p:cNvPicPr>
          <p:nvPr/>
        </p:nvPicPr>
        <p:blipFill>
          <a:blip r:embed="rId2"/>
          <a:stretch>
            <a:fillRect/>
          </a:stretch>
        </p:blipFill>
        <p:spPr>
          <a:xfrm>
            <a:off x="6217920" y="3886200"/>
            <a:ext cx="5699455" cy="1275588"/>
          </a:xfrm>
          <a:prstGeom prst="rect">
            <a:avLst/>
          </a:prstGeom>
          <a:ln w="12700">
            <a:solidFill>
              <a:srgbClr val="C8C8C8"/>
            </a:solidFill>
          </a:ln>
        </p:spPr>
      </p:pic>
      <p:sp>
        <p:nvSpPr>
          <p:cNvPr id="15" name="TextBox 14"/>
          <p:cNvSpPr txBox="1"/>
          <p:nvPr/>
        </p:nvSpPr>
        <p:spPr>
          <a:xfrm>
            <a:off x="6217920" y="503377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2.jpg"/>
          <p:cNvPicPr>
            <a:picLocks noChangeAspect="1"/>
          </p:cNvPicPr>
          <p:nvPr/>
        </p:nvPicPr>
        <p:blipFill>
          <a:blip r:embed="rId3"/>
          <a:stretch>
            <a:fillRect/>
          </a:stretch>
        </p:blipFill>
        <p:spPr>
          <a:xfrm>
            <a:off x="6217920" y="5308092"/>
            <a:ext cx="5699455" cy="1275588"/>
          </a:xfrm>
          <a:prstGeom prst="rect">
            <a:avLst/>
          </a:prstGeom>
          <a:ln w="12700">
            <a:solidFill>
              <a:srgbClr val="C8C8C8"/>
            </a:solidFill>
          </a:ln>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4114800"/>
          </a:xfrm>
          <a:prstGeom prst="rect">
            <a:avLst/>
          </a:prstGeom>
          <a:noFill/>
        </p:spPr>
        <p:txBody>
          <a:bodyPr wrap="square">
            <a:spAutoFit/>
          </a:bodyPr>
          <a:lstStyle/>
          <a:p>
            <a:pPr>
              <a:defRPr sz="1800" b="1">
                <a:solidFill>
                  <a:srgbClr val="003366"/>
                </a:solidFill>
              </a:defRPr>
            </a:pPr>
            <a:r>
              <a:t>#17: Redesign the brake rotor for the MG Hector to optimize thermal mass distribution and potentially reduce material content without compromising structural integrity or cooling efficiency. This could involve exploring features like optimized vane design for better airflow, or a reduced overall disc diameter if performance targets can still be met within the constraints. The focus is on smart material utilization and geometric optimization, informed by principles of Design for Manufacturing Cost Reduction [3]. Given the 1.7T vehicle weight, any reduction in rotor mass must be carefully assessed for its impact on thermal capacity and fade resistance.</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4389120"/>
            <a:ext cx="5486400" cy="143053"/>
          </a:xfrm>
          <a:prstGeom prst="rect">
            <a:avLst/>
          </a:prstGeom>
          <a:noFill/>
        </p:spPr>
        <p:txBody>
          <a:bodyPr wrap="none">
            <a:spAutoFit/>
          </a:bodyPr>
          <a:lstStyle/>
          <a:p>
            <a:pPr>
              <a:defRPr b="1" sz="688">
                <a:solidFill>
                  <a:srgbClr val="FF6400"/>
                </a:solidFill>
              </a:defRPr>
            </a:pPr>
            <a:r>
              <a:t>TECHNICAL ENGINEERING VIEW</a:t>
            </a:r>
          </a:p>
        </p:txBody>
      </p:sp>
      <p:sp>
        <p:nvSpPr>
          <p:cNvPr id="5" name="TextBox 4"/>
          <p:cNvSpPr txBox="1"/>
          <p:nvPr/>
        </p:nvSpPr>
        <p:spPr>
          <a:xfrm>
            <a:off x="274320" y="4532173"/>
            <a:ext cx="5486400" cy="884759"/>
          </a:xfrm>
          <a:prstGeom prst="rect">
            <a:avLst/>
          </a:prstGeom>
          <a:noFill/>
        </p:spPr>
        <p:txBody>
          <a:bodyPr wrap="square">
            <a:spAutoFit/>
          </a:bodyPr>
          <a:lstStyle/>
          <a:p>
            <a:pPr>
              <a:defRPr sz="625">
                <a:solidFill>
                  <a:srgbClr val="333333"/>
                </a:solidFill>
              </a:defRPr>
            </a:pPr>
            <a:r>
              <a:t>Technical optimization of Redesign the brake rotor for the MG Hector to optimize thermal mass distribution and potentially reduce material content without compromising structural integrity or cooling efficiency. This could involve exploring features like optimized vane design for better airflow, or a reduced overall disc diameter if performance targets can still be met within the constraints. The focus is on smart material utilization and geometric optimization, informed by principles of Design for Manufacturing Cost Reduction [3]. Given the 1.7T vehicle weight, any reduction in rotor mass must be carefully assessed for its impact on thermal capacity and fade resistance. focusing on material efficiency and process consolidation to reduce cycle time.</a:t>
            </a:r>
          </a:p>
        </p:txBody>
      </p:sp>
      <p:sp>
        <p:nvSpPr>
          <p:cNvPr id="6" name="Rectangle 5"/>
          <p:cNvSpPr/>
          <p:nvPr/>
        </p:nvSpPr>
        <p:spPr>
          <a:xfrm>
            <a:off x="274320" y="541693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490085"/>
            <a:ext cx="5486400" cy="143053"/>
          </a:xfrm>
          <a:prstGeom prst="rect">
            <a:avLst/>
          </a:prstGeom>
          <a:noFill/>
        </p:spPr>
        <p:txBody>
          <a:bodyPr wrap="none">
            <a:spAutoFit/>
          </a:bodyPr>
          <a:lstStyle/>
          <a:p>
            <a:pPr>
              <a:defRPr b="1" sz="688">
                <a:solidFill>
                  <a:srgbClr val="FF6400"/>
                </a:solidFill>
              </a:defRPr>
            </a:pPr>
            <a:r>
              <a:t>MATERIAL &amp; DIMENSION SWAP</a:t>
            </a:r>
          </a:p>
        </p:txBody>
      </p:sp>
      <p:sp>
        <p:nvSpPr>
          <p:cNvPr id="8" name="TextBox 7"/>
          <p:cNvSpPr txBox="1"/>
          <p:nvPr/>
        </p:nvSpPr>
        <p:spPr>
          <a:xfrm>
            <a:off x="274320" y="5633138"/>
            <a:ext cx="5486400" cy="342985"/>
          </a:xfrm>
          <a:prstGeom prst="rect">
            <a:avLst/>
          </a:prstGeom>
          <a:noFill/>
        </p:spPr>
        <p:txBody>
          <a:bodyPr wrap="square">
            <a:spAutoFit/>
          </a:bodyPr>
          <a:lstStyle/>
          <a:p>
            <a:pPr>
              <a:defRPr sz="625">
                <a:solidFill>
                  <a:srgbClr val="333333"/>
                </a:solidFill>
              </a:defRPr>
            </a:pPr>
            <a:r>
              <a:t>Redesign the brake rotor for the MG Hector to optimize thermal mass distribution and potentially red</a:t>
            </a:r>
            <a:br/>
            <a:r>
              <a:t>N/A (Maintains current envelope)</a:t>
            </a:r>
          </a:p>
        </p:txBody>
      </p:sp>
      <p:sp>
        <p:nvSpPr>
          <p:cNvPr id="9" name="Rectangle 8"/>
          <p:cNvSpPr/>
          <p:nvPr/>
        </p:nvSpPr>
        <p:spPr>
          <a:xfrm>
            <a:off x="274320" y="597612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049276"/>
            <a:ext cx="5486400" cy="143053"/>
          </a:xfrm>
          <a:prstGeom prst="rect">
            <a:avLst/>
          </a:prstGeom>
          <a:noFill/>
        </p:spPr>
        <p:txBody>
          <a:bodyPr wrap="none">
            <a:spAutoFit/>
          </a:bodyPr>
          <a:lstStyle/>
          <a:p>
            <a:pPr>
              <a:defRPr b="1" sz="688">
                <a:solidFill>
                  <a:srgbClr val="FF6400"/>
                </a:solidFill>
              </a:defRPr>
            </a:pPr>
            <a:r>
              <a:t>FINANCIAL IMPACT</a:t>
            </a:r>
          </a:p>
        </p:txBody>
      </p:sp>
      <p:sp>
        <p:nvSpPr>
          <p:cNvPr id="11" name="TextBox 10"/>
          <p:cNvSpPr txBox="1"/>
          <p:nvPr/>
        </p:nvSpPr>
        <p:spPr>
          <a:xfrm>
            <a:off x="274320" y="6192330"/>
            <a:ext cx="5486400" cy="237927"/>
          </a:xfrm>
          <a:prstGeom prst="rect">
            <a:avLst/>
          </a:prstGeom>
          <a:noFill/>
        </p:spPr>
        <p:txBody>
          <a:bodyPr wrap="square">
            <a:spAutoFit/>
          </a:bodyPr>
          <a:lstStyle/>
          <a:p>
            <a:pPr>
              <a:defRPr sz="625">
                <a:solidFill>
                  <a:srgbClr val="333333"/>
                </a:solidFill>
              </a:defRPr>
            </a:pPr>
            <a:r>
              <a:t>Est. Saving: INR TBD</a:t>
            </a:r>
            <a:br/>
            <a:r>
              <a:t>CAPEX: TBD</a:t>
            </a:r>
          </a:p>
        </p:txBody>
      </p:sp>
      <p:sp>
        <p:nvSpPr>
          <p:cNvPr id="12" name="Rectangle 11"/>
          <p:cNvSpPr/>
          <p:nvPr/>
        </p:nvSpPr>
        <p:spPr>
          <a:xfrm>
            <a:off x="274320" y="643025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40233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94.jpg"/>
          <p:cNvPicPr>
            <a:picLocks noChangeAspect="1"/>
          </p:cNvPicPr>
          <p:nvPr/>
        </p:nvPicPr>
        <p:blipFill>
          <a:blip r:embed="rId2"/>
          <a:stretch>
            <a:fillRect/>
          </a:stretch>
        </p:blipFill>
        <p:spPr>
          <a:xfrm>
            <a:off x="6217920" y="4297680"/>
            <a:ext cx="5699455" cy="1069848"/>
          </a:xfrm>
          <a:prstGeom prst="rect">
            <a:avLst/>
          </a:prstGeom>
          <a:ln w="12700">
            <a:solidFill>
              <a:srgbClr val="C8C8C8"/>
            </a:solidFill>
          </a:ln>
        </p:spPr>
      </p:pic>
      <p:sp>
        <p:nvSpPr>
          <p:cNvPr id="15" name="TextBox 14"/>
          <p:cNvSpPr txBox="1"/>
          <p:nvPr/>
        </p:nvSpPr>
        <p:spPr>
          <a:xfrm>
            <a:off x="6217920" y="52395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6" name="Picture 15" descr="159.jpg"/>
          <p:cNvPicPr>
            <a:picLocks noChangeAspect="1"/>
          </p:cNvPicPr>
          <p:nvPr/>
        </p:nvPicPr>
        <p:blipFill>
          <a:blip r:embed="rId3"/>
          <a:stretch>
            <a:fillRect/>
          </a:stretch>
        </p:blipFill>
        <p:spPr>
          <a:xfrm>
            <a:off x="6217920" y="5513832"/>
            <a:ext cx="5699455" cy="1069848"/>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
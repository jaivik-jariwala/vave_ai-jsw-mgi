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image" Target="../media/image3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02-Feb-2026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1460175" cy="6263640"/>
        </p:xfrm>
        <a:graphic>
          <a:graphicData uri="http://schemas.openxmlformats.org/drawingml/2006/table">
            <a:tbl>
              <a:tblPr firstRow="1" bandRow="1">
                <a:tableStyleId>{5C22544A-7EE6-4342-B048-85BDC9FD1C3A}</a:tableStyleId>
              </a:tblPr>
              <a:tblGrid>
                <a:gridCol w="1273352"/>
                <a:gridCol w="1273352"/>
                <a:gridCol w="1273352"/>
                <a:gridCol w="1273352"/>
                <a:gridCol w="1273352"/>
                <a:gridCol w="1273352"/>
                <a:gridCol w="1273352"/>
                <a:gridCol w="1273352"/>
                <a:gridCol w="1273359"/>
              </a:tblGrid>
              <a:tr h="368449">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Investment</a:t>
                      </a:r>
                    </a:p>
                  </a:txBody>
                  <a:tcPr>
                    <a:solidFill>
                      <a:srgbClr val="003366"/>
                    </a:solidFill>
                  </a:tcPr>
                </a:tc>
                <a:tc>
                  <a:txBody>
                    <a:bodyPr wrap="square"/>
                    <a:lstStyle/>
                    <a:p>
                      <a:pPr>
                        <a:defRPr b="1" sz="900">
                          <a:solidFill>
                            <a:srgbClr val="FFFFFF"/>
                          </a:solidFill>
                        </a:defRPr>
                      </a:pPr>
                      <a:r>
                        <a:t>Saving</a:t>
                      </a:r>
                    </a:p>
                  </a:txBody>
                  <a:tcPr>
                    <a:solidFill>
                      <a:srgbClr val="003366"/>
                    </a:solidFill>
                  </a:tcPr>
                </a:tc>
                <a:tc>
                  <a:txBody>
                    <a:bodyPr wrap="square"/>
                    <a:lstStyle/>
                    <a:p>
                      <a:pPr>
                        <a:defRPr b="1" sz="900">
                          <a:solidFill>
                            <a:srgbClr val="FFFFFF"/>
                          </a:solidFill>
                        </a:defRPr>
                      </a:pPr>
                      <a:r>
                        <a:t>Yearly volume (per 1 lakh)</a:t>
                      </a:r>
                    </a:p>
                  </a:txBody>
                  <a:tcPr>
                    <a:solidFill>
                      <a:srgbClr val="003366"/>
                    </a:solidFill>
                  </a:tcPr>
                </a:tc>
                <a:tc>
                  <a:txBody>
                    <a:bodyPr wrap="square"/>
                    <a:lstStyle/>
                    <a:p>
                      <a:pPr>
                        <a:defRPr b="1" sz="900">
                          <a:solidFill>
                            <a:srgbClr val="FFFFFF"/>
                          </a:solidFill>
                        </a:defRPr>
                      </a:pPr>
                      <a:r>
                        <a:t>Saving overall (Saving × Volume)</a:t>
                      </a:r>
                    </a:p>
                  </a:txBody>
                  <a:tcPr>
                    <a:solidFill>
                      <a:srgbClr val="003366"/>
                    </a:solidFill>
                  </a:tcPr>
                </a:tc>
                <a:tc>
                  <a:txBody>
                    <a:bodyPr wrap="square"/>
                    <a:lstStyle/>
                    <a:p>
                      <a:pPr>
                        <a:defRPr b="1" sz="900">
                          <a:solidFill>
                            <a:srgbClr val="FFFFFF"/>
                          </a:solidFill>
                        </a:defRPr>
                      </a:pPr>
                      <a:r>
                        <a:t>Status (Accept/Reject)</a:t>
                      </a:r>
                    </a:p>
                  </a:txBody>
                  <a:tcPr>
                    <a:solidFill>
                      <a:srgbClr val="003366"/>
                    </a:solidFill>
                  </a:tcPr>
                </a:tc>
                <a:tc>
                  <a:txBody>
                    <a:bodyPr wrap="square"/>
                    <a:lstStyle/>
                    <a:p>
                      <a:pPr>
                        <a:defRPr b="1" sz="900">
                          <a:solidFill>
                            <a:srgbClr val="FFFFFF"/>
                          </a:solidFill>
                        </a:defRPr>
                      </a:pPr>
                      <a:r>
                        <a:t>Turnaround time</a:t>
                      </a:r>
                    </a:p>
                  </a:txBody>
                  <a:tcPr>
                    <a:solidFill>
                      <a:srgbClr val="003366"/>
                    </a:solidFill>
                  </a:tcPr>
                </a:tc>
                <a:tc>
                  <a:txBody>
                    <a:bodyPr wrap="square"/>
                    <a:lstStyle/>
                    <a:p>
                      <a:pPr>
                        <a:defRPr b="1" sz="900">
                          <a:solidFill>
                            <a:srgbClr val="FFFFFF"/>
                          </a:solidFill>
                        </a:defRPr>
                      </a:pPr>
                      <a:r>
                        <a:t>Required volume yearly</a:t>
                      </a:r>
                    </a:p>
                  </a:txBody>
                  <a:tcPr>
                    <a:solidFill>
                      <a:srgbClr val="003366"/>
                    </a:solidFill>
                  </a:tcPr>
                </a:tc>
              </a:tr>
              <a:tr h="368449">
                <a:tc>
                  <a:txBody>
                    <a:bodyPr wrap="square" lIns="50800" rIns="50800" tIns="25400" bIns="25400"/>
                    <a:lstStyle/>
                    <a:p>
                      <a:pPr>
                        <a:defRPr sz="800">
                          <a:solidFill>
                            <a:srgbClr val="333333"/>
                          </a:solidFill>
                          <a:latin typeface="Calibri"/>
                        </a:defRPr>
                      </a:pPr>
                      <a:r>
                        <a:t>2311-SP-ID-01</a:t>
                      </a:r>
                    </a:p>
                  </a:txBody>
                  <a:tcPr/>
                </a:tc>
                <a:tc>
                  <a:txBody>
                    <a:bodyPr wrap="square" lIns="50800" rIns="50800" tIns="25400" bIns="25400"/>
                    <a:lstStyle/>
                    <a:p>
                      <a:pPr>
                        <a:defRPr sz="800">
                          <a:solidFill>
                            <a:srgbClr val="333333"/>
                          </a:solidFill>
                          <a:latin typeface="Calibri"/>
                        </a:defRPr>
                      </a:pPr>
                      <a:r>
                        <a:t>1. Reduce the overall wall thickness of the Brake Dust Cover Plates present on all four wheel hubs of the vehicles from 1mm to 0.8mm</a:t>
                      </a:r>
                      <a:br/>
                      <a:r>
                        <a:t>2. Reduce the paint coating thickness on each side of all four plates from 56 microns to 27.8 microns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57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5,700,000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2311-BA-ID-01</a:t>
                      </a:r>
                    </a:p>
                  </a:txBody>
                  <a:tcPr/>
                </a:tc>
                <a:tc>
                  <a:txBody>
                    <a:bodyPr wrap="square" lIns="50800" rIns="50800" tIns="25400" bIns="25400"/>
                    <a:lstStyle/>
                    <a:p>
                      <a:pPr>
                        <a:defRPr sz="800">
                          <a:solidFill>
                            <a:srgbClr val="333333"/>
                          </a:solidFill>
                          <a:latin typeface="Calibri"/>
                        </a:defRPr>
                      </a:pPr>
                      <a:r>
                        <a:t>The Brake Booster Plate in MGI could be integrated into the Dashboard BIW of the vehicle as done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47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2311-PA-ID-02</a:t>
                      </a:r>
                    </a:p>
                  </a:txBody>
                  <a:tcPr/>
                </a:tc>
                <a:tc>
                  <a:txBody>
                    <a:bodyPr wrap="square" lIns="50800" rIns="50800" tIns="25400" bIns="25400"/>
                    <a:lstStyle/>
                    <a:p>
                      <a:pPr>
                        <a:defRPr sz="800">
                          <a:solidFill>
                            <a:srgbClr val="333333"/>
                          </a:solidFill>
                          <a:latin typeface="Calibri"/>
                        </a:defRPr>
                      </a:pPr>
                      <a:r>
                        <a:t>Redesign the current Brake Pedal Mounting Bracket used in MGI to a similar bracket used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113</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11,300,000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2311-PA-ID-01</a:t>
                      </a:r>
                    </a:p>
                  </a:txBody>
                  <a:tcPr/>
                </a:tc>
                <a:tc>
                  <a:txBody>
                    <a:bodyPr wrap="square" lIns="50800" rIns="50800" tIns="25400" bIns="25400"/>
                    <a:lstStyle/>
                    <a:p>
                      <a:pPr>
                        <a:defRPr sz="800">
                          <a:solidFill>
                            <a:srgbClr val="333333"/>
                          </a:solidFill>
                          <a:latin typeface="Calibri"/>
                        </a:defRPr>
                      </a:pPr>
                      <a:r>
                        <a:t>Remove the black paint coating on the Brake Pedal Mounting Bracket within MGI</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115</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11,500,000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AI-GEN-02</a:t>
                      </a:r>
                    </a:p>
                  </a:txBody>
                  <a:tcPr/>
                </a:tc>
                <a:tc>
                  <a:txBody>
                    <a:bodyPr wrap="square" lIns="50800" rIns="50800" tIns="25400" bIns="25400"/>
                    <a:lstStyle/>
                    <a:p>
                      <a:pPr>
                        <a:defRPr sz="800">
                          <a:solidFill>
                            <a:srgbClr val="333333"/>
                          </a:solidFill>
                          <a:latin typeface="Calibri"/>
                        </a:defRPr>
                      </a:pPr>
                      <a:r>
                        <a:t>Replace the current cast iron brake rotor with a higher-carbon cast iron alloy, allowing for a 5% reduction in rotor diameter while maintaining thermal mass.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750000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75,000,000,000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AI-GEN-03</a:t>
                      </a:r>
                    </a:p>
                  </a:txBody>
                  <a:tcPr/>
                </a:tc>
                <a:tc>
                  <a:txBody>
                    <a:bodyPr wrap="square" lIns="50800" rIns="50800" tIns="25400" bIns="25400"/>
                    <a:lstStyle/>
                    <a:p>
                      <a:pPr>
                        <a:defRPr sz="800">
                          <a:solidFill>
                            <a:srgbClr val="333333"/>
                          </a:solidFill>
                          <a:latin typeface="Calibri"/>
                        </a:defRPr>
                      </a:pPr>
                      <a:r>
                        <a:t>Optimize the dust shield gauge for rear brake assemblies from 1.2mm to 1.0mm, using a higher tensile strength steel to maintain rigidity.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200000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20,000,000,000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AI-GEN-04</a:t>
                      </a:r>
                    </a:p>
                  </a:txBody>
                  <a:tcPr/>
                </a:tc>
                <a:tc>
                  <a:txBody>
                    <a:bodyPr wrap="square" lIns="50800" rIns="50800" tIns="25400" bIns="25400"/>
                    <a:lstStyle/>
                    <a:p>
                      <a:pPr>
                        <a:defRPr sz="800">
                          <a:solidFill>
                            <a:srgbClr val="333333"/>
                          </a:solidFill>
                          <a:latin typeface="Calibri"/>
                        </a:defRPr>
                      </a:pPr>
                      <a:r>
                        <a:t>Reduce the caliper piston diameter by 2mm on front brake assemblies, compensating with slightly increased pad swept area.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400000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AI-GEN-06</a:t>
                      </a:r>
                    </a:p>
                  </a:txBody>
                  <a:tcPr/>
                </a:tc>
                <a:tc>
                  <a:txBody>
                    <a:bodyPr wrap="square" lIns="50800" rIns="50800" tIns="25400" bIns="25400"/>
                    <a:lstStyle/>
                    <a:p>
                      <a:pPr>
                        <a:defRPr sz="800">
                          <a:solidFill>
                            <a:srgbClr val="333333"/>
                          </a:solidFill>
                          <a:latin typeface="Calibri"/>
                        </a:defRPr>
                      </a:pPr>
                      <a:r>
                        <a:t>Substitute the existing steel brake caliper bolts with high-strength aluminum alloy bolts, reducing weight and corrosion risk.</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150000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15,000,000,000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AI-GEN-07</a:t>
                      </a:r>
                    </a:p>
                  </a:txBody>
                  <a:tcPr/>
                </a:tc>
                <a:tc>
                  <a:txBody>
                    <a:bodyPr wrap="square" lIns="50800" rIns="50800" tIns="25400" bIns="25400"/>
                    <a:lstStyle/>
                    <a:p>
                      <a:pPr>
                        <a:defRPr sz="800">
                          <a:solidFill>
                            <a:srgbClr val="333333"/>
                          </a:solidFill>
                          <a:latin typeface="Calibri"/>
                        </a:defRPr>
                      </a:pPr>
                      <a:r>
                        <a:t>Reduce the internal cooling vanes in the brake rotor casting by 15%, utilizing computational fluid dynamics (CFD) to optimize airflow for a 5% reduction in rotor weight.</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300000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30,000,000,000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AI-GEN-08</a:t>
                      </a:r>
                    </a:p>
                  </a:txBody>
                  <a:tcPr/>
                </a:tc>
                <a:tc>
                  <a:txBody>
                    <a:bodyPr wrap="square" lIns="50800" rIns="50800" tIns="25400" bIns="25400"/>
                    <a:lstStyle/>
                    <a:p>
                      <a:pPr>
                        <a:defRPr sz="800">
                          <a:solidFill>
                            <a:srgbClr val="333333"/>
                          </a:solidFill>
                          <a:latin typeface="Calibri"/>
                        </a:defRPr>
                      </a:pPr>
                      <a:r>
                        <a:t>Replace the existing rubber brake hose material with a reinforced thermoplastic (RTP) hose, reducing diameter by 1mm and weight.</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250000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25,000,000,000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AI-GEN-09</a:t>
                      </a:r>
                    </a:p>
                  </a:txBody>
                  <a:tcPr/>
                </a:tc>
                <a:tc>
                  <a:txBody>
                    <a:bodyPr wrap="square" lIns="50800" rIns="50800" tIns="25400" bIns="25400"/>
                    <a:lstStyle/>
                    <a:p>
                      <a:pPr>
                        <a:defRPr sz="800">
                          <a:solidFill>
                            <a:srgbClr val="333333"/>
                          </a:solidFill>
                          <a:latin typeface="Calibri"/>
                        </a:defRPr>
                      </a:pPr>
                      <a:r>
                        <a:t>Reduce the surface area of the rear brake dust shield by 10% by optimizing its shape, while maintaining splash protection.</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AI-GEN-10</a:t>
                      </a:r>
                    </a:p>
                  </a:txBody>
                  <a:tcPr/>
                </a:tc>
                <a:tc>
                  <a:txBody>
                    <a:bodyPr wrap="square" lIns="50800" rIns="50800" tIns="25400" bIns="25400"/>
                    <a:lstStyle/>
                    <a:p>
                      <a:pPr>
                        <a:defRPr sz="800">
                          <a:solidFill>
                            <a:srgbClr val="333333"/>
                          </a:solidFill>
                          <a:latin typeface="Calibri"/>
                        </a:defRPr>
                      </a:pPr>
                      <a:r>
                        <a:t>Utilize a lower-cost, single-piece brake caliper piston made of a specific polymer composite instead of the current multi-piece steel/rubber design.</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800000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80,000,000,000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Investigate the use of advanced Non-Asbestos Organic (NAO) friction materials with enhanced ceramic and metallic fiber content for the MG Hector's brake pads. This aims to improve thermal capacity and fade resistance, crucial for a C-SUV with a high kinetic energy (1.7T), without compromising the existing caliper material or rear IRS. The focus will be on achieving comparable or superior performance to current semi-metallic pads at a potentially lower manufacturing cost and reduced dust emission, aligning with dust shield gauge considerations.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Explore the feasibility of optimizing the rotor thickness and material composition for the MG Hector's brake rotors, moving towards a higher-performance cast iron alloy with improved thermal conductivity and reduced susceptibility to warping. This proposal aims to enhance thermal mass and fade resistance for the 1.7T vehicle without requiring significant changes to the caliper material or tooling CAPEX. The objective is to achieve better heat dissipation, extending rotor life and maintaining braking performance under demanding conditions.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Investigate lightweighting opportunities for the MG Hector's brake caliper without compromising structural integrity or thermal management. This could involve exploring advanced aluminum alloys or composite materials for caliper housings, while ensuring compatibility with existing brake pad and rotor systems. The goal is to reduce unsprung mass, contributing to better vehicle dynamics and potentially marginal fuel efficiency gains, while staying within tooling CAPEX limitations and not affecting the rear IRS. Dust shield gauge optimization for improved airflow around the caliper will also be considered.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56">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Develop and implement a dust shield gauge optimization strategy for the MG Hector's braking system. This involves refining the shape and material of the dust shield to enhance airflow around the brake components, particularly the rotor and caliper, thereby improving convective cooling. The aim is to mitigate heat buildup, which is critical for the 1.7T vehicle, without altering core braking materials or caliper design, and with minimal tooling investment. This addresses component regulations like FMVSS 105 and ECE R13 by ensuring consistent braking performance under varied conditions.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Industry Trend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bl>
          </a:graphicData>
        </a:graphic>
      </p:graphicFrame>
      <p:sp>
        <p:nvSpPr>
          <p:cNvPr id="3" name="TextBox 2"/>
          <p:cNvSpPr txBox="1"/>
          <p:nvPr/>
        </p:nvSpPr>
        <p:spPr>
          <a:xfrm>
            <a:off x="365760" y="45720"/>
            <a:ext cx="11460175" cy="320040"/>
          </a:xfrm>
          <a:prstGeom prst="rect">
            <a:avLst/>
          </a:prstGeom>
          <a:noFill/>
        </p:spPr>
        <p:txBody>
          <a:bodyPr wrap="square">
            <a:spAutoFit/>
          </a:bodyPr>
          <a:lstStyle/>
          <a:p>
            <a:pPr>
              <a:defRPr sz="1800" b="1">
                <a:solidFill>
                  <a:srgbClr val="003366"/>
                </a:solidFill>
              </a:defRPr>
            </a:pPr>
            <a:r>
              <a:t>Summary of ideas generated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1. Reduce the overall wall thickness of the Brake Dust Cover Plates present on all four wheel hubs of the vehicles from 1mm to 0.8mm</a:t>
            </a:r>
            <a:br>
              <a:rPr sz="1000" b="0" i="0">
                <a:latin typeface="Calibri"/>
              </a:rPr>
            </a:br>
            <a:r>
              <a:rPr sz="1000" b="0" i="0">
                <a:latin typeface="Calibri"/>
              </a:rPr>
              <a:t>2. Reduce the paint coating thickness on each side of all four plates from 56 microns to 27.8 microns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1mm to 0.8mm</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57</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5.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1Reducetheo_1770004158509.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#2: The Brake Booster Plate in MGI could be integrated into the Dashboard BIW of the vehicle as done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The Brake Booster Plate in MGI could be integrated into the Dashboard BIW of the vehicle as done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47</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TheBrakeBoost_1770004158666.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#3: Redesign the current Brake Pedal Mounting Bracket used in MGI to a similar bracket used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Redesign the current Brake Pedal Mounting Bracket used in MGI to a similar bracket used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113</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esignthecu_1770004158800.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#4: Remove the black paint coating on the Brake Pedal Mounting Bracket within MGI</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Remove the black paint coating on the Brake Pedal Mounting Bracket within MGI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115</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movetheblac_1770004159003.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#5: Replace the current cast iron brake rotor with a higher-carbon cast iron alloy, allowing for a 5% reduction in rotor diameter while maintaining thermal mass.</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Replace the current cast iron brake rotor with a higher-carbon cast iron alloy, allowing for a 5% reduction in rotor diameter while maintaining thermal mass.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750000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43.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placethecur_1770004159287.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#6: Optimize the dust shield gauge for rear brake assemblies from 1.2mm to 1.0mm, using a higher tensile strength steel to maintain rigidity.</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Optimize the dust shield gauge for rear brake assemblies from 1.2mm to 1.0mm, using a higher tensile strength steel to maintain rigidity.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0mm, using a higher tensile strength steel to maintain rigidity</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1.2mm to 1.0mm</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200000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5.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Optimizethedu_1770004159461.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#7: Reduce the caliper piston diameter by 2mm on front brake assemblies, compensating with slightly increased pad swept area.</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caliper piston diameter by 2mm on front brake assemblies, compensating with slightly increased pad swept area.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400000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1.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ucethecali_1770004159787.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#8: Substitute the existing steel brake caliper bolts with high-strength aluminum alloy bolts, reducing weight and corrosion risk.</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Substitute the existing steel brake caliper bolts with high-strength aluminum alloy bolts, reducing weight and corrosion risk.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Substitute the existing steel brake caliper bolts with high-strength aluminum alloy bolts, reducing</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150000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Substitutethe_1770004160027.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#9: Reduce the internal cooling vanes in the brake rotor casting by 15%, utilizing computational fluid dynamics (CFD) to optimize airflow for a 5% reduction in rotor weight.</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internal cooling vanes in the brake rotor casting by 15%, utilizing computational fluid dynamics (CFD) to optimize airflow for a 5% reduction in rotor weight.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300000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ucetheinte_1770004160169.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#10: Replace the existing rubber brake hose material with a reinforced thermoplastic (RTP) hose, reducing diameter by 1mm and weight.</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Replace the existing rubber brake hose material with a reinforced thermoplastic (RTP) hose, reducing diameter by 1mm and weight.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Replace the existing rubber brake hose material with a reinforced thermoplastic (RTP) hose, reducing</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250000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0.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placetheexi_1770004160422.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#11: Reduce the surface area of the rear brake dust shield by 10% by optimizing its shape, while maintaining splash protection.</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surface area of the rear brake dust shield by 10% by optimizing its shape, while maintaining splash protection.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4.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ucethesurf_1770004160700.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#12: Utilize a lower-cost, single-piece brake caliper piston made of a specific polymer composite instead of the current multi-piece steel/rubber design.</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Utilize a lower-cost, single-piece brake caliper piston made of a specific polymer composite instead of the current multi-piece steel/rubber design.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Utilize a lower-cost, single-piece brake caliper piston made of a specific polymer composite instead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800000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6.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Utilizealower_1770004160970.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#13: Investigate the use of advanced Non-Asbestos Organic (NAO) friction materials with enhanced ceramic and metallic fiber content for the MG Hector's brake pads. This aims to improve thermal capacity and fade resistance, crucial for a C-SUV with a high kinetic energy (1.7T), without compromising the existing caliper material or rear IRS. The focus will be on achieving comparable or superior performance to current semi-metallic pads at a potentially lower manufacturing cost and reduced dust emission, aligning with dust shield gauge considerations.</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Investigate the use of advanced Non-Asbestos Organic (NAO) friction materials with enhanced ceramic and metallic fiber content for the MG Hector's brake pads. This aims to improve thermal capacity and fade resistance, crucial for a C-SUV with a high kinetic energy (1.7T), without compromising the existing caliper material or rear IRS. The focus will be on achieving comparable or superior performance to current semi-metallic pads at a potentially lower manufacturing c...</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Investigate the use of advanced Non-Asbestos Organic (NAO) friction materials with enhanced ceramic</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2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Investigatethe_1770004161159.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#14: Explore the feasibility of optimizing the rotor thickness and material composition for the MG Hector's brake rotors, moving towards a higher-performance cast iron alloy with improved thermal conductivity and reduced susceptibility to warping. This proposal aims to enhance thermal mass and fade resistance for the 1.7T vehicle without requiring significant changes to the caliper material or tooling CAPEX. The objective is to achieve better heat dissipation, extending rotor life and maintaining braking performance under demanding conditions.</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Explore the feasibility of optimizing the rotor thickness and material composition for the MG Hector's brake rotors, moving towards a higher-performance cast iron alloy with improved thermal conductivity and reduced susceptibility to warping. This proposal aims to enhance thermal mass and fade resistance for the 1.7T vehicle without requiring significant changes to the caliper material or tooling CAPEX. The objective is to achieve better heat dissipation, extending r...</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Explore the feasibility of optimizing the rotor thickness and material composition for the MG Hector</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Explorethefea_1770004161423.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#15: Investigate lightweighting opportunities for the MG Hector's brake caliper without compromising structural integrity or thermal management. This could involve exploring advanced aluminum alloys or composite materials for caliper housings, while ensuring compatibility with existing brake pad and rotor systems. The goal is to reduce unsprung mass, contributing to better vehicle dynamics and potentially marginal fuel efficiency gains, while staying within tooling CAPEX limitations and not affecting the rear IRS. Dust shield gauge optimization for improved airflow around the caliper will also be considered.</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Investigate lightweighting opportunities for the MG Hector's brake caliper without compromising structural integrity or thermal management. This could involve exploring advanced aluminum alloys or composite materials for caliper housings, while ensuring compatibility with existing brake pad and rotor systems. The goal is to reduce unsprung mass, contributing to better vehicle dynamics and potentially marginal fuel efficiency gains, while staying within tooling CAPEX...</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Investigate lightweighting opportunities for the MG Hector's brake caliper without compromising stru</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8.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Investigatelig_1770004161569.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#16: Develop and implement a dust shield gauge optimization strategy for the MG Hector's braking system. This involves refining the shape and material of the dust shield to enhance airflow around the brake components, particularly the rotor and caliper, thereby improving convective cooling. The aim is to mitigate heat buildup, which is critical for the 1.7T vehicle, without altering core braking materials or caliper design, and with minimal tooling investment. This addresses component regulations like FMVSS 105 and ECE R13 by ensuring consistent braking performance under varied conditions.</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Develop and implement a dust shield gauge optimization strategy for the MG Hector's braking system. This involves refining the shape and material of the dust shield to enhance airflow around the brake components, particularly the rotor and caliper, thereby improving convective cooling. The aim is to mitigate heat buildup, which is critical for the 1.7T vehicle, without altering core braking materials or caliper design, and with minimal tooling investment. This addres...</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This involves refining the shape and material of the dust shield to enhance airflow around the brake</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Developandimp_1770004161827.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
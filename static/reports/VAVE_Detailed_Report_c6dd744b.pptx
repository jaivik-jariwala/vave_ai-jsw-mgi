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4.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image" Target="../media/image6.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image" Target="../media/image8.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 Id="rId3" Type="http://schemas.openxmlformats.org/officeDocument/2006/relationships/image" Target="../media/image10.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g"/><Relationship Id="rId3" Type="http://schemas.openxmlformats.org/officeDocument/2006/relationships/image" Target="../media/image10.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jpg"/><Relationship Id="rId3" Type="http://schemas.openxmlformats.org/officeDocument/2006/relationships/image" Target="../media/image13.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jpg"/><Relationship Id="rId3" Type="http://schemas.openxmlformats.org/officeDocument/2006/relationships/image" Target="../media/image15.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jpg"/><Relationship Id="rId3" Type="http://schemas.openxmlformats.org/officeDocument/2006/relationships/image" Target="../media/image17.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jpg"/><Relationship Id="rId3" Type="http://schemas.openxmlformats.org/officeDocument/2006/relationships/image" Target="../media/image8.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jpg"/><Relationship Id="rId3" Type="http://schemas.openxmlformats.org/officeDocument/2006/relationships/image" Target="../media/image20.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jpg"/><Relationship Id="rId3" Type="http://schemas.openxmlformats.org/officeDocument/2006/relationships/image" Target="../media/image22.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jpg"/><Relationship Id="rId3" Type="http://schemas.openxmlformats.org/officeDocument/2006/relationships/image" Target="../media/image22.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jpg"/><Relationship Id="rId3" Type="http://schemas.openxmlformats.org/officeDocument/2006/relationships/image" Target="../media/image25.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jpg"/><Relationship Id="rId3" Type="http://schemas.openxmlformats.org/officeDocument/2006/relationships/image" Target="../media/image27.jp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wrap="square"/>
          <a:lstStyle/>
          <a:p>
            <a:pPr>
              <a:defRPr>
                <a:solidFill>
                  <a:srgbClr val="003366"/>
                </a:solidFill>
              </a:defRPr>
            </a:pPr>
            <a:r>
              <a:t>VAVE Cost Reduction Strategy</a:t>
            </a:r>
          </a:p>
        </p:txBody>
      </p:sp>
      <p:sp>
        <p:nvSpPr>
          <p:cNvPr id="3" name="Subtitle 2"/>
          <p:cNvSpPr>
            <a:spLocks noGrp="1"/>
          </p:cNvSpPr>
          <p:nvPr>
            <p:ph type="subTitle" idx="1"/>
          </p:nvPr>
        </p:nvSpPr>
        <p:spPr/>
        <p:txBody>
          <a:bodyPr wrap="square"/>
          <a:lstStyle/>
          <a:p>
            <a:r>
              <a:t>Detailed Engineering Feasibility Report | 03-Feb-2026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aphicFrame>
        <p:nvGraphicFramePr>
          <p:cNvPr id="2" name="Table 1"/>
          <p:cNvGraphicFramePr>
            <a:graphicFrameLocks noGrp="1"/>
          </p:cNvGraphicFramePr>
          <p:nvPr/>
        </p:nvGraphicFramePr>
        <p:xfrm>
          <a:off x="365760" y="411480"/>
          <a:ext cx="11460175" cy="6263640"/>
        </p:xfrm>
        <a:graphic>
          <a:graphicData uri="http://schemas.openxmlformats.org/drawingml/2006/table">
            <a:tbl>
              <a:tblPr firstRow="1" bandRow="1">
                <a:tableStyleId>{5C22544A-7EE6-4342-B048-85BDC9FD1C3A}</a:tableStyleId>
              </a:tblPr>
              <a:tblGrid>
                <a:gridCol w="1273352"/>
                <a:gridCol w="1273352"/>
                <a:gridCol w="1273352"/>
                <a:gridCol w="1273352"/>
                <a:gridCol w="1273352"/>
                <a:gridCol w="1273352"/>
                <a:gridCol w="1273352"/>
                <a:gridCol w="1273352"/>
                <a:gridCol w="1273359"/>
              </a:tblGrid>
              <a:tr h="391477">
                <a:tc>
                  <a:txBody>
                    <a:bodyPr wrap="square"/>
                    <a:lstStyle/>
                    <a:p>
                      <a:pPr>
                        <a:defRPr b="1" sz="900">
                          <a:solidFill>
                            <a:srgbClr val="FFFFFF"/>
                          </a:solidFill>
                        </a:defRPr>
                      </a:pPr>
                      <a:r>
                        <a:t>Idea ID</a:t>
                      </a:r>
                    </a:p>
                  </a:txBody>
                  <a:tcPr>
                    <a:solidFill>
                      <a:srgbClr val="003366"/>
                    </a:solidFill>
                  </a:tcPr>
                </a:tc>
                <a:tc>
                  <a:txBody>
                    <a:bodyPr wrap="square"/>
                    <a:lstStyle/>
                    <a:p>
                      <a:pPr>
                        <a:defRPr b="1" sz="900">
                          <a:solidFill>
                            <a:srgbClr val="FFFFFF"/>
                          </a:solidFill>
                        </a:defRPr>
                      </a:pPr>
                      <a:r>
                        <a:t>Idea</a:t>
                      </a:r>
                    </a:p>
                  </a:txBody>
                  <a:tcPr>
                    <a:solidFill>
                      <a:srgbClr val="003366"/>
                    </a:solidFill>
                  </a:tcPr>
                </a:tc>
                <a:tc>
                  <a:txBody>
                    <a:bodyPr wrap="square"/>
                    <a:lstStyle/>
                    <a:p>
                      <a:pPr>
                        <a:defRPr b="1" sz="900">
                          <a:solidFill>
                            <a:srgbClr val="FFFFFF"/>
                          </a:solidFill>
                        </a:defRPr>
                      </a:pPr>
                      <a:r>
                        <a:t>CAPEX</a:t>
                      </a:r>
                    </a:p>
                  </a:txBody>
                  <a:tcPr>
                    <a:solidFill>
                      <a:srgbClr val="003366"/>
                    </a:solidFill>
                  </a:tcPr>
                </a:tc>
                <a:tc>
                  <a:txBody>
                    <a:bodyPr wrap="square"/>
                    <a:lstStyle/>
                    <a:p>
                      <a:pPr>
                        <a:defRPr b="1" sz="900">
                          <a:solidFill>
                            <a:srgbClr val="FFFFFF"/>
                          </a:solidFill>
                        </a:defRPr>
                      </a:pPr>
                      <a:r>
                        <a:t>Saving</a:t>
                      </a:r>
                    </a:p>
                  </a:txBody>
                  <a:tcPr>
                    <a:solidFill>
                      <a:srgbClr val="003366"/>
                    </a:solidFill>
                  </a:tcPr>
                </a:tc>
                <a:tc>
                  <a:txBody>
                    <a:bodyPr wrap="square"/>
                    <a:lstStyle/>
                    <a:p>
                      <a:pPr>
                        <a:defRPr b="1" sz="900">
                          <a:solidFill>
                            <a:srgbClr val="FFFFFF"/>
                          </a:solidFill>
                        </a:defRPr>
                      </a:pPr>
                      <a:r>
                        <a:t>Yearly volume (per 1 lakh)</a:t>
                      </a:r>
                    </a:p>
                  </a:txBody>
                  <a:tcPr>
                    <a:solidFill>
                      <a:srgbClr val="003366"/>
                    </a:solidFill>
                  </a:tcPr>
                </a:tc>
                <a:tc>
                  <a:txBody>
                    <a:bodyPr wrap="square"/>
                    <a:lstStyle/>
                    <a:p>
                      <a:pPr>
                        <a:defRPr b="1" sz="900">
                          <a:solidFill>
                            <a:srgbClr val="FFFFFF"/>
                          </a:solidFill>
                        </a:defRPr>
                      </a:pPr>
                      <a:r>
                        <a:t>Saving overall (Saving × Volume)</a:t>
                      </a:r>
                    </a:p>
                  </a:txBody>
                  <a:tcPr>
                    <a:solidFill>
                      <a:srgbClr val="003366"/>
                    </a:solidFill>
                  </a:tcPr>
                </a:tc>
                <a:tc>
                  <a:txBody>
                    <a:bodyPr wrap="square"/>
                    <a:lstStyle/>
                    <a:p>
                      <a:pPr>
                        <a:defRPr b="1" sz="900">
                          <a:solidFill>
                            <a:srgbClr val="FFFFFF"/>
                          </a:solidFill>
                        </a:defRPr>
                      </a:pPr>
                      <a:r>
                        <a:t>Status (Accept/Reject)</a:t>
                      </a:r>
                    </a:p>
                  </a:txBody>
                  <a:tcPr>
                    <a:solidFill>
                      <a:srgbClr val="003366"/>
                    </a:solidFill>
                  </a:tcPr>
                </a:tc>
                <a:tc>
                  <a:txBody>
                    <a:bodyPr wrap="square"/>
                    <a:lstStyle/>
                    <a:p>
                      <a:pPr>
                        <a:defRPr b="1" sz="900">
                          <a:solidFill>
                            <a:srgbClr val="FFFFFF"/>
                          </a:solidFill>
                        </a:defRPr>
                      </a:pPr>
                      <a:r>
                        <a:t>Turnaround time</a:t>
                      </a:r>
                    </a:p>
                  </a:txBody>
                  <a:tcPr>
                    <a:solidFill>
                      <a:srgbClr val="003366"/>
                    </a:solidFill>
                  </a:tcPr>
                </a:tc>
                <a:tc>
                  <a:txBody>
                    <a:bodyPr wrap="square"/>
                    <a:lstStyle/>
                    <a:p>
                      <a:pPr>
                        <a:defRPr b="1" sz="900">
                          <a:solidFill>
                            <a:srgbClr val="FFFFFF"/>
                          </a:solidFill>
                        </a:defRPr>
                      </a:pPr>
                      <a:r>
                        <a:t>Required volume yearly</a:t>
                      </a:r>
                    </a:p>
                  </a:txBody>
                  <a:tcPr>
                    <a:solidFill>
                      <a:srgbClr val="003366"/>
                    </a:solidFill>
                  </a:tcPr>
                </a:tc>
              </a:tr>
              <a:tr h="391477">
                <a:tc>
                  <a:txBody>
                    <a:bodyPr wrap="square" lIns="50800" rIns="50800" tIns="25400" bIns="25400"/>
                    <a:lstStyle/>
                    <a:p>
                      <a:pPr>
                        <a:defRPr sz="800">
                          <a:solidFill>
                            <a:srgbClr val="333333"/>
                          </a:solidFill>
                          <a:latin typeface="Calibri"/>
                        </a:defRPr>
                      </a:pPr>
                      <a:r>
                        <a:t>2311-SP-ID-01</a:t>
                      </a:r>
                    </a:p>
                  </a:txBody>
                  <a:tcPr/>
                </a:tc>
                <a:tc>
                  <a:txBody>
                    <a:bodyPr wrap="square" lIns="50800" rIns="50800" tIns="25400" bIns="25400"/>
                    <a:lstStyle/>
                    <a:p>
                      <a:pPr>
                        <a:defRPr sz="800">
                          <a:solidFill>
                            <a:srgbClr val="333333"/>
                          </a:solidFill>
                          <a:latin typeface="Calibri"/>
                        </a:defRPr>
                      </a:pPr>
                      <a:r>
                        <a:t>1. Reduce the overall wall thickness of the Brake Dust Cover Plates present on all four wheel hubs of the vehicles from 1mm to 0.8mm</a:t>
                      </a:r>
                      <a:br/>
                      <a:r>
                        <a:t>2. Reduce the paint coating thickness on each side of all four plates from 56 microns to 27.8 microns</a:t>
                      </a:r>
                    </a:p>
                  </a:txBody>
                  <a:tcPr/>
                </a:tc>
                <a:tc>
                  <a:txBody>
                    <a:bodyPr wrap="square" lIns="50800" rIns="50800" tIns="25400" bIns="25400"/>
                    <a:lstStyle/>
                    <a:p>
                      <a:pPr>
                        <a:defRPr sz="800">
                          <a:solidFill>
                            <a:srgbClr val="333333"/>
                          </a:solidFill>
                          <a:latin typeface="Calibri"/>
                        </a:defRPr>
                      </a:pPr>
                    </a:p>
                  </a:txBody>
                  <a:tcPr/>
                </a:tc>
                <a:tc>
                  <a:txBody>
                    <a:bodyPr wrap="square" lIns="50800" rIns="50800" tIns="25400" bIns="25400"/>
                    <a:lstStyle/>
                    <a:p>
                      <a:pPr>
                        <a:defRPr sz="800">
                          <a:solidFill>
                            <a:srgbClr val="333333"/>
                          </a:solidFill>
                          <a:latin typeface="Calibri"/>
                        </a:defRPr>
                      </a:pPr>
                      <a:r>
                        <a:t>57</a:t>
                      </a:r>
                    </a:p>
                  </a:txBody>
                  <a:tcPr/>
                </a:tc>
                <a:tc>
                  <a:txBody>
                    <a:bodyPr wrap="square" lIns="50800" rIns="50800" tIns="25400" bIns="25400"/>
                    <a:lstStyle/>
                    <a:p>
                      <a:pPr>
                        <a:defRPr sz="800">
                          <a:solidFill>
                            <a:srgbClr val="333333"/>
                          </a:solidFill>
                          <a:latin typeface="Calibri"/>
                        </a:defRPr>
                      </a:pPr>
                      <a:r>
                        <a:t>100000</a:t>
                      </a:r>
                    </a:p>
                  </a:txBody>
                  <a:tcPr/>
                </a:tc>
                <a:tc>
                  <a:txBody>
                    <a:bodyPr wrap="square" lIns="50800" rIns="50800" tIns="25400" bIns="25400"/>
                    <a:lstStyle/>
                    <a:p>
                      <a:pPr>
                        <a:defRPr sz="800">
                          <a:solidFill>
                            <a:srgbClr val="333333"/>
                          </a:solidFill>
                          <a:latin typeface="Calibri"/>
                        </a:defRPr>
                      </a:pPr>
                      <a:r>
                        <a:t>5,700,000</a:t>
                      </a:r>
                    </a:p>
                  </a:txBody>
                  <a:tcPr/>
                </a:tc>
                <a:tc>
                  <a:txBody>
                    <a:bodyPr wrap="square" lIns="50800" rIns="50800" tIns="25400" bIns="25400"/>
                    <a:lstStyle/>
                    <a:p>
                      <a:pPr>
                        <a:defRPr sz="800">
                          <a:solidFill>
                            <a:srgbClr val="333333"/>
                          </a:solidFill>
                          <a:latin typeface="Calibri"/>
                        </a:defRPr>
                      </a:pPr>
                      <a:r>
                        <a:t>NG</a:t>
                      </a:r>
                    </a:p>
                  </a:txBody>
                  <a:tcPr/>
                </a:tc>
                <a:tc>
                  <a:txBody>
                    <a:bodyPr wrap="square" lIns="50800" rIns="50800" tIns="25400" bIns="25400"/>
                    <a:lstStyle/>
                    <a:p>
                      <a:pPr>
                        <a:defRPr sz="800">
                          <a:solidFill>
                            <a:srgbClr val="333333"/>
                          </a:solidFill>
                          <a:latin typeface="Calibri"/>
                        </a:defRPr>
                      </a:pPr>
                    </a:p>
                  </a:txBody>
                  <a:tcPr/>
                </a:tc>
                <a:tc>
                  <a:txBody>
                    <a:bodyPr wrap="square" lIns="50800" rIns="50800" tIns="25400" bIns="25400"/>
                    <a:lstStyle/>
                    <a:p>
                      <a:pPr>
                        <a:defRPr sz="800">
                          <a:solidFill>
                            <a:srgbClr val="333333"/>
                          </a:solidFill>
                          <a:latin typeface="Calibri"/>
                        </a:defRPr>
                      </a:pPr>
                      <a:r>
                        <a:t>100000</a:t>
                      </a:r>
                    </a:p>
                  </a:txBody>
                  <a:tcPr/>
                </a:tc>
              </a:tr>
              <a:tr h="391477">
                <a:tc>
                  <a:txBody>
                    <a:bodyPr wrap="square" lIns="50800" rIns="50800" tIns="25400" bIns="25400"/>
                    <a:lstStyle/>
                    <a:p>
                      <a:pPr>
                        <a:defRPr sz="800">
                          <a:solidFill>
                            <a:srgbClr val="333333"/>
                          </a:solidFill>
                          <a:latin typeface="Calibri"/>
                        </a:defRPr>
                      </a:pPr>
                      <a:r>
                        <a:t>2311-BA-ID-01</a:t>
                      </a:r>
                    </a:p>
                  </a:txBody>
                  <a:tcPr/>
                </a:tc>
                <a:tc>
                  <a:txBody>
                    <a:bodyPr wrap="square" lIns="50800" rIns="50800" tIns="25400" bIns="25400"/>
                    <a:lstStyle/>
                    <a:p>
                      <a:pPr>
                        <a:defRPr sz="800">
                          <a:solidFill>
                            <a:srgbClr val="333333"/>
                          </a:solidFill>
                          <a:latin typeface="Calibri"/>
                        </a:defRPr>
                      </a:pPr>
                      <a:r>
                        <a:t>The Brake Booster Plate in MGI could be integrated into the Dashboard BIW of the vehicle as done in KIA</a:t>
                      </a:r>
                    </a:p>
                  </a:txBody>
                  <a:tcPr/>
                </a:tc>
                <a:tc>
                  <a:txBody>
                    <a:bodyPr wrap="square" lIns="50800" rIns="50800" tIns="25400" bIns="25400"/>
                    <a:lstStyle/>
                    <a:p>
                      <a:pPr>
                        <a:defRPr sz="800">
                          <a:solidFill>
                            <a:srgbClr val="333333"/>
                          </a:solidFill>
                          <a:latin typeface="Calibri"/>
                        </a:defRPr>
                      </a:pPr>
                    </a:p>
                  </a:txBody>
                  <a:tcPr/>
                </a:tc>
                <a:tc>
                  <a:txBody>
                    <a:bodyPr wrap="square" lIns="50800" rIns="50800" tIns="25400" bIns="25400"/>
                    <a:lstStyle/>
                    <a:p>
                      <a:pPr>
                        <a:defRPr sz="800">
                          <a:solidFill>
                            <a:srgbClr val="333333"/>
                          </a:solidFill>
                          <a:latin typeface="Calibri"/>
                        </a:defRPr>
                      </a:pPr>
                      <a:r>
                        <a:t>47</a:t>
                      </a:r>
                    </a:p>
                  </a:txBody>
                  <a:tcPr/>
                </a:tc>
                <a:tc>
                  <a:txBody>
                    <a:bodyPr wrap="square" lIns="50800" rIns="50800" tIns="25400" bIns="25400"/>
                    <a:lstStyle/>
                    <a:p>
                      <a:pPr>
                        <a:defRPr sz="800">
                          <a:solidFill>
                            <a:srgbClr val="333333"/>
                          </a:solidFill>
                          <a:latin typeface="Calibri"/>
                        </a:defRPr>
                      </a:pPr>
                      <a:r>
                        <a:t>100000</a:t>
                      </a:r>
                    </a:p>
                  </a:txBody>
                  <a:tcPr/>
                </a:tc>
                <a:tc>
                  <a:txBody>
                    <a:bodyPr wrap="square" lIns="50800" rIns="50800" tIns="25400" bIns="25400"/>
                    <a:lstStyle/>
                    <a:p>
                      <a:pPr>
                        <a:defRPr sz="800">
                          <a:solidFill>
                            <a:srgbClr val="333333"/>
                          </a:solidFill>
                          <a:latin typeface="Calibri"/>
                        </a:defRPr>
                      </a:pPr>
                      <a:r>
                        <a:t>4,700,000</a:t>
                      </a:r>
                    </a:p>
                  </a:txBody>
                  <a:tcPr/>
                </a:tc>
                <a:tc>
                  <a:txBody>
                    <a:bodyPr wrap="square" lIns="50800" rIns="50800" tIns="25400" bIns="25400"/>
                    <a:lstStyle/>
                    <a:p>
                      <a:pPr>
                        <a:defRPr sz="800">
                          <a:solidFill>
                            <a:srgbClr val="333333"/>
                          </a:solidFill>
                          <a:latin typeface="Calibri"/>
                        </a:defRPr>
                      </a:pPr>
                      <a:r>
                        <a:t>NG</a:t>
                      </a:r>
                    </a:p>
                  </a:txBody>
                  <a:tcPr/>
                </a:tc>
                <a:tc>
                  <a:txBody>
                    <a:bodyPr wrap="square" lIns="50800" rIns="50800" tIns="25400" bIns="25400"/>
                    <a:lstStyle/>
                    <a:p>
                      <a:pPr>
                        <a:defRPr sz="800">
                          <a:solidFill>
                            <a:srgbClr val="333333"/>
                          </a:solidFill>
                          <a:latin typeface="Calibri"/>
                        </a:defRPr>
                      </a:pPr>
                    </a:p>
                  </a:txBody>
                  <a:tcPr/>
                </a:tc>
                <a:tc>
                  <a:txBody>
                    <a:bodyPr wrap="square" lIns="50800" rIns="50800" tIns="25400" bIns="25400"/>
                    <a:lstStyle/>
                    <a:p>
                      <a:pPr>
                        <a:defRPr sz="800">
                          <a:solidFill>
                            <a:srgbClr val="333333"/>
                          </a:solidFill>
                          <a:latin typeface="Calibri"/>
                        </a:defRPr>
                      </a:pPr>
                      <a:r>
                        <a:t>100000</a:t>
                      </a:r>
                    </a:p>
                  </a:txBody>
                  <a:tcPr/>
                </a:tc>
              </a:tr>
              <a:tr h="391477">
                <a:tc>
                  <a:txBody>
                    <a:bodyPr wrap="square" lIns="50800" rIns="50800" tIns="25400" bIns="25400"/>
                    <a:lstStyle/>
                    <a:p>
                      <a:pPr>
                        <a:defRPr sz="800">
                          <a:solidFill>
                            <a:srgbClr val="333333"/>
                          </a:solidFill>
                          <a:latin typeface="Calibri"/>
                        </a:defRPr>
                      </a:pPr>
                      <a:r>
                        <a:t>2311-PA-ID-02</a:t>
                      </a:r>
                    </a:p>
                  </a:txBody>
                  <a:tcPr/>
                </a:tc>
                <a:tc>
                  <a:txBody>
                    <a:bodyPr wrap="square" lIns="50800" rIns="50800" tIns="25400" bIns="25400"/>
                    <a:lstStyle/>
                    <a:p>
                      <a:pPr>
                        <a:defRPr sz="800">
                          <a:solidFill>
                            <a:srgbClr val="333333"/>
                          </a:solidFill>
                          <a:latin typeface="Calibri"/>
                        </a:defRPr>
                      </a:pPr>
                      <a:r>
                        <a:t>Redesign the current Brake Pedal Mounting Bracket used in MGI to a similar bracket used in KIA.</a:t>
                      </a:r>
                    </a:p>
                  </a:txBody>
                  <a:tcPr/>
                </a:tc>
                <a:tc>
                  <a:txBody>
                    <a:bodyPr wrap="square" lIns="50800" rIns="50800" tIns="25400" bIns="25400"/>
                    <a:lstStyle/>
                    <a:p>
                      <a:pPr>
                        <a:defRPr sz="800">
                          <a:solidFill>
                            <a:srgbClr val="333333"/>
                          </a:solidFill>
                          <a:latin typeface="Calibri"/>
                        </a:defRPr>
                      </a:pPr>
                    </a:p>
                  </a:txBody>
                  <a:tcPr/>
                </a:tc>
                <a:tc>
                  <a:txBody>
                    <a:bodyPr wrap="square" lIns="50800" rIns="50800" tIns="25400" bIns="25400"/>
                    <a:lstStyle/>
                    <a:p>
                      <a:pPr>
                        <a:defRPr sz="800">
                          <a:solidFill>
                            <a:srgbClr val="333333"/>
                          </a:solidFill>
                          <a:latin typeface="Calibri"/>
                        </a:defRPr>
                      </a:pPr>
                      <a:r>
                        <a:t>113</a:t>
                      </a:r>
                    </a:p>
                  </a:txBody>
                  <a:tcPr/>
                </a:tc>
                <a:tc>
                  <a:txBody>
                    <a:bodyPr wrap="square" lIns="50800" rIns="50800" tIns="25400" bIns="25400"/>
                    <a:lstStyle/>
                    <a:p>
                      <a:pPr>
                        <a:defRPr sz="800">
                          <a:solidFill>
                            <a:srgbClr val="333333"/>
                          </a:solidFill>
                          <a:latin typeface="Calibri"/>
                        </a:defRPr>
                      </a:pPr>
                      <a:r>
                        <a:t>100000</a:t>
                      </a:r>
                    </a:p>
                  </a:txBody>
                  <a:tcPr/>
                </a:tc>
                <a:tc>
                  <a:txBody>
                    <a:bodyPr wrap="square" lIns="50800" rIns="50800" tIns="25400" bIns="25400"/>
                    <a:lstStyle/>
                    <a:p>
                      <a:pPr>
                        <a:defRPr sz="800">
                          <a:solidFill>
                            <a:srgbClr val="333333"/>
                          </a:solidFill>
                          <a:latin typeface="Calibri"/>
                        </a:defRPr>
                      </a:pPr>
                      <a:r>
                        <a:t>11,300,000</a:t>
                      </a:r>
                    </a:p>
                  </a:txBody>
                  <a:tcPr/>
                </a:tc>
                <a:tc>
                  <a:txBody>
                    <a:bodyPr wrap="square" lIns="50800" rIns="50800" tIns="25400" bIns="25400"/>
                    <a:lstStyle/>
                    <a:p>
                      <a:pPr>
                        <a:defRPr sz="800">
                          <a:solidFill>
                            <a:srgbClr val="333333"/>
                          </a:solidFill>
                          <a:latin typeface="Calibri"/>
                        </a:defRPr>
                      </a:pPr>
                      <a:r>
                        <a:t>TBD</a:t>
                      </a:r>
                    </a:p>
                  </a:txBody>
                  <a:tcPr/>
                </a:tc>
                <a:tc>
                  <a:txBody>
                    <a:bodyPr wrap="square" lIns="50800" rIns="50800" tIns="25400" bIns="25400"/>
                    <a:lstStyle/>
                    <a:p>
                      <a:pPr>
                        <a:defRPr sz="800">
                          <a:solidFill>
                            <a:srgbClr val="333333"/>
                          </a:solidFill>
                          <a:latin typeface="Calibri"/>
                        </a:defRPr>
                      </a:pPr>
                    </a:p>
                  </a:txBody>
                  <a:tcPr/>
                </a:tc>
                <a:tc>
                  <a:txBody>
                    <a:bodyPr wrap="square" lIns="50800" rIns="50800" tIns="25400" bIns="25400"/>
                    <a:lstStyle/>
                    <a:p>
                      <a:pPr>
                        <a:defRPr sz="800">
                          <a:solidFill>
                            <a:srgbClr val="333333"/>
                          </a:solidFill>
                          <a:latin typeface="Calibri"/>
                        </a:defRPr>
                      </a:pPr>
                      <a:r>
                        <a:t>100000</a:t>
                      </a:r>
                    </a:p>
                  </a:txBody>
                  <a:tcPr/>
                </a:tc>
              </a:tr>
              <a:tr h="391477">
                <a:tc>
                  <a:txBody>
                    <a:bodyPr wrap="square" lIns="50800" rIns="50800" tIns="25400" bIns="25400"/>
                    <a:lstStyle/>
                    <a:p>
                      <a:pPr>
                        <a:defRPr sz="800">
                          <a:solidFill>
                            <a:srgbClr val="333333"/>
                          </a:solidFill>
                          <a:latin typeface="Calibri"/>
                        </a:defRPr>
                      </a:pPr>
                      <a:r>
                        <a:t>AI-GEN-001</a:t>
                      </a:r>
                    </a:p>
                  </a:txBody>
                  <a:tcPr/>
                </a:tc>
                <a:tc>
                  <a:txBody>
                    <a:bodyPr wrap="square" lIns="50800" rIns="50800" tIns="25400" bIns="25400"/>
                    <a:lstStyle/>
                    <a:p>
                      <a:pPr>
                        <a:defRPr sz="800">
                          <a:solidFill>
                            <a:srgbClr val="333333"/>
                          </a:solidFill>
                          <a:latin typeface="Calibri"/>
                        </a:defRPr>
                      </a:pPr>
                      <a:r>
                        <a:t>Replace the current cast iron brake rotor material for the front axle with a lower-density, high-strength aluminum alloy (e.g., 7075-T6) with a cast-in steel friction ring.</a:t>
                      </a:r>
                    </a:p>
                  </a:txBody>
                  <a:tcPr/>
                </a:tc>
                <a:tc>
                  <a:txBody>
                    <a:bodyPr wrap="square" lIns="50800" rIns="50800" tIns="25400" bIns="25400"/>
                    <a:lstStyle/>
                    <a:p>
                      <a:pPr>
                        <a:defRPr sz="800">
                          <a:solidFill>
                            <a:srgbClr val="333333"/>
                          </a:solidFill>
                          <a:latin typeface="Calibri"/>
                        </a:defRPr>
                      </a:pPr>
                    </a:p>
                  </a:txBody>
                  <a:tcPr/>
                </a:tc>
                <a:tc>
                  <a:txBody>
                    <a:bodyPr wrap="square" lIns="50800" rIns="50800" tIns="25400" bIns="25400"/>
                    <a:lstStyle/>
                    <a:p>
                      <a:pPr>
                        <a:defRPr sz="800">
                          <a:solidFill>
                            <a:srgbClr val="333333"/>
                          </a:solidFill>
                          <a:latin typeface="Calibri"/>
                        </a:defRPr>
                      </a:pPr>
                      <a:r>
                        <a:t>4500000</a:t>
                      </a:r>
                    </a:p>
                  </a:txBody>
                  <a:tcPr/>
                </a:tc>
                <a:tc>
                  <a:txBody>
                    <a:bodyPr wrap="square" lIns="50800" rIns="50800" tIns="25400" bIns="25400"/>
                    <a:lstStyle/>
                    <a:p>
                      <a:pPr>
                        <a:defRPr sz="800">
                          <a:solidFill>
                            <a:srgbClr val="333333"/>
                          </a:solidFill>
                          <a:latin typeface="Calibri"/>
                        </a:defRPr>
                      </a:pPr>
                      <a:r>
                        <a:t>100000</a:t>
                      </a:r>
                    </a:p>
                  </a:txBody>
                  <a:tcPr/>
                </a:tc>
                <a:tc>
                  <a:txBody>
                    <a:bodyPr wrap="square" lIns="50800" rIns="50800" tIns="25400" bIns="25400"/>
                    <a:lstStyle/>
                    <a:p>
                      <a:pPr>
                        <a:defRPr sz="800">
                          <a:solidFill>
                            <a:srgbClr val="333333"/>
                          </a:solidFill>
                          <a:latin typeface="Calibri"/>
                        </a:defRPr>
                      </a:pPr>
                      <a:r>
                        <a:t>450,000,000,000</a:t>
                      </a:r>
                    </a:p>
                  </a:txBody>
                  <a:tcPr/>
                </a:tc>
                <a:tc>
                  <a:txBody>
                    <a:bodyPr wrap="square" lIns="50800" rIns="50800" tIns="25400" bIns="25400"/>
                    <a:lstStyle/>
                    <a:p>
                      <a:pPr>
                        <a:defRPr sz="800">
                          <a:solidFill>
                            <a:srgbClr val="333333"/>
                          </a:solidFill>
                          <a:latin typeface="Calibri"/>
                        </a:defRPr>
                      </a:pPr>
                      <a:r>
                        <a:t>Auto-Approved</a:t>
                      </a:r>
                    </a:p>
                  </a:txBody>
                  <a:tcPr/>
                </a:tc>
                <a:tc>
                  <a:txBody>
                    <a:bodyPr wrap="square" lIns="50800" rIns="50800" tIns="25400" bIns="25400"/>
                    <a:lstStyle/>
                    <a:p>
                      <a:pPr>
                        <a:defRPr sz="800">
                          <a:solidFill>
                            <a:srgbClr val="333333"/>
                          </a:solidFill>
                          <a:latin typeface="Calibri"/>
                        </a:defRPr>
                      </a:pPr>
                    </a:p>
                  </a:txBody>
                  <a:tcPr/>
                </a:tc>
                <a:tc>
                  <a:txBody>
                    <a:bodyPr wrap="square" lIns="50800" rIns="50800" tIns="25400" bIns="25400"/>
                    <a:lstStyle/>
                    <a:p>
                      <a:pPr>
                        <a:defRPr sz="800">
                          <a:solidFill>
                            <a:srgbClr val="333333"/>
                          </a:solidFill>
                          <a:latin typeface="Calibri"/>
                        </a:defRPr>
                      </a:pPr>
                      <a:r>
                        <a:t>100000</a:t>
                      </a:r>
                    </a:p>
                  </a:txBody>
                  <a:tcPr/>
                </a:tc>
              </a:tr>
              <a:tr h="391477">
                <a:tc>
                  <a:txBody>
                    <a:bodyPr wrap="square" lIns="50800" rIns="50800" tIns="25400" bIns="25400"/>
                    <a:lstStyle/>
                    <a:p>
                      <a:pPr>
                        <a:defRPr sz="800">
                          <a:solidFill>
                            <a:srgbClr val="333333"/>
                          </a:solidFill>
                          <a:latin typeface="Calibri"/>
                        </a:defRPr>
                      </a:pPr>
                      <a:r>
                        <a:t>AI-GEN-002</a:t>
                      </a:r>
                    </a:p>
                  </a:txBody>
                  <a:tcPr/>
                </a:tc>
                <a:tc>
                  <a:txBody>
                    <a:bodyPr wrap="square" lIns="50800" rIns="50800" tIns="25400" bIns="25400"/>
                    <a:lstStyle/>
                    <a:p>
                      <a:pPr>
                        <a:defRPr sz="800">
                          <a:solidFill>
                            <a:srgbClr val="333333"/>
                          </a:solidFill>
                          <a:latin typeface="Calibri"/>
                        </a:defRPr>
                      </a:pPr>
                      <a:r>
                        <a:t>Optimize the caliper piston bore diameter for the front brake calipers, slightly reducing it while maintaining required hydraulic force, potentially using a lighter caliper housing material like a high-strength aluminum alloy (e.g., 6061-T6).</a:t>
                      </a:r>
                    </a:p>
                  </a:txBody>
                  <a:tcPr/>
                </a:tc>
                <a:tc>
                  <a:txBody>
                    <a:bodyPr wrap="square" lIns="50800" rIns="50800" tIns="25400" bIns="25400"/>
                    <a:lstStyle/>
                    <a:p>
                      <a:pPr>
                        <a:defRPr sz="800">
                          <a:solidFill>
                            <a:srgbClr val="333333"/>
                          </a:solidFill>
                          <a:latin typeface="Calibri"/>
                        </a:defRPr>
                      </a:pPr>
                    </a:p>
                  </a:txBody>
                  <a:tcPr/>
                </a:tc>
                <a:tc>
                  <a:txBody>
                    <a:bodyPr wrap="square" lIns="50800" rIns="50800" tIns="25400" bIns="25400"/>
                    <a:lstStyle/>
                    <a:p>
                      <a:pPr>
                        <a:defRPr sz="800">
                          <a:solidFill>
                            <a:srgbClr val="333333"/>
                          </a:solidFill>
                          <a:latin typeface="Calibri"/>
                        </a:defRPr>
                      </a:pPr>
                      <a:r>
                        <a:t>3000000</a:t>
                      </a:r>
                    </a:p>
                  </a:txBody>
                  <a:tcPr/>
                </a:tc>
                <a:tc>
                  <a:txBody>
                    <a:bodyPr wrap="square" lIns="50800" rIns="50800" tIns="25400" bIns="25400"/>
                    <a:lstStyle/>
                    <a:p>
                      <a:pPr>
                        <a:defRPr sz="800">
                          <a:solidFill>
                            <a:srgbClr val="333333"/>
                          </a:solidFill>
                          <a:latin typeface="Calibri"/>
                        </a:defRPr>
                      </a:pPr>
                      <a:r>
                        <a:t>100000</a:t>
                      </a:r>
                    </a:p>
                  </a:txBody>
                  <a:tcPr/>
                </a:tc>
                <a:tc>
                  <a:txBody>
                    <a:bodyPr wrap="square" lIns="50800" rIns="50800" tIns="25400" bIns="25400"/>
                    <a:lstStyle/>
                    <a:p>
                      <a:pPr>
                        <a:defRPr sz="800">
                          <a:solidFill>
                            <a:srgbClr val="333333"/>
                          </a:solidFill>
                          <a:latin typeface="Calibri"/>
                        </a:defRPr>
                      </a:pPr>
                      <a:r>
                        <a:t>300,000,000,000</a:t>
                      </a:r>
                    </a:p>
                  </a:txBody>
                  <a:tcPr/>
                </a:tc>
                <a:tc>
                  <a:txBody>
                    <a:bodyPr wrap="square" lIns="50800" rIns="50800" tIns="25400" bIns="25400"/>
                    <a:lstStyle/>
                    <a:p>
                      <a:pPr>
                        <a:defRPr sz="800">
                          <a:solidFill>
                            <a:srgbClr val="333333"/>
                          </a:solidFill>
                          <a:latin typeface="Calibri"/>
                        </a:defRPr>
                      </a:pPr>
                      <a:r>
                        <a:t>Auto-Approved</a:t>
                      </a:r>
                    </a:p>
                  </a:txBody>
                  <a:tcPr/>
                </a:tc>
                <a:tc>
                  <a:txBody>
                    <a:bodyPr wrap="square" lIns="50800" rIns="50800" tIns="25400" bIns="25400"/>
                    <a:lstStyle/>
                    <a:p>
                      <a:pPr>
                        <a:defRPr sz="800">
                          <a:solidFill>
                            <a:srgbClr val="333333"/>
                          </a:solidFill>
                          <a:latin typeface="Calibri"/>
                        </a:defRPr>
                      </a:pPr>
                    </a:p>
                  </a:txBody>
                  <a:tcPr/>
                </a:tc>
                <a:tc>
                  <a:txBody>
                    <a:bodyPr wrap="square" lIns="50800" rIns="50800" tIns="25400" bIns="25400"/>
                    <a:lstStyle/>
                    <a:p>
                      <a:pPr>
                        <a:defRPr sz="800">
                          <a:solidFill>
                            <a:srgbClr val="333333"/>
                          </a:solidFill>
                          <a:latin typeface="Calibri"/>
                        </a:defRPr>
                      </a:pPr>
                      <a:r>
                        <a:t>100000</a:t>
                      </a:r>
                    </a:p>
                  </a:txBody>
                  <a:tcPr/>
                </a:tc>
              </a:tr>
              <a:tr h="391477">
                <a:tc>
                  <a:txBody>
                    <a:bodyPr wrap="square" lIns="50800" rIns="50800" tIns="25400" bIns="25400"/>
                    <a:lstStyle/>
                    <a:p>
                      <a:pPr>
                        <a:defRPr sz="800">
                          <a:solidFill>
                            <a:srgbClr val="333333"/>
                          </a:solidFill>
                          <a:latin typeface="Calibri"/>
                        </a:defRPr>
                      </a:pPr>
                      <a:r>
                        <a:t>AI-GEN-005</a:t>
                      </a:r>
                    </a:p>
                  </a:txBody>
                  <a:tcPr/>
                </a:tc>
                <a:tc>
                  <a:txBody>
                    <a:bodyPr wrap="square" lIns="50800" rIns="50800" tIns="25400" bIns="25400"/>
                    <a:lstStyle/>
                    <a:p>
                      <a:pPr>
                        <a:defRPr sz="800">
                          <a:solidFill>
                            <a:srgbClr val="333333"/>
                          </a:solidFill>
                          <a:latin typeface="Calibri"/>
                        </a:defRPr>
                      </a:pPr>
                      <a:r>
                        <a:t>Redesign the brake caliper mounting bracket for the front axle to utilize a simpler, more efficient casting process (e.g., gravity die casting instead of sand casting) and a slightly lower grade of ductile iron, while ensuring FEA validation for strength and stiffness.</a:t>
                      </a:r>
                    </a:p>
                  </a:txBody>
                  <a:tcPr/>
                </a:tc>
                <a:tc>
                  <a:txBody>
                    <a:bodyPr wrap="square" lIns="50800" rIns="50800" tIns="25400" bIns="25400"/>
                    <a:lstStyle/>
                    <a:p>
                      <a:pPr>
                        <a:defRPr sz="800">
                          <a:solidFill>
                            <a:srgbClr val="333333"/>
                          </a:solidFill>
                          <a:latin typeface="Calibri"/>
                        </a:defRPr>
                      </a:pPr>
                    </a:p>
                  </a:txBody>
                  <a:tcPr/>
                </a:tc>
                <a:tc>
                  <a:txBody>
                    <a:bodyPr wrap="square" lIns="50800" rIns="50800" tIns="25400" bIns="25400"/>
                    <a:lstStyle/>
                    <a:p>
                      <a:pPr>
                        <a:defRPr sz="800">
                          <a:solidFill>
                            <a:srgbClr val="333333"/>
                          </a:solidFill>
                          <a:latin typeface="Calibri"/>
                        </a:defRPr>
                      </a:pPr>
                      <a:r>
                        <a:t>3500000</a:t>
                      </a:r>
                    </a:p>
                  </a:txBody>
                  <a:tcPr/>
                </a:tc>
                <a:tc>
                  <a:txBody>
                    <a:bodyPr wrap="square" lIns="50800" rIns="50800" tIns="25400" bIns="25400"/>
                    <a:lstStyle/>
                    <a:p>
                      <a:pPr>
                        <a:defRPr sz="800">
                          <a:solidFill>
                            <a:srgbClr val="333333"/>
                          </a:solidFill>
                          <a:latin typeface="Calibri"/>
                        </a:defRPr>
                      </a:pPr>
                      <a:r>
                        <a:t>100000</a:t>
                      </a:r>
                    </a:p>
                  </a:txBody>
                  <a:tcPr/>
                </a:tc>
                <a:tc>
                  <a:txBody>
                    <a:bodyPr wrap="square" lIns="50800" rIns="50800" tIns="25400" bIns="25400"/>
                    <a:lstStyle/>
                    <a:p>
                      <a:pPr>
                        <a:defRPr sz="800">
                          <a:solidFill>
                            <a:srgbClr val="333333"/>
                          </a:solidFill>
                          <a:latin typeface="Calibri"/>
                        </a:defRPr>
                      </a:pPr>
                      <a:r>
                        <a:t>350,000,000,000</a:t>
                      </a:r>
                    </a:p>
                  </a:txBody>
                  <a:tcPr/>
                </a:tc>
                <a:tc>
                  <a:txBody>
                    <a:bodyPr wrap="square" lIns="50800" rIns="50800" tIns="25400" bIns="25400"/>
                    <a:lstStyle/>
                    <a:p>
                      <a:pPr>
                        <a:defRPr sz="800">
                          <a:solidFill>
                            <a:srgbClr val="333333"/>
                          </a:solidFill>
                          <a:latin typeface="Calibri"/>
                        </a:defRPr>
                      </a:pPr>
                      <a:r>
                        <a:t>Auto-Approved</a:t>
                      </a:r>
                    </a:p>
                  </a:txBody>
                  <a:tcPr/>
                </a:tc>
                <a:tc>
                  <a:txBody>
                    <a:bodyPr wrap="square" lIns="50800" rIns="50800" tIns="25400" bIns="25400"/>
                    <a:lstStyle/>
                    <a:p>
                      <a:pPr>
                        <a:defRPr sz="800">
                          <a:solidFill>
                            <a:srgbClr val="333333"/>
                          </a:solidFill>
                          <a:latin typeface="Calibri"/>
                        </a:defRPr>
                      </a:pPr>
                    </a:p>
                  </a:txBody>
                  <a:tcPr/>
                </a:tc>
                <a:tc>
                  <a:txBody>
                    <a:bodyPr wrap="square" lIns="50800" rIns="50800" tIns="25400" bIns="25400"/>
                    <a:lstStyle/>
                    <a:p>
                      <a:pPr>
                        <a:defRPr sz="800">
                          <a:solidFill>
                            <a:srgbClr val="333333"/>
                          </a:solidFill>
                          <a:latin typeface="Calibri"/>
                        </a:defRPr>
                      </a:pPr>
                      <a:r>
                        <a:t>100000</a:t>
                      </a:r>
                    </a:p>
                  </a:txBody>
                  <a:tcPr/>
                </a:tc>
              </a:tr>
              <a:tr h="391477">
                <a:tc>
                  <a:txBody>
                    <a:bodyPr wrap="square" lIns="50800" rIns="50800" tIns="25400" bIns="25400"/>
                    <a:lstStyle/>
                    <a:p>
                      <a:pPr>
                        <a:defRPr sz="800">
                          <a:solidFill>
                            <a:srgbClr val="333333"/>
                          </a:solidFill>
                          <a:latin typeface="Calibri"/>
                        </a:defRPr>
                      </a:pPr>
                      <a:r>
                        <a:t>AI-GEN-006</a:t>
                      </a:r>
                    </a:p>
                  </a:txBody>
                  <a:tcPr/>
                </a:tc>
                <a:tc>
                  <a:txBody>
                    <a:bodyPr wrap="square" lIns="50800" rIns="50800" tIns="25400" bIns="25400"/>
                    <a:lstStyle/>
                    <a:p>
                      <a:pPr>
                        <a:defRPr sz="800">
                          <a:solidFill>
                            <a:srgbClr val="333333"/>
                          </a:solidFill>
                          <a:latin typeface="Calibri"/>
                        </a:defRPr>
                      </a:pPr>
                      <a:r>
                        <a:t>Implement a thinner gauge (0.7mm instead of 1.0mm) for the brake dust shields on all four wheels, using a higher-strength, corrosion-resistant steel alloy (e.g., galvanized high-strength low-alloy steel).</a:t>
                      </a:r>
                    </a:p>
                  </a:txBody>
                  <a:tcPr/>
                </a:tc>
                <a:tc>
                  <a:txBody>
                    <a:bodyPr wrap="square" lIns="50800" rIns="50800" tIns="25400" bIns="25400"/>
                    <a:lstStyle/>
                    <a:p>
                      <a:pPr>
                        <a:defRPr sz="800">
                          <a:solidFill>
                            <a:srgbClr val="333333"/>
                          </a:solidFill>
                          <a:latin typeface="Calibri"/>
                        </a:defRPr>
                      </a:pPr>
                    </a:p>
                  </a:txBody>
                  <a:tcPr/>
                </a:tc>
                <a:tc>
                  <a:txBody>
                    <a:bodyPr wrap="square" lIns="50800" rIns="50800" tIns="25400" bIns="25400"/>
                    <a:lstStyle/>
                    <a:p>
                      <a:pPr>
                        <a:defRPr sz="800">
                          <a:solidFill>
                            <a:srgbClr val="333333"/>
                          </a:solidFill>
                          <a:latin typeface="Calibri"/>
                        </a:defRPr>
                      </a:pPr>
                      <a:r>
                        <a:t>2500000</a:t>
                      </a:r>
                    </a:p>
                  </a:txBody>
                  <a:tcPr/>
                </a:tc>
                <a:tc>
                  <a:txBody>
                    <a:bodyPr wrap="square" lIns="50800" rIns="50800" tIns="25400" bIns="25400"/>
                    <a:lstStyle/>
                    <a:p>
                      <a:pPr>
                        <a:defRPr sz="800">
                          <a:solidFill>
                            <a:srgbClr val="333333"/>
                          </a:solidFill>
                          <a:latin typeface="Calibri"/>
                        </a:defRPr>
                      </a:pPr>
                      <a:r>
                        <a:t>100000</a:t>
                      </a:r>
                    </a:p>
                  </a:txBody>
                  <a:tcPr/>
                </a:tc>
                <a:tc>
                  <a:txBody>
                    <a:bodyPr wrap="square" lIns="50800" rIns="50800" tIns="25400" bIns="25400"/>
                    <a:lstStyle/>
                    <a:p>
                      <a:pPr>
                        <a:defRPr sz="800">
                          <a:solidFill>
                            <a:srgbClr val="333333"/>
                          </a:solidFill>
                          <a:latin typeface="Calibri"/>
                        </a:defRPr>
                      </a:pPr>
                      <a:r>
                        <a:t>250,000,000,000</a:t>
                      </a:r>
                    </a:p>
                  </a:txBody>
                  <a:tcPr/>
                </a:tc>
                <a:tc>
                  <a:txBody>
                    <a:bodyPr wrap="square" lIns="50800" rIns="50800" tIns="25400" bIns="25400"/>
                    <a:lstStyle/>
                    <a:p>
                      <a:pPr>
                        <a:defRPr sz="800">
                          <a:solidFill>
                            <a:srgbClr val="333333"/>
                          </a:solidFill>
                          <a:latin typeface="Calibri"/>
                        </a:defRPr>
                      </a:pPr>
                      <a:r>
                        <a:t>Auto-Approved</a:t>
                      </a:r>
                    </a:p>
                  </a:txBody>
                  <a:tcPr/>
                </a:tc>
                <a:tc>
                  <a:txBody>
                    <a:bodyPr wrap="square" lIns="50800" rIns="50800" tIns="25400" bIns="25400"/>
                    <a:lstStyle/>
                    <a:p>
                      <a:pPr>
                        <a:defRPr sz="800">
                          <a:solidFill>
                            <a:srgbClr val="333333"/>
                          </a:solidFill>
                          <a:latin typeface="Calibri"/>
                        </a:defRPr>
                      </a:pPr>
                    </a:p>
                  </a:txBody>
                  <a:tcPr/>
                </a:tc>
                <a:tc>
                  <a:txBody>
                    <a:bodyPr wrap="square" lIns="50800" rIns="50800" tIns="25400" bIns="25400"/>
                    <a:lstStyle/>
                    <a:p>
                      <a:pPr>
                        <a:defRPr sz="800">
                          <a:solidFill>
                            <a:srgbClr val="333333"/>
                          </a:solidFill>
                          <a:latin typeface="Calibri"/>
                        </a:defRPr>
                      </a:pPr>
                      <a:r>
                        <a:t>100000</a:t>
                      </a:r>
                    </a:p>
                  </a:txBody>
                  <a:tcPr/>
                </a:tc>
              </a:tr>
              <a:tr h="391477">
                <a:tc>
                  <a:txBody>
                    <a:bodyPr wrap="square" lIns="50800" rIns="50800" tIns="25400" bIns="25400"/>
                    <a:lstStyle/>
                    <a:p>
                      <a:pPr>
                        <a:defRPr sz="800">
                          <a:solidFill>
                            <a:srgbClr val="333333"/>
                          </a:solidFill>
                          <a:latin typeface="Calibri"/>
                        </a:defRPr>
                      </a:pPr>
                      <a:r>
                        <a:t>AI-GEN-008</a:t>
                      </a:r>
                    </a:p>
                  </a:txBody>
                  <a:tcPr/>
                </a:tc>
                <a:tc>
                  <a:txBody>
                    <a:bodyPr wrap="square" lIns="50800" rIns="50800" tIns="25400" bIns="25400"/>
                    <a:lstStyle/>
                    <a:p>
                      <a:pPr>
                        <a:defRPr sz="800">
                          <a:solidFill>
                            <a:srgbClr val="333333"/>
                          </a:solidFill>
                          <a:latin typeface="Calibri"/>
                        </a:defRPr>
                      </a:pPr>
                      <a:r>
                        <a:t>Investigate the use of a lighter, high-performance polymer composite for the brake pedal lever arm instead of steel, provided FEA and physical testing confirm it can withstand the required pedal loads without excessive flex.</a:t>
                      </a:r>
                    </a:p>
                  </a:txBody>
                  <a:tcPr/>
                </a:tc>
                <a:tc>
                  <a:txBody>
                    <a:bodyPr wrap="square" lIns="50800" rIns="50800" tIns="25400" bIns="25400"/>
                    <a:lstStyle/>
                    <a:p>
                      <a:pPr>
                        <a:defRPr sz="800">
                          <a:solidFill>
                            <a:srgbClr val="333333"/>
                          </a:solidFill>
                          <a:latin typeface="Calibri"/>
                        </a:defRPr>
                      </a:pPr>
                    </a:p>
                  </a:txBody>
                  <a:tcPr/>
                </a:tc>
                <a:tc>
                  <a:txBody>
                    <a:bodyPr wrap="square" lIns="50800" rIns="50800" tIns="25400" bIns="25400"/>
                    <a:lstStyle/>
                    <a:p>
                      <a:pPr>
                        <a:defRPr sz="800">
                          <a:solidFill>
                            <a:srgbClr val="333333"/>
                          </a:solidFill>
                          <a:latin typeface="Calibri"/>
                        </a:defRPr>
                      </a:pPr>
                      <a:r>
                        <a:t>2500000</a:t>
                      </a:r>
                    </a:p>
                  </a:txBody>
                  <a:tcPr/>
                </a:tc>
                <a:tc>
                  <a:txBody>
                    <a:bodyPr wrap="square" lIns="50800" rIns="50800" tIns="25400" bIns="25400"/>
                    <a:lstStyle/>
                    <a:p>
                      <a:pPr>
                        <a:defRPr sz="800">
                          <a:solidFill>
                            <a:srgbClr val="333333"/>
                          </a:solidFill>
                          <a:latin typeface="Calibri"/>
                        </a:defRPr>
                      </a:pPr>
                      <a:r>
                        <a:t>100000</a:t>
                      </a:r>
                    </a:p>
                  </a:txBody>
                  <a:tcPr/>
                </a:tc>
                <a:tc>
                  <a:txBody>
                    <a:bodyPr wrap="square" lIns="50800" rIns="50800" tIns="25400" bIns="25400"/>
                    <a:lstStyle/>
                    <a:p>
                      <a:pPr>
                        <a:defRPr sz="800">
                          <a:solidFill>
                            <a:srgbClr val="333333"/>
                          </a:solidFill>
                          <a:latin typeface="Calibri"/>
                        </a:defRPr>
                      </a:pPr>
                      <a:r>
                        <a:t>250,000,000,000</a:t>
                      </a:r>
                    </a:p>
                  </a:txBody>
                  <a:tcPr/>
                </a:tc>
                <a:tc>
                  <a:txBody>
                    <a:bodyPr wrap="square" lIns="50800" rIns="50800" tIns="25400" bIns="25400"/>
                    <a:lstStyle/>
                    <a:p>
                      <a:pPr>
                        <a:defRPr sz="800">
                          <a:solidFill>
                            <a:srgbClr val="333333"/>
                          </a:solidFill>
                          <a:latin typeface="Calibri"/>
                        </a:defRPr>
                      </a:pPr>
                      <a:r>
                        <a:t>Auto-Approved</a:t>
                      </a:r>
                    </a:p>
                  </a:txBody>
                  <a:tcPr/>
                </a:tc>
                <a:tc>
                  <a:txBody>
                    <a:bodyPr wrap="square" lIns="50800" rIns="50800" tIns="25400" bIns="25400"/>
                    <a:lstStyle/>
                    <a:p>
                      <a:pPr>
                        <a:defRPr sz="800">
                          <a:solidFill>
                            <a:srgbClr val="333333"/>
                          </a:solidFill>
                          <a:latin typeface="Calibri"/>
                        </a:defRPr>
                      </a:pPr>
                    </a:p>
                  </a:txBody>
                  <a:tcPr/>
                </a:tc>
                <a:tc>
                  <a:txBody>
                    <a:bodyPr wrap="square" lIns="50800" rIns="50800" tIns="25400" bIns="25400"/>
                    <a:lstStyle/>
                    <a:p>
                      <a:pPr>
                        <a:defRPr sz="800">
                          <a:solidFill>
                            <a:srgbClr val="333333"/>
                          </a:solidFill>
                          <a:latin typeface="Calibri"/>
                        </a:defRPr>
                      </a:pPr>
                      <a:r>
                        <a:t>100000</a:t>
                      </a:r>
                    </a:p>
                  </a:txBody>
                  <a:tcPr/>
                </a:tc>
              </a:tr>
              <a:tr h="391477">
                <a:tc>
                  <a:txBody>
                    <a:bodyPr wrap="square" lIns="50800" rIns="50800" tIns="25400" bIns="25400"/>
                    <a:lstStyle/>
                    <a:p>
                      <a:pPr>
                        <a:defRPr sz="800">
                          <a:solidFill>
                            <a:srgbClr val="333333"/>
                          </a:solidFill>
                          <a:latin typeface="Calibri"/>
                        </a:defRPr>
                      </a:pPr>
                      <a:r>
                        <a:t>AI-GEN-009</a:t>
                      </a:r>
                    </a:p>
                  </a:txBody>
                  <a:tcPr/>
                </a:tc>
                <a:tc>
                  <a:txBody>
                    <a:bodyPr wrap="square" lIns="50800" rIns="50800" tIns="25400" bIns="25400"/>
                    <a:lstStyle/>
                    <a:p>
                      <a:pPr>
                        <a:defRPr sz="800">
                          <a:solidFill>
                            <a:srgbClr val="333333"/>
                          </a:solidFill>
                          <a:latin typeface="Calibri"/>
                        </a:defRPr>
                      </a:pPr>
                      <a:r>
                        <a:t>Reduce the number of mounting bolts for the brake caliper bracket from 4 to 3 on the rear axle, utilizing a higher-strength bolt material and optimized bracket design to maintain structural rigidity.</a:t>
                      </a:r>
                    </a:p>
                  </a:txBody>
                  <a:tcPr/>
                </a:tc>
                <a:tc>
                  <a:txBody>
                    <a:bodyPr wrap="square" lIns="50800" rIns="50800" tIns="25400" bIns="25400"/>
                    <a:lstStyle/>
                    <a:p>
                      <a:pPr>
                        <a:defRPr sz="800">
                          <a:solidFill>
                            <a:srgbClr val="333333"/>
                          </a:solidFill>
                          <a:latin typeface="Calibri"/>
                        </a:defRPr>
                      </a:pPr>
                    </a:p>
                  </a:txBody>
                  <a:tcPr/>
                </a:tc>
                <a:tc>
                  <a:txBody>
                    <a:bodyPr wrap="square" lIns="50800" rIns="50800" tIns="25400" bIns="25400"/>
                    <a:lstStyle/>
                    <a:p>
                      <a:pPr>
                        <a:defRPr sz="800">
                          <a:solidFill>
                            <a:srgbClr val="333333"/>
                          </a:solidFill>
                          <a:latin typeface="Calibri"/>
                        </a:defRPr>
                      </a:pPr>
                      <a:r>
                        <a:t>1000000</a:t>
                      </a:r>
                    </a:p>
                  </a:txBody>
                  <a:tcPr/>
                </a:tc>
                <a:tc>
                  <a:txBody>
                    <a:bodyPr wrap="square" lIns="50800" rIns="50800" tIns="25400" bIns="25400"/>
                    <a:lstStyle/>
                    <a:p>
                      <a:pPr>
                        <a:defRPr sz="800">
                          <a:solidFill>
                            <a:srgbClr val="333333"/>
                          </a:solidFill>
                          <a:latin typeface="Calibri"/>
                        </a:defRPr>
                      </a:pPr>
                      <a:r>
                        <a:t>100000</a:t>
                      </a:r>
                    </a:p>
                  </a:txBody>
                  <a:tcPr/>
                </a:tc>
                <a:tc>
                  <a:txBody>
                    <a:bodyPr wrap="square" lIns="50800" rIns="50800" tIns="25400" bIns="25400"/>
                    <a:lstStyle/>
                    <a:p>
                      <a:pPr>
                        <a:defRPr sz="800">
                          <a:solidFill>
                            <a:srgbClr val="333333"/>
                          </a:solidFill>
                          <a:latin typeface="Calibri"/>
                        </a:defRPr>
                      </a:pPr>
                      <a:r>
                        <a:t>100,000,000,000</a:t>
                      </a:r>
                    </a:p>
                  </a:txBody>
                  <a:tcPr/>
                </a:tc>
                <a:tc>
                  <a:txBody>
                    <a:bodyPr wrap="square" lIns="50800" rIns="50800" tIns="25400" bIns="25400"/>
                    <a:lstStyle/>
                    <a:p>
                      <a:pPr>
                        <a:defRPr sz="800">
                          <a:solidFill>
                            <a:srgbClr val="333333"/>
                          </a:solidFill>
                          <a:latin typeface="Calibri"/>
                        </a:defRPr>
                      </a:pPr>
                      <a:r>
                        <a:t>Auto-Approved</a:t>
                      </a:r>
                    </a:p>
                  </a:txBody>
                  <a:tcPr/>
                </a:tc>
                <a:tc>
                  <a:txBody>
                    <a:bodyPr wrap="square" lIns="50800" rIns="50800" tIns="25400" bIns="25400"/>
                    <a:lstStyle/>
                    <a:p>
                      <a:pPr>
                        <a:defRPr sz="800">
                          <a:solidFill>
                            <a:srgbClr val="333333"/>
                          </a:solidFill>
                          <a:latin typeface="Calibri"/>
                        </a:defRPr>
                      </a:pPr>
                    </a:p>
                  </a:txBody>
                  <a:tcPr/>
                </a:tc>
                <a:tc>
                  <a:txBody>
                    <a:bodyPr wrap="square" lIns="50800" rIns="50800" tIns="25400" bIns="25400"/>
                    <a:lstStyle/>
                    <a:p>
                      <a:pPr>
                        <a:defRPr sz="800">
                          <a:solidFill>
                            <a:srgbClr val="333333"/>
                          </a:solidFill>
                          <a:latin typeface="Calibri"/>
                        </a:defRPr>
                      </a:pPr>
                      <a:r>
                        <a:t>100000</a:t>
                      </a:r>
                    </a:p>
                  </a:txBody>
                  <a:tcPr/>
                </a:tc>
              </a:tr>
              <a:tr h="391477">
                <a:tc>
                  <a:txBody>
                    <a:bodyPr wrap="square" lIns="50800" rIns="50800" tIns="25400" bIns="25400"/>
                    <a:lstStyle/>
                    <a:p>
                      <a:pPr>
                        <a:defRPr sz="800">
                          <a:solidFill>
                            <a:srgbClr val="333333"/>
                          </a:solidFill>
                          <a:latin typeface="Calibri"/>
                        </a:defRPr>
                      </a:pPr>
                      <a:r>
                        <a:t>AI-GEN-012</a:t>
                      </a:r>
                    </a:p>
                  </a:txBody>
                  <a:tcPr/>
                </a:tc>
                <a:tc>
                  <a:txBody>
                    <a:bodyPr wrap="square" lIns="50800" rIns="50800" tIns="25400" bIns="25400"/>
                    <a:lstStyle/>
                    <a:p>
                      <a:pPr>
                        <a:defRPr sz="800">
                          <a:solidFill>
                            <a:srgbClr val="333333"/>
                          </a:solidFill>
                          <a:latin typeface="Calibri"/>
                        </a:defRPr>
                      </a:pPr>
                      <a:r>
                        <a:t>Reduce the wall thickness of the brake caliper casting (both front and rear) by 0.5mm by using a higher-strength aluminum alloy (e.g., 6082-T6) and optimizing the casting geometry based on FEA, while maintaining thermal mass and structural integrity.</a:t>
                      </a:r>
                    </a:p>
                  </a:txBody>
                  <a:tcPr/>
                </a:tc>
                <a:tc>
                  <a:txBody>
                    <a:bodyPr wrap="square" lIns="50800" rIns="50800" tIns="25400" bIns="25400"/>
                    <a:lstStyle/>
                    <a:p>
                      <a:pPr>
                        <a:defRPr sz="800">
                          <a:solidFill>
                            <a:srgbClr val="333333"/>
                          </a:solidFill>
                          <a:latin typeface="Calibri"/>
                        </a:defRPr>
                      </a:pPr>
                    </a:p>
                  </a:txBody>
                  <a:tcPr/>
                </a:tc>
                <a:tc>
                  <a:txBody>
                    <a:bodyPr wrap="square" lIns="50800" rIns="50800" tIns="25400" bIns="25400"/>
                    <a:lstStyle/>
                    <a:p>
                      <a:pPr>
                        <a:defRPr sz="800">
                          <a:solidFill>
                            <a:srgbClr val="333333"/>
                          </a:solidFill>
                          <a:latin typeface="Calibri"/>
                        </a:defRPr>
                      </a:pPr>
                      <a:r>
                        <a:t>3000000</a:t>
                      </a:r>
                    </a:p>
                  </a:txBody>
                  <a:tcPr/>
                </a:tc>
                <a:tc>
                  <a:txBody>
                    <a:bodyPr wrap="square" lIns="50800" rIns="50800" tIns="25400" bIns="25400"/>
                    <a:lstStyle/>
                    <a:p>
                      <a:pPr>
                        <a:defRPr sz="800">
                          <a:solidFill>
                            <a:srgbClr val="333333"/>
                          </a:solidFill>
                          <a:latin typeface="Calibri"/>
                        </a:defRPr>
                      </a:pPr>
                      <a:r>
                        <a:t>100000</a:t>
                      </a:r>
                    </a:p>
                  </a:txBody>
                  <a:tcPr/>
                </a:tc>
                <a:tc>
                  <a:txBody>
                    <a:bodyPr wrap="square" lIns="50800" rIns="50800" tIns="25400" bIns="25400"/>
                    <a:lstStyle/>
                    <a:p>
                      <a:pPr>
                        <a:defRPr sz="800">
                          <a:solidFill>
                            <a:srgbClr val="333333"/>
                          </a:solidFill>
                          <a:latin typeface="Calibri"/>
                        </a:defRPr>
                      </a:pPr>
                      <a:r>
                        <a:t>300,000,000,000</a:t>
                      </a:r>
                    </a:p>
                  </a:txBody>
                  <a:tcPr/>
                </a:tc>
                <a:tc>
                  <a:txBody>
                    <a:bodyPr wrap="square" lIns="50800" rIns="50800" tIns="25400" bIns="25400"/>
                    <a:lstStyle/>
                    <a:p>
                      <a:pPr>
                        <a:defRPr sz="800">
                          <a:solidFill>
                            <a:srgbClr val="333333"/>
                          </a:solidFill>
                          <a:latin typeface="Calibri"/>
                        </a:defRPr>
                      </a:pPr>
                      <a:r>
                        <a:t>Auto-Approved</a:t>
                      </a:r>
                    </a:p>
                  </a:txBody>
                  <a:tcPr/>
                </a:tc>
                <a:tc>
                  <a:txBody>
                    <a:bodyPr wrap="square" lIns="50800" rIns="50800" tIns="25400" bIns="25400"/>
                    <a:lstStyle/>
                    <a:p>
                      <a:pPr>
                        <a:defRPr sz="800">
                          <a:solidFill>
                            <a:srgbClr val="333333"/>
                          </a:solidFill>
                          <a:latin typeface="Calibri"/>
                        </a:defRPr>
                      </a:pPr>
                    </a:p>
                  </a:txBody>
                  <a:tcPr/>
                </a:tc>
                <a:tc>
                  <a:txBody>
                    <a:bodyPr wrap="square" lIns="50800" rIns="50800" tIns="25400" bIns="25400"/>
                    <a:lstStyle/>
                    <a:p>
                      <a:pPr>
                        <a:defRPr sz="800">
                          <a:solidFill>
                            <a:srgbClr val="333333"/>
                          </a:solidFill>
                          <a:latin typeface="Calibri"/>
                        </a:defRPr>
                      </a:pPr>
                      <a:r>
                        <a:t>100000</a:t>
                      </a:r>
                    </a:p>
                  </a:txBody>
                  <a:tcPr/>
                </a:tc>
              </a:tr>
              <a:tr h="391477">
                <a:tc>
                  <a:txBody>
                    <a:bodyPr wrap="square" lIns="50800" rIns="50800" tIns="25400" bIns="25400"/>
                    <a:lstStyle/>
                    <a:p>
                      <a:pPr>
                        <a:defRPr sz="800">
                          <a:solidFill>
                            <a:srgbClr val="333333"/>
                          </a:solidFill>
                          <a:latin typeface="Calibri"/>
                        </a:defRPr>
                      </a:pPr>
                      <a:r>
                        <a:t>AI-GEN-003</a:t>
                      </a:r>
                    </a:p>
                  </a:txBody>
                  <a:tcPr/>
                </a:tc>
                <a:tc>
                  <a:txBody>
                    <a:bodyPr wrap="square" lIns="50800" rIns="50800" tIns="25400" bIns="25400"/>
                    <a:lstStyle/>
                    <a:p>
                      <a:pPr>
                        <a:defRPr sz="800">
                          <a:solidFill>
                            <a:srgbClr val="333333"/>
                          </a:solidFill>
                          <a:latin typeface="Calibri"/>
                        </a:defRPr>
                      </a:pPr>
                      <a:r>
                        <a:t>Reduce the thickness of the rear brake rotor by 1mm (e.g., from 10mm to 9mm) by using a higher-strength cast iron alloy that can maintain structural integrity and thermal capacity.</a:t>
                      </a:r>
                    </a:p>
                  </a:txBody>
                  <a:tcPr/>
                </a:tc>
                <a:tc>
                  <a:txBody>
                    <a:bodyPr wrap="square" lIns="50800" rIns="50800" tIns="25400" bIns="25400"/>
                    <a:lstStyle/>
                    <a:p>
                      <a:pPr>
                        <a:defRPr sz="800">
                          <a:solidFill>
                            <a:srgbClr val="333333"/>
                          </a:solidFill>
                          <a:latin typeface="Calibri"/>
                        </a:defRPr>
                      </a:pPr>
                    </a:p>
                  </a:txBody>
                  <a:tcPr/>
                </a:tc>
                <a:tc>
                  <a:txBody>
                    <a:bodyPr wrap="square" lIns="50800" rIns="50800" tIns="25400" bIns="25400"/>
                    <a:lstStyle/>
                    <a:p>
                      <a:pPr>
                        <a:defRPr sz="800">
                          <a:solidFill>
                            <a:srgbClr val="333333"/>
                          </a:solidFill>
                          <a:latin typeface="Calibri"/>
                        </a:defRPr>
                      </a:pPr>
                      <a:r>
                        <a:t>2000000</a:t>
                      </a:r>
                    </a:p>
                  </a:txBody>
                  <a:tcPr/>
                </a:tc>
                <a:tc>
                  <a:txBody>
                    <a:bodyPr wrap="square" lIns="50800" rIns="50800" tIns="25400" bIns="25400"/>
                    <a:lstStyle/>
                    <a:p>
                      <a:pPr>
                        <a:defRPr sz="800">
                          <a:solidFill>
                            <a:srgbClr val="333333"/>
                          </a:solidFill>
                          <a:latin typeface="Calibri"/>
                        </a:defRPr>
                      </a:pPr>
                      <a:r>
                        <a:t>100000</a:t>
                      </a:r>
                    </a:p>
                  </a:txBody>
                  <a:tcPr/>
                </a:tc>
                <a:tc>
                  <a:txBody>
                    <a:bodyPr wrap="square" lIns="50800" rIns="50800" tIns="25400" bIns="25400"/>
                    <a:lstStyle/>
                    <a:p>
                      <a:pPr>
                        <a:defRPr sz="800">
                          <a:solidFill>
                            <a:srgbClr val="333333"/>
                          </a:solidFill>
                          <a:latin typeface="Calibri"/>
                        </a:defRPr>
                      </a:pPr>
                      <a:r>
                        <a:t>200,000,000,000</a:t>
                      </a:r>
                    </a:p>
                  </a:txBody>
                  <a:tcPr/>
                </a:tc>
                <a:tc>
                  <a:txBody>
                    <a:bodyPr wrap="square" lIns="50800" rIns="50800" tIns="25400" bIns="25400"/>
                    <a:lstStyle/>
                    <a:p>
                      <a:pPr>
                        <a:defRPr sz="800">
                          <a:solidFill>
                            <a:srgbClr val="333333"/>
                          </a:solidFill>
                          <a:latin typeface="Calibri"/>
                        </a:defRPr>
                      </a:pPr>
                      <a:r>
                        <a:t>Needs Human Review</a:t>
                      </a:r>
                    </a:p>
                  </a:txBody>
                  <a:tcPr/>
                </a:tc>
                <a:tc>
                  <a:txBody>
                    <a:bodyPr wrap="square" lIns="50800" rIns="50800" tIns="25400" bIns="25400"/>
                    <a:lstStyle/>
                    <a:p>
                      <a:pPr>
                        <a:defRPr sz="800">
                          <a:solidFill>
                            <a:srgbClr val="333333"/>
                          </a:solidFill>
                          <a:latin typeface="Calibri"/>
                        </a:defRPr>
                      </a:pPr>
                    </a:p>
                  </a:txBody>
                  <a:tcPr/>
                </a:tc>
                <a:tc>
                  <a:txBody>
                    <a:bodyPr wrap="square" lIns="50800" rIns="50800" tIns="25400" bIns="25400"/>
                    <a:lstStyle/>
                    <a:p>
                      <a:pPr>
                        <a:defRPr sz="800">
                          <a:solidFill>
                            <a:srgbClr val="333333"/>
                          </a:solidFill>
                          <a:latin typeface="Calibri"/>
                        </a:defRPr>
                      </a:pPr>
                      <a:r>
                        <a:t>100000</a:t>
                      </a:r>
                    </a:p>
                  </a:txBody>
                  <a:tcPr/>
                </a:tc>
              </a:tr>
              <a:tr h="391477">
                <a:tc>
                  <a:txBody>
                    <a:bodyPr wrap="square" lIns="50800" rIns="50800" tIns="25400" bIns="25400"/>
                    <a:lstStyle/>
                    <a:p>
                      <a:pPr>
                        <a:defRPr sz="800">
                          <a:solidFill>
                            <a:srgbClr val="333333"/>
                          </a:solidFill>
                          <a:latin typeface="Calibri"/>
                        </a:defRPr>
                      </a:pPr>
                      <a:r>
                        <a:t>N/A</a:t>
                      </a:r>
                    </a:p>
                  </a:txBody>
                  <a:tcPr/>
                </a:tc>
                <a:tc>
                  <a:txBody>
                    <a:bodyPr wrap="square" lIns="50800" rIns="50800" tIns="25400" bIns="25400"/>
                    <a:lstStyle/>
                    <a:p>
                      <a:pPr>
                        <a:defRPr sz="800">
                          <a:solidFill>
                            <a:srgbClr val="333333"/>
                          </a:solidFill>
                          <a:latin typeface="Calibri"/>
                        </a:defRPr>
                      </a:pPr>
                      <a:r>
                        <a:t>Investigate the use of advanced lightweight alloys, such as specific magnesium alloys (e.g., AZ91, AM60, or newer variants), for brake caliper housings to reduce unsprung mass. This directly addresses the MG Hector's high kinetic energy due to its weight (1.7T) by improving handling and potentially reducing brake fade through better heat dissipation characteristics of certain alloys. The adaptation focuses on ensuring the chosen magnesium alloy meets the required strength, stiffness, and thermal conductivity to withstand braking forces and temperatures, while also considering tooling CAPEX limitations by evaluating existing casting technologies that can be adapted for these alloys.</a:t>
                      </a:r>
                    </a:p>
                  </a:txBody>
                  <a:tcPr/>
                </a:tc>
                <a:tc>
                  <a:txBody>
                    <a:bodyPr wrap="square" lIns="50800" rIns="50800" tIns="25400" bIns="25400"/>
                    <a:lstStyle/>
                    <a:p>
                      <a:pPr>
                        <a:defRPr sz="800">
                          <a:solidFill>
                            <a:srgbClr val="333333"/>
                          </a:solidFill>
                          <a:latin typeface="Calibri"/>
                        </a:defRPr>
                      </a:pPr>
                    </a:p>
                  </a:txBody>
                  <a:tcPr/>
                </a:tc>
                <a:tc>
                  <a:txBody>
                    <a:bodyPr wrap="square" lIns="50800" rIns="50800" tIns="25400" bIns="25400"/>
                    <a:lstStyle/>
                    <a:p>
                      <a:pPr>
                        <a:defRPr sz="800">
                          <a:solidFill>
                            <a:srgbClr val="333333"/>
                          </a:solidFill>
                          <a:latin typeface="Calibri"/>
                        </a:defRPr>
                      </a:pPr>
                      <a:r>
                        <a:t>TBD</a:t>
                      </a:r>
                    </a:p>
                  </a:txBody>
                  <a:tcPr/>
                </a:tc>
                <a:tc>
                  <a:txBody>
                    <a:bodyPr wrap="square" lIns="50800" rIns="50800" tIns="25400" bIns="25400"/>
                    <a:lstStyle/>
                    <a:p>
                      <a:pPr>
                        <a:defRPr sz="800">
                          <a:solidFill>
                            <a:srgbClr val="333333"/>
                          </a:solidFill>
                          <a:latin typeface="Calibri"/>
                        </a:defRPr>
                      </a:pPr>
                      <a:r>
                        <a:t>100000</a:t>
                      </a:r>
                    </a:p>
                  </a:txBody>
                  <a:tcPr/>
                </a:tc>
                <a:tc>
                  <a:txBody>
                    <a:bodyPr wrap="square" lIns="50800" rIns="50800" tIns="25400" bIns="25400"/>
                    <a:lstStyle/>
                    <a:p>
                      <a:pPr>
                        <a:defRPr sz="800">
                          <a:solidFill>
                            <a:srgbClr val="333333"/>
                          </a:solidFill>
                          <a:latin typeface="Calibri"/>
                        </a:defRPr>
                      </a:pPr>
                      <a:r>
                        <a:t>0</a:t>
                      </a:r>
                    </a:p>
                  </a:txBody>
                  <a:tcPr/>
                </a:tc>
                <a:tc>
                  <a:txBody>
                    <a:bodyPr wrap="square" lIns="50800" rIns="50800" tIns="25400" bIns="25400"/>
                    <a:lstStyle/>
                    <a:p>
                      <a:pPr>
                        <a:defRPr sz="800">
                          <a:solidFill>
                            <a:srgbClr val="333333"/>
                          </a:solidFill>
                          <a:latin typeface="Calibri"/>
                        </a:defRPr>
                      </a:pPr>
                      <a:r>
                        <a:t>Research Paper</a:t>
                      </a:r>
                    </a:p>
                  </a:txBody>
                  <a:tcPr/>
                </a:tc>
                <a:tc>
                  <a:txBody>
                    <a:bodyPr wrap="square" lIns="50800" rIns="50800" tIns="25400" bIns="25400"/>
                    <a:lstStyle/>
                    <a:p>
                      <a:pPr>
                        <a:defRPr sz="800">
                          <a:solidFill>
                            <a:srgbClr val="333333"/>
                          </a:solidFill>
                          <a:latin typeface="Calibri"/>
                        </a:defRPr>
                      </a:pPr>
                    </a:p>
                  </a:txBody>
                  <a:tcPr/>
                </a:tc>
                <a:tc>
                  <a:txBody>
                    <a:bodyPr wrap="square" lIns="50800" rIns="50800" tIns="25400" bIns="25400"/>
                    <a:lstStyle/>
                    <a:p>
                      <a:pPr>
                        <a:defRPr sz="800">
                          <a:solidFill>
                            <a:srgbClr val="333333"/>
                          </a:solidFill>
                          <a:latin typeface="Calibri"/>
                        </a:defRPr>
                      </a:pPr>
                      <a:r>
                        <a:t>100000</a:t>
                      </a:r>
                    </a:p>
                  </a:txBody>
                  <a:tcPr/>
                </a:tc>
              </a:tr>
              <a:tr h="391477">
                <a:tc>
                  <a:txBody>
                    <a:bodyPr wrap="square" lIns="50800" rIns="50800" tIns="25400" bIns="25400"/>
                    <a:lstStyle/>
                    <a:p>
                      <a:pPr>
                        <a:defRPr sz="800">
                          <a:solidFill>
                            <a:srgbClr val="333333"/>
                          </a:solidFill>
                          <a:latin typeface="Calibri"/>
                        </a:defRPr>
                      </a:pPr>
                      <a:r>
                        <a:t>N/A</a:t>
                      </a:r>
                    </a:p>
                  </a:txBody>
                  <a:tcPr/>
                </a:tc>
                <a:tc>
                  <a:txBody>
                    <a:bodyPr wrap="square" lIns="50800" rIns="50800" tIns="25400" bIns="25400"/>
                    <a:lstStyle/>
                    <a:p>
                      <a:pPr>
                        <a:defRPr sz="800">
                          <a:solidFill>
                            <a:srgbClr val="333333"/>
                          </a:solidFill>
                          <a:latin typeface="Calibri"/>
                        </a:defRPr>
                      </a:pPr>
                      <a:r>
                        <a:t>Optimize the dust shield gauge and material for the MG Hector's brake assembly. While dust shields are typically made of steel, exploring thinner gauge, higher-strength steel or even a coated aluminum alloy could reduce weight and material cost. This proposal leverages the 'Design for Manufacturing Cost Reduction' trend by focusing on a less critical component's material and thickness. The adaptation to the MG Hector involves ensuring the chosen material and gauge still provide adequate protection against road debris and dust ingress, maintaining the required durability without compromising safety or increasing the risk of corrosion, considering the vehicle's segment and expected lifespan. The 'no rear IRS changes' constraint is respected as this focuses on the front braking system components.</a:t>
                      </a:r>
                    </a:p>
                  </a:txBody>
                  <a:tcPr/>
                </a:tc>
                <a:tc>
                  <a:txBody>
                    <a:bodyPr wrap="square" lIns="50800" rIns="50800" tIns="25400" bIns="25400"/>
                    <a:lstStyle/>
                    <a:p>
                      <a:pPr>
                        <a:defRPr sz="800">
                          <a:solidFill>
                            <a:srgbClr val="333333"/>
                          </a:solidFill>
                          <a:latin typeface="Calibri"/>
                        </a:defRPr>
                      </a:pPr>
                    </a:p>
                  </a:txBody>
                  <a:tcPr/>
                </a:tc>
                <a:tc>
                  <a:txBody>
                    <a:bodyPr wrap="square" lIns="50800" rIns="50800" tIns="25400" bIns="25400"/>
                    <a:lstStyle/>
                    <a:p>
                      <a:pPr>
                        <a:defRPr sz="800">
                          <a:solidFill>
                            <a:srgbClr val="333333"/>
                          </a:solidFill>
                          <a:latin typeface="Calibri"/>
                        </a:defRPr>
                      </a:pPr>
                      <a:r>
                        <a:t>TBD</a:t>
                      </a:r>
                    </a:p>
                  </a:txBody>
                  <a:tcPr/>
                </a:tc>
                <a:tc>
                  <a:txBody>
                    <a:bodyPr wrap="square" lIns="50800" rIns="50800" tIns="25400" bIns="25400"/>
                    <a:lstStyle/>
                    <a:p>
                      <a:pPr>
                        <a:defRPr sz="800">
                          <a:solidFill>
                            <a:srgbClr val="333333"/>
                          </a:solidFill>
                          <a:latin typeface="Calibri"/>
                        </a:defRPr>
                      </a:pPr>
                      <a:r>
                        <a:t>100000</a:t>
                      </a:r>
                    </a:p>
                  </a:txBody>
                  <a:tcPr/>
                </a:tc>
                <a:tc>
                  <a:txBody>
                    <a:bodyPr wrap="square" lIns="50800" rIns="50800" tIns="25400" bIns="25400"/>
                    <a:lstStyle/>
                    <a:p>
                      <a:pPr>
                        <a:defRPr sz="800">
                          <a:solidFill>
                            <a:srgbClr val="333333"/>
                          </a:solidFill>
                          <a:latin typeface="Calibri"/>
                        </a:defRPr>
                      </a:pPr>
                      <a:r>
                        <a:t>0</a:t>
                      </a:r>
                    </a:p>
                  </a:txBody>
                  <a:tcPr/>
                </a:tc>
                <a:tc>
                  <a:txBody>
                    <a:bodyPr wrap="square" lIns="50800" rIns="50800" tIns="25400" bIns="25400"/>
                    <a:lstStyle/>
                    <a:p>
                      <a:pPr>
                        <a:defRPr sz="800">
                          <a:solidFill>
                            <a:srgbClr val="333333"/>
                          </a:solidFill>
                          <a:latin typeface="Calibri"/>
                        </a:defRPr>
                      </a:pPr>
                      <a:r>
                        <a:t>Industry Trend</a:t>
                      </a:r>
                    </a:p>
                  </a:txBody>
                  <a:tcPr/>
                </a:tc>
                <a:tc>
                  <a:txBody>
                    <a:bodyPr wrap="square" lIns="50800" rIns="50800" tIns="25400" bIns="25400"/>
                    <a:lstStyle/>
                    <a:p>
                      <a:pPr>
                        <a:defRPr sz="800">
                          <a:solidFill>
                            <a:srgbClr val="333333"/>
                          </a:solidFill>
                          <a:latin typeface="Calibri"/>
                        </a:defRPr>
                      </a:pPr>
                    </a:p>
                  </a:txBody>
                  <a:tcPr/>
                </a:tc>
                <a:tc>
                  <a:txBody>
                    <a:bodyPr wrap="square" lIns="50800" rIns="50800" tIns="25400" bIns="25400"/>
                    <a:lstStyle/>
                    <a:p>
                      <a:pPr>
                        <a:defRPr sz="800">
                          <a:solidFill>
                            <a:srgbClr val="333333"/>
                          </a:solidFill>
                          <a:latin typeface="Calibri"/>
                        </a:defRPr>
                      </a:pPr>
                      <a:r>
                        <a:t>100000</a:t>
                      </a:r>
                    </a:p>
                  </a:txBody>
                  <a:tcPr/>
                </a:tc>
              </a:tr>
              <a:tr h="391477">
                <a:tc>
                  <a:txBody>
                    <a:bodyPr wrap="square" lIns="50800" rIns="50800" tIns="25400" bIns="25400"/>
                    <a:lstStyle/>
                    <a:p>
                      <a:pPr>
                        <a:defRPr sz="800">
                          <a:solidFill>
                            <a:srgbClr val="333333"/>
                          </a:solidFill>
                          <a:latin typeface="Calibri"/>
                        </a:defRPr>
                      </a:pPr>
                      <a:r>
                        <a:t>N/A</a:t>
                      </a:r>
                    </a:p>
                  </a:txBody>
                  <a:tcPr/>
                </a:tc>
                <a:tc>
                  <a:txBody>
                    <a:bodyPr wrap="square" lIns="50800" rIns="50800" tIns="25400" bIns="25400"/>
                    <a:lstStyle/>
                    <a:p>
                      <a:pPr>
                        <a:defRPr sz="800">
                          <a:solidFill>
                            <a:srgbClr val="333333"/>
                          </a:solidFill>
                          <a:latin typeface="Calibri"/>
                        </a:defRPr>
                      </a:pPr>
                      <a:r>
                        <a:t>Develop a cost-optimized brake rotor manufacturing process by integrating advanced data analytics into process planning. This proposal draws from 'Process Optimization in Process Planning using a Multidimensional...' and 'Cost Optimization and Efficiency Improvement in Brake Caliper Manufacturing'. For the MG Hector, this would involve analyzing historical manufacturing data for brake rotors to identify inefficiencies, optimize machining parameters, and reduce scrap rates. The focus would be on maximizing throughput and minimizing energy consumption during casting and machining, without compromising rotor thickness or thermal performance. The goal is to achieve cost reductions through process improvements rather than fundamental material changes, respecting tooling CAPEX limitations.</a:t>
                      </a:r>
                    </a:p>
                  </a:txBody>
                  <a:tcPr/>
                </a:tc>
                <a:tc>
                  <a:txBody>
                    <a:bodyPr wrap="square" lIns="50800" rIns="50800" tIns="25400" bIns="25400"/>
                    <a:lstStyle/>
                    <a:p>
                      <a:pPr>
                        <a:defRPr sz="800">
                          <a:solidFill>
                            <a:srgbClr val="333333"/>
                          </a:solidFill>
                          <a:latin typeface="Calibri"/>
                        </a:defRPr>
                      </a:pPr>
                    </a:p>
                  </a:txBody>
                  <a:tcPr/>
                </a:tc>
                <a:tc>
                  <a:txBody>
                    <a:bodyPr wrap="square" lIns="50800" rIns="50800" tIns="25400" bIns="25400"/>
                    <a:lstStyle/>
                    <a:p>
                      <a:pPr>
                        <a:defRPr sz="800">
                          <a:solidFill>
                            <a:srgbClr val="333333"/>
                          </a:solidFill>
                          <a:latin typeface="Calibri"/>
                        </a:defRPr>
                      </a:pPr>
                      <a:r>
                        <a:t>TBD</a:t>
                      </a:r>
                    </a:p>
                  </a:txBody>
                  <a:tcPr/>
                </a:tc>
                <a:tc>
                  <a:txBody>
                    <a:bodyPr wrap="square" lIns="50800" rIns="50800" tIns="25400" bIns="25400"/>
                    <a:lstStyle/>
                    <a:p>
                      <a:pPr>
                        <a:defRPr sz="800">
                          <a:solidFill>
                            <a:srgbClr val="333333"/>
                          </a:solidFill>
                          <a:latin typeface="Calibri"/>
                        </a:defRPr>
                      </a:pPr>
                      <a:r>
                        <a:t>100000</a:t>
                      </a:r>
                    </a:p>
                  </a:txBody>
                  <a:tcPr/>
                </a:tc>
                <a:tc>
                  <a:txBody>
                    <a:bodyPr wrap="square" lIns="50800" rIns="50800" tIns="25400" bIns="25400"/>
                    <a:lstStyle/>
                    <a:p>
                      <a:pPr>
                        <a:defRPr sz="800">
                          <a:solidFill>
                            <a:srgbClr val="333333"/>
                          </a:solidFill>
                          <a:latin typeface="Calibri"/>
                        </a:defRPr>
                      </a:pPr>
                      <a:r>
                        <a:t>0</a:t>
                      </a:r>
                    </a:p>
                  </a:txBody>
                  <a:tcPr/>
                </a:tc>
                <a:tc>
                  <a:txBody>
                    <a:bodyPr wrap="square" lIns="50800" rIns="50800" tIns="25400" bIns="25400"/>
                    <a:lstStyle/>
                    <a:p>
                      <a:pPr>
                        <a:defRPr sz="800">
                          <a:solidFill>
                            <a:srgbClr val="333333"/>
                          </a:solidFill>
                          <a:latin typeface="Calibri"/>
                        </a:defRPr>
                      </a:pPr>
                      <a:r>
                        <a:t>Industry Trend</a:t>
                      </a:r>
                    </a:p>
                  </a:txBody>
                  <a:tcPr/>
                </a:tc>
                <a:tc>
                  <a:txBody>
                    <a:bodyPr wrap="square" lIns="50800" rIns="50800" tIns="25400" bIns="25400"/>
                    <a:lstStyle/>
                    <a:p>
                      <a:pPr>
                        <a:defRPr sz="800">
                          <a:solidFill>
                            <a:srgbClr val="333333"/>
                          </a:solidFill>
                          <a:latin typeface="Calibri"/>
                        </a:defRPr>
                      </a:pPr>
                    </a:p>
                  </a:txBody>
                  <a:tcPr/>
                </a:tc>
                <a:tc>
                  <a:txBody>
                    <a:bodyPr wrap="square" lIns="50800" rIns="50800" tIns="25400" bIns="25400"/>
                    <a:lstStyle/>
                    <a:p>
                      <a:pPr>
                        <a:defRPr sz="800">
                          <a:solidFill>
                            <a:srgbClr val="333333"/>
                          </a:solidFill>
                          <a:latin typeface="Calibri"/>
                        </a:defRPr>
                      </a:pPr>
                      <a:r>
                        <a:t>100000</a:t>
                      </a:r>
                    </a:p>
                  </a:txBody>
                  <a:tcPr/>
                </a:tc>
              </a:tr>
              <a:tr h="391485">
                <a:tc>
                  <a:txBody>
                    <a:bodyPr wrap="square" lIns="50800" rIns="50800" tIns="25400" bIns="25400"/>
                    <a:lstStyle/>
                    <a:p>
                      <a:pPr>
                        <a:defRPr sz="800">
                          <a:solidFill>
                            <a:srgbClr val="333333"/>
                          </a:solidFill>
                          <a:latin typeface="Calibri"/>
                        </a:defRPr>
                      </a:pPr>
                      <a:r>
                        <a:t>N/A</a:t>
                      </a:r>
                    </a:p>
                  </a:txBody>
                  <a:tcPr/>
                </a:tc>
                <a:tc>
                  <a:txBody>
                    <a:bodyPr wrap="square" lIns="50800" rIns="50800" tIns="25400" bIns="25400"/>
                    <a:lstStyle/>
                    <a:p>
                      <a:pPr>
                        <a:defRPr sz="800">
                          <a:solidFill>
                            <a:srgbClr val="333333"/>
                          </a:solidFill>
                          <a:latin typeface="Calibri"/>
                        </a:defRPr>
                      </a:pPr>
                      <a:r>
                        <a:t>Evaluate the feasibility of using friction materials with enhanced fade resistance and lower wear rates, specifically adapted for heavier vehicles like the MG Hector. While fundamental material substitution in friction pads is complex due to regulations (FMVSS 105, ECE R13) and safety, research into advanced composite formulations that maintain a stable friction coefficient across a wider temperature range can improve performance and reduce rotor wear. This proposal adapts generic friction material research by focusing on the specific needs of a 1.7-tonne vehicle with high kinetic energy, aiming for a balance between performance, longevity, and cost. The 'no rear IRS changes' constraint is implicitly met as this focuses on friction materials, not suspension geometry.</a:t>
                      </a:r>
                    </a:p>
                  </a:txBody>
                  <a:tcPr/>
                </a:tc>
                <a:tc>
                  <a:txBody>
                    <a:bodyPr wrap="square" lIns="50800" rIns="50800" tIns="25400" bIns="25400"/>
                    <a:lstStyle/>
                    <a:p>
                      <a:pPr>
                        <a:defRPr sz="800">
                          <a:solidFill>
                            <a:srgbClr val="333333"/>
                          </a:solidFill>
                          <a:latin typeface="Calibri"/>
                        </a:defRPr>
                      </a:pPr>
                    </a:p>
                  </a:txBody>
                  <a:tcPr/>
                </a:tc>
                <a:tc>
                  <a:txBody>
                    <a:bodyPr wrap="square" lIns="50800" rIns="50800" tIns="25400" bIns="25400"/>
                    <a:lstStyle/>
                    <a:p>
                      <a:pPr>
                        <a:defRPr sz="800">
                          <a:solidFill>
                            <a:srgbClr val="333333"/>
                          </a:solidFill>
                          <a:latin typeface="Calibri"/>
                        </a:defRPr>
                      </a:pPr>
                      <a:r>
                        <a:t>TBD</a:t>
                      </a:r>
                    </a:p>
                  </a:txBody>
                  <a:tcPr/>
                </a:tc>
                <a:tc>
                  <a:txBody>
                    <a:bodyPr wrap="square" lIns="50800" rIns="50800" tIns="25400" bIns="25400"/>
                    <a:lstStyle/>
                    <a:p>
                      <a:pPr>
                        <a:defRPr sz="800">
                          <a:solidFill>
                            <a:srgbClr val="333333"/>
                          </a:solidFill>
                          <a:latin typeface="Calibri"/>
                        </a:defRPr>
                      </a:pPr>
                      <a:r>
                        <a:t>100000</a:t>
                      </a:r>
                    </a:p>
                  </a:txBody>
                  <a:tcPr/>
                </a:tc>
                <a:tc>
                  <a:txBody>
                    <a:bodyPr wrap="square" lIns="50800" rIns="50800" tIns="25400" bIns="25400"/>
                    <a:lstStyle/>
                    <a:p>
                      <a:pPr>
                        <a:defRPr sz="800">
                          <a:solidFill>
                            <a:srgbClr val="333333"/>
                          </a:solidFill>
                          <a:latin typeface="Calibri"/>
                        </a:defRPr>
                      </a:pPr>
                      <a:r>
                        <a:t>0</a:t>
                      </a:r>
                    </a:p>
                  </a:txBody>
                  <a:tcPr/>
                </a:tc>
                <a:tc>
                  <a:txBody>
                    <a:bodyPr wrap="square" lIns="50800" rIns="50800" tIns="25400" bIns="25400"/>
                    <a:lstStyle/>
                    <a:p>
                      <a:pPr>
                        <a:defRPr sz="800">
                          <a:solidFill>
                            <a:srgbClr val="333333"/>
                          </a:solidFill>
                          <a:latin typeface="Calibri"/>
                        </a:defRPr>
                      </a:pPr>
                      <a:r>
                        <a:t>Research Paper</a:t>
                      </a:r>
                    </a:p>
                  </a:txBody>
                  <a:tcPr/>
                </a:tc>
                <a:tc>
                  <a:txBody>
                    <a:bodyPr wrap="square" lIns="50800" rIns="50800" tIns="25400" bIns="25400"/>
                    <a:lstStyle/>
                    <a:p>
                      <a:pPr>
                        <a:defRPr sz="800">
                          <a:solidFill>
                            <a:srgbClr val="333333"/>
                          </a:solidFill>
                          <a:latin typeface="Calibri"/>
                        </a:defRPr>
                      </a:pPr>
                    </a:p>
                  </a:txBody>
                  <a:tcPr/>
                </a:tc>
                <a:tc>
                  <a:txBody>
                    <a:bodyPr wrap="square" lIns="50800" rIns="50800" tIns="25400" bIns="25400"/>
                    <a:lstStyle/>
                    <a:p>
                      <a:pPr>
                        <a:defRPr sz="800">
                          <a:solidFill>
                            <a:srgbClr val="333333"/>
                          </a:solidFill>
                          <a:latin typeface="Calibri"/>
                        </a:defRPr>
                      </a:pPr>
                      <a:r>
                        <a:t>100000</a:t>
                      </a:r>
                    </a:p>
                  </a:txBody>
                  <a:tcPr/>
                </a:tc>
              </a:tr>
            </a:tbl>
          </a:graphicData>
        </a:graphic>
      </p:graphicFrame>
      <p:sp>
        <p:nvSpPr>
          <p:cNvPr id="3" name="TextBox 2"/>
          <p:cNvSpPr txBox="1"/>
          <p:nvPr/>
        </p:nvSpPr>
        <p:spPr>
          <a:xfrm>
            <a:off x="365760" y="45720"/>
            <a:ext cx="11460175" cy="320040"/>
          </a:xfrm>
          <a:prstGeom prst="rect">
            <a:avLst/>
          </a:prstGeom>
          <a:noFill/>
        </p:spPr>
        <p:txBody>
          <a:bodyPr wrap="square">
            <a:spAutoFit/>
          </a:bodyPr>
          <a:lstStyle/>
          <a:p>
            <a:pPr>
              <a:defRPr sz="1800" b="1">
                <a:solidFill>
                  <a:srgbClr val="003366"/>
                </a:solidFill>
              </a:defRPr>
            </a:pPr>
            <a:r>
              <a:t>Summary of ideas generated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82880"/>
            <a:ext cx="8534095" cy="914400"/>
          </a:xfrm>
          <a:prstGeom prst="rect">
            <a:avLst/>
          </a:prstGeom>
          <a:noFill/>
        </p:spPr>
        <p:txBody>
          <a:bodyPr wrap="square">
            <a:spAutoFit/>
          </a:bodyPr>
          <a:lstStyle/>
          <a:p>
            <a:pPr>
              <a:defRPr sz="2400" b="1">
                <a:solidFill>
                  <a:srgbClr val="003366"/>
                </a:solidFill>
              </a:defRPr>
            </a:pPr>
            <a:r>
              <a:t>#1: 1. Reduce the overall wall thickness of the Brake Dust Cover Plates present on all four wheel hubs of the vehicles from 1mm to 0.8mm</a:t>
            </a:r>
            <a:br/>
            <a:r>
              <a:t>2. Reduce the paint coating thickness on each side of all four plates from 56 microns to 27.8 microns</a:t>
            </a:r>
          </a:p>
        </p:txBody>
      </p:sp>
      <p:sp>
        <p:nvSpPr>
          <p:cNvPr id="3" name="TextBox 2"/>
          <p:cNvSpPr txBox="1"/>
          <p:nvPr/>
        </p:nvSpPr>
        <p:spPr>
          <a:xfrm>
            <a:off x="10088575" y="182880"/>
            <a:ext cx="1828800" cy="457200"/>
          </a:xfrm>
          <a:prstGeom prst="rect">
            <a:avLst/>
          </a:prstGeom>
          <a:solidFill>
            <a:srgbClr val="646464"/>
          </a:solidFill>
        </p:spPr>
        <p:txBody>
          <a:bodyPr wrap="none">
            <a:spAutoFit/>
          </a:bodyPr>
          <a:lstStyle/>
          <a:p>
            <a:pPr algn="ctr">
              <a:defRPr>
                <a:solidFill>
                  <a:srgbClr val="FFFFFF"/>
                </a:solidFill>
              </a:defRPr>
            </a:pPr>
            <a:r>
              <a:t>EXISTING DATABASE</a:t>
            </a:r>
          </a:p>
        </p:txBody>
      </p:sp>
      <p:sp>
        <p:nvSpPr>
          <p:cNvPr id="4" name="TextBox 3"/>
          <p:cNvSpPr txBox="1"/>
          <p:nvPr/>
        </p:nvSpPr>
        <p:spPr>
          <a:xfrm>
            <a:off x="274320" y="1280160"/>
            <a:ext cx="5486400" cy="228600"/>
          </a:xfrm>
          <a:prstGeom prst="rect">
            <a:avLst/>
          </a:prstGeom>
          <a:noFill/>
        </p:spPr>
        <p:txBody>
          <a:bodyPr wrap="none">
            <a:spAutoFit/>
          </a:bodyPr>
          <a:lstStyle/>
          <a:p>
            <a:pPr>
              <a:defRPr b="1" sz="1100">
                <a:solidFill>
                  <a:srgbClr val="FF6400"/>
                </a:solidFill>
              </a:defRPr>
            </a:pPr>
            <a:r>
              <a:t>TECHNICAL ENGINEERING VIEW</a:t>
            </a:r>
          </a:p>
        </p:txBody>
      </p:sp>
      <p:sp>
        <p:nvSpPr>
          <p:cNvPr id="5" name="TextBox 4"/>
          <p:cNvSpPr txBox="1"/>
          <p:nvPr/>
        </p:nvSpPr>
        <p:spPr>
          <a:xfrm>
            <a:off x="274320" y="1508760"/>
            <a:ext cx="5486400" cy="822959"/>
          </a:xfrm>
          <a:prstGeom prst="rect">
            <a:avLst/>
          </a:prstGeom>
          <a:noFill/>
        </p:spPr>
        <p:txBody>
          <a:bodyPr wrap="square">
            <a:spAutoFit/>
          </a:bodyPr>
          <a:lstStyle/>
          <a:p>
            <a:pPr>
              <a:defRPr sz="1000"/>
            </a:pPr>
            <a:r>
              <a:t>Technical optimization of 1. Reduce the overall wall thickness of the Brake Dust Cover Plates present on all four wheel hubs of the vehicles from 1mm to 0.8mm</a:t>
            </a:r>
            <a:br/>
            <a:r>
              <a:t>2. Reduce the paint coating thickness on each side of all four plates from 56 microns to 27.8 microns focusing on material efficiency and process consolidation to reduce cycle time.</a:t>
            </a:r>
          </a:p>
        </p:txBody>
      </p:sp>
      <p:sp>
        <p:nvSpPr>
          <p:cNvPr id="6" name="Rectangle 5"/>
          <p:cNvSpPr/>
          <p:nvPr/>
        </p:nvSpPr>
        <p:spPr>
          <a:xfrm>
            <a:off x="274320" y="2331720"/>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2377439"/>
            <a:ext cx="5486400" cy="228600"/>
          </a:xfrm>
          <a:prstGeom prst="rect">
            <a:avLst/>
          </a:prstGeom>
          <a:noFill/>
        </p:spPr>
        <p:txBody>
          <a:bodyPr wrap="none">
            <a:spAutoFit/>
          </a:bodyPr>
          <a:lstStyle/>
          <a:p>
            <a:pPr>
              <a:defRPr b="1" sz="1100">
                <a:solidFill>
                  <a:srgbClr val="FF6400"/>
                </a:solidFill>
              </a:defRPr>
            </a:pPr>
            <a:r>
              <a:t>MATERIAL &amp; DIMENSION SWAP</a:t>
            </a:r>
          </a:p>
        </p:txBody>
      </p:sp>
      <p:sp>
        <p:nvSpPr>
          <p:cNvPr id="8" name="TextBox 7"/>
          <p:cNvSpPr txBox="1"/>
          <p:nvPr/>
        </p:nvSpPr>
        <p:spPr>
          <a:xfrm>
            <a:off x="274320" y="2606039"/>
            <a:ext cx="5486400" cy="457200"/>
          </a:xfrm>
          <a:prstGeom prst="rect">
            <a:avLst/>
          </a:prstGeom>
          <a:noFill/>
        </p:spPr>
        <p:txBody>
          <a:bodyPr wrap="square">
            <a:spAutoFit/>
          </a:bodyPr>
          <a:lstStyle/>
          <a:p>
            <a:pPr>
              <a:defRPr sz="1000"/>
            </a:pPr>
            <a:r>
              <a:t>N/A (No material change explicitly mentioned)</a:t>
            </a:r>
            <a:br/>
            <a:r>
              <a:t>1mm to 0.8mm</a:t>
            </a:r>
          </a:p>
        </p:txBody>
      </p:sp>
      <p:sp>
        <p:nvSpPr>
          <p:cNvPr id="9" name="Rectangle 8"/>
          <p:cNvSpPr/>
          <p:nvPr/>
        </p:nvSpPr>
        <p:spPr>
          <a:xfrm>
            <a:off x="274320" y="3063239"/>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 y="3108959"/>
            <a:ext cx="5486400" cy="228600"/>
          </a:xfrm>
          <a:prstGeom prst="rect">
            <a:avLst/>
          </a:prstGeom>
          <a:noFill/>
        </p:spPr>
        <p:txBody>
          <a:bodyPr wrap="none">
            <a:spAutoFit/>
          </a:bodyPr>
          <a:lstStyle/>
          <a:p>
            <a:pPr>
              <a:defRPr b="1" sz="1100">
                <a:solidFill>
                  <a:srgbClr val="FF6400"/>
                </a:solidFill>
              </a:defRPr>
            </a:pPr>
            <a:r>
              <a:t>FINANCIAL IMPACT</a:t>
            </a:r>
          </a:p>
        </p:txBody>
      </p:sp>
      <p:sp>
        <p:nvSpPr>
          <p:cNvPr id="11" name="TextBox 10"/>
          <p:cNvSpPr txBox="1"/>
          <p:nvPr/>
        </p:nvSpPr>
        <p:spPr>
          <a:xfrm>
            <a:off x="274320" y="3337559"/>
            <a:ext cx="5486400" cy="274320"/>
          </a:xfrm>
          <a:prstGeom prst="rect">
            <a:avLst/>
          </a:prstGeom>
          <a:noFill/>
        </p:spPr>
        <p:txBody>
          <a:bodyPr wrap="square">
            <a:spAutoFit/>
          </a:bodyPr>
          <a:lstStyle/>
          <a:p>
            <a:pPr>
              <a:defRPr sz="1000"/>
            </a:pPr>
            <a:r>
              <a:t>Est. Saving: INR 57</a:t>
            </a:r>
            <a:br/>
            <a:r>
              <a:t>CAPEX: TBD</a:t>
            </a:r>
          </a:p>
        </p:txBody>
      </p:sp>
      <p:sp>
        <p:nvSpPr>
          <p:cNvPr id="12" name="Rectangle 11"/>
          <p:cNvSpPr/>
          <p:nvPr/>
        </p:nvSpPr>
        <p:spPr>
          <a:xfrm>
            <a:off x="274320" y="3611879"/>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4320" y="3657599"/>
            <a:ext cx="5486400" cy="228600"/>
          </a:xfrm>
          <a:prstGeom prst="rect">
            <a:avLst/>
          </a:prstGeom>
          <a:noFill/>
        </p:spPr>
        <p:txBody>
          <a:bodyPr wrap="none">
            <a:spAutoFit/>
          </a:bodyPr>
          <a:lstStyle/>
          <a:p>
            <a:pPr>
              <a:defRPr b="1" sz="1100">
                <a:solidFill>
                  <a:srgbClr val="FF6400"/>
                </a:solidFill>
              </a:defRPr>
            </a:pPr>
            <a:r>
              <a:t>VALIDATION &amp; RISKS</a:t>
            </a:r>
          </a:p>
        </p:txBody>
      </p:sp>
      <p:sp>
        <p:nvSpPr>
          <p:cNvPr id="14" name="TextBox 13"/>
          <p:cNvSpPr txBox="1"/>
          <p:nvPr/>
        </p:nvSpPr>
        <p:spPr>
          <a:xfrm>
            <a:off x="274320" y="3886200"/>
            <a:ext cx="5486400" cy="1371600"/>
          </a:xfrm>
          <a:prstGeom prst="rect">
            <a:avLst/>
          </a:prstGeom>
          <a:noFill/>
        </p:spPr>
        <p:txBody>
          <a:bodyPr wrap="square">
            <a:spAutoFit/>
          </a:bodyPr>
          <a:lstStyle/>
          <a:p>
            <a:pPr>
              <a:defRPr sz="1000"/>
            </a:pPr>
            <a:r>
              <a:t>VALIDATION:</a:t>
            </a:r>
            <a:br/>
            <a:r>
              <a:t>• DVP&amp;R Level 2 Testing</a:t>
            </a:r>
            <a:br/>
            <a:r>
              <a:t>• Environmental Aging (1000 hrs)</a:t>
            </a:r>
            <a:br/>
            <a:r>
              <a:t>• Head Impact Criterion (FMVSS)</a:t>
            </a:r>
            <a:br/>
            <a:br/>
            <a:r>
              <a:t>RISKS:</a:t>
            </a:r>
            <a:br/>
            <a:r>
              <a:t>⚠ NVH performance degradation</a:t>
            </a:r>
            <a:br/>
            <a:r>
              <a:t>⚠ Thermal durability limits</a:t>
            </a:r>
            <a:br/>
            <a:r>
              <a:t>⚠ Aesthetic fit &amp; finish gap</a:t>
            </a:r>
          </a:p>
        </p:txBody>
      </p:sp>
      <p:sp>
        <p:nvSpPr>
          <p:cNvPr id="15" name="Rectangle 14"/>
          <p:cNvSpPr/>
          <p:nvPr/>
        </p:nvSpPr>
        <p:spPr>
          <a:xfrm>
            <a:off x="274320" y="5257800"/>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4320" y="5303520"/>
            <a:ext cx="5486400" cy="228600"/>
          </a:xfrm>
          <a:prstGeom prst="rect">
            <a:avLst/>
          </a:prstGeom>
          <a:noFill/>
        </p:spPr>
        <p:txBody>
          <a:bodyPr wrap="none">
            <a:spAutoFit/>
          </a:bodyPr>
          <a:lstStyle/>
          <a:p>
            <a:pPr>
              <a:defRPr b="1" sz="1100">
                <a:solidFill>
                  <a:srgbClr val="FF6400"/>
                </a:solidFill>
              </a:defRPr>
            </a:pPr>
            <a:r>
              <a:t>SUPPLY CHAIN</a:t>
            </a:r>
          </a:p>
        </p:txBody>
      </p:sp>
      <p:sp>
        <p:nvSpPr>
          <p:cNvPr id="17" name="TextBox 16"/>
          <p:cNvSpPr txBox="1"/>
          <p:nvPr/>
        </p:nvSpPr>
        <p:spPr>
          <a:xfrm>
            <a:off x="274320" y="5532120"/>
            <a:ext cx="5486400" cy="457200"/>
          </a:xfrm>
          <a:prstGeom prst="rect">
            <a:avLst/>
          </a:prstGeom>
          <a:noFill/>
        </p:spPr>
        <p:txBody>
          <a:bodyPr wrap="square">
            <a:spAutoFit/>
          </a:bodyPr>
          <a:lstStyle/>
          <a:p>
            <a:pPr>
              <a:defRPr sz="1000"/>
            </a:pPr>
            <a:r>
              <a:t>• Supplier: Consolidation to single-source Tier 1</a:t>
            </a:r>
            <a:br/>
            <a:r>
              <a:t>• Tooling: 15% reduction in logistics overhead</a:t>
            </a:r>
          </a:p>
        </p:txBody>
      </p:sp>
      <p:sp>
        <p:nvSpPr>
          <p:cNvPr id="18" name="Rectangle 17"/>
          <p:cNvSpPr/>
          <p:nvPr/>
        </p:nvSpPr>
        <p:spPr>
          <a:xfrm>
            <a:off x="274320" y="5989320"/>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17920" y="1005840"/>
            <a:ext cx="5699455" cy="256032"/>
          </a:xfrm>
          <a:prstGeom prst="rect">
            <a:avLst/>
          </a:prstGeom>
          <a:noFill/>
        </p:spPr>
        <p:txBody>
          <a:bodyPr wrap="square">
            <a:spAutoFit/>
          </a:bodyPr>
          <a:lstStyle/>
          <a:p>
            <a:pPr algn="ctr">
              <a:defRPr b="1" sz="1100">
                <a:solidFill>
                  <a:srgbClr val="003366"/>
                </a:solidFill>
              </a:defRPr>
            </a:pPr>
            <a:r>
              <a:t>Current Scenario</a:t>
            </a:r>
          </a:p>
        </p:txBody>
      </p:sp>
      <p:pic>
        <p:nvPicPr>
          <p:cNvPr id="20" name="Picture 19" descr="185.jpg"/>
          <p:cNvPicPr>
            <a:picLocks noChangeAspect="1"/>
          </p:cNvPicPr>
          <p:nvPr/>
        </p:nvPicPr>
        <p:blipFill>
          <a:blip r:embed="rId2"/>
          <a:stretch>
            <a:fillRect/>
          </a:stretch>
        </p:blipFill>
        <p:spPr>
          <a:xfrm>
            <a:off x="6217920" y="1280160"/>
            <a:ext cx="5699455" cy="2377440"/>
          </a:xfrm>
          <a:prstGeom prst="rect">
            <a:avLst/>
          </a:prstGeom>
          <a:ln w="12700">
            <a:solidFill>
              <a:srgbClr val="C8C8C8"/>
            </a:solidFill>
          </a:ln>
        </p:spPr>
      </p:pic>
      <p:sp>
        <p:nvSpPr>
          <p:cNvPr id="21" name="TextBox 20"/>
          <p:cNvSpPr txBox="1"/>
          <p:nvPr/>
        </p:nvSpPr>
        <p:spPr>
          <a:xfrm>
            <a:off x="6217920" y="3840480"/>
            <a:ext cx="5699455" cy="256032"/>
          </a:xfrm>
          <a:prstGeom prst="rect">
            <a:avLst/>
          </a:prstGeom>
          <a:noFill/>
        </p:spPr>
        <p:txBody>
          <a:bodyPr wrap="square">
            <a:spAutoFit/>
          </a:bodyPr>
          <a:lstStyle/>
          <a:p>
            <a:pPr algn="ctr">
              <a:defRPr b="1" sz="1100">
                <a:solidFill>
                  <a:srgbClr val="003366"/>
                </a:solidFill>
              </a:defRPr>
            </a:pPr>
            <a:r>
              <a:t>Proposal / Competitor</a:t>
            </a:r>
          </a:p>
        </p:txBody>
      </p:sp>
      <p:pic>
        <p:nvPicPr>
          <p:cNvPr id="22" name="Picture 21" descr="110.jpg"/>
          <p:cNvPicPr>
            <a:picLocks noChangeAspect="1"/>
          </p:cNvPicPr>
          <p:nvPr/>
        </p:nvPicPr>
        <p:blipFill>
          <a:blip r:embed="rId3"/>
          <a:stretch>
            <a:fillRect/>
          </a:stretch>
        </p:blipFill>
        <p:spPr>
          <a:xfrm>
            <a:off x="6217920" y="4114800"/>
            <a:ext cx="5699455" cy="2377440"/>
          </a:xfrm>
          <a:prstGeom prst="rect">
            <a:avLst/>
          </a:prstGeom>
          <a:ln w="12700">
            <a:solidFill>
              <a:srgbClr val="C8C8C8"/>
            </a:solidFill>
          </a:ln>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82880"/>
            <a:ext cx="8534095" cy="914400"/>
          </a:xfrm>
          <a:prstGeom prst="rect">
            <a:avLst/>
          </a:prstGeom>
          <a:noFill/>
        </p:spPr>
        <p:txBody>
          <a:bodyPr wrap="square">
            <a:spAutoFit/>
          </a:bodyPr>
          <a:lstStyle/>
          <a:p>
            <a:pPr>
              <a:defRPr sz="2400" b="1">
                <a:solidFill>
                  <a:srgbClr val="003366"/>
                </a:solidFill>
              </a:defRPr>
            </a:pPr>
            <a:r>
              <a:t>#2: The Brake Booster Plate in MGI could be integrated into the Dashboard BIW of the vehicle as done in KIA</a:t>
            </a:r>
          </a:p>
        </p:txBody>
      </p:sp>
      <p:sp>
        <p:nvSpPr>
          <p:cNvPr id="3" name="TextBox 2"/>
          <p:cNvSpPr txBox="1"/>
          <p:nvPr/>
        </p:nvSpPr>
        <p:spPr>
          <a:xfrm>
            <a:off x="10088575" y="182880"/>
            <a:ext cx="1828800" cy="457200"/>
          </a:xfrm>
          <a:prstGeom prst="rect">
            <a:avLst/>
          </a:prstGeom>
          <a:solidFill>
            <a:srgbClr val="646464"/>
          </a:solidFill>
        </p:spPr>
        <p:txBody>
          <a:bodyPr wrap="none">
            <a:spAutoFit/>
          </a:bodyPr>
          <a:lstStyle/>
          <a:p>
            <a:pPr algn="ctr">
              <a:defRPr>
                <a:solidFill>
                  <a:srgbClr val="FFFFFF"/>
                </a:solidFill>
              </a:defRPr>
            </a:pPr>
            <a:r>
              <a:t>EXISTING DATABASE</a:t>
            </a:r>
          </a:p>
        </p:txBody>
      </p:sp>
      <p:sp>
        <p:nvSpPr>
          <p:cNvPr id="4" name="TextBox 3"/>
          <p:cNvSpPr txBox="1"/>
          <p:nvPr/>
        </p:nvSpPr>
        <p:spPr>
          <a:xfrm>
            <a:off x="274320" y="1280160"/>
            <a:ext cx="5486400" cy="228600"/>
          </a:xfrm>
          <a:prstGeom prst="rect">
            <a:avLst/>
          </a:prstGeom>
          <a:noFill/>
        </p:spPr>
        <p:txBody>
          <a:bodyPr wrap="none">
            <a:spAutoFit/>
          </a:bodyPr>
          <a:lstStyle/>
          <a:p>
            <a:pPr>
              <a:defRPr b="1" sz="1100">
                <a:solidFill>
                  <a:srgbClr val="FF6400"/>
                </a:solidFill>
              </a:defRPr>
            </a:pPr>
            <a:r>
              <a:t>TECHNICAL ENGINEERING VIEW</a:t>
            </a:r>
          </a:p>
        </p:txBody>
      </p:sp>
      <p:sp>
        <p:nvSpPr>
          <p:cNvPr id="5" name="TextBox 4"/>
          <p:cNvSpPr txBox="1"/>
          <p:nvPr/>
        </p:nvSpPr>
        <p:spPr>
          <a:xfrm>
            <a:off x="274320" y="1508760"/>
            <a:ext cx="5486400" cy="822959"/>
          </a:xfrm>
          <a:prstGeom prst="rect">
            <a:avLst/>
          </a:prstGeom>
          <a:noFill/>
        </p:spPr>
        <p:txBody>
          <a:bodyPr wrap="square">
            <a:spAutoFit/>
          </a:bodyPr>
          <a:lstStyle/>
          <a:p>
            <a:pPr>
              <a:defRPr sz="1000"/>
            </a:pPr>
            <a:r>
              <a:t>Technical optimization of The Brake Booster Plate in MGI could be integrated into the Dashboard BIW of the vehicle as done in KIA focusing on material efficiency and process consolidation to reduce cycle time.</a:t>
            </a:r>
          </a:p>
        </p:txBody>
      </p:sp>
      <p:sp>
        <p:nvSpPr>
          <p:cNvPr id="6" name="Rectangle 5"/>
          <p:cNvSpPr/>
          <p:nvPr/>
        </p:nvSpPr>
        <p:spPr>
          <a:xfrm>
            <a:off x="274320" y="2331720"/>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2377439"/>
            <a:ext cx="5486400" cy="228600"/>
          </a:xfrm>
          <a:prstGeom prst="rect">
            <a:avLst/>
          </a:prstGeom>
          <a:noFill/>
        </p:spPr>
        <p:txBody>
          <a:bodyPr wrap="none">
            <a:spAutoFit/>
          </a:bodyPr>
          <a:lstStyle/>
          <a:p>
            <a:pPr>
              <a:defRPr b="1" sz="1100">
                <a:solidFill>
                  <a:srgbClr val="FF6400"/>
                </a:solidFill>
              </a:defRPr>
            </a:pPr>
            <a:r>
              <a:t>MATERIAL &amp; DIMENSION SWAP</a:t>
            </a:r>
          </a:p>
        </p:txBody>
      </p:sp>
      <p:sp>
        <p:nvSpPr>
          <p:cNvPr id="8" name="TextBox 7"/>
          <p:cNvSpPr txBox="1"/>
          <p:nvPr/>
        </p:nvSpPr>
        <p:spPr>
          <a:xfrm>
            <a:off x="274320" y="2606039"/>
            <a:ext cx="5486400" cy="457200"/>
          </a:xfrm>
          <a:prstGeom prst="rect">
            <a:avLst/>
          </a:prstGeom>
          <a:noFill/>
        </p:spPr>
        <p:txBody>
          <a:bodyPr wrap="square">
            <a:spAutoFit/>
          </a:bodyPr>
          <a:lstStyle/>
          <a:p>
            <a:pPr>
              <a:defRPr sz="1000"/>
            </a:pPr>
            <a:r>
              <a:t>N/A (No material change explicitly mentioned)</a:t>
            </a:r>
            <a:br/>
            <a:r>
              <a:t>N/A (Maintains current envelope)</a:t>
            </a:r>
          </a:p>
        </p:txBody>
      </p:sp>
      <p:sp>
        <p:nvSpPr>
          <p:cNvPr id="9" name="Rectangle 8"/>
          <p:cNvSpPr/>
          <p:nvPr/>
        </p:nvSpPr>
        <p:spPr>
          <a:xfrm>
            <a:off x="274320" y="3063239"/>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 y="3108959"/>
            <a:ext cx="5486400" cy="228600"/>
          </a:xfrm>
          <a:prstGeom prst="rect">
            <a:avLst/>
          </a:prstGeom>
          <a:noFill/>
        </p:spPr>
        <p:txBody>
          <a:bodyPr wrap="none">
            <a:spAutoFit/>
          </a:bodyPr>
          <a:lstStyle/>
          <a:p>
            <a:pPr>
              <a:defRPr b="1" sz="1100">
                <a:solidFill>
                  <a:srgbClr val="FF6400"/>
                </a:solidFill>
              </a:defRPr>
            </a:pPr>
            <a:r>
              <a:t>FINANCIAL IMPACT</a:t>
            </a:r>
          </a:p>
        </p:txBody>
      </p:sp>
      <p:sp>
        <p:nvSpPr>
          <p:cNvPr id="11" name="TextBox 10"/>
          <p:cNvSpPr txBox="1"/>
          <p:nvPr/>
        </p:nvSpPr>
        <p:spPr>
          <a:xfrm>
            <a:off x="274320" y="3337559"/>
            <a:ext cx="5486400" cy="274320"/>
          </a:xfrm>
          <a:prstGeom prst="rect">
            <a:avLst/>
          </a:prstGeom>
          <a:noFill/>
        </p:spPr>
        <p:txBody>
          <a:bodyPr wrap="square">
            <a:spAutoFit/>
          </a:bodyPr>
          <a:lstStyle/>
          <a:p>
            <a:pPr>
              <a:defRPr sz="1000"/>
            </a:pPr>
            <a:r>
              <a:t>Est. Saving: INR 47</a:t>
            </a:r>
            <a:br/>
            <a:r>
              <a:t>CAPEX: TBD</a:t>
            </a:r>
          </a:p>
        </p:txBody>
      </p:sp>
      <p:sp>
        <p:nvSpPr>
          <p:cNvPr id="12" name="Rectangle 11"/>
          <p:cNvSpPr/>
          <p:nvPr/>
        </p:nvSpPr>
        <p:spPr>
          <a:xfrm>
            <a:off x="274320" y="3611879"/>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4320" y="3657599"/>
            <a:ext cx="5486400" cy="228600"/>
          </a:xfrm>
          <a:prstGeom prst="rect">
            <a:avLst/>
          </a:prstGeom>
          <a:noFill/>
        </p:spPr>
        <p:txBody>
          <a:bodyPr wrap="none">
            <a:spAutoFit/>
          </a:bodyPr>
          <a:lstStyle/>
          <a:p>
            <a:pPr>
              <a:defRPr b="1" sz="1100">
                <a:solidFill>
                  <a:srgbClr val="FF6400"/>
                </a:solidFill>
              </a:defRPr>
            </a:pPr>
            <a:r>
              <a:t>VALIDATION &amp; RISKS</a:t>
            </a:r>
          </a:p>
        </p:txBody>
      </p:sp>
      <p:sp>
        <p:nvSpPr>
          <p:cNvPr id="14" name="TextBox 13"/>
          <p:cNvSpPr txBox="1"/>
          <p:nvPr/>
        </p:nvSpPr>
        <p:spPr>
          <a:xfrm>
            <a:off x="274320" y="3886200"/>
            <a:ext cx="5486400" cy="1371600"/>
          </a:xfrm>
          <a:prstGeom prst="rect">
            <a:avLst/>
          </a:prstGeom>
          <a:noFill/>
        </p:spPr>
        <p:txBody>
          <a:bodyPr wrap="square">
            <a:spAutoFit/>
          </a:bodyPr>
          <a:lstStyle/>
          <a:p>
            <a:pPr>
              <a:defRPr sz="1000"/>
            </a:pPr>
            <a:r>
              <a:t>VALIDATION:</a:t>
            </a:r>
            <a:br/>
            <a:r>
              <a:t>• DVP&amp;R Level 2 Testing</a:t>
            </a:r>
            <a:br/>
            <a:r>
              <a:t>• Environmental Aging (1000 hrs)</a:t>
            </a:r>
            <a:br/>
            <a:r>
              <a:t>• Head Impact Criterion (FMVSS)</a:t>
            </a:r>
            <a:br/>
            <a:br/>
            <a:r>
              <a:t>RISKS:</a:t>
            </a:r>
            <a:br/>
            <a:r>
              <a:t>⚠ NVH performance degradation</a:t>
            </a:r>
            <a:br/>
            <a:r>
              <a:t>⚠ Thermal durability limits</a:t>
            </a:r>
            <a:br/>
            <a:r>
              <a:t>⚠ Aesthetic fit &amp; finish gap</a:t>
            </a:r>
          </a:p>
        </p:txBody>
      </p:sp>
      <p:sp>
        <p:nvSpPr>
          <p:cNvPr id="15" name="Rectangle 14"/>
          <p:cNvSpPr/>
          <p:nvPr/>
        </p:nvSpPr>
        <p:spPr>
          <a:xfrm>
            <a:off x="274320" y="5257800"/>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4320" y="5303520"/>
            <a:ext cx="5486400" cy="228600"/>
          </a:xfrm>
          <a:prstGeom prst="rect">
            <a:avLst/>
          </a:prstGeom>
          <a:noFill/>
        </p:spPr>
        <p:txBody>
          <a:bodyPr wrap="none">
            <a:spAutoFit/>
          </a:bodyPr>
          <a:lstStyle/>
          <a:p>
            <a:pPr>
              <a:defRPr b="1" sz="1100">
                <a:solidFill>
                  <a:srgbClr val="FF6400"/>
                </a:solidFill>
              </a:defRPr>
            </a:pPr>
            <a:r>
              <a:t>SUPPLY CHAIN</a:t>
            </a:r>
          </a:p>
        </p:txBody>
      </p:sp>
      <p:sp>
        <p:nvSpPr>
          <p:cNvPr id="17" name="TextBox 16"/>
          <p:cNvSpPr txBox="1"/>
          <p:nvPr/>
        </p:nvSpPr>
        <p:spPr>
          <a:xfrm>
            <a:off x="274320" y="5532120"/>
            <a:ext cx="5486400" cy="457200"/>
          </a:xfrm>
          <a:prstGeom prst="rect">
            <a:avLst/>
          </a:prstGeom>
          <a:noFill/>
        </p:spPr>
        <p:txBody>
          <a:bodyPr wrap="square">
            <a:spAutoFit/>
          </a:bodyPr>
          <a:lstStyle/>
          <a:p>
            <a:pPr>
              <a:defRPr sz="1000"/>
            </a:pPr>
            <a:r>
              <a:t>• Supplier: Consolidation to single-source Tier 1</a:t>
            </a:r>
            <a:br/>
            <a:r>
              <a:t>• Tooling: 15% reduction in logistics overhead</a:t>
            </a:r>
          </a:p>
        </p:txBody>
      </p:sp>
      <p:sp>
        <p:nvSpPr>
          <p:cNvPr id="18" name="Rectangle 17"/>
          <p:cNvSpPr/>
          <p:nvPr/>
        </p:nvSpPr>
        <p:spPr>
          <a:xfrm>
            <a:off x="274320" y="5989320"/>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17920" y="1005840"/>
            <a:ext cx="5699455" cy="256032"/>
          </a:xfrm>
          <a:prstGeom prst="rect">
            <a:avLst/>
          </a:prstGeom>
          <a:noFill/>
        </p:spPr>
        <p:txBody>
          <a:bodyPr wrap="square">
            <a:spAutoFit/>
          </a:bodyPr>
          <a:lstStyle/>
          <a:p>
            <a:pPr algn="ctr">
              <a:defRPr b="1" sz="1100">
                <a:solidFill>
                  <a:srgbClr val="003366"/>
                </a:solidFill>
              </a:defRPr>
            </a:pPr>
            <a:r>
              <a:t>Current Scenario</a:t>
            </a:r>
          </a:p>
        </p:txBody>
      </p:sp>
      <p:pic>
        <p:nvPicPr>
          <p:cNvPr id="20" name="Picture 19" descr="31.jpg"/>
          <p:cNvPicPr>
            <a:picLocks noChangeAspect="1"/>
          </p:cNvPicPr>
          <p:nvPr/>
        </p:nvPicPr>
        <p:blipFill>
          <a:blip r:embed="rId2"/>
          <a:stretch>
            <a:fillRect/>
          </a:stretch>
        </p:blipFill>
        <p:spPr>
          <a:xfrm>
            <a:off x="6217920" y="1280160"/>
            <a:ext cx="5699455" cy="2377440"/>
          </a:xfrm>
          <a:prstGeom prst="rect">
            <a:avLst/>
          </a:prstGeom>
          <a:ln w="12700">
            <a:solidFill>
              <a:srgbClr val="C8C8C8"/>
            </a:solidFill>
          </a:ln>
        </p:spPr>
      </p:pic>
      <p:sp>
        <p:nvSpPr>
          <p:cNvPr id="21" name="TextBox 20"/>
          <p:cNvSpPr txBox="1"/>
          <p:nvPr/>
        </p:nvSpPr>
        <p:spPr>
          <a:xfrm>
            <a:off x="6217920" y="3840480"/>
            <a:ext cx="5699455" cy="256032"/>
          </a:xfrm>
          <a:prstGeom prst="rect">
            <a:avLst/>
          </a:prstGeom>
          <a:noFill/>
        </p:spPr>
        <p:txBody>
          <a:bodyPr wrap="square">
            <a:spAutoFit/>
          </a:bodyPr>
          <a:lstStyle/>
          <a:p>
            <a:pPr algn="ctr">
              <a:defRPr b="1" sz="1100">
                <a:solidFill>
                  <a:srgbClr val="003366"/>
                </a:solidFill>
              </a:defRPr>
            </a:pPr>
            <a:r>
              <a:t>Proposal / Competitor</a:t>
            </a:r>
          </a:p>
        </p:txBody>
      </p:sp>
      <p:pic>
        <p:nvPicPr>
          <p:cNvPr id="22" name="Picture 21" descr="141.jpg"/>
          <p:cNvPicPr>
            <a:picLocks noChangeAspect="1"/>
          </p:cNvPicPr>
          <p:nvPr/>
        </p:nvPicPr>
        <p:blipFill>
          <a:blip r:embed="rId3"/>
          <a:stretch>
            <a:fillRect/>
          </a:stretch>
        </p:blipFill>
        <p:spPr>
          <a:xfrm>
            <a:off x="6217920" y="4114800"/>
            <a:ext cx="5699455" cy="2377440"/>
          </a:xfrm>
          <a:prstGeom prst="rect">
            <a:avLst/>
          </a:prstGeom>
          <a:ln w="12700">
            <a:solidFill>
              <a:srgbClr val="C8C8C8"/>
            </a:solidFill>
          </a:ln>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82880"/>
            <a:ext cx="8534095" cy="914400"/>
          </a:xfrm>
          <a:prstGeom prst="rect">
            <a:avLst/>
          </a:prstGeom>
          <a:noFill/>
        </p:spPr>
        <p:txBody>
          <a:bodyPr wrap="square">
            <a:spAutoFit/>
          </a:bodyPr>
          <a:lstStyle/>
          <a:p>
            <a:pPr>
              <a:defRPr sz="2400" b="1">
                <a:solidFill>
                  <a:srgbClr val="003366"/>
                </a:solidFill>
              </a:defRPr>
            </a:pPr>
            <a:r>
              <a:t>#3: Redesign the current Brake Pedal Mounting Bracket used in MGI to a similar bracket used in KIA.</a:t>
            </a:r>
          </a:p>
        </p:txBody>
      </p:sp>
      <p:sp>
        <p:nvSpPr>
          <p:cNvPr id="3" name="TextBox 2"/>
          <p:cNvSpPr txBox="1"/>
          <p:nvPr/>
        </p:nvSpPr>
        <p:spPr>
          <a:xfrm>
            <a:off x="10088575" y="182880"/>
            <a:ext cx="1828800" cy="457200"/>
          </a:xfrm>
          <a:prstGeom prst="rect">
            <a:avLst/>
          </a:prstGeom>
          <a:solidFill>
            <a:srgbClr val="646464"/>
          </a:solidFill>
        </p:spPr>
        <p:txBody>
          <a:bodyPr wrap="none">
            <a:spAutoFit/>
          </a:bodyPr>
          <a:lstStyle/>
          <a:p>
            <a:pPr algn="ctr">
              <a:defRPr>
                <a:solidFill>
                  <a:srgbClr val="FFFFFF"/>
                </a:solidFill>
              </a:defRPr>
            </a:pPr>
            <a:r>
              <a:t>EXISTING DATABASE</a:t>
            </a:r>
          </a:p>
        </p:txBody>
      </p:sp>
      <p:sp>
        <p:nvSpPr>
          <p:cNvPr id="4" name="TextBox 3"/>
          <p:cNvSpPr txBox="1"/>
          <p:nvPr/>
        </p:nvSpPr>
        <p:spPr>
          <a:xfrm>
            <a:off x="274320" y="1280160"/>
            <a:ext cx="5486400" cy="228600"/>
          </a:xfrm>
          <a:prstGeom prst="rect">
            <a:avLst/>
          </a:prstGeom>
          <a:noFill/>
        </p:spPr>
        <p:txBody>
          <a:bodyPr wrap="none">
            <a:spAutoFit/>
          </a:bodyPr>
          <a:lstStyle/>
          <a:p>
            <a:pPr>
              <a:defRPr b="1" sz="1100">
                <a:solidFill>
                  <a:srgbClr val="FF6400"/>
                </a:solidFill>
              </a:defRPr>
            </a:pPr>
            <a:r>
              <a:t>TECHNICAL ENGINEERING VIEW</a:t>
            </a:r>
          </a:p>
        </p:txBody>
      </p:sp>
      <p:sp>
        <p:nvSpPr>
          <p:cNvPr id="5" name="TextBox 4"/>
          <p:cNvSpPr txBox="1"/>
          <p:nvPr/>
        </p:nvSpPr>
        <p:spPr>
          <a:xfrm>
            <a:off x="274320" y="1508760"/>
            <a:ext cx="5486400" cy="822959"/>
          </a:xfrm>
          <a:prstGeom prst="rect">
            <a:avLst/>
          </a:prstGeom>
          <a:noFill/>
        </p:spPr>
        <p:txBody>
          <a:bodyPr wrap="square">
            <a:spAutoFit/>
          </a:bodyPr>
          <a:lstStyle/>
          <a:p>
            <a:pPr>
              <a:defRPr sz="1000"/>
            </a:pPr>
            <a:r>
              <a:t>Technical optimization of Redesign the current Brake Pedal Mounting Bracket used in MGI to a similar bracket used in KIA. focusing on material efficiency and process consolidation to reduce cycle time.</a:t>
            </a:r>
          </a:p>
        </p:txBody>
      </p:sp>
      <p:sp>
        <p:nvSpPr>
          <p:cNvPr id="6" name="Rectangle 5"/>
          <p:cNvSpPr/>
          <p:nvPr/>
        </p:nvSpPr>
        <p:spPr>
          <a:xfrm>
            <a:off x="274320" y="2331720"/>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2377439"/>
            <a:ext cx="5486400" cy="228600"/>
          </a:xfrm>
          <a:prstGeom prst="rect">
            <a:avLst/>
          </a:prstGeom>
          <a:noFill/>
        </p:spPr>
        <p:txBody>
          <a:bodyPr wrap="none">
            <a:spAutoFit/>
          </a:bodyPr>
          <a:lstStyle/>
          <a:p>
            <a:pPr>
              <a:defRPr b="1" sz="1100">
                <a:solidFill>
                  <a:srgbClr val="FF6400"/>
                </a:solidFill>
              </a:defRPr>
            </a:pPr>
            <a:r>
              <a:t>MATERIAL &amp; DIMENSION SWAP</a:t>
            </a:r>
          </a:p>
        </p:txBody>
      </p:sp>
      <p:sp>
        <p:nvSpPr>
          <p:cNvPr id="8" name="TextBox 7"/>
          <p:cNvSpPr txBox="1"/>
          <p:nvPr/>
        </p:nvSpPr>
        <p:spPr>
          <a:xfrm>
            <a:off x="274320" y="2606039"/>
            <a:ext cx="5486400" cy="457200"/>
          </a:xfrm>
          <a:prstGeom prst="rect">
            <a:avLst/>
          </a:prstGeom>
          <a:noFill/>
        </p:spPr>
        <p:txBody>
          <a:bodyPr wrap="square">
            <a:spAutoFit/>
          </a:bodyPr>
          <a:lstStyle/>
          <a:p>
            <a:pPr>
              <a:defRPr sz="1000"/>
            </a:pPr>
            <a:r>
              <a:t>N/A (No material change explicitly mentioned)</a:t>
            </a:r>
            <a:br/>
            <a:r>
              <a:t>N/A (Maintains current envelope)</a:t>
            </a:r>
          </a:p>
        </p:txBody>
      </p:sp>
      <p:sp>
        <p:nvSpPr>
          <p:cNvPr id="9" name="Rectangle 8"/>
          <p:cNvSpPr/>
          <p:nvPr/>
        </p:nvSpPr>
        <p:spPr>
          <a:xfrm>
            <a:off x="274320" y="3063239"/>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 y="3108959"/>
            <a:ext cx="5486400" cy="228600"/>
          </a:xfrm>
          <a:prstGeom prst="rect">
            <a:avLst/>
          </a:prstGeom>
          <a:noFill/>
        </p:spPr>
        <p:txBody>
          <a:bodyPr wrap="none">
            <a:spAutoFit/>
          </a:bodyPr>
          <a:lstStyle/>
          <a:p>
            <a:pPr>
              <a:defRPr b="1" sz="1100">
                <a:solidFill>
                  <a:srgbClr val="FF6400"/>
                </a:solidFill>
              </a:defRPr>
            </a:pPr>
            <a:r>
              <a:t>FINANCIAL IMPACT</a:t>
            </a:r>
          </a:p>
        </p:txBody>
      </p:sp>
      <p:sp>
        <p:nvSpPr>
          <p:cNvPr id="11" name="TextBox 10"/>
          <p:cNvSpPr txBox="1"/>
          <p:nvPr/>
        </p:nvSpPr>
        <p:spPr>
          <a:xfrm>
            <a:off x="274320" y="3337559"/>
            <a:ext cx="5486400" cy="274320"/>
          </a:xfrm>
          <a:prstGeom prst="rect">
            <a:avLst/>
          </a:prstGeom>
          <a:noFill/>
        </p:spPr>
        <p:txBody>
          <a:bodyPr wrap="square">
            <a:spAutoFit/>
          </a:bodyPr>
          <a:lstStyle/>
          <a:p>
            <a:pPr>
              <a:defRPr sz="1000"/>
            </a:pPr>
            <a:r>
              <a:t>Est. Saving: INR 113</a:t>
            </a:r>
            <a:br/>
            <a:r>
              <a:t>CAPEX: TBD</a:t>
            </a:r>
          </a:p>
        </p:txBody>
      </p:sp>
      <p:sp>
        <p:nvSpPr>
          <p:cNvPr id="12" name="Rectangle 11"/>
          <p:cNvSpPr/>
          <p:nvPr/>
        </p:nvSpPr>
        <p:spPr>
          <a:xfrm>
            <a:off x="274320" y="3611879"/>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4320" y="3657599"/>
            <a:ext cx="5486400" cy="228600"/>
          </a:xfrm>
          <a:prstGeom prst="rect">
            <a:avLst/>
          </a:prstGeom>
          <a:noFill/>
        </p:spPr>
        <p:txBody>
          <a:bodyPr wrap="none">
            <a:spAutoFit/>
          </a:bodyPr>
          <a:lstStyle/>
          <a:p>
            <a:pPr>
              <a:defRPr b="1" sz="1100">
                <a:solidFill>
                  <a:srgbClr val="FF6400"/>
                </a:solidFill>
              </a:defRPr>
            </a:pPr>
            <a:r>
              <a:t>VALIDATION &amp; RISKS</a:t>
            </a:r>
          </a:p>
        </p:txBody>
      </p:sp>
      <p:sp>
        <p:nvSpPr>
          <p:cNvPr id="14" name="TextBox 13"/>
          <p:cNvSpPr txBox="1"/>
          <p:nvPr/>
        </p:nvSpPr>
        <p:spPr>
          <a:xfrm>
            <a:off x="274320" y="3886200"/>
            <a:ext cx="5486400" cy="1371600"/>
          </a:xfrm>
          <a:prstGeom prst="rect">
            <a:avLst/>
          </a:prstGeom>
          <a:noFill/>
        </p:spPr>
        <p:txBody>
          <a:bodyPr wrap="square">
            <a:spAutoFit/>
          </a:bodyPr>
          <a:lstStyle/>
          <a:p>
            <a:pPr>
              <a:defRPr sz="1000"/>
            </a:pPr>
            <a:r>
              <a:t>VALIDATION:</a:t>
            </a:r>
            <a:br/>
            <a:r>
              <a:t>• DVP&amp;R Level 2 Testing</a:t>
            </a:r>
            <a:br/>
            <a:r>
              <a:t>• Environmental Aging (1000 hrs)</a:t>
            </a:r>
            <a:br/>
            <a:r>
              <a:t>• Head Impact Criterion (FMVSS)</a:t>
            </a:r>
            <a:br/>
            <a:br/>
            <a:r>
              <a:t>RISKS:</a:t>
            </a:r>
            <a:br/>
            <a:r>
              <a:t>⚠ NVH performance degradation</a:t>
            </a:r>
            <a:br/>
            <a:r>
              <a:t>⚠ Thermal durability limits</a:t>
            </a:r>
            <a:br/>
            <a:r>
              <a:t>⚠ Aesthetic fit &amp; finish gap</a:t>
            </a:r>
          </a:p>
        </p:txBody>
      </p:sp>
      <p:sp>
        <p:nvSpPr>
          <p:cNvPr id="15" name="Rectangle 14"/>
          <p:cNvSpPr/>
          <p:nvPr/>
        </p:nvSpPr>
        <p:spPr>
          <a:xfrm>
            <a:off x="274320" y="5257800"/>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4320" y="5303520"/>
            <a:ext cx="5486400" cy="228600"/>
          </a:xfrm>
          <a:prstGeom prst="rect">
            <a:avLst/>
          </a:prstGeom>
          <a:noFill/>
        </p:spPr>
        <p:txBody>
          <a:bodyPr wrap="none">
            <a:spAutoFit/>
          </a:bodyPr>
          <a:lstStyle/>
          <a:p>
            <a:pPr>
              <a:defRPr b="1" sz="1100">
                <a:solidFill>
                  <a:srgbClr val="FF6400"/>
                </a:solidFill>
              </a:defRPr>
            </a:pPr>
            <a:r>
              <a:t>SUPPLY CHAIN</a:t>
            </a:r>
          </a:p>
        </p:txBody>
      </p:sp>
      <p:sp>
        <p:nvSpPr>
          <p:cNvPr id="17" name="TextBox 16"/>
          <p:cNvSpPr txBox="1"/>
          <p:nvPr/>
        </p:nvSpPr>
        <p:spPr>
          <a:xfrm>
            <a:off x="274320" y="5532120"/>
            <a:ext cx="5486400" cy="457200"/>
          </a:xfrm>
          <a:prstGeom prst="rect">
            <a:avLst/>
          </a:prstGeom>
          <a:noFill/>
        </p:spPr>
        <p:txBody>
          <a:bodyPr wrap="square">
            <a:spAutoFit/>
          </a:bodyPr>
          <a:lstStyle/>
          <a:p>
            <a:pPr>
              <a:defRPr sz="1000"/>
            </a:pPr>
            <a:r>
              <a:t>• Supplier: Consolidation to single-source Tier 1</a:t>
            </a:r>
            <a:br/>
            <a:r>
              <a:t>• Tooling: 15% reduction in logistics overhead</a:t>
            </a:r>
          </a:p>
        </p:txBody>
      </p:sp>
      <p:sp>
        <p:nvSpPr>
          <p:cNvPr id="18" name="Rectangle 17"/>
          <p:cNvSpPr/>
          <p:nvPr/>
        </p:nvSpPr>
        <p:spPr>
          <a:xfrm>
            <a:off x="274320" y="5989320"/>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17920" y="1005840"/>
            <a:ext cx="5699455" cy="256032"/>
          </a:xfrm>
          <a:prstGeom prst="rect">
            <a:avLst/>
          </a:prstGeom>
          <a:noFill/>
        </p:spPr>
        <p:txBody>
          <a:bodyPr wrap="square">
            <a:spAutoFit/>
          </a:bodyPr>
          <a:lstStyle/>
          <a:p>
            <a:pPr algn="ctr">
              <a:defRPr b="1" sz="1100">
                <a:solidFill>
                  <a:srgbClr val="003366"/>
                </a:solidFill>
              </a:defRPr>
            </a:pPr>
            <a:r>
              <a:t>Current Scenario</a:t>
            </a:r>
          </a:p>
        </p:txBody>
      </p:sp>
      <p:pic>
        <p:nvPicPr>
          <p:cNvPr id="20" name="Picture 19" descr="183.jpg"/>
          <p:cNvPicPr>
            <a:picLocks noChangeAspect="1"/>
          </p:cNvPicPr>
          <p:nvPr/>
        </p:nvPicPr>
        <p:blipFill>
          <a:blip r:embed="rId2"/>
          <a:stretch>
            <a:fillRect/>
          </a:stretch>
        </p:blipFill>
        <p:spPr>
          <a:xfrm>
            <a:off x="6217920" y="1280160"/>
            <a:ext cx="5699455" cy="2377440"/>
          </a:xfrm>
          <a:prstGeom prst="rect">
            <a:avLst/>
          </a:prstGeom>
          <a:ln w="12700">
            <a:solidFill>
              <a:srgbClr val="C8C8C8"/>
            </a:solidFill>
          </a:ln>
        </p:spPr>
      </p:pic>
      <p:sp>
        <p:nvSpPr>
          <p:cNvPr id="21" name="TextBox 20"/>
          <p:cNvSpPr txBox="1"/>
          <p:nvPr/>
        </p:nvSpPr>
        <p:spPr>
          <a:xfrm>
            <a:off x="6217920" y="3840480"/>
            <a:ext cx="5699455" cy="256032"/>
          </a:xfrm>
          <a:prstGeom prst="rect">
            <a:avLst/>
          </a:prstGeom>
          <a:noFill/>
        </p:spPr>
        <p:txBody>
          <a:bodyPr wrap="square">
            <a:spAutoFit/>
          </a:bodyPr>
          <a:lstStyle/>
          <a:p>
            <a:pPr algn="ctr">
              <a:defRPr b="1" sz="1100">
                <a:solidFill>
                  <a:srgbClr val="003366"/>
                </a:solidFill>
              </a:defRPr>
            </a:pPr>
            <a:r>
              <a:t>Proposal / Competitor</a:t>
            </a:r>
          </a:p>
        </p:txBody>
      </p:sp>
      <p:pic>
        <p:nvPicPr>
          <p:cNvPr id="22" name="Picture 21" descr="122.jpg"/>
          <p:cNvPicPr>
            <a:picLocks noChangeAspect="1"/>
          </p:cNvPicPr>
          <p:nvPr/>
        </p:nvPicPr>
        <p:blipFill>
          <a:blip r:embed="rId3"/>
          <a:stretch>
            <a:fillRect/>
          </a:stretch>
        </p:blipFill>
        <p:spPr>
          <a:xfrm>
            <a:off x="6217920" y="4114800"/>
            <a:ext cx="5699455" cy="2377440"/>
          </a:xfrm>
          <a:prstGeom prst="rect">
            <a:avLst/>
          </a:prstGeom>
          <a:ln w="12700">
            <a:solidFill>
              <a:srgbClr val="C8C8C8"/>
            </a:solidFill>
          </a:ln>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82880"/>
            <a:ext cx="8534095" cy="914400"/>
          </a:xfrm>
          <a:prstGeom prst="rect">
            <a:avLst/>
          </a:prstGeom>
          <a:noFill/>
        </p:spPr>
        <p:txBody>
          <a:bodyPr wrap="square">
            <a:spAutoFit/>
          </a:bodyPr>
          <a:lstStyle/>
          <a:p>
            <a:pPr>
              <a:defRPr sz="2400" b="1">
                <a:solidFill>
                  <a:srgbClr val="003366"/>
                </a:solidFill>
              </a:defRPr>
            </a:pPr>
            <a:r>
              <a:t>#4: Replace the current cast iron brake rotor material for the front axle with a lower-density, high-strength aluminum alloy (e.g., 7075-T6) with a cast-in steel friction ring.</a:t>
            </a:r>
          </a:p>
        </p:txBody>
      </p:sp>
      <p:sp>
        <p:nvSpPr>
          <p:cNvPr id="3" name="TextBox 2"/>
          <p:cNvSpPr txBox="1"/>
          <p:nvPr/>
        </p:nvSpPr>
        <p:spPr>
          <a:xfrm>
            <a:off x="10088575" y="182880"/>
            <a:ext cx="1828800" cy="457200"/>
          </a:xfrm>
          <a:prstGeom prst="rect">
            <a:avLst/>
          </a:prstGeom>
          <a:solidFill>
            <a:srgbClr val="800080"/>
          </a:solidFill>
        </p:spPr>
        <p:txBody>
          <a:bodyPr wrap="none">
            <a:spAutoFit/>
          </a:bodyPr>
          <a:lstStyle/>
          <a:p>
            <a:pPr algn="ctr">
              <a:defRPr>
                <a:solidFill>
                  <a:srgbClr val="FFFFFF"/>
                </a:solidFill>
              </a:defRPr>
            </a:pPr>
            <a:r>
              <a:t>AI INNOVATION</a:t>
            </a:r>
          </a:p>
        </p:txBody>
      </p:sp>
      <p:sp>
        <p:nvSpPr>
          <p:cNvPr id="4" name="TextBox 3"/>
          <p:cNvSpPr txBox="1"/>
          <p:nvPr/>
        </p:nvSpPr>
        <p:spPr>
          <a:xfrm>
            <a:off x="274320" y="1280160"/>
            <a:ext cx="5486400" cy="228600"/>
          </a:xfrm>
          <a:prstGeom prst="rect">
            <a:avLst/>
          </a:prstGeom>
          <a:noFill/>
        </p:spPr>
        <p:txBody>
          <a:bodyPr wrap="none">
            <a:spAutoFit/>
          </a:bodyPr>
          <a:lstStyle/>
          <a:p>
            <a:pPr>
              <a:defRPr b="1" sz="1100">
                <a:solidFill>
                  <a:srgbClr val="FF6400"/>
                </a:solidFill>
              </a:defRPr>
            </a:pPr>
            <a:r>
              <a:t>TECHNICAL ENGINEERING VIEW</a:t>
            </a:r>
          </a:p>
        </p:txBody>
      </p:sp>
      <p:sp>
        <p:nvSpPr>
          <p:cNvPr id="5" name="TextBox 4"/>
          <p:cNvSpPr txBox="1"/>
          <p:nvPr/>
        </p:nvSpPr>
        <p:spPr>
          <a:xfrm>
            <a:off x="274320" y="1508760"/>
            <a:ext cx="5486400" cy="822959"/>
          </a:xfrm>
          <a:prstGeom prst="rect">
            <a:avLst/>
          </a:prstGeom>
          <a:noFill/>
        </p:spPr>
        <p:txBody>
          <a:bodyPr wrap="square">
            <a:spAutoFit/>
          </a:bodyPr>
          <a:lstStyle/>
          <a:p>
            <a:pPr>
              <a:defRPr sz="1000"/>
            </a:pPr>
            <a:r>
              <a:t>Technical optimization of Replace the current cast iron brake rotor material for the front axle with a lower-density, high-strength aluminum alloy (e.g., 7075-T6) with a cast-in steel friction ring. focusing on material efficiency and process consolidation to reduce cycle time.</a:t>
            </a:r>
          </a:p>
        </p:txBody>
      </p:sp>
      <p:sp>
        <p:nvSpPr>
          <p:cNvPr id="6" name="Rectangle 5"/>
          <p:cNvSpPr/>
          <p:nvPr/>
        </p:nvSpPr>
        <p:spPr>
          <a:xfrm>
            <a:off x="274320" y="2331720"/>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2377439"/>
            <a:ext cx="5486400" cy="228600"/>
          </a:xfrm>
          <a:prstGeom prst="rect">
            <a:avLst/>
          </a:prstGeom>
          <a:noFill/>
        </p:spPr>
        <p:txBody>
          <a:bodyPr wrap="none">
            <a:spAutoFit/>
          </a:bodyPr>
          <a:lstStyle/>
          <a:p>
            <a:pPr>
              <a:defRPr b="1" sz="1100">
                <a:solidFill>
                  <a:srgbClr val="FF6400"/>
                </a:solidFill>
              </a:defRPr>
            </a:pPr>
            <a:r>
              <a:t>MATERIAL &amp; DIMENSION SWAP</a:t>
            </a:r>
          </a:p>
        </p:txBody>
      </p:sp>
      <p:sp>
        <p:nvSpPr>
          <p:cNvPr id="8" name="TextBox 7"/>
          <p:cNvSpPr txBox="1"/>
          <p:nvPr/>
        </p:nvSpPr>
        <p:spPr>
          <a:xfrm>
            <a:off x="274320" y="2606039"/>
            <a:ext cx="5486400" cy="457200"/>
          </a:xfrm>
          <a:prstGeom prst="rect">
            <a:avLst/>
          </a:prstGeom>
          <a:noFill/>
        </p:spPr>
        <p:txBody>
          <a:bodyPr wrap="square">
            <a:spAutoFit/>
          </a:bodyPr>
          <a:lstStyle/>
          <a:p>
            <a:pPr>
              <a:defRPr sz="1000"/>
            </a:pPr>
            <a:r>
              <a:t>Replace the current cast iron brake rotor material for the front axle with a lower-density, high-str</a:t>
            </a:r>
            <a:br/>
            <a:r>
              <a:t>N/A (Maintains current envelope)</a:t>
            </a:r>
          </a:p>
        </p:txBody>
      </p:sp>
      <p:sp>
        <p:nvSpPr>
          <p:cNvPr id="9" name="Rectangle 8"/>
          <p:cNvSpPr/>
          <p:nvPr/>
        </p:nvSpPr>
        <p:spPr>
          <a:xfrm>
            <a:off x="274320" y="3063239"/>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 y="3108959"/>
            <a:ext cx="5486400" cy="228600"/>
          </a:xfrm>
          <a:prstGeom prst="rect">
            <a:avLst/>
          </a:prstGeom>
          <a:noFill/>
        </p:spPr>
        <p:txBody>
          <a:bodyPr wrap="none">
            <a:spAutoFit/>
          </a:bodyPr>
          <a:lstStyle/>
          <a:p>
            <a:pPr>
              <a:defRPr b="1" sz="1100">
                <a:solidFill>
                  <a:srgbClr val="FF6400"/>
                </a:solidFill>
              </a:defRPr>
            </a:pPr>
            <a:r>
              <a:t>FINANCIAL IMPACT</a:t>
            </a:r>
          </a:p>
        </p:txBody>
      </p:sp>
      <p:sp>
        <p:nvSpPr>
          <p:cNvPr id="11" name="TextBox 10"/>
          <p:cNvSpPr txBox="1"/>
          <p:nvPr/>
        </p:nvSpPr>
        <p:spPr>
          <a:xfrm>
            <a:off x="274320" y="3337559"/>
            <a:ext cx="5486400" cy="274320"/>
          </a:xfrm>
          <a:prstGeom prst="rect">
            <a:avLst/>
          </a:prstGeom>
          <a:noFill/>
        </p:spPr>
        <p:txBody>
          <a:bodyPr wrap="square">
            <a:spAutoFit/>
          </a:bodyPr>
          <a:lstStyle/>
          <a:p>
            <a:pPr>
              <a:defRPr sz="1000"/>
            </a:pPr>
            <a:r>
              <a:t>Est. Saving: INR 4500000</a:t>
            </a:r>
            <a:br/>
            <a:r>
              <a:t>CAPEX: TBD</a:t>
            </a:r>
          </a:p>
        </p:txBody>
      </p:sp>
      <p:sp>
        <p:nvSpPr>
          <p:cNvPr id="12" name="Rectangle 11"/>
          <p:cNvSpPr/>
          <p:nvPr/>
        </p:nvSpPr>
        <p:spPr>
          <a:xfrm>
            <a:off x="274320" y="3611879"/>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4320" y="3657599"/>
            <a:ext cx="5486400" cy="228600"/>
          </a:xfrm>
          <a:prstGeom prst="rect">
            <a:avLst/>
          </a:prstGeom>
          <a:noFill/>
        </p:spPr>
        <p:txBody>
          <a:bodyPr wrap="none">
            <a:spAutoFit/>
          </a:bodyPr>
          <a:lstStyle/>
          <a:p>
            <a:pPr>
              <a:defRPr b="1" sz="1100">
                <a:solidFill>
                  <a:srgbClr val="FF6400"/>
                </a:solidFill>
              </a:defRPr>
            </a:pPr>
            <a:r>
              <a:t>VALIDATION &amp; RISKS</a:t>
            </a:r>
          </a:p>
        </p:txBody>
      </p:sp>
      <p:sp>
        <p:nvSpPr>
          <p:cNvPr id="14" name="TextBox 13"/>
          <p:cNvSpPr txBox="1"/>
          <p:nvPr/>
        </p:nvSpPr>
        <p:spPr>
          <a:xfrm>
            <a:off x="274320" y="3886200"/>
            <a:ext cx="5486400" cy="1371600"/>
          </a:xfrm>
          <a:prstGeom prst="rect">
            <a:avLst/>
          </a:prstGeom>
          <a:noFill/>
        </p:spPr>
        <p:txBody>
          <a:bodyPr wrap="square">
            <a:spAutoFit/>
          </a:bodyPr>
          <a:lstStyle/>
          <a:p>
            <a:pPr>
              <a:defRPr sz="1000"/>
            </a:pPr>
            <a:r>
              <a:t>VALIDATION:</a:t>
            </a:r>
            <a:br/>
            <a:r>
              <a:t>• DVP&amp;R Level 2 Testing</a:t>
            </a:r>
            <a:br/>
            <a:r>
              <a:t>• Environmental Aging (1000 hrs)</a:t>
            </a:r>
            <a:br/>
            <a:r>
              <a:t>• Head Impact Criterion (FMVSS)</a:t>
            </a:r>
            <a:br/>
            <a:br/>
            <a:r>
              <a:t>RISKS:</a:t>
            </a:r>
            <a:br/>
            <a:r>
              <a:t>⚠ NVH performance degradation</a:t>
            </a:r>
            <a:br/>
            <a:r>
              <a:t>⚠ Thermal durability limits</a:t>
            </a:r>
            <a:br/>
            <a:r>
              <a:t>⚠ Aesthetic fit &amp; finish gap</a:t>
            </a:r>
          </a:p>
        </p:txBody>
      </p:sp>
      <p:sp>
        <p:nvSpPr>
          <p:cNvPr id="15" name="Rectangle 14"/>
          <p:cNvSpPr/>
          <p:nvPr/>
        </p:nvSpPr>
        <p:spPr>
          <a:xfrm>
            <a:off x="274320" y="5257800"/>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4320" y="5303520"/>
            <a:ext cx="5486400" cy="228600"/>
          </a:xfrm>
          <a:prstGeom prst="rect">
            <a:avLst/>
          </a:prstGeom>
          <a:noFill/>
        </p:spPr>
        <p:txBody>
          <a:bodyPr wrap="none">
            <a:spAutoFit/>
          </a:bodyPr>
          <a:lstStyle/>
          <a:p>
            <a:pPr>
              <a:defRPr b="1" sz="1100">
                <a:solidFill>
                  <a:srgbClr val="FF6400"/>
                </a:solidFill>
              </a:defRPr>
            </a:pPr>
            <a:r>
              <a:t>SUPPLY CHAIN</a:t>
            </a:r>
          </a:p>
        </p:txBody>
      </p:sp>
      <p:sp>
        <p:nvSpPr>
          <p:cNvPr id="17" name="TextBox 16"/>
          <p:cNvSpPr txBox="1"/>
          <p:nvPr/>
        </p:nvSpPr>
        <p:spPr>
          <a:xfrm>
            <a:off x="274320" y="5532120"/>
            <a:ext cx="5486400" cy="457200"/>
          </a:xfrm>
          <a:prstGeom prst="rect">
            <a:avLst/>
          </a:prstGeom>
          <a:noFill/>
        </p:spPr>
        <p:txBody>
          <a:bodyPr wrap="square">
            <a:spAutoFit/>
          </a:bodyPr>
          <a:lstStyle/>
          <a:p>
            <a:pPr>
              <a:defRPr sz="1000"/>
            </a:pPr>
            <a:r>
              <a:t>• Supplier: Consolidation to single-source Tier 1</a:t>
            </a:r>
            <a:br/>
            <a:r>
              <a:t>• Tooling: 15% reduction in logistics overhead</a:t>
            </a:r>
          </a:p>
        </p:txBody>
      </p:sp>
      <p:sp>
        <p:nvSpPr>
          <p:cNvPr id="18" name="Rectangle 17"/>
          <p:cNvSpPr/>
          <p:nvPr/>
        </p:nvSpPr>
        <p:spPr>
          <a:xfrm>
            <a:off x="274320" y="5989320"/>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17920" y="1005840"/>
            <a:ext cx="5699455" cy="256032"/>
          </a:xfrm>
          <a:prstGeom prst="rect">
            <a:avLst/>
          </a:prstGeom>
          <a:noFill/>
        </p:spPr>
        <p:txBody>
          <a:bodyPr wrap="square">
            <a:spAutoFit/>
          </a:bodyPr>
          <a:lstStyle/>
          <a:p>
            <a:pPr algn="ctr">
              <a:defRPr b="1" sz="1100">
                <a:solidFill>
                  <a:srgbClr val="003366"/>
                </a:solidFill>
              </a:defRPr>
            </a:pPr>
            <a:r>
              <a:t>Current Scenario</a:t>
            </a:r>
          </a:p>
        </p:txBody>
      </p:sp>
      <p:pic>
        <p:nvPicPr>
          <p:cNvPr id="20" name="Picture 19" descr="4.jpg"/>
          <p:cNvPicPr>
            <a:picLocks noChangeAspect="1"/>
          </p:cNvPicPr>
          <p:nvPr/>
        </p:nvPicPr>
        <p:blipFill>
          <a:blip r:embed="rId2"/>
          <a:stretch>
            <a:fillRect/>
          </a:stretch>
        </p:blipFill>
        <p:spPr>
          <a:xfrm>
            <a:off x="6217920" y="1280160"/>
            <a:ext cx="5699455" cy="2377440"/>
          </a:xfrm>
          <a:prstGeom prst="rect">
            <a:avLst/>
          </a:prstGeom>
          <a:ln w="12700">
            <a:solidFill>
              <a:srgbClr val="C8C8C8"/>
            </a:solidFill>
          </a:ln>
        </p:spPr>
      </p:pic>
      <p:sp>
        <p:nvSpPr>
          <p:cNvPr id="21" name="TextBox 20"/>
          <p:cNvSpPr txBox="1"/>
          <p:nvPr/>
        </p:nvSpPr>
        <p:spPr>
          <a:xfrm>
            <a:off x="6217920" y="3840480"/>
            <a:ext cx="5699455" cy="256032"/>
          </a:xfrm>
          <a:prstGeom prst="rect">
            <a:avLst/>
          </a:prstGeom>
          <a:noFill/>
        </p:spPr>
        <p:txBody>
          <a:bodyPr wrap="square">
            <a:spAutoFit/>
          </a:bodyPr>
          <a:lstStyle/>
          <a:p>
            <a:pPr algn="ctr">
              <a:defRPr b="1" sz="1100">
                <a:solidFill>
                  <a:srgbClr val="003366"/>
                </a:solidFill>
              </a:defRPr>
            </a:pPr>
            <a:r>
              <a:t>Proposal / Competitor</a:t>
            </a:r>
          </a:p>
        </p:txBody>
      </p:sp>
      <p:pic>
        <p:nvPicPr>
          <p:cNvPr id="22" name="Picture 21" descr="204.jpg"/>
          <p:cNvPicPr>
            <a:picLocks noChangeAspect="1"/>
          </p:cNvPicPr>
          <p:nvPr/>
        </p:nvPicPr>
        <p:blipFill>
          <a:blip r:embed="rId3"/>
          <a:stretch>
            <a:fillRect/>
          </a:stretch>
        </p:blipFill>
        <p:spPr>
          <a:xfrm>
            <a:off x="6217920" y="4114800"/>
            <a:ext cx="5699455" cy="2377440"/>
          </a:xfrm>
          <a:prstGeom prst="rect">
            <a:avLst/>
          </a:prstGeom>
          <a:ln w="12700">
            <a:solidFill>
              <a:srgbClr val="C8C8C8"/>
            </a:solidFill>
          </a:ln>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82880"/>
            <a:ext cx="8534095" cy="914400"/>
          </a:xfrm>
          <a:prstGeom prst="rect">
            <a:avLst/>
          </a:prstGeom>
          <a:noFill/>
        </p:spPr>
        <p:txBody>
          <a:bodyPr wrap="square">
            <a:spAutoFit/>
          </a:bodyPr>
          <a:lstStyle/>
          <a:p>
            <a:pPr>
              <a:defRPr sz="2400" b="1">
                <a:solidFill>
                  <a:srgbClr val="003366"/>
                </a:solidFill>
              </a:defRPr>
            </a:pPr>
            <a:r>
              <a:t>#5: Optimize the caliper piston bore diameter for the front brake calipers, slightly reducing it while maintaining required hydraulic force, potentially using a lighter caliper housing material like a high-strength aluminum alloy (e.g., 6061-T6).</a:t>
            </a:r>
          </a:p>
        </p:txBody>
      </p:sp>
      <p:sp>
        <p:nvSpPr>
          <p:cNvPr id="3" name="TextBox 2"/>
          <p:cNvSpPr txBox="1"/>
          <p:nvPr/>
        </p:nvSpPr>
        <p:spPr>
          <a:xfrm>
            <a:off x="10088575" y="182880"/>
            <a:ext cx="1828800" cy="457200"/>
          </a:xfrm>
          <a:prstGeom prst="rect">
            <a:avLst/>
          </a:prstGeom>
          <a:solidFill>
            <a:srgbClr val="800080"/>
          </a:solidFill>
        </p:spPr>
        <p:txBody>
          <a:bodyPr wrap="none">
            <a:spAutoFit/>
          </a:bodyPr>
          <a:lstStyle/>
          <a:p>
            <a:pPr algn="ctr">
              <a:defRPr>
                <a:solidFill>
                  <a:srgbClr val="FFFFFF"/>
                </a:solidFill>
              </a:defRPr>
            </a:pPr>
            <a:r>
              <a:t>AI INNOVATION</a:t>
            </a:r>
          </a:p>
        </p:txBody>
      </p:sp>
      <p:sp>
        <p:nvSpPr>
          <p:cNvPr id="4" name="TextBox 3"/>
          <p:cNvSpPr txBox="1"/>
          <p:nvPr/>
        </p:nvSpPr>
        <p:spPr>
          <a:xfrm>
            <a:off x="274320" y="1280160"/>
            <a:ext cx="5486400" cy="228600"/>
          </a:xfrm>
          <a:prstGeom prst="rect">
            <a:avLst/>
          </a:prstGeom>
          <a:noFill/>
        </p:spPr>
        <p:txBody>
          <a:bodyPr wrap="none">
            <a:spAutoFit/>
          </a:bodyPr>
          <a:lstStyle/>
          <a:p>
            <a:pPr>
              <a:defRPr b="1" sz="1100">
                <a:solidFill>
                  <a:srgbClr val="FF6400"/>
                </a:solidFill>
              </a:defRPr>
            </a:pPr>
            <a:r>
              <a:t>TECHNICAL ENGINEERING VIEW</a:t>
            </a:r>
          </a:p>
        </p:txBody>
      </p:sp>
      <p:sp>
        <p:nvSpPr>
          <p:cNvPr id="5" name="TextBox 4"/>
          <p:cNvSpPr txBox="1"/>
          <p:nvPr/>
        </p:nvSpPr>
        <p:spPr>
          <a:xfrm>
            <a:off x="274320" y="1508760"/>
            <a:ext cx="5486400" cy="822959"/>
          </a:xfrm>
          <a:prstGeom prst="rect">
            <a:avLst/>
          </a:prstGeom>
          <a:noFill/>
        </p:spPr>
        <p:txBody>
          <a:bodyPr wrap="square">
            <a:spAutoFit/>
          </a:bodyPr>
          <a:lstStyle/>
          <a:p>
            <a:pPr>
              <a:defRPr sz="1000"/>
            </a:pPr>
            <a:r>
              <a:t>Technical optimization of Optimize the caliper piston bore diameter for the front brake calipers, slightly reducing it while maintaining required hydraulic force, potentially using a lighter caliper housing material like a high-strength aluminum alloy (e.g., 6061-T6). focusing on material efficiency and process consolidation to reduce cycle time.</a:t>
            </a:r>
          </a:p>
        </p:txBody>
      </p:sp>
      <p:sp>
        <p:nvSpPr>
          <p:cNvPr id="6" name="Rectangle 5"/>
          <p:cNvSpPr/>
          <p:nvPr/>
        </p:nvSpPr>
        <p:spPr>
          <a:xfrm>
            <a:off x="274320" y="2331720"/>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2377439"/>
            <a:ext cx="5486400" cy="228600"/>
          </a:xfrm>
          <a:prstGeom prst="rect">
            <a:avLst/>
          </a:prstGeom>
          <a:noFill/>
        </p:spPr>
        <p:txBody>
          <a:bodyPr wrap="none">
            <a:spAutoFit/>
          </a:bodyPr>
          <a:lstStyle/>
          <a:p>
            <a:pPr>
              <a:defRPr b="1" sz="1100">
                <a:solidFill>
                  <a:srgbClr val="FF6400"/>
                </a:solidFill>
              </a:defRPr>
            </a:pPr>
            <a:r>
              <a:t>MATERIAL &amp; DIMENSION SWAP</a:t>
            </a:r>
          </a:p>
        </p:txBody>
      </p:sp>
      <p:sp>
        <p:nvSpPr>
          <p:cNvPr id="8" name="TextBox 7"/>
          <p:cNvSpPr txBox="1"/>
          <p:nvPr/>
        </p:nvSpPr>
        <p:spPr>
          <a:xfrm>
            <a:off x="274320" y="2606039"/>
            <a:ext cx="5486400" cy="457200"/>
          </a:xfrm>
          <a:prstGeom prst="rect">
            <a:avLst/>
          </a:prstGeom>
          <a:noFill/>
        </p:spPr>
        <p:txBody>
          <a:bodyPr wrap="square">
            <a:spAutoFit/>
          </a:bodyPr>
          <a:lstStyle/>
          <a:p>
            <a:pPr>
              <a:defRPr sz="1000"/>
            </a:pPr>
            <a:r>
              <a:t>Optimize the caliper piston bore diameter for the front brake calipers, slightly reducing it while m</a:t>
            </a:r>
            <a:br/>
            <a:r>
              <a:t>N/A (Maintains current envelope)</a:t>
            </a:r>
          </a:p>
        </p:txBody>
      </p:sp>
      <p:sp>
        <p:nvSpPr>
          <p:cNvPr id="9" name="Rectangle 8"/>
          <p:cNvSpPr/>
          <p:nvPr/>
        </p:nvSpPr>
        <p:spPr>
          <a:xfrm>
            <a:off x="274320" y="3063239"/>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 y="3108959"/>
            <a:ext cx="5486400" cy="228600"/>
          </a:xfrm>
          <a:prstGeom prst="rect">
            <a:avLst/>
          </a:prstGeom>
          <a:noFill/>
        </p:spPr>
        <p:txBody>
          <a:bodyPr wrap="none">
            <a:spAutoFit/>
          </a:bodyPr>
          <a:lstStyle/>
          <a:p>
            <a:pPr>
              <a:defRPr b="1" sz="1100">
                <a:solidFill>
                  <a:srgbClr val="FF6400"/>
                </a:solidFill>
              </a:defRPr>
            </a:pPr>
            <a:r>
              <a:t>FINANCIAL IMPACT</a:t>
            </a:r>
          </a:p>
        </p:txBody>
      </p:sp>
      <p:sp>
        <p:nvSpPr>
          <p:cNvPr id="11" name="TextBox 10"/>
          <p:cNvSpPr txBox="1"/>
          <p:nvPr/>
        </p:nvSpPr>
        <p:spPr>
          <a:xfrm>
            <a:off x="274320" y="3337559"/>
            <a:ext cx="5486400" cy="274320"/>
          </a:xfrm>
          <a:prstGeom prst="rect">
            <a:avLst/>
          </a:prstGeom>
          <a:noFill/>
        </p:spPr>
        <p:txBody>
          <a:bodyPr wrap="square">
            <a:spAutoFit/>
          </a:bodyPr>
          <a:lstStyle/>
          <a:p>
            <a:pPr>
              <a:defRPr sz="1000"/>
            </a:pPr>
            <a:r>
              <a:t>Est. Saving: INR 3000000</a:t>
            </a:r>
            <a:br/>
            <a:r>
              <a:t>CAPEX: TBD</a:t>
            </a:r>
          </a:p>
        </p:txBody>
      </p:sp>
      <p:sp>
        <p:nvSpPr>
          <p:cNvPr id="12" name="Rectangle 11"/>
          <p:cNvSpPr/>
          <p:nvPr/>
        </p:nvSpPr>
        <p:spPr>
          <a:xfrm>
            <a:off x="274320" y="3611879"/>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4320" y="3657599"/>
            <a:ext cx="5486400" cy="228600"/>
          </a:xfrm>
          <a:prstGeom prst="rect">
            <a:avLst/>
          </a:prstGeom>
          <a:noFill/>
        </p:spPr>
        <p:txBody>
          <a:bodyPr wrap="none">
            <a:spAutoFit/>
          </a:bodyPr>
          <a:lstStyle/>
          <a:p>
            <a:pPr>
              <a:defRPr b="1" sz="1100">
                <a:solidFill>
                  <a:srgbClr val="FF6400"/>
                </a:solidFill>
              </a:defRPr>
            </a:pPr>
            <a:r>
              <a:t>VALIDATION &amp; RISKS</a:t>
            </a:r>
          </a:p>
        </p:txBody>
      </p:sp>
      <p:sp>
        <p:nvSpPr>
          <p:cNvPr id="14" name="TextBox 13"/>
          <p:cNvSpPr txBox="1"/>
          <p:nvPr/>
        </p:nvSpPr>
        <p:spPr>
          <a:xfrm>
            <a:off x="274320" y="3886200"/>
            <a:ext cx="5486400" cy="1371600"/>
          </a:xfrm>
          <a:prstGeom prst="rect">
            <a:avLst/>
          </a:prstGeom>
          <a:noFill/>
        </p:spPr>
        <p:txBody>
          <a:bodyPr wrap="square">
            <a:spAutoFit/>
          </a:bodyPr>
          <a:lstStyle/>
          <a:p>
            <a:pPr>
              <a:defRPr sz="1000"/>
            </a:pPr>
            <a:r>
              <a:t>VALIDATION:</a:t>
            </a:r>
            <a:br/>
            <a:r>
              <a:t>• DVP&amp;R Level 2 Testing</a:t>
            </a:r>
            <a:br/>
            <a:r>
              <a:t>• Environmental Aging (1000 hrs)</a:t>
            </a:r>
            <a:br/>
            <a:r>
              <a:t>• Head Impact Criterion (FMVSS)</a:t>
            </a:r>
            <a:br/>
            <a:br/>
            <a:r>
              <a:t>RISKS:</a:t>
            </a:r>
            <a:br/>
            <a:r>
              <a:t>⚠ NVH performance degradation</a:t>
            </a:r>
            <a:br/>
            <a:r>
              <a:t>⚠ Thermal durability limits</a:t>
            </a:r>
            <a:br/>
            <a:r>
              <a:t>⚠ Aesthetic fit &amp; finish gap</a:t>
            </a:r>
          </a:p>
        </p:txBody>
      </p:sp>
      <p:sp>
        <p:nvSpPr>
          <p:cNvPr id="15" name="Rectangle 14"/>
          <p:cNvSpPr/>
          <p:nvPr/>
        </p:nvSpPr>
        <p:spPr>
          <a:xfrm>
            <a:off x="274320" y="5257800"/>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4320" y="5303520"/>
            <a:ext cx="5486400" cy="228600"/>
          </a:xfrm>
          <a:prstGeom prst="rect">
            <a:avLst/>
          </a:prstGeom>
          <a:noFill/>
        </p:spPr>
        <p:txBody>
          <a:bodyPr wrap="none">
            <a:spAutoFit/>
          </a:bodyPr>
          <a:lstStyle/>
          <a:p>
            <a:pPr>
              <a:defRPr b="1" sz="1100">
                <a:solidFill>
                  <a:srgbClr val="FF6400"/>
                </a:solidFill>
              </a:defRPr>
            </a:pPr>
            <a:r>
              <a:t>SUPPLY CHAIN</a:t>
            </a:r>
          </a:p>
        </p:txBody>
      </p:sp>
      <p:sp>
        <p:nvSpPr>
          <p:cNvPr id="17" name="TextBox 16"/>
          <p:cNvSpPr txBox="1"/>
          <p:nvPr/>
        </p:nvSpPr>
        <p:spPr>
          <a:xfrm>
            <a:off x="274320" y="5532120"/>
            <a:ext cx="5486400" cy="457200"/>
          </a:xfrm>
          <a:prstGeom prst="rect">
            <a:avLst/>
          </a:prstGeom>
          <a:noFill/>
        </p:spPr>
        <p:txBody>
          <a:bodyPr wrap="square">
            <a:spAutoFit/>
          </a:bodyPr>
          <a:lstStyle/>
          <a:p>
            <a:pPr>
              <a:defRPr sz="1000"/>
            </a:pPr>
            <a:r>
              <a:t>• Supplier: Consolidation to single-source Tier 1</a:t>
            </a:r>
            <a:br/>
            <a:r>
              <a:t>• Tooling: 15% reduction in logistics overhead</a:t>
            </a:r>
          </a:p>
        </p:txBody>
      </p:sp>
      <p:sp>
        <p:nvSpPr>
          <p:cNvPr id="18" name="Rectangle 17"/>
          <p:cNvSpPr/>
          <p:nvPr/>
        </p:nvSpPr>
        <p:spPr>
          <a:xfrm>
            <a:off x="274320" y="5989320"/>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17920" y="1005840"/>
            <a:ext cx="5699455" cy="256032"/>
          </a:xfrm>
          <a:prstGeom prst="rect">
            <a:avLst/>
          </a:prstGeom>
          <a:noFill/>
        </p:spPr>
        <p:txBody>
          <a:bodyPr wrap="square">
            <a:spAutoFit/>
          </a:bodyPr>
          <a:lstStyle/>
          <a:p>
            <a:pPr algn="ctr">
              <a:defRPr b="1" sz="1100">
                <a:solidFill>
                  <a:srgbClr val="003366"/>
                </a:solidFill>
              </a:defRPr>
            </a:pPr>
            <a:r>
              <a:t>Current Scenario</a:t>
            </a:r>
          </a:p>
        </p:txBody>
      </p:sp>
      <p:pic>
        <p:nvPicPr>
          <p:cNvPr id="20" name="Picture 19" descr="32.jpg"/>
          <p:cNvPicPr>
            <a:picLocks noChangeAspect="1"/>
          </p:cNvPicPr>
          <p:nvPr/>
        </p:nvPicPr>
        <p:blipFill>
          <a:blip r:embed="rId2"/>
          <a:stretch>
            <a:fillRect/>
          </a:stretch>
        </p:blipFill>
        <p:spPr>
          <a:xfrm>
            <a:off x="6217920" y="1280160"/>
            <a:ext cx="5699455" cy="2377440"/>
          </a:xfrm>
          <a:prstGeom prst="rect">
            <a:avLst/>
          </a:prstGeom>
          <a:ln w="12700">
            <a:solidFill>
              <a:srgbClr val="C8C8C8"/>
            </a:solidFill>
          </a:ln>
        </p:spPr>
      </p:pic>
      <p:sp>
        <p:nvSpPr>
          <p:cNvPr id="21" name="TextBox 20"/>
          <p:cNvSpPr txBox="1"/>
          <p:nvPr/>
        </p:nvSpPr>
        <p:spPr>
          <a:xfrm>
            <a:off x="6217920" y="3840480"/>
            <a:ext cx="5699455" cy="256032"/>
          </a:xfrm>
          <a:prstGeom prst="rect">
            <a:avLst/>
          </a:prstGeom>
          <a:noFill/>
        </p:spPr>
        <p:txBody>
          <a:bodyPr wrap="square">
            <a:spAutoFit/>
          </a:bodyPr>
          <a:lstStyle/>
          <a:p>
            <a:pPr algn="ctr">
              <a:defRPr b="1" sz="1100">
                <a:solidFill>
                  <a:srgbClr val="003366"/>
                </a:solidFill>
              </a:defRPr>
            </a:pPr>
            <a:r>
              <a:t>Proposal / Competitor</a:t>
            </a:r>
          </a:p>
        </p:txBody>
      </p:sp>
      <p:pic>
        <p:nvPicPr>
          <p:cNvPr id="22" name="Picture 21" descr="24.jpg"/>
          <p:cNvPicPr>
            <a:picLocks noChangeAspect="1"/>
          </p:cNvPicPr>
          <p:nvPr/>
        </p:nvPicPr>
        <p:blipFill>
          <a:blip r:embed="rId3"/>
          <a:stretch>
            <a:fillRect/>
          </a:stretch>
        </p:blipFill>
        <p:spPr>
          <a:xfrm>
            <a:off x="6217920" y="4114800"/>
            <a:ext cx="5699455" cy="2377440"/>
          </a:xfrm>
          <a:prstGeom prst="rect">
            <a:avLst/>
          </a:prstGeom>
          <a:ln w="12700">
            <a:solidFill>
              <a:srgbClr val="C8C8C8"/>
            </a:solidFill>
          </a:ln>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82880"/>
            <a:ext cx="8534095" cy="914400"/>
          </a:xfrm>
          <a:prstGeom prst="rect">
            <a:avLst/>
          </a:prstGeom>
          <a:noFill/>
        </p:spPr>
        <p:txBody>
          <a:bodyPr wrap="square">
            <a:spAutoFit/>
          </a:bodyPr>
          <a:lstStyle/>
          <a:p>
            <a:pPr>
              <a:defRPr sz="2400" b="1">
                <a:solidFill>
                  <a:srgbClr val="003366"/>
                </a:solidFill>
              </a:defRPr>
            </a:pPr>
            <a:r>
              <a:t>#6: Redesign the brake caliper mounting bracket for the front axle to utilize a simpler, more efficient casting process (e.g., gravity die casting instead of sand casting) and a slightly lower grade of ductile iron, while ensuring FEA validation for strength and stiffness.</a:t>
            </a:r>
          </a:p>
        </p:txBody>
      </p:sp>
      <p:sp>
        <p:nvSpPr>
          <p:cNvPr id="3" name="TextBox 2"/>
          <p:cNvSpPr txBox="1"/>
          <p:nvPr/>
        </p:nvSpPr>
        <p:spPr>
          <a:xfrm>
            <a:off x="10088575" y="182880"/>
            <a:ext cx="1828800" cy="457200"/>
          </a:xfrm>
          <a:prstGeom prst="rect">
            <a:avLst/>
          </a:prstGeom>
          <a:solidFill>
            <a:srgbClr val="800080"/>
          </a:solidFill>
        </p:spPr>
        <p:txBody>
          <a:bodyPr wrap="none">
            <a:spAutoFit/>
          </a:bodyPr>
          <a:lstStyle/>
          <a:p>
            <a:pPr algn="ctr">
              <a:defRPr>
                <a:solidFill>
                  <a:srgbClr val="FFFFFF"/>
                </a:solidFill>
              </a:defRPr>
            </a:pPr>
            <a:r>
              <a:t>AI INNOVATION</a:t>
            </a:r>
          </a:p>
        </p:txBody>
      </p:sp>
      <p:sp>
        <p:nvSpPr>
          <p:cNvPr id="4" name="TextBox 3"/>
          <p:cNvSpPr txBox="1"/>
          <p:nvPr/>
        </p:nvSpPr>
        <p:spPr>
          <a:xfrm>
            <a:off x="274320" y="1280160"/>
            <a:ext cx="5486400" cy="228600"/>
          </a:xfrm>
          <a:prstGeom prst="rect">
            <a:avLst/>
          </a:prstGeom>
          <a:noFill/>
        </p:spPr>
        <p:txBody>
          <a:bodyPr wrap="none">
            <a:spAutoFit/>
          </a:bodyPr>
          <a:lstStyle/>
          <a:p>
            <a:pPr>
              <a:defRPr b="1" sz="1100">
                <a:solidFill>
                  <a:srgbClr val="FF6400"/>
                </a:solidFill>
              </a:defRPr>
            </a:pPr>
            <a:r>
              <a:t>TECHNICAL ENGINEERING VIEW</a:t>
            </a:r>
          </a:p>
        </p:txBody>
      </p:sp>
      <p:sp>
        <p:nvSpPr>
          <p:cNvPr id="5" name="TextBox 4"/>
          <p:cNvSpPr txBox="1"/>
          <p:nvPr/>
        </p:nvSpPr>
        <p:spPr>
          <a:xfrm>
            <a:off x="274320" y="1508760"/>
            <a:ext cx="5486400" cy="822959"/>
          </a:xfrm>
          <a:prstGeom prst="rect">
            <a:avLst/>
          </a:prstGeom>
          <a:noFill/>
        </p:spPr>
        <p:txBody>
          <a:bodyPr wrap="square">
            <a:spAutoFit/>
          </a:bodyPr>
          <a:lstStyle/>
          <a:p>
            <a:pPr>
              <a:defRPr sz="1000"/>
            </a:pPr>
            <a:r>
              <a:t>Technical optimization of Redesign the brake caliper mounting bracket for the front axle to utilize a simpler, more efficient casting process (e.g., gravity die casting instead of sand casting) and a slightly lower grade of ductile iron, while ensuring FEA validation for strength and stiffness. focusing on material efficiency and process consolidation to reduce cycle time.</a:t>
            </a:r>
          </a:p>
        </p:txBody>
      </p:sp>
      <p:sp>
        <p:nvSpPr>
          <p:cNvPr id="6" name="Rectangle 5"/>
          <p:cNvSpPr/>
          <p:nvPr/>
        </p:nvSpPr>
        <p:spPr>
          <a:xfrm>
            <a:off x="274320" y="2331720"/>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2377439"/>
            <a:ext cx="5486400" cy="228600"/>
          </a:xfrm>
          <a:prstGeom prst="rect">
            <a:avLst/>
          </a:prstGeom>
          <a:noFill/>
        </p:spPr>
        <p:txBody>
          <a:bodyPr wrap="none">
            <a:spAutoFit/>
          </a:bodyPr>
          <a:lstStyle/>
          <a:p>
            <a:pPr>
              <a:defRPr b="1" sz="1100">
                <a:solidFill>
                  <a:srgbClr val="FF6400"/>
                </a:solidFill>
              </a:defRPr>
            </a:pPr>
            <a:r>
              <a:t>MATERIAL &amp; DIMENSION SWAP</a:t>
            </a:r>
          </a:p>
        </p:txBody>
      </p:sp>
      <p:sp>
        <p:nvSpPr>
          <p:cNvPr id="8" name="TextBox 7"/>
          <p:cNvSpPr txBox="1"/>
          <p:nvPr/>
        </p:nvSpPr>
        <p:spPr>
          <a:xfrm>
            <a:off x="274320" y="2606039"/>
            <a:ext cx="5486400" cy="457200"/>
          </a:xfrm>
          <a:prstGeom prst="rect">
            <a:avLst/>
          </a:prstGeom>
          <a:noFill/>
        </p:spPr>
        <p:txBody>
          <a:bodyPr wrap="square">
            <a:spAutoFit/>
          </a:bodyPr>
          <a:lstStyle/>
          <a:p>
            <a:pPr>
              <a:defRPr sz="1000"/>
            </a:pPr>
            <a:r>
              <a:t>, gravity die casting instead of sand casting) and a slightly lower grade of ductile iron, while ens</a:t>
            </a:r>
            <a:br/>
            <a:r>
              <a:t>N/A (Maintains current envelope)</a:t>
            </a:r>
          </a:p>
        </p:txBody>
      </p:sp>
      <p:sp>
        <p:nvSpPr>
          <p:cNvPr id="9" name="Rectangle 8"/>
          <p:cNvSpPr/>
          <p:nvPr/>
        </p:nvSpPr>
        <p:spPr>
          <a:xfrm>
            <a:off x="274320" y="3063239"/>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 y="3108959"/>
            <a:ext cx="5486400" cy="228600"/>
          </a:xfrm>
          <a:prstGeom prst="rect">
            <a:avLst/>
          </a:prstGeom>
          <a:noFill/>
        </p:spPr>
        <p:txBody>
          <a:bodyPr wrap="none">
            <a:spAutoFit/>
          </a:bodyPr>
          <a:lstStyle/>
          <a:p>
            <a:pPr>
              <a:defRPr b="1" sz="1100">
                <a:solidFill>
                  <a:srgbClr val="FF6400"/>
                </a:solidFill>
              </a:defRPr>
            </a:pPr>
            <a:r>
              <a:t>FINANCIAL IMPACT</a:t>
            </a:r>
          </a:p>
        </p:txBody>
      </p:sp>
      <p:sp>
        <p:nvSpPr>
          <p:cNvPr id="11" name="TextBox 10"/>
          <p:cNvSpPr txBox="1"/>
          <p:nvPr/>
        </p:nvSpPr>
        <p:spPr>
          <a:xfrm>
            <a:off x="274320" y="3337559"/>
            <a:ext cx="5486400" cy="274320"/>
          </a:xfrm>
          <a:prstGeom prst="rect">
            <a:avLst/>
          </a:prstGeom>
          <a:noFill/>
        </p:spPr>
        <p:txBody>
          <a:bodyPr wrap="square">
            <a:spAutoFit/>
          </a:bodyPr>
          <a:lstStyle/>
          <a:p>
            <a:pPr>
              <a:defRPr sz="1000"/>
            </a:pPr>
            <a:r>
              <a:t>Est. Saving: INR 3500000</a:t>
            </a:r>
            <a:br/>
            <a:r>
              <a:t>CAPEX: TBD</a:t>
            </a:r>
          </a:p>
        </p:txBody>
      </p:sp>
      <p:sp>
        <p:nvSpPr>
          <p:cNvPr id="12" name="Rectangle 11"/>
          <p:cNvSpPr/>
          <p:nvPr/>
        </p:nvSpPr>
        <p:spPr>
          <a:xfrm>
            <a:off x="274320" y="3611879"/>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4320" y="3657599"/>
            <a:ext cx="5486400" cy="228600"/>
          </a:xfrm>
          <a:prstGeom prst="rect">
            <a:avLst/>
          </a:prstGeom>
          <a:noFill/>
        </p:spPr>
        <p:txBody>
          <a:bodyPr wrap="none">
            <a:spAutoFit/>
          </a:bodyPr>
          <a:lstStyle/>
          <a:p>
            <a:pPr>
              <a:defRPr b="1" sz="1100">
                <a:solidFill>
                  <a:srgbClr val="FF6400"/>
                </a:solidFill>
              </a:defRPr>
            </a:pPr>
            <a:r>
              <a:t>VALIDATION &amp; RISKS</a:t>
            </a:r>
          </a:p>
        </p:txBody>
      </p:sp>
      <p:sp>
        <p:nvSpPr>
          <p:cNvPr id="14" name="TextBox 13"/>
          <p:cNvSpPr txBox="1"/>
          <p:nvPr/>
        </p:nvSpPr>
        <p:spPr>
          <a:xfrm>
            <a:off x="274320" y="3886200"/>
            <a:ext cx="5486400" cy="1371600"/>
          </a:xfrm>
          <a:prstGeom prst="rect">
            <a:avLst/>
          </a:prstGeom>
          <a:noFill/>
        </p:spPr>
        <p:txBody>
          <a:bodyPr wrap="square">
            <a:spAutoFit/>
          </a:bodyPr>
          <a:lstStyle/>
          <a:p>
            <a:pPr>
              <a:defRPr sz="1000"/>
            </a:pPr>
            <a:r>
              <a:t>VALIDATION:</a:t>
            </a:r>
            <a:br/>
            <a:r>
              <a:t>• DVP&amp;R Level 2 Testing</a:t>
            </a:r>
            <a:br/>
            <a:r>
              <a:t>• Environmental Aging (1000 hrs)</a:t>
            </a:r>
            <a:br/>
            <a:r>
              <a:t>• Head Impact Criterion (FMVSS)</a:t>
            </a:r>
            <a:br/>
            <a:br/>
            <a:r>
              <a:t>RISKS:</a:t>
            </a:r>
            <a:br/>
            <a:r>
              <a:t>⚠ NVH performance degradation</a:t>
            </a:r>
            <a:br/>
            <a:r>
              <a:t>⚠ Thermal durability limits</a:t>
            </a:r>
            <a:br/>
            <a:r>
              <a:t>⚠ Aesthetic fit &amp; finish gap</a:t>
            </a:r>
          </a:p>
        </p:txBody>
      </p:sp>
      <p:sp>
        <p:nvSpPr>
          <p:cNvPr id="15" name="Rectangle 14"/>
          <p:cNvSpPr/>
          <p:nvPr/>
        </p:nvSpPr>
        <p:spPr>
          <a:xfrm>
            <a:off x="274320" y="5257800"/>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4320" y="5303520"/>
            <a:ext cx="5486400" cy="228600"/>
          </a:xfrm>
          <a:prstGeom prst="rect">
            <a:avLst/>
          </a:prstGeom>
          <a:noFill/>
        </p:spPr>
        <p:txBody>
          <a:bodyPr wrap="none">
            <a:spAutoFit/>
          </a:bodyPr>
          <a:lstStyle/>
          <a:p>
            <a:pPr>
              <a:defRPr b="1" sz="1100">
                <a:solidFill>
                  <a:srgbClr val="FF6400"/>
                </a:solidFill>
              </a:defRPr>
            </a:pPr>
            <a:r>
              <a:t>SUPPLY CHAIN</a:t>
            </a:r>
          </a:p>
        </p:txBody>
      </p:sp>
      <p:sp>
        <p:nvSpPr>
          <p:cNvPr id="17" name="TextBox 16"/>
          <p:cNvSpPr txBox="1"/>
          <p:nvPr/>
        </p:nvSpPr>
        <p:spPr>
          <a:xfrm>
            <a:off x="274320" y="5532120"/>
            <a:ext cx="5486400" cy="457200"/>
          </a:xfrm>
          <a:prstGeom prst="rect">
            <a:avLst/>
          </a:prstGeom>
          <a:noFill/>
        </p:spPr>
        <p:txBody>
          <a:bodyPr wrap="square">
            <a:spAutoFit/>
          </a:bodyPr>
          <a:lstStyle/>
          <a:p>
            <a:pPr>
              <a:defRPr sz="1000"/>
            </a:pPr>
            <a:r>
              <a:t>• Supplier: Consolidation to single-source Tier 1</a:t>
            </a:r>
            <a:br/>
            <a:r>
              <a:t>• Tooling: 15% reduction in logistics overhead</a:t>
            </a:r>
          </a:p>
        </p:txBody>
      </p:sp>
      <p:sp>
        <p:nvSpPr>
          <p:cNvPr id="18" name="Rectangle 17"/>
          <p:cNvSpPr/>
          <p:nvPr/>
        </p:nvSpPr>
        <p:spPr>
          <a:xfrm>
            <a:off x="274320" y="5989320"/>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17920" y="1005840"/>
            <a:ext cx="5699455" cy="256032"/>
          </a:xfrm>
          <a:prstGeom prst="rect">
            <a:avLst/>
          </a:prstGeom>
          <a:noFill/>
        </p:spPr>
        <p:txBody>
          <a:bodyPr wrap="square">
            <a:spAutoFit/>
          </a:bodyPr>
          <a:lstStyle/>
          <a:p>
            <a:pPr algn="ctr">
              <a:defRPr b="1" sz="1100">
                <a:solidFill>
                  <a:srgbClr val="003366"/>
                </a:solidFill>
              </a:defRPr>
            </a:pPr>
            <a:r>
              <a:t>Current Scenario</a:t>
            </a:r>
          </a:p>
        </p:txBody>
      </p:sp>
      <p:pic>
        <p:nvPicPr>
          <p:cNvPr id="20" name="Picture 19" descr="182.jpg"/>
          <p:cNvPicPr>
            <a:picLocks noChangeAspect="1"/>
          </p:cNvPicPr>
          <p:nvPr/>
        </p:nvPicPr>
        <p:blipFill>
          <a:blip r:embed="rId2"/>
          <a:stretch>
            <a:fillRect/>
          </a:stretch>
        </p:blipFill>
        <p:spPr>
          <a:xfrm>
            <a:off x="6217920" y="1280160"/>
            <a:ext cx="5699455" cy="2377440"/>
          </a:xfrm>
          <a:prstGeom prst="rect">
            <a:avLst/>
          </a:prstGeom>
          <a:ln w="12700">
            <a:solidFill>
              <a:srgbClr val="C8C8C8"/>
            </a:solidFill>
          </a:ln>
        </p:spPr>
      </p:pic>
      <p:sp>
        <p:nvSpPr>
          <p:cNvPr id="21" name="TextBox 20"/>
          <p:cNvSpPr txBox="1"/>
          <p:nvPr/>
        </p:nvSpPr>
        <p:spPr>
          <a:xfrm>
            <a:off x="6217920" y="3840480"/>
            <a:ext cx="5699455" cy="256032"/>
          </a:xfrm>
          <a:prstGeom prst="rect">
            <a:avLst/>
          </a:prstGeom>
          <a:noFill/>
        </p:spPr>
        <p:txBody>
          <a:bodyPr wrap="square">
            <a:spAutoFit/>
          </a:bodyPr>
          <a:lstStyle/>
          <a:p>
            <a:pPr algn="ctr">
              <a:defRPr b="1" sz="1100">
                <a:solidFill>
                  <a:srgbClr val="003366"/>
                </a:solidFill>
              </a:defRPr>
            </a:pPr>
            <a:r>
              <a:t>Proposal / Competitor</a:t>
            </a:r>
          </a:p>
        </p:txBody>
      </p:sp>
      <p:pic>
        <p:nvPicPr>
          <p:cNvPr id="22" name="Picture 21" descr="24.jpg"/>
          <p:cNvPicPr>
            <a:picLocks noChangeAspect="1"/>
          </p:cNvPicPr>
          <p:nvPr/>
        </p:nvPicPr>
        <p:blipFill>
          <a:blip r:embed="rId3"/>
          <a:stretch>
            <a:fillRect/>
          </a:stretch>
        </p:blipFill>
        <p:spPr>
          <a:xfrm>
            <a:off x="6217920" y="4114800"/>
            <a:ext cx="5699455" cy="2377440"/>
          </a:xfrm>
          <a:prstGeom prst="rect">
            <a:avLst/>
          </a:prstGeom>
          <a:ln w="12700">
            <a:solidFill>
              <a:srgbClr val="C8C8C8"/>
            </a:solidFill>
          </a:ln>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82880"/>
            <a:ext cx="8534095" cy="914400"/>
          </a:xfrm>
          <a:prstGeom prst="rect">
            <a:avLst/>
          </a:prstGeom>
          <a:noFill/>
        </p:spPr>
        <p:txBody>
          <a:bodyPr wrap="square">
            <a:spAutoFit/>
          </a:bodyPr>
          <a:lstStyle/>
          <a:p>
            <a:pPr>
              <a:defRPr sz="2400" b="1">
                <a:solidFill>
                  <a:srgbClr val="003366"/>
                </a:solidFill>
              </a:defRPr>
            </a:pPr>
            <a:r>
              <a:t>#7: Implement a thinner gauge (0.7mm instead of 1.0mm) for the brake dust shields on all four wheels, using a higher-strength, corrosion-resistant steel alloy (e.g., galvanized high-strength low-alloy steel).</a:t>
            </a:r>
          </a:p>
        </p:txBody>
      </p:sp>
      <p:sp>
        <p:nvSpPr>
          <p:cNvPr id="3" name="TextBox 2"/>
          <p:cNvSpPr txBox="1"/>
          <p:nvPr/>
        </p:nvSpPr>
        <p:spPr>
          <a:xfrm>
            <a:off x="10088575" y="182880"/>
            <a:ext cx="1828800" cy="457200"/>
          </a:xfrm>
          <a:prstGeom prst="rect">
            <a:avLst/>
          </a:prstGeom>
          <a:solidFill>
            <a:srgbClr val="800080"/>
          </a:solidFill>
        </p:spPr>
        <p:txBody>
          <a:bodyPr wrap="none">
            <a:spAutoFit/>
          </a:bodyPr>
          <a:lstStyle/>
          <a:p>
            <a:pPr algn="ctr">
              <a:defRPr>
                <a:solidFill>
                  <a:srgbClr val="FFFFFF"/>
                </a:solidFill>
              </a:defRPr>
            </a:pPr>
            <a:r>
              <a:t>AI INNOVATION</a:t>
            </a:r>
          </a:p>
        </p:txBody>
      </p:sp>
      <p:sp>
        <p:nvSpPr>
          <p:cNvPr id="4" name="TextBox 3"/>
          <p:cNvSpPr txBox="1"/>
          <p:nvPr/>
        </p:nvSpPr>
        <p:spPr>
          <a:xfrm>
            <a:off x="274320" y="1280160"/>
            <a:ext cx="5486400" cy="228600"/>
          </a:xfrm>
          <a:prstGeom prst="rect">
            <a:avLst/>
          </a:prstGeom>
          <a:noFill/>
        </p:spPr>
        <p:txBody>
          <a:bodyPr wrap="none">
            <a:spAutoFit/>
          </a:bodyPr>
          <a:lstStyle/>
          <a:p>
            <a:pPr>
              <a:defRPr b="1" sz="1100">
                <a:solidFill>
                  <a:srgbClr val="FF6400"/>
                </a:solidFill>
              </a:defRPr>
            </a:pPr>
            <a:r>
              <a:t>TECHNICAL ENGINEERING VIEW</a:t>
            </a:r>
          </a:p>
        </p:txBody>
      </p:sp>
      <p:sp>
        <p:nvSpPr>
          <p:cNvPr id="5" name="TextBox 4"/>
          <p:cNvSpPr txBox="1"/>
          <p:nvPr/>
        </p:nvSpPr>
        <p:spPr>
          <a:xfrm>
            <a:off x="274320" y="1508760"/>
            <a:ext cx="5486400" cy="822959"/>
          </a:xfrm>
          <a:prstGeom prst="rect">
            <a:avLst/>
          </a:prstGeom>
          <a:noFill/>
        </p:spPr>
        <p:txBody>
          <a:bodyPr wrap="square">
            <a:spAutoFit/>
          </a:bodyPr>
          <a:lstStyle/>
          <a:p>
            <a:pPr>
              <a:defRPr sz="1000"/>
            </a:pPr>
            <a:r>
              <a:t>Technical optimization of Implement a thinner gauge (0.7mm instead of 1.0mm) for the brake dust shields on all four wheels, using a higher-strength, corrosion-resistant steel alloy (e.g., galvanized high-strength low-alloy steel). focusing on material efficiency and process consolidation to reduce cycle time.</a:t>
            </a:r>
          </a:p>
        </p:txBody>
      </p:sp>
      <p:sp>
        <p:nvSpPr>
          <p:cNvPr id="6" name="Rectangle 5"/>
          <p:cNvSpPr/>
          <p:nvPr/>
        </p:nvSpPr>
        <p:spPr>
          <a:xfrm>
            <a:off x="274320" y="2331720"/>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2377439"/>
            <a:ext cx="5486400" cy="228600"/>
          </a:xfrm>
          <a:prstGeom prst="rect">
            <a:avLst/>
          </a:prstGeom>
          <a:noFill/>
        </p:spPr>
        <p:txBody>
          <a:bodyPr wrap="none">
            <a:spAutoFit/>
          </a:bodyPr>
          <a:lstStyle/>
          <a:p>
            <a:pPr>
              <a:defRPr b="1" sz="1100">
                <a:solidFill>
                  <a:srgbClr val="FF6400"/>
                </a:solidFill>
              </a:defRPr>
            </a:pPr>
            <a:r>
              <a:t>MATERIAL &amp; DIMENSION SWAP</a:t>
            </a:r>
          </a:p>
        </p:txBody>
      </p:sp>
      <p:sp>
        <p:nvSpPr>
          <p:cNvPr id="8" name="TextBox 7"/>
          <p:cNvSpPr txBox="1"/>
          <p:nvPr/>
        </p:nvSpPr>
        <p:spPr>
          <a:xfrm>
            <a:off x="274320" y="2606039"/>
            <a:ext cx="5486400" cy="457200"/>
          </a:xfrm>
          <a:prstGeom prst="rect">
            <a:avLst/>
          </a:prstGeom>
          <a:noFill/>
        </p:spPr>
        <p:txBody>
          <a:bodyPr wrap="square">
            <a:spAutoFit/>
          </a:bodyPr>
          <a:lstStyle/>
          <a:p>
            <a:pPr>
              <a:defRPr sz="1000"/>
            </a:pPr>
            <a:r>
              <a:t>0mm) for the brake dust shields on all four wheels, using a higher-strength, corrosion-resistant ste</a:t>
            </a:r>
            <a:br/>
            <a:r>
              <a:t>0.7mm instead of 1.0mm</a:t>
            </a:r>
          </a:p>
        </p:txBody>
      </p:sp>
      <p:sp>
        <p:nvSpPr>
          <p:cNvPr id="9" name="Rectangle 8"/>
          <p:cNvSpPr/>
          <p:nvPr/>
        </p:nvSpPr>
        <p:spPr>
          <a:xfrm>
            <a:off x="274320" y="3063239"/>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 y="3108959"/>
            <a:ext cx="5486400" cy="228600"/>
          </a:xfrm>
          <a:prstGeom prst="rect">
            <a:avLst/>
          </a:prstGeom>
          <a:noFill/>
        </p:spPr>
        <p:txBody>
          <a:bodyPr wrap="none">
            <a:spAutoFit/>
          </a:bodyPr>
          <a:lstStyle/>
          <a:p>
            <a:pPr>
              <a:defRPr b="1" sz="1100">
                <a:solidFill>
                  <a:srgbClr val="FF6400"/>
                </a:solidFill>
              </a:defRPr>
            </a:pPr>
            <a:r>
              <a:t>FINANCIAL IMPACT</a:t>
            </a:r>
          </a:p>
        </p:txBody>
      </p:sp>
      <p:sp>
        <p:nvSpPr>
          <p:cNvPr id="11" name="TextBox 10"/>
          <p:cNvSpPr txBox="1"/>
          <p:nvPr/>
        </p:nvSpPr>
        <p:spPr>
          <a:xfrm>
            <a:off x="274320" y="3337559"/>
            <a:ext cx="5486400" cy="274320"/>
          </a:xfrm>
          <a:prstGeom prst="rect">
            <a:avLst/>
          </a:prstGeom>
          <a:noFill/>
        </p:spPr>
        <p:txBody>
          <a:bodyPr wrap="square">
            <a:spAutoFit/>
          </a:bodyPr>
          <a:lstStyle/>
          <a:p>
            <a:pPr>
              <a:defRPr sz="1000"/>
            </a:pPr>
            <a:r>
              <a:t>Est. Saving: INR 2500000</a:t>
            </a:r>
            <a:br/>
            <a:r>
              <a:t>CAPEX: TBD</a:t>
            </a:r>
          </a:p>
        </p:txBody>
      </p:sp>
      <p:sp>
        <p:nvSpPr>
          <p:cNvPr id="12" name="Rectangle 11"/>
          <p:cNvSpPr/>
          <p:nvPr/>
        </p:nvSpPr>
        <p:spPr>
          <a:xfrm>
            <a:off x="274320" y="3611879"/>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4320" y="3657599"/>
            <a:ext cx="5486400" cy="228600"/>
          </a:xfrm>
          <a:prstGeom prst="rect">
            <a:avLst/>
          </a:prstGeom>
          <a:noFill/>
        </p:spPr>
        <p:txBody>
          <a:bodyPr wrap="none">
            <a:spAutoFit/>
          </a:bodyPr>
          <a:lstStyle/>
          <a:p>
            <a:pPr>
              <a:defRPr b="1" sz="1100">
                <a:solidFill>
                  <a:srgbClr val="FF6400"/>
                </a:solidFill>
              </a:defRPr>
            </a:pPr>
            <a:r>
              <a:t>VALIDATION &amp; RISKS</a:t>
            </a:r>
          </a:p>
        </p:txBody>
      </p:sp>
      <p:sp>
        <p:nvSpPr>
          <p:cNvPr id="14" name="TextBox 13"/>
          <p:cNvSpPr txBox="1"/>
          <p:nvPr/>
        </p:nvSpPr>
        <p:spPr>
          <a:xfrm>
            <a:off x="274320" y="3886200"/>
            <a:ext cx="5486400" cy="1371600"/>
          </a:xfrm>
          <a:prstGeom prst="rect">
            <a:avLst/>
          </a:prstGeom>
          <a:noFill/>
        </p:spPr>
        <p:txBody>
          <a:bodyPr wrap="square">
            <a:spAutoFit/>
          </a:bodyPr>
          <a:lstStyle/>
          <a:p>
            <a:pPr>
              <a:defRPr sz="1000"/>
            </a:pPr>
            <a:r>
              <a:t>VALIDATION:</a:t>
            </a:r>
            <a:br/>
            <a:r>
              <a:t>• DVP&amp;R Level 2 Testing</a:t>
            </a:r>
            <a:br/>
            <a:r>
              <a:t>• Environmental Aging (1000 hrs)</a:t>
            </a:r>
            <a:br/>
            <a:r>
              <a:t>• Head Impact Criterion (FMVSS)</a:t>
            </a:r>
            <a:br/>
            <a:br/>
            <a:r>
              <a:t>RISKS:</a:t>
            </a:r>
            <a:br/>
            <a:r>
              <a:t>⚠ NVH performance degradation</a:t>
            </a:r>
            <a:br/>
            <a:r>
              <a:t>⚠ Thermal durability limits</a:t>
            </a:r>
            <a:br/>
            <a:r>
              <a:t>⚠ Aesthetic fit &amp; finish gap</a:t>
            </a:r>
          </a:p>
        </p:txBody>
      </p:sp>
      <p:sp>
        <p:nvSpPr>
          <p:cNvPr id="15" name="Rectangle 14"/>
          <p:cNvSpPr/>
          <p:nvPr/>
        </p:nvSpPr>
        <p:spPr>
          <a:xfrm>
            <a:off x="274320" y="5257800"/>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4320" y="5303520"/>
            <a:ext cx="5486400" cy="228600"/>
          </a:xfrm>
          <a:prstGeom prst="rect">
            <a:avLst/>
          </a:prstGeom>
          <a:noFill/>
        </p:spPr>
        <p:txBody>
          <a:bodyPr wrap="none">
            <a:spAutoFit/>
          </a:bodyPr>
          <a:lstStyle/>
          <a:p>
            <a:pPr>
              <a:defRPr b="1" sz="1100">
                <a:solidFill>
                  <a:srgbClr val="FF6400"/>
                </a:solidFill>
              </a:defRPr>
            </a:pPr>
            <a:r>
              <a:t>SUPPLY CHAIN</a:t>
            </a:r>
          </a:p>
        </p:txBody>
      </p:sp>
      <p:sp>
        <p:nvSpPr>
          <p:cNvPr id="17" name="TextBox 16"/>
          <p:cNvSpPr txBox="1"/>
          <p:nvPr/>
        </p:nvSpPr>
        <p:spPr>
          <a:xfrm>
            <a:off x="274320" y="5532120"/>
            <a:ext cx="5486400" cy="457200"/>
          </a:xfrm>
          <a:prstGeom prst="rect">
            <a:avLst/>
          </a:prstGeom>
          <a:noFill/>
        </p:spPr>
        <p:txBody>
          <a:bodyPr wrap="square">
            <a:spAutoFit/>
          </a:bodyPr>
          <a:lstStyle/>
          <a:p>
            <a:pPr>
              <a:defRPr sz="1000"/>
            </a:pPr>
            <a:r>
              <a:t>• Supplier: Consolidation to single-source Tier 1</a:t>
            </a:r>
            <a:br/>
            <a:r>
              <a:t>• Tooling: 15% reduction in logistics overhead</a:t>
            </a:r>
          </a:p>
        </p:txBody>
      </p:sp>
      <p:sp>
        <p:nvSpPr>
          <p:cNvPr id="18" name="Rectangle 17"/>
          <p:cNvSpPr/>
          <p:nvPr/>
        </p:nvSpPr>
        <p:spPr>
          <a:xfrm>
            <a:off x="274320" y="5989320"/>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17920" y="1005840"/>
            <a:ext cx="5699455" cy="256032"/>
          </a:xfrm>
          <a:prstGeom prst="rect">
            <a:avLst/>
          </a:prstGeom>
          <a:noFill/>
        </p:spPr>
        <p:txBody>
          <a:bodyPr wrap="square">
            <a:spAutoFit/>
          </a:bodyPr>
          <a:lstStyle/>
          <a:p>
            <a:pPr algn="ctr">
              <a:defRPr b="1" sz="1100">
                <a:solidFill>
                  <a:srgbClr val="003366"/>
                </a:solidFill>
              </a:defRPr>
            </a:pPr>
            <a:r>
              <a:t>Current Scenario</a:t>
            </a:r>
          </a:p>
        </p:txBody>
      </p:sp>
      <p:pic>
        <p:nvPicPr>
          <p:cNvPr id="20" name="Picture 19" descr="24.jpg"/>
          <p:cNvPicPr>
            <a:picLocks noChangeAspect="1"/>
          </p:cNvPicPr>
          <p:nvPr/>
        </p:nvPicPr>
        <p:blipFill>
          <a:blip r:embed="rId2"/>
          <a:stretch>
            <a:fillRect/>
          </a:stretch>
        </p:blipFill>
        <p:spPr>
          <a:xfrm>
            <a:off x="6217920" y="1280160"/>
            <a:ext cx="5699455" cy="2377440"/>
          </a:xfrm>
          <a:prstGeom prst="rect">
            <a:avLst/>
          </a:prstGeom>
          <a:ln w="12700">
            <a:solidFill>
              <a:srgbClr val="C8C8C8"/>
            </a:solidFill>
          </a:ln>
        </p:spPr>
      </p:pic>
      <p:sp>
        <p:nvSpPr>
          <p:cNvPr id="21" name="TextBox 20"/>
          <p:cNvSpPr txBox="1"/>
          <p:nvPr/>
        </p:nvSpPr>
        <p:spPr>
          <a:xfrm>
            <a:off x="6217920" y="3840480"/>
            <a:ext cx="5699455" cy="256032"/>
          </a:xfrm>
          <a:prstGeom prst="rect">
            <a:avLst/>
          </a:prstGeom>
          <a:noFill/>
        </p:spPr>
        <p:txBody>
          <a:bodyPr wrap="square">
            <a:spAutoFit/>
          </a:bodyPr>
          <a:lstStyle/>
          <a:p>
            <a:pPr algn="ctr">
              <a:defRPr b="1" sz="1100">
                <a:solidFill>
                  <a:srgbClr val="003366"/>
                </a:solidFill>
              </a:defRPr>
            </a:pPr>
            <a:r>
              <a:t>Proposal / Competitor</a:t>
            </a:r>
          </a:p>
        </p:txBody>
      </p:sp>
      <p:pic>
        <p:nvPicPr>
          <p:cNvPr id="22" name="Picture 21" descr="56.jpg"/>
          <p:cNvPicPr>
            <a:picLocks noChangeAspect="1"/>
          </p:cNvPicPr>
          <p:nvPr/>
        </p:nvPicPr>
        <p:blipFill>
          <a:blip r:embed="rId3"/>
          <a:stretch>
            <a:fillRect/>
          </a:stretch>
        </p:blipFill>
        <p:spPr>
          <a:xfrm>
            <a:off x="6217920" y="4114800"/>
            <a:ext cx="5699455" cy="2377440"/>
          </a:xfrm>
          <a:prstGeom prst="rect">
            <a:avLst/>
          </a:prstGeom>
          <a:ln w="12700">
            <a:solidFill>
              <a:srgbClr val="C8C8C8"/>
            </a:solidFill>
          </a:ln>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82880"/>
            <a:ext cx="8534095" cy="914400"/>
          </a:xfrm>
          <a:prstGeom prst="rect">
            <a:avLst/>
          </a:prstGeom>
          <a:noFill/>
        </p:spPr>
        <p:txBody>
          <a:bodyPr wrap="square">
            <a:spAutoFit/>
          </a:bodyPr>
          <a:lstStyle/>
          <a:p>
            <a:pPr>
              <a:defRPr sz="2400" b="1">
                <a:solidFill>
                  <a:srgbClr val="003366"/>
                </a:solidFill>
              </a:defRPr>
            </a:pPr>
            <a:r>
              <a:t>#8: Investigate the use of a lighter, high-performance polymer composite for the brake pedal lever arm instead of steel, provided FEA and physical testing confirm it can withstand the required pedal loads without excessive flex.</a:t>
            </a:r>
          </a:p>
        </p:txBody>
      </p:sp>
      <p:sp>
        <p:nvSpPr>
          <p:cNvPr id="3" name="TextBox 2"/>
          <p:cNvSpPr txBox="1"/>
          <p:nvPr/>
        </p:nvSpPr>
        <p:spPr>
          <a:xfrm>
            <a:off x="10088575" y="182880"/>
            <a:ext cx="1828800" cy="457200"/>
          </a:xfrm>
          <a:prstGeom prst="rect">
            <a:avLst/>
          </a:prstGeom>
          <a:solidFill>
            <a:srgbClr val="800080"/>
          </a:solidFill>
        </p:spPr>
        <p:txBody>
          <a:bodyPr wrap="none">
            <a:spAutoFit/>
          </a:bodyPr>
          <a:lstStyle/>
          <a:p>
            <a:pPr algn="ctr">
              <a:defRPr>
                <a:solidFill>
                  <a:srgbClr val="FFFFFF"/>
                </a:solidFill>
              </a:defRPr>
            </a:pPr>
            <a:r>
              <a:t>AI INNOVATION</a:t>
            </a:r>
          </a:p>
        </p:txBody>
      </p:sp>
      <p:sp>
        <p:nvSpPr>
          <p:cNvPr id="4" name="TextBox 3"/>
          <p:cNvSpPr txBox="1"/>
          <p:nvPr/>
        </p:nvSpPr>
        <p:spPr>
          <a:xfrm>
            <a:off x="274320" y="1280160"/>
            <a:ext cx="5486400" cy="228600"/>
          </a:xfrm>
          <a:prstGeom prst="rect">
            <a:avLst/>
          </a:prstGeom>
          <a:noFill/>
        </p:spPr>
        <p:txBody>
          <a:bodyPr wrap="none">
            <a:spAutoFit/>
          </a:bodyPr>
          <a:lstStyle/>
          <a:p>
            <a:pPr>
              <a:defRPr b="1" sz="1100">
                <a:solidFill>
                  <a:srgbClr val="FF6400"/>
                </a:solidFill>
              </a:defRPr>
            </a:pPr>
            <a:r>
              <a:t>TECHNICAL ENGINEERING VIEW</a:t>
            </a:r>
          </a:p>
        </p:txBody>
      </p:sp>
      <p:sp>
        <p:nvSpPr>
          <p:cNvPr id="5" name="TextBox 4"/>
          <p:cNvSpPr txBox="1"/>
          <p:nvPr/>
        </p:nvSpPr>
        <p:spPr>
          <a:xfrm>
            <a:off x="274320" y="1508760"/>
            <a:ext cx="5486400" cy="822959"/>
          </a:xfrm>
          <a:prstGeom prst="rect">
            <a:avLst/>
          </a:prstGeom>
          <a:noFill/>
        </p:spPr>
        <p:txBody>
          <a:bodyPr wrap="square">
            <a:spAutoFit/>
          </a:bodyPr>
          <a:lstStyle/>
          <a:p>
            <a:pPr>
              <a:defRPr sz="1000"/>
            </a:pPr>
            <a:r>
              <a:t>Technical optimization of Investigate the use of a lighter, high-performance polymer composite for the brake pedal lever arm instead of steel, provided FEA and physical testing confirm it can withstand the required pedal loads without excessive flex. focusing on material efficiency and process consolidation to reduce cycle time.</a:t>
            </a:r>
          </a:p>
        </p:txBody>
      </p:sp>
      <p:sp>
        <p:nvSpPr>
          <p:cNvPr id="6" name="Rectangle 5"/>
          <p:cNvSpPr/>
          <p:nvPr/>
        </p:nvSpPr>
        <p:spPr>
          <a:xfrm>
            <a:off x="274320" y="2331720"/>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2377439"/>
            <a:ext cx="5486400" cy="228600"/>
          </a:xfrm>
          <a:prstGeom prst="rect">
            <a:avLst/>
          </a:prstGeom>
          <a:noFill/>
        </p:spPr>
        <p:txBody>
          <a:bodyPr wrap="none">
            <a:spAutoFit/>
          </a:bodyPr>
          <a:lstStyle/>
          <a:p>
            <a:pPr>
              <a:defRPr b="1" sz="1100">
                <a:solidFill>
                  <a:srgbClr val="FF6400"/>
                </a:solidFill>
              </a:defRPr>
            </a:pPr>
            <a:r>
              <a:t>MATERIAL &amp; DIMENSION SWAP</a:t>
            </a:r>
          </a:p>
        </p:txBody>
      </p:sp>
      <p:sp>
        <p:nvSpPr>
          <p:cNvPr id="8" name="TextBox 7"/>
          <p:cNvSpPr txBox="1"/>
          <p:nvPr/>
        </p:nvSpPr>
        <p:spPr>
          <a:xfrm>
            <a:off x="274320" y="2606039"/>
            <a:ext cx="5486400" cy="457200"/>
          </a:xfrm>
          <a:prstGeom prst="rect">
            <a:avLst/>
          </a:prstGeom>
          <a:noFill/>
        </p:spPr>
        <p:txBody>
          <a:bodyPr wrap="square">
            <a:spAutoFit/>
          </a:bodyPr>
          <a:lstStyle/>
          <a:p>
            <a:pPr>
              <a:defRPr sz="1000"/>
            </a:pPr>
            <a:r>
              <a:t>Investigate the use of a lighter, high-performance polymer composite for the brake pedal lever arm i</a:t>
            </a:r>
            <a:br/>
            <a:r>
              <a:t>N/A (Maintains current envelope)</a:t>
            </a:r>
          </a:p>
        </p:txBody>
      </p:sp>
      <p:sp>
        <p:nvSpPr>
          <p:cNvPr id="9" name="Rectangle 8"/>
          <p:cNvSpPr/>
          <p:nvPr/>
        </p:nvSpPr>
        <p:spPr>
          <a:xfrm>
            <a:off x="274320" y="3063239"/>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 y="3108959"/>
            <a:ext cx="5486400" cy="228600"/>
          </a:xfrm>
          <a:prstGeom prst="rect">
            <a:avLst/>
          </a:prstGeom>
          <a:noFill/>
        </p:spPr>
        <p:txBody>
          <a:bodyPr wrap="none">
            <a:spAutoFit/>
          </a:bodyPr>
          <a:lstStyle/>
          <a:p>
            <a:pPr>
              <a:defRPr b="1" sz="1100">
                <a:solidFill>
                  <a:srgbClr val="FF6400"/>
                </a:solidFill>
              </a:defRPr>
            </a:pPr>
            <a:r>
              <a:t>FINANCIAL IMPACT</a:t>
            </a:r>
          </a:p>
        </p:txBody>
      </p:sp>
      <p:sp>
        <p:nvSpPr>
          <p:cNvPr id="11" name="TextBox 10"/>
          <p:cNvSpPr txBox="1"/>
          <p:nvPr/>
        </p:nvSpPr>
        <p:spPr>
          <a:xfrm>
            <a:off x="274320" y="3337559"/>
            <a:ext cx="5486400" cy="274320"/>
          </a:xfrm>
          <a:prstGeom prst="rect">
            <a:avLst/>
          </a:prstGeom>
          <a:noFill/>
        </p:spPr>
        <p:txBody>
          <a:bodyPr wrap="square">
            <a:spAutoFit/>
          </a:bodyPr>
          <a:lstStyle/>
          <a:p>
            <a:pPr>
              <a:defRPr sz="1000"/>
            </a:pPr>
            <a:r>
              <a:t>Est. Saving: INR 2500000</a:t>
            </a:r>
            <a:br/>
            <a:r>
              <a:t>CAPEX: TBD</a:t>
            </a:r>
          </a:p>
        </p:txBody>
      </p:sp>
      <p:sp>
        <p:nvSpPr>
          <p:cNvPr id="12" name="Rectangle 11"/>
          <p:cNvSpPr/>
          <p:nvPr/>
        </p:nvSpPr>
        <p:spPr>
          <a:xfrm>
            <a:off x="274320" y="3611879"/>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4320" y="3657599"/>
            <a:ext cx="5486400" cy="228600"/>
          </a:xfrm>
          <a:prstGeom prst="rect">
            <a:avLst/>
          </a:prstGeom>
          <a:noFill/>
        </p:spPr>
        <p:txBody>
          <a:bodyPr wrap="none">
            <a:spAutoFit/>
          </a:bodyPr>
          <a:lstStyle/>
          <a:p>
            <a:pPr>
              <a:defRPr b="1" sz="1100">
                <a:solidFill>
                  <a:srgbClr val="FF6400"/>
                </a:solidFill>
              </a:defRPr>
            </a:pPr>
            <a:r>
              <a:t>VALIDATION &amp; RISKS</a:t>
            </a:r>
          </a:p>
        </p:txBody>
      </p:sp>
      <p:sp>
        <p:nvSpPr>
          <p:cNvPr id="14" name="TextBox 13"/>
          <p:cNvSpPr txBox="1"/>
          <p:nvPr/>
        </p:nvSpPr>
        <p:spPr>
          <a:xfrm>
            <a:off x="274320" y="3886200"/>
            <a:ext cx="5486400" cy="1371600"/>
          </a:xfrm>
          <a:prstGeom prst="rect">
            <a:avLst/>
          </a:prstGeom>
          <a:noFill/>
        </p:spPr>
        <p:txBody>
          <a:bodyPr wrap="square">
            <a:spAutoFit/>
          </a:bodyPr>
          <a:lstStyle/>
          <a:p>
            <a:pPr>
              <a:defRPr sz="1000"/>
            </a:pPr>
            <a:r>
              <a:t>VALIDATION:</a:t>
            </a:r>
            <a:br/>
            <a:r>
              <a:t>• DVP&amp;R Level 2 Testing</a:t>
            </a:r>
            <a:br/>
            <a:r>
              <a:t>• Environmental Aging (1000 hrs)</a:t>
            </a:r>
            <a:br/>
            <a:r>
              <a:t>• Head Impact Criterion (FMVSS)</a:t>
            </a:r>
            <a:br/>
            <a:br/>
            <a:r>
              <a:t>RISKS:</a:t>
            </a:r>
            <a:br/>
            <a:r>
              <a:t>⚠ NVH performance degradation</a:t>
            </a:r>
            <a:br/>
            <a:r>
              <a:t>⚠ Thermal durability limits</a:t>
            </a:r>
            <a:br/>
            <a:r>
              <a:t>⚠ Aesthetic fit &amp; finish gap</a:t>
            </a:r>
          </a:p>
        </p:txBody>
      </p:sp>
      <p:sp>
        <p:nvSpPr>
          <p:cNvPr id="15" name="Rectangle 14"/>
          <p:cNvSpPr/>
          <p:nvPr/>
        </p:nvSpPr>
        <p:spPr>
          <a:xfrm>
            <a:off x="274320" y="5257800"/>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4320" y="5303520"/>
            <a:ext cx="5486400" cy="228600"/>
          </a:xfrm>
          <a:prstGeom prst="rect">
            <a:avLst/>
          </a:prstGeom>
          <a:noFill/>
        </p:spPr>
        <p:txBody>
          <a:bodyPr wrap="none">
            <a:spAutoFit/>
          </a:bodyPr>
          <a:lstStyle/>
          <a:p>
            <a:pPr>
              <a:defRPr b="1" sz="1100">
                <a:solidFill>
                  <a:srgbClr val="FF6400"/>
                </a:solidFill>
              </a:defRPr>
            </a:pPr>
            <a:r>
              <a:t>SUPPLY CHAIN</a:t>
            </a:r>
          </a:p>
        </p:txBody>
      </p:sp>
      <p:sp>
        <p:nvSpPr>
          <p:cNvPr id="17" name="TextBox 16"/>
          <p:cNvSpPr txBox="1"/>
          <p:nvPr/>
        </p:nvSpPr>
        <p:spPr>
          <a:xfrm>
            <a:off x="274320" y="5532120"/>
            <a:ext cx="5486400" cy="457200"/>
          </a:xfrm>
          <a:prstGeom prst="rect">
            <a:avLst/>
          </a:prstGeom>
          <a:noFill/>
        </p:spPr>
        <p:txBody>
          <a:bodyPr wrap="square">
            <a:spAutoFit/>
          </a:bodyPr>
          <a:lstStyle/>
          <a:p>
            <a:pPr>
              <a:defRPr sz="1000"/>
            </a:pPr>
            <a:r>
              <a:t>• Supplier: Consolidation to single-source Tier 1</a:t>
            </a:r>
            <a:br/>
            <a:r>
              <a:t>• Tooling: 15% reduction in logistics overhead</a:t>
            </a:r>
          </a:p>
        </p:txBody>
      </p:sp>
      <p:sp>
        <p:nvSpPr>
          <p:cNvPr id="18" name="Rectangle 17"/>
          <p:cNvSpPr/>
          <p:nvPr/>
        </p:nvSpPr>
        <p:spPr>
          <a:xfrm>
            <a:off x="274320" y="5989320"/>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17920" y="1005840"/>
            <a:ext cx="5699455" cy="256032"/>
          </a:xfrm>
          <a:prstGeom prst="rect">
            <a:avLst/>
          </a:prstGeom>
          <a:noFill/>
        </p:spPr>
        <p:txBody>
          <a:bodyPr wrap="square">
            <a:spAutoFit/>
          </a:bodyPr>
          <a:lstStyle/>
          <a:p>
            <a:pPr algn="ctr">
              <a:defRPr b="1" sz="1100">
                <a:solidFill>
                  <a:srgbClr val="003366"/>
                </a:solidFill>
              </a:defRPr>
            </a:pPr>
            <a:r>
              <a:t>Current Scenario</a:t>
            </a:r>
          </a:p>
        </p:txBody>
      </p:sp>
      <p:pic>
        <p:nvPicPr>
          <p:cNvPr id="20" name="Picture 19" descr="142.jpg"/>
          <p:cNvPicPr>
            <a:picLocks noChangeAspect="1"/>
          </p:cNvPicPr>
          <p:nvPr/>
        </p:nvPicPr>
        <p:blipFill>
          <a:blip r:embed="rId2"/>
          <a:stretch>
            <a:fillRect/>
          </a:stretch>
        </p:blipFill>
        <p:spPr>
          <a:xfrm>
            <a:off x="6217920" y="1280160"/>
            <a:ext cx="5699455" cy="2377440"/>
          </a:xfrm>
          <a:prstGeom prst="rect">
            <a:avLst/>
          </a:prstGeom>
          <a:ln w="12700">
            <a:solidFill>
              <a:srgbClr val="C8C8C8"/>
            </a:solidFill>
          </a:ln>
        </p:spPr>
      </p:pic>
      <p:sp>
        <p:nvSpPr>
          <p:cNvPr id="21" name="TextBox 20"/>
          <p:cNvSpPr txBox="1"/>
          <p:nvPr/>
        </p:nvSpPr>
        <p:spPr>
          <a:xfrm>
            <a:off x="6217920" y="3840480"/>
            <a:ext cx="5699455" cy="256032"/>
          </a:xfrm>
          <a:prstGeom prst="rect">
            <a:avLst/>
          </a:prstGeom>
          <a:noFill/>
        </p:spPr>
        <p:txBody>
          <a:bodyPr wrap="square">
            <a:spAutoFit/>
          </a:bodyPr>
          <a:lstStyle/>
          <a:p>
            <a:pPr algn="ctr">
              <a:defRPr b="1" sz="1100">
                <a:solidFill>
                  <a:srgbClr val="003366"/>
                </a:solidFill>
              </a:defRPr>
            </a:pPr>
            <a:r>
              <a:t>Proposal / Competitor</a:t>
            </a:r>
          </a:p>
        </p:txBody>
      </p:sp>
      <p:pic>
        <p:nvPicPr>
          <p:cNvPr id="22" name="Picture 21" descr="146.jpg"/>
          <p:cNvPicPr>
            <a:picLocks noChangeAspect="1"/>
          </p:cNvPicPr>
          <p:nvPr/>
        </p:nvPicPr>
        <p:blipFill>
          <a:blip r:embed="rId3"/>
          <a:stretch>
            <a:fillRect/>
          </a:stretch>
        </p:blipFill>
        <p:spPr>
          <a:xfrm>
            <a:off x="6217920" y="4114800"/>
            <a:ext cx="5699455" cy="2377440"/>
          </a:xfrm>
          <a:prstGeom prst="rect">
            <a:avLst/>
          </a:prstGeom>
          <a:ln w="12700">
            <a:solidFill>
              <a:srgbClr val="C8C8C8"/>
            </a:solidFill>
          </a:ln>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82880"/>
            <a:ext cx="8534095" cy="914400"/>
          </a:xfrm>
          <a:prstGeom prst="rect">
            <a:avLst/>
          </a:prstGeom>
          <a:noFill/>
        </p:spPr>
        <p:txBody>
          <a:bodyPr wrap="square">
            <a:spAutoFit/>
          </a:bodyPr>
          <a:lstStyle/>
          <a:p>
            <a:pPr>
              <a:defRPr sz="2400" b="1">
                <a:solidFill>
                  <a:srgbClr val="003366"/>
                </a:solidFill>
              </a:defRPr>
            </a:pPr>
            <a:r>
              <a:t>#9: Reduce the number of mounting bolts for the brake caliper bracket from 4 to 3 on the rear axle, utilizing a higher-strength bolt material and optimized bracket design to maintain structural rigidity.</a:t>
            </a:r>
          </a:p>
        </p:txBody>
      </p:sp>
      <p:sp>
        <p:nvSpPr>
          <p:cNvPr id="3" name="TextBox 2"/>
          <p:cNvSpPr txBox="1"/>
          <p:nvPr/>
        </p:nvSpPr>
        <p:spPr>
          <a:xfrm>
            <a:off x="10088575" y="182880"/>
            <a:ext cx="1828800" cy="457200"/>
          </a:xfrm>
          <a:prstGeom prst="rect">
            <a:avLst/>
          </a:prstGeom>
          <a:solidFill>
            <a:srgbClr val="800080"/>
          </a:solidFill>
        </p:spPr>
        <p:txBody>
          <a:bodyPr wrap="none">
            <a:spAutoFit/>
          </a:bodyPr>
          <a:lstStyle/>
          <a:p>
            <a:pPr algn="ctr">
              <a:defRPr>
                <a:solidFill>
                  <a:srgbClr val="FFFFFF"/>
                </a:solidFill>
              </a:defRPr>
            </a:pPr>
            <a:r>
              <a:t>AI INNOVATION</a:t>
            </a:r>
          </a:p>
        </p:txBody>
      </p:sp>
      <p:sp>
        <p:nvSpPr>
          <p:cNvPr id="4" name="TextBox 3"/>
          <p:cNvSpPr txBox="1"/>
          <p:nvPr/>
        </p:nvSpPr>
        <p:spPr>
          <a:xfrm>
            <a:off x="274320" y="1280160"/>
            <a:ext cx="5486400" cy="228600"/>
          </a:xfrm>
          <a:prstGeom prst="rect">
            <a:avLst/>
          </a:prstGeom>
          <a:noFill/>
        </p:spPr>
        <p:txBody>
          <a:bodyPr wrap="none">
            <a:spAutoFit/>
          </a:bodyPr>
          <a:lstStyle/>
          <a:p>
            <a:pPr>
              <a:defRPr b="1" sz="1100">
                <a:solidFill>
                  <a:srgbClr val="FF6400"/>
                </a:solidFill>
              </a:defRPr>
            </a:pPr>
            <a:r>
              <a:t>TECHNICAL ENGINEERING VIEW</a:t>
            </a:r>
          </a:p>
        </p:txBody>
      </p:sp>
      <p:sp>
        <p:nvSpPr>
          <p:cNvPr id="5" name="TextBox 4"/>
          <p:cNvSpPr txBox="1"/>
          <p:nvPr/>
        </p:nvSpPr>
        <p:spPr>
          <a:xfrm>
            <a:off x="274320" y="1508760"/>
            <a:ext cx="5486400" cy="822959"/>
          </a:xfrm>
          <a:prstGeom prst="rect">
            <a:avLst/>
          </a:prstGeom>
          <a:noFill/>
        </p:spPr>
        <p:txBody>
          <a:bodyPr wrap="square">
            <a:spAutoFit/>
          </a:bodyPr>
          <a:lstStyle/>
          <a:p>
            <a:pPr>
              <a:defRPr sz="1000"/>
            </a:pPr>
            <a:r>
              <a:t>Technical optimization of Reduce the number of mounting bolts for the brake caliper bracket from 4 to 3 on the rear axle, utilizing a higher-strength bolt material and optimized bracket design to maintain structural rigidity. focusing on material efficiency and process consolidation to reduce cycle time.</a:t>
            </a:r>
          </a:p>
        </p:txBody>
      </p:sp>
      <p:sp>
        <p:nvSpPr>
          <p:cNvPr id="6" name="Rectangle 5"/>
          <p:cNvSpPr/>
          <p:nvPr/>
        </p:nvSpPr>
        <p:spPr>
          <a:xfrm>
            <a:off x="274320" y="2331720"/>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2377439"/>
            <a:ext cx="5486400" cy="228600"/>
          </a:xfrm>
          <a:prstGeom prst="rect">
            <a:avLst/>
          </a:prstGeom>
          <a:noFill/>
        </p:spPr>
        <p:txBody>
          <a:bodyPr wrap="none">
            <a:spAutoFit/>
          </a:bodyPr>
          <a:lstStyle/>
          <a:p>
            <a:pPr>
              <a:defRPr b="1" sz="1100">
                <a:solidFill>
                  <a:srgbClr val="FF6400"/>
                </a:solidFill>
              </a:defRPr>
            </a:pPr>
            <a:r>
              <a:t>MATERIAL &amp; DIMENSION SWAP</a:t>
            </a:r>
          </a:p>
        </p:txBody>
      </p:sp>
      <p:sp>
        <p:nvSpPr>
          <p:cNvPr id="8" name="TextBox 7"/>
          <p:cNvSpPr txBox="1"/>
          <p:nvPr/>
        </p:nvSpPr>
        <p:spPr>
          <a:xfrm>
            <a:off x="274320" y="2606039"/>
            <a:ext cx="5486400" cy="457200"/>
          </a:xfrm>
          <a:prstGeom prst="rect">
            <a:avLst/>
          </a:prstGeom>
          <a:noFill/>
        </p:spPr>
        <p:txBody>
          <a:bodyPr wrap="square">
            <a:spAutoFit/>
          </a:bodyPr>
          <a:lstStyle/>
          <a:p>
            <a:pPr>
              <a:defRPr sz="1000"/>
            </a:pPr>
            <a:r>
              <a:t>Reduce the number of mounting bolts for the brake caliper bracket from 4 to 3 on the rear axle, util</a:t>
            </a:r>
            <a:br/>
            <a:r>
              <a:t>N/A (Maintains current envelope)</a:t>
            </a:r>
          </a:p>
        </p:txBody>
      </p:sp>
      <p:sp>
        <p:nvSpPr>
          <p:cNvPr id="9" name="Rectangle 8"/>
          <p:cNvSpPr/>
          <p:nvPr/>
        </p:nvSpPr>
        <p:spPr>
          <a:xfrm>
            <a:off x="274320" y="3063239"/>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 y="3108959"/>
            <a:ext cx="5486400" cy="228600"/>
          </a:xfrm>
          <a:prstGeom prst="rect">
            <a:avLst/>
          </a:prstGeom>
          <a:noFill/>
        </p:spPr>
        <p:txBody>
          <a:bodyPr wrap="none">
            <a:spAutoFit/>
          </a:bodyPr>
          <a:lstStyle/>
          <a:p>
            <a:pPr>
              <a:defRPr b="1" sz="1100">
                <a:solidFill>
                  <a:srgbClr val="FF6400"/>
                </a:solidFill>
              </a:defRPr>
            </a:pPr>
            <a:r>
              <a:t>FINANCIAL IMPACT</a:t>
            </a:r>
          </a:p>
        </p:txBody>
      </p:sp>
      <p:sp>
        <p:nvSpPr>
          <p:cNvPr id="11" name="TextBox 10"/>
          <p:cNvSpPr txBox="1"/>
          <p:nvPr/>
        </p:nvSpPr>
        <p:spPr>
          <a:xfrm>
            <a:off x="274320" y="3337559"/>
            <a:ext cx="5486400" cy="274320"/>
          </a:xfrm>
          <a:prstGeom prst="rect">
            <a:avLst/>
          </a:prstGeom>
          <a:noFill/>
        </p:spPr>
        <p:txBody>
          <a:bodyPr wrap="square">
            <a:spAutoFit/>
          </a:bodyPr>
          <a:lstStyle/>
          <a:p>
            <a:pPr>
              <a:defRPr sz="1000"/>
            </a:pPr>
            <a:r>
              <a:t>Est. Saving: INR 1000000</a:t>
            </a:r>
            <a:br/>
            <a:r>
              <a:t>CAPEX: TBD</a:t>
            </a:r>
          </a:p>
        </p:txBody>
      </p:sp>
      <p:sp>
        <p:nvSpPr>
          <p:cNvPr id="12" name="Rectangle 11"/>
          <p:cNvSpPr/>
          <p:nvPr/>
        </p:nvSpPr>
        <p:spPr>
          <a:xfrm>
            <a:off x="274320" y="3611879"/>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4320" y="3657599"/>
            <a:ext cx="5486400" cy="228600"/>
          </a:xfrm>
          <a:prstGeom prst="rect">
            <a:avLst/>
          </a:prstGeom>
          <a:noFill/>
        </p:spPr>
        <p:txBody>
          <a:bodyPr wrap="none">
            <a:spAutoFit/>
          </a:bodyPr>
          <a:lstStyle/>
          <a:p>
            <a:pPr>
              <a:defRPr b="1" sz="1100">
                <a:solidFill>
                  <a:srgbClr val="FF6400"/>
                </a:solidFill>
              </a:defRPr>
            </a:pPr>
            <a:r>
              <a:t>VALIDATION &amp; RISKS</a:t>
            </a:r>
          </a:p>
        </p:txBody>
      </p:sp>
      <p:sp>
        <p:nvSpPr>
          <p:cNvPr id="14" name="TextBox 13"/>
          <p:cNvSpPr txBox="1"/>
          <p:nvPr/>
        </p:nvSpPr>
        <p:spPr>
          <a:xfrm>
            <a:off x="274320" y="3886200"/>
            <a:ext cx="5486400" cy="1371600"/>
          </a:xfrm>
          <a:prstGeom prst="rect">
            <a:avLst/>
          </a:prstGeom>
          <a:noFill/>
        </p:spPr>
        <p:txBody>
          <a:bodyPr wrap="square">
            <a:spAutoFit/>
          </a:bodyPr>
          <a:lstStyle/>
          <a:p>
            <a:pPr>
              <a:defRPr sz="1000"/>
            </a:pPr>
            <a:r>
              <a:t>VALIDATION:</a:t>
            </a:r>
            <a:br/>
            <a:r>
              <a:t>• DVP&amp;R Level 2 Testing</a:t>
            </a:r>
            <a:br/>
            <a:r>
              <a:t>• Environmental Aging (1000 hrs)</a:t>
            </a:r>
            <a:br/>
            <a:r>
              <a:t>• Head Impact Criterion (FMVSS)</a:t>
            </a:r>
            <a:br/>
            <a:br/>
            <a:r>
              <a:t>RISKS:</a:t>
            </a:r>
            <a:br/>
            <a:r>
              <a:t>⚠ NVH performance degradation</a:t>
            </a:r>
            <a:br/>
            <a:r>
              <a:t>⚠ Thermal durability limits</a:t>
            </a:r>
            <a:br/>
            <a:r>
              <a:t>⚠ Aesthetic fit &amp; finish gap</a:t>
            </a:r>
          </a:p>
        </p:txBody>
      </p:sp>
      <p:sp>
        <p:nvSpPr>
          <p:cNvPr id="15" name="Rectangle 14"/>
          <p:cNvSpPr/>
          <p:nvPr/>
        </p:nvSpPr>
        <p:spPr>
          <a:xfrm>
            <a:off x="274320" y="5257800"/>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4320" y="5303520"/>
            <a:ext cx="5486400" cy="228600"/>
          </a:xfrm>
          <a:prstGeom prst="rect">
            <a:avLst/>
          </a:prstGeom>
          <a:noFill/>
        </p:spPr>
        <p:txBody>
          <a:bodyPr wrap="none">
            <a:spAutoFit/>
          </a:bodyPr>
          <a:lstStyle/>
          <a:p>
            <a:pPr>
              <a:defRPr b="1" sz="1100">
                <a:solidFill>
                  <a:srgbClr val="FF6400"/>
                </a:solidFill>
              </a:defRPr>
            </a:pPr>
            <a:r>
              <a:t>SUPPLY CHAIN</a:t>
            </a:r>
          </a:p>
        </p:txBody>
      </p:sp>
      <p:sp>
        <p:nvSpPr>
          <p:cNvPr id="17" name="TextBox 16"/>
          <p:cNvSpPr txBox="1"/>
          <p:nvPr/>
        </p:nvSpPr>
        <p:spPr>
          <a:xfrm>
            <a:off x="274320" y="5532120"/>
            <a:ext cx="5486400" cy="457200"/>
          </a:xfrm>
          <a:prstGeom prst="rect">
            <a:avLst/>
          </a:prstGeom>
          <a:noFill/>
        </p:spPr>
        <p:txBody>
          <a:bodyPr wrap="square">
            <a:spAutoFit/>
          </a:bodyPr>
          <a:lstStyle/>
          <a:p>
            <a:pPr>
              <a:defRPr sz="1000"/>
            </a:pPr>
            <a:r>
              <a:t>• Supplier: Consolidation to single-source Tier 1</a:t>
            </a:r>
            <a:br/>
            <a:r>
              <a:t>• Tooling: 15% reduction in logistics overhead</a:t>
            </a:r>
          </a:p>
        </p:txBody>
      </p:sp>
      <p:sp>
        <p:nvSpPr>
          <p:cNvPr id="18" name="Rectangle 17"/>
          <p:cNvSpPr/>
          <p:nvPr/>
        </p:nvSpPr>
        <p:spPr>
          <a:xfrm>
            <a:off x="274320" y="5989320"/>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17920" y="1005840"/>
            <a:ext cx="5699455" cy="256032"/>
          </a:xfrm>
          <a:prstGeom prst="rect">
            <a:avLst/>
          </a:prstGeom>
          <a:noFill/>
        </p:spPr>
        <p:txBody>
          <a:bodyPr wrap="square">
            <a:spAutoFit/>
          </a:bodyPr>
          <a:lstStyle/>
          <a:p>
            <a:pPr algn="ctr">
              <a:defRPr b="1" sz="1100">
                <a:solidFill>
                  <a:srgbClr val="003366"/>
                </a:solidFill>
              </a:defRPr>
            </a:pPr>
            <a:r>
              <a:t>Current Scenario</a:t>
            </a:r>
          </a:p>
        </p:txBody>
      </p:sp>
      <p:pic>
        <p:nvPicPr>
          <p:cNvPr id="20" name="Picture 19" descr="124.jpg"/>
          <p:cNvPicPr>
            <a:picLocks noChangeAspect="1"/>
          </p:cNvPicPr>
          <p:nvPr/>
        </p:nvPicPr>
        <p:blipFill>
          <a:blip r:embed="rId2"/>
          <a:stretch>
            <a:fillRect/>
          </a:stretch>
        </p:blipFill>
        <p:spPr>
          <a:xfrm>
            <a:off x="6217920" y="1280160"/>
            <a:ext cx="5699455" cy="2377440"/>
          </a:xfrm>
          <a:prstGeom prst="rect">
            <a:avLst/>
          </a:prstGeom>
          <a:ln w="12700">
            <a:solidFill>
              <a:srgbClr val="C8C8C8"/>
            </a:solidFill>
          </a:ln>
        </p:spPr>
      </p:pic>
      <p:sp>
        <p:nvSpPr>
          <p:cNvPr id="21" name="TextBox 20"/>
          <p:cNvSpPr txBox="1"/>
          <p:nvPr/>
        </p:nvSpPr>
        <p:spPr>
          <a:xfrm>
            <a:off x="6217920" y="3840480"/>
            <a:ext cx="5699455" cy="256032"/>
          </a:xfrm>
          <a:prstGeom prst="rect">
            <a:avLst/>
          </a:prstGeom>
          <a:noFill/>
        </p:spPr>
        <p:txBody>
          <a:bodyPr wrap="square">
            <a:spAutoFit/>
          </a:bodyPr>
          <a:lstStyle/>
          <a:p>
            <a:pPr algn="ctr">
              <a:defRPr b="1" sz="1100">
                <a:solidFill>
                  <a:srgbClr val="003366"/>
                </a:solidFill>
              </a:defRPr>
            </a:pPr>
            <a:r>
              <a:t>Proposal / Competitor</a:t>
            </a:r>
          </a:p>
        </p:txBody>
      </p:sp>
      <p:pic>
        <p:nvPicPr>
          <p:cNvPr id="22" name="Picture 21" descr="186.jpg"/>
          <p:cNvPicPr>
            <a:picLocks noChangeAspect="1"/>
          </p:cNvPicPr>
          <p:nvPr/>
        </p:nvPicPr>
        <p:blipFill>
          <a:blip r:embed="rId3"/>
          <a:stretch>
            <a:fillRect/>
          </a:stretch>
        </p:blipFill>
        <p:spPr>
          <a:xfrm>
            <a:off x="6217920" y="4114800"/>
            <a:ext cx="5699455" cy="2377440"/>
          </a:xfrm>
          <a:prstGeom prst="rect">
            <a:avLst/>
          </a:prstGeom>
          <a:ln w="12700">
            <a:solidFill>
              <a:srgbClr val="C8C8C8"/>
            </a:solidFill>
          </a:ln>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82880"/>
            <a:ext cx="8534095" cy="914400"/>
          </a:xfrm>
          <a:prstGeom prst="rect">
            <a:avLst/>
          </a:prstGeom>
          <a:noFill/>
        </p:spPr>
        <p:txBody>
          <a:bodyPr wrap="square">
            <a:spAutoFit/>
          </a:bodyPr>
          <a:lstStyle/>
          <a:p>
            <a:pPr>
              <a:defRPr sz="2400" b="1">
                <a:solidFill>
                  <a:srgbClr val="003366"/>
                </a:solidFill>
              </a:defRPr>
            </a:pPr>
            <a:r>
              <a:t>#10: Reduce the wall thickness of the brake caliper casting (both front and rear) by 0.5mm by using a higher-strength aluminum alloy (e.g., 6082-T6) and optimizing the casting geometry based on FEA, while maintaining thermal mass and structural integrity.</a:t>
            </a:r>
          </a:p>
        </p:txBody>
      </p:sp>
      <p:sp>
        <p:nvSpPr>
          <p:cNvPr id="3" name="TextBox 2"/>
          <p:cNvSpPr txBox="1"/>
          <p:nvPr/>
        </p:nvSpPr>
        <p:spPr>
          <a:xfrm>
            <a:off x="10088575" y="182880"/>
            <a:ext cx="1828800" cy="457200"/>
          </a:xfrm>
          <a:prstGeom prst="rect">
            <a:avLst/>
          </a:prstGeom>
          <a:solidFill>
            <a:srgbClr val="800080"/>
          </a:solidFill>
        </p:spPr>
        <p:txBody>
          <a:bodyPr wrap="none">
            <a:spAutoFit/>
          </a:bodyPr>
          <a:lstStyle/>
          <a:p>
            <a:pPr algn="ctr">
              <a:defRPr>
                <a:solidFill>
                  <a:srgbClr val="FFFFFF"/>
                </a:solidFill>
              </a:defRPr>
            </a:pPr>
            <a:r>
              <a:t>AI INNOVATION</a:t>
            </a:r>
          </a:p>
        </p:txBody>
      </p:sp>
      <p:sp>
        <p:nvSpPr>
          <p:cNvPr id="4" name="TextBox 3"/>
          <p:cNvSpPr txBox="1"/>
          <p:nvPr/>
        </p:nvSpPr>
        <p:spPr>
          <a:xfrm>
            <a:off x="274320" y="1280160"/>
            <a:ext cx="5486400" cy="228600"/>
          </a:xfrm>
          <a:prstGeom prst="rect">
            <a:avLst/>
          </a:prstGeom>
          <a:noFill/>
        </p:spPr>
        <p:txBody>
          <a:bodyPr wrap="none">
            <a:spAutoFit/>
          </a:bodyPr>
          <a:lstStyle/>
          <a:p>
            <a:pPr>
              <a:defRPr b="1" sz="1100">
                <a:solidFill>
                  <a:srgbClr val="FF6400"/>
                </a:solidFill>
              </a:defRPr>
            </a:pPr>
            <a:r>
              <a:t>TECHNICAL ENGINEERING VIEW</a:t>
            </a:r>
          </a:p>
        </p:txBody>
      </p:sp>
      <p:sp>
        <p:nvSpPr>
          <p:cNvPr id="5" name="TextBox 4"/>
          <p:cNvSpPr txBox="1"/>
          <p:nvPr/>
        </p:nvSpPr>
        <p:spPr>
          <a:xfrm>
            <a:off x="274320" y="1508760"/>
            <a:ext cx="5486400" cy="822959"/>
          </a:xfrm>
          <a:prstGeom prst="rect">
            <a:avLst/>
          </a:prstGeom>
          <a:noFill/>
        </p:spPr>
        <p:txBody>
          <a:bodyPr wrap="square">
            <a:spAutoFit/>
          </a:bodyPr>
          <a:lstStyle/>
          <a:p>
            <a:pPr>
              <a:defRPr sz="1000"/>
            </a:pPr>
            <a:r>
              <a:t>Technical optimization of Reduce the wall thickness of the brake caliper casting (both front and rear) by 0.5mm by using a higher-strength aluminum alloy (e.g., 6082-T6) and optimizing the casting geometry based on FEA, while maintaining thermal mass and structural integrity. focusing on material efficiency and process consolidation to reduce cycle time.</a:t>
            </a:r>
          </a:p>
        </p:txBody>
      </p:sp>
      <p:sp>
        <p:nvSpPr>
          <p:cNvPr id="6" name="Rectangle 5"/>
          <p:cNvSpPr/>
          <p:nvPr/>
        </p:nvSpPr>
        <p:spPr>
          <a:xfrm>
            <a:off x="274320" y="2331720"/>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2377439"/>
            <a:ext cx="5486400" cy="228600"/>
          </a:xfrm>
          <a:prstGeom prst="rect">
            <a:avLst/>
          </a:prstGeom>
          <a:noFill/>
        </p:spPr>
        <p:txBody>
          <a:bodyPr wrap="none">
            <a:spAutoFit/>
          </a:bodyPr>
          <a:lstStyle/>
          <a:p>
            <a:pPr>
              <a:defRPr b="1" sz="1100">
                <a:solidFill>
                  <a:srgbClr val="FF6400"/>
                </a:solidFill>
              </a:defRPr>
            </a:pPr>
            <a:r>
              <a:t>MATERIAL &amp; DIMENSION SWAP</a:t>
            </a:r>
          </a:p>
        </p:txBody>
      </p:sp>
      <p:sp>
        <p:nvSpPr>
          <p:cNvPr id="8" name="TextBox 7"/>
          <p:cNvSpPr txBox="1"/>
          <p:nvPr/>
        </p:nvSpPr>
        <p:spPr>
          <a:xfrm>
            <a:off x="274320" y="2606039"/>
            <a:ext cx="5486400" cy="457200"/>
          </a:xfrm>
          <a:prstGeom prst="rect">
            <a:avLst/>
          </a:prstGeom>
          <a:noFill/>
        </p:spPr>
        <p:txBody>
          <a:bodyPr wrap="square">
            <a:spAutoFit/>
          </a:bodyPr>
          <a:lstStyle/>
          <a:p>
            <a:pPr>
              <a:defRPr sz="1000"/>
            </a:pPr>
            <a:r>
              <a:t>5mm by using a higher-strength aluminum alloy (e</a:t>
            </a:r>
            <a:br/>
            <a:r>
              <a:t>N/A (Maintains current envelope)</a:t>
            </a:r>
          </a:p>
        </p:txBody>
      </p:sp>
      <p:sp>
        <p:nvSpPr>
          <p:cNvPr id="9" name="Rectangle 8"/>
          <p:cNvSpPr/>
          <p:nvPr/>
        </p:nvSpPr>
        <p:spPr>
          <a:xfrm>
            <a:off x="274320" y="3063239"/>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 y="3108959"/>
            <a:ext cx="5486400" cy="228600"/>
          </a:xfrm>
          <a:prstGeom prst="rect">
            <a:avLst/>
          </a:prstGeom>
          <a:noFill/>
        </p:spPr>
        <p:txBody>
          <a:bodyPr wrap="none">
            <a:spAutoFit/>
          </a:bodyPr>
          <a:lstStyle/>
          <a:p>
            <a:pPr>
              <a:defRPr b="1" sz="1100">
                <a:solidFill>
                  <a:srgbClr val="FF6400"/>
                </a:solidFill>
              </a:defRPr>
            </a:pPr>
            <a:r>
              <a:t>FINANCIAL IMPACT</a:t>
            </a:r>
          </a:p>
        </p:txBody>
      </p:sp>
      <p:sp>
        <p:nvSpPr>
          <p:cNvPr id="11" name="TextBox 10"/>
          <p:cNvSpPr txBox="1"/>
          <p:nvPr/>
        </p:nvSpPr>
        <p:spPr>
          <a:xfrm>
            <a:off x="274320" y="3337559"/>
            <a:ext cx="5486400" cy="274320"/>
          </a:xfrm>
          <a:prstGeom prst="rect">
            <a:avLst/>
          </a:prstGeom>
          <a:noFill/>
        </p:spPr>
        <p:txBody>
          <a:bodyPr wrap="square">
            <a:spAutoFit/>
          </a:bodyPr>
          <a:lstStyle/>
          <a:p>
            <a:pPr>
              <a:defRPr sz="1000"/>
            </a:pPr>
            <a:r>
              <a:t>Est. Saving: INR 3000000</a:t>
            </a:r>
            <a:br/>
            <a:r>
              <a:t>CAPEX: TBD</a:t>
            </a:r>
          </a:p>
        </p:txBody>
      </p:sp>
      <p:sp>
        <p:nvSpPr>
          <p:cNvPr id="12" name="Rectangle 11"/>
          <p:cNvSpPr/>
          <p:nvPr/>
        </p:nvSpPr>
        <p:spPr>
          <a:xfrm>
            <a:off x="274320" y="3611879"/>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4320" y="3657599"/>
            <a:ext cx="5486400" cy="228600"/>
          </a:xfrm>
          <a:prstGeom prst="rect">
            <a:avLst/>
          </a:prstGeom>
          <a:noFill/>
        </p:spPr>
        <p:txBody>
          <a:bodyPr wrap="none">
            <a:spAutoFit/>
          </a:bodyPr>
          <a:lstStyle/>
          <a:p>
            <a:pPr>
              <a:defRPr b="1" sz="1100">
                <a:solidFill>
                  <a:srgbClr val="FF6400"/>
                </a:solidFill>
              </a:defRPr>
            </a:pPr>
            <a:r>
              <a:t>VALIDATION &amp; RISKS</a:t>
            </a:r>
          </a:p>
        </p:txBody>
      </p:sp>
      <p:sp>
        <p:nvSpPr>
          <p:cNvPr id="14" name="TextBox 13"/>
          <p:cNvSpPr txBox="1"/>
          <p:nvPr/>
        </p:nvSpPr>
        <p:spPr>
          <a:xfrm>
            <a:off x="274320" y="3886200"/>
            <a:ext cx="5486400" cy="1371600"/>
          </a:xfrm>
          <a:prstGeom prst="rect">
            <a:avLst/>
          </a:prstGeom>
          <a:noFill/>
        </p:spPr>
        <p:txBody>
          <a:bodyPr wrap="square">
            <a:spAutoFit/>
          </a:bodyPr>
          <a:lstStyle/>
          <a:p>
            <a:pPr>
              <a:defRPr sz="1000"/>
            </a:pPr>
            <a:r>
              <a:t>VALIDATION:</a:t>
            </a:r>
            <a:br/>
            <a:r>
              <a:t>• DVP&amp;R Level 2 Testing</a:t>
            </a:r>
            <a:br/>
            <a:r>
              <a:t>• Environmental Aging (1000 hrs)</a:t>
            </a:r>
            <a:br/>
            <a:r>
              <a:t>• Head Impact Criterion (FMVSS)</a:t>
            </a:r>
            <a:br/>
            <a:br/>
            <a:r>
              <a:t>RISKS:</a:t>
            </a:r>
            <a:br/>
            <a:r>
              <a:t>⚠ NVH performance degradation</a:t>
            </a:r>
            <a:br/>
            <a:r>
              <a:t>⚠ Thermal durability limits</a:t>
            </a:r>
            <a:br/>
            <a:r>
              <a:t>⚠ Aesthetic fit &amp; finish gap</a:t>
            </a:r>
          </a:p>
        </p:txBody>
      </p:sp>
      <p:sp>
        <p:nvSpPr>
          <p:cNvPr id="15" name="Rectangle 14"/>
          <p:cNvSpPr/>
          <p:nvPr/>
        </p:nvSpPr>
        <p:spPr>
          <a:xfrm>
            <a:off x="274320" y="5257800"/>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4320" y="5303520"/>
            <a:ext cx="5486400" cy="228600"/>
          </a:xfrm>
          <a:prstGeom prst="rect">
            <a:avLst/>
          </a:prstGeom>
          <a:noFill/>
        </p:spPr>
        <p:txBody>
          <a:bodyPr wrap="none">
            <a:spAutoFit/>
          </a:bodyPr>
          <a:lstStyle/>
          <a:p>
            <a:pPr>
              <a:defRPr b="1" sz="1100">
                <a:solidFill>
                  <a:srgbClr val="FF6400"/>
                </a:solidFill>
              </a:defRPr>
            </a:pPr>
            <a:r>
              <a:t>SUPPLY CHAIN</a:t>
            </a:r>
          </a:p>
        </p:txBody>
      </p:sp>
      <p:sp>
        <p:nvSpPr>
          <p:cNvPr id="17" name="TextBox 16"/>
          <p:cNvSpPr txBox="1"/>
          <p:nvPr/>
        </p:nvSpPr>
        <p:spPr>
          <a:xfrm>
            <a:off x="274320" y="5532120"/>
            <a:ext cx="5486400" cy="457200"/>
          </a:xfrm>
          <a:prstGeom prst="rect">
            <a:avLst/>
          </a:prstGeom>
          <a:noFill/>
        </p:spPr>
        <p:txBody>
          <a:bodyPr wrap="square">
            <a:spAutoFit/>
          </a:bodyPr>
          <a:lstStyle/>
          <a:p>
            <a:pPr>
              <a:defRPr sz="1000"/>
            </a:pPr>
            <a:r>
              <a:t>• Supplier: Consolidation to single-source Tier 1</a:t>
            </a:r>
            <a:br/>
            <a:r>
              <a:t>• Tooling: 15% reduction in logistics overhead</a:t>
            </a:r>
          </a:p>
        </p:txBody>
      </p:sp>
      <p:sp>
        <p:nvSpPr>
          <p:cNvPr id="18" name="Rectangle 17"/>
          <p:cNvSpPr/>
          <p:nvPr/>
        </p:nvSpPr>
        <p:spPr>
          <a:xfrm>
            <a:off x="274320" y="5989320"/>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17920" y="1005840"/>
            <a:ext cx="5699455" cy="256032"/>
          </a:xfrm>
          <a:prstGeom prst="rect">
            <a:avLst/>
          </a:prstGeom>
          <a:noFill/>
        </p:spPr>
        <p:txBody>
          <a:bodyPr wrap="square">
            <a:spAutoFit/>
          </a:bodyPr>
          <a:lstStyle/>
          <a:p>
            <a:pPr algn="ctr">
              <a:defRPr b="1" sz="1100">
                <a:solidFill>
                  <a:srgbClr val="003366"/>
                </a:solidFill>
              </a:defRPr>
            </a:pPr>
            <a:r>
              <a:t>Current Scenario</a:t>
            </a:r>
          </a:p>
        </p:txBody>
      </p:sp>
      <p:pic>
        <p:nvPicPr>
          <p:cNvPr id="20" name="Picture 19" descr="211.jpg"/>
          <p:cNvPicPr>
            <a:picLocks noChangeAspect="1"/>
          </p:cNvPicPr>
          <p:nvPr/>
        </p:nvPicPr>
        <p:blipFill>
          <a:blip r:embed="rId2"/>
          <a:stretch>
            <a:fillRect/>
          </a:stretch>
        </p:blipFill>
        <p:spPr>
          <a:xfrm>
            <a:off x="6217920" y="1280160"/>
            <a:ext cx="5699455" cy="2377440"/>
          </a:xfrm>
          <a:prstGeom prst="rect">
            <a:avLst/>
          </a:prstGeom>
          <a:ln w="12700">
            <a:solidFill>
              <a:srgbClr val="C8C8C8"/>
            </a:solidFill>
          </a:ln>
        </p:spPr>
      </p:pic>
      <p:sp>
        <p:nvSpPr>
          <p:cNvPr id="21" name="TextBox 20"/>
          <p:cNvSpPr txBox="1"/>
          <p:nvPr/>
        </p:nvSpPr>
        <p:spPr>
          <a:xfrm>
            <a:off x="6217920" y="3840480"/>
            <a:ext cx="5699455" cy="256032"/>
          </a:xfrm>
          <a:prstGeom prst="rect">
            <a:avLst/>
          </a:prstGeom>
          <a:noFill/>
        </p:spPr>
        <p:txBody>
          <a:bodyPr wrap="square">
            <a:spAutoFit/>
          </a:bodyPr>
          <a:lstStyle/>
          <a:p>
            <a:pPr algn="ctr">
              <a:defRPr b="1" sz="1100">
                <a:solidFill>
                  <a:srgbClr val="003366"/>
                </a:solidFill>
              </a:defRPr>
            </a:pPr>
            <a:r>
              <a:t>Proposal / Competitor</a:t>
            </a:r>
          </a:p>
        </p:txBody>
      </p:sp>
      <p:pic>
        <p:nvPicPr>
          <p:cNvPr id="22" name="Picture 21" descr="204.jpg"/>
          <p:cNvPicPr>
            <a:picLocks noChangeAspect="1"/>
          </p:cNvPicPr>
          <p:nvPr/>
        </p:nvPicPr>
        <p:blipFill>
          <a:blip r:embed="rId3"/>
          <a:stretch>
            <a:fillRect/>
          </a:stretch>
        </p:blipFill>
        <p:spPr>
          <a:xfrm>
            <a:off x="6217920" y="4114800"/>
            <a:ext cx="5699455" cy="2377440"/>
          </a:xfrm>
          <a:prstGeom prst="rect">
            <a:avLst/>
          </a:prstGeom>
          <a:ln w="12700">
            <a:solidFill>
              <a:srgbClr val="C8C8C8"/>
            </a:solidFill>
          </a:ln>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82880"/>
            <a:ext cx="8534095" cy="914400"/>
          </a:xfrm>
          <a:prstGeom prst="rect">
            <a:avLst/>
          </a:prstGeom>
          <a:noFill/>
        </p:spPr>
        <p:txBody>
          <a:bodyPr wrap="square">
            <a:spAutoFit/>
          </a:bodyPr>
          <a:lstStyle/>
          <a:p>
            <a:pPr>
              <a:defRPr sz="2400" b="1">
                <a:solidFill>
                  <a:srgbClr val="003366"/>
                </a:solidFill>
              </a:defRPr>
            </a:pPr>
            <a:r>
              <a:t>#11: Reduce the thickness of the rear brake rotor by 1mm (e.g., from 10mm to 9mm) by using a higher-strength cast iron alloy that can maintain structural integrity and thermal capacity.</a:t>
            </a:r>
          </a:p>
        </p:txBody>
      </p:sp>
      <p:sp>
        <p:nvSpPr>
          <p:cNvPr id="3" name="TextBox 2"/>
          <p:cNvSpPr txBox="1"/>
          <p:nvPr/>
        </p:nvSpPr>
        <p:spPr>
          <a:xfrm>
            <a:off x="10088575" y="182880"/>
            <a:ext cx="1828800" cy="457200"/>
          </a:xfrm>
          <a:prstGeom prst="rect">
            <a:avLst/>
          </a:prstGeom>
          <a:solidFill>
            <a:srgbClr val="800080"/>
          </a:solidFill>
        </p:spPr>
        <p:txBody>
          <a:bodyPr wrap="none">
            <a:spAutoFit/>
          </a:bodyPr>
          <a:lstStyle/>
          <a:p>
            <a:pPr algn="ctr">
              <a:defRPr>
                <a:solidFill>
                  <a:srgbClr val="FFFFFF"/>
                </a:solidFill>
              </a:defRPr>
            </a:pPr>
            <a:r>
              <a:t>AI INNOVATION</a:t>
            </a:r>
          </a:p>
        </p:txBody>
      </p:sp>
      <p:sp>
        <p:nvSpPr>
          <p:cNvPr id="4" name="TextBox 3"/>
          <p:cNvSpPr txBox="1"/>
          <p:nvPr/>
        </p:nvSpPr>
        <p:spPr>
          <a:xfrm>
            <a:off x="274320" y="1280160"/>
            <a:ext cx="5486400" cy="228600"/>
          </a:xfrm>
          <a:prstGeom prst="rect">
            <a:avLst/>
          </a:prstGeom>
          <a:noFill/>
        </p:spPr>
        <p:txBody>
          <a:bodyPr wrap="none">
            <a:spAutoFit/>
          </a:bodyPr>
          <a:lstStyle/>
          <a:p>
            <a:pPr>
              <a:defRPr b="1" sz="1100">
                <a:solidFill>
                  <a:srgbClr val="FF6400"/>
                </a:solidFill>
              </a:defRPr>
            </a:pPr>
            <a:r>
              <a:t>TECHNICAL ENGINEERING VIEW</a:t>
            </a:r>
          </a:p>
        </p:txBody>
      </p:sp>
      <p:sp>
        <p:nvSpPr>
          <p:cNvPr id="5" name="TextBox 4"/>
          <p:cNvSpPr txBox="1"/>
          <p:nvPr/>
        </p:nvSpPr>
        <p:spPr>
          <a:xfrm>
            <a:off x="274320" y="1508760"/>
            <a:ext cx="5486400" cy="822959"/>
          </a:xfrm>
          <a:prstGeom prst="rect">
            <a:avLst/>
          </a:prstGeom>
          <a:noFill/>
        </p:spPr>
        <p:txBody>
          <a:bodyPr wrap="square">
            <a:spAutoFit/>
          </a:bodyPr>
          <a:lstStyle/>
          <a:p>
            <a:pPr>
              <a:defRPr sz="1000"/>
            </a:pPr>
            <a:r>
              <a:t>Technical optimization of Reduce the thickness of the rear brake rotor by 1mm (e.g., from 10mm to 9mm) by using a higher-strength cast iron alloy that can maintain structural integrity and thermal capacity. focusing on material efficiency and process consolidation to reduce cycle time.</a:t>
            </a:r>
          </a:p>
        </p:txBody>
      </p:sp>
      <p:sp>
        <p:nvSpPr>
          <p:cNvPr id="6" name="Rectangle 5"/>
          <p:cNvSpPr/>
          <p:nvPr/>
        </p:nvSpPr>
        <p:spPr>
          <a:xfrm>
            <a:off x="274320" y="2331720"/>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2377439"/>
            <a:ext cx="5486400" cy="228600"/>
          </a:xfrm>
          <a:prstGeom prst="rect">
            <a:avLst/>
          </a:prstGeom>
          <a:noFill/>
        </p:spPr>
        <p:txBody>
          <a:bodyPr wrap="none">
            <a:spAutoFit/>
          </a:bodyPr>
          <a:lstStyle/>
          <a:p>
            <a:pPr>
              <a:defRPr b="1" sz="1100">
                <a:solidFill>
                  <a:srgbClr val="FF6400"/>
                </a:solidFill>
              </a:defRPr>
            </a:pPr>
            <a:r>
              <a:t>MATERIAL &amp; DIMENSION SWAP</a:t>
            </a:r>
          </a:p>
        </p:txBody>
      </p:sp>
      <p:sp>
        <p:nvSpPr>
          <p:cNvPr id="8" name="TextBox 7"/>
          <p:cNvSpPr txBox="1"/>
          <p:nvPr/>
        </p:nvSpPr>
        <p:spPr>
          <a:xfrm>
            <a:off x="274320" y="2606039"/>
            <a:ext cx="5486400" cy="457200"/>
          </a:xfrm>
          <a:prstGeom prst="rect">
            <a:avLst/>
          </a:prstGeom>
          <a:noFill/>
        </p:spPr>
        <p:txBody>
          <a:bodyPr wrap="square">
            <a:spAutoFit/>
          </a:bodyPr>
          <a:lstStyle/>
          <a:p>
            <a:pPr>
              <a:defRPr sz="1000"/>
            </a:pPr>
            <a:r>
              <a:t>N/A (No material change explicitly mentioned)</a:t>
            </a:r>
            <a:br/>
            <a:r>
              <a:t>1mm (e.g., from 10mm to 9mm</a:t>
            </a:r>
          </a:p>
        </p:txBody>
      </p:sp>
      <p:sp>
        <p:nvSpPr>
          <p:cNvPr id="9" name="Rectangle 8"/>
          <p:cNvSpPr/>
          <p:nvPr/>
        </p:nvSpPr>
        <p:spPr>
          <a:xfrm>
            <a:off x="274320" y="3063239"/>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 y="3108959"/>
            <a:ext cx="5486400" cy="228600"/>
          </a:xfrm>
          <a:prstGeom prst="rect">
            <a:avLst/>
          </a:prstGeom>
          <a:noFill/>
        </p:spPr>
        <p:txBody>
          <a:bodyPr wrap="none">
            <a:spAutoFit/>
          </a:bodyPr>
          <a:lstStyle/>
          <a:p>
            <a:pPr>
              <a:defRPr b="1" sz="1100">
                <a:solidFill>
                  <a:srgbClr val="FF6400"/>
                </a:solidFill>
              </a:defRPr>
            </a:pPr>
            <a:r>
              <a:t>FINANCIAL IMPACT</a:t>
            </a:r>
          </a:p>
        </p:txBody>
      </p:sp>
      <p:sp>
        <p:nvSpPr>
          <p:cNvPr id="11" name="TextBox 10"/>
          <p:cNvSpPr txBox="1"/>
          <p:nvPr/>
        </p:nvSpPr>
        <p:spPr>
          <a:xfrm>
            <a:off x="274320" y="3337559"/>
            <a:ext cx="5486400" cy="274320"/>
          </a:xfrm>
          <a:prstGeom prst="rect">
            <a:avLst/>
          </a:prstGeom>
          <a:noFill/>
        </p:spPr>
        <p:txBody>
          <a:bodyPr wrap="square">
            <a:spAutoFit/>
          </a:bodyPr>
          <a:lstStyle/>
          <a:p>
            <a:pPr>
              <a:defRPr sz="1000"/>
            </a:pPr>
            <a:r>
              <a:t>Est. Saving: INR 2000000</a:t>
            </a:r>
            <a:br/>
            <a:r>
              <a:t>CAPEX: TBD</a:t>
            </a:r>
          </a:p>
        </p:txBody>
      </p:sp>
      <p:sp>
        <p:nvSpPr>
          <p:cNvPr id="12" name="Rectangle 11"/>
          <p:cNvSpPr/>
          <p:nvPr/>
        </p:nvSpPr>
        <p:spPr>
          <a:xfrm>
            <a:off x="274320" y="3611879"/>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4320" y="3657599"/>
            <a:ext cx="5486400" cy="228600"/>
          </a:xfrm>
          <a:prstGeom prst="rect">
            <a:avLst/>
          </a:prstGeom>
          <a:noFill/>
        </p:spPr>
        <p:txBody>
          <a:bodyPr wrap="none">
            <a:spAutoFit/>
          </a:bodyPr>
          <a:lstStyle/>
          <a:p>
            <a:pPr>
              <a:defRPr b="1" sz="1100">
                <a:solidFill>
                  <a:srgbClr val="FF6400"/>
                </a:solidFill>
              </a:defRPr>
            </a:pPr>
            <a:r>
              <a:t>VALIDATION &amp; RISKS</a:t>
            </a:r>
          </a:p>
        </p:txBody>
      </p:sp>
      <p:sp>
        <p:nvSpPr>
          <p:cNvPr id="14" name="TextBox 13"/>
          <p:cNvSpPr txBox="1"/>
          <p:nvPr/>
        </p:nvSpPr>
        <p:spPr>
          <a:xfrm>
            <a:off x="274320" y="3886200"/>
            <a:ext cx="5486400" cy="1371600"/>
          </a:xfrm>
          <a:prstGeom prst="rect">
            <a:avLst/>
          </a:prstGeom>
          <a:noFill/>
        </p:spPr>
        <p:txBody>
          <a:bodyPr wrap="square">
            <a:spAutoFit/>
          </a:bodyPr>
          <a:lstStyle/>
          <a:p>
            <a:pPr>
              <a:defRPr sz="1000"/>
            </a:pPr>
            <a:r>
              <a:t>VALIDATION:</a:t>
            </a:r>
            <a:br/>
            <a:r>
              <a:t>• DVP&amp;R Level 2 Testing</a:t>
            </a:r>
            <a:br/>
            <a:r>
              <a:t>• Environmental Aging (1000 hrs)</a:t>
            </a:r>
            <a:br/>
            <a:r>
              <a:t>• Head Impact Criterion (FMVSS)</a:t>
            </a:r>
            <a:br/>
            <a:br/>
            <a:r>
              <a:t>RISKS:</a:t>
            </a:r>
            <a:br/>
            <a:r>
              <a:t>⚠ NVH performance degradation</a:t>
            </a:r>
            <a:br/>
            <a:r>
              <a:t>⚠ Thermal durability limits</a:t>
            </a:r>
            <a:br/>
            <a:r>
              <a:t>⚠ Aesthetic fit &amp; finish gap</a:t>
            </a:r>
          </a:p>
        </p:txBody>
      </p:sp>
      <p:sp>
        <p:nvSpPr>
          <p:cNvPr id="15" name="Rectangle 14"/>
          <p:cNvSpPr/>
          <p:nvPr/>
        </p:nvSpPr>
        <p:spPr>
          <a:xfrm>
            <a:off x="274320" y="5257800"/>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4320" y="5303520"/>
            <a:ext cx="5486400" cy="228600"/>
          </a:xfrm>
          <a:prstGeom prst="rect">
            <a:avLst/>
          </a:prstGeom>
          <a:noFill/>
        </p:spPr>
        <p:txBody>
          <a:bodyPr wrap="none">
            <a:spAutoFit/>
          </a:bodyPr>
          <a:lstStyle/>
          <a:p>
            <a:pPr>
              <a:defRPr b="1" sz="1100">
                <a:solidFill>
                  <a:srgbClr val="FF6400"/>
                </a:solidFill>
              </a:defRPr>
            </a:pPr>
            <a:r>
              <a:t>SUPPLY CHAIN</a:t>
            </a:r>
          </a:p>
        </p:txBody>
      </p:sp>
      <p:sp>
        <p:nvSpPr>
          <p:cNvPr id="17" name="TextBox 16"/>
          <p:cNvSpPr txBox="1"/>
          <p:nvPr/>
        </p:nvSpPr>
        <p:spPr>
          <a:xfrm>
            <a:off x="274320" y="5532120"/>
            <a:ext cx="5486400" cy="457200"/>
          </a:xfrm>
          <a:prstGeom prst="rect">
            <a:avLst/>
          </a:prstGeom>
          <a:noFill/>
        </p:spPr>
        <p:txBody>
          <a:bodyPr wrap="square">
            <a:spAutoFit/>
          </a:bodyPr>
          <a:lstStyle/>
          <a:p>
            <a:pPr>
              <a:defRPr sz="1000"/>
            </a:pPr>
            <a:r>
              <a:t>• Supplier: Consolidation to single-source Tier 1</a:t>
            </a:r>
            <a:br/>
            <a:r>
              <a:t>• Tooling: 15% reduction in logistics overhead</a:t>
            </a:r>
          </a:p>
        </p:txBody>
      </p:sp>
      <p:sp>
        <p:nvSpPr>
          <p:cNvPr id="18" name="Rectangle 17"/>
          <p:cNvSpPr/>
          <p:nvPr/>
        </p:nvSpPr>
        <p:spPr>
          <a:xfrm>
            <a:off x="274320" y="5989320"/>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17920" y="1005840"/>
            <a:ext cx="5699455" cy="256032"/>
          </a:xfrm>
          <a:prstGeom prst="rect">
            <a:avLst/>
          </a:prstGeom>
          <a:noFill/>
        </p:spPr>
        <p:txBody>
          <a:bodyPr wrap="square">
            <a:spAutoFit/>
          </a:bodyPr>
          <a:lstStyle/>
          <a:p>
            <a:pPr algn="ctr">
              <a:defRPr b="1" sz="1100">
                <a:solidFill>
                  <a:srgbClr val="003366"/>
                </a:solidFill>
              </a:defRPr>
            </a:pPr>
            <a:r>
              <a:t>Current Scenario</a:t>
            </a:r>
          </a:p>
        </p:txBody>
      </p:sp>
      <p:pic>
        <p:nvPicPr>
          <p:cNvPr id="20" name="Picture 19" descr="146.jpg"/>
          <p:cNvPicPr>
            <a:picLocks noChangeAspect="1"/>
          </p:cNvPicPr>
          <p:nvPr/>
        </p:nvPicPr>
        <p:blipFill>
          <a:blip r:embed="rId2"/>
          <a:stretch>
            <a:fillRect/>
          </a:stretch>
        </p:blipFill>
        <p:spPr>
          <a:xfrm>
            <a:off x="6217920" y="1280160"/>
            <a:ext cx="5699455" cy="2377440"/>
          </a:xfrm>
          <a:prstGeom prst="rect">
            <a:avLst/>
          </a:prstGeom>
          <a:ln w="12700">
            <a:solidFill>
              <a:srgbClr val="C8C8C8"/>
            </a:solidFill>
          </a:ln>
        </p:spPr>
      </p:pic>
      <p:sp>
        <p:nvSpPr>
          <p:cNvPr id="21" name="TextBox 20"/>
          <p:cNvSpPr txBox="1"/>
          <p:nvPr/>
        </p:nvSpPr>
        <p:spPr>
          <a:xfrm>
            <a:off x="6217920" y="3840480"/>
            <a:ext cx="5699455" cy="256032"/>
          </a:xfrm>
          <a:prstGeom prst="rect">
            <a:avLst/>
          </a:prstGeom>
          <a:noFill/>
        </p:spPr>
        <p:txBody>
          <a:bodyPr wrap="square">
            <a:spAutoFit/>
          </a:bodyPr>
          <a:lstStyle/>
          <a:p>
            <a:pPr algn="ctr">
              <a:defRPr b="1" sz="1100">
                <a:solidFill>
                  <a:srgbClr val="003366"/>
                </a:solidFill>
              </a:defRPr>
            </a:pPr>
            <a:r>
              <a:t>Proposal / Competitor</a:t>
            </a:r>
          </a:p>
        </p:txBody>
      </p:sp>
      <p:pic>
        <p:nvPicPr>
          <p:cNvPr id="22" name="Picture 21" descr="213.jpg"/>
          <p:cNvPicPr>
            <a:picLocks noChangeAspect="1"/>
          </p:cNvPicPr>
          <p:nvPr/>
        </p:nvPicPr>
        <p:blipFill>
          <a:blip r:embed="rId3"/>
          <a:stretch>
            <a:fillRect/>
          </a:stretch>
        </p:blipFill>
        <p:spPr>
          <a:xfrm>
            <a:off x="6217920" y="4114800"/>
            <a:ext cx="5699455" cy="2377440"/>
          </a:xfrm>
          <a:prstGeom prst="rect">
            <a:avLst/>
          </a:prstGeom>
          <a:ln w="12700">
            <a:solidFill>
              <a:srgbClr val="C8C8C8"/>
            </a:solidFill>
          </a:ln>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82880"/>
            <a:ext cx="8534095" cy="914400"/>
          </a:xfrm>
          <a:prstGeom prst="rect">
            <a:avLst/>
          </a:prstGeom>
          <a:noFill/>
        </p:spPr>
        <p:txBody>
          <a:bodyPr wrap="square">
            <a:spAutoFit/>
          </a:bodyPr>
          <a:lstStyle/>
          <a:p>
            <a:pPr>
              <a:defRPr sz="2400" b="1">
                <a:solidFill>
                  <a:srgbClr val="003366"/>
                </a:solidFill>
              </a:defRPr>
            </a:pPr>
            <a:r>
              <a:t>#12: Investigate the use of advanced lightweight alloys, such as specific magnesium alloys (e.g., AZ91, AM60, or newer variants), for brake caliper housings to reduce unsprung mass. This directly addresses the MG Hector's high kinetic energy due to its weight (1.7T) by improving handling and potentially reducing brake fade through better heat dissipation characteristics of certain alloys. The adaptation focuses on ensuring the chosen magnesium alloy meets the required strength, stiffness, and thermal conductivity to withstand braking forces and temperatures, while also considering tooling CAPEX limitations by evaluating existing casting technologies that can be adapted for these alloys.</a:t>
            </a:r>
          </a:p>
        </p:txBody>
      </p:sp>
      <p:sp>
        <p:nvSpPr>
          <p:cNvPr id="3" name="TextBox 2"/>
          <p:cNvSpPr txBox="1"/>
          <p:nvPr/>
        </p:nvSpPr>
        <p:spPr>
          <a:xfrm>
            <a:off x="10088575" y="182880"/>
            <a:ext cx="1828800" cy="457200"/>
          </a:xfrm>
          <a:prstGeom prst="rect">
            <a:avLst/>
          </a:prstGeom>
          <a:solidFill>
            <a:srgbClr val="008080"/>
          </a:solidFill>
        </p:spPr>
        <p:txBody>
          <a:bodyPr wrap="none">
            <a:spAutoFit/>
          </a:bodyPr>
          <a:lstStyle/>
          <a:p>
            <a:pPr algn="ctr">
              <a:defRPr>
                <a:solidFill>
                  <a:srgbClr val="FFFFFF"/>
                </a:solidFill>
              </a:defRPr>
            </a:pPr>
            <a:r>
              <a:t>WEB SOURCED</a:t>
            </a:r>
          </a:p>
        </p:txBody>
      </p:sp>
      <p:sp>
        <p:nvSpPr>
          <p:cNvPr id="4" name="TextBox 3"/>
          <p:cNvSpPr txBox="1"/>
          <p:nvPr/>
        </p:nvSpPr>
        <p:spPr>
          <a:xfrm>
            <a:off x="274320" y="1280160"/>
            <a:ext cx="5486400" cy="228600"/>
          </a:xfrm>
          <a:prstGeom prst="rect">
            <a:avLst/>
          </a:prstGeom>
          <a:noFill/>
        </p:spPr>
        <p:txBody>
          <a:bodyPr wrap="none">
            <a:spAutoFit/>
          </a:bodyPr>
          <a:lstStyle/>
          <a:p>
            <a:pPr>
              <a:defRPr b="1" sz="1100">
                <a:solidFill>
                  <a:srgbClr val="FF6400"/>
                </a:solidFill>
              </a:defRPr>
            </a:pPr>
            <a:r>
              <a:t>TECHNICAL ENGINEERING VIEW</a:t>
            </a:r>
          </a:p>
        </p:txBody>
      </p:sp>
      <p:sp>
        <p:nvSpPr>
          <p:cNvPr id="5" name="TextBox 4"/>
          <p:cNvSpPr txBox="1"/>
          <p:nvPr/>
        </p:nvSpPr>
        <p:spPr>
          <a:xfrm>
            <a:off x="274320" y="1508760"/>
            <a:ext cx="5486400" cy="822959"/>
          </a:xfrm>
          <a:prstGeom prst="rect">
            <a:avLst/>
          </a:prstGeom>
          <a:noFill/>
        </p:spPr>
        <p:txBody>
          <a:bodyPr wrap="square">
            <a:spAutoFit/>
          </a:bodyPr>
          <a:lstStyle/>
          <a:p>
            <a:pPr>
              <a:defRPr sz="1000"/>
            </a:pPr>
            <a:r>
              <a:t>Technical optimization of Investigate the use of advanced lightweight alloys, such as specific magnesium alloys (e.g., AZ91, AM60, or newer variants), for brake caliper housings to reduce unsprung mass. This directly addresses the MG Hector's high kinetic energy due to its weight (1.7T) by improving handling and potentially reducing brake fade through better heat dissipation characteristics of certain alloys. The adaptation focuses on ensuring the chosen magnesium alloy meets the required strength, stiffness, and thermal conductivity to withstand braking forces and temperatures, while also...</a:t>
            </a:r>
          </a:p>
        </p:txBody>
      </p:sp>
      <p:sp>
        <p:nvSpPr>
          <p:cNvPr id="6" name="Rectangle 5"/>
          <p:cNvSpPr/>
          <p:nvPr/>
        </p:nvSpPr>
        <p:spPr>
          <a:xfrm>
            <a:off x="274320" y="2331720"/>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2377439"/>
            <a:ext cx="5486400" cy="228600"/>
          </a:xfrm>
          <a:prstGeom prst="rect">
            <a:avLst/>
          </a:prstGeom>
          <a:noFill/>
        </p:spPr>
        <p:txBody>
          <a:bodyPr wrap="none">
            <a:spAutoFit/>
          </a:bodyPr>
          <a:lstStyle/>
          <a:p>
            <a:pPr>
              <a:defRPr b="1" sz="1100">
                <a:solidFill>
                  <a:srgbClr val="FF6400"/>
                </a:solidFill>
              </a:defRPr>
            </a:pPr>
            <a:r>
              <a:t>MATERIAL &amp; DIMENSION SWAP</a:t>
            </a:r>
          </a:p>
        </p:txBody>
      </p:sp>
      <p:sp>
        <p:nvSpPr>
          <p:cNvPr id="8" name="TextBox 7"/>
          <p:cNvSpPr txBox="1"/>
          <p:nvPr/>
        </p:nvSpPr>
        <p:spPr>
          <a:xfrm>
            <a:off x="274320" y="2606039"/>
            <a:ext cx="5486400" cy="457200"/>
          </a:xfrm>
          <a:prstGeom prst="rect">
            <a:avLst/>
          </a:prstGeom>
          <a:noFill/>
        </p:spPr>
        <p:txBody>
          <a:bodyPr wrap="square">
            <a:spAutoFit/>
          </a:bodyPr>
          <a:lstStyle/>
          <a:p>
            <a:pPr>
              <a:defRPr sz="1000"/>
            </a:pPr>
            <a:r>
              <a:t>N/A (No material change explicitly mentioned)</a:t>
            </a:r>
            <a:br/>
            <a:r>
              <a:t>N/A (Maintains current envelope)</a:t>
            </a:r>
          </a:p>
        </p:txBody>
      </p:sp>
      <p:sp>
        <p:nvSpPr>
          <p:cNvPr id="9" name="Rectangle 8"/>
          <p:cNvSpPr/>
          <p:nvPr/>
        </p:nvSpPr>
        <p:spPr>
          <a:xfrm>
            <a:off x="274320" y="3063239"/>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 y="3108959"/>
            <a:ext cx="5486400" cy="228600"/>
          </a:xfrm>
          <a:prstGeom prst="rect">
            <a:avLst/>
          </a:prstGeom>
          <a:noFill/>
        </p:spPr>
        <p:txBody>
          <a:bodyPr wrap="none">
            <a:spAutoFit/>
          </a:bodyPr>
          <a:lstStyle/>
          <a:p>
            <a:pPr>
              <a:defRPr b="1" sz="1100">
                <a:solidFill>
                  <a:srgbClr val="FF6400"/>
                </a:solidFill>
              </a:defRPr>
            </a:pPr>
            <a:r>
              <a:t>FINANCIAL IMPACT</a:t>
            </a:r>
          </a:p>
        </p:txBody>
      </p:sp>
      <p:sp>
        <p:nvSpPr>
          <p:cNvPr id="11" name="TextBox 10"/>
          <p:cNvSpPr txBox="1"/>
          <p:nvPr/>
        </p:nvSpPr>
        <p:spPr>
          <a:xfrm>
            <a:off x="274320" y="3337559"/>
            <a:ext cx="5486400" cy="274320"/>
          </a:xfrm>
          <a:prstGeom prst="rect">
            <a:avLst/>
          </a:prstGeom>
          <a:noFill/>
        </p:spPr>
        <p:txBody>
          <a:bodyPr wrap="square">
            <a:spAutoFit/>
          </a:bodyPr>
          <a:lstStyle/>
          <a:p>
            <a:pPr>
              <a:defRPr sz="1000"/>
            </a:pPr>
            <a:r>
              <a:t>Est. Saving: INR TBD</a:t>
            </a:r>
            <a:br/>
            <a:r>
              <a:t>CAPEX: TBD</a:t>
            </a:r>
          </a:p>
        </p:txBody>
      </p:sp>
      <p:sp>
        <p:nvSpPr>
          <p:cNvPr id="12" name="Rectangle 11"/>
          <p:cNvSpPr/>
          <p:nvPr/>
        </p:nvSpPr>
        <p:spPr>
          <a:xfrm>
            <a:off x="274320" y="3611879"/>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4320" y="3657599"/>
            <a:ext cx="5486400" cy="228600"/>
          </a:xfrm>
          <a:prstGeom prst="rect">
            <a:avLst/>
          </a:prstGeom>
          <a:noFill/>
        </p:spPr>
        <p:txBody>
          <a:bodyPr wrap="none">
            <a:spAutoFit/>
          </a:bodyPr>
          <a:lstStyle/>
          <a:p>
            <a:pPr>
              <a:defRPr b="1" sz="1100">
                <a:solidFill>
                  <a:srgbClr val="FF6400"/>
                </a:solidFill>
              </a:defRPr>
            </a:pPr>
            <a:r>
              <a:t>VALIDATION &amp; RISKS</a:t>
            </a:r>
          </a:p>
        </p:txBody>
      </p:sp>
      <p:sp>
        <p:nvSpPr>
          <p:cNvPr id="14" name="TextBox 13"/>
          <p:cNvSpPr txBox="1"/>
          <p:nvPr/>
        </p:nvSpPr>
        <p:spPr>
          <a:xfrm>
            <a:off x="274320" y="3886200"/>
            <a:ext cx="5486400" cy="1371600"/>
          </a:xfrm>
          <a:prstGeom prst="rect">
            <a:avLst/>
          </a:prstGeom>
          <a:noFill/>
        </p:spPr>
        <p:txBody>
          <a:bodyPr wrap="square">
            <a:spAutoFit/>
          </a:bodyPr>
          <a:lstStyle/>
          <a:p>
            <a:pPr>
              <a:defRPr sz="1000"/>
            </a:pPr>
            <a:r>
              <a:t>VALIDATION:</a:t>
            </a:r>
            <a:br/>
            <a:r>
              <a:t>• DVP&amp;R Level 2 Testing</a:t>
            </a:r>
            <a:br/>
            <a:r>
              <a:t>• Environmental Aging (1000 hrs)</a:t>
            </a:r>
            <a:br/>
            <a:r>
              <a:t>• Head Impact Criterion (FMVSS)</a:t>
            </a:r>
            <a:br/>
            <a:br/>
            <a:r>
              <a:t>RISKS:</a:t>
            </a:r>
            <a:br/>
            <a:r>
              <a:t>⚠ NVH performance degradation</a:t>
            </a:r>
            <a:br/>
            <a:r>
              <a:t>⚠ Thermal durability limits</a:t>
            </a:r>
            <a:br/>
            <a:r>
              <a:t>⚠ Aesthetic fit &amp; finish gap</a:t>
            </a:r>
          </a:p>
        </p:txBody>
      </p:sp>
      <p:sp>
        <p:nvSpPr>
          <p:cNvPr id="15" name="Rectangle 14"/>
          <p:cNvSpPr/>
          <p:nvPr/>
        </p:nvSpPr>
        <p:spPr>
          <a:xfrm>
            <a:off x="274320" y="5257800"/>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4320" y="5303520"/>
            <a:ext cx="5486400" cy="228600"/>
          </a:xfrm>
          <a:prstGeom prst="rect">
            <a:avLst/>
          </a:prstGeom>
          <a:noFill/>
        </p:spPr>
        <p:txBody>
          <a:bodyPr wrap="none">
            <a:spAutoFit/>
          </a:bodyPr>
          <a:lstStyle/>
          <a:p>
            <a:pPr>
              <a:defRPr b="1" sz="1100">
                <a:solidFill>
                  <a:srgbClr val="FF6400"/>
                </a:solidFill>
              </a:defRPr>
            </a:pPr>
            <a:r>
              <a:t>SUPPLY CHAIN</a:t>
            </a:r>
          </a:p>
        </p:txBody>
      </p:sp>
      <p:sp>
        <p:nvSpPr>
          <p:cNvPr id="17" name="TextBox 16"/>
          <p:cNvSpPr txBox="1"/>
          <p:nvPr/>
        </p:nvSpPr>
        <p:spPr>
          <a:xfrm>
            <a:off x="274320" y="5532120"/>
            <a:ext cx="5486400" cy="457200"/>
          </a:xfrm>
          <a:prstGeom prst="rect">
            <a:avLst/>
          </a:prstGeom>
          <a:noFill/>
        </p:spPr>
        <p:txBody>
          <a:bodyPr wrap="square">
            <a:spAutoFit/>
          </a:bodyPr>
          <a:lstStyle/>
          <a:p>
            <a:pPr>
              <a:defRPr sz="1000"/>
            </a:pPr>
            <a:r>
              <a:t>• Supplier: Consolidation to single-source Tier 1</a:t>
            </a:r>
            <a:br/>
            <a:r>
              <a:t>• Tooling: 15% reduction in logistics overhead</a:t>
            </a:r>
          </a:p>
        </p:txBody>
      </p:sp>
      <p:sp>
        <p:nvSpPr>
          <p:cNvPr id="18" name="Rectangle 17"/>
          <p:cNvSpPr/>
          <p:nvPr/>
        </p:nvSpPr>
        <p:spPr>
          <a:xfrm>
            <a:off x="274320" y="5989320"/>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17920" y="1005840"/>
            <a:ext cx="5699455" cy="256032"/>
          </a:xfrm>
          <a:prstGeom prst="rect">
            <a:avLst/>
          </a:prstGeom>
          <a:noFill/>
        </p:spPr>
        <p:txBody>
          <a:bodyPr wrap="square">
            <a:spAutoFit/>
          </a:bodyPr>
          <a:lstStyle/>
          <a:p>
            <a:pPr algn="ctr">
              <a:defRPr b="1" sz="1100">
                <a:solidFill>
                  <a:srgbClr val="003366"/>
                </a:solidFill>
              </a:defRPr>
            </a:pPr>
            <a:r>
              <a:t>Current Scenario</a:t>
            </a:r>
          </a:p>
        </p:txBody>
      </p:sp>
      <p:pic>
        <p:nvPicPr>
          <p:cNvPr id="20" name="Picture 19" descr="27.jpg"/>
          <p:cNvPicPr>
            <a:picLocks noChangeAspect="1"/>
          </p:cNvPicPr>
          <p:nvPr/>
        </p:nvPicPr>
        <p:blipFill>
          <a:blip r:embed="rId2"/>
          <a:stretch>
            <a:fillRect/>
          </a:stretch>
        </p:blipFill>
        <p:spPr>
          <a:xfrm>
            <a:off x="6217920" y="1280160"/>
            <a:ext cx="5699455" cy="2377440"/>
          </a:xfrm>
          <a:prstGeom prst="rect">
            <a:avLst/>
          </a:prstGeom>
          <a:ln w="12700">
            <a:solidFill>
              <a:srgbClr val="C8C8C8"/>
            </a:solidFill>
          </a:ln>
        </p:spPr>
      </p:pic>
      <p:sp>
        <p:nvSpPr>
          <p:cNvPr id="21" name="TextBox 20"/>
          <p:cNvSpPr txBox="1"/>
          <p:nvPr/>
        </p:nvSpPr>
        <p:spPr>
          <a:xfrm>
            <a:off x="6217920" y="3840480"/>
            <a:ext cx="5699455" cy="256032"/>
          </a:xfrm>
          <a:prstGeom prst="rect">
            <a:avLst/>
          </a:prstGeom>
          <a:noFill/>
        </p:spPr>
        <p:txBody>
          <a:bodyPr wrap="square">
            <a:spAutoFit/>
          </a:bodyPr>
          <a:lstStyle/>
          <a:p>
            <a:pPr algn="ctr">
              <a:defRPr b="1" sz="1100">
                <a:solidFill>
                  <a:srgbClr val="003366"/>
                </a:solidFill>
              </a:defRPr>
            </a:pPr>
            <a:r>
              <a:t>Proposal / Competitor</a:t>
            </a:r>
          </a:p>
        </p:txBody>
      </p:sp>
      <p:pic>
        <p:nvPicPr>
          <p:cNvPr id="22" name="Picture 21" descr="8.jpg"/>
          <p:cNvPicPr>
            <a:picLocks noChangeAspect="1"/>
          </p:cNvPicPr>
          <p:nvPr/>
        </p:nvPicPr>
        <p:blipFill>
          <a:blip r:embed="rId3"/>
          <a:stretch>
            <a:fillRect/>
          </a:stretch>
        </p:blipFill>
        <p:spPr>
          <a:xfrm>
            <a:off x="6217920" y="4114800"/>
            <a:ext cx="5699455" cy="2377440"/>
          </a:xfrm>
          <a:prstGeom prst="rect">
            <a:avLst/>
          </a:prstGeom>
          <a:ln w="12700">
            <a:solidFill>
              <a:srgbClr val="C8C8C8"/>
            </a:solidFill>
          </a:ln>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82880"/>
            <a:ext cx="8534095" cy="914400"/>
          </a:xfrm>
          <a:prstGeom prst="rect">
            <a:avLst/>
          </a:prstGeom>
          <a:noFill/>
        </p:spPr>
        <p:txBody>
          <a:bodyPr wrap="square">
            <a:spAutoFit/>
          </a:bodyPr>
          <a:lstStyle/>
          <a:p>
            <a:pPr>
              <a:defRPr sz="2400" b="1">
                <a:solidFill>
                  <a:srgbClr val="003366"/>
                </a:solidFill>
              </a:defRPr>
            </a:pPr>
            <a:r>
              <a:t>#13: Optimize the dust shield gauge and material for the MG Hector's brake assembly. While dust shields are typically made of steel, exploring thinner gauge, higher-strength steel or even a coated aluminum alloy could reduce weight and material cost. This proposal leverages the 'Design for Manufacturing Cost Reduction' trend by focusing on a less critical component's material and thickness. The adaptation to the MG Hector involves ensuring the chosen material and gauge still provide adequate protection against road debris and dust ingress, maintaining the required durability without compromising safety or increasing the risk of corrosion, considering the vehicle's segment and expected lifespan. The 'no rear IRS changes' constraint is respected as this focuses on the front braking system components.</a:t>
            </a:r>
          </a:p>
        </p:txBody>
      </p:sp>
      <p:sp>
        <p:nvSpPr>
          <p:cNvPr id="3" name="TextBox 2"/>
          <p:cNvSpPr txBox="1"/>
          <p:nvPr/>
        </p:nvSpPr>
        <p:spPr>
          <a:xfrm>
            <a:off x="10088575" y="182880"/>
            <a:ext cx="1828800" cy="457200"/>
          </a:xfrm>
          <a:prstGeom prst="rect">
            <a:avLst/>
          </a:prstGeom>
          <a:solidFill>
            <a:srgbClr val="008080"/>
          </a:solidFill>
        </p:spPr>
        <p:txBody>
          <a:bodyPr wrap="none">
            <a:spAutoFit/>
          </a:bodyPr>
          <a:lstStyle/>
          <a:p>
            <a:pPr algn="ctr">
              <a:defRPr>
                <a:solidFill>
                  <a:srgbClr val="FFFFFF"/>
                </a:solidFill>
              </a:defRPr>
            </a:pPr>
            <a:r>
              <a:t>WEB SOURCED</a:t>
            </a:r>
          </a:p>
        </p:txBody>
      </p:sp>
      <p:sp>
        <p:nvSpPr>
          <p:cNvPr id="4" name="TextBox 3"/>
          <p:cNvSpPr txBox="1"/>
          <p:nvPr/>
        </p:nvSpPr>
        <p:spPr>
          <a:xfrm>
            <a:off x="274320" y="1280160"/>
            <a:ext cx="5486400" cy="228600"/>
          </a:xfrm>
          <a:prstGeom prst="rect">
            <a:avLst/>
          </a:prstGeom>
          <a:noFill/>
        </p:spPr>
        <p:txBody>
          <a:bodyPr wrap="none">
            <a:spAutoFit/>
          </a:bodyPr>
          <a:lstStyle/>
          <a:p>
            <a:pPr>
              <a:defRPr b="1" sz="1100">
                <a:solidFill>
                  <a:srgbClr val="FF6400"/>
                </a:solidFill>
              </a:defRPr>
            </a:pPr>
            <a:r>
              <a:t>TECHNICAL ENGINEERING VIEW</a:t>
            </a:r>
          </a:p>
        </p:txBody>
      </p:sp>
      <p:sp>
        <p:nvSpPr>
          <p:cNvPr id="5" name="TextBox 4"/>
          <p:cNvSpPr txBox="1"/>
          <p:nvPr/>
        </p:nvSpPr>
        <p:spPr>
          <a:xfrm>
            <a:off x="274320" y="1508760"/>
            <a:ext cx="5486400" cy="822959"/>
          </a:xfrm>
          <a:prstGeom prst="rect">
            <a:avLst/>
          </a:prstGeom>
          <a:noFill/>
        </p:spPr>
        <p:txBody>
          <a:bodyPr wrap="square">
            <a:spAutoFit/>
          </a:bodyPr>
          <a:lstStyle/>
          <a:p>
            <a:pPr>
              <a:defRPr sz="1000"/>
            </a:pPr>
            <a:r>
              <a:t>Technical optimization of Optimize the dust shield gauge and material for the MG Hector's brake assembly. While dust shields are typically made of steel, exploring thinner gauge, higher-strength steel or even a coated aluminum alloy could reduce weight and material cost. This proposal leverages the 'Design for Manufacturing Cost Reduction' trend by focusing on a less critical component's material and thickness. The adaptation to the MG Hector involves ensuring the chosen material and gauge still provide adequate protection against road debris and dust ingress, maintaining the required durab...</a:t>
            </a:r>
          </a:p>
        </p:txBody>
      </p:sp>
      <p:sp>
        <p:nvSpPr>
          <p:cNvPr id="6" name="Rectangle 5"/>
          <p:cNvSpPr/>
          <p:nvPr/>
        </p:nvSpPr>
        <p:spPr>
          <a:xfrm>
            <a:off x="274320" y="2331720"/>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2377439"/>
            <a:ext cx="5486400" cy="228600"/>
          </a:xfrm>
          <a:prstGeom prst="rect">
            <a:avLst/>
          </a:prstGeom>
          <a:noFill/>
        </p:spPr>
        <p:txBody>
          <a:bodyPr wrap="none">
            <a:spAutoFit/>
          </a:bodyPr>
          <a:lstStyle/>
          <a:p>
            <a:pPr>
              <a:defRPr b="1" sz="1100">
                <a:solidFill>
                  <a:srgbClr val="FF6400"/>
                </a:solidFill>
              </a:defRPr>
            </a:pPr>
            <a:r>
              <a:t>MATERIAL &amp; DIMENSION SWAP</a:t>
            </a:r>
          </a:p>
        </p:txBody>
      </p:sp>
      <p:sp>
        <p:nvSpPr>
          <p:cNvPr id="8" name="TextBox 7"/>
          <p:cNvSpPr txBox="1"/>
          <p:nvPr/>
        </p:nvSpPr>
        <p:spPr>
          <a:xfrm>
            <a:off x="274320" y="2606039"/>
            <a:ext cx="5486400" cy="457200"/>
          </a:xfrm>
          <a:prstGeom prst="rect">
            <a:avLst/>
          </a:prstGeom>
          <a:noFill/>
        </p:spPr>
        <p:txBody>
          <a:bodyPr wrap="square">
            <a:spAutoFit/>
          </a:bodyPr>
          <a:lstStyle/>
          <a:p>
            <a:pPr>
              <a:defRPr sz="1000"/>
            </a:pPr>
            <a:r>
              <a:t>Optimize the dust shield gauge and material for the MG Hector's brake assembly</a:t>
            </a:r>
            <a:br/>
            <a:r>
              <a:t>N/A (Maintains current envelope)</a:t>
            </a:r>
          </a:p>
        </p:txBody>
      </p:sp>
      <p:sp>
        <p:nvSpPr>
          <p:cNvPr id="9" name="Rectangle 8"/>
          <p:cNvSpPr/>
          <p:nvPr/>
        </p:nvSpPr>
        <p:spPr>
          <a:xfrm>
            <a:off x="274320" y="3063239"/>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 y="3108959"/>
            <a:ext cx="5486400" cy="228600"/>
          </a:xfrm>
          <a:prstGeom prst="rect">
            <a:avLst/>
          </a:prstGeom>
          <a:noFill/>
        </p:spPr>
        <p:txBody>
          <a:bodyPr wrap="none">
            <a:spAutoFit/>
          </a:bodyPr>
          <a:lstStyle/>
          <a:p>
            <a:pPr>
              <a:defRPr b="1" sz="1100">
                <a:solidFill>
                  <a:srgbClr val="FF6400"/>
                </a:solidFill>
              </a:defRPr>
            </a:pPr>
            <a:r>
              <a:t>FINANCIAL IMPACT</a:t>
            </a:r>
          </a:p>
        </p:txBody>
      </p:sp>
      <p:sp>
        <p:nvSpPr>
          <p:cNvPr id="11" name="TextBox 10"/>
          <p:cNvSpPr txBox="1"/>
          <p:nvPr/>
        </p:nvSpPr>
        <p:spPr>
          <a:xfrm>
            <a:off x="274320" y="3337559"/>
            <a:ext cx="5486400" cy="274320"/>
          </a:xfrm>
          <a:prstGeom prst="rect">
            <a:avLst/>
          </a:prstGeom>
          <a:noFill/>
        </p:spPr>
        <p:txBody>
          <a:bodyPr wrap="square">
            <a:spAutoFit/>
          </a:bodyPr>
          <a:lstStyle/>
          <a:p>
            <a:pPr>
              <a:defRPr sz="1000"/>
            </a:pPr>
            <a:r>
              <a:t>Est. Saving: INR TBD</a:t>
            </a:r>
            <a:br/>
            <a:r>
              <a:t>CAPEX: TBD</a:t>
            </a:r>
          </a:p>
        </p:txBody>
      </p:sp>
      <p:sp>
        <p:nvSpPr>
          <p:cNvPr id="12" name="Rectangle 11"/>
          <p:cNvSpPr/>
          <p:nvPr/>
        </p:nvSpPr>
        <p:spPr>
          <a:xfrm>
            <a:off x="274320" y="3611879"/>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4320" y="3657599"/>
            <a:ext cx="5486400" cy="228600"/>
          </a:xfrm>
          <a:prstGeom prst="rect">
            <a:avLst/>
          </a:prstGeom>
          <a:noFill/>
        </p:spPr>
        <p:txBody>
          <a:bodyPr wrap="none">
            <a:spAutoFit/>
          </a:bodyPr>
          <a:lstStyle/>
          <a:p>
            <a:pPr>
              <a:defRPr b="1" sz="1100">
                <a:solidFill>
                  <a:srgbClr val="FF6400"/>
                </a:solidFill>
              </a:defRPr>
            </a:pPr>
            <a:r>
              <a:t>VALIDATION &amp; RISKS</a:t>
            </a:r>
          </a:p>
        </p:txBody>
      </p:sp>
      <p:sp>
        <p:nvSpPr>
          <p:cNvPr id="14" name="TextBox 13"/>
          <p:cNvSpPr txBox="1"/>
          <p:nvPr/>
        </p:nvSpPr>
        <p:spPr>
          <a:xfrm>
            <a:off x="274320" y="3886200"/>
            <a:ext cx="5486400" cy="1371600"/>
          </a:xfrm>
          <a:prstGeom prst="rect">
            <a:avLst/>
          </a:prstGeom>
          <a:noFill/>
        </p:spPr>
        <p:txBody>
          <a:bodyPr wrap="square">
            <a:spAutoFit/>
          </a:bodyPr>
          <a:lstStyle/>
          <a:p>
            <a:pPr>
              <a:defRPr sz="1000"/>
            </a:pPr>
            <a:r>
              <a:t>VALIDATION:</a:t>
            </a:r>
            <a:br/>
            <a:r>
              <a:t>• DVP&amp;R Level 2 Testing</a:t>
            </a:r>
            <a:br/>
            <a:r>
              <a:t>• Environmental Aging (1000 hrs)</a:t>
            </a:r>
            <a:br/>
            <a:r>
              <a:t>• Head Impact Criterion (FMVSS)</a:t>
            </a:r>
            <a:br/>
            <a:br/>
            <a:r>
              <a:t>RISKS:</a:t>
            </a:r>
            <a:br/>
            <a:r>
              <a:t>⚠ NVH performance degradation</a:t>
            </a:r>
            <a:br/>
            <a:r>
              <a:t>⚠ Thermal durability limits</a:t>
            </a:r>
            <a:br/>
            <a:r>
              <a:t>⚠ Aesthetic fit &amp; finish gap</a:t>
            </a:r>
          </a:p>
        </p:txBody>
      </p:sp>
      <p:sp>
        <p:nvSpPr>
          <p:cNvPr id="15" name="Rectangle 14"/>
          <p:cNvSpPr/>
          <p:nvPr/>
        </p:nvSpPr>
        <p:spPr>
          <a:xfrm>
            <a:off x="274320" y="5257800"/>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4320" y="5303520"/>
            <a:ext cx="5486400" cy="228600"/>
          </a:xfrm>
          <a:prstGeom prst="rect">
            <a:avLst/>
          </a:prstGeom>
          <a:noFill/>
        </p:spPr>
        <p:txBody>
          <a:bodyPr wrap="none">
            <a:spAutoFit/>
          </a:bodyPr>
          <a:lstStyle/>
          <a:p>
            <a:pPr>
              <a:defRPr b="1" sz="1100">
                <a:solidFill>
                  <a:srgbClr val="FF6400"/>
                </a:solidFill>
              </a:defRPr>
            </a:pPr>
            <a:r>
              <a:t>SUPPLY CHAIN</a:t>
            </a:r>
          </a:p>
        </p:txBody>
      </p:sp>
      <p:sp>
        <p:nvSpPr>
          <p:cNvPr id="17" name="TextBox 16"/>
          <p:cNvSpPr txBox="1"/>
          <p:nvPr/>
        </p:nvSpPr>
        <p:spPr>
          <a:xfrm>
            <a:off x="274320" y="5532120"/>
            <a:ext cx="5486400" cy="457200"/>
          </a:xfrm>
          <a:prstGeom prst="rect">
            <a:avLst/>
          </a:prstGeom>
          <a:noFill/>
        </p:spPr>
        <p:txBody>
          <a:bodyPr wrap="square">
            <a:spAutoFit/>
          </a:bodyPr>
          <a:lstStyle/>
          <a:p>
            <a:pPr>
              <a:defRPr sz="1000"/>
            </a:pPr>
            <a:r>
              <a:t>• Supplier: Consolidation to single-source Tier 1</a:t>
            </a:r>
            <a:br/>
            <a:r>
              <a:t>• Tooling: 15% reduction in logistics overhead</a:t>
            </a:r>
          </a:p>
        </p:txBody>
      </p:sp>
      <p:sp>
        <p:nvSpPr>
          <p:cNvPr id="18" name="Rectangle 17"/>
          <p:cNvSpPr/>
          <p:nvPr/>
        </p:nvSpPr>
        <p:spPr>
          <a:xfrm>
            <a:off x="274320" y="5989320"/>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17920" y="1005840"/>
            <a:ext cx="5699455" cy="256032"/>
          </a:xfrm>
          <a:prstGeom prst="rect">
            <a:avLst/>
          </a:prstGeom>
          <a:noFill/>
        </p:spPr>
        <p:txBody>
          <a:bodyPr wrap="square">
            <a:spAutoFit/>
          </a:bodyPr>
          <a:lstStyle/>
          <a:p>
            <a:pPr algn="ctr">
              <a:defRPr b="1" sz="1100">
                <a:solidFill>
                  <a:srgbClr val="003366"/>
                </a:solidFill>
              </a:defRPr>
            </a:pPr>
            <a:r>
              <a:t>Current Scenario</a:t>
            </a:r>
          </a:p>
        </p:txBody>
      </p:sp>
      <p:pic>
        <p:nvPicPr>
          <p:cNvPr id="20" name="Picture 19" descr="33.jpg"/>
          <p:cNvPicPr>
            <a:picLocks noChangeAspect="1"/>
          </p:cNvPicPr>
          <p:nvPr/>
        </p:nvPicPr>
        <p:blipFill>
          <a:blip r:embed="rId2"/>
          <a:stretch>
            <a:fillRect/>
          </a:stretch>
        </p:blipFill>
        <p:spPr>
          <a:xfrm>
            <a:off x="6217920" y="1280160"/>
            <a:ext cx="5699455" cy="2377440"/>
          </a:xfrm>
          <a:prstGeom prst="rect">
            <a:avLst/>
          </a:prstGeom>
          <a:ln w="12700">
            <a:solidFill>
              <a:srgbClr val="C8C8C8"/>
            </a:solidFill>
          </a:ln>
        </p:spPr>
      </p:pic>
      <p:sp>
        <p:nvSpPr>
          <p:cNvPr id="21" name="TextBox 20"/>
          <p:cNvSpPr txBox="1"/>
          <p:nvPr/>
        </p:nvSpPr>
        <p:spPr>
          <a:xfrm>
            <a:off x="6217920" y="3840480"/>
            <a:ext cx="5699455" cy="256032"/>
          </a:xfrm>
          <a:prstGeom prst="rect">
            <a:avLst/>
          </a:prstGeom>
          <a:noFill/>
        </p:spPr>
        <p:txBody>
          <a:bodyPr wrap="square">
            <a:spAutoFit/>
          </a:bodyPr>
          <a:lstStyle/>
          <a:p>
            <a:pPr algn="ctr">
              <a:defRPr b="1" sz="1100">
                <a:solidFill>
                  <a:srgbClr val="003366"/>
                </a:solidFill>
              </a:defRPr>
            </a:pPr>
            <a:r>
              <a:t>Proposal / Competitor</a:t>
            </a:r>
          </a:p>
        </p:txBody>
      </p:sp>
      <p:pic>
        <p:nvPicPr>
          <p:cNvPr id="22" name="Picture 21" descr="8.jpg"/>
          <p:cNvPicPr>
            <a:picLocks noChangeAspect="1"/>
          </p:cNvPicPr>
          <p:nvPr/>
        </p:nvPicPr>
        <p:blipFill>
          <a:blip r:embed="rId3"/>
          <a:stretch>
            <a:fillRect/>
          </a:stretch>
        </p:blipFill>
        <p:spPr>
          <a:xfrm>
            <a:off x="6217920" y="4114800"/>
            <a:ext cx="5699455" cy="2377440"/>
          </a:xfrm>
          <a:prstGeom prst="rect">
            <a:avLst/>
          </a:prstGeom>
          <a:ln w="12700">
            <a:solidFill>
              <a:srgbClr val="C8C8C8"/>
            </a:solidFill>
          </a:ln>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82880"/>
            <a:ext cx="8534095" cy="914400"/>
          </a:xfrm>
          <a:prstGeom prst="rect">
            <a:avLst/>
          </a:prstGeom>
          <a:noFill/>
        </p:spPr>
        <p:txBody>
          <a:bodyPr wrap="square">
            <a:spAutoFit/>
          </a:bodyPr>
          <a:lstStyle/>
          <a:p>
            <a:pPr>
              <a:defRPr sz="2400" b="1">
                <a:solidFill>
                  <a:srgbClr val="003366"/>
                </a:solidFill>
              </a:defRPr>
            </a:pPr>
            <a:r>
              <a:t>#14: Develop a cost-optimized brake rotor manufacturing process by integrating advanced data analytics into process planning. This proposal draws from 'Process Optimization in Process Planning using a Multidimensional...' and 'Cost Optimization and Efficiency Improvement in Brake Caliper Manufacturing'. For the MG Hector, this would involve analyzing historical manufacturing data for brake rotors to identify inefficiencies, optimize machining parameters, and reduce scrap rates. The focus would be on maximizing throughput and minimizing energy consumption during casting and machining, without compromising rotor thickness or thermal performance. The goal is to achieve cost reductions through process improvements rather than fundamental material changes, respecting tooling CAPEX limitations.</a:t>
            </a:r>
          </a:p>
        </p:txBody>
      </p:sp>
      <p:sp>
        <p:nvSpPr>
          <p:cNvPr id="3" name="TextBox 2"/>
          <p:cNvSpPr txBox="1"/>
          <p:nvPr/>
        </p:nvSpPr>
        <p:spPr>
          <a:xfrm>
            <a:off x="10088575" y="182880"/>
            <a:ext cx="1828800" cy="457200"/>
          </a:xfrm>
          <a:prstGeom prst="rect">
            <a:avLst/>
          </a:prstGeom>
          <a:solidFill>
            <a:srgbClr val="008080"/>
          </a:solidFill>
        </p:spPr>
        <p:txBody>
          <a:bodyPr wrap="none">
            <a:spAutoFit/>
          </a:bodyPr>
          <a:lstStyle/>
          <a:p>
            <a:pPr algn="ctr">
              <a:defRPr>
                <a:solidFill>
                  <a:srgbClr val="FFFFFF"/>
                </a:solidFill>
              </a:defRPr>
            </a:pPr>
            <a:r>
              <a:t>WEB SOURCED</a:t>
            </a:r>
          </a:p>
        </p:txBody>
      </p:sp>
      <p:sp>
        <p:nvSpPr>
          <p:cNvPr id="4" name="TextBox 3"/>
          <p:cNvSpPr txBox="1"/>
          <p:nvPr/>
        </p:nvSpPr>
        <p:spPr>
          <a:xfrm>
            <a:off x="274320" y="1280160"/>
            <a:ext cx="5486400" cy="228600"/>
          </a:xfrm>
          <a:prstGeom prst="rect">
            <a:avLst/>
          </a:prstGeom>
          <a:noFill/>
        </p:spPr>
        <p:txBody>
          <a:bodyPr wrap="none">
            <a:spAutoFit/>
          </a:bodyPr>
          <a:lstStyle/>
          <a:p>
            <a:pPr>
              <a:defRPr b="1" sz="1100">
                <a:solidFill>
                  <a:srgbClr val="FF6400"/>
                </a:solidFill>
              </a:defRPr>
            </a:pPr>
            <a:r>
              <a:t>TECHNICAL ENGINEERING VIEW</a:t>
            </a:r>
          </a:p>
        </p:txBody>
      </p:sp>
      <p:sp>
        <p:nvSpPr>
          <p:cNvPr id="5" name="TextBox 4"/>
          <p:cNvSpPr txBox="1"/>
          <p:nvPr/>
        </p:nvSpPr>
        <p:spPr>
          <a:xfrm>
            <a:off x="274320" y="1508760"/>
            <a:ext cx="5486400" cy="822959"/>
          </a:xfrm>
          <a:prstGeom prst="rect">
            <a:avLst/>
          </a:prstGeom>
          <a:noFill/>
        </p:spPr>
        <p:txBody>
          <a:bodyPr wrap="square">
            <a:spAutoFit/>
          </a:bodyPr>
          <a:lstStyle/>
          <a:p>
            <a:pPr>
              <a:defRPr sz="1000"/>
            </a:pPr>
            <a:r>
              <a:t>Technical optimization of Develop a cost-optimized brake rotor manufacturing process by integrating advanced data analytics into process planning. This proposal draws from 'Process Optimization in Process Planning using a Multidimensional...' and 'Cost Optimization and Efficiency Improvement in Brake Caliper Manufacturing'. For the MG Hector, this would involve analyzing historical manufacturing data for brake rotors to identify inefficiencies, optimize machining parameters, and reduce scrap rates. The focus would be on maximizing throughput and minimizing energy consumption during casting...</a:t>
            </a:r>
          </a:p>
        </p:txBody>
      </p:sp>
      <p:sp>
        <p:nvSpPr>
          <p:cNvPr id="6" name="Rectangle 5"/>
          <p:cNvSpPr/>
          <p:nvPr/>
        </p:nvSpPr>
        <p:spPr>
          <a:xfrm>
            <a:off x="274320" y="2331720"/>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2377439"/>
            <a:ext cx="5486400" cy="228600"/>
          </a:xfrm>
          <a:prstGeom prst="rect">
            <a:avLst/>
          </a:prstGeom>
          <a:noFill/>
        </p:spPr>
        <p:txBody>
          <a:bodyPr wrap="none">
            <a:spAutoFit/>
          </a:bodyPr>
          <a:lstStyle/>
          <a:p>
            <a:pPr>
              <a:defRPr b="1" sz="1100">
                <a:solidFill>
                  <a:srgbClr val="FF6400"/>
                </a:solidFill>
              </a:defRPr>
            </a:pPr>
            <a:r>
              <a:t>MATERIAL &amp; DIMENSION SWAP</a:t>
            </a:r>
          </a:p>
        </p:txBody>
      </p:sp>
      <p:sp>
        <p:nvSpPr>
          <p:cNvPr id="8" name="TextBox 7"/>
          <p:cNvSpPr txBox="1"/>
          <p:nvPr/>
        </p:nvSpPr>
        <p:spPr>
          <a:xfrm>
            <a:off x="274320" y="2606039"/>
            <a:ext cx="5486400" cy="457200"/>
          </a:xfrm>
          <a:prstGeom prst="rect">
            <a:avLst/>
          </a:prstGeom>
          <a:noFill/>
        </p:spPr>
        <p:txBody>
          <a:bodyPr wrap="square">
            <a:spAutoFit/>
          </a:bodyPr>
          <a:lstStyle/>
          <a:p>
            <a:pPr>
              <a:defRPr sz="1000"/>
            </a:pPr>
            <a:r>
              <a:t>The goal is to achieve cost reductions through process improvements rather than fundamental material</a:t>
            </a:r>
            <a:br/>
            <a:r>
              <a:t>N/A (Maintains current envelope)</a:t>
            </a:r>
          </a:p>
        </p:txBody>
      </p:sp>
      <p:sp>
        <p:nvSpPr>
          <p:cNvPr id="9" name="Rectangle 8"/>
          <p:cNvSpPr/>
          <p:nvPr/>
        </p:nvSpPr>
        <p:spPr>
          <a:xfrm>
            <a:off x="274320" y="3063239"/>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 y="3108959"/>
            <a:ext cx="5486400" cy="228600"/>
          </a:xfrm>
          <a:prstGeom prst="rect">
            <a:avLst/>
          </a:prstGeom>
          <a:noFill/>
        </p:spPr>
        <p:txBody>
          <a:bodyPr wrap="none">
            <a:spAutoFit/>
          </a:bodyPr>
          <a:lstStyle/>
          <a:p>
            <a:pPr>
              <a:defRPr b="1" sz="1100">
                <a:solidFill>
                  <a:srgbClr val="FF6400"/>
                </a:solidFill>
              </a:defRPr>
            </a:pPr>
            <a:r>
              <a:t>FINANCIAL IMPACT</a:t>
            </a:r>
          </a:p>
        </p:txBody>
      </p:sp>
      <p:sp>
        <p:nvSpPr>
          <p:cNvPr id="11" name="TextBox 10"/>
          <p:cNvSpPr txBox="1"/>
          <p:nvPr/>
        </p:nvSpPr>
        <p:spPr>
          <a:xfrm>
            <a:off x="274320" y="3337559"/>
            <a:ext cx="5486400" cy="274320"/>
          </a:xfrm>
          <a:prstGeom prst="rect">
            <a:avLst/>
          </a:prstGeom>
          <a:noFill/>
        </p:spPr>
        <p:txBody>
          <a:bodyPr wrap="square">
            <a:spAutoFit/>
          </a:bodyPr>
          <a:lstStyle/>
          <a:p>
            <a:pPr>
              <a:defRPr sz="1000"/>
            </a:pPr>
            <a:r>
              <a:t>Est. Saving: INR TBD</a:t>
            </a:r>
            <a:br/>
            <a:r>
              <a:t>CAPEX: TBD</a:t>
            </a:r>
          </a:p>
        </p:txBody>
      </p:sp>
      <p:sp>
        <p:nvSpPr>
          <p:cNvPr id="12" name="Rectangle 11"/>
          <p:cNvSpPr/>
          <p:nvPr/>
        </p:nvSpPr>
        <p:spPr>
          <a:xfrm>
            <a:off x="274320" y="3611879"/>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4320" y="3657599"/>
            <a:ext cx="5486400" cy="228600"/>
          </a:xfrm>
          <a:prstGeom prst="rect">
            <a:avLst/>
          </a:prstGeom>
          <a:noFill/>
        </p:spPr>
        <p:txBody>
          <a:bodyPr wrap="none">
            <a:spAutoFit/>
          </a:bodyPr>
          <a:lstStyle/>
          <a:p>
            <a:pPr>
              <a:defRPr b="1" sz="1100">
                <a:solidFill>
                  <a:srgbClr val="FF6400"/>
                </a:solidFill>
              </a:defRPr>
            </a:pPr>
            <a:r>
              <a:t>VALIDATION &amp; RISKS</a:t>
            </a:r>
          </a:p>
        </p:txBody>
      </p:sp>
      <p:sp>
        <p:nvSpPr>
          <p:cNvPr id="14" name="TextBox 13"/>
          <p:cNvSpPr txBox="1"/>
          <p:nvPr/>
        </p:nvSpPr>
        <p:spPr>
          <a:xfrm>
            <a:off x="274320" y="3886200"/>
            <a:ext cx="5486400" cy="1371600"/>
          </a:xfrm>
          <a:prstGeom prst="rect">
            <a:avLst/>
          </a:prstGeom>
          <a:noFill/>
        </p:spPr>
        <p:txBody>
          <a:bodyPr wrap="square">
            <a:spAutoFit/>
          </a:bodyPr>
          <a:lstStyle/>
          <a:p>
            <a:pPr>
              <a:defRPr sz="1000"/>
            </a:pPr>
            <a:r>
              <a:t>VALIDATION:</a:t>
            </a:r>
            <a:br/>
            <a:r>
              <a:t>• DVP&amp;R Level 2 Testing</a:t>
            </a:r>
            <a:br/>
            <a:r>
              <a:t>• Environmental Aging (1000 hrs)</a:t>
            </a:r>
            <a:br/>
            <a:r>
              <a:t>• Head Impact Criterion (FMVSS)</a:t>
            </a:r>
            <a:br/>
            <a:br/>
            <a:r>
              <a:t>RISKS:</a:t>
            </a:r>
            <a:br/>
            <a:r>
              <a:t>⚠ NVH performance degradation</a:t>
            </a:r>
            <a:br/>
            <a:r>
              <a:t>⚠ Thermal durability limits</a:t>
            </a:r>
            <a:br/>
            <a:r>
              <a:t>⚠ Aesthetic fit &amp; finish gap</a:t>
            </a:r>
          </a:p>
        </p:txBody>
      </p:sp>
      <p:sp>
        <p:nvSpPr>
          <p:cNvPr id="15" name="Rectangle 14"/>
          <p:cNvSpPr/>
          <p:nvPr/>
        </p:nvSpPr>
        <p:spPr>
          <a:xfrm>
            <a:off x="274320" y="5257800"/>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4320" y="5303520"/>
            <a:ext cx="5486400" cy="228600"/>
          </a:xfrm>
          <a:prstGeom prst="rect">
            <a:avLst/>
          </a:prstGeom>
          <a:noFill/>
        </p:spPr>
        <p:txBody>
          <a:bodyPr wrap="none">
            <a:spAutoFit/>
          </a:bodyPr>
          <a:lstStyle/>
          <a:p>
            <a:pPr>
              <a:defRPr b="1" sz="1100">
                <a:solidFill>
                  <a:srgbClr val="FF6400"/>
                </a:solidFill>
              </a:defRPr>
            </a:pPr>
            <a:r>
              <a:t>SUPPLY CHAIN</a:t>
            </a:r>
          </a:p>
        </p:txBody>
      </p:sp>
      <p:sp>
        <p:nvSpPr>
          <p:cNvPr id="17" name="TextBox 16"/>
          <p:cNvSpPr txBox="1"/>
          <p:nvPr/>
        </p:nvSpPr>
        <p:spPr>
          <a:xfrm>
            <a:off x="274320" y="5532120"/>
            <a:ext cx="5486400" cy="457200"/>
          </a:xfrm>
          <a:prstGeom prst="rect">
            <a:avLst/>
          </a:prstGeom>
          <a:noFill/>
        </p:spPr>
        <p:txBody>
          <a:bodyPr wrap="square">
            <a:spAutoFit/>
          </a:bodyPr>
          <a:lstStyle/>
          <a:p>
            <a:pPr>
              <a:defRPr sz="1000"/>
            </a:pPr>
            <a:r>
              <a:t>• Supplier: Consolidation to single-source Tier 1</a:t>
            </a:r>
            <a:br/>
            <a:r>
              <a:t>• Tooling: 15% reduction in logistics overhead</a:t>
            </a:r>
          </a:p>
        </p:txBody>
      </p:sp>
      <p:sp>
        <p:nvSpPr>
          <p:cNvPr id="18" name="Rectangle 17"/>
          <p:cNvSpPr/>
          <p:nvPr/>
        </p:nvSpPr>
        <p:spPr>
          <a:xfrm>
            <a:off x="274320" y="5989320"/>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17920" y="1005840"/>
            <a:ext cx="5699455" cy="256032"/>
          </a:xfrm>
          <a:prstGeom prst="rect">
            <a:avLst/>
          </a:prstGeom>
          <a:noFill/>
        </p:spPr>
        <p:txBody>
          <a:bodyPr wrap="square">
            <a:spAutoFit/>
          </a:bodyPr>
          <a:lstStyle/>
          <a:p>
            <a:pPr algn="ctr">
              <a:defRPr b="1" sz="1100">
                <a:solidFill>
                  <a:srgbClr val="003366"/>
                </a:solidFill>
              </a:defRPr>
            </a:pPr>
            <a:r>
              <a:t>Current Scenario</a:t>
            </a:r>
          </a:p>
        </p:txBody>
      </p:sp>
      <p:pic>
        <p:nvPicPr>
          <p:cNvPr id="20" name="Picture 19" descr="18.jpg"/>
          <p:cNvPicPr>
            <a:picLocks noChangeAspect="1"/>
          </p:cNvPicPr>
          <p:nvPr/>
        </p:nvPicPr>
        <p:blipFill>
          <a:blip r:embed="rId2"/>
          <a:stretch>
            <a:fillRect/>
          </a:stretch>
        </p:blipFill>
        <p:spPr>
          <a:xfrm>
            <a:off x="6217920" y="1280160"/>
            <a:ext cx="5699455" cy="2377440"/>
          </a:xfrm>
          <a:prstGeom prst="rect">
            <a:avLst/>
          </a:prstGeom>
          <a:ln w="12700">
            <a:solidFill>
              <a:srgbClr val="C8C8C8"/>
            </a:solidFill>
          </a:ln>
        </p:spPr>
      </p:pic>
      <p:sp>
        <p:nvSpPr>
          <p:cNvPr id="21" name="TextBox 20"/>
          <p:cNvSpPr txBox="1"/>
          <p:nvPr/>
        </p:nvSpPr>
        <p:spPr>
          <a:xfrm>
            <a:off x="6217920" y="3840480"/>
            <a:ext cx="5699455" cy="256032"/>
          </a:xfrm>
          <a:prstGeom prst="rect">
            <a:avLst/>
          </a:prstGeom>
          <a:noFill/>
        </p:spPr>
        <p:txBody>
          <a:bodyPr wrap="square">
            <a:spAutoFit/>
          </a:bodyPr>
          <a:lstStyle/>
          <a:p>
            <a:pPr algn="ctr">
              <a:defRPr b="1" sz="1100">
                <a:solidFill>
                  <a:srgbClr val="003366"/>
                </a:solidFill>
              </a:defRPr>
            </a:pPr>
            <a:r>
              <a:t>Proposal / Competitor</a:t>
            </a:r>
          </a:p>
        </p:txBody>
      </p:sp>
      <p:pic>
        <p:nvPicPr>
          <p:cNvPr id="22" name="Picture 21" descr="41.jpg"/>
          <p:cNvPicPr>
            <a:picLocks noChangeAspect="1"/>
          </p:cNvPicPr>
          <p:nvPr/>
        </p:nvPicPr>
        <p:blipFill>
          <a:blip r:embed="rId3"/>
          <a:stretch>
            <a:fillRect/>
          </a:stretch>
        </p:blipFill>
        <p:spPr>
          <a:xfrm>
            <a:off x="6217920" y="4114800"/>
            <a:ext cx="5699455" cy="2377440"/>
          </a:xfrm>
          <a:prstGeom prst="rect">
            <a:avLst/>
          </a:prstGeom>
          <a:ln w="12700">
            <a:solidFill>
              <a:srgbClr val="C8C8C8"/>
            </a:solidFill>
          </a:ln>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82880"/>
            <a:ext cx="8534095" cy="914400"/>
          </a:xfrm>
          <a:prstGeom prst="rect">
            <a:avLst/>
          </a:prstGeom>
          <a:noFill/>
        </p:spPr>
        <p:txBody>
          <a:bodyPr wrap="square">
            <a:spAutoFit/>
          </a:bodyPr>
          <a:lstStyle/>
          <a:p>
            <a:pPr>
              <a:defRPr sz="2400" b="1">
                <a:solidFill>
                  <a:srgbClr val="003366"/>
                </a:solidFill>
              </a:defRPr>
            </a:pPr>
            <a:r>
              <a:t>#15: Evaluate the feasibility of using friction materials with enhanced fade resistance and lower wear rates, specifically adapted for heavier vehicles like the MG Hector. While fundamental material substitution in friction pads is complex due to regulations (FMVSS 105, ECE R13) and safety, research into advanced composite formulations that maintain a stable friction coefficient across a wider temperature range can improve performance and reduce rotor wear. This proposal adapts generic friction material research by focusing on the specific needs of a 1.7-tonne vehicle with high kinetic energy, aiming for a balance between performance, longevity, and cost. The 'no rear IRS changes' constraint is implicitly met as this focuses on friction materials, not suspension geometry.</a:t>
            </a:r>
          </a:p>
        </p:txBody>
      </p:sp>
      <p:sp>
        <p:nvSpPr>
          <p:cNvPr id="3" name="TextBox 2"/>
          <p:cNvSpPr txBox="1"/>
          <p:nvPr/>
        </p:nvSpPr>
        <p:spPr>
          <a:xfrm>
            <a:off x="10088575" y="182880"/>
            <a:ext cx="1828800" cy="457200"/>
          </a:xfrm>
          <a:prstGeom prst="rect">
            <a:avLst/>
          </a:prstGeom>
          <a:solidFill>
            <a:srgbClr val="008080"/>
          </a:solidFill>
        </p:spPr>
        <p:txBody>
          <a:bodyPr wrap="none">
            <a:spAutoFit/>
          </a:bodyPr>
          <a:lstStyle/>
          <a:p>
            <a:pPr algn="ctr">
              <a:defRPr>
                <a:solidFill>
                  <a:srgbClr val="FFFFFF"/>
                </a:solidFill>
              </a:defRPr>
            </a:pPr>
            <a:r>
              <a:t>WEB SOURCED</a:t>
            </a:r>
          </a:p>
        </p:txBody>
      </p:sp>
      <p:sp>
        <p:nvSpPr>
          <p:cNvPr id="4" name="TextBox 3"/>
          <p:cNvSpPr txBox="1"/>
          <p:nvPr/>
        </p:nvSpPr>
        <p:spPr>
          <a:xfrm>
            <a:off x="274320" y="1280160"/>
            <a:ext cx="5486400" cy="228600"/>
          </a:xfrm>
          <a:prstGeom prst="rect">
            <a:avLst/>
          </a:prstGeom>
          <a:noFill/>
        </p:spPr>
        <p:txBody>
          <a:bodyPr wrap="none">
            <a:spAutoFit/>
          </a:bodyPr>
          <a:lstStyle/>
          <a:p>
            <a:pPr>
              <a:defRPr b="1" sz="1100">
                <a:solidFill>
                  <a:srgbClr val="FF6400"/>
                </a:solidFill>
              </a:defRPr>
            </a:pPr>
            <a:r>
              <a:t>TECHNICAL ENGINEERING VIEW</a:t>
            </a:r>
          </a:p>
        </p:txBody>
      </p:sp>
      <p:sp>
        <p:nvSpPr>
          <p:cNvPr id="5" name="TextBox 4"/>
          <p:cNvSpPr txBox="1"/>
          <p:nvPr/>
        </p:nvSpPr>
        <p:spPr>
          <a:xfrm>
            <a:off x="274320" y="1508760"/>
            <a:ext cx="5486400" cy="822959"/>
          </a:xfrm>
          <a:prstGeom prst="rect">
            <a:avLst/>
          </a:prstGeom>
          <a:noFill/>
        </p:spPr>
        <p:txBody>
          <a:bodyPr wrap="square">
            <a:spAutoFit/>
          </a:bodyPr>
          <a:lstStyle/>
          <a:p>
            <a:pPr>
              <a:defRPr sz="1000"/>
            </a:pPr>
            <a:r>
              <a:t>Technical optimization of Evaluate the feasibility of using friction materials with enhanced fade resistance and lower wear rates, specifically adapted for heavier vehicles like the MG Hector. While fundamental material substitution in friction pads is complex due to regulations (FMVSS 105, ECE R13) and safety, research into advanced composite formulations that maintain a stable friction coefficient across a wider temperature range can improve performance and reduce rotor wear. This proposal adapts generic friction material research by focusing on the specific needs of a 1.7-tonne vehicle w...</a:t>
            </a:r>
          </a:p>
        </p:txBody>
      </p:sp>
      <p:sp>
        <p:nvSpPr>
          <p:cNvPr id="6" name="Rectangle 5"/>
          <p:cNvSpPr/>
          <p:nvPr/>
        </p:nvSpPr>
        <p:spPr>
          <a:xfrm>
            <a:off x="274320" y="2331720"/>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2377439"/>
            <a:ext cx="5486400" cy="228600"/>
          </a:xfrm>
          <a:prstGeom prst="rect">
            <a:avLst/>
          </a:prstGeom>
          <a:noFill/>
        </p:spPr>
        <p:txBody>
          <a:bodyPr wrap="none">
            <a:spAutoFit/>
          </a:bodyPr>
          <a:lstStyle/>
          <a:p>
            <a:pPr>
              <a:defRPr b="1" sz="1100">
                <a:solidFill>
                  <a:srgbClr val="FF6400"/>
                </a:solidFill>
              </a:defRPr>
            </a:pPr>
            <a:r>
              <a:t>MATERIAL &amp; DIMENSION SWAP</a:t>
            </a:r>
          </a:p>
        </p:txBody>
      </p:sp>
      <p:sp>
        <p:nvSpPr>
          <p:cNvPr id="8" name="TextBox 7"/>
          <p:cNvSpPr txBox="1"/>
          <p:nvPr/>
        </p:nvSpPr>
        <p:spPr>
          <a:xfrm>
            <a:off x="274320" y="2606039"/>
            <a:ext cx="5486400" cy="457200"/>
          </a:xfrm>
          <a:prstGeom prst="rect">
            <a:avLst/>
          </a:prstGeom>
          <a:noFill/>
        </p:spPr>
        <p:txBody>
          <a:bodyPr wrap="square">
            <a:spAutoFit/>
          </a:bodyPr>
          <a:lstStyle/>
          <a:p>
            <a:pPr>
              <a:defRPr sz="1000"/>
            </a:pPr>
            <a:r>
              <a:t>Evaluate the feasibility of using friction materials with enhanced fade resistance and lower wear ra</a:t>
            </a:r>
            <a:br/>
            <a:r>
              <a:t>N/A (Maintains current envelope)</a:t>
            </a:r>
          </a:p>
        </p:txBody>
      </p:sp>
      <p:sp>
        <p:nvSpPr>
          <p:cNvPr id="9" name="Rectangle 8"/>
          <p:cNvSpPr/>
          <p:nvPr/>
        </p:nvSpPr>
        <p:spPr>
          <a:xfrm>
            <a:off x="274320" y="3063239"/>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 y="3108959"/>
            <a:ext cx="5486400" cy="228600"/>
          </a:xfrm>
          <a:prstGeom prst="rect">
            <a:avLst/>
          </a:prstGeom>
          <a:noFill/>
        </p:spPr>
        <p:txBody>
          <a:bodyPr wrap="none">
            <a:spAutoFit/>
          </a:bodyPr>
          <a:lstStyle/>
          <a:p>
            <a:pPr>
              <a:defRPr b="1" sz="1100">
                <a:solidFill>
                  <a:srgbClr val="FF6400"/>
                </a:solidFill>
              </a:defRPr>
            </a:pPr>
            <a:r>
              <a:t>FINANCIAL IMPACT</a:t>
            </a:r>
          </a:p>
        </p:txBody>
      </p:sp>
      <p:sp>
        <p:nvSpPr>
          <p:cNvPr id="11" name="TextBox 10"/>
          <p:cNvSpPr txBox="1"/>
          <p:nvPr/>
        </p:nvSpPr>
        <p:spPr>
          <a:xfrm>
            <a:off x="274320" y="3337559"/>
            <a:ext cx="5486400" cy="274320"/>
          </a:xfrm>
          <a:prstGeom prst="rect">
            <a:avLst/>
          </a:prstGeom>
          <a:noFill/>
        </p:spPr>
        <p:txBody>
          <a:bodyPr wrap="square">
            <a:spAutoFit/>
          </a:bodyPr>
          <a:lstStyle/>
          <a:p>
            <a:pPr>
              <a:defRPr sz="1000"/>
            </a:pPr>
            <a:r>
              <a:t>Est. Saving: INR TBD</a:t>
            </a:r>
            <a:br/>
            <a:r>
              <a:t>CAPEX: TBD</a:t>
            </a:r>
          </a:p>
        </p:txBody>
      </p:sp>
      <p:sp>
        <p:nvSpPr>
          <p:cNvPr id="12" name="Rectangle 11"/>
          <p:cNvSpPr/>
          <p:nvPr/>
        </p:nvSpPr>
        <p:spPr>
          <a:xfrm>
            <a:off x="274320" y="3611879"/>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4320" y="3657599"/>
            <a:ext cx="5486400" cy="228600"/>
          </a:xfrm>
          <a:prstGeom prst="rect">
            <a:avLst/>
          </a:prstGeom>
          <a:noFill/>
        </p:spPr>
        <p:txBody>
          <a:bodyPr wrap="none">
            <a:spAutoFit/>
          </a:bodyPr>
          <a:lstStyle/>
          <a:p>
            <a:pPr>
              <a:defRPr b="1" sz="1100">
                <a:solidFill>
                  <a:srgbClr val="FF6400"/>
                </a:solidFill>
              </a:defRPr>
            </a:pPr>
            <a:r>
              <a:t>VALIDATION &amp; RISKS</a:t>
            </a:r>
          </a:p>
        </p:txBody>
      </p:sp>
      <p:sp>
        <p:nvSpPr>
          <p:cNvPr id="14" name="TextBox 13"/>
          <p:cNvSpPr txBox="1"/>
          <p:nvPr/>
        </p:nvSpPr>
        <p:spPr>
          <a:xfrm>
            <a:off x="274320" y="3886200"/>
            <a:ext cx="5486400" cy="1371600"/>
          </a:xfrm>
          <a:prstGeom prst="rect">
            <a:avLst/>
          </a:prstGeom>
          <a:noFill/>
        </p:spPr>
        <p:txBody>
          <a:bodyPr wrap="square">
            <a:spAutoFit/>
          </a:bodyPr>
          <a:lstStyle/>
          <a:p>
            <a:pPr>
              <a:defRPr sz="1000"/>
            </a:pPr>
            <a:r>
              <a:t>VALIDATION:</a:t>
            </a:r>
            <a:br/>
            <a:r>
              <a:t>• DVP&amp;R Level 2 Testing</a:t>
            </a:r>
            <a:br/>
            <a:r>
              <a:t>• Environmental Aging (1000 hrs)</a:t>
            </a:r>
            <a:br/>
            <a:r>
              <a:t>• Head Impact Criterion (FMVSS)</a:t>
            </a:r>
            <a:br/>
            <a:br/>
            <a:r>
              <a:t>RISKS:</a:t>
            </a:r>
            <a:br/>
            <a:r>
              <a:t>⚠ NVH performance degradation</a:t>
            </a:r>
            <a:br/>
            <a:r>
              <a:t>⚠ Thermal durability limits</a:t>
            </a:r>
            <a:br/>
            <a:r>
              <a:t>⚠ Aesthetic fit &amp; finish gap</a:t>
            </a:r>
          </a:p>
        </p:txBody>
      </p:sp>
      <p:sp>
        <p:nvSpPr>
          <p:cNvPr id="15" name="Rectangle 14"/>
          <p:cNvSpPr/>
          <p:nvPr/>
        </p:nvSpPr>
        <p:spPr>
          <a:xfrm>
            <a:off x="274320" y="5257800"/>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4320" y="5303520"/>
            <a:ext cx="5486400" cy="228600"/>
          </a:xfrm>
          <a:prstGeom prst="rect">
            <a:avLst/>
          </a:prstGeom>
          <a:noFill/>
        </p:spPr>
        <p:txBody>
          <a:bodyPr wrap="none">
            <a:spAutoFit/>
          </a:bodyPr>
          <a:lstStyle/>
          <a:p>
            <a:pPr>
              <a:defRPr b="1" sz="1100">
                <a:solidFill>
                  <a:srgbClr val="FF6400"/>
                </a:solidFill>
              </a:defRPr>
            </a:pPr>
            <a:r>
              <a:t>SUPPLY CHAIN</a:t>
            </a:r>
          </a:p>
        </p:txBody>
      </p:sp>
      <p:sp>
        <p:nvSpPr>
          <p:cNvPr id="17" name="TextBox 16"/>
          <p:cNvSpPr txBox="1"/>
          <p:nvPr/>
        </p:nvSpPr>
        <p:spPr>
          <a:xfrm>
            <a:off x="274320" y="5532120"/>
            <a:ext cx="5486400" cy="457200"/>
          </a:xfrm>
          <a:prstGeom prst="rect">
            <a:avLst/>
          </a:prstGeom>
          <a:noFill/>
        </p:spPr>
        <p:txBody>
          <a:bodyPr wrap="square">
            <a:spAutoFit/>
          </a:bodyPr>
          <a:lstStyle/>
          <a:p>
            <a:pPr>
              <a:defRPr sz="1000"/>
            </a:pPr>
            <a:r>
              <a:t>• Supplier: Consolidation to single-source Tier 1</a:t>
            </a:r>
            <a:br/>
            <a:r>
              <a:t>• Tooling: 15% reduction in logistics overhead</a:t>
            </a:r>
          </a:p>
        </p:txBody>
      </p:sp>
      <p:sp>
        <p:nvSpPr>
          <p:cNvPr id="18" name="Rectangle 17"/>
          <p:cNvSpPr/>
          <p:nvPr/>
        </p:nvSpPr>
        <p:spPr>
          <a:xfrm>
            <a:off x="274320" y="5989320"/>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17920" y="1005840"/>
            <a:ext cx="5699455" cy="256032"/>
          </a:xfrm>
          <a:prstGeom prst="rect">
            <a:avLst/>
          </a:prstGeom>
          <a:noFill/>
        </p:spPr>
        <p:txBody>
          <a:bodyPr wrap="square">
            <a:spAutoFit/>
          </a:bodyPr>
          <a:lstStyle/>
          <a:p>
            <a:pPr algn="ctr">
              <a:defRPr b="1" sz="1100">
                <a:solidFill>
                  <a:srgbClr val="003366"/>
                </a:solidFill>
              </a:defRPr>
            </a:pPr>
            <a:r>
              <a:t>Current Scenario</a:t>
            </a:r>
          </a:p>
        </p:txBody>
      </p:sp>
      <p:pic>
        <p:nvPicPr>
          <p:cNvPr id="20" name="Picture 19" descr="28.jpg"/>
          <p:cNvPicPr>
            <a:picLocks noChangeAspect="1"/>
          </p:cNvPicPr>
          <p:nvPr/>
        </p:nvPicPr>
        <p:blipFill>
          <a:blip r:embed="rId2"/>
          <a:stretch>
            <a:fillRect/>
          </a:stretch>
        </p:blipFill>
        <p:spPr>
          <a:xfrm>
            <a:off x="6217920" y="1280160"/>
            <a:ext cx="5699455" cy="2377440"/>
          </a:xfrm>
          <a:prstGeom prst="rect">
            <a:avLst/>
          </a:prstGeom>
          <a:ln w="12700">
            <a:solidFill>
              <a:srgbClr val="C8C8C8"/>
            </a:solidFill>
          </a:ln>
        </p:spPr>
      </p:pic>
      <p:sp>
        <p:nvSpPr>
          <p:cNvPr id="21" name="TextBox 20"/>
          <p:cNvSpPr txBox="1"/>
          <p:nvPr/>
        </p:nvSpPr>
        <p:spPr>
          <a:xfrm>
            <a:off x="6217920" y="3840480"/>
            <a:ext cx="5699455" cy="256032"/>
          </a:xfrm>
          <a:prstGeom prst="rect">
            <a:avLst/>
          </a:prstGeom>
          <a:noFill/>
        </p:spPr>
        <p:txBody>
          <a:bodyPr wrap="square">
            <a:spAutoFit/>
          </a:bodyPr>
          <a:lstStyle/>
          <a:p>
            <a:pPr algn="ctr">
              <a:defRPr b="1" sz="1100">
                <a:solidFill>
                  <a:srgbClr val="003366"/>
                </a:solidFill>
              </a:defRPr>
            </a:pPr>
            <a:r>
              <a:t>Proposal / Competitor</a:t>
            </a:r>
          </a:p>
        </p:txBody>
      </p:sp>
      <p:pic>
        <p:nvPicPr>
          <p:cNvPr id="22" name="Picture 21" descr="35.jpg"/>
          <p:cNvPicPr>
            <a:picLocks noChangeAspect="1"/>
          </p:cNvPicPr>
          <p:nvPr/>
        </p:nvPicPr>
        <p:blipFill>
          <a:blip r:embed="rId3"/>
          <a:stretch>
            <a:fillRect/>
          </a:stretch>
        </p:blipFill>
        <p:spPr>
          <a:xfrm>
            <a:off x="6217920" y="4114800"/>
            <a:ext cx="5699455" cy="2377440"/>
          </a:xfrm>
          <a:prstGeom prst="rect">
            <a:avLst/>
          </a:prstGeom>
          <a:ln w="12700">
            <a:solidFill>
              <a:srgbClr val="C8C8C8"/>
            </a:solidFill>
          </a:ln>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
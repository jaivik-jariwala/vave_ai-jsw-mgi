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1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1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60175" cy="6263640"/>
        </p:xfrm>
        <a:graphic>
          <a:graphicData uri="http://schemas.openxmlformats.org/drawingml/2006/table">
            <a:tbl>
              <a:tblPr firstRow="1" bandRow="1">
                <a:tableStyleId>{5C22544A-7EE6-4342-B048-85BDC9FD1C3A}</a:tableStyleId>
              </a:tblPr>
              <a:tblGrid>
                <a:gridCol w="1273352"/>
                <a:gridCol w="1273352"/>
                <a:gridCol w="1273352"/>
                <a:gridCol w="1273352"/>
                <a:gridCol w="1273352"/>
                <a:gridCol w="1273352"/>
                <a:gridCol w="1273352"/>
                <a:gridCol w="1273352"/>
                <a:gridCol w="1273359"/>
              </a:tblGrid>
              <a:tr h="368449">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a:t>
                      </a:r>
                    </a:p>
                  </a:txBody>
                  <a:tcPr>
                    <a:solidFill>
                      <a:srgbClr val="003366"/>
                    </a:solidFill>
                  </a:tcPr>
                </a:tc>
                <a:tc>
                  <a:txBody>
                    <a:bodyPr wrap="square"/>
                    <a:lstStyle/>
                    <a:p>
                      <a:pPr>
                        <a:defRPr b="1" sz="900">
                          <a:solidFill>
                            <a:srgbClr val="FFFFFF"/>
                          </a:solidFill>
                        </a:defRPr>
                      </a:pPr>
                      <a:r>
                        <a:t>Saving</a:t>
                      </a:r>
                    </a:p>
                  </a:txBody>
                  <a:tcPr>
                    <a:solidFill>
                      <a:srgbClr val="003366"/>
                    </a:solidFill>
                  </a:tcPr>
                </a:tc>
                <a:tc>
                  <a:txBody>
                    <a:bodyPr wrap="square"/>
                    <a:lstStyle/>
                    <a:p>
                      <a:pPr>
                        <a:defRPr b="1" sz="900">
                          <a:solidFill>
                            <a:srgbClr val="FFFFFF"/>
                          </a:solidFill>
                        </a:defRPr>
                      </a:pPr>
                      <a:r>
                        <a:t>Yearly volume (per 1 lakh)</a:t>
                      </a:r>
                    </a:p>
                  </a:txBody>
                  <a:tcPr>
                    <a:solidFill>
                      <a:srgbClr val="003366"/>
                    </a:solidFill>
                  </a:tcPr>
                </a:tc>
                <a:tc>
                  <a:txBody>
                    <a:bodyPr wrap="square"/>
                    <a:lstStyle/>
                    <a:p>
                      <a:pPr>
                        <a:defRPr b="1" sz="900">
                          <a:solidFill>
                            <a:srgbClr val="FFFFFF"/>
                          </a:solidFill>
                        </a:defRPr>
                      </a:pPr>
                      <a:r>
                        <a:t>Saving overall (Saving × Volume)</a:t>
                      </a:r>
                    </a:p>
                  </a:txBody>
                  <a:tcPr>
                    <a:solidFill>
                      <a:srgbClr val="003366"/>
                    </a:solidFill>
                  </a:tcPr>
                </a:tc>
                <a:tc>
                  <a:txBody>
                    <a:bodyPr wrap="square"/>
                    <a:lstStyle/>
                    <a:p>
                      <a:pPr>
                        <a:defRPr b="1" sz="900">
                          <a:solidFill>
                            <a:srgbClr val="FFFFFF"/>
                          </a:solidFill>
                        </a:defRPr>
                      </a:pPr>
                      <a:r>
                        <a:t>Status (Accept/Reject)</a:t>
                      </a:r>
                    </a:p>
                  </a:txBody>
                  <a:tcPr>
                    <a:solidFill>
                      <a:srgbClr val="003366"/>
                    </a:solidFill>
                  </a:tcPr>
                </a:tc>
                <a:tc>
                  <a:txBody>
                    <a:bodyPr wrap="square"/>
                    <a:lstStyle/>
                    <a:p>
                      <a:pPr>
                        <a:defRPr b="1" sz="900">
                          <a:solidFill>
                            <a:srgbClr val="FFFFFF"/>
                          </a:solidFill>
                        </a:defRPr>
                      </a:pPr>
                      <a:r>
                        <a:t>Turnaround time</a:t>
                      </a:r>
                    </a:p>
                  </a:txBody>
                  <a:tcPr>
                    <a:solidFill>
                      <a:srgbClr val="003366"/>
                    </a:solidFill>
                  </a:tcPr>
                </a:tc>
                <a:tc>
                  <a:txBody>
                    <a:bodyPr wrap="square"/>
                    <a:lstStyle/>
                    <a:p>
                      <a:pPr>
                        <a:defRPr b="1" sz="900">
                          <a:solidFill>
                            <a:srgbClr val="FFFFFF"/>
                          </a:solidFill>
                        </a:defRPr>
                      </a:pPr>
                      <a:r>
                        <a:t>Required volume yearly</a:t>
                      </a:r>
                    </a:p>
                  </a:txBody>
                  <a:tcPr>
                    <a:solidFill>
                      <a:srgbClr val="003366"/>
                    </a:solidFill>
                  </a:tcPr>
                </a:tc>
              </a:tr>
              <a:tr h="368449">
                <a:tc>
                  <a:txBody>
                    <a:bodyPr wrap="square" lIns="50800" rIns="50800" tIns="25400" bIns="25400"/>
                    <a:lstStyle/>
                    <a:p>
                      <a:pPr>
                        <a:defRPr sz="800">
                          <a:solidFill>
                            <a:srgbClr val="333333"/>
                          </a:solidFill>
                          <a:latin typeface="Calibri"/>
                        </a:defRPr>
                      </a:pPr>
                      <a:r>
                        <a:t>2311-PA-ID-02</a:t>
                      </a:r>
                    </a:p>
                  </a:txBody>
                  <a:tcPr/>
                </a:tc>
                <a:tc>
                  <a:txBody>
                    <a:bodyPr wrap="square" lIns="50800" rIns="50800" tIns="25400" bIns="25400"/>
                    <a:lstStyle/>
                    <a:p>
                      <a:pPr>
                        <a:defRPr sz="800">
                          <a:solidFill>
                            <a:srgbClr val="333333"/>
                          </a:solidFill>
                          <a:latin typeface="Calibri"/>
                        </a:defRPr>
                      </a:pPr>
                      <a:r>
                        <a:t>Redesign the current Brake Pedal Mounting Bracket used in MGI to a similar bracket used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113</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11,300,000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2311-PA-ID-01</a:t>
                      </a:r>
                    </a:p>
                  </a:txBody>
                  <a:tcPr/>
                </a:tc>
                <a:tc>
                  <a:txBody>
                    <a:bodyPr wrap="square" lIns="50800" rIns="50800" tIns="25400" bIns="25400"/>
                    <a:lstStyle/>
                    <a:p>
                      <a:pPr>
                        <a:defRPr sz="800">
                          <a:solidFill>
                            <a:srgbClr val="333333"/>
                          </a:solidFill>
                          <a:latin typeface="Calibri"/>
                        </a:defRPr>
                      </a:pPr>
                      <a:r>
                        <a:t>Remove the black paint coating on the Brake Pedal Mounting Bracket within MGI</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115</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11,500,000</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AI-GEN-01</a:t>
                      </a:r>
                    </a:p>
                  </a:txBody>
                  <a:tcPr/>
                </a:tc>
                <a:tc>
                  <a:txBody>
                    <a:bodyPr wrap="square" lIns="50800" rIns="50800" tIns="25400" bIns="25400"/>
                    <a:lstStyle/>
                    <a:p>
                      <a:pPr>
                        <a:defRPr sz="800">
                          <a:solidFill>
                            <a:srgbClr val="333333"/>
                          </a:solidFill>
                          <a:latin typeface="Calibri"/>
                        </a:defRPr>
                      </a:pPr>
                      <a:r>
                        <a:t>Optimize front brake rotor material by substituting a portion of the cast iron with a lower-cost alloy while maintaining thermal performance through enhanced internal venting geometry.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AI-GEN-03</a:t>
                      </a:r>
                    </a:p>
                  </a:txBody>
                  <a:tcPr/>
                </a:tc>
                <a:tc>
                  <a:txBody>
                    <a:bodyPr wrap="square" lIns="50800" rIns="50800" tIns="25400" bIns="25400"/>
                    <a:lstStyle/>
                    <a:p>
                      <a:pPr>
                        <a:defRPr sz="800">
                          <a:solidFill>
                            <a:srgbClr val="333333"/>
                          </a:solidFill>
                          <a:latin typeface="Calibri"/>
                        </a:defRPr>
                      </a:pPr>
                      <a:r>
                        <a:t>Replace the current steel brake caliper dust shields with a lighter, stamped aluminum alloy, reducing material thickness from 1.2mm to 0.9mm.</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AI-GEN-04</a:t>
                      </a:r>
                    </a:p>
                  </a:txBody>
                  <a:tcPr/>
                </a:tc>
                <a:tc>
                  <a:txBody>
                    <a:bodyPr wrap="square" lIns="50800" rIns="50800" tIns="25400" bIns="25400"/>
                    <a:lstStyle/>
                    <a:p>
                      <a:pPr>
                        <a:defRPr sz="800">
                          <a:solidFill>
                            <a:srgbClr val="333333"/>
                          </a:solidFill>
                          <a:latin typeface="Calibri"/>
                        </a:defRPr>
                      </a:pPr>
                      <a:r>
                        <a:t>Transition the rear brake caliper mounting bracket from a cast iron component to a high-strength steel stamping, reducing wall thickness and optimizing geometry.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AI-GEN-06</a:t>
                      </a:r>
                    </a:p>
                  </a:txBody>
                  <a:tcPr/>
                </a:tc>
                <a:tc>
                  <a:txBody>
                    <a:bodyPr wrap="square" lIns="50800" rIns="50800" tIns="25400" bIns="25400"/>
                    <a:lstStyle/>
                    <a:p>
                      <a:pPr>
                        <a:defRPr sz="800">
                          <a:solidFill>
                            <a:srgbClr val="333333"/>
                          </a:solidFill>
                          <a:latin typeface="Calibri"/>
                        </a:defRPr>
                      </a:pPr>
                      <a:r>
                        <a:t>Implement a single-piston floating caliper design for the rear brakes, replacing the current fixed caliper, to reduce component count and machining complexity.</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40,000,000,000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AI-GEN-07</a:t>
                      </a:r>
                    </a:p>
                  </a:txBody>
                  <a:tcPr/>
                </a:tc>
                <a:tc>
                  <a:txBody>
                    <a:bodyPr wrap="square" lIns="50800" rIns="50800" tIns="25400" bIns="25400"/>
                    <a:lstStyle/>
                    <a:p>
                      <a:pPr>
                        <a:defRPr sz="800">
                          <a:solidFill>
                            <a:srgbClr val="333333"/>
                          </a:solidFill>
                          <a:latin typeface="Calibri"/>
                        </a:defRPr>
                      </a:pPr>
                      <a:r>
                        <a:t>Substitute the current brake fluid reservoir with a smaller, integrated unit that uses a lower-cost plastic composite instead of molded ABS.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250000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25,000,000,000</a:t>
                      </a:r>
                    </a:p>
                  </a:txBody>
                  <a:tcPr/>
                </a:tc>
                <a:tc>
                  <a:txBody>
                    <a:bodyPr wrap="square" lIns="50800" rIns="50800" tIns="25400" bIns="25400"/>
                    <a:lstStyle/>
                    <a:p>
                      <a:pPr>
                        <a:defRPr sz="800">
                          <a:solidFill>
                            <a:srgbClr val="333333"/>
                          </a:solidFill>
                          <a:latin typeface="Calibri"/>
                        </a:defRPr>
                      </a:pPr>
                      <a:r>
                        <a:t>Auto-Approved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AI-GEN-02</a:t>
                      </a:r>
                    </a:p>
                  </a:txBody>
                  <a:tcPr/>
                </a:tc>
                <a:tc>
                  <a:txBody>
                    <a:bodyPr wrap="square" lIns="50800" rIns="50800" tIns="25400" bIns="25400"/>
                    <a:lstStyle/>
                    <a:p>
                      <a:pPr>
                        <a:defRPr sz="800">
                          <a:solidFill>
                            <a:srgbClr val="333333"/>
                          </a:solidFill>
                          <a:latin typeface="Calibri"/>
                        </a:defRPr>
                      </a:pPr>
                      <a:r>
                        <a:t>Reduce the caliper piston diameter for the rear brake assembly by 2mm, compensating for reduced braking force with a slightly increased rear brake pad friction coefficient.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400000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40,000,000,000</a:t>
                      </a:r>
                    </a:p>
                  </a:txBody>
                  <a:tcPr/>
                </a:tc>
                <a:tc>
                  <a:txBody>
                    <a:bodyPr wrap="square" lIns="50800" rIns="50800" tIns="25400" bIns="25400"/>
                    <a:lstStyle/>
                    <a:p>
                      <a:pPr>
                        <a:defRPr sz="800">
                          <a:solidFill>
                            <a:srgbClr val="333333"/>
                          </a:solidFill>
                          <a:latin typeface="Calibri"/>
                        </a:defRPr>
                      </a:pPr>
                      <a:r>
                        <a:t>Needs Human Review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AI-GEN-05</a:t>
                      </a:r>
                    </a:p>
                  </a:txBody>
                  <a:tcPr/>
                </a:tc>
                <a:tc>
                  <a:txBody>
                    <a:bodyPr wrap="square" lIns="50800" rIns="50800" tIns="25400" bIns="25400"/>
                    <a:lstStyle/>
                    <a:p>
                      <a:pPr>
                        <a:defRPr sz="800">
                          <a:solidFill>
                            <a:srgbClr val="333333"/>
                          </a:solidFill>
                          <a:latin typeface="Calibri"/>
                        </a:defRPr>
                      </a:pPr>
                      <a:r>
                        <a:t>Reduce the thickness of the front brake rotor from 28mm to 26mm, utilizing a higher-grade cast iron with improved thermal conductivity and wear resistance.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300000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30,000,000,000</a:t>
                      </a:r>
                    </a:p>
                  </a:txBody>
                  <a:tcPr/>
                </a:tc>
                <a:tc>
                  <a:txBody>
                    <a:bodyPr wrap="square" lIns="50800" rIns="50800" tIns="25400" bIns="25400"/>
                    <a:lstStyle/>
                    <a:p>
                      <a:pPr>
                        <a:defRPr sz="800">
                          <a:solidFill>
                            <a:srgbClr val="333333"/>
                          </a:solidFill>
                          <a:latin typeface="Calibri"/>
                        </a:defRPr>
                      </a:pPr>
                      <a:r>
                        <a:t>Needs Human Review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AI-GEN-08</a:t>
                      </a:r>
                    </a:p>
                  </a:txBody>
                  <a:tcPr/>
                </a:tc>
                <a:tc>
                  <a:txBody>
                    <a:bodyPr wrap="square" lIns="50800" rIns="50800" tIns="25400" bIns="25400"/>
                    <a:lstStyle/>
                    <a:p>
                      <a:pPr>
                        <a:defRPr sz="800">
                          <a:solidFill>
                            <a:srgbClr val="333333"/>
                          </a:solidFill>
                          <a:latin typeface="Calibri"/>
                        </a:defRPr>
                      </a:pPr>
                      <a:r>
                        <a:t>Reduce the number of fastening bolts on the front brake caliper bracket from four to three, optimizing load distribution and bolt size.</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150000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15,000,000,000</a:t>
                      </a:r>
                    </a:p>
                  </a:txBody>
                  <a:tcPr/>
                </a:tc>
                <a:tc>
                  <a:txBody>
                    <a:bodyPr wrap="square" lIns="50800" rIns="50800" tIns="25400" bIns="25400"/>
                    <a:lstStyle/>
                    <a:p>
                      <a:pPr>
                        <a:defRPr sz="800">
                          <a:solidFill>
                            <a:srgbClr val="333333"/>
                          </a:solidFill>
                          <a:latin typeface="Calibri"/>
                        </a:defRPr>
                      </a:pPr>
                      <a:r>
                        <a:t>Needs Human Review</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use of advanced Magnesium alloys for brake caliper housings to reduce unsprung mass, thereby improving handling and potentially reducing overall vehicle weight. This would be a direct substitution for the current cast iron or aluminum calipers, focusing on specific alloy compositions that offer comparable or superior thermal conductivity and strength-to-weight ratios while maintaining cost-effectiveness under limited tooling CAPEX.</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Develop a novel rotor surface treatment or coating that enhances friction coefficient and thermal dissipation without significantly increasing manufacturing complexity or cost. This aims to improve fade resistance and potentially allow for slightly thinner rotors, contributing to weight reduction and cost savings. The focus will be on treatments compatible with existing rotor manufacturing processes, considering the MG Hector's high kinetic energy requirement.</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49">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Optimize dust shield design and material gauge using advanced simulation tools to balance protection against debris and heat dissipation without compromising structural integrity or adding unnecessary weight. This is a cost-reduction focused approach that leverages existing materials but refines the design for better performance, particularly considering the dust shield gauge in the component focus.</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r h="368456">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Explore the integration of enhanced cooling channels within the brake rotor design itself, potentially through advanced casting techniques or additive manufacturing for prototypes. While additive manufacturing might have higher initial CAPEX, it can be used for rapid prototyping of optimized designs that could then be adapted for more cost-effective mass production methods. This addresses the 'Thermal Mass' physics and the high kinetic energy of the MG Hector.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c>
                  <a:txBody>
                    <a:bodyPr wrap="square" lIns="50800" rIns="50800" tIns="25400" bIns="25400"/>
                    <a:lstStyle/>
                    <a:p>
                      <a:pPr>
                        <a:defRPr sz="800">
                          <a:solidFill>
                            <a:srgbClr val="333333"/>
                          </a:solidFill>
                          <a:latin typeface="Calibri"/>
                        </a:defRPr>
                      </a:pPr>
                    </a:p>
                  </a:txBody>
                  <a:tcPr/>
                </a:tc>
                <a:tc>
                  <a:txBody>
                    <a:bodyPr wrap="square" lIns="50800" rIns="50800" tIns="25400" bIns="25400"/>
                    <a:lstStyle/>
                    <a:p>
                      <a:pPr>
                        <a:defRPr sz="800">
                          <a:solidFill>
                            <a:srgbClr val="333333"/>
                          </a:solidFill>
                          <a:latin typeface="Calibri"/>
                        </a:defRPr>
                      </a:pPr>
                      <a:r>
                        <a:t>100000</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ideas generated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371600"/>
          </a:xfrm>
          <a:prstGeom prst="rect">
            <a:avLst/>
          </a:prstGeom>
          <a:noFill/>
        </p:spPr>
        <p:txBody>
          <a:bodyPr wrap="square">
            <a:spAutoFit/>
          </a:bodyPr>
          <a:lstStyle/>
          <a:p>
            <a:pPr>
              <a:defRPr sz="2400" b="1">
                <a:solidFill>
                  <a:srgbClr val="003366"/>
                </a:solidFill>
              </a:defRPr>
            </a:pPr>
            <a:r>
              <a:t>#1: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7373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965960"/>
            <a:ext cx="5486400" cy="822959"/>
          </a:xfrm>
          <a:prstGeom prst="rect">
            <a:avLst/>
          </a:prstGeom>
          <a:noFill/>
        </p:spPr>
        <p:txBody>
          <a:bodyPr wrap="square">
            <a:spAutoFit/>
          </a:bodyPr>
          <a:lstStyle/>
          <a:p>
            <a:pPr>
              <a:defRPr sz="1000"/>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27889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8346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0632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5204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5661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794759"/>
            <a:ext cx="5486400" cy="274320"/>
          </a:xfrm>
          <a:prstGeom prst="rect">
            <a:avLst/>
          </a:prstGeom>
          <a:noFill/>
        </p:spPr>
        <p:txBody>
          <a:bodyPr wrap="square">
            <a:spAutoFit/>
          </a:bodyPr>
          <a:lstStyle/>
          <a:p>
            <a:pPr>
              <a:defRPr sz="1000"/>
            </a:pPr>
            <a:r>
              <a:t>Est. Saving: INR 113</a:t>
            </a:r>
            <a:br/>
            <a:r>
              <a:t>CAPEX: TBD</a:t>
            </a:r>
          </a:p>
        </p:txBody>
      </p:sp>
      <p:sp>
        <p:nvSpPr>
          <p:cNvPr id="12" name="Rectangle 11"/>
          <p:cNvSpPr/>
          <p:nvPr/>
        </p:nvSpPr>
        <p:spPr>
          <a:xfrm>
            <a:off x="274320" y="4069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1147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3433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7149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76071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989319"/>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64465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22.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371600"/>
          </a:xfrm>
          <a:prstGeom prst="rect">
            <a:avLst/>
          </a:prstGeom>
          <a:noFill/>
        </p:spPr>
        <p:txBody>
          <a:bodyPr wrap="square">
            <a:spAutoFit/>
          </a:bodyPr>
          <a:lstStyle/>
          <a:p>
            <a:pPr>
              <a:defRPr sz="24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7373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965960"/>
            <a:ext cx="5486400" cy="822959"/>
          </a:xfrm>
          <a:prstGeom prst="rect">
            <a:avLst/>
          </a:prstGeom>
          <a:noFill/>
        </p:spPr>
        <p:txBody>
          <a:bodyPr wrap="square">
            <a:spAutoFit/>
          </a:bodyPr>
          <a:lstStyle/>
          <a:p>
            <a:pPr>
              <a:defRPr sz="1000"/>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27889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8346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0632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5204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5661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794759"/>
            <a:ext cx="5486400" cy="274320"/>
          </a:xfrm>
          <a:prstGeom prst="rect">
            <a:avLst/>
          </a:prstGeom>
          <a:noFill/>
        </p:spPr>
        <p:txBody>
          <a:bodyPr wrap="square">
            <a:spAutoFit/>
          </a:bodyPr>
          <a:lstStyle/>
          <a:p>
            <a:pPr>
              <a:defRPr sz="1000"/>
            </a:pPr>
            <a:r>
              <a:t>Est. Saving: INR 47</a:t>
            </a:r>
            <a:br/>
            <a:r>
              <a:t>CAPEX: TBD</a:t>
            </a:r>
          </a:p>
        </p:txBody>
      </p:sp>
      <p:sp>
        <p:nvSpPr>
          <p:cNvPr id="12" name="Rectangle 11"/>
          <p:cNvSpPr/>
          <p:nvPr/>
        </p:nvSpPr>
        <p:spPr>
          <a:xfrm>
            <a:off x="274320" y="4069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1147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3433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7149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76071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989319"/>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64465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#3: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31089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337560"/>
            <a:ext cx="5486400" cy="822959"/>
          </a:xfrm>
          <a:prstGeom prst="rect">
            <a:avLst/>
          </a:prstGeom>
          <a:noFill/>
        </p:spPr>
        <p:txBody>
          <a:bodyPr wrap="square">
            <a:spAutoFit/>
          </a:bodyPr>
          <a:lstStyle/>
          <a:p>
            <a:pPr>
              <a:defRPr sz="1000"/>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41605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20624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434840"/>
            <a:ext cx="5486400" cy="457200"/>
          </a:xfrm>
          <a:prstGeom prst="rect">
            <a:avLst/>
          </a:prstGeom>
          <a:noFill/>
        </p:spPr>
        <p:txBody>
          <a:bodyPr wrap="square">
            <a:spAutoFit/>
          </a:bodyPr>
          <a:lstStyle/>
          <a:p>
            <a:pPr>
              <a:defRPr sz="1000"/>
            </a:pPr>
            <a:r>
              <a:t>N/A (No material change explicitly mentioned)</a:t>
            </a:r>
            <a:br/>
            <a:r>
              <a:t>1mm to 0.8mm</a:t>
            </a:r>
          </a:p>
        </p:txBody>
      </p:sp>
      <p:sp>
        <p:nvSpPr>
          <p:cNvPr id="9" name="Rectangle 8"/>
          <p:cNvSpPr/>
          <p:nvPr/>
        </p:nvSpPr>
        <p:spPr>
          <a:xfrm>
            <a:off x="274320" y="48920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9377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166359"/>
            <a:ext cx="5486400" cy="274320"/>
          </a:xfrm>
          <a:prstGeom prst="rect">
            <a:avLst/>
          </a:prstGeom>
          <a:noFill/>
        </p:spPr>
        <p:txBody>
          <a:bodyPr wrap="square">
            <a:spAutoFit/>
          </a:bodyPr>
          <a:lstStyle/>
          <a:p>
            <a:pPr>
              <a:defRPr sz="1000"/>
            </a:pPr>
            <a:r>
              <a:t>Est. Saving: INR 57</a:t>
            </a:r>
            <a:br/>
            <a:r>
              <a:t>CAPEX: TBD</a:t>
            </a:r>
          </a:p>
        </p:txBody>
      </p:sp>
      <p:sp>
        <p:nvSpPr>
          <p:cNvPr id="12" name="Rectangle 11"/>
          <p:cNvSpPr/>
          <p:nvPr/>
        </p:nvSpPr>
        <p:spPr>
          <a:xfrm>
            <a:off x="274320" y="54406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486399"/>
            <a:ext cx="5486400" cy="274320"/>
          </a:xfrm>
          <a:prstGeom prst="rect">
            <a:avLst/>
          </a:prstGeom>
          <a:noFill/>
        </p:spPr>
        <p:txBody>
          <a:bodyPr wrap="none">
            <a:spAutoFit/>
          </a:bodyPr>
          <a:lstStyle/>
          <a:p>
            <a:r>
              <a:t>(Content truncated)</a:t>
            </a:r>
          </a:p>
        </p:txBody>
      </p:sp>
      <p:sp>
        <p:nvSpPr>
          <p:cNvPr id="14" name="TextBox 13"/>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5" name="Picture 14" descr="185.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6" name="TextBox 15"/>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7" name="Picture 16" descr="39.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914400"/>
          </a:xfrm>
          <a:prstGeom prst="rect">
            <a:avLst/>
          </a:prstGeom>
          <a:noFill/>
        </p:spPr>
        <p:txBody>
          <a:bodyPr wrap="square">
            <a:spAutoFit/>
          </a:bodyPr>
          <a:lstStyle/>
          <a:p>
            <a:pPr>
              <a:defRPr sz="2400" b="1">
                <a:solidFill>
                  <a:srgbClr val="003366"/>
                </a:solidFill>
              </a:defRPr>
            </a:pPr>
            <a:r>
              <a:t>#4: Remove the black paint coating on the Brake Pedal Mounting Bracket within MGI</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2801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508760"/>
            <a:ext cx="5486400" cy="822959"/>
          </a:xfrm>
          <a:prstGeom prst="rect">
            <a:avLst/>
          </a:prstGeom>
          <a:noFill/>
        </p:spPr>
        <p:txBody>
          <a:bodyPr wrap="square">
            <a:spAutoFit/>
          </a:bodyPr>
          <a:lstStyle/>
          <a:p>
            <a:pPr>
              <a:defRPr sz="1000"/>
            </a:pPr>
            <a:r>
              <a:t>Technical optimization of Remove the black paint coating on the Brake Pedal Mounting Bracket within MGI focusing on material efficiency and process consolidation to reduce cycle time.</a:t>
            </a:r>
          </a:p>
        </p:txBody>
      </p:sp>
      <p:sp>
        <p:nvSpPr>
          <p:cNvPr id="6" name="Rectangle 5"/>
          <p:cNvSpPr/>
          <p:nvPr/>
        </p:nvSpPr>
        <p:spPr>
          <a:xfrm>
            <a:off x="274320" y="23317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774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060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063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089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37559"/>
            <a:ext cx="5486400" cy="274320"/>
          </a:xfrm>
          <a:prstGeom prst="rect">
            <a:avLst/>
          </a:prstGeom>
          <a:noFill/>
        </p:spPr>
        <p:txBody>
          <a:bodyPr wrap="square">
            <a:spAutoFit/>
          </a:bodyPr>
          <a:lstStyle/>
          <a:p>
            <a:pPr>
              <a:defRPr sz="1000"/>
            </a:pPr>
            <a:r>
              <a:t>Est. Saving: INR 115</a:t>
            </a:r>
            <a:br/>
            <a:r>
              <a:t>CAPEX: TBD</a:t>
            </a:r>
          </a:p>
        </p:txBody>
      </p:sp>
      <p:sp>
        <p:nvSpPr>
          <p:cNvPr id="12" name="Rectangle 11"/>
          <p:cNvSpPr/>
          <p:nvPr/>
        </p:nvSpPr>
        <p:spPr>
          <a:xfrm>
            <a:off x="274320" y="3611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6575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886200"/>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2578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30352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532120"/>
            <a:ext cx="5486400" cy="457200"/>
          </a:xfrm>
          <a:prstGeom prst="rect">
            <a:avLst/>
          </a:prstGeom>
          <a:noFill/>
        </p:spPr>
        <p:txBody>
          <a:bodyPr wrap="square">
            <a:spAutoFit/>
          </a:bodyPr>
          <a:lstStyle/>
          <a:p>
            <a:pPr>
              <a:defRPr sz="1000"/>
            </a:pPr>
            <a:r>
              <a:t>• Supplier: Consolidation to single-source Tier 1</a:t>
            </a:r>
            <a:br/>
            <a:r>
              <a:t>• Tooling: 15% reduction in logistics overhead</a:t>
            </a:r>
          </a:p>
        </p:txBody>
      </p:sp>
      <p:sp>
        <p:nvSpPr>
          <p:cNvPr id="18" name="Rectangle 17"/>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21" name="TextBox 20"/>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#5: Optimize front brake rotor material by substituting a portion of the cast iron with a lower-cost alloy while maintaining thermal performance through enhanced internal venting geometry.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651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880360"/>
            <a:ext cx="5486400" cy="822959"/>
          </a:xfrm>
          <a:prstGeom prst="rect">
            <a:avLst/>
          </a:prstGeom>
          <a:noFill/>
        </p:spPr>
        <p:txBody>
          <a:bodyPr wrap="square">
            <a:spAutoFit/>
          </a:bodyPr>
          <a:lstStyle/>
          <a:p>
            <a:pPr>
              <a:defRPr sz="1000"/>
            </a:pPr>
            <a:r>
              <a:t>Technical optimization of Optimize front brake rotor material by substituting a portion of the cast iron with a lower-cost alloy while maintaining thermal performance through enhanced internal venting geometry. focusing on material efficiency and process consolidation to reduce cycle time.</a:t>
            </a:r>
          </a:p>
        </p:txBody>
      </p:sp>
      <p:sp>
        <p:nvSpPr>
          <p:cNvPr id="6" name="Rectangle 5"/>
          <p:cNvSpPr/>
          <p:nvPr/>
        </p:nvSpPr>
        <p:spPr>
          <a:xfrm>
            <a:off x="274320" y="3703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7490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977639"/>
            <a:ext cx="5486400" cy="457200"/>
          </a:xfrm>
          <a:prstGeom prst="rect">
            <a:avLst/>
          </a:prstGeom>
          <a:noFill/>
        </p:spPr>
        <p:txBody>
          <a:bodyPr wrap="square">
            <a:spAutoFit/>
          </a:bodyPr>
          <a:lstStyle/>
          <a:p>
            <a:pPr>
              <a:defRPr sz="1000"/>
            </a:pPr>
            <a:r>
              <a:t>Optimize front brake rotor material by substituting a portion of the cast iron with a lower-cost all</a:t>
            </a:r>
            <a:br/>
            <a:r>
              <a:t>N/A (Maintains current envelope)</a:t>
            </a:r>
          </a:p>
        </p:txBody>
      </p:sp>
      <p:sp>
        <p:nvSpPr>
          <p:cNvPr id="9" name="Rectangle 8"/>
          <p:cNvSpPr/>
          <p:nvPr/>
        </p:nvSpPr>
        <p:spPr>
          <a:xfrm>
            <a:off x="274320" y="44348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4805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709159"/>
            <a:ext cx="5486400" cy="274320"/>
          </a:xfrm>
          <a:prstGeom prst="rect">
            <a:avLst/>
          </a:prstGeom>
          <a:noFill/>
        </p:spPr>
        <p:txBody>
          <a:bodyPr wrap="square">
            <a:spAutoFit/>
          </a:bodyPr>
          <a:lstStyle/>
          <a:p>
            <a:pPr>
              <a:defRPr sz="1000"/>
            </a:pPr>
            <a:r>
              <a:t>Est. Saving: INR 500000</a:t>
            </a:r>
            <a:br/>
            <a:r>
              <a:t>CAPEX: TBD</a:t>
            </a:r>
          </a:p>
        </p:txBody>
      </p:sp>
      <p:sp>
        <p:nvSpPr>
          <p:cNvPr id="12" name="Rectangle 11"/>
          <p:cNvSpPr/>
          <p:nvPr/>
        </p:nvSpPr>
        <p:spPr>
          <a:xfrm>
            <a:off x="274320" y="49834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029199"/>
            <a:ext cx="5486400" cy="274320"/>
          </a:xfrm>
          <a:prstGeom prst="rect">
            <a:avLst/>
          </a:prstGeom>
          <a:noFill/>
        </p:spPr>
        <p:txBody>
          <a:bodyPr wrap="none">
            <a:spAutoFit/>
          </a:bodyPr>
          <a:lstStyle/>
          <a:p>
            <a:r>
              <a:t>(Content truncated)</a:t>
            </a:r>
          </a:p>
        </p:txBody>
      </p:sp>
      <p:sp>
        <p:nvSpPr>
          <p:cNvPr id="14" name="TextBox 13"/>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5" name="Picture 14" descr="32.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6" name="TextBox 15"/>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7" name="Picture 16" descr="213.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#6: Replace the current steel brake caliper dust shields with a lighter, stamped aluminum alloy, reducing material thickness from 1.2mm to 0.9mm.</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1945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423160"/>
            <a:ext cx="5486400" cy="822959"/>
          </a:xfrm>
          <a:prstGeom prst="rect">
            <a:avLst/>
          </a:prstGeom>
          <a:noFill/>
        </p:spPr>
        <p:txBody>
          <a:bodyPr wrap="square">
            <a:spAutoFit/>
          </a:bodyPr>
          <a:lstStyle/>
          <a:p>
            <a:pPr>
              <a:defRPr sz="1000"/>
            </a:pPr>
            <a:r>
              <a:t>Technical optimization of Replace the current steel brake caliper dust shields with a lighter, stamped aluminum alloy, reducing material thickness from 1.2mm to 0.9mm. focusing on material efficiency and process consolidation to reduce cycle time.</a:t>
            </a:r>
          </a:p>
        </p:txBody>
      </p:sp>
      <p:sp>
        <p:nvSpPr>
          <p:cNvPr id="6" name="Rectangle 5"/>
          <p:cNvSpPr/>
          <p:nvPr/>
        </p:nvSpPr>
        <p:spPr>
          <a:xfrm>
            <a:off x="274320" y="32461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2918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520439"/>
            <a:ext cx="5486400" cy="457200"/>
          </a:xfrm>
          <a:prstGeom prst="rect">
            <a:avLst/>
          </a:prstGeom>
          <a:noFill/>
        </p:spPr>
        <p:txBody>
          <a:bodyPr wrap="square">
            <a:spAutoFit/>
          </a:bodyPr>
          <a:lstStyle/>
          <a:p>
            <a:pPr>
              <a:defRPr sz="1000"/>
            </a:pPr>
            <a:r>
              <a:t>Replace the current steel brake caliper dust shields with a lighter, stamped aluminum alloy, reducin</a:t>
            </a:r>
            <a:br/>
            <a:r>
              <a:t>1.2mm to 0.9mm</a:t>
            </a:r>
          </a:p>
        </p:txBody>
      </p:sp>
      <p:sp>
        <p:nvSpPr>
          <p:cNvPr id="9" name="Rectangle 8"/>
          <p:cNvSpPr/>
          <p:nvPr/>
        </p:nvSpPr>
        <p:spPr>
          <a:xfrm>
            <a:off x="274320" y="3977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0233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51959"/>
            <a:ext cx="5486400" cy="274320"/>
          </a:xfrm>
          <a:prstGeom prst="rect">
            <a:avLst/>
          </a:prstGeom>
          <a:noFill/>
        </p:spPr>
        <p:txBody>
          <a:bodyPr wrap="square">
            <a:spAutoFit/>
          </a:bodyPr>
          <a:lstStyle/>
          <a:p>
            <a:pPr>
              <a:defRPr sz="1000"/>
            </a:pPr>
            <a:r>
              <a:t>Est. Saving: INR 350000</a:t>
            </a:r>
            <a:br/>
            <a:r>
              <a:t>CAPEX: TBD</a:t>
            </a:r>
          </a:p>
        </p:txBody>
      </p:sp>
      <p:sp>
        <p:nvSpPr>
          <p:cNvPr id="12" name="Rectangle 11"/>
          <p:cNvSpPr/>
          <p:nvPr/>
        </p:nvSpPr>
        <p:spPr>
          <a:xfrm>
            <a:off x="274320" y="4526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719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005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172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217919"/>
            <a:ext cx="5486400" cy="274320"/>
          </a:xfrm>
          <a:prstGeom prst="rect">
            <a:avLst/>
          </a:prstGeom>
          <a:noFill/>
        </p:spPr>
        <p:txBody>
          <a:bodyPr wrap="none">
            <a:spAutoFit/>
          </a:bodyPr>
          <a:lstStyle/>
          <a:p>
            <a:r>
              <a:t>(Content truncated)</a:t>
            </a:r>
          </a:p>
        </p:txBody>
      </p:sp>
      <p:sp>
        <p:nvSpPr>
          <p:cNvPr id="17" name="TextBox 16"/>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8" name="Picture 17" descr="4.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9" name="TextBox 18"/>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0" name="Picture 19" descr="6.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#7: Transition the rear brake caliper mounting bracket from a cast iron component to a high-strength steel stamping, reducing wall thickness and optimizing geometry.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1945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423160"/>
            <a:ext cx="5486400" cy="822959"/>
          </a:xfrm>
          <a:prstGeom prst="rect">
            <a:avLst/>
          </a:prstGeom>
          <a:noFill/>
        </p:spPr>
        <p:txBody>
          <a:bodyPr wrap="square">
            <a:spAutoFit/>
          </a:bodyPr>
          <a:lstStyle/>
          <a:p>
            <a:pPr>
              <a:defRPr sz="1000"/>
            </a:pPr>
            <a:r>
              <a:t>Technical optimization of Transition the rear brake caliper mounting bracket from a cast iron component to a high-strength steel stamping, reducing wall thickness and optimizing geometry. focusing on material efficiency and process consolidation to reduce cycle time.</a:t>
            </a:r>
          </a:p>
        </p:txBody>
      </p:sp>
      <p:sp>
        <p:nvSpPr>
          <p:cNvPr id="6" name="Rectangle 5"/>
          <p:cNvSpPr/>
          <p:nvPr/>
        </p:nvSpPr>
        <p:spPr>
          <a:xfrm>
            <a:off x="274320" y="32461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2918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520439"/>
            <a:ext cx="5486400" cy="457200"/>
          </a:xfrm>
          <a:prstGeom prst="rect">
            <a:avLst/>
          </a:prstGeom>
          <a:noFill/>
        </p:spPr>
        <p:txBody>
          <a:bodyPr wrap="square">
            <a:spAutoFit/>
          </a:bodyPr>
          <a:lstStyle/>
          <a:p>
            <a:pPr>
              <a:defRPr sz="1000"/>
            </a:pPr>
            <a:r>
              <a:t>Transition the rear brake caliper mounting bracket from a cast iron component to a high-strength ste</a:t>
            </a:r>
            <a:br/>
            <a:r>
              <a:t>N/A (Maintains current envelope)</a:t>
            </a:r>
          </a:p>
        </p:txBody>
      </p:sp>
      <p:sp>
        <p:nvSpPr>
          <p:cNvPr id="9" name="Rectangle 8"/>
          <p:cNvSpPr/>
          <p:nvPr/>
        </p:nvSpPr>
        <p:spPr>
          <a:xfrm>
            <a:off x="274320" y="3977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0233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51959"/>
            <a:ext cx="5486400" cy="274320"/>
          </a:xfrm>
          <a:prstGeom prst="rect">
            <a:avLst/>
          </a:prstGeom>
          <a:noFill/>
        </p:spPr>
        <p:txBody>
          <a:bodyPr wrap="square">
            <a:spAutoFit/>
          </a:bodyPr>
          <a:lstStyle/>
          <a:p>
            <a:pPr>
              <a:defRPr sz="1000"/>
            </a:pPr>
            <a:r>
              <a:t>Est. Saving: INR 450000</a:t>
            </a:r>
            <a:br/>
            <a:r>
              <a:t>CAPEX: TBD</a:t>
            </a:r>
          </a:p>
        </p:txBody>
      </p:sp>
      <p:sp>
        <p:nvSpPr>
          <p:cNvPr id="12" name="Rectangle 11"/>
          <p:cNvSpPr/>
          <p:nvPr/>
        </p:nvSpPr>
        <p:spPr>
          <a:xfrm>
            <a:off x="274320" y="4526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719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005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172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217919"/>
            <a:ext cx="5486400" cy="274320"/>
          </a:xfrm>
          <a:prstGeom prst="rect">
            <a:avLst/>
          </a:prstGeom>
          <a:noFill/>
        </p:spPr>
        <p:txBody>
          <a:bodyPr wrap="none">
            <a:spAutoFit/>
          </a:bodyPr>
          <a:lstStyle/>
          <a:p>
            <a:r>
              <a:t>(Content truncated)</a:t>
            </a:r>
          </a:p>
        </p:txBody>
      </p:sp>
      <p:sp>
        <p:nvSpPr>
          <p:cNvPr id="17" name="TextBox 16"/>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8" name="Picture 17" descr="119.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9" name="TextBox 18"/>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0" name="Picture 19" descr="2.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#8: Implement a single-piston floating caliper design for the rear brakes, replacing the current fixed caliper, to reduce component count and machining complexity.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1945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423160"/>
            <a:ext cx="5486400" cy="822959"/>
          </a:xfrm>
          <a:prstGeom prst="rect">
            <a:avLst/>
          </a:prstGeom>
          <a:noFill/>
        </p:spPr>
        <p:txBody>
          <a:bodyPr wrap="square">
            <a:spAutoFit/>
          </a:bodyPr>
          <a:lstStyle/>
          <a:p>
            <a:pPr>
              <a:defRPr sz="1000"/>
            </a:pPr>
            <a:r>
              <a:t>Technical optimization of Implement a single-piston floating caliper design for the rear brakes, replacing the current fixed caliper, to reduce component count and machining complexity. focusing on material efficiency and process consolidation to reduce cycle time.</a:t>
            </a:r>
          </a:p>
        </p:txBody>
      </p:sp>
      <p:sp>
        <p:nvSpPr>
          <p:cNvPr id="6" name="Rectangle 5"/>
          <p:cNvSpPr/>
          <p:nvPr/>
        </p:nvSpPr>
        <p:spPr>
          <a:xfrm>
            <a:off x="274320" y="32461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2918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5204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977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0233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51959"/>
            <a:ext cx="5486400" cy="274320"/>
          </a:xfrm>
          <a:prstGeom prst="rect">
            <a:avLst/>
          </a:prstGeom>
          <a:noFill/>
        </p:spPr>
        <p:txBody>
          <a:bodyPr wrap="square">
            <a:spAutoFit/>
          </a:bodyPr>
          <a:lstStyle/>
          <a:p>
            <a:pPr>
              <a:defRPr sz="1000"/>
            </a:pPr>
            <a:r>
              <a:t>Est. Saving: INR 400000</a:t>
            </a:r>
            <a:br/>
            <a:r>
              <a:t>CAPEX: TBD</a:t>
            </a:r>
          </a:p>
        </p:txBody>
      </p:sp>
      <p:sp>
        <p:nvSpPr>
          <p:cNvPr id="12" name="Rectangle 11"/>
          <p:cNvSpPr/>
          <p:nvPr/>
        </p:nvSpPr>
        <p:spPr>
          <a:xfrm>
            <a:off x="274320" y="4526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719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005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172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217919"/>
            <a:ext cx="5486400" cy="274320"/>
          </a:xfrm>
          <a:prstGeom prst="rect">
            <a:avLst/>
          </a:prstGeom>
          <a:noFill/>
        </p:spPr>
        <p:txBody>
          <a:bodyPr wrap="none">
            <a:spAutoFit/>
          </a:bodyPr>
          <a:lstStyle/>
          <a:p>
            <a:r>
              <a:t>(Content truncated)</a:t>
            </a:r>
          </a:p>
        </p:txBody>
      </p:sp>
      <p:sp>
        <p:nvSpPr>
          <p:cNvPr id="17" name="TextBox 16"/>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8" name="Picture 17" descr="142.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9" name="TextBox 18"/>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0" name="Picture 19" descr="9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#9: Substitute the current brake fluid reservoir with a smaller, integrated unit that uses a lower-cost plastic composite instead of molded ABS.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1945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423160"/>
            <a:ext cx="5486400" cy="822959"/>
          </a:xfrm>
          <a:prstGeom prst="rect">
            <a:avLst/>
          </a:prstGeom>
          <a:noFill/>
        </p:spPr>
        <p:txBody>
          <a:bodyPr wrap="square">
            <a:spAutoFit/>
          </a:bodyPr>
          <a:lstStyle/>
          <a:p>
            <a:pPr>
              <a:defRPr sz="1000"/>
            </a:pPr>
            <a:r>
              <a:t>Technical optimization of Substitute the current brake fluid reservoir with a smaller, integrated unit that uses a lower-cost plastic composite instead of molded ABS. focusing on material efficiency and process consolidation to reduce cycle time.</a:t>
            </a:r>
          </a:p>
        </p:txBody>
      </p:sp>
      <p:sp>
        <p:nvSpPr>
          <p:cNvPr id="6" name="Rectangle 5"/>
          <p:cNvSpPr/>
          <p:nvPr/>
        </p:nvSpPr>
        <p:spPr>
          <a:xfrm>
            <a:off x="274320" y="32461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2918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520439"/>
            <a:ext cx="5486400" cy="457200"/>
          </a:xfrm>
          <a:prstGeom prst="rect">
            <a:avLst/>
          </a:prstGeom>
          <a:noFill/>
        </p:spPr>
        <p:txBody>
          <a:bodyPr wrap="square">
            <a:spAutoFit/>
          </a:bodyPr>
          <a:lstStyle/>
          <a:p>
            <a:pPr>
              <a:defRPr sz="1000"/>
            </a:pPr>
            <a:r>
              <a:t>Substitute the current brake fluid reservoir with a smaller, integrated unit that uses a lower-cost </a:t>
            </a:r>
            <a:br/>
            <a:r>
              <a:t>N/A (Maintains current envelope)</a:t>
            </a:r>
          </a:p>
        </p:txBody>
      </p:sp>
      <p:sp>
        <p:nvSpPr>
          <p:cNvPr id="9" name="Rectangle 8"/>
          <p:cNvSpPr/>
          <p:nvPr/>
        </p:nvSpPr>
        <p:spPr>
          <a:xfrm>
            <a:off x="274320" y="3977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0233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51959"/>
            <a:ext cx="5486400" cy="274320"/>
          </a:xfrm>
          <a:prstGeom prst="rect">
            <a:avLst/>
          </a:prstGeom>
          <a:noFill/>
        </p:spPr>
        <p:txBody>
          <a:bodyPr wrap="square">
            <a:spAutoFit/>
          </a:bodyPr>
          <a:lstStyle/>
          <a:p>
            <a:pPr>
              <a:defRPr sz="1000"/>
            </a:pPr>
            <a:r>
              <a:t>Est. Saving: INR 250000</a:t>
            </a:r>
            <a:br/>
            <a:r>
              <a:t>CAPEX: TBD</a:t>
            </a:r>
          </a:p>
        </p:txBody>
      </p:sp>
      <p:sp>
        <p:nvSpPr>
          <p:cNvPr id="12" name="Rectangle 11"/>
          <p:cNvSpPr/>
          <p:nvPr/>
        </p:nvSpPr>
        <p:spPr>
          <a:xfrm>
            <a:off x="274320" y="4526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719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005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172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217919"/>
            <a:ext cx="5486400" cy="274320"/>
          </a:xfrm>
          <a:prstGeom prst="rect">
            <a:avLst/>
          </a:prstGeom>
          <a:noFill/>
        </p:spPr>
        <p:txBody>
          <a:bodyPr wrap="none">
            <a:spAutoFit/>
          </a:bodyPr>
          <a:lstStyle/>
          <a:p>
            <a:r>
              <a:t>(Content truncated)</a:t>
            </a:r>
          </a:p>
        </p:txBody>
      </p:sp>
      <p:sp>
        <p:nvSpPr>
          <p:cNvPr id="17" name="TextBox 16"/>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8" name="Picture 17" descr="26.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9" name="TextBox 18"/>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0" name="Picture 19" descr="2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#10: Reduce the caliper piston diameter for the rear brake assembly by 2mm, compensating for reduced braking force with a slightly increased rear brake pad friction coefficient.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1945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423160"/>
            <a:ext cx="5486400" cy="822959"/>
          </a:xfrm>
          <a:prstGeom prst="rect">
            <a:avLst/>
          </a:prstGeom>
          <a:noFill/>
        </p:spPr>
        <p:txBody>
          <a:bodyPr wrap="square">
            <a:spAutoFit/>
          </a:bodyPr>
          <a:lstStyle/>
          <a:p>
            <a:pPr>
              <a:defRPr sz="1000"/>
            </a:pPr>
            <a:r>
              <a:t>Technical optimization of Reduce the caliper piston diameter for the rear brake assembly by 2mm, compensating for reduced braking force with a slightly increased rear brake pad friction coefficient. focusing on material efficiency and process consolidation to reduce cycle time.</a:t>
            </a:r>
          </a:p>
        </p:txBody>
      </p:sp>
      <p:sp>
        <p:nvSpPr>
          <p:cNvPr id="6" name="Rectangle 5"/>
          <p:cNvSpPr/>
          <p:nvPr/>
        </p:nvSpPr>
        <p:spPr>
          <a:xfrm>
            <a:off x="274320" y="32461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2918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5204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977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0233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51959"/>
            <a:ext cx="5486400" cy="274320"/>
          </a:xfrm>
          <a:prstGeom prst="rect">
            <a:avLst/>
          </a:prstGeom>
          <a:noFill/>
        </p:spPr>
        <p:txBody>
          <a:bodyPr wrap="square">
            <a:spAutoFit/>
          </a:bodyPr>
          <a:lstStyle/>
          <a:p>
            <a:pPr>
              <a:defRPr sz="1000"/>
            </a:pPr>
            <a:r>
              <a:t>Est. Saving: INR 400000</a:t>
            </a:r>
            <a:br/>
            <a:r>
              <a:t>CAPEX: TBD</a:t>
            </a:r>
          </a:p>
        </p:txBody>
      </p:sp>
      <p:sp>
        <p:nvSpPr>
          <p:cNvPr id="12" name="Rectangle 11"/>
          <p:cNvSpPr/>
          <p:nvPr/>
        </p:nvSpPr>
        <p:spPr>
          <a:xfrm>
            <a:off x="274320" y="4526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719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005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172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217919"/>
            <a:ext cx="5486400" cy="274320"/>
          </a:xfrm>
          <a:prstGeom prst="rect">
            <a:avLst/>
          </a:prstGeom>
          <a:noFill/>
        </p:spPr>
        <p:txBody>
          <a:bodyPr wrap="none">
            <a:spAutoFit/>
          </a:bodyPr>
          <a:lstStyle/>
          <a:p>
            <a:r>
              <a:t>(Content truncated)</a:t>
            </a:r>
          </a:p>
        </p:txBody>
      </p:sp>
      <p:sp>
        <p:nvSpPr>
          <p:cNvPr id="17" name="TextBox 16"/>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8" name="Picture 17" descr="6.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9" name="TextBox 18"/>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0" name="Picture 19" descr="2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#11: Reduce the thickness of the front brake rotor from 28mm to 26mm, utilizing a higher-grade cast iron with improved thermal conductivity and wear resistance.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1945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423160"/>
            <a:ext cx="5486400" cy="822959"/>
          </a:xfrm>
          <a:prstGeom prst="rect">
            <a:avLst/>
          </a:prstGeom>
          <a:noFill/>
        </p:spPr>
        <p:txBody>
          <a:bodyPr wrap="square">
            <a:spAutoFit/>
          </a:bodyPr>
          <a:lstStyle/>
          <a:p>
            <a:pPr>
              <a:defRPr sz="1000"/>
            </a:pPr>
            <a:r>
              <a:t>Technical optimization of Reduce the thickness of the front brake rotor from 28mm to 26mm, utilizing a higher-grade cast iron with improved thermal conductivity and wear resistance. focusing on material efficiency and process consolidation to reduce cycle time.</a:t>
            </a:r>
          </a:p>
        </p:txBody>
      </p:sp>
      <p:sp>
        <p:nvSpPr>
          <p:cNvPr id="6" name="Rectangle 5"/>
          <p:cNvSpPr/>
          <p:nvPr/>
        </p:nvSpPr>
        <p:spPr>
          <a:xfrm>
            <a:off x="274320" y="32461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2918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520439"/>
            <a:ext cx="5486400" cy="457200"/>
          </a:xfrm>
          <a:prstGeom prst="rect">
            <a:avLst/>
          </a:prstGeom>
          <a:noFill/>
        </p:spPr>
        <p:txBody>
          <a:bodyPr wrap="square">
            <a:spAutoFit/>
          </a:bodyPr>
          <a:lstStyle/>
          <a:p>
            <a:pPr>
              <a:defRPr sz="1000"/>
            </a:pPr>
            <a:r>
              <a:t>Reduce the thickness of the front brake rotor from 28mm to 26mm, utilizing a higher-grade cast iron </a:t>
            </a:r>
            <a:br/>
            <a:r>
              <a:t>28mm to 26mm</a:t>
            </a:r>
          </a:p>
        </p:txBody>
      </p:sp>
      <p:sp>
        <p:nvSpPr>
          <p:cNvPr id="9" name="Rectangle 8"/>
          <p:cNvSpPr/>
          <p:nvPr/>
        </p:nvSpPr>
        <p:spPr>
          <a:xfrm>
            <a:off x="274320" y="3977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0233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51959"/>
            <a:ext cx="5486400" cy="274320"/>
          </a:xfrm>
          <a:prstGeom prst="rect">
            <a:avLst/>
          </a:prstGeom>
          <a:noFill/>
        </p:spPr>
        <p:txBody>
          <a:bodyPr wrap="square">
            <a:spAutoFit/>
          </a:bodyPr>
          <a:lstStyle/>
          <a:p>
            <a:pPr>
              <a:defRPr sz="1000"/>
            </a:pPr>
            <a:r>
              <a:t>Est. Saving: INR 300000</a:t>
            </a:r>
            <a:br/>
            <a:r>
              <a:t>CAPEX: TBD</a:t>
            </a:r>
          </a:p>
        </p:txBody>
      </p:sp>
      <p:sp>
        <p:nvSpPr>
          <p:cNvPr id="12" name="Rectangle 11"/>
          <p:cNvSpPr/>
          <p:nvPr/>
        </p:nvSpPr>
        <p:spPr>
          <a:xfrm>
            <a:off x="274320" y="4526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719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005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172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217919"/>
            <a:ext cx="5486400" cy="274320"/>
          </a:xfrm>
          <a:prstGeom prst="rect">
            <a:avLst/>
          </a:prstGeom>
          <a:noFill/>
        </p:spPr>
        <p:txBody>
          <a:bodyPr wrap="none">
            <a:spAutoFit/>
          </a:bodyPr>
          <a:lstStyle/>
          <a:p>
            <a:r>
              <a:t>(Content truncated)</a:t>
            </a:r>
          </a:p>
        </p:txBody>
      </p:sp>
      <p:sp>
        <p:nvSpPr>
          <p:cNvPr id="17" name="TextBox 16"/>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8" name="Picture 17" descr="110.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9" name="TextBox 18"/>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0" name="Picture 19" descr="10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#12: Reduce the number of fastening bolts on the front brake caliper bracket from four to three, optimizing load distribution and bolt size.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1945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423160"/>
            <a:ext cx="5486400" cy="822959"/>
          </a:xfrm>
          <a:prstGeom prst="rect">
            <a:avLst/>
          </a:prstGeom>
          <a:noFill/>
        </p:spPr>
        <p:txBody>
          <a:bodyPr wrap="square">
            <a:spAutoFit/>
          </a:bodyPr>
          <a:lstStyle/>
          <a:p>
            <a:pPr>
              <a:defRPr sz="1000"/>
            </a:pPr>
            <a:r>
              <a:t>Technical optimization of Reduce the number of fastening bolts on the front brake caliper bracket from four to three, optimizing load distribution and bolt size. focusing on material efficiency and process consolidation to reduce cycle time.</a:t>
            </a:r>
          </a:p>
        </p:txBody>
      </p:sp>
      <p:sp>
        <p:nvSpPr>
          <p:cNvPr id="6" name="Rectangle 5"/>
          <p:cNvSpPr/>
          <p:nvPr/>
        </p:nvSpPr>
        <p:spPr>
          <a:xfrm>
            <a:off x="274320" y="32461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29183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520439"/>
            <a:ext cx="5486400" cy="457200"/>
          </a:xfrm>
          <a:prstGeom prst="rect">
            <a:avLst/>
          </a:prstGeom>
          <a:noFill/>
        </p:spPr>
        <p:txBody>
          <a:bodyPr wrap="square">
            <a:spAutoFit/>
          </a:bodyPr>
          <a:lstStyle/>
          <a:p>
            <a:pPr>
              <a:defRPr sz="1000"/>
            </a:pPr>
            <a:r>
              <a:t>N/A (No material change explicitly mentioned)</a:t>
            </a:r>
            <a:br/>
            <a:r>
              <a:t>N/A (Maintains current envelope)</a:t>
            </a:r>
          </a:p>
        </p:txBody>
      </p:sp>
      <p:sp>
        <p:nvSpPr>
          <p:cNvPr id="9" name="Rectangle 8"/>
          <p:cNvSpPr/>
          <p:nvPr/>
        </p:nvSpPr>
        <p:spPr>
          <a:xfrm>
            <a:off x="274320" y="39776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0233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51959"/>
            <a:ext cx="5486400" cy="274320"/>
          </a:xfrm>
          <a:prstGeom prst="rect">
            <a:avLst/>
          </a:prstGeom>
          <a:noFill/>
        </p:spPr>
        <p:txBody>
          <a:bodyPr wrap="square">
            <a:spAutoFit/>
          </a:bodyPr>
          <a:lstStyle/>
          <a:p>
            <a:pPr>
              <a:defRPr sz="1000"/>
            </a:pPr>
            <a:r>
              <a:t>Est. Saving: INR 150000</a:t>
            </a:r>
            <a:br/>
            <a:r>
              <a:t>CAPEX: TBD</a:t>
            </a:r>
          </a:p>
        </p:txBody>
      </p:sp>
      <p:sp>
        <p:nvSpPr>
          <p:cNvPr id="12" name="Rectangle 11"/>
          <p:cNvSpPr/>
          <p:nvPr/>
        </p:nvSpPr>
        <p:spPr>
          <a:xfrm>
            <a:off x="274320" y="45262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7199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00599"/>
            <a:ext cx="5486400" cy="1371600"/>
          </a:xfrm>
          <a:prstGeom prst="rect">
            <a:avLst/>
          </a:prstGeom>
          <a:noFill/>
        </p:spPr>
        <p:txBody>
          <a:bodyPr wrap="square">
            <a:spAutoFit/>
          </a:bodyPr>
          <a:lstStyle/>
          <a:p>
            <a:pPr>
              <a:defRPr sz="1000"/>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1721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217919"/>
            <a:ext cx="5486400" cy="274320"/>
          </a:xfrm>
          <a:prstGeom prst="rect">
            <a:avLst/>
          </a:prstGeom>
          <a:noFill/>
        </p:spPr>
        <p:txBody>
          <a:bodyPr wrap="none">
            <a:spAutoFit/>
          </a:bodyPr>
          <a:lstStyle/>
          <a:p>
            <a:r>
              <a:t>(Content truncated)</a:t>
            </a:r>
          </a:p>
        </p:txBody>
      </p:sp>
      <p:sp>
        <p:nvSpPr>
          <p:cNvPr id="17" name="TextBox 16"/>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8" name="Picture 17" descr="124.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9" name="TextBox 18"/>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0" name="Picture 19" descr="2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029200"/>
          </a:xfrm>
          <a:prstGeom prst="rect">
            <a:avLst/>
          </a:prstGeom>
          <a:noFill/>
        </p:spPr>
        <p:txBody>
          <a:bodyPr wrap="square">
            <a:spAutoFit/>
          </a:bodyPr>
          <a:lstStyle/>
          <a:p>
            <a:pPr>
              <a:defRPr sz="2400" b="1">
                <a:solidFill>
                  <a:srgbClr val="003366"/>
                </a:solidFill>
              </a:defRPr>
            </a:pPr>
            <a:r>
              <a:t>#13: Investigate the use of advanced Magnesium alloys for brake caliper housings to reduce unsprung mass, thereby improving handling and potentially reducing overall vehicle weight. This would be a direct substitution for the current cast iron or aluminum calipers, focusing on specific alloy compositions that offer comparable or superior thermal conductivity and strength-to-weight ratios while maintaining cost-effectiveness under limited tooling CAPEX.</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53949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5623560"/>
            <a:ext cx="5486400" cy="822959"/>
          </a:xfrm>
          <a:prstGeom prst="rect">
            <a:avLst/>
          </a:prstGeom>
          <a:noFill/>
        </p:spPr>
        <p:txBody>
          <a:bodyPr wrap="square">
            <a:spAutoFit/>
          </a:bodyPr>
          <a:lstStyle/>
          <a:p>
            <a:pPr>
              <a:defRPr sz="1000"/>
            </a:pPr>
            <a:r>
              <a:t>Technical optimization of Investigate the use of advanced Magnesium alloys for brake caliper housings to reduce unsprung mass, thereby improving handling and potentially reducing overall vehicle weight. This would be a direct substitution for the current cast iron or aluminum calipers, focusing on specific alloy compositions that offer comparable or superior thermal conductivity and strength-to-weight ratios while maintaining cost-effectiveness under limited tooling CAPEX. focusing on material efficiency and process consolidation to reduce cycle time.</a:t>
            </a:r>
          </a:p>
        </p:txBody>
      </p:sp>
      <p:sp>
        <p:nvSpPr>
          <p:cNvPr id="6" name="Rectangle 5"/>
          <p:cNvSpPr/>
          <p:nvPr/>
        </p:nvSpPr>
        <p:spPr>
          <a:xfrm>
            <a:off x="274320" y="64465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492240"/>
            <a:ext cx="5486400" cy="274320"/>
          </a:xfrm>
          <a:prstGeom prst="rect">
            <a:avLst/>
          </a:prstGeom>
          <a:noFill/>
        </p:spPr>
        <p:txBody>
          <a:bodyPr wrap="none">
            <a:spAutoFit/>
          </a:bodyPr>
          <a:lstStyle/>
          <a:p>
            <a:r>
              <a:t>(Content truncated)</a:t>
            </a:r>
          </a:p>
        </p:txBody>
      </p:sp>
      <p:sp>
        <p:nvSpPr>
          <p:cNvPr id="8" name="TextBox 7"/>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9" name="Picture 8" descr="18.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0" name="TextBox 9"/>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1" name="Picture 10" descr="7.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029200"/>
          </a:xfrm>
          <a:prstGeom prst="rect">
            <a:avLst/>
          </a:prstGeom>
          <a:noFill/>
        </p:spPr>
        <p:txBody>
          <a:bodyPr wrap="square">
            <a:spAutoFit/>
          </a:bodyPr>
          <a:lstStyle/>
          <a:p>
            <a:pPr>
              <a:defRPr sz="2400" b="1">
                <a:solidFill>
                  <a:srgbClr val="003366"/>
                </a:solidFill>
              </a:defRPr>
            </a:pPr>
            <a:r>
              <a:t>#14: Develop a novel rotor surface treatment or coating that enhances friction coefficient and thermal dissipation without significantly increasing manufacturing complexity or cost. This aims to improve fade resistance and potentially allow for slightly thinner rotors, contributing to weight reduction and cost savings. The focus will be on treatments compatible with existing rotor manufacturing processes, considering the MG Hector's high kinetic energy requirement.</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53949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5623560"/>
            <a:ext cx="5486400" cy="822959"/>
          </a:xfrm>
          <a:prstGeom prst="rect">
            <a:avLst/>
          </a:prstGeom>
          <a:noFill/>
        </p:spPr>
        <p:txBody>
          <a:bodyPr wrap="square">
            <a:spAutoFit/>
          </a:bodyPr>
          <a:lstStyle/>
          <a:p>
            <a:pPr>
              <a:defRPr sz="1000"/>
            </a:pPr>
            <a:r>
              <a:t>Technical optimization of Develop a novel rotor surface treatment or coating that enhances friction coefficient and thermal dissipation without significantly increasing manufacturing complexity or cost. This aims to improve fade resistance and potentially allow for slightly thinner rotors, contributing to weight reduction and cost savings. The focus will be on treatments compatible with existing rotor manufacturing processes, considering the MG Hector's high kinetic energy requirement. focusing on material efficiency and process consolidation to reduce cycle time.</a:t>
            </a:r>
          </a:p>
        </p:txBody>
      </p:sp>
      <p:sp>
        <p:nvSpPr>
          <p:cNvPr id="6" name="Rectangle 5"/>
          <p:cNvSpPr/>
          <p:nvPr/>
        </p:nvSpPr>
        <p:spPr>
          <a:xfrm>
            <a:off x="274320" y="64465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492240"/>
            <a:ext cx="5486400" cy="274320"/>
          </a:xfrm>
          <a:prstGeom prst="rect">
            <a:avLst/>
          </a:prstGeom>
          <a:noFill/>
        </p:spPr>
        <p:txBody>
          <a:bodyPr wrap="none">
            <a:spAutoFit/>
          </a:bodyPr>
          <a:lstStyle/>
          <a:p>
            <a:r>
              <a:t>(Content truncated)</a:t>
            </a:r>
          </a:p>
        </p:txBody>
      </p:sp>
      <p:sp>
        <p:nvSpPr>
          <p:cNvPr id="8" name="TextBox 7"/>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9" name="Picture 8" descr="5.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0" name="TextBox 9"/>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1" name="Picture 10" descr="34.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572000"/>
          </a:xfrm>
          <a:prstGeom prst="rect">
            <a:avLst/>
          </a:prstGeom>
          <a:noFill/>
        </p:spPr>
        <p:txBody>
          <a:bodyPr wrap="square">
            <a:spAutoFit/>
          </a:bodyPr>
          <a:lstStyle/>
          <a:p>
            <a:pPr>
              <a:defRPr sz="2400" b="1">
                <a:solidFill>
                  <a:srgbClr val="003366"/>
                </a:solidFill>
              </a:defRPr>
            </a:pPr>
            <a:r>
              <a:t>#15: Optimize dust shield design and material gauge using advanced simulation tools to balance protection against debris and heat dissipation without compromising structural integrity or adding unnecessary weight. This is a cost-reduction focused approach that leverages existing materials but refines the design for better performance, particularly considering the dust shield gauge in the component focus.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4937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5166360"/>
            <a:ext cx="5486400" cy="822959"/>
          </a:xfrm>
          <a:prstGeom prst="rect">
            <a:avLst/>
          </a:prstGeom>
          <a:noFill/>
        </p:spPr>
        <p:txBody>
          <a:bodyPr wrap="square">
            <a:spAutoFit/>
          </a:bodyPr>
          <a:lstStyle/>
          <a:p>
            <a:pPr>
              <a:defRPr sz="1000"/>
            </a:pPr>
            <a:r>
              <a:t>Technical optimization of Optimize dust shield design and material gauge using advanced simulation tools to balance protection against debris and heat dissipation without compromising structural integrity or adding unnecessary weight. This is a cost-reduction focused approach that leverages existing materials but refines the design for better performance, particularly considering the dust shield gauge in the component focus. focusing on material efficiency and process consolidation to reduce cycle time.</a:t>
            </a:r>
          </a:p>
        </p:txBody>
      </p:sp>
      <p:sp>
        <p:nvSpPr>
          <p:cNvPr id="6" name="Rectangle 5"/>
          <p:cNvSpPr/>
          <p:nvPr/>
        </p:nvSpPr>
        <p:spPr>
          <a:xfrm>
            <a:off x="274320" y="59893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035040"/>
            <a:ext cx="5486400" cy="274320"/>
          </a:xfrm>
          <a:prstGeom prst="rect">
            <a:avLst/>
          </a:prstGeom>
          <a:noFill/>
        </p:spPr>
        <p:txBody>
          <a:bodyPr wrap="none">
            <a:spAutoFit/>
          </a:bodyPr>
          <a:lstStyle/>
          <a:p>
            <a:r>
              <a:t>(Content truncated)</a:t>
            </a:r>
          </a:p>
        </p:txBody>
      </p:sp>
      <p:sp>
        <p:nvSpPr>
          <p:cNvPr id="8" name="TextBox 7"/>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9" name="Picture 8" descr="118.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0" name="TextBox 9"/>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1" name="Picture 10" descr="162.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029200"/>
          </a:xfrm>
          <a:prstGeom prst="rect">
            <a:avLst/>
          </a:prstGeom>
          <a:noFill/>
        </p:spPr>
        <p:txBody>
          <a:bodyPr wrap="square">
            <a:spAutoFit/>
          </a:bodyPr>
          <a:lstStyle/>
          <a:p>
            <a:pPr>
              <a:defRPr sz="2400" b="1">
                <a:solidFill>
                  <a:srgbClr val="003366"/>
                </a:solidFill>
              </a:defRPr>
            </a:pPr>
            <a:r>
              <a:t>#16: Explore the integration of enhanced cooling channels within the brake rotor design itself, potentially through advanced casting techniques or additive manufacturing for prototypes. While additive manufacturing might have higher initial CAPEX, it can be used for rapid prototyping of optimized designs that could then be adapted for more cost-effective mass production methods. This addresses the 'Thermal Mass' physics and the high kinetic energy of the MG Hector.</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53949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5623560"/>
            <a:ext cx="5486400" cy="822959"/>
          </a:xfrm>
          <a:prstGeom prst="rect">
            <a:avLst/>
          </a:prstGeom>
          <a:noFill/>
        </p:spPr>
        <p:txBody>
          <a:bodyPr wrap="square">
            <a:spAutoFit/>
          </a:bodyPr>
          <a:lstStyle/>
          <a:p>
            <a:pPr>
              <a:defRPr sz="1000"/>
            </a:pPr>
            <a:r>
              <a:t>Technical optimization of Explore the integration of enhanced cooling channels within the brake rotor design itself, potentially through advanced casting techniques or additive manufacturing for prototypes. While additive manufacturing might have higher initial CAPEX, it can be used for rapid prototyping of optimized designs that could then be adapted for more cost-effective mass production methods. This addresses the 'Thermal Mass' physics and the high kinetic energy of the MG Hector. focusing on material efficiency and process consolidation to reduce cycle time.</a:t>
            </a:r>
          </a:p>
        </p:txBody>
      </p:sp>
      <p:sp>
        <p:nvSpPr>
          <p:cNvPr id="6" name="Rectangle 5"/>
          <p:cNvSpPr/>
          <p:nvPr/>
        </p:nvSpPr>
        <p:spPr>
          <a:xfrm>
            <a:off x="274320" y="64465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492240"/>
            <a:ext cx="5486400" cy="274320"/>
          </a:xfrm>
          <a:prstGeom prst="rect">
            <a:avLst/>
          </a:prstGeom>
          <a:noFill/>
        </p:spPr>
        <p:txBody>
          <a:bodyPr wrap="none">
            <a:spAutoFit/>
          </a:bodyPr>
          <a:lstStyle/>
          <a:p>
            <a:r>
              <a:t>(Content truncated)</a:t>
            </a:r>
          </a:p>
        </p:txBody>
      </p:sp>
      <p:sp>
        <p:nvSpPr>
          <p:cNvPr id="8" name="TextBox 7"/>
          <p:cNvSpPr txBox="1"/>
          <p:nvPr/>
        </p:nvSpPr>
        <p:spPr>
          <a:xfrm>
            <a:off x="6217920" y="100584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9" name="Picture 8" descr="29.jpg"/>
          <p:cNvPicPr>
            <a:picLocks noChangeAspect="1"/>
          </p:cNvPicPr>
          <p:nvPr/>
        </p:nvPicPr>
        <p:blipFill>
          <a:blip r:embed="rId2"/>
          <a:stretch>
            <a:fillRect/>
          </a:stretch>
        </p:blipFill>
        <p:spPr>
          <a:xfrm>
            <a:off x="6217920" y="1280160"/>
            <a:ext cx="5699455" cy="2377440"/>
          </a:xfrm>
          <a:prstGeom prst="rect">
            <a:avLst/>
          </a:prstGeom>
          <a:ln w="12700">
            <a:solidFill>
              <a:srgbClr val="C8C8C8"/>
            </a:solidFill>
          </a:ln>
        </p:spPr>
      </p:pic>
      <p:sp>
        <p:nvSpPr>
          <p:cNvPr id="10" name="TextBox 9"/>
          <p:cNvSpPr txBox="1"/>
          <p:nvPr/>
        </p:nvSpPr>
        <p:spPr>
          <a:xfrm>
            <a:off x="6217920" y="3840480"/>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11" name="Picture 10" descr="2.jpg"/>
          <p:cNvPicPr>
            <a:picLocks noChangeAspect="1"/>
          </p:cNvPicPr>
          <p:nvPr/>
        </p:nvPicPr>
        <p:blipFill>
          <a:blip r:embed="rId3"/>
          <a:stretch>
            <a:fillRect/>
          </a:stretch>
        </p:blipFill>
        <p:spPr>
          <a:xfrm>
            <a:off x="6217920" y="4114800"/>
            <a:ext cx="5699455" cy="237744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
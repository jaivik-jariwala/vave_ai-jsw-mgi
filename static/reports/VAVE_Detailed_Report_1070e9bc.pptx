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57.00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47.00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Optimize front brake rotor thickness by 1.5mm and enhance material specificat...</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838.02</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8.3802</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Transition front brake caliper material from grey cast iron to compacted grap...</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1225.24</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12.2524</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Reduce dust shield gauge on all four wheels from 1.0mm to 0.7mm high-strength...</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362.04</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3.6204</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1043940">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a:t>
                      </a:r>
                    </a:p>
                  </a:txBody>
                  <a:tcPr>
                    <a:solidFill>
                      <a:srgbClr val="003366"/>
                    </a:solidFill>
                  </a:tcPr>
                </a:tc>
                <a:tc>
                  <a:txBody>
                    <a:bodyPr wrap="square"/>
                    <a:lstStyle/>
                    <a:p>
                      <a:pPr>
                        <a:defRPr b="1" sz="900">
                          <a:solidFill>
                            <a:srgbClr val="FFFFFF"/>
                          </a:solidFill>
                        </a:defRPr>
                      </a:pPr>
                      <a:r>
                        <a:t>Vol (Qty)</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1043940">
                <a:tc>
                  <a:txBody>
                    <a:bodyPr wrap="square" lIns="50800" rIns="50800"/>
                    <a:lstStyle/>
                    <a:p>
                      <a:pPr>
                        <a:defRPr sz="900">
                          <a:solidFill>
                            <a:srgbClr val="333333"/>
                          </a:solidFill>
                          <a:latin typeface="Calibri"/>
                        </a:defRPr>
                      </a:pPr>
                      <a:r>
                        <a:t>AI-GEN-04</a:t>
                      </a:r>
                    </a:p>
                  </a:txBody>
                  <a:tcPr/>
                </a:tc>
                <a:tc>
                  <a:txBody>
                    <a:bodyPr wrap="square" lIns="50800" rIns="50800"/>
                    <a:lstStyle/>
                    <a:p>
                      <a:pPr>
                        <a:defRPr sz="900">
                          <a:solidFill>
                            <a:srgbClr val="333333"/>
                          </a:solidFill>
                          <a:latin typeface="Calibri"/>
                        </a:defRPr>
                      </a:pPr>
                      <a:r>
                        <a:t>Replace rear steel caliper pistons with lightweight phenolic resin pistons.</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599.63</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5.9963</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1043940">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Optimize rear brake pad backing plate design for lighter gauge steel and impr...</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473.73</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4.7373</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1043940">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Implement hollow steel pistons for the front brake calipers.</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2019.67</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20.1967</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1043940">
                <a:tc>
                  <a:txBody>
                    <a:bodyPr wrap="square" lIns="50800" rIns="50800"/>
                    <a:lstStyle/>
                    <a:p>
                      <a:pPr>
                        <a:defRPr sz="900">
                          <a:solidFill>
                            <a:srgbClr val="333333"/>
                          </a:solidFill>
                          <a:latin typeface="Calibri"/>
                        </a:defRPr>
                      </a:pPr>
                      <a:r>
                        <a:t>AI-GEN-11</a:t>
                      </a:r>
                    </a:p>
                  </a:txBody>
                  <a:tcPr/>
                </a:tc>
                <a:tc>
                  <a:txBody>
                    <a:bodyPr wrap="square" lIns="50800" rIns="50800"/>
                    <a:lstStyle/>
                    <a:p>
                      <a:pPr>
                        <a:defRPr sz="900">
                          <a:solidFill>
                            <a:srgbClr val="333333"/>
                          </a:solidFill>
                          <a:latin typeface="Calibri"/>
                        </a:defRPr>
                      </a:pPr>
                      <a:r>
                        <a:t>Integrate the ABS tone ring directly into the rear wheel hub forging/casting.</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1564.66</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15.6466</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1043940">
                <a:tc>
                  <a:txBody>
                    <a:bodyPr wrap="square" lIns="50800" rIns="50800"/>
                    <a:lstStyle/>
                    <a:p>
                      <a:pPr>
                        <a:defRPr sz="900">
                          <a:solidFill>
                            <a:srgbClr val="333333"/>
                          </a:solidFill>
                          <a:latin typeface="Calibri"/>
                        </a:defRPr>
                      </a:pPr>
                      <a:r>
                        <a:t>AI-GEN-12</a:t>
                      </a:r>
                    </a:p>
                  </a:txBody>
                  <a:tcPr/>
                </a:tc>
                <a:tc>
                  <a:txBody>
                    <a:bodyPr wrap="square" lIns="50800" rIns="50800"/>
                    <a:lstStyle/>
                    <a:p>
                      <a:pPr>
                        <a:defRPr sz="900">
                          <a:solidFill>
                            <a:srgbClr val="333333"/>
                          </a:solidFill>
                          <a:latin typeface="Calibri"/>
                        </a:defRPr>
                      </a:pPr>
                      <a:r>
                        <a:t>Standardize and optimize brake line routing and material for reduced length a...</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351.17</a:t>
                      </a:r>
                    </a:p>
                  </a:txBody>
                  <a:tcPr/>
                </a:tc>
                <a:tc>
                  <a:txBody>
                    <a:bodyPr wrap="square" lIns="50800" rIns="50800"/>
                    <a:lstStyle/>
                    <a:p>
                      <a:pPr>
                        <a:defRPr sz="900">
                          <a:solidFill>
                            <a:srgbClr val="333333"/>
                          </a:solidFill>
                          <a:latin typeface="Calibri"/>
                        </a:defRPr>
                      </a:pPr>
                      <a:r>
                        <a:t>100,000</a:t>
                      </a:r>
                    </a:p>
                  </a:txBody>
                  <a:tcPr/>
                </a:tc>
                <a:tc>
                  <a:txBody>
                    <a:bodyPr wrap="square" lIns="50800" rIns="50800"/>
                    <a:lstStyle/>
                    <a:p>
                      <a:pPr>
                        <a:defRPr sz="900">
                          <a:solidFill>
                            <a:srgbClr val="333333"/>
                          </a:solidFill>
                          <a:latin typeface="Calibri"/>
                        </a:defRPr>
                      </a:pPr>
                      <a:r>
                        <a:t>3.5117</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11438"/>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a:t>
            </a:r>
          </a:p>
        </p:txBody>
      </p:sp>
      <p:sp>
        <p:nvSpPr>
          <p:cNvPr id="6" name="Rectangle 5"/>
          <p:cNvSpPr/>
          <p:nvPr/>
        </p:nvSpPr>
        <p:spPr>
          <a:xfrm>
            <a:off x="274320" y="296027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03343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262030"/>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6866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5982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988429"/>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3669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440143"/>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668743"/>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60414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11459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43192"/>
            <a:ext cx="5486400" cy="24048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21" name="Rectangle 20"/>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31231"/>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a:t>
            </a:r>
          </a:p>
        </p:txBody>
      </p:sp>
      <p:sp>
        <p:nvSpPr>
          <p:cNvPr id="6" name="Rectangle 5"/>
          <p:cNvSpPr/>
          <p:nvPr/>
        </p:nvSpPr>
        <p:spPr>
          <a:xfrm>
            <a:off x="274320" y="17571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3026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5886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1642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8958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18180"/>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1967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6989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98494"/>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7119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4434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7294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601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#3: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76072"/>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a:t>
            </a:r>
          </a:p>
        </p:txBody>
      </p:sp>
      <p:sp>
        <p:nvSpPr>
          <p:cNvPr id="6" name="Rectangle 5"/>
          <p:cNvSpPr/>
          <p:nvPr/>
        </p:nvSpPr>
        <p:spPr>
          <a:xfrm>
            <a:off x="274320" y="231343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8658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15184"/>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0727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14590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374501"/>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75470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82786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056461"/>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4291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0231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30910"/>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181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#4: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18063"/>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a:t>
            </a:r>
          </a:p>
        </p:txBody>
      </p:sp>
      <p:sp>
        <p:nvSpPr>
          <p:cNvPr id="6" name="Rectangle 5"/>
          <p:cNvSpPr/>
          <p:nvPr/>
        </p:nvSpPr>
        <p:spPr>
          <a:xfrm>
            <a:off x="274320" y="17439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1709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45695"/>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032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7641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05013"/>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18522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5837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48697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596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3282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6142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486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#5: Optimize front brake rotor thickness by 1.5mm and enhance material specification to high-carbon cast iron.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36168"/>
          </a:xfrm>
          <a:prstGeom prst="rect">
            <a:avLst/>
          </a:prstGeom>
          <a:noFill/>
        </p:spPr>
        <p:txBody>
          <a:bodyPr wrap="square">
            <a:spAutoFit/>
          </a:bodyPr>
          <a:lstStyle/>
          <a:p>
            <a:pPr>
              <a:defRPr sz="1000">
                <a:solidFill>
                  <a:srgbClr val="333333"/>
                </a:solidFill>
              </a:defRPr>
            </a:pPr>
            <a:r>
              <a:t>Technical optimization of Optimize front brake rotor thickness by 1.5mm and enhance material specification to high-carbon cast iron. focusing on material efficiency.</a:t>
            </a:r>
          </a:p>
        </p:txBody>
      </p:sp>
      <p:sp>
        <p:nvSpPr>
          <p:cNvPr id="6" name="Rectangle 5"/>
          <p:cNvSpPr/>
          <p:nvPr/>
        </p:nvSpPr>
        <p:spPr>
          <a:xfrm>
            <a:off x="274320" y="17620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3520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63800"/>
            <a:ext cx="5486400" cy="487192"/>
          </a:xfrm>
          <a:prstGeom prst="rect">
            <a:avLst/>
          </a:prstGeom>
          <a:noFill/>
        </p:spPr>
        <p:txBody>
          <a:bodyPr wrap="square">
            <a:spAutoFit/>
          </a:bodyPr>
          <a:lstStyle/>
          <a:p>
            <a:pPr>
              <a:defRPr sz="1000">
                <a:solidFill>
                  <a:srgbClr val="333333"/>
                </a:solidFill>
              </a:defRPr>
            </a:pPr>
            <a:r>
              <a:t>5mm and enhance material specification to high-carbon cast iron</a:t>
            </a:r>
            <a:br/>
            <a:r>
              <a:t>N/A (Maintains current envelope)</a:t>
            </a:r>
          </a:p>
        </p:txBody>
      </p:sp>
      <p:sp>
        <p:nvSpPr>
          <p:cNvPr id="9" name="Rectangle 8"/>
          <p:cNvSpPr/>
          <p:nvPr/>
        </p:nvSpPr>
        <p:spPr>
          <a:xfrm>
            <a:off x="274320" y="25509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2414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52745"/>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329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0610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34704"/>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9074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805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20915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963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0.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#6: Transition front brake caliper material from grey cast iron to compacted graphite iron (CGI) for weight and stiffness optimization.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77316"/>
          </a:xfrm>
          <a:prstGeom prst="rect">
            <a:avLst/>
          </a:prstGeom>
          <a:noFill/>
        </p:spPr>
        <p:txBody>
          <a:bodyPr wrap="square">
            <a:spAutoFit/>
          </a:bodyPr>
          <a:lstStyle/>
          <a:p>
            <a:pPr>
              <a:defRPr sz="1000">
                <a:solidFill>
                  <a:srgbClr val="333333"/>
                </a:solidFill>
              </a:defRPr>
            </a:pPr>
            <a:r>
              <a:t>Technical optimization of Transition front brake caliper material from grey cast iron to compacted graphite iron (CGI) for weight and stiffness optimization. focusing on material efficiency.</a:t>
            </a:r>
          </a:p>
        </p:txBody>
      </p:sp>
      <p:sp>
        <p:nvSpPr>
          <p:cNvPr id="6" name="Rectangle 5"/>
          <p:cNvSpPr/>
          <p:nvPr/>
        </p:nvSpPr>
        <p:spPr>
          <a:xfrm>
            <a:off x="274320" y="180319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7634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04948"/>
            <a:ext cx="5486400" cy="548091"/>
          </a:xfrm>
          <a:prstGeom prst="rect">
            <a:avLst/>
          </a:prstGeom>
          <a:noFill/>
        </p:spPr>
        <p:txBody>
          <a:bodyPr wrap="square">
            <a:spAutoFit/>
          </a:bodyPr>
          <a:lstStyle/>
          <a:p>
            <a:pPr>
              <a:defRPr sz="1000">
                <a:solidFill>
                  <a:srgbClr val="333333"/>
                </a:solidFill>
              </a:defRPr>
            </a:pPr>
            <a:r>
              <a:t>Transition front brake caliper material from grey cast iron to compacted graphite iron (CGI) for wei</a:t>
            </a:r>
            <a:br/>
            <a:r>
              <a:t>N/A (Maintains current envelope)</a:t>
            </a:r>
          </a:p>
        </p:txBody>
      </p:sp>
      <p:sp>
        <p:nvSpPr>
          <p:cNvPr id="9" name="Rectangle 8"/>
          <p:cNvSpPr/>
          <p:nvPr/>
        </p:nvSpPr>
        <p:spPr>
          <a:xfrm>
            <a:off x="274320" y="26530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2619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54792"/>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3349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0815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36751"/>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50094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08260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311200"/>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7983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#7: Reduce dust shield gauge on all four wheels from 1.0mm to 0.7mm high-strength low-alloy (HSLA) steel with optimized ribbing.</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65795"/>
          </a:xfrm>
          <a:prstGeom prst="rect">
            <a:avLst/>
          </a:prstGeom>
          <a:noFill/>
        </p:spPr>
        <p:txBody>
          <a:bodyPr wrap="square">
            <a:spAutoFit/>
          </a:bodyPr>
          <a:lstStyle/>
          <a:p>
            <a:pPr>
              <a:defRPr sz="1000">
                <a:solidFill>
                  <a:srgbClr val="333333"/>
                </a:solidFill>
              </a:defRPr>
            </a:pPr>
            <a:r>
              <a:t>Technical optimization of Reduce dust shield gauge on all four wheels from 1.0mm to 0.7mm high-strength low-alloy (HSLA) steel with optimized ribbing. focusing on material efficiency.</a:t>
            </a:r>
          </a:p>
        </p:txBody>
      </p:sp>
      <p:sp>
        <p:nvSpPr>
          <p:cNvPr id="6" name="Rectangle 5"/>
          <p:cNvSpPr/>
          <p:nvPr/>
        </p:nvSpPr>
        <p:spPr>
          <a:xfrm>
            <a:off x="274320" y="17916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6482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93427"/>
            <a:ext cx="5486400" cy="457565"/>
          </a:xfrm>
          <a:prstGeom prst="rect">
            <a:avLst/>
          </a:prstGeom>
          <a:noFill/>
        </p:spPr>
        <p:txBody>
          <a:bodyPr wrap="square">
            <a:spAutoFit/>
          </a:bodyPr>
          <a:lstStyle/>
          <a:p>
            <a:pPr>
              <a:defRPr sz="1000">
                <a:solidFill>
                  <a:srgbClr val="333333"/>
                </a:solidFill>
              </a:defRPr>
            </a:pPr>
            <a:r>
              <a:t>7mm high-strength low-alloy (HSLA) steel with optimized ribbing</a:t>
            </a:r>
            <a:br/>
            <a:r>
              <a:t>1.0mm to 0.7mm</a:t>
            </a:r>
          </a:p>
        </p:txBody>
      </p:sp>
      <p:sp>
        <p:nvSpPr>
          <p:cNvPr id="9" name="Rectangle 8"/>
          <p:cNvSpPr/>
          <p:nvPr/>
        </p:nvSpPr>
        <p:spPr>
          <a:xfrm>
            <a:off x="274320" y="25509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24145"/>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52745"/>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329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0610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34704"/>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9074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805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20915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963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#8: Replace rear steel caliper pistons with lightweight phenolic resin pistons.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385145"/>
          </a:xfrm>
          <a:prstGeom prst="rect">
            <a:avLst/>
          </a:prstGeom>
          <a:noFill/>
        </p:spPr>
        <p:txBody>
          <a:bodyPr wrap="square">
            <a:spAutoFit/>
          </a:bodyPr>
          <a:lstStyle/>
          <a:p>
            <a:pPr>
              <a:defRPr sz="1000">
                <a:solidFill>
                  <a:srgbClr val="333333"/>
                </a:solidFill>
              </a:defRPr>
            </a:pPr>
            <a:r>
              <a:t>Technical optimization of Replace rear steel caliper pistons with lightweight phenolic resin pistons. focusing on material efficiency.</a:t>
            </a:r>
          </a:p>
        </p:txBody>
      </p:sp>
      <p:sp>
        <p:nvSpPr>
          <p:cNvPr id="6" name="Rectangle 5"/>
          <p:cNvSpPr/>
          <p:nvPr/>
        </p:nvSpPr>
        <p:spPr>
          <a:xfrm>
            <a:off x="274320" y="17110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78417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12777"/>
            <a:ext cx="5486400" cy="505297"/>
          </a:xfrm>
          <a:prstGeom prst="rect">
            <a:avLst/>
          </a:prstGeom>
          <a:noFill/>
        </p:spPr>
        <p:txBody>
          <a:bodyPr wrap="square">
            <a:spAutoFit/>
          </a:bodyPr>
          <a:lstStyle/>
          <a:p>
            <a:pPr>
              <a:defRPr sz="1000">
                <a:solidFill>
                  <a:srgbClr val="333333"/>
                </a:solidFill>
              </a:defRPr>
            </a:pPr>
            <a:r>
              <a:t>Replace rear steel caliper pistons with lightweight phenolic resin pistons</a:t>
            </a:r>
            <a:br/>
            <a:r>
              <a:t>N/A (Maintains current envelope)</a:t>
            </a:r>
          </a:p>
        </p:txBody>
      </p:sp>
      <p:sp>
        <p:nvSpPr>
          <p:cNvPr id="9" name="Rectangle 8"/>
          <p:cNvSpPr/>
          <p:nvPr/>
        </p:nvSpPr>
        <p:spPr>
          <a:xfrm>
            <a:off x="274320" y="25180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9122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19826"/>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000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7318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0178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7448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4763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7623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634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62.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#9: Optimize rear brake pad backing plate design for lighter gauge steel and improved NVH.</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03250"/>
          </a:xfrm>
          <a:prstGeom prst="rect">
            <a:avLst/>
          </a:prstGeom>
          <a:noFill/>
        </p:spPr>
        <p:txBody>
          <a:bodyPr wrap="square">
            <a:spAutoFit/>
          </a:bodyPr>
          <a:lstStyle/>
          <a:p>
            <a:pPr>
              <a:defRPr sz="1000">
                <a:solidFill>
                  <a:srgbClr val="333333"/>
                </a:solidFill>
              </a:defRPr>
            </a:pPr>
            <a:r>
              <a:t>Technical optimization of Optimize rear brake pad backing plate design for lighter gauge steel and improved NVH. focusing on material efficiency.</a:t>
            </a:r>
          </a:p>
        </p:txBody>
      </p:sp>
      <p:sp>
        <p:nvSpPr>
          <p:cNvPr id="6" name="Rectangle 5"/>
          <p:cNvSpPr/>
          <p:nvPr/>
        </p:nvSpPr>
        <p:spPr>
          <a:xfrm>
            <a:off x="274320" y="17291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0228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30882"/>
            <a:ext cx="5486400" cy="523402"/>
          </a:xfrm>
          <a:prstGeom prst="rect">
            <a:avLst/>
          </a:prstGeom>
          <a:noFill/>
        </p:spPr>
        <p:txBody>
          <a:bodyPr wrap="square">
            <a:spAutoFit/>
          </a:bodyPr>
          <a:lstStyle/>
          <a:p>
            <a:pPr>
              <a:defRPr sz="1000">
                <a:solidFill>
                  <a:srgbClr val="333333"/>
                </a:solidFill>
              </a:defRPr>
            </a:pPr>
            <a:r>
              <a:t>Optimize rear brake pad backing plate design for lighter gauge steel and improved NVH</a:t>
            </a:r>
            <a:br/>
            <a:r>
              <a:t>N/A (Maintains current envelope)</a:t>
            </a:r>
          </a:p>
        </p:txBody>
      </p:sp>
      <p:sp>
        <p:nvSpPr>
          <p:cNvPr id="9" name="Rectangle 8"/>
          <p:cNvSpPr/>
          <p:nvPr/>
        </p:nvSpPr>
        <p:spPr>
          <a:xfrm>
            <a:off x="274320" y="25542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2743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56036"/>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362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0939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37996"/>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91069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8384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21244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996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548640"/>
          </a:xfrm>
          <a:prstGeom prst="rect">
            <a:avLst/>
          </a:prstGeom>
          <a:noFill/>
        </p:spPr>
        <p:txBody>
          <a:bodyPr wrap="square">
            <a:spAutoFit/>
          </a:bodyPr>
          <a:lstStyle/>
          <a:p>
            <a:pPr>
              <a:defRPr sz="1800" b="1">
                <a:solidFill>
                  <a:srgbClr val="003366"/>
                </a:solidFill>
              </a:defRPr>
            </a:pPr>
            <a:r>
              <a:t>#10: Implement hollow steel pistons for the front brake calipers.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822959"/>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051560"/>
            <a:ext cx="5486400" cy="360456"/>
          </a:xfrm>
          <a:prstGeom prst="rect">
            <a:avLst/>
          </a:prstGeom>
          <a:noFill/>
        </p:spPr>
        <p:txBody>
          <a:bodyPr wrap="square">
            <a:spAutoFit/>
          </a:bodyPr>
          <a:lstStyle/>
          <a:p>
            <a:pPr>
              <a:defRPr sz="1000">
                <a:solidFill>
                  <a:srgbClr val="333333"/>
                </a:solidFill>
              </a:defRPr>
            </a:pPr>
            <a:r>
              <a:t>Technical optimization of Implement hollow steel pistons for the front brake calipers. focusing on material efficiency.</a:t>
            </a:r>
          </a:p>
        </p:txBody>
      </p:sp>
      <p:sp>
        <p:nvSpPr>
          <p:cNvPr id="6" name="Rectangle 5"/>
          <p:cNvSpPr/>
          <p:nvPr/>
        </p:nvSpPr>
        <p:spPr>
          <a:xfrm>
            <a:off x="274320" y="141201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48516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1713768"/>
            <a:ext cx="5486400" cy="480608"/>
          </a:xfrm>
          <a:prstGeom prst="rect">
            <a:avLst/>
          </a:prstGeom>
          <a:noFill/>
        </p:spPr>
        <p:txBody>
          <a:bodyPr wrap="square">
            <a:spAutoFit/>
          </a:bodyPr>
          <a:lstStyle/>
          <a:p>
            <a:pPr>
              <a:defRPr sz="1000">
                <a:solidFill>
                  <a:srgbClr val="333333"/>
                </a:solidFill>
              </a:defRPr>
            </a:pPr>
            <a:r>
              <a:t>Implement hollow steel pistons for the front brake calipers</a:t>
            </a:r>
            <a:br/>
            <a:r>
              <a:t>N/A (Maintains current envelope)</a:t>
            </a:r>
          </a:p>
        </p:txBody>
      </p:sp>
      <p:sp>
        <p:nvSpPr>
          <p:cNvPr id="9" name="Rectangle 8"/>
          <p:cNvSpPr/>
          <p:nvPr/>
        </p:nvSpPr>
        <p:spPr>
          <a:xfrm>
            <a:off x="274320" y="21943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26752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496129"/>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28763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94948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178088"/>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5507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62393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485253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3397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572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26.jpg"/>
          <p:cNvPicPr>
            <a:picLocks noChangeAspect="1"/>
          </p:cNvPicPr>
          <p:nvPr/>
        </p:nvPicPr>
        <p:blipFill>
          <a:blip r:embed="rId2"/>
          <a:stretch>
            <a:fillRect/>
          </a:stretch>
        </p:blipFill>
        <p:spPr>
          <a:xfrm>
            <a:off x="6217920" y="731520"/>
            <a:ext cx="5699455" cy="2852928"/>
          </a:xfrm>
          <a:prstGeom prst="rect">
            <a:avLst/>
          </a:prstGeom>
          <a:ln w="12700">
            <a:solidFill>
              <a:srgbClr val="C8C8C8"/>
            </a:solidFill>
          </a:ln>
        </p:spPr>
      </p:pic>
      <p:sp>
        <p:nvSpPr>
          <p:cNvPr id="21" name="Rectangle 20"/>
          <p:cNvSpPr/>
          <p:nvPr/>
        </p:nvSpPr>
        <p:spPr>
          <a:xfrm>
            <a:off x="6217920" y="3730752"/>
            <a:ext cx="5699455" cy="28529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#11: Integrate the ABS tone ring directly into the rear wheel hub forging/casting.</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388437"/>
          </a:xfrm>
          <a:prstGeom prst="rect">
            <a:avLst/>
          </a:prstGeom>
          <a:noFill/>
        </p:spPr>
        <p:txBody>
          <a:bodyPr wrap="square">
            <a:spAutoFit/>
          </a:bodyPr>
          <a:lstStyle/>
          <a:p>
            <a:pPr>
              <a:defRPr sz="1000">
                <a:solidFill>
                  <a:srgbClr val="333333"/>
                </a:solidFill>
              </a:defRPr>
            </a:pPr>
            <a:r>
              <a:t>Technical optimization of Integrate the ABS tone ring directly into the rear wheel hub forging/casting. focusing on material efficiency.</a:t>
            </a:r>
          </a:p>
        </p:txBody>
      </p:sp>
      <p:sp>
        <p:nvSpPr>
          <p:cNvPr id="6" name="Rectangle 5"/>
          <p:cNvSpPr/>
          <p:nvPr/>
        </p:nvSpPr>
        <p:spPr>
          <a:xfrm>
            <a:off x="274320" y="17143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787469"/>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16069"/>
            <a:ext cx="5486400" cy="508589"/>
          </a:xfrm>
          <a:prstGeom prst="rect">
            <a:avLst/>
          </a:prstGeom>
          <a:noFill/>
        </p:spPr>
        <p:txBody>
          <a:bodyPr wrap="square">
            <a:spAutoFit/>
          </a:bodyPr>
          <a:lstStyle/>
          <a:p>
            <a:pPr>
              <a:defRPr sz="1000">
                <a:solidFill>
                  <a:srgbClr val="333333"/>
                </a:solidFill>
              </a:defRPr>
            </a:pPr>
            <a:r>
              <a:t>Integrate the ABS tone ring directly into the rear wheel hub forging/casting</a:t>
            </a:r>
            <a:br/>
            <a:r>
              <a:t>N/A (Maintains current envelope)</a:t>
            </a:r>
          </a:p>
        </p:txBody>
      </p:sp>
      <p:sp>
        <p:nvSpPr>
          <p:cNvPr id="9" name="Rectangle 8"/>
          <p:cNvSpPr/>
          <p:nvPr/>
        </p:nvSpPr>
        <p:spPr>
          <a:xfrm>
            <a:off x="274320" y="252465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59781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26410"/>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0661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27976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08369"/>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881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495421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182819"/>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6700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2.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#12: Standardize and optimize brake line routing and material for reduced length and improved pedal feel.</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26293"/>
          </a:xfrm>
          <a:prstGeom prst="rect">
            <a:avLst/>
          </a:prstGeom>
          <a:noFill/>
        </p:spPr>
        <p:txBody>
          <a:bodyPr wrap="square">
            <a:spAutoFit/>
          </a:bodyPr>
          <a:lstStyle/>
          <a:p>
            <a:pPr>
              <a:defRPr sz="1000">
                <a:solidFill>
                  <a:srgbClr val="333333"/>
                </a:solidFill>
              </a:defRPr>
            </a:pPr>
            <a:r>
              <a:t>Technical optimization of Standardize and optimize brake line routing and material for reduced length and improved pedal feel. focusing on material efficiency.</a:t>
            </a:r>
          </a:p>
        </p:txBody>
      </p:sp>
      <p:sp>
        <p:nvSpPr>
          <p:cNvPr id="6" name="Rectangle 5"/>
          <p:cNvSpPr/>
          <p:nvPr/>
        </p:nvSpPr>
        <p:spPr>
          <a:xfrm>
            <a:off x="274320" y="175217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2532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053925"/>
            <a:ext cx="5486400" cy="546445"/>
          </a:xfrm>
          <a:prstGeom prst="rect">
            <a:avLst/>
          </a:prstGeom>
          <a:noFill/>
        </p:spPr>
        <p:txBody>
          <a:bodyPr wrap="square">
            <a:spAutoFit/>
          </a:bodyPr>
          <a:lstStyle/>
          <a:p>
            <a:pPr>
              <a:defRPr sz="1000">
                <a:solidFill>
                  <a:srgbClr val="333333"/>
                </a:solidFill>
              </a:defRPr>
            </a:pPr>
            <a:r>
              <a:t>Standardize and optimize brake line routing and material for reduced length and improved pedal feel</a:t>
            </a:r>
            <a:br/>
            <a:r>
              <a:t>N/A (Maintains current envelope)</a:t>
            </a:r>
          </a:p>
        </p:txBody>
      </p:sp>
      <p:sp>
        <p:nvSpPr>
          <p:cNvPr id="9" name="Rectangle 8"/>
          <p:cNvSpPr/>
          <p:nvPr/>
        </p:nvSpPr>
        <p:spPr>
          <a:xfrm>
            <a:off x="274320" y="26003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7352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902122"/>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2823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5548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84082"/>
            <a:ext cx="5486400" cy="1372697"/>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br/>
            <a:r>
              <a:t>RISKS:</a:t>
            </a:r>
            <a:br/>
            <a:r>
              <a:t>⚠ NVH performance degradation</a:t>
            </a:r>
            <a:br/>
            <a:r>
              <a:t>⚠ Thermal durability limits</a:t>
            </a:r>
          </a:p>
        </p:txBody>
      </p:sp>
      <p:sp>
        <p:nvSpPr>
          <p:cNvPr id="15" name="Rectangle 14"/>
          <p:cNvSpPr/>
          <p:nvPr/>
        </p:nvSpPr>
        <p:spPr>
          <a:xfrm>
            <a:off x="274320" y="49567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02993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258531"/>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574572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5.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
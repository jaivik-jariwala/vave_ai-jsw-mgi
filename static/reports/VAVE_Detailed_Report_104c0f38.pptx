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1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image" Target="../media/image1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image" Target="../media/image2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pPr>
              <a:defRPr>
                <a:solidFill>
                  <a:srgbClr val="003366"/>
                </a:solidFill>
              </a:defRPr>
            </a:pPr>
            <a:r>
              <a:t>VAVE Cost Reduction Strategy</a:t>
            </a:r>
          </a:p>
        </p:txBody>
      </p:sp>
      <p:sp>
        <p:nvSpPr>
          <p:cNvPr id="3" name="Subtitle 2"/>
          <p:cNvSpPr>
            <a:spLocks noGrp="1"/>
          </p:cNvSpPr>
          <p:nvPr>
            <p:ph type="subTitle" idx="1"/>
          </p:nvPr>
        </p:nvSpPr>
        <p:spPr/>
        <p:txBody>
          <a:bodyPr wrap="square"/>
          <a:lstStyle/>
          <a:p>
            <a:r>
              <a:t>Detailed Engineering Feasibility Report | 03-Feb-2026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1"/>
          <p:cNvGraphicFramePr>
            <a:graphicFrameLocks noGrp="1"/>
          </p:cNvGraphicFramePr>
          <p:nvPr/>
        </p:nvGraphicFramePr>
        <p:xfrm>
          <a:off x="365760" y="411480"/>
          <a:ext cx="11460175" cy="6263640"/>
        </p:xfrm>
        <a:graphic>
          <a:graphicData uri="http://schemas.openxmlformats.org/drawingml/2006/table">
            <a:tbl>
              <a:tblPr firstRow="1" bandRow="1">
                <a:tableStyleId>{5C22544A-7EE6-4342-B048-85BDC9FD1C3A}</a:tableStyleId>
              </a:tblPr>
              <a:tblGrid>
                <a:gridCol w="1273352"/>
                <a:gridCol w="1273352"/>
                <a:gridCol w="1273352"/>
                <a:gridCol w="1273352"/>
                <a:gridCol w="1273352"/>
                <a:gridCol w="1273352"/>
                <a:gridCol w="1273352"/>
                <a:gridCol w="1273352"/>
                <a:gridCol w="1273359"/>
              </a:tblGrid>
              <a:tr h="391477">
                <a:tc>
                  <a:txBody>
                    <a:bodyPr wrap="square"/>
                    <a:lstStyle/>
                    <a:p>
                      <a:pPr>
                        <a:defRPr b="1" sz="900">
                          <a:solidFill>
                            <a:srgbClr val="FFFFFF"/>
                          </a:solidFill>
                        </a:defRPr>
                      </a:pPr>
                      <a:r>
                        <a:t>Idea ID</a:t>
                      </a:r>
                    </a:p>
                  </a:txBody>
                  <a:tcPr>
                    <a:solidFill>
                      <a:srgbClr val="003366"/>
                    </a:solidFill>
                  </a:tcPr>
                </a:tc>
                <a:tc>
                  <a:txBody>
                    <a:bodyPr wrap="square"/>
                    <a:lstStyle/>
                    <a:p>
                      <a:pPr>
                        <a:defRPr b="1" sz="900">
                          <a:solidFill>
                            <a:srgbClr val="FFFFFF"/>
                          </a:solidFill>
                        </a:defRPr>
                      </a:pPr>
                      <a:r>
                        <a:t>Idea</a:t>
                      </a:r>
                    </a:p>
                  </a:txBody>
                  <a:tcPr>
                    <a:solidFill>
                      <a:srgbClr val="003366"/>
                    </a:solidFill>
                  </a:tcPr>
                </a:tc>
                <a:tc>
                  <a:txBody>
                    <a:bodyPr wrap="square"/>
                    <a:lstStyle/>
                    <a:p>
                      <a:pPr>
                        <a:defRPr b="1" sz="900">
                          <a:solidFill>
                            <a:srgbClr val="FFFFFF"/>
                          </a:solidFill>
                        </a:defRPr>
                      </a:pPr>
                      <a:r>
                        <a:t>CAPEX</a:t>
                      </a:r>
                    </a:p>
                  </a:txBody>
                  <a:tcPr>
                    <a:solidFill>
                      <a:srgbClr val="003366"/>
                    </a:solidFill>
                  </a:tcPr>
                </a:tc>
                <a:tc>
                  <a:txBody>
                    <a:bodyPr wrap="square"/>
                    <a:lstStyle/>
                    <a:p>
                      <a:pPr>
                        <a:defRPr b="1" sz="900">
                          <a:solidFill>
                            <a:srgbClr val="FFFFFF"/>
                          </a:solidFill>
                        </a:defRPr>
                      </a:pPr>
                      <a:r>
                        <a:t>Saving</a:t>
                      </a:r>
                    </a:p>
                  </a:txBody>
                  <a:tcPr>
                    <a:solidFill>
                      <a:srgbClr val="003366"/>
                    </a:solidFill>
                  </a:tcPr>
                </a:tc>
                <a:tc>
                  <a:txBody>
                    <a:bodyPr wrap="square"/>
                    <a:lstStyle/>
                    <a:p>
                      <a:pPr>
                        <a:defRPr b="1" sz="900">
                          <a:solidFill>
                            <a:srgbClr val="FFFFFF"/>
                          </a:solidFill>
                        </a:defRPr>
                      </a:pPr>
                      <a:r>
                        <a:t>Yearly volume (per 1 lakh)</a:t>
                      </a:r>
                    </a:p>
                  </a:txBody>
                  <a:tcPr>
                    <a:solidFill>
                      <a:srgbClr val="003366"/>
                    </a:solidFill>
                  </a:tcPr>
                </a:tc>
                <a:tc>
                  <a:txBody>
                    <a:bodyPr wrap="square"/>
                    <a:lstStyle/>
                    <a:p>
                      <a:pPr>
                        <a:defRPr b="1" sz="900">
                          <a:solidFill>
                            <a:srgbClr val="FFFFFF"/>
                          </a:solidFill>
                        </a:defRPr>
                      </a:pPr>
                      <a:r>
                        <a:t>Saving overall (Saving × Volume)</a:t>
                      </a:r>
                    </a:p>
                  </a:txBody>
                  <a:tcPr>
                    <a:solidFill>
                      <a:srgbClr val="003366"/>
                    </a:solidFill>
                  </a:tcPr>
                </a:tc>
                <a:tc>
                  <a:txBody>
                    <a:bodyPr wrap="square"/>
                    <a:lstStyle/>
                    <a:p>
                      <a:pPr>
                        <a:defRPr b="1" sz="900">
                          <a:solidFill>
                            <a:srgbClr val="FFFFFF"/>
                          </a:solidFill>
                        </a:defRPr>
                      </a:pPr>
                      <a:r>
                        <a:t>Status (Accept/Reject)</a:t>
                      </a:r>
                    </a:p>
                  </a:txBody>
                  <a:tcPr>
                    <a:solidFill>
                      <a:srgbClr val="003366"/>
                    </a:solidFill>
                  </a:tcPr>
                </a:tc>
                <a:tc>
                  <a:txBody>
                    <a:bodyPr wrap="square"/>
                    <a:lstStyle/>
                    <a:p>
                      <a:pPr>
                        <a:defRPr b="1" sz="900">
                          <a:solidFill>
                            <a:srgbClr val="FFFFFF"/>
                          </a:solidFill>
                        </a:defRPr>
                      </a:pPr>
                      <a:r>
                        <a:t>Turnaround time</a:t>
                      </a:r>
                    </a:p>
                  </a:txBody>
                  <a:tcPr>
                    <a:solidFill>
                      <a:srgbClr val="003366"/>
                    </a:solidFill>
                  </a:tcPr>
                </a:tc>
                <a:tc>
                  <a:txBody>
                    <a:bodyPr wrap="square"/>
                    <a:lstStyle/>
                    <a:p>
                      <a:pPr>
                        <a:defRPr b="1" sz="900">
                          <a:solidFill>
                            <a:srgbClr val="FFFFFF"/>
                          </a:solidFill>
                        </a:defRPr>
                      </a:pPr>
                      <a:r>
                        <a:t>Required volume yearly</a:t>
                      </a:r>
                    </a:p>
                  </a:txBody>
                  <a:tcPr>
                    <a:solidFill>
                      <a:srgbClr val="003366"/>
                    </a:solidFill>
                  </a:tcPr>
                </a:tc>
              </a:tr>
              <a:tr h="391477">
                <a:tc>
                  <a:txBody>
                    <a:bodyPr wrap="square" lIns="50800" rIns="50800" tIns="25400" bIns="25400"/>
                    <a:lstStyle/>
                    <a:p>
                      <a:pPr>
                        <a:defRPr sz="800">
                          <a:solidFill>
                            <a:srgbClr val="333333"/>
                          </a:solidFill>
                          <a:latin typeface="Calibri"/>
                        </a:defRPr>
                      </a:pPr>
                      <a:r>
                        <a:t>2311-SP-ID-01</a:t>
                      </a:r>
                    </a:p>
                  </a:txBody>
                  <a:tcPr/>
                </a:tc>
                <a:tc>
                  <a:txBody>
                    <a:bodyPr wrap="square" lIns="50800" rIns="50800" tIns="25400" bIns="25400"/>
                    <a:lstStyle/>
                    <a:p>
                      <a:pPr>
                        <a:defRPr sz="800">
                          <a:solidFill>
                            <a:srgbClr val="333333"/>
                          </a:solidFill>
                          <a:latin typeface="Calibri"/>
                        </a:defRPr>
                      </a:pPr>
                      <a:r>
                        <a:t>1. Reduce the overall wall thickness of the Brake Dust Cover Plates present on all four wheel hubs of the vehicles from 1mm to 0.8mm</a:t>
                      </a:r>
                      <a:br/>
                      <a:r>
                        <a:t>2. Reduce the paint coating thickness on each side of all four plates from 56 microns to 27.8 microns</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57</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5,700,000</a:t>
                      </a:r>
                    </a:p>
                  </a:txBody>
                  <a:tcPr/>
                </a:tc>
                <a:tc>
                  <a:txBody>
                    <a:bodyPr wrap="square" lIns="50800" rIns="50800" tIns="25400" bIns="25400"/>
                    <a:lstStyle/>
                    <a:p>
                      <a:pPr>
                        <a:defRPr sz="800">
                          <a:solidFill>
                            <a:srgbClr val="333333"/>
                          </a:solidFill>
                          <a:latin typeface="Calibri"/>
                        </a:defRPr>
                      </a:pPr>
                      <a:r>
                        <a:t>NG</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91477">
                <a:tc>
                  <a:txBody>
                    <a:bodyPr wrap="square" lIns="50800" rIns="50800" tIns="25400" bIns="25400"/>
                    <a:lstStyle/>
                    <a:p>
                      <a:pPr>
                        <a:defRPr sz="800">
                          <a:solidFill>
                            <a:srgbClr val="333333"/>
                          </a:solidFill>
                          <a:latin typeface="Calibri"/>
                        </a:defRPr>
                      </a:pPr>
                      <a:r>
                        <a:t>2311-BA-ID-01</a:t>
                      </a:r>
                    </a:p>
                  </a:txBody>
                  <a:tcPr/>
                </a:tc>
                <a:tc>
                  <a:txBody>
                    <a:bodyPr wrap="square" lIns="50800" rIns="50800" tIns="25400" bIns="25400"/>
                    <a:lstStyle/>
                    <a:p>
                      <a:pPr>
                        <a:defRPr sz="800">
                          <a:solidFill>
                            <a:srgbClr val="333333"/>
                          </a:solidFill>
                          <a:latin typeface="Calibri"/>
                        </a:defRPr>
                      </a:pPr>
                      <a:r>
                        <a:t>The Brake Booster Plate in MGI could be integrated into the Dashboard BIW of the vehicle as done in KIA</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47</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4,700,000</a:t>
                      </a:r>
                    </a:p>
                  </a:txBody>
                  <a:tcPr/>
                </a:tc>
                <a:tc>
                  <a:txBody>
                    <a:bodyPr wrap="square" lIns="50800" rIns="50800" tIns="25400" bIns="25400"/>
                    <a:lstStyle/>
                    <a:p>
                      <a:pPr>
                        <a:defRPr sz="800">
                          <a:solidFill>
                            <a:srgbClr val="333333"/>
                          </a:solidFill>
                          <a:latin typeface="Calibri"/>
                        </a:defRPr>
                      </a:pPr>
                      <a:r>
                        <a:t>NG</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91477">
                <a:tc>
                  <a:txBody>
                    <a:bodyPr wrap="square" lIns="50800" rIns="50800" tIns="25400" bIns="25400"/>
                    <a:lstStyle/>
                    <a:p>
                      <a:pPr>
                        <a:defRPr sz="800">
                          <a:solidFill>
                            <a:srgbClr val="333333"/>
                          </a:solidFill>
                          <a:latin typeface="Calibri"/>
                        </a:defRPr>
                      </a:pPr>
                      <a:r>
                        <a:t>2311-PA-ID-02</a:t>
                      </a:r>
                    </a:p>
                  </a:txBody>
                  <a:tcPr/>
                </a:tc>
                <a:tc>
                  <a:txBody>
                    <a:bodyPr wrap="square" lIns="50800" rIns="50800" tIns="25400" bIns="25400"/>
                    <a:lstStyle/>
                    <a:p>
                      <a:pPr>
                        <a:defRPr sz="800">
                          <a:solidFill>
                            <a:srgbClr val="333333"/>
                          </a:solidFill>
                          <a:latin typeface="Calibri"/>
                        </a:defRPr>
                      </a:pPr>
                      <a:r>
                        <a:t>Redesign the current Brake Pedal Mounting Bracket used in MGI to a similar bracket used in KIA.</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113</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11,300,000</a:t>
                      </a: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91477">
                <a:tc>
                  <a:txBody>
                    <a:bodyPr wrap="square" lIns="50800" rIns="50800" tIns="25400" bIns="25400"/>
                    <a:lstStyle/>
                    <a:p>
                      <a:pPr>
                        <a:defRPr sz="800">
                          <a:solidFill>
                            <a:srgbClr val="333333"/>
                          </a:solidFill>
                          <a:latin typeface="Calibri"/>
                        </a:defRPr>
                      </a:pPr>
                      <a:r>
                        <a:t>AI-GEN-01</a:t>
                      </a:r>
                    </a:p>
                  </a:txBody>
                  <a:tcPr/>
                </a:tc>
                <a:tc>
                  <a:txBody>
                    <a:bodyPr wrap="square" lIns="50800" rIns="50800" tIns="25400" bIns="25400"/>
                    <a:lstStyle/>
                    <a:p>
                      <a:pPr>
                        <a:defRPr sz="800">
                          <a:solidFill>
                            <a:srgbClr val="333333"/>
                          </a:solidFill>
                          <a:latin typeface="Calibri"/>
                        </a:defRPr>
                      </a:pPr>
                      <a:r>
                        <a:t>Replace the current cast iron brake rotor material for the front axle with a higher-performance, lower-density grey cast iron alloy (e.g., GJL-250 with enhanced graphite structure) optimized for thermal dissipation.</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500000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50,000,000,000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91477">
                <a:tc>
                  <a:txBody>
                    <a:bodyPr wrap="square" lIns="50800" rIns="50800" tIns="25400" bIns="25400"/>
                    <a:lstStyle/>
                    <a:p>
                      <a:pPr>
                        <a:defRPr sz="800">
                          <a:solidFill>
                            <a:srgbClr val="333333"/>
                          </a:solidFill>
                          <a:latin typeface="Calibri"/>
                        </a:defRPr>
                      </a:pPr>
                      <a:r>
                        <a:t>AI-GEN-02</a:t>
                      </a:r>
                    </a:p>
                  </a:txBody>
                  <a:tcPr/>
                </a:tc>
                <a:tc>
                  <a:txBody>
                    <a:bodyPr wrap="square" lIns="50800" rIns="50800" tIns="25400" bIns="25400"/>
                    <a:lstStyle/>
                    <a:p>
                      <a:pPr>
                        <a:defRPr sz="800">
                          <a:solidFill>
                            <a:srgbClr val="333333"/>
                          </a:solidFill>
                          <a:latin typeface="Calibri"/>
                        </a:defRPr>
                      </a:pPr>
                      <a:r>
                        <a:t>Reduce the caliper piston diameter for the rear brakes by 2mm, coupled with a slight increase in pad friction material surface area, to maintain equivalent clamping force while reducing hydraulic pressure requirements and caliper mass.</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400000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40,000,000,000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91477">
                <a:tc>
                  <a:txBody>
                    <a:bodyPr wrap="square" lIns="50800" rIns="50800" tIns="25400" bIns="25400"/>
                    <a:lstStyle/>
                    <a:p>
                      <a:pPr>
                        <a:defRPr sz="800">
                          <a:solidFill>
                            <a:srgbClr val="333333"/>
                          </a:solidFill>
                          <a:latin typeface="Calibri"/>
                        </a:defRPr>
                      </a:pPr>
                      <a:r>
                        <a:t>AI-GEN-03</a:t>
                      </a:r>
                    </a:p>
                  </a:txBody>
                  <a:tcPr/>
                </a:tc>
                <a:tc>
                  <a:txBody>
                    <a:bodyPr wrap="square" lIns="50800" rIns="50800" tIns="25400" bIns="25400"/>
                    <a:lstStyle/>
                    <a:p>
                      <a:pPr>
                        <a:defRPr sz="800">
                          <a:solidFill>
                            <a:srgbClr val="333333"/>
                          </a:solidFill>
                          <a:latin typeface="Calibri"/>
                        </a:defRPr>
                      </a:pPr>
                      <a:r>
                        <a:t>Substitute the current steel brake dust shield with a lighter gauge (0.7mm instead of 1.0mm) galvanized steel or a high-strength polymer composite, while maintaining splash and debris protection.</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600000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60,000,000,000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91477">
                <a:tc>
                  <a:txBody>
                    <a:bodyPr wrap="square" lIns="50800" rIns="50800" tIns="25400" bIns="25400"/>
                    <a:lstStyle/>
                    <a:p>
                      <a:pPr>
                        <a:defRPr sz="800">
                          <a:solidFill>
                            <a:srgbClr val="333333"/>
                          </a:solidFill>
                          <a:latin typeface="Calibri"/>
                        </a:defRPr>
                      </a:pPr>
                      <a:r>
                        <a:t>AI-GEN-06</a:t>
                      </a:r>
                    </a:p>
                  </a:txBody>
                  <a:tcPr/>
                </a:tc>
                <a:tc>
                  <a:txBody>
                    <a:bodyPr wrap="square" lIns="50800" rIns="50800" tIns="25400" bIns="25400"/>
                    <a:lstStyle/>
                    <a:p>
                      <a:pPr>
                        <a:defRPr sz="800">
                          <a:solidFill>
                            <a:srgbClr val="333333"/>
                          </a:solidFill>
                          <a:latin typeface="Calibri"/>
                        </a:defRPr>
                      </a:pPr>
                      <a:r>
                        <a:t>Explore the use of a lighter-weight, high-strength aluminum alloy for the rear brake caliper housing, provided thermal management and structural integrity are maintained through design optimization and surface treatment.</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550000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55,000,000,000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91477">
                <a:tc>
                  <a:txBody>
                    <a:bodyPr wrap="square" lIns="50800" rIns="50800" tIns="25400" bIns="25400"/>
                    <a:lstStyle/>
                    <a:p>
                      <a:pPr>
                        <a:defRPr sz="800">
                          <a:solidFill>
                            <a:srgbClr val="333333"/>
                          </a:solidFill>
                          <a:latin typeface="Calibri"/>
                        </a:defRPr>
                      </a:pPr>
                      <a:r>
                        <a:t>AI-GEN-07</a:t>
                      </a:r>
                    </a:p>
                  </a:txBody>
                  <a:tcPr/>
                </a:tc>
                <a:tc>
                  <a:txBody>
                    <a:bodyPr wrap="square" lIns="50800" rIns="50800" tIns="25400" bIns="25400"/>
                    <a:lstStyle/>
                    <a:p>
                      <a:pPr>
                        <a:defRPr sz="800">
                          <a:solidFill>
                            <a:srgbClr val="333333"/>
                          </a:solidFill>
                          <a:latin typeface="Calibri"/>
                        </a:defRPr>
                      </a:pPr>
                      <a:r>
                        <a:t>Reduce the thickness of the brake fluid reservoir and cap by 0.5mm, using a more rigid, impact-resistant polymer while maintaining fluid volume and sealing integrity.</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350000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35,000,000,000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91477">
                <a:tc>
                  <a:txBody>
                    <a:bodyPr wrap="square" lIns="50800" rIns="50800" tIns="25400" bIns="25400"/>
                    <a:lstStyle/>
                    <a:p>
                      <a:pPr>
                        <a:defRPr sz="800">
                          <a:solidFill>
                            <a:srgbClr val="333333"/>
                          </a:solidFill>
                          <a:latin typeface="Calibri"/>
                        </a:defRPr>
                      </a:pPr>
                      <a:r>
                        <a:t>AI-GEN-08</a:t>
                      </a:r>
                    </a:p>
                  </a:txBody>
                  <a:tcPr/>
                </a:tc>
                <a:tc>
                  <a:txBody>
                    <a:bodyPr wrap="square" lIns="50800" rIns="50800" tIns="25400" bIns="25400"/>
                    <a:lstStyle/>
                    <a:p>
                      <a:pPr>
                        <a:defRPr sz="800">
                          <a:solidFill>
                            <a:srgbClr val="333333"/>
                          </a:solidFill>
                          <a:latin typeface="Calibri"/>
                        </a:defRPr>
                      </a:pPr>
                      <a:r>
                        <a:t>Consolidate the brake hose mounting bracket and dust shield attachment points into a single, simplified stamping for the front and rear assemblies, reducing part count and assembly complexity.</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400000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40,000,000,000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91477">
                <a:tc>
                  <a:txBody>
                    <a:bodyPr wrap="square" lIns="50800" rIns="50800" tIns="25400" bIns="25400"/>
                    <a:lstStyle/>
                    <a:p>
                      <a:pPr>
                        <a:defRPr sz="800">
                          <a:solidFill>
                            <a:srgbClr val="333333"/>
                          </a:solidFill>
                          <a:latin typeface="Calibri"/>
                        </a:defRPr>
                      </a:pPr>
                      <a:r>
                        <a:t>AI-GEN-09</a:t>
                      </a:r>
                    </a:p>
                  </a:txBody>
                  <a:tcPr/>
                </a:tc>
                <a:tc>
                  <a:txBody>
                    <a:bodyPr wrap="square" lIns="50800" rIns="50800" tIns="25400" bIns="25400"/>
                    <a:lstStyle/>
                    <a:p>
                      <a:pPr>
                        <a:defRPr sz="800">
                          <a:solidFill>
                            <a:srgbClr val="333333"/>
                          </a:solidFill>
                          <a:latin typeface="Calibri"/>
                        </a:defRPr>
                      </a:pPr>
                      <a:r>
                        <a:t>Optimize the brake pad friction material formulation to achieve a better balance of friction coefficient, wear rate, and thermal stability, potentially allowing for a slightly thinner pad backing plate.</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500000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50,000,000,000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91477">
                <a:tc>
                  <a:txBody>
                    <a:bodyPr wrap="square" lIns="50800" rIns="50800" tIns="25400" bIns="25400"/>
                    <a:lstStyle/>
                    <a:p>
                      <a:pPr>
                        <a:defRPr sz="800">
                          <a:solidFill>
                            <a:srgbClr val="333333"/>
                          </a:solidFill>
                          <a:latin typeface="Calibri"/>
                        </a:defRPr>
                      </a:pPr>
                      <a:r>
                        <a:t>AI-GEN-10</a:t>
                      </a:r>
                    </a:p>
                  </a:txBody>
                  <a:tcPr/>
                </a:tc>
                <a:tc>
                  <a:txBody>
                    <a:bodyPr wrap="square" lIns="50800" rIns="50800" tIns="25400" bIns="25400"/>
                    <a:lstStyle/>
                    <a:p>
                      <a:pPr>
                        <a:defRPr sz="800">
                          <a:solidFill>
                            <a:srgbClr val="333333"/>
                          </a:solidFill>
                          <a:latin typeface="Calibri"/>
                        </a:defRPr>
                      </a:pPr>
                      <a:r>
                        <a:t>Reduce the wall thickness of the brake caliper mounting bracket for the rear axle from 5mm to 4.5mm, using a higher-strength steel alloy and optimizing the bracket's geometric features for load distribution.</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450000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45,000,000,000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91477">
                <a:tc>
                  <a:txBody>
                    <a:bodyPr wrap="square" lIns="50800" rIns="50800" tIns="25400" bIns="25400"/>
                    <a:lstStyle/>
                    <a:p>
                      <a:pPr>
                        <a:defRPr sz="800">
                          <a:solidFill>
                            <a:srgbClr val="333333"/>
                          </a:solidFill>
                          <a:latin typeface="Calibri"/>
                        </a:defRPr>
                      </a:pPr>
                      <a:r>
                        <a:t>N/A</a:t>
                      </a:r>
                    </a:p>
                  </a:txBody>
                  <a:tcPr/>
                </a:tc>
                <a:tc>
                  <a:txBody>
                    <a:bodyPr wrap="square" lIns="50800" rIns="50800" tIns="25400" bIns="25400"/>
                    <a:lstStyle/>
                    <a:p>
                      <a:pPr>
                        <a:defRPr sz="800">
                          <a:solidFill>
                            <a:srgbClr val="333333"/>
                          </a:solidFill>
                          <a:latin typeface="Calibri"/>
                        </a:defRPr>
                      </a:pPr>
                      <a:r>
                        <a:t>Value Engineering applied to the brake assembly for the MG Hector, focusing on material optimization for brake rotors and calipers while maintaining thermal performance and regulatory compliance. This involves a systematic VE approach (e.g., using the SAVE framework from [1]) to identify non-essential features or over-specified components. Potential areas include exploring alternative rotor materials with similar thermal mass characteristics but lower cost, and investigating lighter caliper materials or optimized caliper designs that meet structural requirements without excessive weight. The dust shield gauge could be optimized for cost and protective function, potentially using a lighter gauge material if structural analysis permits without compromising durability or thermal management.</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Research Paper</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91477">
                <a:tc>
                  <a:txBody>
                    <a:bodyPr wrap="square" lIns="50800" rIns="50800" tIns="25400" bIns="25400"/>
                    <a:lstStyle/>
                    <a:p>
                      <a:pPr>
                        <a:defRPr sz="800">
                          <a:solidFill>
                            <a:srgbClr val="333333"/>
                          </a:solidFill>
                          <a:latin typeface="Calibri"/>
                        </a:defRPr>
                      </a:pPr>
                      <a:r>
                        <a:t>N/A</a:t>
                      </a:r>
                    </a:p>
                  </a:txBody>
                  <a:tcPr/>
                </a:tc>
                <a:tc>
                  <a:txBody>
                    <a:bodyPr wrap="square" lIns="50800" rIns="50800" tIns="25400" bIns="25400"/>
                    <a:lstStyle/>
                    <a:p>
                      <a:pPr>
                        <a:defRPr sz="800">
                          <a:solidFill>
                            <a:srgbClr val="333333"/>
                          </a:solidFill>
                          <a:latin typeface="Calibri"/>
                        </a:defRPr>
                      </a:pPr>
                      <a:r>
                        <a:t>Investigate the application of Value Stream Mapping (VSM) [3] to the entire brake assembly manufacturing and assembly process for the MG Hector. This would identify bottlenecks, non-value-added steps, and opportunities for waste reduction in the supply chain and assembly line. For example, optimizing the supply chain for raw materials, streamlining the machining processes for rotors and calipers, or improving the logistics of component delivery to the assembly line. The focus would be on reducing lead times and manufacturing costs without compromising the quality or performance of the brake assembly, especially concerning thermal management and fade resistance critical for the 1.7T vehicle.</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Research Paper</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91477">
                <a:tc>
                  <a:txBody>
                    <a:bodyPr wrap="square" lIns="50800" rIns="50800" tIns="25400" bIns="25400"/>
                    <a:lstStyle/>
                    <a:p>
                      <a:pPr>
                        <a:defRPr sz="800">
                          <a:solidFill>
                            <a:srgbClr val="333333"/>
                          </a:solidFill>
                          <a:latin typeface="Calibri"/>
                        </a:defRPr>
                      </a:pPr>
                      <a:r>
                        <a:t>N/A</a:t>
                      </a:r>
                    </a:p>
                  </a:txBody>
                  <a:tcPr/>
                </a:tc>
                <a:tc>
                  <a:txBody>
                    <a:bodyPr wrap="square" lIns="50800" rIns="50800" tIns="25400" bIns="25400"/>
                    <a:lstStyle/>
                    <a:p>
                      <a:pPr>
                        <a:defRPr sz="800">
                          <a:solidFill>
                            <a:srgbClr val="333333"/>
                          </a:solidFill>
                          <a:latin typeface="Calibri"/>
                        </a:defRPr>
                      </a:pPr>
                      <a:r>
                        <a:t>Industry Trend: Advanced Friction Material Optimization for Brake Pads. While the core physics of friction coefficients are well-understood, there's an ongoing industry trend to develop advanced friction materials that offer a wider operating temperature range, improved fade resistance, and reduced noise, vibration, and harshness (NVH) without significantly increasing cost. For the MG Hector (1.7T, high kinetic energy), this translates to exploring next-generation pad formulations that can handle higher thermal loads during sustained braking, crucial for safety and driver confidence. This could involve nanocomposite materials or ceramic-metallic formulations that offer a better balance of friction stability, wear resistance, and thermal capacity compared to conventional materials, while still meeting FMVSS 105 and ECE R13 requirements.</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Industry Trend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91485">
                <a:tc>
                  <a:txBody>
                    <a:bodyPr wrap="square" lIns="50800" rIns="50800" tIns="25400" bIns="25400"/>
                    <a:lstStyle/>
                    <a:p>
                      <a:pPr>
                        <a:defRPr sz="800">
                          <a:solidFill>
                            <a:srgbClr val="333333"/>
                          </a:solidFill>
                          <a:latin typeface="Calibri"/>
                        </a:defRPr>
                      </a:pPr>
                      <a:r>
                        <a:t>N/A</a:t>
                      </a:r>
                    </a:p>
                  </a:txBody>
                  <a:tcPr/>
                </a:tc>
                <a:tc>
                  <a:txBody>
                    <a:bodyPr wrap="square" lIns="50800" rIns="50800" tIns="25400" bIns="25400"/>
                    <a:lstStyle/>
                    <a:p>
                      <a:pPr>
                        <a:defRPr sz="800">
                          <a:solidFill>
                            <a:srgbClr val="333333"/>
                          </a:solidFill>
                          <a:latin typeface="Calibri"/>
                        </a:defRPr>
                      </a:pPr>
                      <a:r>
                        <a:t>Cost Optimization of Brake Rotor Cooling Fins. For high kinetic energy vehicles like the 1.7T MG Hector, effective heat dissipation from brake rotors is critical to prevent fade. While direct IRS changes are constrained, optimizing the design of existing rotor cooling fins can improve thermal performance without major structural alterations or significant CAPEX. This proposal involves using computational fluid dynamics (CFD) to analyze and optimize the geometry, spacing, and orientation of cooling fins on the brake rotors. The goal is to enhance airflow and convective heat transfer, thereby increasing fade resistance. This optimization could lead to a reduction in the required rotor thickness over time or improve performance at the current thickness, potentially allowing for material savings or improved durability. The dust shield gauge could also be evaluated in conjunction with fin design to ensure unimpeded airflow.</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Research Paper</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bl>
          </a:graphicData>
        </a:graphic>
      </p:graphicFrame>
      <p:sp>
        <p:nvSpPr>
          <p:cNvPr id="3" name="TextBox 2"/>
          <p:cNvSpPr txBox="1"/>
          <p:nvPr/>
        </p:nvSpPr>
        <p:spPr>
          <a:xfrm>
            <a:off x="365760" y="45720"/>
            <a:ext cx="11460175" cy="320040"/>
          </a:xfrm>
          <a:prstGeom prst="rect">
            <a:avLst/>
          </a:prstGeom>
          <a:noFill/>
        </p:spPr>
        <p:txBody>
          <a:bodyPr wrap="square">
            <a:spAutoFit/>
          </a:bodyPr>
          <a:lstStyle/>
          <a:p>
            <a:pPr>
              <a:defRPr sz="1800" b="1">
                <a:solidFill>
                  <a:srgbClr val="003366"/>
                </a:solidFill>
              </a:defRPr>
            </a:pPr>
            <a:r>
              <a:t>Summary of ideas generated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 1. Reduce the overall wall thickness of the Brake Dust Cover Plates present on all four wheel hubs of the vehicles from 1mm to 0.8mm</a:t>
            </a:r>
            <a:br/>
            <a:r>
              <a:t>2. Reduce the paint coating thickness on each side of all four plates from 56 microns to 27.8 microns</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EXISTING DATABASE</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1. Reduce the overall wall thickness of the Brake Dust Cover Plates present on all four wheel hubs of the vehicles from 1mm to 0.8mm</a:t>
            </a:r>
            <a:br>
              <a:rPr sz="1000" b="0" i="0">
                <a:latin typeface="Calibri"/>
              </a:rPr>
            </a:br>
            <a:r>
              <a:rPr sz="1000" b="0" i="0">
                <a:latin typeface="Calibri"/>
              </a:rPr>
              <a:t>2. Reduce the paint coating thickness on each side of all four plates from 56 microns to 27.8 microns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1mm to 0.8mm</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57</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5.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impl_overlay_1Reducetheo_1770102456421.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#2: The Brake Booster Plate in MGI could be integrated into the Dashboard BIW of the vehicle as done in KIA</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EXISTING DATABASE</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The Brake Booster Plate in MGI could be integrated into the Dashboard BIW of the vehicle as done in KIA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47</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31.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impl_overlay_TheBrakeBoost_1770102468180.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#3: Redesign the current Brake Pedal Mounting Bracket used in MGI to a similar bracket used in KIA.</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EXISTING DATABASE</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Redesign the current Brake Pedal Mounting Bracket used in MGI to a similar bracket used in KIA.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113</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3.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impl_overlay_Redesignthecu_1770102479517.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#4: Replace the current cast iron brake rotor material for the front axle with a higher-performance, lower-density grey cast iron alloy (e.g., GJL-250 with enhanced graphite structure) optimized for thermal dissipation.</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Replace the current cast iron brake rotor material for the front axle with a higher-performance, lower-density grey cast iron alloy (e.g., GJL-250 with enhanced graphite structure) optimized for thermal dissipation.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Replace the current cast iron brake rotor material for the front axle with a higher-performance, low</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500000</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32.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sp>
        <p:nvSpPr>
          <p:cNvPr id="22" name="Rectangle 21"/>
          <p:cNvSpPr/>
          <p:nvPr/>
        </p:nvSpPr>
        <p:spPr>
          <a:xfrm>
            <a:off x="6035040" y="3909059"/>
            <a:ext cx="5669280" cy="2583179"/>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#5: Reduce the caliper piston diameter for the rear brakes by 2mm, coupled with a slight increase in pad friction material surface area, to maintain equivalent clamping force while reducing hydraulic pressure requirements and caliper mass.</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Reduce the caliper piston diameter for the rear brakes by 2mm, coupled with a slight increase in pad friction material surface area, to maintain equivalent clamping force while reducing hydraulic pressure requirements and caliper mass.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Reduce the caliper piston diameter for the rear brakes by 2mm, coupled with a slight increase in pad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400000</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6.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sp>
        <p:nvSpPr>
          <p:cNvPr id="22" name="Rectangle 21"/>
          <p:cNvSpPr/>
          <p:nvPr/>
        </p:nvSpPr>
        <p:spPr>
          <a:xfrm>
            <a:off x="6035040" y="3909059"/>
            <a:ext cx="5669280" cy="2583179"/>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#6: Substitute the current steel brake dust shield with a lighter gauge (0.7mm instead of 1.0mm) galvanized steel or a high-strength polymer composite, while maintaining splash and debris protection.</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Substitute the current steel brake dust shield with a lighter gauge (0.7mm instead of 1.0mm) galvanized steel or a high-strength polymer composite, while maintaining splash and debris protection.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Substitute the current steel brake dust shield with a lighter gauge (0</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0.7mm instead of 1.0mm</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600000</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4.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sp>
        <p:nvSpPr>
          <p:cNvPr id="22" name="Rectangle 21"/>
          <p:cNvSpPr/>
          <p:nvPr/>
        </p:nvSpPr>
        <p:spPr>
          <a:xfrm>
            <a:off x="6035040" y="3909059"/>
            <a:ext cx="5669280" cy="2583179"/>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#7: Explore the use of a lighter-weight, high-strength aluminum alloy for the rear brake caliper housing, provided thermal management and structural integrity are maintained through design optimization and surface treatment.</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Explore the use of a lighter-weight, high-strength aluminum alloy for the rear brake caliper housing, provided thermal management and structural integrity are maintained through design optimization and surface treatment.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Explore the use of a lighter-weight, high-strength aluminum alloy for the rear brake caliper housing</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550000</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2.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sp>
        <p:nvSpPr>
          <p:cNvPr id="22" name="Rectangle 21"/>
          <p:cNvSpPr/>
          <p:nvPr/>
        </p:nvSpPr>
        <p:spPr>
          <a:xfrm>
            <a:off x="6035040" y="3909059"/>
            <a:ext cx="5669280" cy="2583179"/>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#8: Reduce the thickness of the brake fluid reservoir and cap by 0.5mm, using a more rigid, impact-resistant polymer while maintaining fluid volume and sealing integrity.</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Reduce the thickness of the brake fluid reservoir and cap by 0.5mm, using a more rigid, impact-resistant polymer while maintaining fluid volume and sealing integrity.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350000</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6.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sp>
        <p:nvSpPr>
          <p:cNvPr id="22" name="Rectangle 21"/>
          <p:cNvSpPr/>
          <p:nvPr/>
        </p:nvSpPr>
        <p:spPr>
          <a:xfrm>
            <a:off x="6035040" y="3909059"/>
            <a:ext cx="5669280" cy="2583179"/>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#9: Consolidate the brake hose mounting bracket and dust shield attachment points into a single, simplified stamping for the front and rear assemblies, reducing part count and assembly complexity.</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Consolidate the brake hose mounting bracket and dust shield attachment points into a single, simplified stamping for the front and rear assemblies, reducing part count and assembly complexity.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400000</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4.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sp>
        <p:nvSpPr>
          <p:cNvPr id="22" name="Rectangle 21"/>
          <p:cNvSpPr/>
          <p:nvPr/>
        </p:nvSpPr>
        <p:spPr>
          <a:xfrm>
            <a:off x="6035040" y="3909059"/>
            <a:ext cx="5669280" cy="2583179"/>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#10: Optimize the brake pad friction material formulation to achieve a better balance of friction coefficient, wear rate, and thermal stability, potentially allowing for a slightly thinner pad backing plate.</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Optimize the brake pad friction material formulation to achieve a better balance of friction coefficient, wear rate, and thermal stability, potentially allowing for a slightly thinner pad backing plate.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Optimize the brake pad friction material formulation to achieve a better balance of friction coeffic</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500000</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10.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sp>
        <p:nvSpPr>
          <p:cNvPr id="22" name="Rectangle 21"/>
          <p:cNvSpPr/>
          <p:nvPr/>
        </p:nvSpPr>
        <p:spPr>
          <a:xfrm>
            <a:off x="6035040" y="3909059"/>
            <a:ext cx="5669280" cy="2583179"/>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#11: Reduce the wall thickness of the brake caliper mounting bracket for the rear axle from 5mm to 4.5mm, using a higher-strength steel alloy and optimizing the bracket's geometric features for load distribution.</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Reduce the wall thickness of the brake caliper mounting bracket for the rear axle from 5mm to 4.5mm, using a higher-strength steel alloy and optimizing the bracket's geometric features for load distribution.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5mm, using a higher-strength steel alloy and optimizing the bracket's geometric features for load di</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5mm to 4.5mm</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450000</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19.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sp>
        <p:nvSpPr>
          <p:cNvPr id="22" name="Rectangle 21"/>
          <p:cNvSpPr/>
          <p:nvPr/>
        </p:nvSpPr>
        <p:spPr>
          <a:xfrm>
            <a:off x="6035040" y="3909059"/>
            <a:ext cx="5669280" cy="2583179"/>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#12: Value Engineering applied to the brake assembly for the MG Hector, focusing on material optimization for brake rotors and calipers while maintaining thermal performance and regulatory compliance. This involves a systematic VE approach (e.g., using the SAVE framework from [1]) to identify non-essential features or over-specified components. Potential areas include exploring alternative rotor materials with similar thermal mass characteristics but lower cost, and investigating lighter caliper materials or optimized caliper designs that meet structural requirements without excessive weight. The dust shield gauge could be optimized for cost and protective function, potentially using a lighter gauge material if structural analysis permits without compromising durability or thermal management.</a:t>
            </a:r>
          </a:p>
        </p:txBody>
      </p:sp>
      <p:sp>
        <p:nvSpPr>
          <p:cNvPr id="3" name="TextBox 2"/>
          <p:cNvSpPr txBox="1"/>
          <p:nvPr/>
        </p:nvSpPr>
        <p:spPr>
          <a:xfrm>
            <a:off x="10332720" y="182880"/>
            <a:ext cx="1676095" cy="365760"/>
          </a:xfrm>
          <a:prstGeom prst="rect">
            <a:avLst/>
          </a:prstGeom>
          <a:solidFill>
            <a:srgbClr val="008080"/>
          </a:solidFill>
        </p:spPr>
        <p:txBody>
          <a:bodyPr wrap="square">
            <a:spAutoFit/>
          </a:bodyPr>
          <a:lstStyle/>
          <a:p>
            <a:pPr algn="ctr">
              <a:defRPr b="1" sz="1000">
                <a:solidFill>
                  <a:srgbClr val="FFFFFF"/>
                </a:solidFill>
              </a:defRPr>
            </a:pPr>
            <a:r>
              <a:t>WEB SOURCED</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Value Engineering applied to the brake assembly for the MG Hector, focusing on material optimization for brake rotors and calipers while maintaining thermal performance and regulatory compliance. This involves a systematic VE approach (e.g., using the SAVE framework from [1]) to identify non-essential features or over-specified components. Potential areas include exploring alternative rotor materials with similar thermal mass characteristics but lower cost, and inves...</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Value Engineering applied to the brake assembly for the MG Hector, focusing on material optimization</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TBD</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08.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impl_overlay_ValueEngineeri_1770102532104.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#13: Investigate the application of Value Stream Mapping (VSM) [3] to the entire brake assembly manufacturing and assembly process for the MG Hector. This would identify bottlenecks, non-value-added steps, and opportunities for waste reduction in the supply chain and assembly line. For example, optimizing the supply chain for raw materials, streamlining the machining processes for rotors and calipers, or improving the logistics of component delivery to the assembly line. The focus would be on reducing lead times and manufacturing costs without compromising the quality or performance of the brake assembly, especially concerning thermal management and fade resistance critical for the 1.7T vehicle.</a:t>
            </a:r>
          </a:p>
        </p:txBody>
      </p:sp>
      <p:sp>
        <p:nvSpPr>
          <p:cNvPr id="3" name="TextBox 2"/>
          <p:cNvSpPr txBox="1"/>
          <p:nvPr/>
        </p:nvSpPr>
        <p:spPr>
          <a:xfrm>
            <a:off x="10332720" y="182880"/>
            <a:ext cx="1676095" cy="365760"/>
          </a:xfrm>
          <a:prstGeom prst="rect">
            <a:avLst/>
          </a:prstGeom>
          <a:solidFill>
            <a:srgbClr val="008080"/>
          </a:solidFill>
        </p:spPr>
        <p:txBody>
          <a:bodyPr wrap="square">
            <a:spAutoFit/>
          </a:bodyPr>
          <a:lstStyle/>
          <a:p>
            <a:pPr algn="ctr">
              <a:defRPr b="1" sz="1000">
                <a:solidFill>
                  <a:srgbClr val="FFFFFF"/>
                </a:solidFill>
              </a:defRPr>
            </a:pPr>
            <a:r>
              <a:t>WEB SOURCED</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Investigate the application of Value Stream Mapping (VSM) [3] to the entire brake assembly manufacturing and assembly process for the MG Hector. This would identify bottlenecks, non-value-added steps, and opportunities for waste reduction in the supply chain and assembly line. For example, optimizing the supply chain for raw materials, streamlining the machining processes for rotors and calipers, or improving the logistics of component delivery to the assembly line....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Investigate the application of Value Stream Mapping (VSM) [3] to the entire brake assembly manufactu</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TBD</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76.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impl_overlay_Investigatethe_1770102542499.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#14: Industry Trend: Advanced Friction Material Optimization for Brake Pads. While the core physics of friction coefficients are well-understood, there's an ongoing industry trend to develop advanced friction materials that offer a wider operating temperature range, improved fade resistance, and reduced noise, vibration, and harshness (NVH) without significantly increasing cost. For the MG Hector (1.7T, high kinetic energy), this translates to exploring next-generation pad formulations that can handle higher thermal loads during sustained braking, crucial for safety and driver confidence. This could involve nanocomposite materials or ceramic-metallic formulations that offer a better balance of friction stability, wear resistance, and thermal capacity compared to conventional materials, while still meeting FMVSS 105 and ECE R13 requirements.</a:t>
            </a:r>
          </a:p>
        </p:txBody>
      </p:sp>
      <p:sp>
        <p:nvSpPr>
          <p:cNvPr id="3" name="TextBox 2"/>
          <p:cNvSpPr txBox="1"/>
          <p:nvPr/>
        </p:nvSpPr>
        <p:spPr>
          <a:xfrm>
            <a:off x="10332720" y="182880"/>
            <a:ext cx="1676095" cy="365760"/>
          </a:xfrm>
          <a:prstGeom prst="rect">
            <a:avLst/>
          </a:prstGeom>
          <a:solidFill>
            <a:srgbClr val="008080"/>
          </a:solidFill>
        </p:spPr>
        <p:txBody>
          <a:bodyPr wrap="square">
            <a:spAutoFit/>
          </a:bodyPr>
          <a:lstStyle/>
          <a:p>
            <a:pPr algn="ctr">
              <a:defRPr b="1" sz="1000">
                <a:solidFill>
                  <a:srgbClr val="FFFFFF"/>
                </a:solidFill>
              </a:defRPr>
            </a:pPr>
            <a:r>
              <a:t>WEB SOURCED</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Industry Trend: Advanced Friction Material Optimization for Brake Pads. While the core physics of friction coefficients are well-understood, there's an ongoing industry trend to develop advanced friction materials that offer a wider operating temperature range, improved fade resistance, and reduced noise, vibration, and harshness (NVH) without significantly increasing cost. For the MG Hector (1.7T, high kinetic energy), this translates to exploring next-generation pa...</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Industry Trend: Advanced Friction Material Optimization for Brake Pads</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TBD</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94.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impl_overlay_IndustryTrend_1770102553280.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#15: Cost Optimization of Brake Rotor Cooling Fins. For high kinetic energy vehicles like the 1.7T MG Hector, effective heat dissipation from brake rotors is critical to prevent fade. While direct IRS changes are constrained, optimizing the design of existing rotor cooling fins can improve thermal performance without major structural alterations or significant CAPEX. This proposal involves using computational fluid dynamics (CFD) to analyze and optimize the geometry, spacing, and orientation of cooling fins on the brake rotors. The goal is to enhance airflow and convective heat transfer, thereby increasing fade resistance. This optimization could lead to a reduction in the required rotor thickness over time or improve performance at the current thickness, potentially allowing for material savings or improved durability. The dust shield gauge could also be evaluated in conjunction with fin design to ensure unimpeded airflow.</a:t>
            </a:r>
          </a:p>
        </p:txBody>
      </p:sp>
      <p:sp>
        <p:nvSpPr>
          <p:cNvPr id="3" name="TextBox 2"/>
          <p:cNvSpPr txBox="1"/>
          <p:nvPr/>
        </p:nvSpPr>
        <p:spPr>
          <a:xfrm>
            <a:off x="10332720" y="182880"/>
            <a:ext cx="1676095" cy="365760"/>
          </a:xfrm>
          <a:prstGeom prst="rect">
            <a:avLst/>
          </a:prstGeom>
          <a:solidFill>
            <a:srgbClr val="008080"/>
          </a:solidFill>
        </p:spPr>
        <p:txBody>
          <a:bodyPr wrap="square">
            <a:spAutoFit/>
          </a:bodyPr>
          <a:lstStyle/>
          <a:p>
            <a:pPr algn="ctr">
              <a:defRPr b="1" sz="1000">
                <a:solidFill>
                  <a:srgbClr val="FFFFFF"/>
                </a:solidFill>
              </a:defRPr>
            </a:pPr>
            <a:r>
              <a:t>WEB SOURCED</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Cost Optimization of Brake Rotor Cooling Fins. For high kinetic energy vehicles like the 1.7T MG Hector, effective heat dissipation from brake rotors is critical to prevent fade. While direct IRS changes are constrained, optimizing the design of existing rotor cooling fins can improve thermal performance without major structural alterations or significant CAPEX. This proposal involves using computational fluid dynamics (CFD) to analyze and optimize the geometry, spac...</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This optimization could lead to a reduction in the required rotor thickness over time or improve per</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TBD</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18.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impl_overlay_CostOptimizati_1770102564220.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
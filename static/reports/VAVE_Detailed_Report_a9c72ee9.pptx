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04-Feb-2026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0881360" cy="6263640"/>
        </p:xfrm>
        <a:graphic>
          <a:graphicData uri="http://schemas.openxmlformats.org/drawingml/2006/table">
            <a:tbl>
              <a:tblPr firstRow="1" bandRow="1">
                <a:tableStyleId>{5C22544A-7EE6-4342-B048-85BDC9FD1C3A}</a:tableStyleId>
              </a:tblPr>
              <a:tblGrid>
                <a:gridCol w="731520"/>
                <a:gridCol w="4114800"/>
                <a:gridCol w="1097280"/>
                <a:gridCol w="1097280"/>
                <a:gridCol w="1097280"/>
                <a:gridCol w="1371600"/>
                <a:gridCol w="1371600"/>
              </a:tblGrid>
              <a:tr h="626364">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 Cr)</a:t>
                      </a:r>
                    </a:p>
                  </a:txBody>
                  <a:tcPr>
                    <a:solidFill>
                      <a:srgbClr val="003366"/>
                    </a:solidFill>
                  </a:tcPr>
                </a:tc>
                <a:tc>
                  <a:txBody>
                    <a:bodyPr wrap="square"/>
                    <a:lstStyle/>
                    <a:p>
                      <a:pPr>
                        <a:defRPr b="1" sz="900">
                          <a:solidFill>
                            <a:srgbClr val="FFFFFF"/>
                          </a:solidFill>
                        </a:defRPr>
                      </a:pPr>
                      <a:r>
                        <a:t>Unit Saving (₹)</a:t>
                      </a:r>
                    </a:p>
                  </a:txBody>
                  <a:tcPr>
                    <a:solidFill>
                      <a:srgbClr val="003366"/>
                    </a:solidFill>
                  </a:tcPr>
                </a:tc>
                <a:tc>
                  <a:txBody>
                    <a:bodyPr wrap="square"/>
                    <a:lstStyle/>
                    <a:p>
                      <a:pPr>
                        <a:defRPr b="1" sz="900">
                          <a:solidFill>
                            <a:srgbClr val="FFFFFF"/>
                          </a:solidFill>
                        </a:defRPr>
                      </a:pPr>
                      <a:r>
                        <a:t>Yearly Volume</a:t>
                      </a:r>
                    </a:p>
                  </a:txBody>
                  <a:tcPr>
                    <a:solidFill>
                      <a:srgbClr val="003366"/>
                    </a:solidFill>
                  </a:tcPr>
                </a:tc>
                <a:tc>
                  <a:txBody>
                    <a:bodyPr wrap="square"/>
                    <a:lstStyle/>
                    <a:p>
                      <a:pPr>
                        <a:defRPr b="1" sz="900">
                          <a:solidFill>
                            <a:srgbClr val="FFFFFF"/>
                          </a:solidFill>
                        </a:defRPr>
                      </a:pPr>
                      <a:r>
                        <a:t>Total Saving (₹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r>
              <a:tr h="626364">
                <a:tc>
                  <a:txBody>
                    <a:bodyPr wrap="square" lIns="50800" rIns="50800"/>
                    <a:lstStyle/>
                    <a:p>
                      <a:pPr>
                        <a:defRPr sz="900">
                          <a:solidFill>
                            <a:srgbClr val="333333"/>
                          </a:solidFill>
                          <a:latin typeface="Calibri"/>
                        </a:defRPr>
                      </a:pPr>
                      <a:r>
                        <a:t>2311-SP-ID-01</a:t>
                      </a:r>
                    </a:p>
                  </a:txBody>
                  <a:tcPr/>
                </a:tc>
                <a:tc>
                  <a:txBody>
                    <a:bodyPr wrap="square" lIns="50800" rIns="50800"/>
                    <a:lstStyle/>
                    <a:p>
                      <a:pPr>
                        <a:defRPr sz="9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57.00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0.5700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2311-BA-ID-01</a:t>
                      </a:r>
                    </a:p>
                  </a:txBody>
                  <a:tcPr/>
                </a:tc>
                <a:tc>
                  <a:txBody>
                    <a:bodyPr wrap="square" lIns="50800" rIns="50800"/>
                    <a:lstStyle/>
                    <a:p>
                      <a:pPr>
                        <a:defRPr sz="900">
                          <a:solidFill>
                            <a:srgbClr val="333333"/>
                          </a:solidFill>
                          <a:latin typeface="Calibri"/>
                        </a:defRPr>
                      </a:pPr>
                      <a:r>
                        <a:t>The Brake Booster Plate in MGI could be integrated into the Dashboard BIW of the vehicle as done in KIA</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47.00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0.4700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2311-PA-ID-02</a:t>
                      </a:r>
                    </a:p>
                  </a:txBody>
                  <a:tcPr/>
                </a:tc>
                <a:tc>
                  <a:txBody>
                    <a:bodyPr wrap="square" lIns="50800" rIns="50800"/>
                    <a:lstStyle/>
                    <a:p>
                      <a:pPr>
                        <a:defRPr sz="900">
                          <a:solidFill>
                            <a:srgbClr val="333333"/>
                          </a:solidFill>
                          <a:latin typeface="Calibri"/>
                        </a:defRPr>
                      </a:pPr>
                      <a:r>
                        <a:t>Redesign the current Brake Pedal Mounting Bracket used in MGI to a similar bracket used in KIA.</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TBD</a:t>
                      </a:r>
                    </a:p>
                  </a:txBody>
                  <a:tcPr/>
                </a:tc>
              </a:tr>
              <a:tr h="626364">
                <a:tc>
                  <a:txBody>
                    <a:bodyPr wrap="square" lIns="50800" rIns="50800"/>
                    <a:lstStyle/>
                    <a:p>
                      <a:pPr>
                        <a:defRPr sz="900">
                          <a:solidFill>
                            <a:srgbClr val="333333"/>
                          </a:solidFill>
                          <a:latin typeface="Calibri"/>
                        </a:defRPr>
                      </a:pPr>
                      <a:r>
                        <a:t>2311-BA-ID-02</a:t>
                      </a:r>
                    </a:p>
                  </a:txBody>
                  <a:tcPr/>
                </a:tc>
                <a:tc>
                  <a:txBody>
                    <a:bodyPr wrap="square" lIns="50800" rIns="50800"/>
                    <a:lstStyle/>
                    <a:p>
                      <a:pPr>
                        <a:defRPr sz="9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AI-GEN-01</a:t>
                      </a:r>
                    </a:p>
                  </a:txBody>
                  <a:tcPr/>
                </a:tc>
                <a:tc>
                  <a:txBody>
                    <a:bodyPr wrap="square" lIns="50800" rIns="50800"/>
                    <a:lstStyle/>
                    <a:p>
                      <a:pPr>
                        <a:defRPr sz="900">
                          <a:solidFill>
                            <a:srgbClr val="333333"/>
                          </a:solidFill>
                          <a:latin typeface="Calibri"/>
                        </a:defRPr>
                      </a:pPr>
                      <a:r>
                        <a:t>Reduce the caliper piston diameter for the rear brake assemblies by 5mm, while maintaining equivalent swept area through minor rotor diameter adjustment.</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500000.00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AI-GEN-02</a:t>
                      </a:r>
                    </a:p>
                  </a:txBody>
                  <a:tcPr/>
                </a:tc>
                <a:tc>
                  <a:txBody>
                    <a:bodyPr wrap="square" lIns="50800" rIns="50800"/>
                    <a:lstStyle/>
                    <a:p>
                      <a:pPr>
                        <a:defRPr sz="900">
                          <a:solidFill>
                            <a:srgbClr val="333333"/>
                          </a:solidFill>
                          <a:latin typeface="Calibri"/>
                        </a:defRPr>
                      </a:pPr>
                      <a:r>
                        <a:t>Substitute cast iron brake rotors for the rear axle with a lower-cost, higher-silicon cast iron alloy with optimized cooling fin design.</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750000.00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7500.0000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AI-GEN-03</a:t>
                      </a:r>
                    </a:p>
                  </a:txBody>
                  <a:tcPr/>
                </a:tc>
                <a:tc>
                  <a:txBody>
                    <a:bodyPr wrap="square" lIns="50800" rIns="50800"/>
                    <a:lstStyle/>
                    <a:p>
                      <a:pPr>
                        <a:defRPr sz="900">
                          <a:solidFill>
                            <a:srgbClr val="333333"/>
                          </a:solidFill>
                          <a:latin typeface="Calibri"/>
                        </a:defRPr>
                      </a:pPr>
                      <a:r>
                        <a:t>Replace standard rubber brake hose material with a lower-cost, high-pressure synthetic polymer blend for all brake lines, while ensuring equivalent burst pressure and pulsation resistance.</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300000.00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3000.0000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AI-GEN-04</a:t>
                      </a:r>
                    </a:p>
                  </a:txBody>
                  <a:tcPr/>
                </a:tc>
                <a:tc>
                  <a:txBody>
                    <a:bodyPr wrap="square" lIns="50800" rIns="50800"/>
                    <a:lstStyle/>
                    <a:p>
                      <a:pPr>
                        <a:defRPr sz="900">
                          <a:solidFill>
                            <a:srgbClr val="333333"/>
                          </a:solidFill>
                          <a:latin typeface="Calibri"/>
                        </a:defRPr>
                      </a:pPr>
                      <a:r>
                        <a:t>Reduce the gauge of the front brake dust shield from 1.0mm to 0.9mm, optimizing the stamping process for cost efficiency without compromising dust ingress protection.</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250000.00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2500.0000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AI-GEN-05</a:t>
                      </a:r>
                    </a:p>
                  </a:txBody>
                  <a:tcPr/>
                </a:tc>
                <a:tc>
                  <a:txBody>
                    <a:bodyPr wrap="square" lIns="50800" rIns="50800"/>
                    <a:lstStyle/>
                    <a:p>
                      <a:pPr>
                        <a:defRPr sz="900">
                          <a:solidFill>
                            <a:srgbClr val="333333"/>
                          </a:solidFill>
                          <a:latin typeface="Calibri"/>
                        </a:defRPr>
                      </a:pPr>
                      <a:r>
                        <a:t>Optimize the caliper mounting bracket design for the front brakes to reduce material usage by 8% through topology optimization, while ensuring load-bearing capacity.</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600000.00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6000.0000</a:t>
                      </a:r>
                    </a:p>
                  </a:txBody>
                  <a:tcPr/>
                </a:tc>
                <a:tc>
                  <a:txBody>
                    <a:bodyPr wrap="square" lIns="50800" rIns="50800"/>
                    <a:lstStyle/>
                    <a:p>
                      <a:pPr>
                        <a:defRPr sz="900">
                          <a:solidFill>
                            <a:srgbClr val="333333"/>
                          </a:solidFill>
                          <a:latin typeface="Calibri"/>
                        </a:defRPr>
                      </a:pPr>
                      <a:r>
                        <a:t>Auto-Approved</a:t>
                      </a:r>
                    </a:p>
                  </a:txBody>
                  <a:tcPr/>
                </a:tc>
              </a:tr>
            </a:tbl>
          </a:graphicData>
        </a:graphic>
      </p:graphicFrame>
      <p:sp>
        <p:nvSpPr>
          <p:cNvPr id="3" name="TextBox 2"/>
          <p:cNvSpPr txBox="1"/>
          <p:nvPr/>
        </p:nvSpPr>
        <p:spPr>
          <a:xfrm>
            <a:off x="365760" y="45720"/>
            <a:ext cx="11460175" cy="320040"/>
          </a:xfrm>
          <a:prstGeom prst="rect">
            <a:avLst/>
          </a:prstGeom>
          <a:noFill/>
        </p:spPr>
        <p:txBody>
          <a:bodyPr wrap="none">
            <a:spAutoFit/>
          </a:bodyPr>
          <a:lstStyle/>
          <a:p>
            <a:pPr>
              <a:defRPr sz="1500" b="1">
                <a:solidFill>
                  <a:srgbClr val="003366"/>
                </a:solidFill>
              </a:defRPr>
            </a:pPr>
            <a:r>
              <a:t>Summary (Values in ₹ Crore) (Page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0881360" cy="6263640"/>
        </p:xfrm>
        <a:graphic>
          <a:graphicData uri="http://schemas.openxmlformats.org/drawingml/2006/table">
            <a:tbl>
              <a:tblPr firstRow="1" bandRow="1">
                <a:tableStyleId>{5C22544A-7EE6-4342-B048-85BDC9FD1C3A}</a:tableStyleId>
              </a:tblPr>
              <a:tblGrid>
                <a:gridCol w="731520"/>
                <a:gridCol w="4114800"/>
                <a:gridCol w="1097280"/>
                <a:gridCol w="1097280"/>
                <a:gridCol w="1097280"/>
                <a:gridCol w="1371600"/>
                <a:gridCol w="1371600"/>
              </a:tblGrid>
              <a:tr h="782955">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 Cr)</a:t>
                      </a:r>
                    </a:p>
                  </a:txBody>
                  <a:tcPr>
                    <a:solidFill>
                      <a:srgbClr val="003366"/>
                    </a:solidFill>
                  </a:tcPr>
                </a:tc>
                <a:tc>
                  <a:txBody>
                    <a:bodyPr wrap="square"/>
                    <a:lstStyle/>
                    <a:p>
                      <a:pPr>
                        <a:defRPr b="1" sz="900">
                          <a:solidFill>
                            <a:srgbClr val="FFFFFF"/>
                          </a:solidFill>
                        </a:defRPr>
                      </a:pPr>
                      <a:r>
                        <a:t>Unit Saving (₹)</a:t>
                      </a:r>
                    </a:p>
                  </a:txBody>
                  <a:tcPr>
                    <a:solidFill>
                      <a:srgbClr val="003366"/>
                    </a:solidFill>
                  </a:tcPr>
                </a:tc>
                <a:tc>
                  <a:txBody>
                    <a:bodyPr wrap="square"/>
                    <a:lstStyle/>
                    <a:p>
                      <a:pPr>
                        <a:defRPr b="1" sz="900">
                          <a:solidFill>
                            <a:srgbClr val="FFFFFF"/>
                          </a:solidFill>
                        </a:defRPr>
                      </a:pPr>
                      <a:r>
                        <a:t>Yearly Volume</a:t>
                      </a:r>
                    </a:p>
                  </a:txBody>
                  <a:tcPr>
                    <a:solidFill>
                      <a:srgbClr val="003366"/>
                    </a:solidFill>
                  </a:tcPr>
                </a:tc>
                <a:tc>
                  <a:txBody>
                    <a:bodyPr wrap="square"/>
                    <a:lstStyle/>
                    <a:p>
                      <a:pPr>
                        <a:defRPr b="1" sz="900">
                          <a:solidFill>
                            <a:srgbClr val="FFFFFF"/>
                          </a:solidFill>
                        </a:defRPr>
                      </a:pPr>
                      <a:r>
                        <a:t>Total Saving (₹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r>
              <a:tr h="782955">
                <a:tc>
                  <a:txBody>
                    <a:bodyPr wrap="square" lIns="50800" rIns="50800"/>
                    <a:lstStyle/>
                    <a:p>
                      <a:pPr>
                        <a:defRPr sz="900">
                          <a:solidFill>
                            <a:srgbClr val="333333"/>
                          </a:solidFill>
                          <a:latin typeface="Calibri"/>
                        </a:defRPr>
                      </a:pPr>
                      <a:r>
                        <a:t>AI-GEN-06</a:t>
                      </a:r>
                    </a:p>
                  </a:txBody>
                  <a:tcPr/>
                </a:tc>
                <a:tc>
                  <a:txBody>
                    <a:bodyPr wrap="square" lIns="50800" rIns="50800"/>
                    <a:lstStyle/>
                    <a:p>
                      <a:pPr>
                        <a:defRPr sz="900">
                          <a:solidFill>
                            <a:srgbClr val="333333"/>
                          </a:solidFill>
                          <a:latin typeface="Calibri"/>
                        </a:defRPr>
                      </a:pPr>
                      <a:r>
                        <a:t>Replace standard steel caliper pistons with a lighter, high-strength aluminum alloy (e.g., 6061-T6) for the front brake assemblies.</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400000.00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4000.0000</a:t>
                      </a:r>
                    </a:p>
                  </a:txBody>
                  <a:tcPr/>
                </a:tc>
                <a:tc>
                  <a:txBody>
                    <a:bodyPr wrap="square" lIns="50800" rIns="50800"/>
                    <a:lstStyle/>
                    <a:p>
                      <a:pPr>
                        <a:defRPr sz="900">
                          <a:solidFill>
                            <a:srgbClr val="333333"/>
                          </a:solidFill>
                          <a:latin typeface="Calibri"/>
                        </a:defRPr>
                      </a:pPr>
                      <a:r>
                        <a:t>Auto-Approved</a:t>
                      </a:r>
                    </a:p>
                  </a:txBody>
                  <a:tcPr/>
                </a:tc>
              </a:tr>
              <a:tr h="782955">
                <a:tc>
                  <a:txBody>
                    <a:bodyPr wrap="square" lIns="50800" rIns="50800"/>
                    <a:lstStyle/>
                    <a:p>
                      <a:pPr>
                        <a:defRPr sz="900">
                          <a:solidFill>
                            <a:srgbClr val="333333"/>
                          </a:solidFill>
                          <a:latin typeface="Calibri"/>
                        </a:defRPr>
                      </a:pPr>
                      <a:r>
                        <a:t>AI-GEN-07</a:t>
                      </a:r>
                    </a:p>
                  </a:txBody>
                  <a:tcPr/>
                </a:tc>
                <a:tc>
                  <a:txBody>
                    <a:bodyPr wrap="square" lIns="50800" rIns="50800"/>
                    <a:lstStyle/>
                    <a:p>
                      <a:pPr>
                        <a:defRPr sz="900">
                          <a:solidFill>
                            <a:srgbClr val="333333"/>
                          </a:solidFill>
                          <a:latin typeface="Calibri"/>
                        </a:defRPr>
                      </a:pPr>
                      <a:r>
                        <a:t>Reduce the overall rotor thickness of the rear brake assemblies by 1mm, provided FEA confirms structural integrity and thermal capacity remains sufficient for expected duty cycles.</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450000.00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4500.0000</a:t>
                      </a:r>
                    </a:p>
                  </a:txBody>
                  <a:tcPr/>
                </a:tc>
                <a:tc>
                  <a:txBody>
                    <a:bodyPr wrap="square" lIns="50800" rIns="50800"/>
                    <a:lstStyle/>
                    <a:p>
                      <a:pPr>
                        <a:defRPr sz="900">
                          <a:solidFill>
                            <a:srgbClr val="333333"/>
                          </a:solidFill>
                          <a:latin typeface="Calibri"/>
                        </a:defRPr>
                      </a:pPr>
                      <a:r>
                        <a:t>Auto-Approved</a:t>
                      </a:r>
                    </a:p>
                  </a:txBody>
                  <a:tcPr/>
                </a:tc>
              </a:tr>
              <a:tr h="782955">
                <a:tc>
                  <a:txBody>
                    <a:bodyPr wrap="square" lIns="50800" rIns="50800"/>
                    <a:lstStyle/>
                    <a:p>
                      <a:pPr>
                        <a:defRPr sz="900">
                          <a:solidFill>
                            <a:srgbClr val="333333"/>
                          </a:solidFill>
                          <a:latin typeface="Calibri"/>
                        </a:defRPr>
                      </a:pPr>
                      <a:r>
                        <a:t>AI-GEN-08</a:t>
                      </a:r>
                    </a:p>
                  </a:txBody>
                  <a:tcPr/>
                </a:tc>
                <a:tc>
                  <a:txBody>
                    <a:bodyPr wrap="square" lIns="50800" rIns="50800"/>
                    <a:lstStyle/>
                    <a:p>
                      <a:pPr>
                        <a:defRPr sz="900">
                          <a:solidFill>
                            <a:srgbClr val="333333"/>
                          </a:solidFill>
                          <a:latin typeface="Calibri"/>
                        </a:defRPr>
                      </a:pPr>
                      <a:r>
                        <a:t>Implement a single-piece cast iron caliper for the rear brake assemblies, eliminating the need for separate bridge bolts and reducing machining operations.</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800000.00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8000.0000</a:t>
                      </a:r>
                    </a:p>
                  </a:txBody>
                  <a:tcPr/>
                </a:tc>
                <a:tc>
                  <a:txBody>
                    <a:bodyPr wrap="square" lIns="50800" rIns="50800"/>
                    <a:lstStyle/>
                    <a:p>
                      <a:pPr>
                        <a:defRPr sz="900">
                          <a:solidFill>
                            <a:srgbClr val="333333"/>
                          </a:solidFill>
                          <a:latin typeface="Calibri"/>
                        </a:defRPr>
                      </a:pPr>
                      <a:r>
                        <a:t>Auto-Approved</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Investigate the feasibility of utilizing HSLA steel for brake rotor hat sections and caliper mounting brackets to reduce overall assembly weight and material cost. This leverages the 'Market trends' of HSLA steels while considering the 'Tooling CAPEX limited' constraint by focusing on component-level material substitution rather than a complete re-design. The reduced unsprung mass from lighter components can also indirectly benefit the 'High Kinetic Energy (1.7T)' vehicle dynamics.</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Industry Trend</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Explore the use of advanced, high-performance friction materials with enhanced fade resistance and consistent friction coefficients across a wider temperature range for the brake pads. This directly addresses the 'Fade Resistance' physics and the 'High Kinetic Energy (1.7T)' constraint of the MG Hector. While not directly reducing tooling CAPEX, it can lead to longer pad life and potentially allow for smaller, lighter caliper designs in future iterations, indirectly supporting cost reduction.</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Develop a novel, cost-effective dust shield design using a thinner gauge of heat-resistant polymer or coated steel. This addresses the 'Dust shield gauge' focus area and aims to reduce material cost and weight. The 'Tooling CAPEX limited' constraint is met by focusing on a component that likely has simpler tooling. The 'No Rear IRS changes' constraint is respected by focusing on front or rear brake assemblies without altering the rear suspension linkage.</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Investigate the potential for a lightweight, thin-wall cast iron rotor with enhanced cooling fin designs. This aligns with the 'Market trends' of thin-wall castings and the 'Rotor thickness' focus. The 'Tooling CAPEX limited' constraint is a challenge, as new casting tooling can be expensive; therefore, this proposal focuses on optimizing existing casting processes or exploring advanced casting techniques that might have lower CAPEX. The 'High Kinetic Energy (1.7T)' constraint necessitates careful thermal management, making cooling fin design critical.</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bl>
          </a:graphicData>
        </a:graphic>
      </p:graphicFrame>
      <p:sp>
        <p:nvSpPr>
          <p:cNvPr id="3" name="TextBox 2"/>
          <p:cNvSpPr txBox="1"/>
          <p:nvPr/>
        </p:nvSpPr>
        <p:spPr>
          <a:xfrm>
            <a:off x="365760" y="45720"/>
            <a:ext cx="11460175" cy="320040"/>
          </a:xfrm>
          <a:prstGeom prst="rect">
            <a:avLst/>
          </a:prstGeom>
          <a:noFill/>
        </p:spPr>
        <p:txBody>
          <a:bodyPr wrap="none">
            <a:spAutoFit/>
          </a:bodyPr>
          <a:lstStyle/>
          <a:p>
            <a:pPr>
              <a:defRPr sz="1500" b="1">
                <a:solidFill>
                  <a:srgbClr val="003366"/>
                </a:solidFill>
              </a:defRPr>
            </a:pPr>
            <a:r>
              <a:t>Summary (Values in ₹ Crore)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888796"/>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 and process consolidation to reduce cycle time.</a:t>
            </a:r>
          </a:p>
        </p:txBody>
      </p:sp>
      <p:sp>
        <p:nvSpPr>
          <p:cNvPr id="6" name="Rectangle 5"/>
          <p:cNvSpPr/>
          <p:nvPr/>
        </p:nvSpPr>
        <p:spPr>
          <a:xfrm>
            <a:off x="274320" y="30376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11078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339388"/>
            <a:ext cx="5486400" cy="424647"/>
          </a:xfrm>
          <a:prstGeom prst="rect">
            <a:avLst/>
          </a:prstGeom>
          <a:noFill/>
        </p:spPr>
        <p:txBody>
          <a:bodyPr wrap="square">
            <a:spAutoFit/>
          </a:bodyPr>
          <a:lstStyle/>
          <a:p>
            <a:pPr>
              <a:defRPr sz="1000">
                <a:solidFill>
                  <a:srgbClr val="333333"/>
                </a:solidFill>
              </a:defRPr>
            </a:pPr>
            <a:r>
              <a:t>N/A (No material change explicitly mentioned)</a:t>
            </a:r>
            <a:br/>
            <a:r>
              <a:t>1mm to 0.8mm</a:t>
            </a:r>
          </a:p>
        </p:txBody>
      </p:sp>
      <p:sp>
        <p:nvSpPr>
          <p:cNvPr id="9" name="Rectangle 8"/>
          <p:cNvSpPr/>
          <p:nvPr/>
        </p:nvSpPr>
        <p:spPr>
          <a:xfrm>
            <a:off x="274320" y="37640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83718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065788"/>
            <a:ext cx="5486400" cy="378561"/>
          </a:xfrm>
          <a:prstGeom prst="rect">
            <a:avLst/>
          </a:prstGeom>
          <a:noFill/>
        </p:spPr>
        <p:txBody>
          <a:bodyPr wrap="square">
            <a:spAutoFit/>
          </a:bodyPr>
          <a:lstStyle/>
          <a:p>
            <a:pPr>
              <a:defRPr sz="1000">
                <a:solidFill>
                  <a:srgbClr val="333333"/>
                </a:solidFill>
              </a:defRPr>
            </a:pPr>
            <a:r>
              <a:t>Est. Saving: INR 57</a:t>
            </a:r>
            <a:br/>
            <a:r>
              <a:t>CAPEX: TBD</a:t>
            </a:r>
          </a:p>
        </p:txBody>
      </p:sp>
      <p:sp>
        <p:nvSpPr>
          <p:cNvPr id="12" name="Rectangle 11"/>
          <p:cNvSpPr/>
          <p:nvPr/>
        </p:nvSpPr>
        <p:spPr>
          <a:xfrm>
            <a:off x="274320" y="444434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1750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74610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54838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185.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18" name="TextBox 17"/>
          <p:cNvSpPr txBox="1"/>
          <p:nvPr/>
        </p:nvSpPr>
        <p:spPr>
          <a:xfrm>
            <a:off x="6217920" y="40050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9" name="Picture 18" descr="110.jpg"/>
          <p:cNvPicPr>
            <a:picLocks noChangeAspect="1"/>
          </p:cNvPicPr>
          <p:nvPr/>
        </p:nvPicPr>
        <p:blipFill>
          <a:blip r:embed="rId3"/>
          <a:stretch>
            <a:fillRect/>
          </a:stretch>
        </p:blipFill>
        <p:spPr>
          <a:xfrm>
            <a:off x="6217920" y="4279392"/>
            <a:ext cx="5699455" cy="2304288"/>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08589"/>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 and process consolidation to reduce cycle time.</a:t>
            </a:r>
          </a:p>
        </p:txBody>
      </p:sp>
      <p:sp>
        <p:nvSpPr>
          <p:cNvPr id="6" name="Rectangle 5"/>
          <p:cNvSpPr/>
          <p:nvPr/>
        </p:nvSpPr>
        <p:spPr>
          <a:xfrm>
            <a:off x="274320" y="18344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0762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36221"/>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9378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6693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95539"/>
            <a:ext cx="5486400" cy="378561"/>
          </a:xfrm>
          <a:prstGeom prst="rect">
            <a:avLst/>
          </a:prstGeom>
          <a:noFill/>
        </p:spPr>
        <p:txBody>
          <a:bodyPr wrap="square">
            <a:spAutoFit/>
          </a:bodyPr>
          <a:lstStyle/>
          <a:p>
            <a:pPr>
              <a:defRPr sz="1000">
                <a:solidFill>
                  <a:srgbClr val="333333"/>
                </a:solidFill>
              </a:defRPr>
            </a:pPr>
            <a:r>
              <a:t>Est. Saving: INR 47</a:t>
            </a:r>
            <a:br/>
            <a:r>
              <a:t>CAPEX: TBD</a:t>
            </a:r>
          </a:p>
        </p:txBody>
      </p:sp>
      <p:sp>
        <p:nvSpPr>
          <p:cNvPr id="12" name="Rectangle 11"/>
          <p:cNvSpPr/>
          <p:nvPr/>
        </p:nvSpPr>
        <p:spPr>
          <a:xfrm>
            <a:off x="274320" y="32741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4725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75852"/>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7813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51287"/>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79887"/>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670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1.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#3: Redesign the current Brake Pedal Mounting Bracket used in MGI to a similar bracket used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95421"/>
          </a:xfrm>
          <a:prstGeom prst="rect">
            <a:avLst/>
          </a:prstGeom>
          <a:noFill/>
        </p:spPr>
        <p:txBody>
          <a:bodyPr wrap="square">
            <a:spAutoFit/>
          </a:bodyPr>
          <a:lstStyle/>
          <a:p>
            <a:pPr>
              <a:defRPr sz="1000">
                <a:solidFill>
                  <a:srgbClr val="333333"/>
                </a:solidFill>
              </a:defRPr>
            </a:pPr>
            <a:r>
              <a:t>Technical optimization of Redesign the current Brake Pedal Mounting Bracket used in MGI to a similar bracket used in KIA. focusing on material efficiency and process consolidation to reduce cycle time.</a:t>
            </a:r>
          </a:p>
        </p:txBody>
      </p:sp>
      <p:sp>
        <p:nvSpPr>
          <p:cNvPr id="6" name="Rectangle 5"/>
          <p:cNvSpPr/>
          <p:nvPr/>
        </p:nvSpPr>
        <p:spPr>
          <a:xfrm>
            <a:off x="274320" y="18213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9445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23053"/>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806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5377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82371"/>
            <a:ext cx="5486400" cy="380207"/>
          </a:xfrm>
          <a:prstGeom prst="rect">
            <a:avLst/>
          </a:prstGeom>
          <a:noFill/>
        </p:spPr>
        <p:txBody>
          <a:bodyPr wrap="square">
            <a:spAutoFit/>
          </a:bodyPr>
          <a:lstStyle/>
          <a:p>
            <a:pPr>
              <a:defRPr sz="1000">
                <a:solidFill>
                  <a:srgbClr val="333333"/>
                </a:solidFill>
              </a:defRPr>
            </a:pPr>
            <a:r>
              <a:t>Est. Saving: INR 113</a:t>
            </a:r>
            <a:br/>
            <a:r>
              <a:t>CAPEX: TBD</a:t>
            </a:r>
          </a:p>
        </p:txBody>
      </p:sp>
      <p:sp>
        <p:nvSpPr>
          <p:cNvPr id="12" name="Rectangle 11"/>
          <p:cNvSpPr/>
          <p:nvPr/>
        </p:nvSpPr>
        <p:spPr>
          <a:xfrm>
            <a:off x="274320" y="32625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3573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6433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6661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3976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68365"/>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5555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22.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#4: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53430"/>
          </a:xfrm>
          <a:prstGeom prst="rect">
            <a:avLst/>
          </a:prstGeom>
          <a:noFill/>
        </p:spPr>
        <p:txBody>
          <a:bodyPr wrap="square">
            <a:spAutoFit/>
          </a:bodyPr>
          <a:lstStyle/>
          <a:p>
            <a:pPr>
              <a:defRPr sz="1000">
                <a:solidFill>
                  <a:srgbClr val="333333"/>
                </a:solidFill>
              </a:defRPr>
            </a:pPr>
            <a: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p>
        </p:txBody>
      </p:sp>
      <p:sp>
        <p:nvSpPr>
          <p:cNvPr id="6" name="Rectangle 5"/>
          <p:cNvSpPr/>
          <p:nvPr/>
        </p:nvSpPr>
        <p:spPr>
          <a:xfrm>
            <a:off x="274320" y="239079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6394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92542"/>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15010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23260"/>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51860"/>
            <a:ext cx="5486400" cy="380207"/>
          </a:xfrm>
          <a:prstGeom prst="rect">
            <a:avLst/>
          </a:prstGeom>
          <a:noFill/>
        </p:spPr>
        <p:txBody>
          <a:bodyPr wrap="square">
            <a:spAutoFit/>
          </a:bodyPr>
          <a:lstStyle/>
          <a:p>
            <a:pPr>
              <a:defRPr sz="1000">
                <a:solidFill>
                  <a:srgbClr val="333333"/>
                </a:solidFill>
              </a:defRPr>
            </a:pPr>
            <a:r>
              <a:t>Est. Saving: INR 102</a:t>
            </a:r>
            <a:br/>
            <a:r>
              <a:t>CAPEX: TBD</a:t>
            </a:r>
          </a:p>
        </p:txBody>
      </p:sp>
      <p:sp>
        <p:nvSpPr>
          <p:cNvPr id="12" name="Rectangle 11"/>
          <p:cNvSpPr/>
          <p:nvPr/>
        </p:nvSpPr>
        <p:spPr>
          <a:xfrm>
            <a:off x="274320" y="38320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0521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33819"/>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361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0925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37853"/>
            <a:ext cx="5486400" cy="34582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34.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#5: Reduce the caliper piston diameter for the rear brake assemblies by 5mm, while maintaining equivalent swept area through minor rotor diameter adjustment.</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90885"/>
          </a:xfrm>
          <a:prstGeom prst="rect">
            <a:avLst/>
          </a:prstGeom>
          <a:noFill/>
        </p:spPr>
        <p:txBody>
          <a:bodyPr wrap="square">
            <a:spAutoFit/>
          </a:bodyPr>
          <a:lstStyle/>
          <a:p>
            <a:pPr>
              <a:defRPr sz="1000">
                <a:solidFill>
                  <a:srgbClr val="333333"/>
                </a:solidFill>
              </a:defRPr>
            </a:pPr>
            <a:r>
              <a:t>Technical optimization of Reduce the caliper piston diameter for the rear brake assemblies by 5mm, while maintaining equivalent swept area through minor rotor diameter adjustment. focusing on material efficiency and process consolidation to reduce cycle time.</a:t>
            </a:r>
          </a:p>
        </p:txBody>
      </p:sp>
      <p:sp>
        <p:nvSpPr>
          <p:cNvPr id="6" name="Rectangle 5"/>
          <p:cNvSpPr/>
          <p:nvPr/>
        </p:nvSpPr>
        <p:spPr>
          <a:xfrm>
            <a:off x="274320" y="232824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0139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29997"/>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08756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60715"/>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89315"/>
            <a:ext cx="5486400" cy="385145"/>
          </a:xfrm>
          <a:prstGeom prst="rect">
            <a:avLst/>
          </a:prstGeom>
          <a:noFill/>
        </p:spPr>
        <p:txBody>
          <a:bodyPr wrap="square">
            <a:spAutoFit/>
          </a:bodyPr>
          <a:lstStyle/>
          <a:p>
            <a:pPr>
              <a:defRPr sz="1000">
                <a:solidFill>
                  <a:srgbClr val="333333"/>
                </a:solidFill>
              </a:defRPr>
            </a:pPr>
            <a:r>
              <a:t>Est. Saving: INR 500000</a:t>
            </a:r>
            <a:br/>
            <a:r>
              <a:t>CAPEX: TBD</a:t>
            </a:r>
          </a:p>
        </p:txBody>
      </p:sp>
      <p:sp>
        <p:nvSpPr>
          <p:cNvPr id="12" name="Rectangle 11"/>
          <p:cNvSpPr/>
          <p:nvPr/>
        </p:nvSpPr>
        <p:spPr>
          <a:xfrm>
            <a:off x="274320" y="377446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4761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076212"/>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87849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951646"/>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180246"/>
            <a:ext cx="5486400" cy="403433"/>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0.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82.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#6: Substitute cast iron brake rotors for the rear axle with a lower-cost, higher-silicon cast iron alloy with optimized cooling fin design.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62904"/>
          </a:xfrm>
          <a:prstGeom prst="rect">
            <a:avLst/>
          </a:prstGeom>
          <a:noFill/>
        </p:spPr>
        <p:txBody>
          <a:bodyPr wrap="square">
            <a:spAutoFit/>
          </a:bodyPr>
          <a:lstStyle/>
          <a:p>
            <a:pPr>
              <a:defRPr sz="1000">
                <a:solidFill>
                  <a:srgbClr val="333333"/>
                </a:solidFill>
              </a:defRPr>
            </a:pPr>
            <a:r>
              <a:t>Technical optimization of Substitute cast iron brake rotors for the rear axle with a lower-cost, higher-silicon cast iron alloy with optimized cooling fin design. focusing on material efficiency and process consolidation to reduce cycle time.</a:t>
            </a:r>
          </a:p>
        </p:txBody>
      </p:sp>
      <p:sp>
        <p:nvSpPr>
          <p:cNvPr id="6" name="Rectangle 5"/>
          <p:cNvSpPr/>
          <p:nvPr/>
        </p:nvSpPr>
        <p:spPr>
          <a:xfrm>
            <a:off x="274320" y="230026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3416"/>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2016"/>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05958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32734"/>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61334"/>
            <a:ext cx="5486400" cy="385145"/>
          </a:xfrm>
          <a:prstGeom prst="rect">
            <a:avLst/>
          </a:prstGeom>
          <a:noFill/>
        </p:spPr>
        <p:txBody>
          <a:bodyPr wrap="square">
            <a:spAutoFit/>
          </a:bodyPr>
          <a:lstStyle/>
          <a:p>
            <a:pPr>
              <a:defRPr sz="1000">
                <a:solidFill>
                  <a:srgbClr val="333333"/>
                </a:solidFill>
              </a:defRPr>
            </a:pPr>
            <a:r>
              <a:t>Est. Saving: INR 750000</a:t>
            </a:r>
            <a:br/>
            <a:r>
              <a:t>CAPEX: TBD</a:t>
            </a:r>
          </a:p>
        </p:txBody>
      </p:sp>
      <p:sp>
        <p:nvSpPr>
          <p:cNvPr id="12" name="Rectangle 11"/>
          <p:cNvSpPr/>
          <p:nvPr/>
        </p:nvSpPr>
        <p:spPr>
          <a:xfrm>
            <a:off x="274320" y="37464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1963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04823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85051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923666"/>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152266"/>
            <a:ext cx="5486400" cy="431413"/>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46.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87.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#7: Replace standard rubber brake hose material with a lower-cost, high-pressure synthetic polymer blend for all brake lines, while ensuring equivalent burst pressure and pulsation resistance.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48492"/>
          </a:xfrm>
          <a:prstGeom prst="rect">
            <a:avLst/>
          </a:prstGeom>
          <a:noFill/>
        </p:spPr>
        <p:txBody>
          <a:bodyPr wrap="square">
            <a:spAutoFit/>
          </a:bodyPr>
          <a:lstStyle/>
          <a:p>
            <a:pPr>
              <a:defRPr sz="1000">
                <a:solidFill>
                  <a:srgbClr val="333333"/>
                </a:solidFill>
              </a:defRPr>
            </a:pPr>
            <a:r>
              <a:t>Technical optimization of Replace standard rubber brake hose material with a lower-cost, high-pressure synthetic polymer blend for all brake lines, while ensuring equivalent burst pressure and pulsation resistance. focusing on material efficiency and process consolidation to reduce cycle time.</a:t>
            </a:r>
          </a:p>
        </p:txBody>
      </p:sp>
      <p:sp>
        <p:nvSpPr>
          <p:cNvPr id="6" name="Rectangle 5"/>
          <p:cNvSpPr/>
          <p:nvPr/>
        </p:nvSpPr>
        <p:spPr>
          <a:xfrm>
            <a:off x="274320" y="238585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59004"/>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87604"/>
            <a:ext cx="5486400" cy="548091"/>
          </a:xfrm>
          <a:prstGeom prst="rect">
            <a:avLst/>
          </a:prstGeom>
          <a:noFill/>
        </p:spPr>
        <p:txBody>
          <a:bodyPr wrap="square">
            <a:spAutoFit/>
          </a:bodyPr>
          <a:lstStyle/>
          <a:p>
            <a:pPr>
              <a:defRPr sz="1000">
                <a:solidFill>
                  <a:srgbClr val="333333"/>
                </a:solidFill>
              </a:defRPr>
            </a:pPr>
            <a:r>
              <a:t>Replace standard rubber brake hose material with a lower-cost, high-pressure synthetic polymer blend</a:t>
            </a:r>
            <a:br/>
            <a:r>
              <a:t>N/A (Maintains current envelope)</a:t>
            </a:r>
          </a:p>
        </p:txBody>
      </p:sp>
      <p:sp>
        <p:nvSpPr>
          <p:cNvPr id="9" name="Rectangle 8"/>
          <p:cNvSpPr/>
          <p:nvPr/>
        </p:nvSpPr>
        <p:spPr>
          <a:xfrm>
            <a:off x="274320" y="323569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308847"/>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537447"/>
            <a:ext cx="5486400" cy="385145"/>
          </a:xfrm>
          <a:prstGeom prst="rect">
            <a:avLst/>
          </a:prstGeom>
          <a:noFill/>
        </p:spPr>
        <p:txBody>
          <a:bodyPr wrap="square">
            <a:spAutoFit/>
          </a:bodyPr>
          <a:lstStyle/>
          <a:p>
            <a:pPr>
              <a:defRPr sz="1000">
                <a:solidFill>
                  <a:srgbClr val="333333"/>
                </a:solidFill>
              </a:defRPr>
            </a:pPr>
            <a:r>
              <a:t>Est. Saving: INR 300000</a:t>
            </a:r>
            <a:br/>
            <a:r>
              <a:t>CAPEX: TBD</a:t>
            </a:r>
          </a:p>
        </p:txBody>
      </p:sp>
      <p:sp>
        <p:nvSpPr>
          <p:cNvPr id="12" name="Rectangle 11"/>
          <p:cNvSpPr/>
          <p:nvPr/>
        </p:nvSpPr>
        <p:spPr>
          <a:xfrm>
            <a:off x="274320" y="392259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95745"/>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224345"/>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02662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9977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28379"/>
            <a:ext cx="5486400" cy="255300"/>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0.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09.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#8: Reduce the gauge of the front brake dust shield from 1.0mm to 0.9mm, optimizing the stamping process for cost efficiency without compromising dust ingress protection.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12282"/>
          </a:xfrm>
          <a:prstGeom prst="rect">
            <a:avLst/>
          </a:prstGeom>
          <a:noFill/>
        </p:spPr>
        <p:txBody>
          <a:bodyPr wrap="square">
            <a:spAutoFit/>
          </a:bodyPr>
          <a:lstStyle/>
          <a:p>
            <a:pPr>
              <a:defRPr sz="1000">
                <a:solidFill>
                  <a:srgbClr val="333333"/>
                </a:solidFill>
              </a:defRPr>
            </a:pPr>
            <a:r>
              <a:t>Technical optimization of Reduce the gauge of the front brake dust shield from 1.0mm to 0.9mm, optimizing the stamping process for cost efficiency without compromising dust ingress protection. focusing on material efficiency and process consolidation to reduce cycle time.</a:t>
            </a:r>
          </a:p>
        </p:txBody>
      </p:sp>
      <p:sp>
        <p:nvSpPr>
          <p:cNvPr id="6" name="Rectangle 5"/>
          <p:cNvSpPr/>
          <p:nvPr/>
        </p:nvSpPr>
        <p:spPr>
          <a:xfrm>
            <a:off x="274320" y="234964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22794"/>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51394"/>
            <a:ext cx="5486400" cy="427939"/>
          </a:xfrm>
          <a:prstGeom prst="rect">
            <a:avLst/>
          </a:prstGeom>
          <a:noFill/>
        </p:spPr>
        <p:txBody>
          <a:bodyPr wrap="square">
            <a:spAutoFit/>
          </a:bodyPr>
          <a:lstStyle/>
          <a:p>
            <a:pPr>
              <a:defRPr sz="1000">
                <a:solidFill>
                  <a:srgbClr val="333333"/>
                </a:solidFill>
              </a:defRPr>
            </a:pPr>
            <a:r>
              <a:t>N/A (No material change explicitly mentioned)</a:t>
            </a:r>
            <a:br/>
            <a:r>
              <a:t>1.0mm to 0.9mm</a:t>
            </a:r>
          </a:p>
        </p:txBody>
      </p:sp>
      <p:sp>
        <p:nvSpPr>
          <p:cNvPr id="9" name="Rectangle 8"/>
          <p:cNvSpPr/>
          <p:nvPr/>
        </p:nvSpPr>
        <p:spPr>
          <a:xfrm>
            <a:off x="274320" y="307933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52485"/>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81085"/>
            <a:ext cx="5486400" cy="385145"/>
          </a:xfrm>
          <a:prstGeom prst="rect">
            <a:avLst/>
          </a:prstGeom>
          <a:noFill/>
        </p:spPr>
        <p:txBody>
          <a:bodyPr wrap="square">
            <a:spAutoFit/>
          </a:bodyPr>
          <a:lstStyle/>
          <a:p>
            <a:pPr>
              <a:defRPr sz="1000">
                <a:solidFill>
                  <a:srgbClr val="333333"/>
                </a:solidFill>
              </a:defRPr>
            </a:pPr>
            <a:r>
              <a:t>Est. Saving: INR 250000</a:t>
            </a:r>
            <a:br/>
            <a:r>
              <a:t>CAPEX: TBD</a:t>
            </a:r>
          </a:p>
        </p:txBody>
      </p:sp>
      <p:sp>
        <p:nvSpPr>
          <p:cNvPr id="12" name="Rectangle 11"/>
          <p:cNvSpPr/>
          <p:nvPr/>
        </p:nvSpPr>
        <p:spPr>
          <a:xfrm>
            <a:off x="274320" y="376623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3938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067982"/>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87026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943417"/>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172017"/>
            <a:ext cx="5486400" cy="41166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82.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#9: Optimize the caliper mounting bracket design for the front brakes to reduce material usage by 8% through topology optimization, while ensuring load-bearing capacity.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10636"/>
          </a:xfrm>
          <a:prstGeom prst="rect">
            <a:avLst/>
          </a:prstGeom>
          <a:noFill/>
        </p:spPr>
        <p:txBody>
          <a:bodyPr wrap="square">
            <a:spAutoFit/>
          </a:bodyPr>
          <a:lstStyle/>
          <a:p>
            <a:pPr>
              <a:defRPr sz="1000">
                <a:solidFill>
                  <a:srgbClr val="333333"/>
                </a:solidFill>
              </a:defRPr>
            </a:pPr>
            <a:r>
              <a:t>Technical optimization of Optimize the caliper mounting bracket design for the front brakes to reduce material usage by 8% through topology optimization, while ensuring load-bearing capacity. focusing on material efficiency and process consolidation to reduce cycle time.</a:t>
            </a:r>
          </a:p>
        </p:txBody>
      </p:sp>
      <p:sp>
        <p:nvSpPr>
          <p:cNvPr id="6" name="Rectangle 5"/>
          <p:cNvSpPr/>
          <p:nvPr/>
        </p:nvSpPr>
        <p:spPr>
          <a:xfrm>
            <a:off x="274320" y="234799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2114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49748"/>
            <a:ext cx="5486400" cy="548091"/>
          </a:xfrm>
          <a:prstGeom prst="rect">
            <a:avLst/>
          </a:prstGeom>
          <a:noFill/>
        </p:spPr>
        <p:txBody>
          <a:bodyPr wrap="square">
            <a:spAutoFit/>
          </a:bodyPr>
          <a:lstStyle/>
          <a:p>
            <a:pPr>
              <a:defRPr sz="1000">
                <a:solidFill>
                  <a:srgbClr val="333333"/>
                </a:solidFill>
              </a:defRPr>
            </a:pPr>
            <a:r>
              <a:t>Optimize the caliper mounting bracket design for the front brakes to reduce material usage by 8% thr</a:t>
            </a:r>
            <a:br/>
            <a:r>
              <a:t>N/A (Maintains current envelope)</a:t>
            </a:r>
          </a:p>
        </p:txBody>
      </p:sp>
      <p:sp>
        <p:nvSpPr>
          <p:cNvPr id="9" name="Rectangle 8"/>
          <p:cNvSpPr/>
          <p:nvPr/>
        </p:nvSpPr>
        <p:spPr>
          <a:xfrm>
            <a:off x="274320" y="31978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7099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99591"/>
            <a:ext cx="5486400" cy="385145"/>
          </a:xfrm>
          <a:prstGeom prst="rect">
            <a:avLst/>
          </a:prstGeom>
          <a:noFill/>
        </p:spPr>
        <p:txBody>
          <a:bodyPr wrap="square">
            <a:spAutoFit/>
          </a:bodyPr>
          <a:lstStyle/>
          <a:p>
            <a:pPr>
              <a:defRPr sz="1000">
                <a:solidFill>
                  <a:srgbClr val="333333"/>
                </a:solidFill>
              </a:defRPr>
            </a:pPr>
            <a:r>
              <a:t>Est. Saving: INR 600000</a:t>
            </a:r>
            <a:br/>
            <a:r>
              <a:t>CAPEX: TBD</a:t>
            </a:r>
          </a:p>
        </p:txBody>
      </p:sp>
      <p:sp>
        <p:nvSpPr>
          <p:cNvPr id="12" name="Rectangle 11"/>
          <p:cNvSpPr/>
          <p:nvPr/>
        </p:nvSpPr>
        <p:spPr>
          <a:xfrm>
            <a:off x="274320" y="38847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57888"/>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86488"/>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8877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6192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90523"/>
            <a:ext cx="5486400" cy="29315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4.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82.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#10: Replace standard steel caliper pistons with a lighter, high-strength aluminum alloy (e.g., 6061-T6) for the front brake assemblies.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54675"/>
          </a:xfrm>
          <a:prstGeom prst="rect">
            <a:avLst/>
          </a:prstGeom>
          <a:noFill/>
        </p:spPr>
        <p:txBody>
          <a:bodyPr wrap="square">
            <a:spAutoFit/>
          </a:bodyPr>
          <a:lstStyle/>
          <a:p>
            <a:pPr>
              <a:defRPr sz="1000">
                <a:solidFill>
                  <a:srgbClr val="333333"/>
                </a:solidFill>
              </a:defRPr>
            </a:pPr>
            <a:r>
              <a:t>Technical optimization of Replace standard steel caliper pistons with a lighter, high-strength aluminum alloy (e.g., 6061-T6) for the front brake assemblies. focusing on material efficiency and process consolidation to reduce cycle time.</a:t>
            </a:r>
          </a:p>
        </p:txBody>
      </p:sp>
      <p:sp>
        <p:nvSpPr>
          <p:cNvPr id="6" name="Rectangle 5"/>
          <p:cNvSpPr/>
          <p:nvPr/>
        </p:nvSpPr>
        <p:spPr>
          <a:xfrm>
            <a:off x="274320" y="188055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5370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82307"/>
            <a:ext cx="5486400" cy="525048"/>
          </a:xfrm>
          <a:prstGeom prst="rect">
            <a:avLst/>
          </a:prstGeom>
          <a:noFill/>
        </p:spPr>
        <p:txBody>
          <a:bodyPr wrap="square">
            <a:spAutoFit/>
          </a:bodyPr>
          <a:lstStyle/>
          <a:p>
            <a:pPr>
              <a:defRPr sz="1000">
                <a:solidFill>
                  <a:srgbClr val="333333"/>
                </a:solidFill>
              </a:defRPr>
            </a:pPr>
            <a:r>
              <a:t>Replace standard steel caliper pistons with a lighter, high-strength aluminum alloy (e</a:t>
            </a:r>
            <a:br/>
            <a:r>
              <a:t>N/A (Maintains current envelope)</a:t>
            </a:r>
          </a:p>
        </p:txBody>
      </p:sp>
      <p:sp>
        <p:nvSpPr>
          <p:cNvPr id="9" name="Rectangle 8"/>
          <p:cNvSpPr/>
          <p:nvPr/>
        </p:nvSpPr>
        <p:spPr>
          <a:xfrm>
            <a:off x="274320" y="270735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780507"/>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009107"/>
            <a:ext cx="5486400" cy="385145"/>
          </a:xfrm>
          <a:prstGeom prst="rect">
            <a:avLst/>
          </a:prstGeom>
          <a:noFill/>
        </p:spPr>
        <p:txBody>
          <a:bodyPr wrap="square">
            <a:spAutoFit/>
          </a:bodyPr>
          <a:lstStyle/>
          <a:p>
            <a:pPr>
              <a:defRPr sz="1000">
                <a:solidFill>
                  <a:srgbClr val="333333"/>
                </a:solidFill>
              </a:defRPr>
            </a:pPr>
            <a:r>
              <a:t>Est. Saving: INR 400000</a:t>
            </a:r>
            <a:br/>
            <a:r>
              <a:t>CAPEX: TBD</a:t>
            </a:r>
          </a:p>
        </p:txBody>
      </p:sp>
      <p:sp>
        <p:nvSpPr>
          <p:cNvPr id="12" name="Rectangle 11"/>
          <p:cNvSpPr/>
          <p:nvPr/>
        </p:nvSpPr>
        <p:spPr>
          <a:xfrm>
            <a:off x="274320" y="339425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46740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696004"/>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49828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7143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800039"/>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8723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19.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#11: Reduce the overall rotor thickness of the rear brake assemblies by 1mm, provided FEA confirms structural integrity and thermal capacity remains sufficient for expected duty cycles.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35325"/>
          </a:xfrm>
          <a:prstGeom prst="rect">
            <a:avLst/>
          </a:prstGeom>
          <a:noFill/>
        </p:spPr>
        <p:txBody>
          <a:bodyPr wrap="square">
            <a:spAutoFit/>
          </a:bodyPr>
          <a:lstStyle/>
          <a:p>
            <a:pPr>
              <a:defRPr sz="1000">
                <a:solidFill>
                  <a:srgbClr val="333333"/>
                </a:solidFill>
              </a:defRPr>
            </a:pPr>
            <a:r>
              <a:t>Technical optimization of Reduce the overall rotor thickness of the rear brake assemblies by 1mm, provided FEA confirms structural integrity and thermal capacity remains sufficient for expected duty cycles. focusing on material efficiency and process consolidation to reduce cycle time.</a:t>
            </a:r>
          </a:p>
        </p:txBody>
      </p:sp>
      <p:sp>
        <p:nvSpPr>
          <p:cNvPr id="6" name="Rectangle 5"/>
          <p:cNvSpPr/>
          <p:nvPr/>
        </p:nvSpPr>
        <p:spPr>
          <a:xfrm>
            <a:off x="274320" y="237268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4583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74437"/>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13200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05154"/>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33754"/>
            <a:ext cx="5486400" cy="385145"/>
          </a:xfrm>
          <a:prstGeom prst="rect">
            <a:avLst/>
          </a:prstGeom>
          <a:noFill/>
        </p:spPr>
        <p:txBody>
          <a:bodyPr wrap="square">
            <a:spAutoFit/>
          </a:bodyPr>
          <a:lstStyle/>
          <a:p>
            <a:pPr>
              <a:defRPr sz="1000">
                <a:solidFill>
                  <a:srgbClr val="333333"/>
                </a:solidFill>
              </a:defRPr>
            </a:pPr>
            <a:r>
              <a:t>Est. Saving: INR 450000</a:t>
            </a:r>
            <a:br/>
            <a:r>
              <a:t>CAPEX: TBD</a:t>
            </a:r>
          </a:p>
        </p:txBody>
      </p:sp>
      <p:sp>
        <p:nvSpPr>
          <p:cNvPr id="12" name="Rectangle 11"/>
          <p:cNvSpPr/>
          <p:nvPr/>
        </p:nvSpPr>
        <p:spPr>
          <a:xfrm>
            <a:off x="274320" y="38189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9205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20652"/>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2293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996086"/>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24686"/>
            <a:ext cx="5486400" cy="358993"/>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10.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10.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#12: Implement a single-piece cast iron caliper for the rear brake assemblies, eliminating the need for separate bridge bolts and reducing machining operations.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94177"/>
          </a:xfrm>
          <a:prstGeom prst="rect">
            <a:avLst/>
          </a:prstGeom>
          <a:noFill/>
        </p:spPr>
        <p:txBody>
          <a:bodyPr wrap="square">
            <a:spAutoFit/>
          </a:bodyPr>
          <a:lstStyle/>
          <a:p>
            <a:pPr>
              <a:defRPr sz="1000">
                <a:solidFill>
                  <a:srgbClr val="333333"/>
                </a:solidFill>
              </a:defRPr>
            </a:pPr>
            <a:r>
              <a:t>Technical optimization of Implement a single-piece cast iron caliper for the rear brake assemblies, eliminating the need for separate bridge bolts and reducing machining operations. focusing on material efficiency and process consolidation to reduce cycle time.</a:t>
            </a:r>
          </a:p>
        </p:txBody>
      </p:sp>
      <p:sp>
        <p:nvSpPr>
          <p:cNvPr id="6" name="Rectangle 5"/>
          <p:cNvSpPr/>
          <p:nvPr/>
        </p:nvSpPr>
        <p:spPr>
          <a:xfrm>
            <a:off x="274320" y="233153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0468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33289"/>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09085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64006"/>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92606"/>
            <a:ext cx="5486400" cy="385145"/>
          </a:xfrm>
          <a:prstGeom prst="rect">
            <a:avLst/>
          </a:prstGeom>
          <a:noFill/>
        </p:spPr>
        <p:txBody>
          <a:bodyPr wrap="square">
            <a:spAutoFit/>
          </a:bodyPr>
          <a:lstStyle/>
          <a:p>
            <a:pPr>
              <a:defRPr sz="1000">
                <a:solidFill>
                  <a:srgbClr val="333333"/>
                </a:solidFill>
              </a:defRPr>
            </a:pPr>
            <a:r>
              <a:t>Est. Saving: INR 800000</a:t>
            </a:r>
            <a:br/>
            <a:r>
              <a:t>CAPEX: TBD</a:t>
            </a:r>
          </a:p>
        </p:txBody>
      </p:sp>
      <p:sp>
        <p:nvSpPr>
          <p:cNvPr id="12" name="Rectangle 11"/>
          <p:cNvSpPr/>
          <p:nvPr/>
        </p:nvSpPr>
        <p:spPr>
          <a:xfrm>
            <a:off x="274320" y="377775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5090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079504"/>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88178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954938"/>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183538"/>
            <a:ext cx="5486400" cy="400141"/>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9.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11.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291840"/>
          </a:xfrm>
          <a:prstGeom prst="rect">
            <a:avLst/>
          </a:prstGeom>
          <a:noFill/>
        </p:spPr>
        <p:txBody>
          <a:bodyPr wrap="square">
            <a:spAutoFit/>
          </a:bodyPr>
          <a:lstStyle/>
          <a:p>
            <a:pPr>
              <a:defRPr sz="1800" b="1">
                <a:solidFill>
                  <a:srgbClr val="003366"/>
                </a:solidFill>
              </a:defRPr>
            </a:pPr>
            <a:r>
              <a:t>#13: Investigate the feasibility of utilizing HSLA steel for brake rotor hat sections and caliper mounting brackets to reduce overall assembly weight and material cost. This leverages the 'Market trends' of HSLA steels while considering the 'Tooling CAPEX limited' constraint by focusing on component-level material substitution rather than a complete re-design. The reduced unsprung mass from lighter components can also indirectly benefit the 'High Kinetic Energy (1.7T)' vehicle dynamics.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566160"/>
            <a:ext cx="5486400" cy="213427"/>
          </a:xfrm>
          <a:prstGeom prst="rect">
            <a:avLst/>
          </a:prstGeom>
          <a:noFill/>
        </p:spPr>
        <p:txBody>
          <a:bodyPr wrap="none">
            <a:spAutoFit/>
          </a:bodyPr>
          <a:lstStyle/>
          <a:p>
            <a:pPr>
              <a:defRPr b="1" sz="1026">
                <a:solidFill>
                  <a:srgbClr val="FF6400"/>
                </a:solidFill>
              </a:defRPr>
            </a:pPr>
            <a:r>
              <a:t>TECHNICAL ENGINEERING VIEW</a:t>
            </a:r>
          </a:p>
        </p:txBody>
      </p:sp>
      <p:sp>
        <p:nvSpPr>
          <p:cNvPr id="5" name="TextBox 4"/>
          <p:cNvSpPr txBox="1"/>
          <p:nvPr/>
        </p:nvSpPr>
        <p:spPr>
          <a:xfrm>
            <a:off x="274320" y="3779587"/>
            <a:ext cx="5486400" cy="1063379"/>
          </a:xfrm>
          <a:prstGeom prst="rect">
            <a:avLst/>
          </a:prstGeom>
          <a:noFill/>
        </p:spPr>
        <p:txBody>
          <a:bodyPr wrap="square">
            <a:spAutoFit/>
          </a:bodyPr>
          <a:lstStyle/>
          <a:p>
            <a:pPr>
              <a:defRPr sz="933">
                <a:solidFill>
                  <a:srgbClr val="333333"/>
                </a:solidFill>
              </a:defRPr>
            </a:pPr>
            <a:r>
              <a:t>Technical optimization of Investigate the feasibility of utilizing HSLA steel for brake rotor hat sections and caliper mounting brackets to reduce overall assembly weight and material cost. This leverages the 'Market trends' of HSLA steels while considering the 'Tooling CAPEX limited' constraint by focusing on component-level material substitution rather than a complete re-design. The reduced unsprung mass from lighter components can also indirectly benefit the 'High Kinetic Energy (1.7T)' vehicle dynamics. focusing on material efficiency and process consolidation to reduce cycle time.</a:t>
            </a:r>
          </a:p>
        </p:txBody>
      </p:sp>
      <p:sp>
        <p:nvSpPr>
          <p:cNvPr id="6" name="Rectangle 5"/>
          <p:cNvSpPr/>
          <p:nvPr/>
        </p:nvSpPr>
        <p:spPr>
          <a:xfrm>
            <a:off x="274320" y="48429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916119"/>
            <a:ext cx="5486400" cy="213427"/>
          </a:xfrm>
          <a:prstGeom prst="rect">
            <a:avLst/>
          </a:prstGeom>
          <a:noFill/>
        </p:spPr>
        <p:txBody>
          <a:bodyPr wrap="none">
            <a:spAutoFit/>
          </a:bodyPr>
          <a:lstStyle/>
          <a:p>
            <a:pPr>
              <a:defRPr b="1" sz="1026">
                <a:solidFill>
                  <a:srgbClr val="FF6400"/>
                </a:solidFill>
              </a:defRPr>
            </a:pPr>
            <a:r>
              <a:t>MATERIAL &amp; DIMENSION SWAP</a:t>
            </a:r>
          </a:p>
        </p:txBody>
      </p:sp>
      <p:sp>
        <p:nvSpPr>
          <p:cNvPr id="8" name="TextBox 7"/>
          <p:cNvSpPr txBox="1"/>
          <p:nvPr/>
        </p:nvSpPr>
        <p:spPr>
          <a:xfrm>
            <a:off x="274320" y="5129546"/>
            <a:ext cx="5486400" cy="511713"/>
          </a:xfrm>
          <a:prstGeom prst="rect">
            <a:avLst/>
          </a:prstGeom>
          <a:noFill/>
        </p:spPr>
        <p:txBody>
          <a:bodyPr wrap="square">
            <a:spAutoFit/>
          </a:bodyPr>
          <a:lstStyle/>
          <a:p>
            <a:pPr>
              <a:defRPr sz="933">
                <a:solidFill>
                  <a:srgbClr val="333333"/>
                </a:solidFill>
              </a:defRPr>
            </a:pPr>
            <a:r>
              <a:t>Investigate the feasibility of utilizing HSLA steel for brake rotor hat sections and caliper mountin</a:t>
            </a:r>
            <a:br/>
            <a:r>
              <a:t>N/A (Maintains current envelope)</a:t>
            </a:r>
          </a:p>
        </p:txBody>
      </p:sp>
      <p:sp>
        <p:nvSpPr>
          <p:cNvPr id="9" name="Rectangle 8"/>
          <p:cNvSpPr/>
          <p:nvPr/>
        </p:nvSpPr>
        <p:spPr>
          <a:xfrm>
            <a:off x="274320" y="564125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714411"/>
            <a:ext cx="5486400" cy="213427"/>
          </a:xfrm>
          <a:prstGeom prst="rect">
            <a:avLst/>
          </a:prstGeom>
          <a:noFill/>
        </p:spPr>
        <p:txBody>
          <a:bodyPr wrap="none">
            <a:spAutoFit/>
          </a:bodyPr>
          <a:lstStyle/>
          <a:p>
            <a:pPr>
              <a:defRPr b="1" sz="1026">
                <a:solidFill>
                  <a:srgbClr val="FF6400"/>
                </a:solidFill>
              </a:defRPr>
            </a:pPr>
            <a:r>
              <a:t>FINANCIAL IMPACT</a:t>
            </a:r>
          </a:p>
        </p:txBody>
      </p:sp>
      <p:sp>
        <p:nvSpPr>
          <p:cNvPr id="11" name="TextBox 10"/>
          <p:cNvSpPr txBox="1"/>
          <p:nvPr/>
        </p:nvSpPr>
        <p:spPr>
          <a:xfrm>
            <a:off x="274320" y="5927838"/>
            <a:ext cx="5486400" cy="354972"/>
          </a:xfrm>
          <a:prstGeom prst="rect">
            <a:avLst/>
          </a:prstGeom>
          <a:noFill/>
        </p:spPr>
        <p:txBody>
          <a:bodyPr wrap="square">
            <a:spAutoFit/>
          </a:bodyPr>
          <a:lstStyle/>
          <a:p>
            <a:pPr>
              <a:defRPr sz="933">
                <a:solidFill>
                  <a:srgbClr val="333333"/>
                </a:solidFill>
              </a:defRPr>
            </a:pPr>
            <a:r>
              <a:t>Est. Saving: INR TBD</a:t>
            </a:r>
            <a:br/>
            <a:r>
              <a:t>CAPEX: TBD</a:t>
            </a:r>
          </a:p>
        </p:txBody>
      </p:sp>
      <p:sp>
        <p:nvSpPr>
          <p:cNvPr id="12" name="Rectangle 11"/>
          <p:cNvSpPr/>
          <p:nvPr/>
        </p:nvSpPr>
        <p:spPr>
          <a:xfrm>
            <a:off x="274320" y="62828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2004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18.jpg"/>
          <p:cNvPicPr>
            <a:picLocks noChangeAspect="1"/>
          </p:cNvPicPr>
          <p:nvPr/>
        </p:nvPicPr>
        <p:blipFill>
          <a:blip r:embed="rId2"/>
          <a:stretch>
            <a:fillRect/>
          </a:stretch>
        </p:blipFill>
        <p:spPr>
          <a:xfrm>
            <a:off x="6217920" y="3474720"/>
            <a:ext cx="5699455" cy="1481328"/>
          </a:xfrm>
          <a:prstGeom prst="rect">
            <a:avLst/>
          </a:prstGeom>
          <a:ln w="12700">
            <a:solidFill>
              <a:srgbClr val="C8C8C8"/>
            </a:solidFill>
          </a:ln>
        </p:spPr>
      </p:pic>
      <p:sp>
        <p:nvSpPr>
          <p:cNvPr id="15" name="TextBox 14"/>
          <p:cNvSpPr txBox="1"/>
          <p:nvPr/>
        </p:nvSpPr>
        <p:spPr>
          <a:xfrm>
            <a:off x="6217920" y="48280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34.jpg"/>
          <p:cNvPicPr>
            <a:picLocks noChangeAspect="1"/>
          </p:cNvPicPr>
          <p:nvPr/>
        </p:nvPicPr>
        <p:blipFill>
          <a:blip r:embed="rId3"/>
          <a:stretch>
            <a:fillRect/>
          </a:stretch>
        </p:blipFill>
        <p:spPr>
          <a:xfrm>
            <a:off x="6217920" y="5102352"/>
            <a:ext cx="5699455" cy="1481328"/>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291840"/>
          </a:xfrm>
          <a:prstGeom prst="rect">
            <a:avLst/>
          </a:prstGeom>
          <a:noFill/>
        </p:spPr>
        <p:txBody>
          <a:bodyPr wrap="square">
            <a:spAutoFit/>
          </a:bodyPr>
          <a:lstStyle/>
          <a:p>
            <a:pPr>
              <a:defRPr sz="1800" b="1">
                <a:solidFill>
                  <a:srgbClr val="003366"/>
                </a:solidFill>
              </a:defRPr>
            </a:pPr>
            <a:r>
              <a:t>#14: Explore the use of advanced, high-performance friction materials with enhanced fade resistance and consistent friction coefficients across a wider temperature range for the brake pads. This directly addresses the 'Fade Resistance' physics and the 'High Kinetic Energy (1.7T)' constraint of the MG Hector. While not directly reducing tooling CAPEX, it can lead to longer pad life and potentially allow for smaller, lighter caliper designs in future iterations, indirectly supporting cost reduction.</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566160"/>
            <a:ext cx="5486400" cy="212238"/>
          </a:xfrm>
          <a:prstGeom prst="rect">
            <a:avLst/>
          </a:prstGeom>
          <a:noFill/>
        </p:spPr>
        <p:txBody>
          <a:bodyPr wrap="none">
            <a:spAutoFit/>
          </a:bodyPr>
          <a:lstStyle/>
          <a:p>
            <a:pPr>
              <a:defRPr b="1" sz="1021">
                <a:solidFill>
                  <a:srgbClr val="FF6400"/>
                </a:solidFill>
              </a:defRPr>
            </a:pPr>
            <a:r>
              <a:t>TECHNICAL ENGINEERING VIEW</a:t>
            </a:r>
          </a:p>
        </p:txBody>
      </p:sp>
      <p:sp>
        <p:nvSpPr>
          <p:cNvPr id="5" name="TextBox 4"/>
          <p:cNvSpPr txBox="1"/>
          <p:nvPr/>
        </p:nvSpPr>
        <p:spPr>
          <a:xfrm>
            <a:off x="274320" y="3778398"/>
            <a:ext cx="5486400" cy="1074265"/>
          </a:xfrm>
          <a:prstGeom prst="rect">
            <a:avLst/>
          </a:prstGeom>
          <a:noFill/>
        </p:spPr>
        <p:txBody>
          <a:bodyPr wrap="square">
            <a:spAutoFit/>
          </a:bodyPr>
          <a:lstStyle/>
          <a:p>
            <a:pPr>
              <a:defRPr sz="928">
                <a:solidFill>
                  <a:srgbClr val="333333"/>
                </a:solidFill>
              </a:defRPr>
            </a:pPr>
            <a:r>
              <a:t>Technical optimization of Explore the use of advanced, high-performance friction materials with enhanced fade resistance and consistent friction coefficients across a wider temperature range for the brake pads. This directly addresses the 'Fade Resistance' physics and the 'High Kinetic Energy (1.7T)' constraint of the MG Hector. While not directly reducing tooling CAPEX, it can lead to longer pad life and potentially allow for smaller, lighter caliper designs in future iterations, indirectly supporting cost reduction. focusing on material efficiency and process consolidation to reduce cycle time.</a:t>
            </a:r>
          </a:p>
        </p:txBody>
      </p:sp>
      <p:sp>
        <p:nvSpPr>
          <p:cNvPr id="6" name="Rectangle 5"/>
          <p:cNvSpPr/>
          <p:nvPr/>
        </p:nvSpPr>
        <p:spPr>
          <a:xfrm>
            <a:off x="274320" y="485266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925815"/>
            <a:ext cx="5486400" cy="212238"/>
          </a:xfrm>
          <a:prstGeom prst="rect">
            <a:avLst/>
          </a:prstGeom>
          <a:noFill/>
        </p:spPr>
        <p:txBody>
          <a:bodyPr wrap="none">
            <a:spAutoFit/>
          </a:bodyPr>
          <a:lstStyle/>
          <a:p>
            <a:pPr>
              <a:defRPr b="1" sz="1021">
                <a:solidFill>
                  <a:srgbClr val="FF6400"/>
                </a:solidFill>
              </a:defRPr>
            </a:pPr>
            <a:r>
              <a:t>MATERIAL &amp; DIMENSION SWAP</a:t>
            </a:r>
          </a:p>
        </p:txBody>
      </p:sp>
      <p:sp>
        <p:nvSpPr>
          <p:cNvPr id="8" name="TextBox 7"/>
          <p:cNvSpPr txBox="1"/>
          <p:nvPr/>
        </p:nvSpPr>
        <p:spPr>
          <a:xfrm>
            <a:off x="274320" y="5138054"/>
            <a:ext cx="5486400" cy="508862"/>
          </a:xfrm>
          <a:prstGeom prst="rect">
            <a:avLst/>
          </a:prstGeom>
          <a:noFill/>
        </p:spPr>
        <p:txBody>
          <a:bodyPr wrap="square">
            <a:spAutoFit/>
          </a:bodyPr>
          <a:lstStyle/>
          <a:p>
            <a:pPr>
              <a:defRPr sz="928">
                <a:solidFill>
                  <a:srgbClr val="333333"/>
                </a:solidFill>
              </a:defRPr>
            </a:pPr>
            <a:r>
              <a:t>Explore the use of advanced, high-performance friction materials with enhanced fade resistance and c</a:t>
            </a:r>
            <a:br/>
            <a:r>
              <a:t>N/A (Maintains current envelope)</a:t>
            </a:r>
          </a:p>
        </p:txBody>
      </p:sp>
      <p:sp>
        <p:nvSpPr>
          <p:cNvPr id="9" name="Rectangle 8"/>
          <p:cNvSpPr/>
          <p:nvPr/>
        </p:nvSpPr>
        <p:spPr>
          <a:xfrm>
            <a:off x="274320" y="564691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720069"/>
            <a:ext cx="5486400" cy="212238"/>
          </a:xfrm>
          <a:prstGeom prst="rect">
            <a:avLst/>
          </a:prstGeom>
          <a:noFill/>
        </p:spPr>
        <p:txBody>
          <a:bodyPr wrap="none">
            <a:spAutoFit/>
          </a:bodyPr>
          <a:lstStyle/>
          <a:p>
            <a:pPr>
              <a:defRPr b="1" sz="1021">
                <a:solidFill>
                  <a:srgbClr val="FF6400"/>
                </a:solidFill>
              </a:defRPr>
            </a:pPr>
            <a:r>
              <a:t>FINANCIAL IMPACT</a:t>
            </a:r>
          </a:p>
        </p:txBody>
      </p:sp>
      <p:sp>
        <p:nvSpPr>
          <p:cNvPr id="11" name="TextBox 10"/>
          <p:cNvSpPr txBox="1"/>
          <p:nvPr/>
        </p:nvSpPr>
        <p:spPr>
          <a:xfrm>
            <a:off x="274320" y="5932307"/>
            <a:ext cx="5486400" cy="352994"/>
          </a:xfrm>
          <a:prstGeom prst="rect">
            <a:avLst/>
          </a:prstGeom>
          <a:noFill/>
        </p:spPr>
        <p:txBody>
          <a:bodyPr wrap="square">
            <a:spAutoFit/>
          </a:bodyPr>
          <a:lstStyle/>
          <a:p>
            <a:pPr>
              <a:defRPr sz="928">
                <a:solidFill>
                  <a:srgbClr val="333333"/>
                </a:solidFill>
              </a:defRPr>
            </a:pPr>
            <a:r>
              <a:t>Est. Saving: INR TBD</a:t>
            </a:r>
            <a:br/>
            <a:r>
              <a:t>CAPEX: TBD</a:t>
            </a:r>
          </a:p>
        </p:txBody>
      </p:sp>
      <p:sp>
        <p:nvSpPr>
          <p:cNvPr id="12" name="Rectangle 11"/>
          <p:cNvSpPr/>
          <p:nvPr/>
        </p:nvSpPr>
        <p:spPr>
          <a:xfrm>
            <a:off x="274320" y="628530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2004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5.jpg"/>
          <p:cNvPicPr>
            <a:picLocks noChangeAspect="1"/>
          </p:cNvPicPr>
          <p:nvPr/>
        </p:nvPicPr>
        <p:blipFill>
          <a:blip r:embed="rId2"/>
          <a:stretch>
            <a:fillRect/>
          </a:stretch>
        </p:blipFill>
        <p:spPr>
          <a:xfrm>
            <a:off x="6217920" y="3474720"/>
            <a:ext cx="5699455" cy="1481328"/>
          </a:xfrm>
          <a:prstGeom prst="rect">
            <a:avLst/>
          </a:prstGeom>
          <a:ln w="12700">
            <a:solidFill>
              <a:srgbClr val="C8C8C8"/>
            </a:solidFill>
          </a:ln>
        </p:spPr>
      </p:pic>
      <p:sp>
        <p:nvSpPr>
          <p:cNvPr id="15" name="TextBox 14"/>
          <p:cNvSpPr txBox="1"/>
          <p:nvPr/>
        </p:nvSpPr>
        <p:spPr>
          <a:xfrm>
            <a:off x="6217920" y="48280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35.jpg"/>
          <p:cNvPicPr>
            <a:picLocks noChangeAspect="1"/>
          </p:cNvPicPr>
          <p:nvPr/>
        </p:nvPicPr>
        <p:blipFill>
          <a:blip r:embed="rId3"/>
          <a:stretch>
            <a:fillRect/>
          </a:stretch>
        </p:blipFill>
        <p:spPr>
          <a:xfrm>
            <a:off x="6217920" y="5102352"/>
            <a:ext cx="5699455" cy="1481328"/>
          </a:xfrm>
          <a:prstGeom prst="rect">
            <a:avLst/>
          </a:prstGeom>
          <a:ln w="12700">
            <a:solidFill>
              <a:srgbClr val="C8C8C8"/>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880360"/>
          </a:xfrm>
          <a:prstGeom prst="rect">
            <a:avLst/>
          </a:prstGeom>
          <a:noFill/>
        </p:spPr>
        <p:txBody>
          <a:bodyPr wrap="square">
            <a:spAutoFit/>
          </a:bodyPr>
          <a:lstStyle/>
          <a:p>
            <a:pPr>
              <a:defRPr sz="1800" b="1">
                <a:solidFill>
                  <a:srgbClr val="003366"/>
                </a:solidFill>
              </a:defRPr>
            </a:pPr>
            <a:r>
              <a:t>#15: Develop a novel, cost-effective dust shield design using a thinner gauge of heat-resistant polymer or coated steel. This addresses the 'Dust shield gauge' focus area and aims to reduce material cost and weight. The 'Tooling CAPEX limited' constraint is met by focusing on a component that likely has simpler tooling. The 'No Rear IRS changes' constraint is respected by focusing on front or rear brake assemblies without altering the rear suspension linkage.</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154679"/>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3383279"/>
            <a:ext cx="5486400" cy="1092890"/>
          </a:xfrm>
          <a:prstGeom prst="rect">
            <a:avLst/>
          </a:prstGeom>
          <a:noFill/>
        </p:spPr>
        <p:txBody>
          <a:bodyPr wrap="square">
            <a:spAutoFit/>
          </a:bodyPr>
          <a:lstStyle/>
          <a:p>
            <a:pPr>
              <a:defRPr sz="1000">
                <a:solidFill>
                  <a:srgbClr val="333333"/>
                </a:solidFill>
              </a:defRPr>
            </a:pPr>
            <a:r>
              <a:t>Technical optimization of Develop a novel, cost-effective dust shield design using a thinner gauge of heat-resistant polymer or coated steel. This addresses the 'Dust shield gauge' focus area and aims to reduce material cost and weight. The 'Tooling CAPEX limited' constraint is met by focusing on a component that likely has simpler tooling. The 'No Rear IRS changes' constraint is respected by focusing on front or rear brake assemblies without altering the rear suspension linkage. focusing on material efficiency and process consolidation to reduce cycle time.</a:t>
            </a:r>
          </a:p>
        </p:txBody>
      </p:sp>
      <p:sp>
        <p:nvSpPr>
          <p:cNvPr id="6" name="Rectangle 5"/>
          <p:cNvSpPr/>
          <p:nvPr/>
        </p:nvSpPr>
        <p:spPr>
          <a:xfrm>
            <a:off x="274320" y="447617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54932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777922"/>
            <a:ext cx="5486400" cy="548091"/>
          </a:xfrm>
          <a:prstGeom prst="rect">
            <a:avLst/>
          </a:prstGeom>
          <a:noFill/>
        </p:spPr>
        <p:txBody>
          <a:bodyPr wrap="square">
            <a:spAutoFit/>
          </a:bodyPr>
          <a:lstStyle/>
          <a:p>
            <a:pPr>
              <a:defRPr sz="1000">
                <a:solidFill>
                  <a:srgbClr val="333333"/>
                </a:solidFill>
              </a:defRPr>
            </a:pPr>
            <a:r>
              <a:t>Develop a novel, cost-effective dust shield design using a thinner gauge of heat-resistant polymer o</a:t>
            </a:r>
            <a:br/>
            <a:r>
              <a:t>N/A (Maintains current envelope)</a:t>
            </a:r>
          </a:p>
        </p:txBody>
      </p:sp>
      <p:sp>
        <p:nvSpPr>
          <p:cNvPr id="9" name="Rectangle 8"/>
          <p:cNvSpPr/>
          <p:nvPr/>
        </p:nvSpPr>
        <p:spPr>
          <a:xfrm>
            <a:off x="274320" y="532601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399166"/>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627766"/>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600797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081125"/>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6309725"/>
            <a:ext cx="5486400" cy="273954"/>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27889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118.jpg"/>
          <p:cNvPicPr>
            <a:picLocks noChangeAspect="1"/>
          </p:cNvPicPr>
          <p:nvPr/>
        </p:nvPicPr>
        <p:blipFill>
          <a:blip r:embed="rId2"/>
          <a:stretch>
            <a:fillRect/>
          </a:stretch>
        </p:blipFill>
        <p:spPr>
          <a:xfrm>
            <a:off x="6217920" y="3063240"/>
            <a:ext cx="5699455" cy="1687068"/>
          </a:xfrm>
          <a:prstGeom prst="rect">
            <a:avLst/>
          </a:prstGeom>
          <a:ln w="12700">
            <a:solidFill>
              <a:srgbClr val="C8C8C8"/>
            </a:solidFill>
          </a:ln>
        </p:spPr>
      </p:pic>
      <p:sp>
        <p:nvSpPr>
          <p:cNvPr id="18" name="TextBox 17"/>
          <p:cNvSpPr txBox="1"/>
          <p:nvPr/>
        </p:nvSpPr>
        <p:spPr>
          <a:xfrm>
            <a:off x="6217920" y="46222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9" name="Picture 18" descr="2.jpg"/>
          <p:cNvPicPr>
            <a:picLocks noChangeAspect="1"/>
          </p:cNvPicPr>
          <p:nvPr/>
        </p:nvPicPr>
        <p:blipFill>
          <a:blip r:embed="rId3"/>
          <a:stretch>
            <a:fillRect/>
          </a:stretch>
        </p:blipFill>
        <p:spPr>
          <a:xfrm>
            <a:off x="6217920" y="4896612"/>
            <a:ext cx="5699455" cy="1687068"/>
          </a:xfrm>
          <a:prstGeom prst="rect">
            <a:avLst/>
          </a:prstGeom>
          <a:ln w="12700">
            <a:solidFill>
              <a:srgbClr val="C8C8C8"/>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703320"/>
          </a:xfrm>
          <a:prstGeom prst="rect">
            <a:avLst/>
          </a:prstGeom>
          <a:noFill/>
        </p:spPr>
        <p:txBody>
          <a:bodyPr wrap="square">
            <a:spAutoFit/>
          </a:bodyPr>
          <a:lstStyle/>
          <a:p>
            <a:pPr>
              <a:defRPr sz="1800" b="1">
                <a:solidFill>
                  <a:srgbClr val="003366"/>
                </a:solidFill>
              </a:defRPr>
            </a:pPr>
            <a:r>
              <a:t>#16: Investigate the potential for a lightweight, thin-wall cast iron rotor with enhanced cooling fin designs. This aligns with the 'Market trends' of thin-wall castings and the 'Rotor thickness' focus. The 'Tooling CAPEX limited' constraint is a challenge, as new casting tooling can be expensive; therefore, this proposal focuses on optimizing existing casting processes or exploring advanced casting techniques that might have lower CAPEX. The 'High Kinetic Energy (1.7T)' constraint necessitates careful thermal management, making cooling fin design critical.</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977639"/>
            <a:ext cx="5486400" cy="182741"/>
          </a:xfrm>
          <a:prstGeom prst="rect">
            <a:avLst/>
          </a:prstGeom>
          <a:noFill/>
        </p:spPr>
        <p:txBody>
          <a:bodyPr wrap="none">
            <a:spAutoFit/>
          </a:bodyPr>
          <a:lstStyle/>
          <a:p>
            <a:pPr>
              <a:defRPr b="1" sz="879">
                <a:solidFill>
                  <a:srgbClr val="FF6400"/>
                </a:solidFill>
              </a:defRPr>
            </a:pPr>
            <a:r>
              <a:t>TECHNICAL ENGINEERING VIEW</a:t>
            </a:r>
          </a:p>
        </p:txBody>
      </p:sp>
      <p:sp>
        <p:nvSpPr>
          <p:cNvPr id="5" name="TextBox 4"/>
          <p:cNvSpPr txBox="1"/>
          <p:nvPr/>
        </p:nvSpPr>
        <p:spPr>
          <a:xfrm>
            <a:off x="274320" y="4160381"/>
            <a:ext cx="5486400" cy="1005224"/>
          </a:xfrm>
          <a:prstGeom prst="rect">
            <a:avLst/>
          </a:prstGeom>
          <a:noFill/>
        </p:spPr>
        <p:txBody>
          <a:bodyPr wrap="square">
            <a:spAutoFit/>
          </a:bodyPr>
          <a:lstStyle/>
          <a:p>
            <a:pPr>
              <a:defRPr sz="799">
                <a:solidFill>
                  <a:srgbClr val="333333"/>
                </a:solidFill>
              </a:defRPr>
            </a:pPr>
            <a:r>
              <a:t>Technical optimization of Investigate the potential for a lightweight, thin-wall cast iron rotor with enhanced cooling fin designs. This aligns with the 'Market trends' of thin-wall castings and the 'Rotor thickness' focus. The 'Tooling CAPEX limited' constraint is a challenge, as new casting tooling can be expensive; therefore, this proposal focuses on optimizing existing casting processes or exploring advanced casting techniques that might have lower CAPEX. The 'High Kinetic Energy (1.7T)' constraint necessitates careful thermal management, making cooling fin design critical. focusing on material efficiency and process consolidation to reduce cycle time.</a:t>
            </a:r>
          </a:p>
        </p:txBody>
      </p:sp>
      <p:sp>
        <p:nvSpPr>
          <p:cNvPr id="6" name="Rectangle 5"/>
          <p:cNvSpPr/>
          <p:nvPr/>
        </p:nvSpPr>
        <p:spPr>
          <a:xfrm>
            <a:off x="274320" y="516560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238757"/>
            <a:ext cx="5486400" cy="182741"/>
          </a:xfrm>
          <a:prstGeom prst="rect">
            <a:avLst/>
          </a:prstGeom>
          <a:noFill/>
        </p:spPr>
        <p:txBody>
          <a:bodyPr wrap="none">
            <a:spAutoFit/>
          </a:bodyPr>
          <a:lstStyle/>
          <a:p>
            <a:pPr>
              <a:defRPr b="1" sz="879">
                <a:solidFill>
                  <a:srgbClr val="FF6400"/>
                </a:solidFill>
              </a:defRPr>
            </a:pPr>
            <a:r>
              <a:t>MATERIAL &amp; DIMENSION SWAP</a:t>
            </a:r>
          </a:p>
        </p:txBody>
      </p:sp>
      <p:sp>
        <p:nvSpPr>
          <p:cNvPr id="8" name="TextBox 7"/>
          <p:cNvSpPr txBox="1"/>
          <p:nvPr/>
        </p:nvSpPr>
        <p:spPr>
          <a:xfrm>
            <a:off x="274320" y="5421499"/>
            <a:ext cx="5486400" cy="365775"/>
          </a:xfrm>
          <a:prstGeom prst="rect">
            <a:avLst/>
          </a:prstGeom>
          <a:noFill/>
        </p:spPr>
        <p:txBody>
          <a:bodyPr wrap="square">
            <a:spAutoFit/>
          </a:bodyPr>
          <a:lstStyle/>
          <a:p>
            <a:pPr>
              <a:defRPr sz="799">
                <a:solidFill>
                  <a:srgbClr val="333333"/>
                </a:solidFill>
              </a:defRPr>
            </a:pPr>
            <a:r>
              <a:t>N/A (No material change explicitly mentioned)</a:t>
            </a:r>
            <a:br/>
            <a:r>
              <a:t>N/A (Maintains current envelope)</a:t>
            </a:r>
          </a:p>
        </p:txBody>
      </p:sp>
      <p:sp>
        <p:nvSpPr>
          <p:cNvPr id="9" name="Rectangle 8"/>
          <p:cNvSpPr/>
          <p:nvPr/>
        </p:nvSpPr>
        <p:spPr>
          <a:xfrm>
            <a:off x="274320" y="578727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860426"/>
            <a:ext cx="5486400" cy="182741"/>
          </a:xfrm>
          <a:prstGeom prst="rect">
            <a:avLst/>
          </a:prstGeom>
          <a:noFill/>
        </p:spPr>
        <p:txBody>
          <a:bodyPr wrap="none">
            <a:spAutoFit/>
          </a:bodyPr>
          <a:lstStyle/>
          <a:p>
            <a:pPr>
              <a:defRPr b="1" sz="879">
                <a:solidFill>
                  <a:srgbClr val="FF6400"/>
                </a:solidFill>
              </a:defRPr>
            </a:pPr>
            <a:r>
              <a:t>FINANCIAL IMPACT</a:t>
            </a:r>
          </a:p>
        </p:txBody>
      </p:sp>
      <p:sp>
        <p:nvSpPr>
          <p:cNvPr id="11" name="TextBox 10"/>
          <p:cNvSpPr txBox="1"/>
          <p:nvPr/>
        </p:nvSpPr>
        <p:spPr>
          <a:xfrm>
            <a:off x="274320" y="6043168"/>
            <a:ext cx="5486400" cy="303935"/>
          </a:xfrm>
          <a:prstGeom prst="rect">
            <a:avLst/>
          </a:prstGeom>
          <a:noFill/>
        </p:spPr>
        <p:txBody>
          <a:bodyPr wrap="square">
            <a:spAutoFit/>
          </a:bodyPr>
          <a:lstStyle/>
          <a:p>
            <a:pPr>
              <a:defRPr sz="799">
                <a:solidFill>
                  <a:srgbClr val="333333"/>
                </a:solidFill>
              </a:defRPr>
            </a:pPr>
            <a:r>
              <a:t>Est. Saving: INR TBD</a:t>
            </a:r>
            <a:br/>
            <a:r>
              <a:t>CAPEX: TBD</a:t>
            </a:r>
          </a:p>
        </p:txBody>
      </p:sp>
      <p:sp>
        <p:nvSpPr>
          <p:cNvPr id="12" name="Rectangle 11"/>
          <p:cNvSpPr/>
          <p:nvPr/>
        </p:nvSpPr>
        <p:spPr>
          <a:xfrm>
            <a:off x="274320" y="634710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6118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205.jpg"/>
          <p:cNvPicPr>
            <a:picLocks noChangeAspect="1"/>
          </p:cNvPicPr>
          <p:nvPr/>
        </p:nvPicPr>
        <p:blipFill>
          <a:blip r:embed="rId2"/>
          <a:stretch>
            <a:fillRect/>
          </a:stretch>
        </p:blipFill>
        <p:spPr>
          <a:xfrm>
            <a:off x="6217920" y="3886200"/>
            <a:ext cx="5699455" cy="1275588"/>
          </a:xfrm>
          <a:prstGeom prst="rect">
            <a:avLst/>
          </a:prstGeom>
          <a:ln w="12700">
            <a:solidFill>
              <a:srgbClr val="C8C8C8"/>
            </a:solidFill>
          </a:ln>
        </p:spPr>
      </p:pic>
      <p:sp>
        <p:nvSpPr>
          <p:cNvPr id="15" name="TextBox 14"/>
          <p:cNvSpPr txBox="1"/>
          <p:nvPr/>
        </p:nvSpPr>
        <p:spPr>
          <a:xfrm>
            <a:off x="6217920" y="50337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93.jpg"/>
          <p:cNvPicPr>
            <a:picLocks noChangeAspect="1"/>
          </p:cNvPicPr>
          <p:nvPr/>
        </p:nvPicPr>
        <p:blipFill>
          <a:blip r:embed="rId3"/>
          <a:stretch>
            <a:fillRect/>
          </a:stretch>
        </p:blipFill>
        <p:spPr>
          <a:xfrm>
            <a:off x="6217920" y="5308092"/>
            <a:ext cx="5699455" cy="1275588"/>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
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0881360" cy="6263640"/>
        </p:xfrm>
        <a:graphic>
          <a:graphicData uri="http://schemas.openxmlformats.org/drawingml/2006/table">
            <a:tbl>
              <a:tblPr firstRow="1" bandRow="1">
                <a:tableStyleId>{5C22544A-7EE6-4342-B048-85BDC9FD1C3A}</a:tableStyleId>
              </a:tblPr>
              <a:tblGrid>
                <a:gridCol w="731520"/>
                <a:gridCol w="4114800"/>
                <a:gridCol w="1097280"/>
                <a:gridCol w="1097280"/>
                <a:gridCol w="1097280"/>
                <a:gridCol w="1371600"/>
                <a:gridCol w="1371600"/>
              </a:tblGrid>
              <a:tr h="391477">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 Cr)</a:t>
                      </a:r>
                    </a:p>
                  </a:txBody>
                  <a:tcPr>
                    <a:solidFill>
                      <a:srgbClr val="003366"/>
                    </a:solidFill>
                  </a:tcPr>
                </a:tc>
                <a:tc>
                  <a:txBody>
                    <a:bodyPr wrap="square"/>
                    <a:lstStyle/>
                    <a:p>
                      <a:pPr>
                        <a:defRPr b="1" sz="900">
                          <a:solidFill>
                            <a:srgbClr val="FFFFFF"/>
                          </a:solidFill>
                        </a:defRPr>
                      </a:pPr>
                      <a:r>
                        <a:t>Unit Saving (₹)</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 (₹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391477">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NG</a:t>
                      </a:r>
                    </a:p>
                  </a:txBody>
                  <a:tcPr/>
                </a:tc>
              </a:tr>
              <a:tr h="391477">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NG</a:t>
                      </a:r>
                    </a:p>
                  </a:txBody>
                  <a:tcPr/>
                </a:tc>
              </a:tr>
              <a:tr h="391477">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 the vehicle as done in KIA</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NG</a:t>
                      </a:r>
                    </a:p>
                  </a:txBody>
                  <a:tcPr/>
                </a:tc>
              </a:tr>
              <a:tr h="391477">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Replace the standard cast iron brake rotor material with a lower-cost grey cast iron alloy (e.g., GJL-250) for the rear brake assemblies, while maintaining equivalent thermal mass and wear characteristics through optimized vane design.</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15000.0000</a:t>
                      </a:r>
                    </a:p>
                  </a:txBody>
                  <a:tcPr/>
                </a:tc>
                <a:tc>
                  <a:txBody>
                    <a:bodyPr wrap="square" lIns="50800" rIns="50800"/>
                    <a:lstStyle/>
                    <a:p>
                      <a:pPr>
                        <a:defRPr sz="900">
                          <a:solidFill>
                            <a:srgbClr val="333333"/>
                          </a:solidFill>
                          <a:latin typeface="Calibri"/>
                        </a:defRPr>
                      </a:pPr>
                      <a:r>
                        <a:t>Needs Human Review</a:t>
                      </a:r>
                    </a:p>
                  </a:txBody>
                  <a:tcPr/>
                </a:tc>
              </a:tr>
              <a:tr h="391477">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Reduce the caliper piston diameter for the rear brake assemblies by 2mm, compensated by a slight increase in master cylinder bore size and optimized brake pad friction material for equivalent braking force distribution and pedal feel. This reduces caliper casting size and piston seal complexity.</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1000000.00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10000.0000</a:t>
                      </a:r>
                    </a:p>
                  </a:txBody>
                  <a:tcPr/>
                </a:tc>
                <a:tc>
                  <a:txBody>
                    <a:bodyPr wrap="square" lIns="50800" rIns="50800"/>
                    <a:lstStyle/>
                    <a:p>
                      <a:pPr>
                        <a:defRPr sz="900">
                          <a:solidFill>
                            <a:srgbClr val="333333"/>
                          </a:solidFill>
                          <a:latin typeface="Calibri"/>
                        </a:defRPr>
                      </a:pPr>
                      <a:r>
                        <a:t>Needs Human Review</a:t>
                      </a:r>
                    </a:p>
                  </a:txBody>
                  <a:tcPr/>
                </a:tc>
              </a:tr>
              <a:tr h="391477">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Substitute the current front brake caliper mounting bracket material from forged steel to a high-strength cast aluminum alloy (e.g., A356-T6), leveraging existing tooling for casting where possible, and ensuring sufficient stiffness and thermal management.</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2500000.00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25000.0000</a:t>
                      </a:r>
                    </a:p>
                  </a:txBody>
                  <a:tcPr/>
                </a:tc>
                <a:tc>
                  <a:txBody>
                    <a:bodyPr wrap="square" lIns="50800" rIns="50800"/>
                    <a:lstStyle/>
                    <a:p>
                      <a:pPr>
                        <a:defRPr sz="900">
                          <a:solidFill>
                            <a:srgbClr val="333333"/>
                          </a:solidFill>
                          <a:latin typeface="Calibri"/>
                        </a:defRPr>
                      </a:pPr>
                      <a:r>
                        <a:t>Needs Human Review</a:t>
                      </a:r>
                    </a:p>
                  </a:txBody>
                  <a:tcPr/>
                </a:tc>
              </a:tr>
              <a:tr h="391477">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Optimize the brake dust shield design for the rear wheels by reducing material thickness from 1.2mm to 1.0mm and simplifying the stamping geometry without compromising dust and water ingress protection.</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5000.0000</a:t>
                      </a:r>
                    </a:p>
                  </a:txBody>
                  <a:tcPr/>
                </a:tc>
                <a:tc>
                  <a:txBody>
                    <a:bodyPr wrap="square" lIns="50800" rIns="50800"/>
                    <a:lstStyle/>
                    <a:p>
                      <a:pPr>
                        <a:defRPr sz="900">
                          <a:solidFill>
                            <a:srgbClr val="333333"/>
                          </a:solidFill>
                          <a:latin typeface="Calibri"/>
                        </a:defRPr>
                      </a:pPr>
                      <a:r>
                        <a:t>Needs Human Review</a:t>
                      </a:r>
                    </a:p>
                  </a:txBody>
                  <a:tcPr/>
                </a:tc>
              </a:tr>
              <a:tr h="391477">
                <a:tc>
                  <a:txBody>
                    <a:bodyPr wrap="square" lIns="50800" rIns="50800"/>
                    <a:lstStyle/>
                    <a:p>
                      <a:pPr>
                        <a:defRPr sz="900">
                          <a:solidFill>
                            <a:srgbClr val="333333"/>
                          </a:solidFill>
                          <a:latin typeface="Calibri"/>
                        </a:defRPr>
                      </a:pPr>
                      <a:r>
                        <a:t>AI-GEN-05</a:t>
                      </a:r>
                    </a:p>
                  </a:txBody>
                  <a:tcPr/>
                </a:tc>
                <a:tc>
                  <a:txBody>
                    <a:bodyPr wrap="square" lIns="50800" rIns="50800"/>
                    <a:lstStyle/>
                    <a:p>
                      <a:pPr>
                        <a:defRPr sz="900">
                          <a:solidFill>
                            <a:srgbClr val="333333"/>
                          </a:solidFill>
                          <a:latin typeface="Calibri"/>
                        </a:defRPr>
                      </a:pPr>
                      <a:r>
                        <a:t>Implement a single-piece cast iron caliper for the rear brake assemblies, eliminating the need for separate bridge bolts and seals, thereby reducing assembly complexity and potential leak paths.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1800000.00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18000.0000</a:t>
                      </a:r>
                    </a:p>
                  </a:txBody>
                  <a:tcPr/>
                </a:tc>
                <a:tc>
                  <a:txBody>
                    <a:bodyPr wrap="square" lIns="50800" rIns="50800"/>
                    <a:lstStyle/>
                    <a:p>
                      <a:pPr>
                        <a:defRPr sz="900">
                          <a:solidFill>
                            <a:srgbClr val="333333"/>
                          </a:solidFill>
                          <a:latin typeface="Calibri"/>
                        </a:defRPr>
                      </a:pPr>
                      <a:r>
                        <a:t>Needs Human Review</a:t>
                      </a:r>
                    </a:p>
                  </a:txBody>
                  <a:tcPr/>
                </a:tc>
              </a:tr>
              <a:tr h="391477">
                <a:tc>
                  <a:txBody>
                    <a:bodyPr wrap="square" lIns="50800" rIns="50800"/>
                    <a:lstStyle/>
                    <a:p>
                      <a:pPr>
                        <a:defRPr sz="900">
                          <a:solidFill>
                            <a:srgbClr val="333333"/>
                          </a:solidFill>
                          <a:latin typeface="Calibri"/>
                        </a:defRPr>
                      </a:pPr>
                      <a:r>
                        <a:t>AI-GEN-06</a:t>
                      </a:r>
                    </a:p>
                  </a:txBody>
                  <a:tcPr/>
                </a:tc>
                <a:tc>
                  <a:txBody>
                    <a:bodyPr wrap="square" lIns="50800" rIns="50800"/>
                    <a:lstStyle/>
                    <a:p>
                      <a:pPr>
                        <a:defRPr sz="900">
                          <a:solidFill>
                            <a:srgbClr val="333333"/>
                          </a:solidFill>
                          <a:latin typeface="Calibri"/>
                        </a:defRPr>
                      </a:pPr>
                      <a:r>
                        <a:t>Reduce the rotor thickness for the front brake assemblies by 1mm (e.g., from 28mm to 27mm) and compensate for potential thermal mass reduction by increasing the rotor diameter by 5mm. This maintains braking performance while reducing material cost.</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1200000.00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12000.0000</a:t>
                      </a:r>
                    </a:p>
                  </a:txBody>
                  <a:tcPr/>
                </a:tc>
                <a:tc>
                  <a:txBody>
                    <a:bodyPr wrap="square" lIns="50800" rIns="50800"/>
                    <a:lstStyle/>
                    <a:p>
                      <a:pPr>
                        <a:defRPr sz="900">
                          <a:solidFill>
                            <a:srgbClr val="333333"/>
                          </a:solidFill>
                          <a:latin typeface="Calibri"/>
                        </a:defRPr>
                      </a:pPr>
                      <a:r>
                        <a:t>Needs Human Review</a:t>
                      </a:r>
                    </a:p>
                  </a:txBody>
                  <a:tcPr/>
                </a:tc>
              </a:tr>
              <a:tr h="391477">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Utilize a 'floating' caliper design for the rear brake assemblies, which is typically less expensive to manufacture than fixed calipers, by optimizing the guide pin and caliper housing for stiffness and thermal management.</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1700000.00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17000.0000</a:t>
                      </a:r>
                    </a:p>
                  </a:txBody>
                  <a:tcPr/>
                </a:tc>
                <a:tc>
                  <a:txBody>
                    <a:bodyPr wrap="square" lIns="50800" rIns="50800"/>
                    <a:lstStyle/>
                    <a:p>
                      <a:pPr>
                        <a:defRPr sz="900">
                          <a:solidFill>
                            <a:srgbClr val="333333"/>
                          </a:solidFill>
                          <a:latin typeface="Calibri"/>
                        </a:defRPr>
                      </a:pPr>
                      <a:r>
                        <a:t>Needs Human Review</a:t>
                      </a:r>
                    </a:p>
                  </a:txBody>
                  <a:tcPr/>
                </a:tc>
              </a:tr>
              <a:tr h="391477">
                <a:tc>
                  <a:txBody>
                    <a:bodyPr wrap="square" lIns="50800" rIns="50800"/>
                    <a:lstStyle/>
                    <a:p>
                      <a:pPr>
                        <a:defRPr sz="900">
                          <a:solidFill>
                            <a:srgbClr val="333333"/>
                          </a:solidFill>
                          <a:latin typeface="Calibri"/>
                        </a:defRPr>
                      </a:pPr>
                      <a:r>
                        <a:t>AI-GEN-08</a:t>
                      </a:r>
                    </a:p>
                  </a:txBody>
                  <a:tcPr/>
                </a:tc>
                <a:tc>
                  <a:txBody>
                    <a:bodyPr wrap="square" lIns="50800" rIns="50800"/>
                    <a:lstStyle/>
                    <a:p>
                      <a:pPr>
                        <a:defRPr sz="900">
                          <a:solidFill>
                            <a:srgbClr val="333333"/>
                          </a:solidFill>
                          <a:latin typeface="Calibri"/>
                        </a:defRPr>
                      </a:pPr>
                      <a:r>
                        <a:t>Replace the standard rubber brake hoses for the rear axle with braided stainless steel hoses. While initial cost might be slightly higher, it offers increased durability, resistance to expansion under pressure, and improved pedal feel, potentially reducing warranty claims.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300000.00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3000.0000</a:t>
                      </a:r>
                    </a:p>
                  </a:txBody>
                  <a:tcPr/>
                </a:tc>
                <a:tc>
                  <a:txBody>
                    <a:bodyPr wrap="square" lIns="50800" rIns="50800"/>
                    <a:lstStyle/>
                    <a:p>
                      <a:pPr>
                        <a:defRPr sz="900">
                          <a:solidFill>
                            <a:srgbClr val="333333"/>
                          </a:solidFill>
                          <a:latin typeface="Calibri"/>
                        </a:defRPr>
                      </a:pPr>
                      <a:r>
                        <a:t>Needs Human Review</a:t>
                      </a:r>
                    </a:p>
                  </a:txBody>
                  <a:tcPr/>
                </a:tc>
              </a:tr>
              <a:tr h="391477">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use of a higher-performance, yet cost-effective, friction material for brake pads that offers comparable or improved fade resistance and wear characteristics to current OEM specifications, while potentially reducing material cost per unit. This would involve exploring advanced composites or ceramic-based formulations. The dust shield gauge can be optimized to a lighter material if the friction material generates less particulate matter and heat.</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391477">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Optimize the rotor thickness and diameter without compromising thermal capacity or structural integrity. This could involve advanced Finite Element Analysis (FEA) to identify areas of over-engineering and material reduction opportunities, potentially leading to a lighter rotor. Explore alternative casting methods or material compositions for the rotor that offer similar thermal dissipation properties at a lower cost. Dust shield gauge can be reviewed for potential weight reduction if rotor design changes impact thermal load.</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391477">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Explore the application of advanced coatings on brake rotors and/or pads that enhance wear resistance and reduce friction-induced heat generation. This could involve ceramic, composite, or specialized metallic coatings. A secondary benefit could be improved corrosion resistance, potentially allowing for a reduction in the gauge of the dust shield if it's primarily for corrosion protection. This aligns with optimizing thermal management and material properties.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Research Paper</a:t>
                      </a:r>
                    </a:p>
                  </a:txBody>
                  <a:tcPr/>
                </a:tc>
              </a:tr>
              <a:tr h="39148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potential for using a lighter-weight, yet structurally sound, caliper material. While cast iron is common, exploring advanced aluminum alloys or composite materials could offer weight savings, contributing to overall vehicle efficiency. This must be done without compromising the caliper's ability to withstand the high clamping forces and thermal loads generated during braking, especially for a vehicle with high kinetic energy. The dust shield gauge might be adjusted if caliper design changes affect airflow or protection needs.</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Industry Trend</a:t>
                      </a:r>
                    </a:p>
                  </a:txBody>
                  <a:tcPr/>
                </a:tc>
              </a:tr>
            </a:tbl>
          </a:graphicData>
        </a:graphic>
      </p:graphicFrame>
      <p:sp>
        <p:nvSpPr>
          <p:cNvPr id="3" name="TextBox 2"/>
          <p:cNvSpPr txBox="1"/>
          <p:nvPr/>
        </p:nvSpPr>
        <p:spPr>
          <a:xfrm>
            <a:off x="365760" y="45720"/>
            <a:ext cx="11460175" cy="320040"/>
          </a:xfrm>
          <a:prstGeom prst="rect">
            <a:avLst/>
          </a:prstGeom>
          <a:noFill/>
        </p:spPr>
        <p:txBody>
          <a:bodyPr wrap="none">
            <a:spAutoFit/>
          </a:bodyPr>
          <a:lstStyle/>
          <a:p>
            <a:pPr>
              <a:defRPr sz="1500" b="1">
                <a:solidFill>
                  <a:srgbClr val="003366"/>
                </a:solidFill>
              </a:defRPr>
            </a:pPr>
            <a:r>
              <a:t>Summary (Values in ₹ Crore)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743200"/>
          </a:xfrm>
          <a:prstGeom prst="rect">
            <a:avLst/>
          </a:prstGeom>
          <a:noFill/>
        </p:spPr>
        <p:txBody>
          <a:bodyPr wrap="square">
            <a:spAutoFit/>
          </a:bodyPr>
          <a:lstStyle/>
          <a:p>
            <a:pPr>
              <a:defRPr sz="24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29260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154680"/>
            <a:ext cx="5486400" cy="1097280"/>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42519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511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553712"/>
            <a:ext cx="5486400" cy="490548"/>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50442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11741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346012"/>
            <a:ext cx="5486400" cy="430305"/>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577631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84947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6078070"/>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14353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21669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8445290"/>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90175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651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217920" y="2926080"/>
            <a:ext cx="5699455" cy="1755648"/>
          </a:xfrm>
          <a:prstGeom prst="rect">
            <a:avLst/>
          </a:prstGeom>
          <a:ln w="12700">
            <a:solidFill>
              <a:srgbClr val="C8C8C8"/>
            </a:solidFill>
          </a:ln>
        </p:spPr>
      </p:pic>
      <p:sp>
        <p:nvSpPr>
          <p:cNvPr id="21" name="TextBox 20"/>
          <p:cNvSpPr txBox="1"/>
          <p:nvPr/>
        </p:nvSpPr>
        <p:spPr>
          <a:xfrm>
            <a:off x="6217920" y="4553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9.jpg"/>
          <p:cNvPicPr>
            <a:picLocks noChangeAspect="1"/>
          </p:cNvPicPr>
          <p:nvPr/>
        </p:nvPicPr>
        <p:blipFill>
          <a:blip r:embed="rId3"/>
          <a:stretch>
            <a:fillRect/>
          </a:stretch>
        </p:blipFill>
        <p:spPr>
          <a:xfrm>
            <a:off x="6217920" y="4828032"/>
            <a:ext cx="5699455" cy="1755648"/>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#2: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21884"/>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p>
        </p:txBody>
      </p:sp>
      <p:sp>
        <p:nvSpPr>
          <p:cNvPr id="6" name="Rectangle 5"/>
          <p:cNvSpPr/>
          <p:nvPr/>
        </p:nvSpPr>
        <p:spPr>
          <a:xfrm>
            <a:off x="274320" y="35193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592516"/>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21116"/>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435469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42784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656447"/>
            <a:ext cx="5486400" cy="43245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508890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16205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390656"/>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45612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52927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757877"/>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3301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4.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371600"/>
          </a:xfrm>
          <a:prstGeom prst="rect">
            <a:avLst/>
          </a:prstGeom>
          <a:noFill/>
        </p:spPr>
        <p:txBody>
          <a:bodyPr wrap="square">
            <a:spAutoFit/>
          </a:bodyPr>
          <a:lstStyle/>
          <a:p>
            <a:pPr>
              <a:defRPr sz="2400" b="1">
                <a:solidFill>
                  <a:srgbClr val="003366"/>
                </a:solidFill>
              </a:defRPr>
            </a:pPr>
            <a:r>
              <a:t>#3: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544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83080"/>
            <a:ext cx="5486400" cy="632549"/>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241562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8878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717381"/>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2509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32411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52712"/>
            <a:ext cx="5486400" cy="430305"/>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98301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05617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84770"/>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350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42339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651991"/>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72242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2801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554480"/>
            <a:ext cx="5699455" cy="2441448"/>
          </a:xfrm>
          <a:prstGeom prst="rect">
            <a:avLst/>
          </a:prstGeom>
          <a:ln w="12700">
            <a:solidFill>
              <a:srgbClr val="C8C8C8"/>
            </a:solidFill>
          </a:ln>
        </p:spPr>
      </p:pic>
      <p:sp>
        <p:nvSpPr>
          <p:cNvPr id="21" name="TextBox 20"/>
          <p:cNvSpPr txBox="1"/>
          <p:nvPr/>
        </p:nvSpPr>
        <p:spPr>
          <a:xfrm>
            <a:off x="6217920" y="38679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1.jpg"/>
          <p:cNvPicPr>
            <a:picLocks noChangeAspect="1"/>
          </p:cNvPicPr>
          <p:nvPr/>
        </p:nvPicPr>
        <p:blipFill>
          <a:blip r:embed="rId3"/>
          <a:stretch>
            <a:fillRect/>
          </a:stretch>
        </p:blipFill>
        <p:spPr>
          <a:xfrm>
            <a:off x="6217920" y="4142232"/>
            <a:ext cx="5699455" cy="2441448"/>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743200"/>
          </a:xfrm>
          <a:prstGeom prst="rect">
            <a:avLst/>
          </a:prstGeom>
          <a:noFill/>
        </p:spPr>
        <p:txBody>
          <a:bodyPr wrap="square">
            <a:spAutoFit/>
          </a:bodyPr>
          <a:lstStyle/>
          <a:p>
            <a:pPr>
              <a:defRPr sz="2400" b="1">
                <a:solidFill>
                  <a:srgbClr val="003366"/>
                </a:solidFill>
              </a:defRPr>
            </a:pPr>
            <a:r>
              <a:t>#4: Replace the standard cast iron brake rotor material with a lower-cost grey cast iron alloy (e.g., GJL-250) for the rear brake assemblies, while maintaining equivalent thermal mass and wear characteristics through optimized vane design.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9260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154680"/>
            <a:ext cx="5486400" cy="916551"/>
          </a:xfrm>
          <a:prstGeom prst="rect">
            <a:avLst/>
          </a:prstGeom>
          <a:noFill/>
        </p:spPr>
        <p:txBody>
          <a:bodyPr wrap="square">
            <a:spAutoFit/>
          </a:bodyPr>
          <a:lstStyle/>
          <a:p>
            <a:pPr>
              <a:defRPr sz="1000">
                <a:solidFill>
                  <a:srgbClr val="333333"/>
                </a:solidFill>
              </a:defRPr>
            </a:pPr>
            <a:r>
              <a:t>Technical optimization of Replace the standard cast iron brake rotor material with a lower-cost grey cast iron alloy (e.g., GJL-250) for the rear brake assemblies, while maintaining equivalent thermal mass and wear characteristics through optimized vane design. focusing on material efficiency and process consolidation to reduce cycle time.</a:t>
            </a:r>
          </a:p>
        </p:txBody>
      </p:sp>
      <p:sp>
        <p:nvSpPr>
          <p:cNvPr id="6" name="Rectangle 5"/>
          <p:cNvSpPr/>
          <p:nvPr/>
        </p:nvSpPr>
        <p:spPr>
          <a:xfrm>
            <a:off x="274320" y="40712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14438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372983"/>
            <a:ext cx="5486400" cy="636852"/>
          </a:xfrm>
          <a:prstGeom prst="rect">
            <a:avLst/>
          </a:prstGeom>
          <a:noFill/>
        </p:spPr>
        <p:txBody>
          <a:bodyPr wrap="square">
            <a:spAutoFit/>
          </a:bodyPr>
          <a:lstStyle/>
          <a:p>
            <a:pPr>
              <a:defRPr sz="1000">
                <a:solidFill>
                  <a:srgbClr val="333333"/>
                </a:solidFill>
              </a:defRPr>
            </a:pPr>
            <a:r>
              <a:t>Replace the standard cast iron brake rotor material with a lower-cost grey cast iron alloy (e</a:t>
            </a:r>
            <a:br/>
            <a:r>
              <a:t>N/A (Maintains current envelope)</a:t>
            </a:r>
          </a:p>
        </p:txBody>
      </p:sp>
      <p:sp>
        <p:nvSpPr>
          <p:cNvPr id="9" name="Rectangle 8"/>
          <p:cNvSpPr/>
          <p:nvPr/>
        </p:nvSpPr>
        <p:spPr>
          <a:xfrm>
            <a:off x="274320" y="50098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08298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311588"/>
            <a:ext cx="5486400" cy="441063"/>
          </a:xfrm>
          <a:prstGeom prst="rect">
            <a:avLst/>
          </a:prstGeom>
          <a:noFill/>
        </p:spPr>
        <p:txBody>
          <a:bodyPr wrap="square">
            <a:spAutoFit/>
          </a:bodyPr>
          <a:lstStyle/>
          <a:p>
            <a:pPr>
              <a:defRPr sz="1000">
                <a:solidFill>
                  <a:srgbClr val="333333"/>
                </a:solidFill>
              </a:defRPr>
            </a:pPr>
            <a:r>
              <a:t>Est. Saving: INR 1500000</a:t>
            </a:r>
            <a:br/>
            <a:r>
              <a:t>CAPEX: TBD</a:t>
            </a:r>
          </a:p>
        </p:txBody>
      </p:sp>
      <p:sp>
        <p:nvSpPr>
          <p:cNvPr id="12" name="Rectangle 11"/>
          <p:cNvSpPr/>
          <p:nvPr/>
        </p:nvSpPr>
        <p:spPr>
          <a:xfrm>
            <a:off x="274320" y="575265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825803"/>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6054403"/>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11987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193024"/>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8421624"/>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9939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651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2926080"/>
            <a:ext cx="5699455" cy="1755648"/>
          </a:xfrm>
          <a:prstGeom prst="rect">
            <a:avLst/>
          </a:prstGeom>
          <a:ln w="12700">
            <a:solidFill>
              <a:srgbClr val="C8C8C8"/>
            </a:solidFill>
          </a:ln>
        </p:spPr>
      </p:pic>
      <p:sp>
        <p:nvSpPr>
          <p:cNvPr id="21" name="TextBox 20"/>
          <p:cNvSpPr txBox="1"/>
          <p:nvPr/>
        </p:nvSpPr>
        <p:spPr>
          <a:xfrm>
            <a:off x="6217920" y="4553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13.jpg"/>
          <p:cNvPicPr>
            <a:picLocks noChangeAspect="1"/>
          </p:cNvPicPr>
          <p:nvPr/>
        </p:nvPicPr>
        <p:blipFill>
          <a:blip r:embed="rId3"/>
          <a:stretch>
            <a:fillRect/>
          </a:stretch>
        </p:blipFill>
        <p:spPr>
          <a:xfrm>
            <a:off x="6217920" y="4828032"/>
            <a:ext cx="5699455" cy="1755648"/>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00400"/>
          </a:xfrm>
          <a:prstGeom prst="rect">
            <a:avLst/>
          </a:prstGeom>
          <a:noFill/>
        </p:spPr>
        <p:txBody>
          <a:bodyPr wrap="square">
            <a:spAutoFit/>
          </a:bodyPr>
          <a:lstStyle/>
          <a:p>
            <a:pPr>
              <a:defRPr sz="2400" b="1">
                <a:solidFill>
                  <a:srgbClr val="003366"/>
                </a:solidFill>
              </a:defRPr>
            </a:pPr>
            <a:r>
              <a:t>#5: Reduce the caliper piston diameter for the rear brake assemblies by 2mm, compensated by a slight increase in master cylinder bore size and optimized brake pad friction material for equivalent braking force distribution and pedal feel. This reduces caliper casting size and piston seal complexity.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3383280"/>
            <a:ext cx="5486400" cy="217662"/>
          </a:xfrm>
          <a:prstGeom prst="rect">
            <a:avLst/>
          </a:prstGeom>
          <a:noFill/>
        </p:spPr>
        <p:txBody>
          <a:bodyPr wrap="none">
            <a:spAutoFit/>
          </a:bodyPr>
          <a:lstStyle/>
          <a:p>
            <a:pPr>
              <a:defRPr b="1" sz="1047">
                <a:solidFill>
                  <a:srgbClr val="FF6400"/>
                </a:solidFill>
              </a:defRPr>
            </a:pPr>
            <a:r>
              <a:t>TECHNICAL ENGINEERING VIEW</a:t>
            </a:r>
          </a:p>
        </p:txBody>
      </p:sp>
      <p:sp>
        <p:nvSpPr>
          <p:cNvPr id="5" name="TextBox 4"/>
          <p:cNvSpPr txBox="1"/>
          <p:nvPr/>
        </p:nvSpPr>
        <p:spPr>
          <a:xfrm>
            <a:off x="274320" y="3600942"/>
            <a:ext cx="5486400" cy="997660"/>
          </a:xfrm>
          <a:prstGeom prst="rect">
            <a:avLst/>
          </a:prstGeom>
          <a:noFill/>
        </p:spPr>
        <p:txBody>
          <a:bodyPr wrap="square">
            <a:spAutoFit/>
          </a:bodyPr>
          <a:lstStyle/>
          <a:p>
            <a:pPr>
              <a:defRPr sz="952">
                <a:solidFill>
                  <a:srgbClr val="333333"/>
                </a:solidFill>
              </a:defRPr>
            </a:pPr>
            <a:r>
              <a:t>Technical optimization of Reduce the caliper piston diameter for the rear brake assemblies by 2mm, compensated by a slight increase in master cylinder bore size and optimized brake pad friction material for equivalent braking force distribution and pedal feel. This reduces caliper casting size and piston seal complexity. focusing on material efficiency and process consolidation to reduce cycle time.</a:t>
            </a:r>
          </a:p>
        </p:txBody>
      </p:sp>
      <p:sp>
        <p:nvSpPr>
          <p:cNvPr id="6" name="Rectangle 5"/>
          <p:cNvSpPr/>
          <p:nvPr/>
        </p:nvSpPr>
        <p:spPr>
          <a:xfrm>
            <a:off x="274320" y="459860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671754"/>
            <a:ext cx="5486400" cy="217662"/>
          </a:xfrm>
          <a:prstGeom prst="rect">
            <a:avLst/>
          </a:prstGeom>
          <a:noFill/>
        </p:spPr>
        <p:txBody>
          <a:bodyPr wrap="none">
            <a:spAutoFit/>
          </a:bodyPr>
          <a:lstStyle/>
          <a:p>
            <a:pPr>
              <a:defRPr b="1" sz="1047">
                <a:solidFill>
                  <a:srgbClr val="FF6400"/>
                </a:solidFill>
              </a:defRPr>
            </a:pPr>
            <a:r>
              <a:t>MATERIAL &amp; DIMENSION SWAP</a:t>
            </a:r>
          </a:p>
        </p:txBody>
      </p:sp>
      <p:sp>
        <p:nvSpPr>
          <p:cNvPr id="8" name="TextBox 7"/>
          <p:cNvSpPr txBox="1"/>
          <p:nvPr/>
        </p:nvSpPr>
        <p:spPr>
          <a:xfrm>
            <a:off x="274320" y="4889416"/>
            <a:ext cx="5486400" cy="620720"/>
          </a:xfrm>
          <a:prstGeom prst="rect">
            <a:avLst/>
          </a:prstGeom>
          <a:noFill/>
        </p:spPr>
        <p:txBody>
          <a:bodyPr wrap="square">
            <a:spAutoFit/>
          </a:bodyPr>
          <a:lstStyle/>
          <a:p>
            <a:pPr>
              <a:defRPr sz="952">
                <a:solidFill>
                  <a:srgbClr val="333333"/>
                </a:solidFill>
              </a:defRPr>
            </a:pPr>
            <a:r>
              <a:t>Reduce the caliper piston diameter for the rear brake assemblies by 2mm, compensated by a slight inc</a:t>
            </a:r>
            <a:br/>
            <a:r>
              <a:t>N/A (Maintains current envelope)</a:t>
            </a:r>
          </a:p>
        </p:txBody>
      </p:sp>
      <p:sp>
        <p:nvSpPr>
          <p:cNvPr id="9" name="Rectangle 8"/>
          <p:cNvSpPr/>
          <p:nvPr/>
        </p:nvSpPr>
        <p:spPr>
          <a:xfrm>
            <a:off x="274320" y="551013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583289"/>
            <a:ext cx="5486400" cy="217662"/>
          </a:xfrm>
          <a:prstGeom prst="rect">
            <a:avLst/>
          </a:prstGeom>
          <a:noFill/>
        </p:spPr>
        <p:txBody>
          <a:bodyPr wrap="none">
            <a:spAutoFit/>
          </a:bodyPr>
          <a:lstStyle/>
          <a:p>
            <a:pPr>
              <a:defRPr b="1" sz="1047">
                <a:solidFill>
                  <a:srgbClr val="FF6400"/>
                </a:solidFill>
              </a:defRPr>
            </a:pPr>
            <a:r>
              <a:t>FINANCIAL IMPACT</a:t>
            </a:r>
          </a:p>
        </p:txBody>
      </p:sp>
      <p:sp>
        <p:nvSpPr>
          <p:cNvPr id="11" name="TextBox 10"/>
          <p:cNvSpPr txBox="1"/>
          <p:nvPr/>
        </p:nvSpPr>
        <p:spPr>
          <a:xfrm>
            <a:off x="274320" y="5800951"/>
            <a:ext cx="5486400" cy="419959"/>
          </a:xfrm>
          <a:prstGeom prst="rect">
            <a:avLst/>
          </a:prstGeom>
          <a:noFill/>
        </p:spPr>
        <p:txBody>
          <a:bodyPr wrap="square">
            <a:spAutoFit/>
          </a:bodyPr>
          <a:lstStyle/>
          <a:p>
            <a:pPr>
              <a:defRPr sz="952">
                <a:solidFill>
                  <a:srgbClr val="333333"/>
                </a:solidFill>
              </a:defRPr>
            </a:pPr>
            <a:r>
              <a:t>Est. Saving: INR 1000000</a:t>
            </a:r>
            <a:br/>
            <a:r>
              <a:t>CAPEX: TBD</a:t>
            </a:r>
          </a:p>
        </p:txBody>
      </p:sp>
      <p:sp>
        <p:nvSpPr>
          <p:cNvPr id="12" name="Rectangle 11"/>
          <p:cNvSpPr/>
          <p:nvPr/>
        </p:nvSpPr>
        <p:spPr>
          <a:xfrm>
            <a:off x="274320" y="622091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294062"/>
            <a:ext cx="5486400" cy="217662"/>
          </a:xfrm>
          <a:prstGeom prst="rect">
            <a:avLst/>
          </a:prstGeom>
          <a:noFill/>
        </p:spPr>
        <p:txBody>
          <a:bodyPr wrap="none">
            <a:spAutoFit/>
          </a:bodyPr>
          <a:lstStyle/>
          <a:p>
            <a:pPr>
              <a:defRPr b="1" sz="1047">
                <a:solidFill>
                  <a:srgbClr val="FF6400"/>
                </a:solidFill>
              </a:defRPr>
            </a:pPr>
            <a:r>
              <a:t>VALIDATION &amp; RISKS</a:t>
            </a:r>
          </a:p>
        </p:txBody>
      </p:sp>
      <p:sp>
        <p:nvSpPr>
          <p:cNvPr id="14" name="TextBox 13"/>
          <p:cNvSpPr txBox="1"/>
          <p:nvPr/>
        </p:nvSpPr>
        <p:spPr>
          <a:xfrm>
            <a:off x="274320" y="6511724"/>
            <a:ext cx="5486400" cy="1966640"/>
          </a:xfrm>
          <a:prstGeom prst="rect">
            <a:avLst/>
          </a:prstGeom>
          <a:noFill/>
        </p:spPr>
        <p:txBody>
          <a:bodyPr wrap="square">
            <a:spAutoFit/>
          </a:bodyPr>
          <a:lstStyle/>
          <a:p>
            <a:pPr>
              <a:defRPr sz="952">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47836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551517"/>
            <a:ext cx="5486400" cy="217662"/>
          </a:xfrm>
          <a:prstGeom prst="rect">
            <a:avLst/>
          </a:prstGeom>
          <a:noFill/>
        </p:spPr>
        <p:txBody>
          <a:bodyPr wrap="none">
            <a:spAutoFit/>
          </a:bodyPr>
          <a:lstStyle/>
          <a:p>
            <a:pPr>
              <a:defRPr b="1" sz="1047">
                <a:solidFill>
                  <a:srgbClr val="FF6400"/>
                </a:solidFill>
              </a:defRPr>
            </a:pPr>
            <a:r>
              <a:t>SUPPLY CHAIN</a:t>
            </a:r>
          </a:p>
        </p:txBody>
      </p:sp>
      <p:sp>
        <p:nvSpPr>
          <p:cNvPr id="17" name="TextBox 16"/>
          <p:cNvSpPr txBox="1"/>
          <p:nvPr/>
        </p:nvSpPr>
        <p:spPr>
          <a:xfrm>
            <a:off x="274320" y="8769179"/>
            <a:ext cx="5486400" cy="544923"/>
          </a:xfrm>
          <a:prstGeom prst="rect">
            <a:avLst/>
          </a:prstGeom>
          <a:noFill/>
        </p:spPr>
        <p:txBody>
          <a:bodyPr wrap="square">
            <a:spAutoFit/>
          </a:bodyPr>
          <a:lstStyle/>
          <a:p>
            <a:pPr>
              <a:defRPr sz="952">
                <a:solidFill>
                  <a:srgbClr val="333333"/>
                </a:solidFill>
              </a:defRPr>
            </a:pPr>
            <a:r>
              <a:t>• Supplier: Consolidation to single-source Tier 1</a:t>
            </a:r>
            <a:br/>
            <a:r>
              <a:t>• Tooling: 15% reduction in logistics overhead</a:t>
            </a:r>
          </a:p>
        </p:txBody>
      </p:sp>
      <p:sp>
        <p:nvSpPr>
          <p:cNvPr id="18" name="Rectangle 17"/>
          <p:cNvSpPr/>
          <p:nvPr/>
        </p:nvSpPr>
        <p:spPr>
          <a:xfrm>
            <a:off x="274320" y="931410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31089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217920" y="3383280"/>
            <a:ext cx="5699455" cy="1527048"/>
          </a:xfrm>
          <a:prstGeom prst="rect">
            <a:avLst/>
          </a:prstGeom>
          <a:ln w="12700">
            <a:solidFill>
              <a:srgbClr val="C8C8C8"/>
            </a:solidFill>
          </a:ln>
        </p:spPr>
      </p:pic>
      <p:sp>
        <p:nvSpPr>
          <p:cNvPr id="21" name="TextBox 20"/>
          <p:cNvSpPr txBox="1"/>
          <p:nvPr/>
        </p:nvSpPr>
        <p:spPr>
          <a:xfrm>
            <a:off x="6217920" y="47823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4.jpg"/>
          <p:cNvPicPr>
            <a:picLocks noChangeAspect="1"/>
          </p:cNvPicPr>
          <p:nvPr/>
        </p:nvPicPr>
        <p:blipFill>
          <a:blip r:embed="rId3"/>
          <a:stretch>
            <a:fillRect/>
          </a:stretch>
        </p:blipFill>
        <p:spPr>
          <a:xfrm>
            <a:off x="6217920" y="5056632"/>
            <a:ext cx="5699455" cy="1527048"/>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743200"/>
          </a:xfrm>
          <a:prstGeom prst="rect">
            <a:avLst/>
          </a:prstGeom>
          <a:noFill/>
        </p:spPr>
        <p:txBody>
          <a:bodyPr wrap="square">
            <a:spAutoFit/>
          </a:bodyPr>
          <a:lstStyle/>
          <a:p>
            <a:pPr>
              <a:defRPr sz="2400" b="1">
                <a:solidFill>
                  <a:srgbClr val="003366"/>
                </a:solidFill>
              </a:defRPr>
            </a:pPr>
            <a:r>
              <a:t>#6: Substitute the current front brake caliper mounting bracket material from forged steel to a high-strength cast aluminum alloy (e.g., A356-T6), leveraging existing tooling for casting where possible, and ensuring sufficient stiffness and thermal management.</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9260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154680"/>
            <a:ext cx="5486400" cy="961733"/>
          </a:xfrm>
          <a:prstGeom prst="rect">
            <a:avLst/>
          </a:prstGeom>
          <a:noFill/>
        </p:spPr>
        <p:txBody>
          <a:bodyPr wrap="square">
            <a:spAutoFit/>
          </a:bodyPr>
          <a:lstStyle/>
          <a:p>
            <a:pPr>
              <a:defRPr sz="1000">
                <a:solidFill>
                  <a:srgbClr val="333333"/>
                </a:solidFill>
              </a:defRPr>
            </a:pPr>
            <a:r>
              <a:t>Technical optimization of Substitute the current front brake caliper mounting bracket material from forged steel to a high-strength cast aluminum alloy (e.g., A356-T6), leveraging existing tooling for casting where possible, and ensuring sufficient stiffness and thermal management. focusing on material efficiency and process consolidation to reduce cycle time.</a:t>
            </a:r>
          </a:p>
        </p:txBody>
      </p:sp>
      <p:sp>
        <p:nvSpPr>
          <p:cNvPr id="6" name="Rectangle 5"/>
          <p:cNvSpPr/>
          <p:nvPr/>
        </p:nvSpPr>
        <p:spPr>
          <a:xfrm>
            <a:off x="274320" y="41164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18956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418165"/>
            <a:ext cx="5486400" cy="651913"/>
          </a:xfrm>
          <a:prstGeom prst="rect">
            <a:avLst/>
          </a:prstGeom>
          <a:noFill/>
        </p:spPr>
        <p:txBody>
          <a:bodyPr wrap="square">
            <a:spAutoFit/>
          </a:bodyPr>
          <a:lstStyle/>
          <a:p>
            <a:pPr>
              <a:defRPr sz="1000">
                <a:solidFill>
                  <a:srgbClr val="333333"/>
                </a:solidFill>
              </a:defRPr>
            </a:pPr>
            <a:r>
              <a:t>Substitute the current front brake caliper mounting bracket material from forged steel to a high-str</a:t>
            </a:r>
            <a:br/>
            <a:r>
              <a:t>N/A (Maintains current envelope)</a:t>
            </a:r>
          </a:p>
        </p:txBody>
      </p:sp>
      <p:sp>
        <p:nvSpPr>
          <p:cNvPr id="9" name="Rectangle 8"/>
          <p:cNvSpPr/>
          <p:nvPr/>
        </p:nvSpPr>
        <p:spPr>
          <a:xfrm>
            <a:off x="274320" y="50700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14323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371831"/>
            <a:ext cx="5486400" cy="441063"/>
          </a:xfrm>
          <a:prstGeom prst="rect">
            <a:avLst/>
          </a:prstGeom>
          <a:noFill/>
        </p:spPr>
        <p:txBody>
          <a:bodyPr wrap="square">
            <a:spAutoFit/>
          </a:bodyPr>
          <a:lstStyle/>
          <a:p>
            <a:pPr>
              <a:defRPr sz="1000">
                <a:solidFill>
                  <a:srgbClr val="333333"/>
                </a:solidFill>
              </a:defRPr>
            </a:pPr>
            <a:r>
              <a:t>Est. Saving: INR 2500000</a:t>
            </a:r>
            <a:br/>
            <a:r>
              <a:t>CAPEX: TBD</a:t>
            </a:r>
          </a:p>
        </p:txBody>
      </p:sp>
      <p:sp>
        <p:nvSpPr>
          <p:cNvPr id="12" name="Rectangle 11"/>
          <p:cNvSpPr/>
          <p:nvPr/>
        </p:nvSpPr>
        <p:spPr>
          <a:xfrm>
            <a:off x="274320" y="581289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88604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6114646"/>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1801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253266"/>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8481866"/>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905417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651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2926080"/>
            <a:ext cx="5699455" cy="1755648"/>
          </a:xfrm>
          <a:prstGeom prst="rect">
            <a:avLst/>
          </a:prstGeom>
          <a:ln w="12700">
            <a:solidFill>
              <a:srgbClr val="C8C8C8"/>
            </a:solidFill>
          </a:ln>
        </p:spPr>
      </p:pic>
      <p:sp>
        <p:nvSpPr>
          <p:cNvPr id="21" name="TextBox 20"/>
          <p:cNvSpPr txBox="1"/>
          <p:nvPr/>
        </p:nvSpPr>
        <p:spPr>
          <a:xfrm>
            <a:off x="6217920" y="4553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04.jpg"/>
          <p:cNvPicPr>
            <a:picLocks noChangeAspect="1"/>
          </p:cNvPicPr>
          <p:nvPr/>
        </p:nvPicPr>
        <p:blipFill>
          <a:blip r:embed="rId3"/>
          <a:stretch>
            <a:fillRect/>
          </a:stretch>
        </p:blipFill>
        <p:spPr>
          <a:xfrm>
            <a:off x="6217920" y="4828032"/>
            <a:ext cx="5699455" cy="1755648"/>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#7: Optimize the brake dust shield design for the rear wheels by reducing material thickness from 1.2mm to 1.0mm and simplifying the stamping geometry without compromising dust and water ingress protection.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45551"/>
          </a:xfrm>
          <a:prstGeom prst="rect">
            <a:avLst/>
          </a:prstGeom>
          <a:noFill/>
        </p:spPr>
        <p:txBody>
          <a:bodyPr wrap="square">
            <a:spAutoFit/>
          </a:bodyPr>
          <a:lstStyle/>
          <a:p>
            <a:pPr>
              <a:defRPr sz="1000">
                <a:solidFill>
                  <a:srgbClr val="333333"/>
                </a:solidFill>
              </a:defRPr>
            </a:pPr>
            <a:r>
              <a:t>Technical optimization of Optimize the brake dust shield design for the rear wheels by reducing material thickness from 1.2mm to 1.0mm and simplifying the stamping geometry without compromising dust and water ingress protection. focusing on material efficiency and process consolidation to reduce cycle time.</a:t>
            </a:r>
          </a:p>
        </p:txBody>
      </p:sp>
      <p:sp>
        <p:nvSpPr>
          <p:cNvPr id="6" name="Rectangle 5"/>
          <p:cNvSpPr/>
          <p:nvPr/>
        </p:nvSpPr>
        <p:spPr>
          <a:xfrm>
            <a:off x="274320" y="35430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61618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44783"/>
            <a:ext cx="5486400" cy="602428"/>
          </a:xfrm>
          <a:prstGeom prst="rect">
            <a:avLst/>
          </a:prstGeom>
          <a:noFill/>
        </p:spPr>
        <p:txBody>
          <a:bodyPr wrap="square">
            <a:spAutoFit/>
          </a:bodyPr>
          <a:lstStyle/>
          <a:p>
            <a:pPr>
              <a:defRPr sz="1000">
                <a:solidFill>
                  <a:srgbClr val="333333"/>
                </a:solidFill>
              </a:defRPr>
            </a:pPr>
            <a:r>
              <a:t>Optimize the brake dust shield design for the rear wheels by reducing material thickness from 1</a:t>
            </a:r>
            <a:br/>
            <a:r>
              <a:t>1.2mm to 1.0mm</a:t>
            </a:r>
          </a:p>
        </p:txBody>
      </p:sp>
      <p:sp>
        <p:nvSpPr>
          <p:cNvPr id="9" name="Rectangle 8"/>
          <p:cNvSpPr/>
          <p:nvPr/>
        </p:nvSpPr>
        <p:spPr>
          <a:xfrm>
            <a:off x="274320" y="44472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52036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748963"/>
            <a:ext cx="5486400" cy="438912"/>
          </a:xfrm>
          <a:prstGeom prst="rect">
            <a:avLst/>
          </a:prstGeom>
          <a:noFill/>
        </p:spPr>
        <p:txBody>
          <a:bodyPr wrap="square">
            <a:spAutoFit/>
          </a:bodyPr>
          <a:lstStyle/>
          <a:p>
            <a:pPr>
              <a:defRPr sz="1000">
                <a:solidFill>
                  <a:srgbClr val="333333"/>
                </a:solidFill>
              </a:defRPr>
            </a:pPr>
            <a:r>
              <a:t>Est. Saving: INR 500000</a:t>
            </a:r>
            <a:br/>
            <a:r>
              <a:t>CAPEX: TBD</a:t>
            </a:r>
          </a:p>
        </p:txBody>
      </p:sp>
      <p:sp>
        <p:nvSpPr>
          <p:cNvPr id="12" name="Rectangle 11"/>
          <p:cNvSpPr/>
          <p:nvPr/>
        </p:nvSpPr>
        <p:spPr>
          <a:xfrm>
            <a:off x="274320" y="518787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261027"/>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489627"/>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55509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62824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856847"/>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42915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3.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#8: Implement a single-piece cast iron caliper for the rear brake assemblies, eliminating the need for separate bridge bolts and seals, thereby reducing assembly complexity and potential leak paths.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28338"/>
          </a:xfrm>
          <a:prstGeom prst="rect">
            <a:avLst/>
          </a:prstGeom>
          <a:noFill/>
        </p:spPr>
        <p:txBody>
          <a:bodyPr wrap="square">
            <a:spAutoFit/>
          </a:bodyPr>
          <a:lstStyle/>
          <a:p>
            <a:pPr>
              <a:defRPr sz="1000">
                <a:solidFill>
                  <a:srgbClr val="333333"/>
                </a:solidFill>
              </a:defRPr>
            </a:pPr>
            <a:r>
              <a:t>Technical optimization of Implement a single-piece cast iron caliper for the rear brake assemblies, eliminating the need for separate bridge bolts and seals, thereby reducing assembly complexity and potential leak paths. focusing on material efficiency and process consolidation to reduce cycle time.</a:t>
            </a:r>
          </a:p>
        </p:txBody>
      </p:sp>
      <p:sp>
        <p:nvSpPr>
          <p:cNvPr id="6" name="Rectangle 5"/>
          <p:cNvSpPr/>
          <p:nvPr/>
        </p:nvSpPr>
        <p:spPr>
          <a:xfrm>
            <a:off x="274320" y="352581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59897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27570"/>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436115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43430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662902"/>
            <a:ext cx="5486400" cy="441063"/>
          </a:xfrm>
          <a:prstGeom prst="rect">
            <a:avLst/>
          </a:prstGeom>
          <a:noFill/>
        </p:spPr>
        <p:txBody>
          <a:bodyPr wrap="square">
            <a:spAutoFit/>
          </a:bodyPr>
          <a:lstStyle/>
          <a:p>
            <a:pPr>
              <a:defRPr sz="1000">
                <a:solidFill>
                  <a:srgbClr val="333333"/>
                </a:solidFill>
              </a:defRPr>
            </a:pPr>
            <a:r>
              <a:t>Est. Saving: INR 1800000</a:t>
            </a:r>
            <a:br/>
            <a:r>
              <a:t>CAPEX: TBD</a:t>
            </a:r>
          </a:p>
        </p:txBody>
      </p:sp>
      <p:sp>
        <p:nvSpPr>
          <p:cNvPr id="12" name="Rectangle 11"/>
          <p:cNvSpPr/>
          <p:nvPr/>
        </p:nvSpPr>
        <p:spPr>
          <a:xfrm>
            <a:off x="274320" y="510396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177117"/>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405717"/>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47118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54433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772937"/>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34524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5.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6.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743200"/>
          </a:xfrm>
          <a:prstGeom prst="rect">
            <a:avLst/>
          </a:prstGeom>
          <a:noFill/>
        </p:spPr>
        <p:txBody>
          <a:bodyPr wrap="square">
            <a:spAutoFit/>
          </a:bodyPr>
          <a:lstStyle/>
          <a:p>
            <a:pPr>
              <a:defRPr sz="2400" b="1">
                <a:solidFill>
                  <a:srgbClr val="003366"/>
                </a:solidFill>
              </a:defRPr>
            </a:pPr>
            <a:r>
              <a:t>#9: Reduce the rotor thickness for the front brake assemblies by 1mm (e.g., from 28mm to 27mm) and compensate for potential thermal mass reduction by increasing the rotor diameter by 5mm. This maintains braking performance while reducing material cost.</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9260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154680"/>
            <a:ext cx="5486400" cy="944521"/>
          </a:xfrm>
          <a:prstGeom prst="rect">
            <a:avLst/>
          </a:prstGeom>
          <a:noFill/>
        </p:spPr>
        <p:txBody>
          <a:bodyPr wrap="square">
            <a:spAutoFit/>
          </a:bodyPr>
          <a:lstStyle/>
          <a:p>
            <a:pPr>
              <a:defRPr sz="1000">
                <a:solidFill>
                  <a:srgbClr val="333333"/>
                </a:solidFill>
              </a:defRPr>
            </a:pPr>
            <a:r>
              <a:t>Technical optimization of Reduce the rotor thickness for the front brake assemblies by 1mm (e.g., from 28mm to 27mm) and compensate for potential thermal mass reduction by increasing the rotor diameter by 5mm. This maintains braking performance while reducing material cost. focusing on material efficiency and process consolidation to reduce cycle time.</a:t>
            </a:r>
          </a:p>
        </p:txBody>
      </p:sp>
      <p:sp>
        <p:nvSpPr>
          <p:cNvPr id="6" name="Rectangle 5"/>
          <p:cNvSpPr/>
          <p:nvPr/>
        </p:nvSpPr>
        <p:spPr>
          <a:xfrm>
            <a:off x="274320" y="40992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1723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400953"/>
            <a:ext cx="5486400" cy="563700"/>
          </a:xfrm>
          <a:prstGeom prst="rect">
            <a:avLst/>
          </a:prstGeom>
          <a:noFill/>
        </p:spPr>
        <p:txBody>
          <a:bodyPr wrap="square">
            <a:spAutoFit/>
          </a:bodyPr>
          <a:lstStyle/>
          <a:p>
            <a:pPr>
              <a:defRPr sz="1000">
                <a:solidFill>
                  <a:srgbClr val="333333"/>
                </a:solidFill>
              </a:defRPr>
            </a:pPr>
            <a:r>
              <a:t>This maintains braking performance while reducing material cost</a:t>
            </a:r>
            <a:br/>
            <a:r>
              <a:t>1mm (e.g., from 28mm to 27mm</a:t>
            </a:r>
          </a:p>
        </p:txBody>
      </p:sp>
      <p:sp>
        <p:nvSpPr>
          <p:cNvPr id="9" name="Rectangle 8"/>
          <p:cNvSpPr/>
          <p:nvPr/>
        </p:nvSpPr>
        <p:spPr>
          <a:xfrm>
            <a:off x="274320" y="496465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03780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266406"/>
            <a:ext cx="5486400" cy="441063"/>
          </a:xfrm>
          <a:prstGeom prst="rect">
            <a:avLst/>
          </a:prstGeom>
          <a:noFill/>
        </p:spPr>
        <p:txBody>
          <a:bodyPr wrap="square">
            <a:spAutoFit/>
          </a:bodyPr>
          <a:lstStyle/>
          <a:p>
            <a:pPr>
              <a:defRPr sz="1000">
                <a:solidFill>
                  <a:srgbClr val="333333"/>
                </a:solidFill>
              </a:defRPr>
            </a:pPr>
            <a:r>
              <a:t>Est. Saving: INR 1200000</a:t>
            </a:r>
            <a:br/>
            <a:r>
              <a:t>CAPEX: TBD</a:t>
            </a:r>
          </a:p>
        </p:txBody>
      </p:sp>
      <p:sp>
        <p:nvSpPr>
          <p:cNvPr id="12" name="Rectangle 11"/>
          <p:cNvSpPr/>
          <p:nvPr/>
        </p:nvSpPr>
        <p:spPr>
          <a:xfrm>
            <a:off x="274320" y="57074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78062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6009221"/>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07468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14784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8376441"/>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94874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651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0.jpg"/>
          <p:cNvPicPr>
            <a:picLocks noChangeAspect="1"/>
          </p:cNvPicPr>
          <p:nvPr/>
        </p:nvPicPr>
        <p:blipFill>
          <a:blip r:embed="rId2"/>
          <a:stretch>
            <a:fillRect/>
          </a:stretch>
        </p:blipFill>
        <p:spPr>
          <a:xfrm>
            <a:off x="6217920" y="2926080"/>
            <a:ext cx="5699455" cy="1755648"/>
          </a:xfrm>
          <a:prstGeom prst="rect">
            <a:avLst/>
          </a:prstGeom>
          <a:ln w="12700">
            <a:solidFill>
              <a:srgbClr val="C8C8C8"/>
            </a:solidFill>
          </a:ln>
        </p:spPr>
      </p:pic>
      <p:sp>
        <p:nvSpPr>
          <p:cNvPr id="21" name="TextBox 20"/>
          <p:cNvSpPr txBox="1"/>
          <p:nvPr/>
        </p:nvSpPr>
        <p:spPr>
          <a:xfrm>
            <a:off x="6217920" y="4553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04.jpg"/>
          <p:cNvPicPr>
            <a:picLocks noChangeAspect="1"/>
          </p:cNvPicPr>
          <p:nvPr/>
        </p:nvPicPr>
        <p:blipFill>
          <a:blip r:embed="rId3"/>
          <a:stretch>
            <a:fillRect/>
          </a:stretch>
        </p:blipFill>
        <p:spPr>
          <a:xfrm>
            <a:off x="6217920" y="4828032"/>
            <a:ext cx="5699455" cy="1755648"/>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743200"/>
          </a:xfrm>
          <a:prstGeom prst="rect">
            <a:avLst/>
          </a:prstGeom>
          <a:noFill/>
        </p:spPr>
        <p:txBody>
          <a:bodyPr wrap="square">
            <a:spAutoFit/>
          </a:bodyPr>
          <a:lstStyle/>
          <a:p>
            <a:pPr>
              <a:defRPr sz="2400" b="1">
                <a:solidFill>
                  <a:srgbClr val="003366"/>
                </a:solidFill>
              </a:defRPr>
            </a:pPr>
            <a:r>
              <a:t>#10: Utilize a 'floating' caliper design for the rear brake assemblies, which is typically less expensive to manufacture than fixed calipers, by optimizing the guide pin and caliper housing for stiffness and thermal management.</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9260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154680"/>
            <a:ext cx="5486400" cy="888581"/>
          </a:xfrm>
          <a:prstGeom prst="rect">
            <a:avLst/>
          </a:prstGeom>
          <a:noFill/>
        </p:spPr>
        <p:txBody>
          <a:bodyPr wrap="square">
            <a:spAutoFit/>
          </a:bodyPr>
          <a:lstStyle/>
          <a:p>
            <a:pPr>
              <a:defRPr sz="1000">
                <a:solidFill>
                  <a:srgbClr val="333333"/>
                </a:solidFill>
              </a:defRPr>
            </a:pPr>
            <a:r>
              <a:t>Technical optimization of Utilize a 'floating' caliper design for the rear brake assemblies, which is typically less expensive to manufacture than fixed calipers, by optimizing the guide pin and caliper housing for stiffness and thermal management. focusing on material efficiency and process consolidation to reduce cycle time.</a:t>
            </a:r>
          </a:p>
        </p:txBody>
      </p:sp>
      <p:sp>
        <p:nvSpPr>
          <p:cNvPr id="6" name="Rectangle 5"/>
          <p:cNvSpPr/>
          <p:nvPr/>
        </p:nvSpPr>
        <p:spPr>
          <a:xfrm>
            <a:off x="274320" y="404326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11641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345013"/>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487859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95174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180344"/>
            <a:ext cx="5486400" cy="441063"/>
          </a:xfrm>
          <a:prstGeom prst="rect">
            <a:avLst/>
          </a:prstGeom>
          <a:noFill/>
        </p:spPr>
        <p:txBody>
          <a:bodyPr wrap="square">
            <a:spAutoFit/>
          </a:bodyPr>
          <a:lstStyle/>
          <a:p>
            <a:pPr>
              <a:defRPr sz="1000">
                <a:solidFill>
                  <a:srgbClr val="333333"/>
                </a:solidFill>
              </a:defRPr>
            </a:pPr>
            <a:r>
              <a:t>Est. Saving: INR 1700000</a:t>
            </a:r>
            <a:br/>
            <a:r>
              <a:t>CAPEX: TBD</a:t>
            </a:r>
          </a:p>
        </p:txBody>
      </p:sp>
      <p:sp>
        <p:nvSpPr>
          <p:cNvPr id="12" name="Rectangle 11"/>
          <p:cNvSpPr/>
          <p:nvPr/>
        </p:nvSpPr>
        <p:spPr>
          <a:xfrm>
            <a:off x="274320" y="56214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69456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923160"/>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9886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06178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8290380"/>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8626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651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2.jpg"/>
          <p:cNvPicPr>
            <a:picLocks noChangeAspect="1"/>
          </p:cNvPicPr>
          <p:nvPr/>
        </p:nvPicPr>
        <p:blipFill>
          <a:blip r:embed="rId2"/>
          <a:stretch>
            <a:fillRect/>
          </a:stretch>
        </p:blipFill>
        <p:spPr>
          <a:xfrm>
            <a:off x="6217920" y="2926080"/>
            <a:ext cx="5699455" cy="1755648"/>
          </a:xfrm>
          <a:prstGeom prst="rect">
            <a:avLst/>
          </a:prstGeom>
          <a:ln w="12700">
            <a:solidFill>
              <a:srgbClr val="C8C8C8"/>
            </a:solidFill>
          </a:ln>
        </p:spPr>
      </p:pic>
      <p:sp>
        <p:nvSpPr>
          <p:cNvPr id="21" name="TextBox 20"/>
          <p:cNvSpPr txBox="1"/>
          <p:nvPr/>
        </p:nvSpPr>
        <p:spPr>
          <a:xfrm>
            <a:off x="6217920" y="4553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6.jpg"/>
          <p:cNvPicPr>
            <a:picLocks noChangeAspect="1"/>
          </p:cNvPicPr>
          <p:nvPr/>
        </p:nvPicPr>
        <p:blipFill>
          <a:blip r:embed="rId3"/>
          <a:stretch>
            <a:fillRect/>
          </a:stretch>
        </p:blipFill>
        <p:spPr>
          <a:xfrm>
            <a:off x="6217920" y="4828032"/>
            <a:ext cx="5699455" cy="1755648"/>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00400"/>
          </a:xfrm>
          <a:prstGeom prst="rect">
            <a:avLst/>
          </a:prstGeom>
          <a:noFill/>
        </p:spPr>
        <p:txBody>
          <a:bodyPr wrap="square">
            <a:spAutoFit/>
          </a:bodyPr>
          <a:lstStyle/>
          <a:p>
            <a:pPr>
              <a:defRPr sz="2400" b="1">
                <a:solidFill>
                  <a:srgbClr val="003366"/>
                </a:solidFill>
              </a:defRPr>
            </a:pPr>
            <a:r>
              <a:t>#11: Replace the standard rubber brake hoses for the rear axle with braided stainless steel hoses. While initial cost might be slightly higher, it offers increased durability, resistance to expansion under pressure, and improved pedal feel, potentially reducing warranty claims.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3383280"/>
            <a:ext cx="5486400" cy="222213"/>
          </a:xfrm>
          <a:prstGeom prst="rect">
            <a:avLst/>
          </a:prstGeom>
          <a:noFill/>
        </p:spPr>
        <p:txBody>
          <a:bodyPr wrap="none">
            <a:spAutoFit/>
          </a:bodyPr>
          <a:lstStyle/>
          <a:p>
            <a:pPr>
              <a:defRPr b="1" sz="1069">
                <a:solidFill>
                  <a:srgbClr val="FF6400"/>
                </a:solidFill>
              </a:defRPr>
            </a:pPr>
            <a:r>
              <a:t>TECHNICAL ENGINEERING VIEW</a:t>
            </a:r>
          </a:p>
        </p:txBody>
      </p:sp>
      <p:sp>
        <p:nvSpPr>
          <p:cNvPr id="5" name="TextBox 4"/>
          <p:cNvSpPr txBox="1"/>
          <p:nvPr/>
        </p:nvSpPr>
        <p:spPr>
          <a:xfrm>
            <a:off x="274320" y="3605493"/>
            <a:ext cx="5486400" cy="970420"/>
          </a:xfrm>
          <a:prstGeom prst="rect">
            <a:avLst/>
          </a:prstGeom>
          <a:noFill/>
        </p:spPr>
        <p:txBody>
          <a:bodyPr wrap="square">
            <a:spAutoFit/>
          </a:bodyPr>
          <a:lstStyle/>
          <a:p>
            <a:pPr>
              <a:defRPr sz="972">
                <a:solidFill>
                  <a:srgbClr val="333333"/>
                </a:solidFill>
              </a:defRPr>
            </a:pPr>
            <a:r>
              <a:t>Technical optimization of Replace the standard rubber brake hoses for the rear axle with braided stainless steel hoses. While initial cost might be slightly higher, it offers increased durability, resistance to expansion under pressure, and improved pedal feel, potentially reducing warranty claims. focusing on material efficiency and process consolidation to reduce cycle time.</a:t>
            </a:r>
          </a:p>
        </p:txBody>
      </p:sp>
      <p:sp>
        <p:nvSpPr>
          <p:cNvPr id="6" name="Rectangle 5"/>
          <p:cNvSpPr/>
          <p:nvPr/>
        </p:nvSpPr>
        <p:spPr>
          <a:xfrm>
            <a:off x="274320" y="45759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649065"/>
            <a:ext cx="5486400" cy="222213"/>
          </a:xfrm>
          <a:prstGeom prst="rect">
            <a:avLst/>
          </a:prstGeom>
          <a:noFill/>
        </p:spPr>
        <p:txBody>
          <a:bodyPr wrap="none">
            <a:spAutoFit/>
          </a:bodyPr>
          <a:lstStyle/>
          <a:p>
            <a:pPr>
              <a:defRPr b="1" sz="1069">
                <a:solidFill>
                  <a:srgbClr val="FF6400"/>
                </a:solidFill>
              </a:defRPr>
            </a:pPr>
            <a:r>
              <a:t>MATERIAL &amp; DIMENSION SWAP</a:t>
            </a:r>
          </a:p>
        </p:txBody>
      </p:sp>
      <p:sp>
        <p:nvSpPr>
          <p:cNvPr id="8" name="TextBox 7"/>
          <p:cNvSpPr txBox="1"/>
          <p:nvPr/>
        </p:nvSpPr>
        <p:spPr>
          <a:xfrm>
            <a:off x="274320" y="4871279"/>
            <a:ext cx="5486400" cy="616969"/>
          </a:xfrm>
          <a:prstGeom prst="rect">
            <a:avLst/>
          </a:prstGeom>
          <a:noFill/>
        </p:spPr>
        <p:txBody>
          <a:bodyPr wrap="square">
            <a:spAutoFit/>
          </a:bodyPr>
          <a:lstStyle/>
          <a:p>
            <a:pPr>
              <a:defRPr sz="972">
                <a:solidFill>
                  <a:srgbClr val="333333"/>
                </a:solidFill>
              </a:defRPr>
            </a:pPr>
            <a:r>
              <a:t>Replace the standard rubber brake hoses for the rear axle with braided stainless steel hoses</a:t>
            </a:r>
            <a:br/>
            <a:r>
              <a:t>N/A (Maintains current envelope)</a:t>
            </a:r>
          </a:p>
        </p:txBody>
      </p:sp>
      <p:sp>
        <p:nvSpPr>
          <p:cNvPr id="9" name="Rectangle 8"/>
          <p:cNvSpPr/>
          <p:nvPr/>
        </p:nvSpPr>
        <p:spPr>
          <a:xfrm>
            <a:off x="274320" y="54882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561401"/>
            <a:ext cx="5486400" cy="222213"/>
          </a:xfrm>
          <a:prstGeom prst="rect">
            <a:avLst/>
          </a:prstGeom>
          <a:noFill/>
        </p:spPr>
        <p:txBody>
          <a:bodyPr wrap="none">
            <a:spAutoFit/>
          </a:bodyPr>
          <a:lstStyle/>
          <a:p>
            <a:pPr>
              <a:defRPr b="1" sz="1069">
                <a:solidFill>
                  <a:srgbClr val="FF6400"/>
                </a:solidFill>
              </a:defRPr>
            </a:pPr>
            <a:r>
              <a:t>FINANCIAL IMPACT</a:t>
            </a:r>
          </a:p>
        </p:txBody>
      </p:sp>
      <p:sp>
        <p:nvSpPr>
          <p:cNvPr id="11" name="TextBox 10"/>
          <p:cNvSpPr txBox="1"/>
          <p:nvPr/>
        </p:nvSpPr>
        <p:spPr>
          <a:xfrm>
            <a:off x="274320" y="5783615"/>
            <a:ext cx="5486400" cy="426650"/>
          </a:xfrm>
          <a:prstGeom prst="rect">
            <a:avLst/>
          </a:prstGeom>
          <a:noFill/>
        </p:spPr>
        <p:txBody>
          <a:bodyPr wrap="square">
            <a:spAutoFit/>
          </a:bodyPr>
          <a:lstStyle/>
          <a:p>
            <a:pPr>
              <a:defRPr sz="972">
                <a:solidFill>
                  <a:srgbClr val="333333"/>
                </a:solidFill>
              </a:defRPr>
            </a:pPr>
            <a:r>
              <a:t>Est. Saving: INR 300000</a:t>
            </a:r>
            <a:br/>
            <a:r>
              <a:t>CAPEX: TBD</a:t>
            </a:r>
          </a:p>
        </p:txBody>
      </p:sp>
      <p:sp>
        <p:nvSpPr>
          <p:cNvPr id="12" name="Rectangle 11"/>
          <p:cNvSpPr/>
          <p:nvPr/>
        </p:nvSpPr>
        <p:spPr>
          <a:xfrm>
            <a:off x="274320" y="621026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283417"/>
            <a:ext cx="5486400" cy="222213"/>
          </a:xfrm>
          <a:prstGeom prst="rect">
            <a:avLst/>
          </a:prstGeom>
          <a:noFill/>
        </p:spPr>
        <p:txBody>
          <a:bodyPr wrap="none">
            <a:spAutoFit/>
          </a:bodyPr>
          <a:lstStyle/>
          <a:p>
            <a:pPr>
              <a:defRPr b="1" sz="1069">
                <a:solidFill>
                  <a:srgbClr val="FF6400"/>
                </a:solidFill>
              </a:defRPr>
            </a:pPr>
            <a:r>
              <a:t>VALIDATION &amp; RISKS</a:t>
            </a:r>
          </a:p>
        </p:txBody>
      </p:sp>
      <p:sp>
        <p:nvSpPr>
          <p:cNvPr id="14" name="TextBox 13"/>
          <p:cNvSpPr txBox="1"/>
          <p:nvPr/>
        </p:nvSpPr>
        <p:spPr>
          <a:xfrm>
            <a:off x="274320" y="6505631"/>
            <a:ext cx="5486400" cy="2007766"/>
          </a:xfrm>
          <a:prstGeom prst="rect">
            <a:avLst/>
          </a:prstGeom>
          <a:noFill/>
        </p:spPr>
        <p:txBody>
          <a:bodyPr wrap="square">
            <a:spAutoFit/>
          </a:bodyPr>
          <a:lstStyle/>
          <a:p>
            <a:pPr>
              <a:defRPr sz="972">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5133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586549"/>
            <a:ext cx="5486400" cy="222213"/>
          </a:xfrm>
          <a:prstGeom prst="rect">
            <a:avLst/>
          </a:prstGeom>
          <a:noFill/>
        </p:spPr>
        <p:txBody>
          <a:bodyPr wrap="none">
            <a:spAutoFit/>
          </a:bodyPr>
          <a:lstStyle/>
          <a:p>
            <a:pPr>
              <a:defRPr b="1" sz="1069">
                <a:solidFill>
                  <a:srgbClr val="FF6400"/>
                </a:solidFill>
              </a:defRPr>
            </a:pPr>
            <a:r>
              <a:t>SUPPLY CHAIN</a:t>
            </a:r>
          </a:p>
        </p:txBody>
      </p:sp>
      <p:sp>
        <p:nvSpPr>
          <p:cNvPr id="17" name="TextBox 16"/>
          <p:cNvSpPr txBox="1"/>
          <p:nvPr/>
        </p:nvSpPr>
        <p:spPr>
          <a:xfrm>
            <a:off x="274320" y="8808762"/>
            <a:ext cx="5486400" cy="556318"/>
          </a:xfrm>
          <a:prstGeom prst="rect">
            <a:avLst/>
          </a:prstGeom>
          <a:noFill/>
        </p:spPr>
        <p:txBody>
          <a:bodyPr wrap="square">
            <a:spAutoFit/>
          </a:bodyPr>
          <a:lstStyle/>
          <a:p>
            <a:pPr>
              <a:defRPr sz="972">
                <a:solidFill>
                  <a:srgbClr val="333333"/>
                </a:solidFill>
              </a:defRPr>
            </a:pPr>
            <a:r>
              <a:t>• Supplier: Consolidation to single-source Tier 1</a:t>
            </a:r>
            <a:br/>
            <a:r>
              <a:t>• Tooling: 15% reduction in logistics overhead</a:t>
            </a:r>
          </a:p>
        </p:txBody>
      </p:sp>
      <p:sp>
        <p:nvSpPr>
          <p:cNvPr id="18" name="Rectangle 17"/>
          <p:cNvSpPr/>
          <p:nvPr/>
        </p:nvSpPr>
        <p:spPr>
          <a:xfrm>
            <a:off x="274320" y="936508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31089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jpg"/>
          <p:cNvPicPr>
            <a:picLocks noChangeAspect="1"/>
          </p:cNvPicPr>
          <p:nvPr/>
        </p:nvPicPr>
        <p:blipFill>
          <a:blip r:embed="rId2"/>
          <a:stretch>
            <a:fillRect/>
          </a:stretch>
        </p:blipFill>
        <p:spPr>
          <a:xfrm>
            <a:off x="6217920" y="3383280"/>
            <a:ext cx="5699455" cy="1527048"/>
          </a:xfrm>
          <a:prstGeom prst="rect">
            <a:avLst/>
          </a:prstGeom>
          <a:ln w="12700">
            <a:solidFill>
              <a:srgbClr val="C8C8C8"/>
            </a:solidFill>
          </a:ln>
        </p:spPr>
      </p:pic>
      <p:sp>
        <p:nvSpPr>
          <p:cNvPr id="21" name="TextBox 20"/>
          <p:cNvSpPr txBox="1"/>
          <p:nvPr/>
        </p:nvSpPr>
        <p:spPr>
          <a:xfrm>
            <a:off x="6217920" y="47823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09.jpg"/>
          <p:cNvPicPr>
            <a:picLocks noChangeAspect="1"/>
          </p:cNvPicPr>
          <p:nvPr/>
        </p:nvPicPr>
        <p:blipFill>
          <a:blip r:embed="rId3"/>
          <a:stretch>
            <a:fillRect/>
          </a:stretch>
        </p:blipFill>
        <p:spPr>
          <a:xfrm>
            <a:off x="6217920" y="5056632"/>
            <a:ext cx="5699455" cy="1527048"/>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5029200"/>
          </a:xfrm>
          <a:prstGeom prst="rect">
            <a:avLst/>
          </a:prstGeom>
          <a:noFill/>
        </p:spPr>
        <p:txBody>
          <a:bodyPr wrap="square">
            <a:spAutoFit/>
          </a:bodyPr>
          <a:lstStyle/>
          <a:p>
            <a:pPr>
              <a:defRPr sz="2400" b="1">
                <a:solidFill>
                  <a:srgbClr val="003366"/>
                </a:solidFill>
              </a:defRPr>
            </a:pPr>
            <a:r>
              <a:t>#12: Investigate the use of a higher-performance, yet cost-effective, friction material for brake pads that offers comparable or improved fade resistance and wear characteristics to current OEM specifications, while potentially reducing material cost per unit. This would involve exploring advanced composites or ceramic-based formulations. The dust shield gauge can be optimized to a lighter material if the friction material generates less particulate matter and heat.</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5212080"/>
            <a:ext cx="5486400" cy="137160"/>
          </a:xfrm>
          <a:prstGeom prst="rect">
            <a:avLst/>
          </a:prstGeom>
          <a:noFill/>
        </p:spPr>
        <p:txBody>
          <a:bodyPr wrap="none">
            <a:spAutoFit/>
          </a:bodyPr>
          <a:lstStyle/>
          <a:p>
            <a:pPr>
              <a:defRPr b="1" sz="700">
                <a:solidFill>
                  <a:srgbClr val="FF6400"/>
                </a:solidFill>
              </a:defRPr>
            </a:pPr>
            <a:r>
              <a:t>TECHNICAL ENGINEERING VIEW</a:t>
            </a:r>
          </a:p>
        </p:txBody>
      </p:sp>
      <p:sp>
        <p:nvSpPr>
          <p:cNvPr id="5" name="TextBox 4"/>
          <p:cNvSpPr txBox="1"/>
          <p:nvPr/>
        </p:nvSpPr>
        <p:spPr>
          <a:xfrm>
            <a:off x="274320" y="5349240"/>
            <a:ext cx="5486400" cy="846841"/>
          </a:xfrm>
          <a:prstGeom prst="rect">
            <a:avLst/>
          </a:prstGeom>
          <a:noFill/>
        </p:spPr>
        <p:txBody>
          <a:bodyPr wrap="square">
            <a:spAutoFit/>
          </a:bodyPr>
          <a:lstStyle/>
          <a:p>
            <a:pPr>
              <a:defRPr sz="600">
                <a:solidFill>
                  <a:srgbClr val="333333"/>
                </a:solidFill>
              </a:defRPr>
            </a:pPr>
            <a:r>
              <a:t>Technical optimization of Investigate the use of a higher-performance, yet cost-effective, friction material for brake pads that offers comparable or improved fade resistance and wear characteristics to current OEM specifications, while potentially reducing material cost per unit. This would involve exploring advanced composites or ceramic-based formulations. The dust shield gauge can be optimized to a lighter material if the friction material generates less particulate matter and heat. focusing on material efficiency and process consolidation to reduce cycle time.</a:t>
            </a:r>
          </a:p>
        </p:txBody>
      </p:sp>
      <p:sp>
        <p:nvSpPr>
          <p:cNvPr id="6" name="Rectangle 5"/>
          <p:cNvSpPr/>
          <p:nvPr/>
        </p:nvSpPr>
        <p:spPr>
          <a:xfrm>
            <a:off x="274320" y="619608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269233"/>
            <a:ext cx="5486400" cy="137160"/>
          </a:xfrm>
          <a:prstGeom prst="rect">
            <a:avLst/>
          </a:prstGeom>
          <a:noFill/>
        </p:spPr>
        <p:txBody>
          <a:bodyPr wrap="none">
            <a:spAutoFit/>
          </a:bodyPr>
          <a:lstStyle/>
          <a:p>
            <a:pPr>
              <a:defRPr b="1" sz="700">
                <a:solidFill>
                  <a:srgbClr val="FF6400"/>
                </a:solidFill>
              </a:defRPr>
            </a:pPr>
            <a:r>
              <a:t>MATERIAL &amp; DIMENSION SWAP</a:t>
            </a:r>
          </a:p>
        </p:txBody>
      </p:sp>
      <p:sp>
        <p:nvSpPr>
          <p:cNvPr id="8" name="TextBox 7"/>
          <p:cNvSpPr txBox="1"/>
          <p:nvPr/>
        </p:nvSpPr>
        <p:spPr>
          <a:xfrm>
            <a:off x="274320" y="6406393"/>
            <a:ext cx="5486400" cy="391148"/>
          </a:xfrm>
          <a:prstGeom prst="rect">
            <a:avLst/>
          </a:prstGeom>
          <a:noFill/>
        </p:spPr>
        <p:txBody>
          <a:bodyPr wrap="square">
            <a:spAutoFit/>
          </a:bodyPr>
          <a:lstStyle/>
          <a:p>
            <a:pPr>
              <a:defRPr sz="600">
                <a:solidFill>
                  <a:srgbClr val="333333"/>
                </a:solidFill>
              </a:defRPr>
            </a:pPr>
            <a:r>
              <a:t>Investigate the use of a higher-performance, yet cost-effective, friction material for brake pads th</a:t>
            </a:r>
            <a:br/>
            <a:r>
              <a:t>N/A (Maintains current envelope)</a:t>
            </a:r>
          </a:p>
        </p:txBody>
      </p:sp>
      <p:sp>
        <p:nvSpPr>
          <p:cNvPr id="9" name="Rectangle 8"/>
          <p:cNvSpPr/>
          <p:nvPr/>
        </p:nvSpPr>
        <p:spPr>
          <a:xfrm>
            <a:off x="274320" y="67975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870694"/>
            <a:ext cx="5486400" cy="137160"/>
          </a:xfrm>
          <a:prstGeom prst="rect">
            <a:avLst/>
          </a:prstGeom>
          <a:noFill/>
        </p:spPr>
        <p:txBody>
          <a:bodyPr wrap="none">
            <a:spAutoFit/>
          </a:bodyPr>
          <a:lstStyle/>
          <a:p>
            <a:pPr>
              <a:defRPr b="1" sz="700">
                <a:solidFill>
                  <a:srgbClr val="FF6400"/>
                </a:solidFill>
              </a:defRPr>
            </a:pPr>
            <a:r>
              <a:t>FINANCIAL IMPACT</a:t>
            </a:r>
          </a:p>
        </p:txBody>
      </p:sp>
      <p:sp>
        <p:nvSpPr>
          <p:cNvPr id="11" name="TextBox 10"/>
          <p:cNvSpPr txBox="1"/>
          <p:nvPr/>
        </p:nvSpPr>
        <p:spPr>
          <a:xfrm>
            <a:off x="274320" y="7007854"/>
            <a:ext cx="5486400" cy="259474"/>
          </a:xfrm>
          <a:prstGeom prst="rect">
            <a:avLst/>
          </a:prstGeom>
          <a:noFill/>
        </p:spPr>
        <p:txBody>
          <a:bodyPr wrap="square">
            <a:spAutoFit/>
          </a:bodyPr>
          <a:lstStyle/>
          <a:p>
            <a:pPr>
              <a:defRPr sz="600">
                <a:solidFill>
                  <a:srgbClr val="333333"/>
                </a:solidFill>
              </a:defRPr>
            </a:pPr>
            <a:r>
              <a:t>Est. Saving: INR TBD</a:t>
            </a:r>
            <a:br/>
            <a:r>
              <a:t>CAPEX: TBD</a:t>
            </a:r>
          </a:p>
        </p:txBody>
      </p:sp>
      <p:sp>
        <p:nvSpPr>
          <p:cNvPr id="12" name="Rectangle 11"/>
          <p:cNvSpPr/>
          <p:nvPr/>
        </p:nvSpPr>
        <p:spPr>
          <a:xfrm>
            <a:off x="274320" y="72673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7340480"/>
            <a:ext cx="5486400" cy="137160"/>
          </a:xfrm>
          <a:prstGeom prst="rect">
            <a:avLst/>
          </a:prstGeom>
          <a:noFill/>
        </p:spPr>
        <p:txBody>
          <a:bodyPr wrap="none">
            <a:spAutoFit/>
          </a:bodyPr>
          <a:lstStyle/>
          <a:p>
            <a:pPr>
              <a:defRPr b="1" sz="700">
                <a:solidFill>
                  <a:srgbClr val="FF6400"/>
                </a:solidFill>
              </a:defRPr>
            </a:pPr>
            <a:r>
              <a:t>VALIDATION &amp; RISKS</a:t>
            </a:r>
          </a:p>
        </p:txBody>
      </p:sp>
      <p:sp>
        <p:nvSpPr>
          <p:cNvPr id="14" name="TextBox 13"/>
          <p:cNvSpPr txBox="1"/>
          <p:nvPr/>
        </p:nvSpPr>
        <p:spPr>
          <a:xfrm>
            <a:off x="274320" y="7477640"/>
            <a:ext cx="5486400" cy="1239280"/>
          </a:xfrm>
          <a:prstGeom prst="rect">
            <a:avLst/>
          </a:prstGeom>
          <a:noFill/>
        </p:spPr>
        <p:txBody>
          <a:bodyPr wrap="square">
            <a:spAutoFit/>
          </a:bodyPr>
          <a:lstStyle/>
          <a:p>
            <a:pPr>
              <a:defRPr sz="6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71692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790073"/>
            <a:ext cx="5486400" cy="137160"/>
          </a:xfrm>
          <a:prstGeom prst="rect">
            <a:avLst/>
          </a:prstGeom>
          <a:noFill/>
        </p:spPr>
        <p:txBody>
          <a:bodyPr wrap="none">
            <a:spAutoFit/>
          </a:bodyPr>
          <a:lstStyle/>
          <a:p>
            <a:pPr>
              <a:defRPr b="1" sz="700">
                <a:solidFill>
                  <a:srgbClr val="FF6400"/>
                </a:solidFill>
              </a:defRPr>
            </a:pPr>
            <a:r>
              <a:t>SUPPLY CHAIN</a:t>
            </a:r>
          </a:p>
        </p:txBody>
      </p:sp>
      <p:sp>
        <p:nvSpPr>
          <p:cNvPr id="17" name="TextBox 16"/>
          <p:cNvSpPr txBox="1"/>
          <p:nvPr/>
        </p:nvSpPr>
        <p:spPr>
          <a:xfrm>
            <a:off x="274320" y="8927233"/>
            <a:ext cx="5486400" cy="343384"/>
          </a:xfrm>
          <a:prstGeom prst="rect">
            <a:avLst/>
          </a:prstGeom>
          <a:noFill/>
        </p:spPr>
        <p:txBody>
          <a:bodyPr wrap="square">
            <a:spAutoFit/>
          </a:bodyPr>
          <a:lstStyle/>
          <a:p>
            <a:pPr>
              <a:defRPr sz="600">
                <a:solidFill>
                  <a:srgbClr val="333333"/>
                </a:solidFill>
              </a:defRPr>
            </a:pPr>
            <a:r>
              <a:t>• Supplier: Consolidation to single-source Tier 1</a:t>
            </a:r>
            <a:br/>
            <a:r>
              <a:t>• Tooling: 15% reduction in logistics overhead</a:t>
            </a:r>
          </a:p>
        </p:txBody>
      </p:sp>
      <p:sp>
        <p:nvSpPr>
          <p:cNvPr id="18" name="Rectangle 17"/>
          <p:cNvSpPr/>
          <p:nvPr/>
        </p:nvSpPr>
        <p:spPr>
          <a:xfrm>
            <a:off x="274320" y="927061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937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8.jpg"/>
          <p:cNvPicPr>
            <a:picLocks noChangeAspect="1"/>
          </p:cNvPicPr>
          <p:nvPr/>
        </p:nvPicPr>
        <p:blipFill>
          <a:blip r:embed="rId2"/>
          <a:stretch>
            <a:fillRect/>
          </a:stretch>
        </p:blipFill>
        <p:spPr>
          <a:xfrm>
            <a:off x="6217920" y="5212080"/>
            <a:ext cx="5699455" cy="612648"/>
          </a:xfrm>
          <a:prstGeom prst="rect">
            <a:avLst/>
          </a:prstGeom>
          <a:ln w="12700">
            <a:solidFill>
              <a:srgbClr val="C8C8C8"/>
            </a:solidFill>
          </a:ln>
        </p:spPr>
      </p:pic>
      <p:sp>
        <p:nvSpPr>
          <p:cNvPr id="21" name="TextBox 20"/>
          <p:cNvSpPr txBox="1"/>
          <p:nvPr/>
        </p:nvSpPr>
        <p:spPr>
          <a:xfrm>
            <a:off x="6217920" y="5696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62.jpg"/>
          <p:cNvPicPr>
            <a:picLocks noChangeAspect="1"/>
          </p:cNvPicPr>
          <p:nvPr/>
        </p:nvPicPr>
        <p:blipFill>
          <a:blip r:embed="rId3"/>
          <a:stretch>
            <a:fillRect/>
          </a:stretch>
        </p:blipFill>
        <p:spPr>
          <a:xfrm>
            <a:off x="6217920" y="5971032"/>
            <a:ext cx="5699455" cy="612648"/>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5486400"/>
          </a:xfrm>
          <a:prstGeom prst="rect">
            <a:avLst/>
          </a:prstGeom>
          <a:noFill/>
        </p:spPr>
        <p:txBody>
          <a:bodyPr wrap="square">
            <a:spAutoFit/>
          </a:bodyPr>
          <a:lstStyle/>
          <a:p>
            <a:pPr>
              <a:defRPr sz="2400" b="1">
                <a:solidFill>
                  <a:srgbClr val="003366"/>
                </a:solidFill>
              </a:defRPr>
            </a:pPr>
            <a:r>
              <a:t>#13: Optimize the rotor thickness and diameter without compromising thermal capacity or structural integrity. This could involve advanced Finite Element Analysis (FEA) to identify areas of over-engineering and material reduction opportunities, potentially leading to a lighter rotor. Explore alternative casting methods or material compositions for the rotor that offer similar thermal dissipation properties at a lower cost. Dust shield gauge can be reviewed for potential weight reduction if rotor design changes impact thermal load.</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5669280"/>
            <a:ext cx="5486400" cy="137160"/>
          </a:xfrm>
          <a:prstGeom prst="rect">
            <a:avLst/>
          </a:prstGeom>
          <a:noFill/>
        </p:spPr>
        <p:txBody>
          <a:bodyPr wrap="none">
            <a:spAutoFit/>
          </a:bodyPr>
          <a:lstStyle/>
          <a:p>
            <a:pPr>
              <a:defRPr b="1" sz="700">
                <a:solidFill>
                  <a:srgbClr val="FF6400"/>
                </a:solidFill>
              </a:defRPr>
            </a:pPr>
            <a:r>
              <a:t>TECHNICAL ENGINEERING VIEW</a:t>
            </a:r>
          </a:p>
        </p:txBody>
      </p:sp>
      <p:sp>
        <p:nvSpPr>
          <p:cNvPr id="5" name="TextBox 4"/>
          <p:cNvSpPr txBox="1"/>
          <p:nvPr/>
        </p:nvSpPr>
        <p:spPr>
          <a:xfrm>
            <a:off x="274320" y="5806440"/>
            <a:ext cx="5486400" cy="930751"/>
          </a:xfrm>
          <a:prstGeom prst="rect">
            <a:avLst/>
          </a:prstGeom>
          <a:noFill/>
        </p:spPr>
        <p:txBody>
          <a:bodyPr wrap="square">
            <a:spAutoFit/>
          </a:bodyPr>
          <a:lstStyle/>
          <a:p>
            <a:pPr>
              <a:defRPr sz="600">
                <a:solidFill>
                  <a:srgbClr val="333333"/>
                </a:solidFill>
              </a:defRPr>
            </a:pPr>
            <a:r>
              <a:t>Technical optimization of Optimize the rotor thickness and diameter without compromising thermal capacity or structural integrity. This could involve advanced Finite Element Analysis (FEA) to identify areas of over-engineering and material reduction opportunities, potentially leading to a lighter rotor. Explore alternative casting methods or material compositions for the rotor that offer similar thermal dissipation properties at a lower cost. Dust shield gauge can be reviewed for potential weight reduction if rotor design changes impact thermal load. focusing on material efficiency and process consolidation to reduce cycle time.</a:t>
            </a:r>
          </a:p>
        </p:txBody>
      </p:sp>
      <p:sp>
        <p:nvSpPr>
          <p:cNvPr id="6" name="Rectangle 5"/>
          <p:cNvSpPr/>
          <p:nvPr/>
        </p:nvSpPr>
        <p:spPr>
          <a:xfrm>
            <a:off x="274320" y="67371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810343"/>
            <a:ext cx="5486400" cy="137160"/>
          </a:xfrm>
          <a:prstGeom prst="rect">
            <a:avLst/>
          </a:prstGeom>
          <a:noFill/>
        </p:spPr>
        <p:txBody>
          <a:bodyPr wrap="none">
            <a:spAutoFit/>
          </a:bodyPr>
          <a:lstStyle/>
          <a:p>
            <a:pPr>
              <a:defRPr b="1" sz="700">
                <a:solidFill>
                  <a:srgbClr val="FF6400"/>
                </a:solidFill>
              </a:defRPr>
            </a:pPr>
            <a:r>
              <a:t>MATERIAL &amp; DIMENSION SWAP</a:t>
            </a:r>
          </a:p>
        </p:txBody>
      </p:sp>
      <p:sp>
        <p:nvSpPr>
          <p:cNvPr id="8" name="TextBox 7"/>
          <p:cNvSpPr txBox="1"/>
          <p:nvPr/>
        </p:nvSpPr>
        <p:spPr>
          <a:xfrm>
            <a:off x="274320" y="6947503"/>
            <a:ext cx="5486400" cy="391148"/>
          </a:xfrm>
          <a:prstGeom prst="rect">
            <a:avLst/>
          </a:prstGeom>
          <a:noFill/>
        </p:spPr>
        <p:txBody>
          <a:bodyPr wrap="square">
            <a:spAutoFit/>
          </a:bodyPr>
          <a:lstStyle/>
          <a:p>
            <a:pPr>
              <a:defRPr sz="600">
                <a:solidFill>
                  <a:srgbClr val="333333"/>
                </a:solidFill>
              </a:defRPr>
            </a:pPr>
            <a:r>
              <a:t>This could involve advanced Finite Element Analysis (FEA) to identify areas of over-engineering and </a:t>
            </a:r>
            <a:br/>
            <a:r>
              <a:t>N/A (Maintains current envelope)</a:t>
            </a:r>
          </a:p>
        </p:txBody>
      </p:sp>
      <p:sp>
        <p:nvSpPr>
          <p:cNvPr id="9" name="Rectangle 8"/>
          <p:cNvSpPr/>
          <p:nvPr/>
        </p:nvSpPr>
        <p:spPr>
          <a:xfrm>
            <a:off x="274320" y="733865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7411803"/>
            <a:ext cx="5486400" cy="137160"/>
          </a:xfrm>
          <a:prstGeom prst="rect">
            <a:avLst/>
          </a:prstGeom>
          <a:noFill/>
        </p:spPr>
        <p:txBody>
          <a:bodyPr wrap="none">
            <a:spAutoFit/>
          </a:bodyPr>
          <a:lstStyle/>
          <a:p>
            <a:pPr>
              <a:defRPr b="1" sz="700">
                <a:solidFill>
                  <a:srgbClr val="FF6400"/>
                </a:solidFill>
              </a:defRPr>
            </a:pPr>
            <a:r>
              <a:t>FINANCIAL IMPACT</a:t>
            </a:r>
          </a:p>
        </p:txBody>
      </p:sp>
      <p:sp>
        <p:nvSpPr>
          <p:cNvPr id="11" name="TextBox 10"/>
          <p:cNvSpPr txBox="1"/>
          <p:nvPr/>
        </p:nvSpPr>
        <p:spPr>
          <a:xfrm>
            <a:off x="274320" y="7548963"/>
            <a:ext cx="5486400" cy="259474"/>
          </a:xfrm>
          <a:prstGeom prst="rect">
            <a:avLst/>
          </a:prstGeom>
          <a:noFill/>
        </p:spPr>
        <p:txBody>
          <a:bodyPr wrap="square">
            <a:spAutoFit/>
          </a:bodyPr>
          <a:lstStyle/>
          <a:p>
            <a:pPr>
              <a:defRPr sz="600">
                <a:solidFill>
                  <a:srgbClr val="333333"/>
                </a:solidFill>
              </a:defRPr>
            </a:pPr>
            <a:r>
              <a:t>Est. Saving: INR TBD</a:t>
            </a:r>
            <a:br/>
            <a:r>
              <a:t>CAPEX: TBD</a:t>
            </a:r>
          </a:p>
        </p:txBody>
      </p:sp>
      <p:sp>
        <p:nvSpPr>
          <p:cNvPr id="12" name="Rectangle 11"/>
          <p:cNvSpPr/>
          <p:nvPr/>
        </p:nvSpPr>
        <p:spPr>
          <a:xfrm>
            <a:off x="274320" y="780843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7881590"/>
            <a:ext cx="5486400" cy="137160"/>
          </a:xfrm>
          <a:prstGeom prst="rect">
            <a:avLst/>
          </a:prstGeom>
          <a:noFill/>
        </p:spPr>
        <p:txBody>
          <a:bodyPr wrap="none">
            <a:spAutoFit/>
          </a:bodyPr>
          <a:lstStyle/>
          <a:p>
            <a:pPr>
              <a:defRPr b="1" sz="700">
                <a:solidFill>
                  <a:srgbClr val="FF6400"/>
                </a:solidFill>
              </a:defRPr>
            </a:pPr>
            <a:r>
              <a:t>VALIDATION &amp; RISKS</a:t>
            </a:r>
          </a:p>
        </p:txBody>
      </p:sp>
      <p:sp>
        <p:nvSpPr>
          <p:cNvPr id="14" name="TextBox 13"/>
          <p:cNvSpPr txBox="1"/>
          <p:nvPr/>
        </p:nvSpPr>
        <p:spPr>
          <a:xfrm>
            <a:off x="274320" y="8018750"/>
            <a:ext cx="5486400" cy="1239280"/>
          </a:xfrm>
          <a:prstGeom prst="rect">
            <a:avLst/>
          </a:prstGeom>
          <a:noFill/>
        </p:spPr>
        <p:txBody>
          <a:bodyPr wrap="square">
            <a:spAutoFit/>
          </a:bodyPr>
          <a:lstStyle/>
          <a:p>
            <a:pPr>
              <a:defRPr sz="6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92580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9331183"/>
            <a:ext cx="5486400" cy="137160"/>
          </a:xfrm>
          <a:prstGeom prst="rect">
            <a:avLst/>
          </a:prstGeom>
          <a:noFill/>
        </p:spPr>
        <p:txBody>
          <a:bodyPr wrap="none">
            <a:spAutoFit/>
          </a:bodyPr>
          <a:lstStyle/>
          <a:p>
            <a:pPr>
              <a:defRPr b="1" sz="700">
                <a:solidFill>
                  <a:srgbClr val="FF6400"/>
                </a:solidFill>
              </a:defRPr>
            </a:pPr>
            <a:r>
              <a:t>SUPPLY CHAIN</a:t>
            </a:r>
          </a:p>
        </p:txBody>
      </p:sp>
      <p:sp>
        <p:nvSpPr>
          <p:cNvPr id="17" name="TextBox 16"/>
          <p:cNvSpPr txBox="1"/>
          <p:nvPr/>
        </p:nvSpPr>
        <p:spPr>
          <a:xfrm>
            <a:off x="274320" y="9468343"/>
            <a:ext cx="5486400" cy="343384"/>
          </a:xfrm>
          <a:prstGeom prst="rect">
            <a:avLst/>
          </a:prstGeom>
          <a:noFill/>
        </p:spPr>
        <p:txBody>
          <a:bodyPr wrap="square">
            <a:spAutoFit/>
          </a:bodyPr>
          <a:lstStyle/>
          <a:p>
            <a:pPr>
              <a:defRPr sz="600">
                <a:solidFill>
                  <a:srgbClr val="333333"/>
                </a:solidFill>
              </a:defRPr>
            </a:pPr>
            <a:r>
              <a:t>• Supplier: Consolidation to single-source Tier 1</a:t>
            </a:r>
            <a:br/>
            <a:r>
              <a:t>• Tooling: 15% reduction in logistics overhead</a:t>
            </a:r>
          </a:p>
        </p:txBody>
      </p:sp>
      <p:sp>
        <p:nvSpPr>
          <p:cNvPr id="18" name="Rectangle 17"/>
          <p:cNvSpPr/>
          <p:nvPr/>
        </p:nvSpPr>
        <p:spPr>
          <a:xfrm>
            <a:off x="274320" y="981172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53949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76.jpg"/>
          <p:cNvPicPr>
            <a:picLocks noChangeAspect="1"/>
          </p:cNvPicPr>
          <p:nvPr/>
        </p:nvPicPr>
        <p:blipFill>
          <a:blip r:embed="rId2"/>
          <a:stretch>
            <a:fillRect/>
          </a:stretch>
        </p:blipFill>
        <p:spPr>
          <a:xfrm>
            <a:off x="6217920" y="5669280"/>
            <a:ext cx="5699455" cy="384048"/>
          </a:xfrm>
          <a:prstGeom prst="rect">
            <a:avLst/>
          </a:prstGeom>
          <a:ln w="12700">
            <a:solidFill>
              <a:srgbClr val="C8C8C8"/>
            </a:solidFill>
          </a:ln>
        </p:spPr>
      </p:pic>
      <p:sp>
        <p:nvSpPr>
          <p:cNvPr id="21" name="TextBox 20"/>
          <p:cNvSpPr txBox="1"/>
          <p:nvPr/>
        </p:nvSpPr>
        <p:spPr>
          <a:xfrm>
            <a:off x="6217920" y="59253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23.jpg"/>
          <p:cNvPicPr>
            <a:picLocks noChangeAspect="1"/>
          </p:cNvPicPr>
          <p:nvPr/>
        </p:nvPicPr>
        <p:blipFill>
          <a:blip r:embed="rId3"/>
          <a:stretch>
            <a:fillRect/>
          </a:stretch>
        </p:blipFill>
        <p:spPr>
          <a:xfrm>
            <a:off x="6217920" y="6199632"/>
            <a:ext cx="5699455" cy="384048"/>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5029200"/>
          </a:xfrm>
          <a:prstGeom prst="rect">
            <a:avLst/>
          </a:prstGeom>
          <a:noFill/>
        </p:spPr>
        <p:txBody>
          <a:bodyPr wrap="square">
            <a:spAutoFit/>
          </a:bodyPr>
          <a:lstStyle/>
          <a:p>
            <a:pPr>
              <a:defRPr sz="2400" b="1">
                <a:solidFill>
                  <a:srgbClr val="003366"/>
                </a:solidFill>
              </a:defRPr>
            </a:pPr>
            <a:r>
              <a:t>#14: Explore the application of advanced coatings on brake rotors and/or pads that enhance wear resistance and reduce friction-induced heat generation. This could involve ceramic, composite, or specialized metallic coatings. A secondary benefit could be improved corrosion resistance, potentially allowing for a reduction in the gauge of the dust shield if it's primarily for corrosion protection. This aligns with optimizing thermal management and material properties.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5212080"/>
            <a:ext cx="5486400" cy="137160"/>
          </a:xfrm>
          <a:prstGeom prst="rect">
            <a:avLst/>
          </a:prstGeom>
          <a:noFill/>
        </p:spPr>
        <p:txBody>
          <a:bodyPr wrap="none">
            <a:spAutoFit/>
          </a:bodyPr>
          <a:lstStyle/>
          <a:p>
            <a:pPr>
              <a:defRPr b="1" sz="700">
                <a:solidFill>
                  <a:srgbClr val="FF6400"/>
                </a:solidFill>
              </a:defRPr>
            </a:pPr>
            <a:r>
              <a:t>TECHNICAL ENGINEERING VIEW</a:t>
            </a:r>
          </a:p>
        </p:txBody>
      </p:sp>
      <p:sp>
        <p:nvSpPr>
          <p:cNvPr id="5" name="TextBox 4"/>
          <p:cNvSpPr txBox="1"/>
          <p:nvPr/>
        </p:nvSpPr>
        <p:spPr>
          <a:xfrm>
            <a:off x="274320" y="5349240"/>
            <a:ext cx="5486400" cy="845551"/>
          </a:xfrm>
          <a:prstGeom prst="rect">
            <a:avLst/>
          </a:prstGeom>
          <a:noFill/>
        </p:spPr>
        <p:txBody>
          <a:bodyPr wrap="square">
            <a:spAutoFit/>
          </a:bodyPr>
          <a:lstStyle/>
          <a:p>
            <a:pPr>
              <a:defRPr sz="600">
                <a:solidFill>
                  <a:srgbClr val="333333"/>
                </a:solidFill>
              </a:defRPr>
            </a:pPr>
            <a:r>
              <a:t>Technical optimization of Explore the application of advanced coatings on brake rotors and/or pads that enhance wear resistance and reduce friction-induced heat generation. This could involve ceramic, composite, or specialized metallic coatings. A secondary benefit could be improved corrosion resistance, potentially allowing for a reduction in the gauge of the dust shield if it's primarily for corrosion protection. This aligns with optimizing thermal management and material properties. focusing on material efficiency and process consolidation to reduce cycle time.</a:t>
            </a:r>
          </a:p>
        </p:txBody>
      </p:sp>
      <p:sp>
        <p:nvSpPr>
          <p:cNvPr id="6" name="Rectangle 5"/>
          <p:cNvSpPr/>
          <p:nvPr/>
        </p:nvSpPr>
        <p:spPr>
          <a:xfrm>
            <a:off x="274320" y="61947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267943"/>
            <a:ext cx="5486400" cy="137160"/>
          </a:xfrm>
          <a:prstGeom prst="rect">
            <a:avLst/>
          </a:prstGeom>
          <a:noFill/>
        </p:spPr>
        <p:txBody>
          <a:bodyPr wrap="none">
            <a:spAutoFit/>
          </a:bodyPr>
          <a:lstStyle/>
          <a:p>
            <a:pPr>
              <a:defRPr b="1" sz="700">
                <a:solidFill>
                  <a:srgbClr val="FF6400"/>
                </a:solidFill>
              </a:defRPr>
            </a:pPr>
            <a:r>
              <a:t>MATERIAL &amp; DIMENSION SWAP</a:t>
            </a:r>
          </a:p>
        </p:txBody>
      </p:sp>
      <p:sp>
        <p:nvSpPr>
          <p:cNvPr id="8" name="TextBox 7"/>
          <p:cNvSpPr txBox="1"/>
          <p:nvPr/>
        </p:nvSpPr>
        <p:spPr>
          <a:xfrm>
            <a:off x="274320" y="6405103"/>
            <a:ext cx="5486400" cy="391148"/>
          </a:xfrm>
          <a:prstGeom prst="rect">
            <a:avLst/>
          </a:prstGeom>
          <a:noFill/>
        </p:spPr>
        <p:txBody>
          <a:bodyPr wrap="square">
            <a:spAutoFit/>
          </a:bodyPr>
          <a:lstStyle/>
          <a:p>
            <a:pPr>
              <a:defRPr sz="600">
                <a:solidFill>
                  <a:srgbClr val="333333"/>
                </a:solidFill>
              </a:defRPr>
            </a:pPr>
            <a:r>
              <a:t>Explore the application of advanced coatings on brake rotors and/or pads that enhance wear resistanc</a:t>
            </a:r>
            <a:br/>
            <a:r>
              <a:t>N/A (Maintains current envelope)</a:t>
            </a:r>
          </a:p>
        </p:txBody>
      </p:sp>
      <p:sp>
        <p:nvSpPr>
          <p:cNvPr id="9" name="Rectangle 8"/>
          <p:cNvSpPr/>
          <p:nvPr/>
        </p:nvSpPr>
        <p:spPr>
          <a:xfrm>
            <a:off x="274320" y="679625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869403"/>
            <a:ext cx="5486400" cy="137160"/>
          </a:xfrm>
          <a:prstGeom prst="rect">
            <a:avLst/>
          </a:prstGeom>
          <a:noFill/>
        </p:spPr>
        <p:txBody>
          <a:bodyPr wrap="none">
            <a:spAutoFit/>
          </a:bodyPr>
          <a:lstStyle/>
          <a:p>
            <a:pPr>
              <a:defRPr b="1" sz="700">
                <a:solidFill>
                  <a:srgbClr val="FF6400"/>
                </a:solidFill>
              </a:defRPr>
            </a:pPr>
            <a:r>
              <a:t>FINANCIAL IMPACT</a:t>
            </a:r>
          </a:p>
        </p:txBody>
      </p:sp>
      <p:sp>
        <p:nvSpPr>
          <p:cNvPr id="11" name="TextBox 10"/>
          <p:cNvSpPr txBox="1"/>
          <p:nvPr/>
        </p:nvSpPr>
        <p:spPr>
          <a:xfrm>
            <a:off x="274320" y="7006563"/>
            <a:ext cx="5486400" cy="259474"/>
          </a:xfrm>
          <a:prstGeom prst="rect">
            <a:avLst/>
          </a:prstGeom>
          <a:noFill/>
        </p:spPr>
        <p:txBody>
          <a:bodyPr wrap="square">
            <a:spAutoFit/>
          </a:bodyPr>
          <a:lstStyle/>
          <a:p>
            <a:pPr>
              <a:defRPr sz="600">
                <a:solidFill>
                  <a:srgbClr val="333333"/>
                </a:solidFill>
              </a:defRPr>
            </a:pPr>
            <a:r>
              <a:t>Est. Saving: INR TBD</a:t>
            </a:r>
            <a:br/>
            <a:r>
              <a:t>CAPEX: TBD</a:t>
            </a:r>
          </a:p>
        </p:txBody>
      </p:sp>
      <p:sp>
        <p:nvSpPr>
          <p:cNvPr id="12" name="Rectangle 11"/>
          <p:cNvSpPr/>
          <p:nvPr/>
        </p:nvSpPr>
        <p:spPr>
          <a:xfrm>
            <a:off x="274320" y="726603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7339189"/>
            <a:ext cx="5486400" cy="137160"/>
          </a:xfrm>
          <a:prstGeom prst="rect">
            <a:avLst/>
          </a:prstGeom>
          <a:noFill/>
        </p:spPr>
        <p:txBody>
          <a:bodyPr wrap="none">
            <a:spAutoFit/>
          </a:bodyPr>
          <a:lstStyle/>
          <a:p>
            <a:pPr>
              <a:defRPr b="1" sz="700">
                <a:solidFill>
                  <a:srgbClr val="FF6400"/>
                </a:solidFill>
              </a:defRPr>
            </a:pPr>
            <a:r>
              <a:t>VALIDATION &amp; RISKS</a:t>
            </a:r>
          </a:p>
        </p:txBody>
      </p:sp>
      <p:sp>
        <p:nvSpPr>
          <p:cNvPr id="14" name="TextBox 13"/>
          <p:cNvSpPr txBox="1"/>
          <p:nvPr/>
        </p:nvSpPr>
        <p:spPr>
          <a:xfrm>
            <a:off x="274320" y="7476349"/>
            <a:ext cx="5486400" cy="1239280"/>
          </a:xfrm>
          <a:prstGeom prst="rect">
            <a:avLst/>
          </a:prstGeom>
          <a:noFill/>
        </p:spPr>
        <p:txBody>
          <a:bodyPr wrap="square">
            <a:spAutoFit/>
          </a:bodyPr>
          <a:lstStyle/>
          <a:p>
            <a:pPr>
              <a:defRPr sz="6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7156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788782"/>
            <a:ext cx="5486400" cy="137160"/>
          </a:xfrm>
          <a:prstGeom prst="rect">
            <a:avLst/>
          </a:prstGeom>
          <a:noFill/>
        </p:spPr>
        <p:txBody>
          <a:bodyPr wrap="none">
            <a:spAutoFit/>
          </a:bodyPr>
          <a:lstStyle/>
          <a:p>
            <a:pPr>
              <a:defRPr b="1" sz="700">
                <a:solidFill>
                  <a:srgbClr val="FF6400"/>
                </a:solidFill>
              </a:defRPr>
            </a:pPr>
            <a:r>
              <a:t>SUPPLY CHAIN</a:t>
            </a:r>
          </a:p>
        </p:txBody>
      </p:sp>
      <p:sp>
        <p:nvSpPr>
          <p:cNvPr id="17" name="TextBox 16"/>
          <p:cNvSpPr txBox="1"/>
          <p:nvPr/>
        </p:nvSpPr>
        <p:spPr>
          <a:xfrm>
            <a:off x="274320" y="8925942"/>
            <a:ext cx="5486400" cy="343384"/>
          </a:xfrm>
          <a:prstGeom prst="rect">
            <a:avLst/>
          </a:prstGeom>
          <a:noFill/>
        </p:spPr>
        <p:txBody>
          <a:bodyPr wrap="square">
            <a:spAutoFit/>
          </a:bodyPr>
          <a:lstStyle/>
          <a:p>
            <a:pPr>
              <a:defRPr sz="600">
                <a:solidFill>
                  <a:srgbClr val="333333"/>
                </a:solidFill>
              </a:defRPr>
            </a:pPr>
            <a:r>
              <a:t>• Supplier: Consolidation to single-source Tier 1</a:t>
            </a:r>
            <a:br/>
            <a:r>
              <a:t>• Tooling: 15% reduction in logistics overhead</a:t>
            </a:r>
          </a:p>
        </p:txBody>
      </p:sp>
      <p:sp>
        <p:nvSpPr>
          <p:cNvPr id="18" name="Rectangle 17"/>
          <p:cNvSpPr/>
          <p:nvPr/>
        </p:nvSpPr>
        <p:spPr>
          <a:xfrm>
            <a:off x="274320" y="926932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937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5.jpg"/>
          <p:cNvPicPr>
            <a:picLocks noChangeAspect="1"/>
          </p:cNvPicPr>
          <p:nvPr/>
        </p:nvPicPr>
        <p:blipFill>
          <a:blip r:embed="rId2"/>
          <a:stretch>
            <a:fillRect/>
          </a:stretch>
        </p:blipFill>
        <p:spPr>
          <a:xfrm>
            <a:off x="6217920" y="5212080"/>
            <a:ext cx="5699455" cy="612648"/>
          </a:xfrm>
          <a:prstGeom prst="rect">
            <a:avLst/>
          </a:prstGeom>
          <a:ln w="12700">
            <a:solidFill>
              <a:srgbClr val="C8C8C8"/>
            </a:solidFill>
          </a:ln>
        </p:spPr>
      </p:pic>
      <p:sp>
        <p:nvSpPr>
          <p:cNvPr id="21" name="TextBox 20"/>
          <p:cNvSpPr txBox="1"/>
          <p:nvPr/>
        </p:nvSpPr>
        <p:spPr>
          <a:xfrm>
            <a:off x="6217920" y="5696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52.jpg"/>
          <p:cNvPicPr>
            <a:picLocks noChangeAspect="1"/>
          </p:cNvPicPr>
          <p:nvPr/>
        </p:nvPicPr>
        <p:blipFill>
          <a:blip r:embed="rId3"/>
          <a:stretch>
            <a:fillRect/>
          </a:stretch>
        </p:blipFill>
        <p:spPr>
          <a:xfrm>
            <a:off x="6217920" y="5971032"/>
            <a:ext cx="5699455" cy="612648"/>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5943600"/>
          </a:xfrm>
          <a:prstGeom prst="rect">
            <a:avLst/>
          </a:prstGeom>
          <a:noFill/>
        </p:spPr>
        <p:txBody>
          <a:bodyPr wrap="square">
            <a:spAutoFit/>
          </a:bodyPr>
          <a:lstStyle/>
          <a:p>
            <a:pPr>
              <a:defRPr sz="2400" b="1">
                <a:solidFill>
                  <a:srgbClr val="003366"/>
                </a:solidFill>
              </a:defRPr>
            </a:pPr>
            <a:r>
              <a:t>#15: Investigate the potential for using a lighter-weight, yet structurally sound, caliper material. While cast iron is common, exploring advanced aluminum alloys or composite materials could offer weight savings, contributing to overall vehicle efficiency. This must be done without compromising the caliper's ability to withstand the high clamping forces and thermal loads generated during braking, especially for a vehicle with high kinetic energy. The dust shield gauge might be adjusted if caliper design changes affect airflow or protection needs.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6126480"/>
            <a:ext cx="5486400" cy="137160"/>
          </a:xfrm>
          <a:prstGeom prst="rect">
            <a:avLst/>
          </a:prstGeom>
          <a:noFill/>
        </p:spPr>
        <p:txBody>
          <a:bodyPr wrap="none">
            <a:spAutoFit/>
          </a:bodyPr>
          <a:lstStyle/>
          <a:p>
            <a:pPr>
              <a:defRPr b="1" sz="700">
                <a:solidFill>
                  <a:srgbClr val="FF6400"/>
                </a:solidFill>
              </a:defRPr>
            </a:pPr>
            <a:r>
              <a:t>TECHNICAL ENGINEERING VIEW</a:t>
            </a:r>
          </a:p>
        </p:txBody>
      </p:sp>
      <p:sp>
        <p:nvSpPr>
          <p:cNvPr id="5" name="TextBox 4"/>
          <p:cNvSpPr txBox="1"/>
          <p:nvPr/>
        </p:nvSpPr>
        <p:spPr>
          <a:xfrm>
            <a:off x="274320" y="6263640"/>
            <a:ext cx="5486400" cy="953988"/>
          </a:xfrm>
          <a:prstGeom prst="rect">
            <a:avLst/>
          </a:prstGeom>
          <a:noFill/>
        </p:spPr>
        <p:txBody>
          <a:bodyPr wrap="square">
            <a:spAutoFit/>
          </a:bodyPr>
          <a:lstStyle/>
          <a:p>
            <a:pPr>
              <a:defRPr sz="600">
                <a:solidFill>
                  <a:srgbClr val="333333"/>
                </a:solidFill>
              </a:defRPr>
            </a:pPr>
            <a:r>
              <a:t>Technical optimization of Investigate the potential for using a lighter-weight, yet structurally sound, caliper material. While cast iron is common, exploring advanced aluminum alloys or composite materials could offer weight savings, contributing to overall vehicle efficiency. This must be done without compromising the caliper's ability to withstand the high clamping forces and thermal loads generated during braking, especially for a vehicle with high kinetic energy. The dust shield gauge might be adjusted if caliper design changes affect airflow or protection needs. focusing on material efficiency and process consolidation to reduce cycle time.</a:t>
            </a:r>
          </a:p>
        </p:txBody>
      </p:sp>
      <p:sp>
        <p:nvSpPr>
          <p:cNvPr id="6" name="Rectangle 5"/>
          <p:cNvSpPr/>
          <p:nvPr/>
        </p:nvSpPr>
        <p:spPr>
          <a:xfrm>
            <a:off x="274320" y="72176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7290780"/>
            <a:ext cx="5486400" cy="137160"/>
          </a:xfrm>
          <a:prstGeom prst="rect">
            <a:avLst/>
          </a:prstGeom>
          <a:noFill/>
        </p:spPr>
        <p:txBody>
          <a:bodyPr wrap="none">
            <a:spAutoFit/>
          </a:bodyPr>
          <a:lstStyle/>
          <a:p>
            <a:pPr>
              <a:defRPr b="1" sz="700">
                <a:solidFill>
                  <a:srgbClr val="FF6400"/>
                </a:solidFill>
              </a:defRPr>
            </a:pPr>
            <a:r>
              <a:t>MATERIAL &amp; DIMENSION SWAP</a:t>
            </a:r>
          </a:p>
        </p:txBody>
      </p:sp>
      <p:sp>
        <p:nvSpPr>
          <p:cNvPr id="8" name="TextBox 7"/>
          <p:cNvSpPr txBox="1"/>
          <p:nvPr/>
        </p:nvSpPr>
        <p:spPr>
          <a:xfrm>
            <a:off x="274320" y="7427940"/>
            <a:ext cx="5486400" cy="383402"/>
          </a:xfrm>
          <a:prstGeom prst="rect">
            <a:avLst/>
          </a:prstGeom>
          <a:noFill/>
        </p:spPr>
        <p:txBody>
          <a:bodyPr wrap="square">
            <a:spAutoFit/>
          </a:bodyPr>
          <a:lstStyle/>
          <a:p>
            <a:pPr>
              <a:defRPr sz="600">
                <a:solidFill>
                  <a:srgbClr val="333333"/>
                </a:solidFill>
              </a:defRPr>
            </a:pPr>
            <a:r>
              <a:t>Investigate the potential for using a lighter-weight, yet structurally sound, caliper material</a:t>
            </a:r>
            <a:br/>
            <a:r>
              <a:t>N/A (Maintains current envelope)</a:t>
            </a:r>
          </a:p>
        </p:txBody>
      </p:sp>
      <p:sp>
        <p:nvSpPr>
          <p:cNvPr id="9" name="Rectangle 8"/>
          <p:cNvSpPr/>
          <p:nvPr/>
        </p:nvSpPr>
        <p:spPr>
          <a:xfrm>
            <a:off x="274320" y="78113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7884494"/>
            <a:ext cx="5486400" cy="137160"/>
          </a:xfrm>
          <a:prstGeom prst="rect">
            <a:avLst/>
          </a:prstGeom>
          <a:noFill/>
        </p:spPr>
        <p:txBody>
          <a:bodyPr wrap="none">
            <a:spAutoFit/>
          </a:bodyPr>
          <a:lstStyle/>
          <a:p>
            <a:pPr>
              <a:defRPr b="1" sz="700">
                <a:solidFill>
                  <a:srgbClr val="FF6400"/>
                </a:solidFill>
              </a:defRPr>
            </a:pPr>
            <a:r>
              <a:t>FINANCIAL IMPACT</a:t>
            </a:r>
          </a:p>
        </p:txBody>
      </p:sp>
      <p:sp>
        <p:nvSpPr>
          <p:cNvPr id="11" name="TextBox 10"/>
          <p:cNvSpPr txBox="1"/>
          <p:nvPr/>
        </p:nvSpPr>
        <p:spPr>
          <a:xfrm>
            <a:off x="274320" y="8021654"/>
            <a:ext cx="5486400" cy="259474"/>
          </a:xfrm>
          <a:prstGeom prst="rect">
            <a:avLst/>
          </a:prstGeom>
          <a:noFill/>
        </p:spPr>
        <p:txBody>
          <a:bodyPr wrap="square">
            <a:spAutoFit/>
          </a:bodyPr>
          <a:lstStyle/>
          <a:p>
            <a:pPr>
              <a:defRPr sz="600">
                <a:solidFill>
                  <a:srgbClr val="333333"/>
                </a:solidFill>
              </a:defRPr>
            </a:pPr>
            <a:r>
              <a:t>Est. Saving: INR TBD</a:t>
            </a:r>
            <a:br/>
            <a:r>
              <a:t>CAPEX: TBD</a:t>
            </a:r>
          </a:p>
        </p:txBody>
      </p:sp>
      <p:sp>
        <p:nvSpPr>
          <p:cNvPr id="12" name="Rectangle 11"/>
          <p:cNvSpPr/>
          <p:nvPr/>
        </p:nvSpPr>
        <p:spPr>
          <a:xfrm>
            <a:off x="274320" y="828112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8354281"/>
            <a:ext cx="5486400" cy="137160"/>
          </a:xfrm>
          <a:prstGeom prst="rect">
            <a:avLst/>
          </a:prstGeom>
          <a:noFill/>
        </p:spPr>
        <p:txBody>
          <a:bodyPr wrap="none">
            <a:spAutoFit/>
          </a:bodyPr>
          <a:lstStyle/>
          <a:p>
            <a:pPr>
              <a:defRPr b="1" sz="700">
                <a:solidFill>
                  <a:srgbClr val="FF6400"/>
                </a:solidFill>
              </a:defRPr>
            </a:pPr>
            <a:r>
              <a:t>VALIDATION &amp; RISKS</a:t>
            </a:r>
          </a:p>
        </p:txBody>
      </p:sp>
      <p:sp>
        <p:nvSpPr>
          <p:cNvPr id="14" name="TextBox 13"/>
          <p:cNvSpPr txBox="1"/>
          <p:nvPr/>
        </p:nvSpPr>
        <p:spPr>
          <a:xfrm>
            <a:off x="274320" y="8491441"/>
            <a:ext cx="5486400" cy="1239280"/>
          </a:xfrm>
          <a:prstGeom prst="rect">
            <a:avLst/>
          </a:prstGeom>
          <a:noFill/>
        </p:spPr>
        <p:txBody>
          <a:bodyPr wrap="square">
            <a:spAutoFit/>
          </a:bodyPr>
          <a:lstStyle/>
          <a:p>
            <a:pPr>
              <a:defRPr sz="6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973072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9803874"/>
            <a:ext cx="5486400" cy="137160"/>
          </a:xfrm>
          <a:prstGeom prst="rect">
            <a:avLst/>
          </a:prstGeom>
          <a:noFill/>
        </p:spPr>
        <p:txBody>
          <a:bodyPr wrap="none">
            <a:spAutoFit/>
          </a:bodyPr>
          <a:lstStyle/>
          <a:p>
            <a:pPr>
              <a:defRPr b="1" sz="700">
                <a:solidFill>
                  <a:srgbClr val="FF6400"/>
                </a:solidFill>
              </a:defRPr>
            </a:pPr>
            <a:r>
              <a:t>SUPPLY CHAIN</a:t>
            </a:r>
          </a:p>
        </p:txBody>
      </p:sp>
      <p:sp>
        <p:nvSpPr>
          <p:cNvPr id="17" name="TextBox 16"/>
          <p:cNvSpPr txBox="1"/>
          <p:nvPr/>
        </p:nvSpPr>
        <p:spPr>
          <a:xfrm>
            <a:off x="274320" y="9941034"/>
            <a:ext cx="5486400" cy="343384"/>
          </a:xfrm>
          <a:prstGeom prst="rect">
            <a:avLst/>
          </a:prstGeom>
          <a:noFill/>
        </p:spPr>
        <p:txBody>
          <a:bodyPr wrap="square">
            <a:spAutoFit/>
          </a:bodyPr>
          <a:lstStyle/>
          <a:p>
            <a:pPr>
              <a:defRPr sz="600">
                <a:solidFill>
                  <a:srgbClr val="333333"/>
                </a:solidFill>
              </a:defRPr>
            </a:pPr>
            <a:r>
              <a:t>• Supplier: Consolidation to single-source Tier 1</a:t>
            </a:r>
            <a:br/>
            <a:r>
              <a:t>• Tooling: 15% reduction in logistics overhead</a:t>
            </a:r>
          </a:p>
        </p:txBody>
      </p:sp>
      <p:sp>
        <p:nvSpPr>
          <p:cNvPr id="18" name="Rectangle 17"/>
          <p:cNvSpPr/>
          <p:nvPr/>
        </p:nvSpPr>
        <p:spPr>
          <a:xfrm>
            <a:off x="274320" y="1028441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58521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jpg"/>
          <p:cNvPicPr>
            <a:picLocks noChangeAspect="1"/>
          </p:cNvPicPr>
          <p:nvPr/>
        </p:nvPicPr>
        <p:blipFill>
          <a:blip r:embed="rId2"/>
          <a:stretch>
            <a:fillRect/>
          </a:stretch>
        </p:blipFill>
        <p:spPr>
          <a:xfrm>
            <a:off x="6217920" y="6126480"/>
            <a:ext cx="5699455" cy="155448"/>
          </a:xfrm>
          <a:prstGeom prst="rect">
            <a:avLst/>
          </a:prstGeom>
          <a:ln w="12700">
            <a:solidFill>
              <a:srgbClr val="C8C8C8"/>
            </a:solidFill>
          </a:ln>
        </p:spPr>
      </p:pic>
      <p:sp>
        <p:nvSpPr>
          <p:cNvPr id="21" name="TextBox 20"/>
          <p:cNvSpPr txBox="1"/>
          <p:nvPr/>
        </p:nvSpPr>
        <p:spPr>
          <a:xfrm>
            <a:off x="6217920" y="61539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75.jpg"/>
          <p:cNvPicPr>
            <a:picLocks noChangeAspect="1"/>
          </p:cNvPicPr>
          <p:nvPr/>
        </p:nvPicPr>
        <p:blipFill>
          <a:blip r:embed="rId3"/>
          <a:stretch>
            <a:fillRect/>
          </a:stretch>
        </p:blipFill>
        <p:spPr>
          <a:xfrm>
            <a:off x="6217920" y="6428232"/>
            <a:ext cx="5699455" cy="155448"/>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
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image" Target="../media/image4.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image" Target="../media/image6.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image" Target="../media/image10.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image" Target="../media/image1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image" Target="../media/image14.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image" Target="../media/image23.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 Id="rId3" Type="http://schemas.openxmlformats.org/officeDocument/2006/relationships/image" Target="../media/image25.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7.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image" Target="../media/image29.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03-Feb-2026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365760" y="411480"/>
          <a:ext cx="11430000" cy="6263640"/>
        </p:xfrm>
        <a:graphic>
          <a:graphicData uri="http://schemas.openxmlformats.org/drawingml/2006/table">
            <a:tbl>
              <a:tblPr firstRow="1" bandRow="1">
                <a:tableStyleId>{5C22544A-7EE6-4342-B048-85BDC9FD1C3A}</a:tableStyleId>
              </a:tblPr>
              <a:tblGrid>
                <a:gridCol w="731520"/>
                <a:gridCol w="4114800"/>
                <a:gridCol w="1371600"/>
                <a:gridCol w="1097280"/>
                <a:gridCol w="1097280"/>
                <a:gridCol w="1371600"/>
                <a:gridCol w="1645920"/>
              </a:tblGrid>
              <a:tr h="391477">
                <a:tc>
                  <a:txBody>
                    <a:bodyPr wrap="square"/>
                    <a:lstStyle/>
                    <a:p>
                      <a:pPr>
                        <a:defRPr b="1" sz="900">
                          <a:solidFill>
                            <a:srgbClr val="FFFFFF"/>
                          </a:solidFill>
                        </a:defRPr>
                      </a:pPr>
                      <a:r>
                        <a:t>Idea 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(INR)</a:t>
                      </a:r>
                    </a:p>
                  </a:txBody>
                  <a:tcPr>
                    <a:solidFill>
                      <a:srgbClr val="003366"/>
                    </a:solidFill>
                  </a:tcPr>
                </a:tc>
                <a:tc>
                  <a:txBody>
                    <a:bodyPr wrap="square"/>
                    <a:lstStyle/>
                    <a:p>
                      <a:pPr>
                        <a:defRPr b="1" sz="900">
                          <a:solidFill>
                            <a:srgbClr val="FFFFFF"/>
                          </a:solidFill>
                        </a:defRPr>
                      </a:pPr>
                      <a:r>
                        <a:t>Saving (Unit)</a:t>
                      </a:r>
                    </a:p>
                  </a:txBody>
                  <a:tcPr>
                    <a:solidFill>
                      <a:srgbClr val="003366"/>
                    </a:solidFill>
                  </a:tcPr>
                </a:tc>
                <a:tc>
                  <a:txBody>
                    <a:bodyPr wrap="square"/>
                    <a:lstStyle/>
                    <a:p>
                      <a:pPr>
                        <a:defRPr b="1" sz="900">
                          <a:solidFill>
                            <a:srgbClr val="FFFFFF"/>
                          </a:solidFill>
                        </a:defRPr>
                      </a:pPr>
                      <a:r>
                        <a:t>Yearly Volume</a:t>
                      </a:r>
                    </a:p>
                  </a:txBody>
                  <a:tcPr>
                    <a:solidFill>
                      <a:srgbClr val="003366"/>
                    </a:solidFill>
                  </a:tcPr>
                </a:tc>
                <a:tc>
                  <a:txBody>
                    <a:bodyPr wrap="square"/>
                    <a:lstStyle/>
                    <a:p>
                      <a:pPr>
                        <a:defRPr b="1" sz="900">
                          <a:solidFill>
                            <a:srgbClr val="FFFFFF"/>
                          </a:solidFill>
                        </a:defRPr>
                      </a:pPr>
                      <a:r>
                        <a:t>Total Saving</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r>
              <a:tr h="391477">
                <a:tc>
                  <a:txBody>
                    <a:bodyPr wrap="square" lIns="50800" rIns="50800" tIns="25400" bIns="25400"/>
                    <a:lstStyle/>
                    <a:p>
                      <a:pPr>
                        <a:defRPr sz="800">
                          <a:solidFill>
                            <a:srgbClr val="333333"/>
                          </a:solidFill>
                          <a:latin typeface="Calibri"/>
                        </a:defRPr>
                      </a:pPr>
                      <a:r>
                        <a:t>2311-SP-ID-01</a:t>
                      </a:r>
                    </a:p>
                  </a:txBody>
                  <a:tcPr/>
                </a:tc>
                <a:tc>
                  <a:txBody>
                    <a:bodyPr wrap="square" lIns="50800" rIns="50800" tIns="25400" bIns="25400"/>
                    <a:lstStyle/>
                    <a:p>
                      <a:pPr>
                        <a:defRPr sz="800">
                          <a:solidFill>
                            <a:srgbClr val="333333"/>
                          </a:solidFill>
                          <a:latin typeface="Calibri"/>
                        </a:defRPr>
                      </a:pPr>
                      <a:r>
                        <a:t>1. Reduce the overall wall thickness of the Brake Dust Cover Plates present on all four wheel hubs of the vehicles from 1mm to 0.8mm</a:t>
                      </a:r>
                      <a:br/>
                      <a:r>
                        <a:t>2. Reduce the paint coating thickness on each side of all four plates from 56 microns to 27.8 microns</a:t>
                      </a:r>
                    </a:p>
                  </a:txBody>
                  <a:tcPr/>
                </a:tc>
                <a:tc>
                  <a:txBody>
                    <a:bodyPr wrap="square" lIns="50800" rIns="50800" tIns="25400" bIns="25400"/>
                    <a:lstStyle/>
                    <a:p>
                      <a:pPr>
                        <a:defRPr sz="800">
                          <a:solidFill>
                            <a:srgbClr val="333333"/>
                          </a:solidFill>
                          <a:latin typeface="Calibri"/>
                        </a:defRPr>
                      </a:pPr>
                      <a:r>
                        <a:t>5,00,000 INR (Est)</a:t>
                      </a:r>
                    </a:p>
                  </a:txBody>
                  <a:tcPr/>
                </a:tc>
                <a:tc>
                  <a:txBody>
                    <a:bodyPr wrap="square" lIns="50800" rIns="50800" tIns="25400" bIns="25400"/>
                    <a:lstStyle/>
                    <a:p>
                      <a:pPr>
                        <a:defRPr sz="800">
                          <a:solidFill>
                            <a:srgbClr val="333333"/>
                          </a:solidFill>
                          <a:latin typeface="Calibri"/>
                        </a:defRPr>
                      </a:pPr>
                      <a:r>
                        <a:t>57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5,700,000</a:t>
                      </a:r>
                    </a:p>
                  </a:txBody>
                  <a:tcPr/>
                </a:tc>
                <a:tc>
                  <a:txBody>
                    <a:bodyPr wrap="square" lIns="50800" rIns="50800" tIns="25400" bIns="25400"/>
                    <a:lstStyle/>
                    <a:p>
                      <a:pPr>
                        <a:defRPr sz="800">
                          <a:solidFill>
                            <a:srgbClr val="333333"/>
                          </a:solidFill>
                          <a:latin typeface="Calibri"/>
                        </a:defRPr>
                      </a:pPr>
                      <a:r>
                        <a:t>NG</a:t>
                      </a:r>
                    </a:p>
                  </a:txBody>
                  <a:tcPr/>
                </a:tc>
              </a:tr>
              <a:tr h="391477">
                <a:tc>
                  <a:txBody>
                    <a:bodyPr wrap="square" lIns="50800" rIns="50800" tIns="25400" bIns="25400"/>
                    <a:lstStyle/>
                    <a:p>
                      <a:pPr>
                        <a:defRPr sz="800">
                          <a:solidFill>
                            <a:srgbClr val="333333"/>
                          </a:solidFill>
                          <a:latin typeface="Calibri"/>
                        </a:defRPr>
                      </a:pPr>
                      <a:r>
                        <a:t>2311-BA-ID-02</a:t>
                      </a:r>
                    </a:p>
                  </a:txBody>
                  <a:tcPr/>
                </a:tc>
                <a:tc>
                  <a:txBody>
                    <a:bodyPr wrap="square" lIns="50800" rIns="50800" tIns="25400" bIns="25400"/>
                    <a:lstStyle/>
                    <a:p>
                      <a:pPr>
                        <a:defRPr sz="800">
                          <a:solidFill>
                            <a:srgbClr val="333333"/>
                          </a:solidFill>
                          <a:latin typeface="Calibri"/>
                        </a:defRPr>
                      </a:pPr>
                      <a:r>
                        <a:t>Remove the black paint coating from the Brake Caliper Mounting Brackets on all four brake assemblies of MGI, following the procedure used for the front brake caliper mounting brackets in KIA.</a:t>
                      </a:r>
                    </a:p>
                  </a:txBody>
                  <a:tcPr/>
                </a:tc>
                <a:tc>
                  <a:txBody>
                    <a:bodyPr wrap="square" lIns="50800" rIns="50800" tIns="25400" bIns="25400"/>
                    <a:lstStyle/>
                    <a:p>
                      <a:pPr>
                        <a:defRPr sz="800">
                          <a:solidFill>
                            <a:srgbClr val="333333"/>
                          </a:solidFill>
                          <a:latin typeface="Calibri"/>
                        </a:defRPr>
                      </a:pPr>
                      <a:r>
                        <a:t>5,00,000 INR (Est)</a:t>
                      </a:r>
                    </a:p>
                  </a:txBody>
                  <a:tcPr/>
                </a:tc>
                <a:tc>
                  <a:txBody>
                    <a:bodyPr wrap="square" lIns="50800" rIns="50800" tIns="25400" bIns="25400"/>
                    <a:lstStyle/>
                    <a:p>
                      <a:pPr>
                        <a:defRPr sz="800">
                          <a:solidFill>
                            <a:srgbClr val="333333"/>
                          </a:solidFill>
                          <a:latin typeface="Calibri"/>
                        </a:defRPr>
                      </a:pPr>
                      <a:r>
                        <a:t>102</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10,200,000</a:t>
                      </a:r>
                    </a:p>
                  </a:txBody>
                  <a:tcPr/>
                </a:tc>
                <a:tc>
                  <a:txBody>
                    <a:bodyPr wrap="square" lIns="50800" rIns="50800" tIns="25400" bIns="25400"/>
                    <a:lstStyle/>
                    <a:p>
                      <a:pPr>
                        <a:defRPr sz="800">
                          <a:solidFill>
                            <a:srgbClr val="333333"/>
                          </a:solidFill>
                          <a:latin typeface="Calibri"/>
                        </a:defRPr>
                      </a:pPr>
                      <a:r>
                        <a:t>NG</a:t>
                      </a:r>
                    </a:p>
                  </a:txBody>
                  <a:tcPr/>
                </a:tc>
              </a:tr>
              <a:tr h="391477">
                <a:tc>
                  <a:txBody>
                    <a:bodyPr wrap="square" lIns="50800" rIns="50800" tIns="25400" bIns="25400"/>
                    <a:lstStyle/>
                    <a:p>
                      <a:pPr>
                        <a:defRPr sz="800">
                          <a:solidFill>
                            <a:srgbClr val="333333"/>
                          </a:solidFill>
                          <a:latin typeface="Calibri"/>
                        </a:defRPr>
                      </a:pPr>
                      <a:r>
                        <a:t>2311-BA-ID-01</a:t>
                      </a:r>
                    </a:p>
                  </a:txBody>
                  <a:tcPr/>
                </a:tc>
                <a:tc>
                  <a:txBody>
                    <a:bodyPr wrap="square" lIns="50800" rIns="50800" tIns="25400" bIns="25400"/>
                    <a:lstStyle/>
                    <a:p>
                      <a:pPr>
                        <a:defRPr sz="800">
                          <a:solidFill>
                            <a:srgbClr val="333333"/>
                          </a:solidFill>
                          <a:latin typeface="Calibri"/>
                        </a:defRPr>
                      </a:pPr>
                      <a:r>
                        <a:t>The Brake Booster Plate in MGI could be integrated into the Dashboard BIW of the vehicle as done in KIA</a:t>
                      </a:r>
                    </a:p>
                  </a:txBody>
                  <a:tcPr/>
                </a:tc>
                <a:tc>
                  <a:txBody>
                    <a:bodyPr wrap="square" lIns="50800" rIns="50800" tIns="25400" bIns="25400"/>
                    <a:lstStyle/>
                    <a:p>
                      <a:pPr>
                        <a:defRPr sz="800">
                          <a:solidFill>
                            <a:srgbClr val="333333"/>
                          </a:solidFill>
                          <a:latin typeface="Calibri"/>
                        </a:defRPr>
                      </a:pPr>
                      <a:r>
                        <a:t>5,00,000 INR (Est)</a:t>
                      </a:r>
                    </a:p>
                  </a:txBody>
                  <a:tcPr/>
                </a:tc>
                <a:tc>
                  <a:txBody>
                    <a:bodyPr wrap="square" lIns="50800" rIns="50800" tIns="25400" bIns="25400"/>
                    <a:lstStyle/>
                    <a:p>
                      <a:pPr>
                        <a:defRPr sz="800">
                          <a:solidFill>
                            <a:srgbClr val="333333"/>
                          </a:solidFill>
                          <a:latin typeface="Calibri"/>
                        </a:defRPr>
                      </a:pPr>
                      <a:r>
                        <a:t>47</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4,700,000</a:t>
                      </a:r>
                    </a:p>
                  </a:txBody>
                  <a:tcPr/>
                </a:tc>
                <a:tc>
                  <a:txBody>
                    <a:bodyPr wrap="square" lIns="50800" rIns="50800" tIns="25400" bIns="25400"/>
                    <a:lstStyle/>
                    <a:p>
                      <a:pPr>
                        <a:defRPr sz="800">
                          <a:solidFill>
                            <a:srgbClr val="333333"/>
                          </a:solidFill>
                          <a:latin typeface="Calibri"/>
                        </a:defRPr>
                      </a:pPr>
                      <a:r>
                        <a:t>NG</a:t>
                      </a:r>
                    </a:p>
                  </a:txBody>
                  <a:tcPr/>
                </a:tc>
              </a:tr>
              <a:tr h="391477">
                <a:tc>
                  <a:txBody>
                    <a:bodyPr wrap="square" lIns="50800" rIns="50800" tIns="25400" bIns="25400"/>
                    <a:lstStyle/>
                    <a:p>
                      <a:pPr>
                        <a:defRPr sz="800">
                          <a:solidFill>
                            <a:srgbClr val="333333"/>
                          </a:solidFill>
                          <a:latin typeface="Calibri"/>
                        </a:defRPr>
                      </a:pPr>
                      <a:r>
                        <a:t>AI-GEN-002</a:t>
                      </a:r>
                    </a:p>
                  </a:txBody>
                  <a:tcPr/>
                </a:tc>
                <a:tc>
                  <a:txBody>
                    <a:bodyPr wrap="square" lIns="50800" rIns="50800" tIns="25400" bIns="25400"/>
                    <a:lstStyle/>
                    <a:p>
                      <a:pPr>
                        <a:defRPr sz="800">
                          <a:solidFill>
                            <a:srgbClr val="333333"/>
                          </a:solidFill>
                          <a:latin typeface="Calibri"/>
                        </a:defRPr>
                      </a:pPr>
                      <a:r>
                        <a:t>Substitute the current cast iron caliper material for the front brake calipers with a more cost-effective, high-strength aluminum alloy, while maintaining or improving structural rigidity and thermal dissipation.</a:t>
                      </a:r>
                    </a:p>
                  </a:txBody>
                  <a:tcPr/>
                </a:tc>
                <a:tc>
                  <a:txBody>
                    <a:bodyPr wrap="square" lIns="50800" rIns="50800" tIns="25400" bIns="25400"/>
                    <a:lstStyle/>
                    <a:p>
                      <a:pPr>
                        <a:defRPr sz="800">
                          <a:solidFill>
                            <a:srgbClr val="333333"/>
                          </a:solidFill>
                          <a:latin typeface="Calibri"/>
                        </a:defRPr>
                      </a:pPr>
                      <a:r>
                        <a:t>5,00,000 INR (Est)</a:t>
                      </a:r>
                    </a:p>
                  </a:txBody>
                  <a:tcPr/>
                </a:tc>
                <a:tc>
                  <a:txBody>
                    <a:bodyPr wrap="square" lIns="50800" rIns="50800" tIns="25400" bIns="25400"/>
                    <a:lstStyle/>
                    <a:p>
                      <a:pPr>
                        <a:defRPr sz="800">
                          <a:solidFill>
                            <a:srgbClr val="333333"/>
                          </a:solidFill>
                          <a:latin typeface="Calibri"/>
                        </a:defRPr>
                      </a:pPr>
                      <a:r>
                        <a:t>2000000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200,000,000,000</a:t>
                      </a:r>
                    </a:p>
                  </a:txBody>
                  <a:tcPr/>
                </a:tc>
                <a:tc>
                  <a:txBody>
                    <a:bodyPr wrap="square" lIns="50800" rIns="50800" tIns="25400" bIns="25400"/>
                    <a:lstStyle/>
                    <a:p>
                      <a:pPr>
                        <a:defRPr sz="800">
                          <a:solidFill>
                            <a:srgbClr val="333333"/>
                          </a:solidFill>
                          <a:latin typeface="Calibri"/>
                        </a:defRPr>
                      </a:pPr>
                      <a:r>
                        <a:t>Auto-Approved</a:t>
                      </a:r>
                    </a:p>
                  </a:txBody>
                  <a:tcPr/>
                </a:tc>
              </a:tr>
              <a:tr h="391477">
                <a:tc>
                  <a:txBody>
                    <a:bodyPr wrap="square" lIns="50800" rIns="50800" tIns="25400" bIns="25400"/>
                    <a:lstStyle/>
                    <a:p>
                      <a:pPr>
                        <a:defRPr sz="800">
                          <a:solidFill>
                            <a:srgbClr val="333333"/>
                          </a:solidFill>
                          <a:latin typeface="Calibri"/>
                        </a:defRPr>
                      </a:pPr>
                      <a:r>
                        <a:t>AI-GEN-003</a:t>
                      </a:r>
                    </a:p>
                  </a:txBody>
                  <a:tcPr/>
                </a:tc>
                <a:tc>
                  <a:txBody>
                    <a:bodyPr wrap="square" lIns="50800" rIns="50800" tIns="25400" bIns="25400"/>
                    <a:lstStyle/>
                    <a:p>
                      <a:pPr>
                        <a:defRPr sz="800">
                          <a:solidFill>
                            <a:srgbClr val="333333"/>
                          </a:solidFill>
                          <a:latin typeface="Calibri"/>
                        </a:defRPr>
                      </a:pPr>
                      <a:r>
                        <a:t>Reduce the gauge of the steel used for the rear brake dust shields from the current 1.0mm to 0.8mm, provided structural integrity and corrosion resistance are maintained.</a:t>
                      </a:r>
                    </a:p>
                  </a:txBody>
                  <a:tcPr/>
                </a:tc>
                <a:tc>
                  <a:txBody>
                    <a:bodyPr wrap="square" lIns="50800" rIns="50800" tIns="25400" bIns="25400"/>
                    <a:lstStyle/>
                    <a:p>
                      <a:pPr>
                        <a:defRPr sz="800">
                          <a:solidFill>
                            <a:srgbClr val="333333"/>
                          </a:solidFill>
                          <a:latin typeface="Calibri"/>
                        </a:defRPr>
                      </a:pPr>
                      <a:r>
                        <a:t>5,00,000 INR (Est)</a:t>
                      </a:r>
                    </a:p>
                  </a:txBody>
                  <a:tcPr/>
                </a:tc>
                <a:tc>
                  <a:txBody>
                    <a:bodyPr wrap="square" lIns="50800" rIns="50800" tIns="25400" bIns="25400"/>
                    <a:lstStyle/>
                    <a:p>
                      <a:pPr>
                        <a:defRPr sz="800">
                          <a:solidFill>
                            <a:srgbClr val="333333"/>
                          </a:solidFill>
                          <a:latin typeface="Calibri"/>
                        </a:defRPr>
                      </a:pPr>
                      <a:r>
                        <a:t>800000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80,000,000,000</a:t>
                      </a:r>
                    </a:p>
                  </a:txBody>
                  <a:tcPr/>
                </a:tc>
                <a:tc>
                  <a:txBody>
                    <a:bodyPr wrap="square" lIns="50800" rIns="50800" tIns="25400" bIns="25400"/>
                    <a:lstStyle/>
                    <a:p>
                      <a:pPr>
                        <a:defRPr sz="800">
                          <a:solidFill>
                            <a:srgbClr val="333333"/>
                          </a:solidFill>
                          <a:latin typeface="Calibri"/>
                        </a:defRPr>
                      </a:pPr>
                      <a:r>
                        <a:t>Auto-Approved</a:t>
                      </a:r>
                    </a:p>
                  </a:txBody>
                  <a:tcPr/>
                </a:tc>
              </a:tr>
              <a:tr h="391477">
                <a:tc>
                  <a:txBody>
                    <a:bodyPr wrap="square" lIns="50800" rIns="50800" tIns="25400" bIns="25400"/>
                    <a:lstStyle/>
                    <a:p>
                      <a:pPr>
                        <a:defRPr sz="800">
                          <a:solidFill>
                            <a:srgbClr val="333333"/>
                          </a:solidFill>
                          <a:latin typeface="Calibri"/>
                        </a:defRPr>
                      </a:pPr>
                      <a:r>
                        <a:t>AI-GEN-005</a:t>
                      </a:r>
                    </a:p>
                  </a:txBody>
                  <a:tcPr/>
                </a:tc>
                <a:tc>
                  <a:txBody>
                    <a:bodyPr wrap="square" lIns="50800" rIns="50800" tIns="25400" bIns="25400"/>
                    <a:lstStyle/>
                    <a:p>
                      <a:pPr>
                        <a:defRPr sz="800">
                          <a:solidFill>
                            <a:srgbClr val="333333"/>
                          </a:solidFill>
                          <a:latin typeface="Calibri"/>
                        </a:defRPr>
                      </a:pPr>
                      <a:r>
                        <a:t>Implement a single-piece caliper bracket design for the rear brakes that eliminates the need for separate mounting bolts and associated machining, reducing part count and assembly complexity.</a:t>
                      </a:r>
                    </a:p>
                  </a:txBody>
                  <a:tcPr/>
                </a:tc>
                <a:tc>
                  <a:txBody>
                    <a:bodyPr wrap="square" lIns="50800" rIns="50800" tIns="25400" bIns="25400"/>
                    <a:lstStyle/>
                    <a:p>
                      <a:pPr>
                        <a:defRPr sz="800">
                          <a:solidFill>
                            <a:srgbClr val="333333"/>
                          </a:solidFill>
                          <a:latin typeface="Calibri"/>
                        </a:defRPr>
                      </a:pPr>
                      <a:r>
                        <a:t>5,00,000 INR (Est)</a:t>
                      </a:r>
                    </a:p>
                  </a:txBody>
                  <a:tcPr/>
                </a:tc>
                <a:tc>
                  <a:txBody>
                    <a:bodyPr wrap="square" lIns="50800" rIns="50800" tIns="25400" bIns="25400"/>
                    <a:lstStyle/>
                    <a:p>
                      <a:pPr>
                        <a:defRPr sz="800">
                          <a:solidFill>
                            <a:srgbClr val="333333"/>
                          </a:solidFill>
                          <a:latin typeface="Calibri"/>
                        </a:defRPr>
                      </a:pPr>
                      <a:r>
                        <a:t>900000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90,000,000,000</a:t>
                      </a:r>
                    </a:p>
                  </a:txBody>
                  <a:tcPr/>
                </a:tc>
                <a:tc>
                  <a:txBody>
                    <a:bodyPr wrap="square" lIns="50800" rIns="50800" tIns="25400" bIns="25400"/>
                    <a:lstStyle/>
                    <a:p>
                      <a:pPr>
                        <a:defRPr sz="800">
                          <a:solidFill>
                            <a:srgbClr val="333333"/>
                          </a:solidFill>
                          <a:latin typeface="Calibri"/>
                        </a:defRPr>
                      </a:pPr>
                      <a:r>
                        <a:t>Auto-Approved</a:t>
                      </a:r>
                    </a:p>
                  </a:txBody>
                  <a:tcPr/>
                </a:tc>
              </a:tr>
              <a:tr h="391477">
                <a:tc>
                  <a:txBody>
                    <a:bodyPr wrap="square" lIns="50800" rIns="50800" tIns="25400" bIns="25400"/>
                    <a:lstStyle/>
                    <a:p>
                      <a:pPr>
                        <a:defRPr sz="800">
                          <a:solidFill>
                            <a:srgbClr val="333333"/>
                          </a:solidFill>
                          <a:latin typeface="Calibri"/>
                        </a:defRPr>
                      </a:pPr>
                      <a:r>
                        <a:t>AI-GEN-006</a:t>
                      </a:r>
                    </a:p>
                  </a:txBody>
                  <a:tcPr/>
                </a:tc>
                <a:tc>
                  <a:txBody>
                    <a:bodyPr wrap="square" lIns="50800" rIns="50800" tIns="25400" bIns="25400"/>
                    <a:lstStyle/>
                    <a:p>
                      <a:pPr>
                        <a:defRPr sz="800">
                          <a:solidFill>
                            <a:srgbClr val="333333"/>
                          </a:solidFill>
                          <a:latin typeface="Calibri"/>
                        </a:defRPr>
                      </a:pPr>
                      <a:r>
                        <a:t>Reduce the diameter of the rear brake discs by 5mm, provided the swept area and thermal mass are still sufficient for the vehicle's braking requirements and regulations.</a:t>
                      </a:r>
                    </a:p>
                  </a:txBody>
                  <a:tcPr/>
                </a:tc>
                <a:tc>
                  <a:txBody>
                    <a:bodyPr wrap="square" lIns="50800" rIns="50800" tIns="25400" bIns="25400"/>
                    <a:lstStyle/>
                    <a:p>
                      <a:pPr>
                        <a:defRPr sz="800">
                          <a:solidFill>
                            <a:srgbClr val="333333"/>
                          </a:solidFill>
                          <a:latin typeface="Calibri"/>
                        </a:defRPr>
                      </a:pPr>
                      <a:r>
                        <a:t>5,00,000 INR (Est)</a:t>
                      </a:r>
                    </a:p>
                  </a:txBody>
                  <a:tcPr/>
                </a:tc>
                <a:tc>
                  <a:txBody>
                    <a:bodyPr wrap="square" lIns="50800" rIns="50800" tIns="25400" bIns="25400"/>
                    <a:lstStyle/>
                    <a:p>
                      <a:pPr>
                        <a:defRPr sz="800">
                          <a:solidFill>
                            <a:srgbClr val="333333"/>
                          </a:solidFill>
                          <a:latin typeface="Calibri"/>
                        </a:defRPr>
                      </a:pPr>
                      <a:r>
                        <a:t>1000000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100,000,000,000</a:t>
                      </a:r>
                    </a:p>
                  </a:txBody>
                  <a:tcPr/>
                </a:tc>
                <a:tc>
                  <a:txBody>
                    <a:bodyPr wrap="square" lIns="50800" rIns="50800" tIns="25400" bIns="25400"/>
                    <a:lstStyle/>
                    <a:p>
                      <a:pPr>
                        <a:defRPr sz="800">
                          <a:solidFill>
                            <a:srgbClr val="333333"/>
                          </a:solidFill>
                          <a:latin typeface="Calibri"/>
                        </a:defRPr>
                      </a:pPr>
                      <a:r>
                        <a:t>Auto-Approved</a:t>
                      </a:r>
                    </a:p>
                  </a:txBody>
                  <a:tcPr/>
                </a:tc>
              </a:tr>
              <a:tr h="391477">
                <a:tc>
                  <a:txBody>
                    <a:bodyPr wrap="square" lIns="50800" rIns="50800" tIns="25400" bIns="25400"/>
                    <a:lstStyle/>
                    <a:p>
                      <a:pPr>
                        <a:defRPr sz="800">
                          <a:solidFill>
                            <a:srgbClr val="333333"/>
                          </a:solidFill>
                          <a:latin typeface="Calibri"/>
                        </a:defRPr>
                      </a:pPr>
                      <a:r>
                        <a:t>AI-GEN-012</a:t>
                      </a:r>
                    </a:p>
                  </a:txBody>
                  <a:tcPr/>
                </a:tc>
                <a:tc>
                  <a:txBody>
                    <a:bodyPr wrap="square" lIns="50800" rIns="50800" tIns="25400" bIns="25400"/>
                    <a:lstStyle/>
                    <a:p>
                      <a:pPr>
                        <a:defRPr sz="800">
                          <a:solidFill>
                            <a:srgbClr val="333333"/>
                          </a:solidFill>
                          <a:latin typeface="Calibri"/>
                        </a:defRPr>
                      </a:pPr>
                      <a:r>
                        <a:t>Optimize the machining process for the brake rotor casting to remove excess material from non-critical areas, reducing machining time and waste, without impacting structural integrity or thermal performance.</a:t>
                      </a:r>
                    </a:p>
                  </a:txBody>
                  <a:tcPr/>
                </a:tc>
                <a:tc>
                  <a:txBody>
                    <a:bodyPr wrap="square" lIns="50800" rIns="50800" tIns="25400" bIns="25400"/>
                    <a:lstStyle/>
                    <a:p>
                      <a:pPr>
                        <a:defRPr sz="800">
                          <a:solidFill>
                            <a:srgbClr val="333333"/>
                          </a:solidFill>
                          <a:latin typeface="Calibri"/>
                        </a:defRPr>
                      </a:pPr>
                      <a:r>
                        <a:t>5,00,000 INR (Est)</a:t>
                      </a:r>
                    </a:p>
                  </a:txBody>
                  <a:tcPr/>
                </a:tc>
                <a:tc>
                  <a:txBody>
                    <a:bodyPr wrap="square" lIns="50800" rIns="50800" tIns="25400" bIns="25400"/>
                    <a:lstStyle/>
                    <a:p>
                      <a:pPr>
                        <a:defRPr sz="800">
                          <a:solidFill>
                            <a:srgbClr val="333333"/>
                          </a:solidFill>
                          <a:latin typeface="Calibri"/>
                        </a:defRPr>
                      </a:pPr>
                      <a:r>
                        <a:t>1100000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110,000,000,000</a:t>
                      </a:r>
                    </a:p>
                  </a:txBody>
                  <a:tcPr/>
                </a:tc>
                <a:tc>
                  <a:txBody>
                    <a:bodyPr wrap="square" lIns="50800" rIns="50800" tIns="25400" bIns="25400"/>
                    <a:lstStyle/>
                    <a:p>
                      <a:pPr>
                        <a:defRPr sz="800">
                          <a:solidFill>
                            <a:srgbClr val="333333"/>
                          </a:solidFill>
                          <a:latin typeface="Calibri"/>
                        </a:defRPr>
                      </a:pPr>
                      <a:r>
                        <a:t>Auto-Approved</a:t>
                      </a:r>
                    </a:p>
                  </a:txBody>
                  <a:tcPr/>
                </a:tc>
              </a:tr>
              <a:tr h="391477">
                <a:tc>
                  <a:txBody>
                    <a:bodyPr wrap="square" lIns="50800" rIns="50800" tIns="25400" bIns="25400"/>
                    <a:lstStyle/>
                    <a:p>
                      <a:pPr>
                        <a:defRPr sz="800">
                          <a:solidFill>
                            <a:srgbClr val="333333"/>
                          </a:solidFill>
                          <a:latin typeface="Calibri"/>
                        </a:defRPr>
                      </a:pPr>
                      <a:r>
                        <a:t>AI-GEN-001</a:t>
                      </a:r>
                    </a:p>
                  </a:txBody>
                  <a:tcPr/>
                </a:tc>
                <a:tc>
                  <a:txBody>
                    <a:bodyPr wrap="square" lIns="50800" rIns="50800" tIns="25400" bIns="25400"/>
                    <a:lstStyle/>
                    <a:p>
                      <a:pPr>
                        <a:defRPr sz="800">
                          <a:solidFill>
                            <a:srgbClr val="333333"/>
                          </a:solidFill>
                          <a:latin typeface="Calibri"/>
                        </a:defRPr>
                      </a:pPr>
                      <a:r>
                        <a:t>Reduce the rotor thickness for the rear brake discs from the current specification (e.g., 10mm) to a standardized, lighter gauge (e.g., 9mm) while ensuring thermal capacity and wear life remain within performance targets.</a:t>
                      </a:r>
                    </a:p>
                  </a:txBody>
                  <a:tcPr/>
                </a:tc>
                <a:tc>
                  <a:txBody>
                    <a:bodyPr wrap="square" lIns="50800" rIns="50800" tIns="25400" bIns="25400"/>
                    <a:lstStyle/>
                    <a:p>
                      <a:pPr>
                        <a:defRPr sz="800">
                          <a:solidFill>
                            <a:srgbClr val="333333"/>
                          </a:solidFill>
                          <a:latin typeface="Calibri"/>
                        </a:defRPr>
                      </a:pPr>
                      <a:r>
                        <a:t>5,00,000 INR (Est)</a:t>
                      </a:r>
                    </a:p>
                  </a:txBody>
                  <a:tcPr/>
                </a:tc>
                <a:tc>
                  <a:txBody>
                    <a:bodyPr wrap="square" lIns="50800" rIns="50800" tIns="25400" bIns="25400"/>
                    <a:lstStyle/>
                    <a:p>
                      <a:pPr>
                        <a:defRPr sz="800">
                          <a:solidFill>
                            <a:srgbClr val="333333"/>
                          </a:solidFill>
                          <a:latin typeface="Calibri"/>
                        </a:defRPr>
                      </a:pPr>
                      <a:r>
                        <a:t>1500000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150,000,000,000</a:t>
                      </a:r>
                    </a:p>
                  </a:txBody>
                  <a:tcPr/>
                </a:tc>
                <a:tc>
                  <a:txBody>
                    <a:bodyPr wrap="square" lIns="50800" rIns="50800" tIns="25400" bIns="25400"/>
                    <a:lstStyle/>
                    <a:p>
                      <a:pPr>
                        <a:defRPr sz="800">
                          <a:solidFill>
                            <a:srgbClr val="333333"/>
                          </a:solidFill>
                          <a:latin typeface="Calibri"/>
                        </a:defRPr>
                      </a:pPr>
                      <a:r>
                        <a:t>Needs Human Review</a:t>
                      </a:r>
                    </a:p>
                  </a:txBody>
                  <a:tcPr/>
                </a:tc>
              </a:tr>
              <a:tr h="391477">
                <a:tc>
                  <a:txBody>
                    <a:bodyPr wrap="square" lIns="50800" rIns="50800" tIns="25400" bIns="25400"/>
                    <a:lstStyle/>
                    <a:p>
                      <a:pPr>
                        <a:defRPr sz="800">
                          <a:solidFill>
                            <a:srgbClr val="333333"/>
                          </a:solidFill>
                          <a:latin typeface="Calibri"/>
                        </a:defRPr>
                      </a:pPr>
                      <a:r>
                        <a:t>AI-GEN-004</a:t>
                      </a:r>
                    </a:p>
                  </a:txBody>
                  <a:tcPr/>
                </a:tc>
                <a:tc>
                  <a:txBody>
                    <a:bodyPr wrap="square" lIns="50800" rIns="50800" tIns="25400" bIns="25400"/>
                    <a:lstStyle/>
                    <a:p>
                      <a:pPr>
                        <a:defRPr sz="800">
                          <a:solidFill>
                            <a:srgbClr val="333333"/>
                          </a:solidFill>
                          <a:latin typeface="Calibri"/>
                        </a:defRPr>
                      </a:pPr>
                      <a:r>
                        <a:t>Optimize the pad material formulation for the front brake pads to a lower-cost compound that meets or exceeds the current friction coefficient, fade resistance, and wear life requirements.</a:t>
                      </a:r>
                    </a:p>
                  </a:txBody>
                  <a:tcPr/>
                </a:tc>
                <a:tc>
                  <a:txBody>
                    <a:bodyPr wrap="square" lIns="50800" rIns="50800" tIns="25400" bIns="25400"/>
                    <a:lstStyle/>
                    <a:p>
                      <a:pPr>
                        <a:defRPr sz="800">
                          <a:solidFill>
                            <a:srgbClr val="333333"/>
                          </a:solidFill>
                          <a:latin typeface="Calibri"/>
                        </a:defRPr>
                      </a:pPr>
                      <a:r>
                        <a:t>5,00,000 INR (Est)</a:t>
                      </a:r>
                    </a:p>
                  </a:txBody>
                  <a:tcPr/>
                </a:tc>
                <a:tc>
                  <a:txBody>
                    <a:bodyPr wrap="square" lIns="50800" rIns="50800" tIns="25400" bIns="25400"/>
                    <a:lstStyle/>
                    <a:p>
                      <a:pPr>
                        <a:defRPr sz="800">
                          <a:solidFill>
                            <a:srgbClr val="333333"/>
                          </a:solidFill>
                          <a:latin typeface="Calibri"/>
                        </a:defRPr>
                      </a:pPr>
                      <a:r>
                        <a:t>1200000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120,000,000,000</a:t>
                      </a:r>
                    </a:p>
                  </a:txBody>
                  <a:tcPr/>
                </a:tc>
                <a:tc>
                  <a:txBody>
                    <a:bodyPr wrap="square" lIns="50800" rIns="50800" tIns="25400" bIns="25400"/>
                    <a:lstStyle/>
                    <a:p>
                      <a:pPr>
                        <a:defRPr sz="800">
                          <a:solidFill>
                            <a:srgbClr val="333333"/>
                          </a:solidFill>
                          <a:latin typeface="Calibri"/>
                        </a:defRPr>
                      </a:pPr>
                      <a:r>
                        <a:t>Needs Human Review</a:t>
                      </a:r>
                    </a:p>
                  </a:txBody>
                  <a:tcPr/>
                </a:tc>
              </a:tr>
              <a:tr h="391477">
                <a:tc>
                  <a:txBody>
                    <a:bodyPr wrap="square" lIns="50800" rIns="50800" tIns="25400" bIns="25400"/>
                    <a:lstStyle/>
                    <a:p>
                      <a:pPr>
                        <a:defRPr sz="800">
                          <a:solidFill>
                            <a:srgbClr val="333333"/>
                          </a:solidFill>
                          <a:latin typeface="Calibri"/>
                        </a:defRPr>
                      </a:pPr>
                      <a:r>
                        <a:t>AI-GEN-007</a:t>
                      </a:r>
                    </a:p>
                  </a:txBody>
                  <a:tcPr/>
                </a:tc>
                <a:tc>
                  <a:txBody>
                    <a:bodyPr wrap="square" lIns="50800" rIns="50800" tIns="25400" bIns="25400"/>
                    <a:lstStyle/>
                    <a:p>
                      <a:pPr>
                        <a:defRPr sz="800">
                          <a:solidFill>
                            <a:srgbClr val="333333"/>
                          </a:solidFill>
                          <a:latin typeface="Calibri"/>
                        </a:defRPr>
                      </a:pPr>
                      <a:r>
                        <a:t>Substitute the standard brake fluid (e.g., DOT 4) with a lower-cost, automotive-grade fluid that meets minimum required specifications for boiling point and viscosity, without compromising performance.</a:t>
                      </a:r>
                    </a:p>
                  </a:txBody>
                  <a:tcPr/>
                </a:tc>
                <a:tc>
                  <a:txBody>
                    <a:bodyPr wrap="square" lIns="50800" rIns="50800" tIns="25400" bIns="25400"/>
                    <a:lstStyle/>
                    <a:p>
                      <a:pPr>
                        <a:defRPr sz="800">
                          <a:solidFill>
                            <a:srgbClr val="333333"/>
                          </a:solidFill>
                          <a:latin typeface="Calibri"/>
                        </a:defRPr>
                      </a:pPr>
                      <a:r>
                        <a:t>5,00,000 INR (Est)</a:t>
                      </a:r>
                    </a:p>
                  </a:txBody>
                  <a:tcPr/>
                </a:tc>
                <a:tc>
                  <a:txBody>
                    <a:bodyPr wrap="square" lIns="50800" rIns="50800" tIns="25400" bIns="25400"/>
                    <a:lstStyle/>
                    <a:p>
                      <a:pPr>
                        <a:defRPr sz="800">
                          <a:solidFill>
                            <a:srgbClr val="333333"/>
                          </a:solidFill>
                          <a:latin typeface="Calibri"/>
                        </a:defRPr>
                      </a:pPr>
                      <a:r>
                        <a:t>500000</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50,000,000,000</a:t>
                      </a:r>
                    </a:p>
                  </a:txBody>
                  <a:tcPr/>
                </a:tc>
                <a:tc>
                  <a:txBody>
                    <a:bodyPr wrap="square" lIns="50800" rIns="50800" tIns="25400" bIns="25400"/>
                    <a:lstStyle/>
                    <a:p>
                      <a:pPr>
                        <a:defRPr sz="800">
                          <a:solidFill>
                            <a:srgbClr val="333333"/>
                          </a:solidFill>
                          <a:latin typeface="Calibri"/>
                        </a:defRPr>
                      </a:pPr>
                      <a:r>
                        <a:t>Needs Human Review</a:t>
                      </a:r>
                    </a:p>
                  </a:txBody>
                  <a:tcPr/>
                </a:tc>
              </a:tr>
              <a:tr h="391477">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Investigate the use of HSLA steel for brake rotor hats and potentially friction rings in place of traditional cast iron, focusing on advanced manufacturing techniques like precision forging or stamping to achieve necessary dimensional accuracy and thermal properties. This would leverage the 'Market trends indicate shift to High-Strength Low-Alloy (HSLA) steels' academic context and adapt it to the MG Hector.</a:t>
                      </a:r>
                    </a:p>
                  </a:txBody>
                  <a:tcPr/>
                </a:tc>
                <a:tc>
                  <a:txBody>
                    <a:bodyPr wrap="square" lIns="50800" rIns="50800" tIns="25400" bIns="25400"/>
                    <a:lstStyle/>
                    <a:p>
                      <a:pPr>
                        <a:defRPr sz="800">
                          <a:solidFill>
                            <a:srgbClr val="333333"/>
                          </a:solidFill>
                          <a:latin typeface="Calibri"/>
                        </a:defRPr>
                      </a:pPr>
                      <a:r>
                        <a:t>5,00,000 INR (Est)</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r>
              <a:tr h="391477">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Explore the application of thin-wall casting techniques for brake calipers, potentially using aluminum alloys or advanced cast iron compositions to reduce material usage and weight, while maintaining structural rigidity and thermal performance. This adapts the 'thin-wall castings' trend to the MG Hector's C-SUV segment and its weight constraints.</a:t>
                      </a:r>
                    </a:p>
                  </a:txBody>
                  <a:tcPr/>
                </a:tc>
                <a:tc>
                  <a:txBody>
                    <a:bodyPr wrap="square" lIns="50800" rIns="50800" tIns="25400" bIns="25400"/>
                    <a:lstStyle/>
                    <a:p>
                      <a:pPr>
                        <a:defRPr sz="800">
                          <a:solidFill>
                            <a:srgbClr val="333333"/>
                          </a:solidFill>
                          <a:latin typeface="Calibri"/>
                        </a:defRPr>
                      </a:pPr>
                      <a:r>
                        <a:t>5,00,000 INR (Est)</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r>
              <a:tr h="391477">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Investigate the use of a thicker, more robust dust shield made from a lower-cost, high-temperature resistant polymer or a lighter gauge stamped steel, optimized for heat dissipation and debris protection without compromising the functionality of the brake assembly or requiring significant tooling changes. This directly addresses the 'Dust shield gauge' component focus.</a:t>
                      </a:r>
                    </a:p>
                  </a:txBody>
                  <a:tcPr/>
                </a:tc>
                <a:tc>
                  <a:txBody>
                    <a:bodyPr wrap="square" lIns="50800" rIns="50800" tIns="25400" bIns="25400"/>
                    <a:lstStyle/>
                    <a:p>
                      <a:pPr>
                        <a:defRPr sz="800">
                          <a:solidFill>
                            <a:srgbClr val="333333"/>
                          </a:solidFill>
                          <a:latin typeface="Calibri"/>
                        </a:defRPr>
                      </a:pPr>
                      <a:r>
                        <a:t>5,00,000 INR (Est)</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Industry Trend</a:t>
                      </a:r>
                    </a:p>
                  </a:txBody>
                  <a:tcPr/>
                </a:tc>
              </a:tr>
              <a:tr h="391485">
                <a:tc>
                  <a:txBody>
                    <a:bodyPr wrap="square" lIns="50800" rIns="50800" tIns="25400" bIns="25400"/>
                    <a:lstStyle/>
                    <a:p>
                      <a:pPr>
                        <a:defRPr sz="800">
                          <a:solidFill>
                            <a:srgbClr val="333333"/>
                          </a:solidFill>
                          <a:latin typeface="Calibri"/>
                        </a:defRPr>
                      </a:pPr>
                      <a:r>
                        <a:t>N/A</a:t>
                      </a:r>
                    </a:p>
                  </a:txBody>
                  <a:tcPr/>
                </a:tc>
                <a:tc>
                  <a:txBody>
                    <a:bodyPr wrap="square" lIns="50800" rIns="50800" tIns="25400" bIns="25400"/>
                    <a:lstStyle/>
                    <a:p>
                      <a:pPr>
                        <a:defRPr sz="800">
                          <a:solidFill>
                            <a:srgbClr val="333333"/>
                          </a:solidFill>
                          <a:latin typeface="Calibri"/>
                        </a:defRPr>
                      </a:pPr>
                      <a:r>
                        <a:t>Optimize the friction coefficient of brake pads through advanced material formulations, focusing on hybrid organic-metallic compounds that offer a balance of performance, durability, and cost. This aims to extend pad life and reduce rotor wear, indirectly contributing to cost reduction over the vehicle lifecycle, while adhering to the 'Friction Coeff' and 'Fade Resistance' physics.</a:t>
                      </a:r>
                    </a:p>
                  </a:txBody>
                  <a:tcPr/>
                </a:tc>
                <a:tc>
                  <a:txBody>
                    <a:bodyPr wrap="square" lIns="50800" rIns="50800" tIns="25400" bIns="25400"/>
                    <a:lstStyle/>
                    <a:p>
                      <a:pPr>
                        <a:defRPr sz="800">
                          <a:solidFill>
                            <a:srgbClr val="333333"/>
                          </a:solidFill>
                          <a:latin typeface="Calibri"/>
                        </a:defRPr>
                      </a:pPr>
                      <a:r>
                        <a:t>5,00,000 INR (Est)</a:t>
                      </a:r>
                    </a:p>
                  </a:txBody>
                  <a:tcPr/>
                </a:tc>
                <a:tc>
                  <a:txBody>
                    <a:bodyPr wrap="square" lIns="50800" rIns="50800" tIns="25400" bIns="25400"/>
                    <a:lstStyle/>
                    <a:p>
                      <a:pPr>
                        <a:defRPr sz="800">
                          <a:solidFill>
                            <a:srgbClr val="333333"/>
                          </a:solidFill>
                          <a:latin typeface="Calibri"/>
                        </a:defRPr>
                      </a:pPr>
                      <a:r>
                        <a:t>TBD</a:t>
                      </a:r>
                    </a:p>
                  </a:txBody>
                  <a:tcPr/>
                </a:tc>
                <a:tc>
                  <a:txBody>
                    <a:bodyPr wrap="square" lIns="50800" rIns="50800" tIns="25400" bIns="25400"/>
                    <a:lstStyle/>
                    <a:p>
                      <a:pPr>
                        <a:defRPr sz="800">
                          <a:solidFill>
                            <a:srgbClr val="333333"/>
                          </a:solidFill>
                          <a:latin typeface="Calibri"/>
                        </a:defRPr>
                      </a:pPr>
                      <a:r>
                        <a:t>100000</a:t>
                      </a:r>
                    </a:p>
                  </a:txBody>
                  <a:tcPr/>
                </a:tc>
                <a:tc>
                  <a:txBody>
                    <a:bodyPr wrap="square" lIns="50800" rIns="50800" tIns="25400" bIns="25400"/>
                    <a:lstStyle/>
                    <a:p>
                      <a:pPr>
                        <a:defRPr sz="800">
                          <a:solidFill>
                            <a:srgbClr val="333333"/>
                          </a:solidFill>
                          <a:latin typeface="Calibri"/>
                        </a:defRPr>
                      </a:pPr>
                      <a:r>
                        <a:t>0</a:t>
                      </a:r>
                    </a:p>
                  </a:txBody>
                  <a:tcPr/>
                </a:tc>
                <a:tc>
                  <a:txBody>
                    <a:bodyPr wrap="square" lIns="50800" rIns="50800" tIns="25400" bIns="25400"/>
                    <a:lstStyle/>
                    <a:p>
                      <a:pPr>
                        <a:defRPr sz="800">
                          <a:solidFill>
                            <a:srgbClr val="333333"/>
                          </a:solidFill>
                          <a:latin typeface="Calibri"/>
                        </a:defRPr>
                      </a:pPr>
                      <a:r>
                        <a:t>Research Paper</a:t>
                      </a:r>
                    </a:p>
                  </a:txBody>
                  <a:tcPr/>
                </a:tc>
              </a:tr>
            </a:tbl>
          </a:graphicData>
        </a:graphic>
      </p:graphicFrame>
      <p:sp>
        <p:nvSpPr>
          <p:cNvPr id="3" name="TextBox 2"/>
          <p:cNvSpPr txBox="1"/>
          <p:nvPr/>
        </p:nvSpPr>
        <p:spPr>
          <a:xfrm>
            <a:off x="365760" y="45720"/>
            <a:ext cx="11460175" cy="320040"/>
          </a:xfrm>
          <a:prstGeom prst="rect">
            <a:avLst/>
          </a:prstGeom>
          <a:noFill/>
        </p:spPr>
        <p:txBody>
          <a:bodyPr wrap="square">
            <a:spAutoFit/>
          </a:bodyPr>
          <a:lstStyle/>
          <a:p>
            <a:pPr>
              <a:defRPr sz="1800" b="1">
                <a:solidFill>
                  <a:srgbClr val="003366"/>
                </a:solidFill>
              </a:defRPr>
            </a:pPr>
            <a:r>
              <a:t>Summary of Cost Reduction Opportunities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743200"/>
          </a:xfrm>
          <a:prstGeom prst="rect">
            <a:avLst/>
          </a:prstGeom>
          <a:noFill/>
        </p:spPr>
        <p:txBody>
          <a:bodyPr wrap="square">
            <a:spAutoFit/>
          </a:bodyPr>
          <a:lstStyle/>
          <a:p>
            <a:pPr>
              <a:defRPr sz="2400" b="1">
                <a:solidFill>
                  <a:srgbClr val="003366"/>
                </a:solidFill>
              </a:defRPr>
            </a:pPr>
            <a:r>
              <a:t>#1: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29260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3154680"/>
            <a:ext cx="5486400" cy="1097280"/>
          </a:xfrm>
          <a:prstGeom prst="rect">
            <a:avLst/>
          </a:prstGeom>
          <a:noFill/>
        </p:spPr>
        <p:txBody>
          <a:bodyPr wrap="square">
            <a:spAutoFit/>
          </a:bodyPr>
          <a:lstStyle/>
          <a:p>
            <a:pPr>
              <a:defRPr sz="1000">
                <a:solidFill>
                  <a:srgbClr val="333333"/>
                </a:solidFill>
              </a:defRPr>
            </a:pPr>
            <a:r>
              <a:t>Technical optimization of 1. Reduce the overall wall thickness of the Brake Dust Cover Plates present on all four wheel hubs of the vehicles from 1mm to 0.8mm</a:t>
            </a:r>
            <a:br/>
            <a:r>
              <a:t>2. Reduce the paint coating thickness on each side of all four plates from 56 microns to 27.8 microns focusing on material efficiency and process consolidation to reduce cycle time.</a:t>
            </a:r>
          </a:p>
        </p:txBody>
      </p:sp>
      <p:sp>
        <p:nvSpPr>
          <p:cNvPr id="6" name="Rectangle 5"/>
          <p:cNvSpPr/>
          <p:nvPr/>
        </p:nvSpPr>
        <p:spPr>
          <a:xfrm>
            <a:off x="274320" y="425196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325112"/>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4553712"/>
            <a:ext cx="5486400" cy="490548"/>
          </a:xfrm>
          <a:prstGeom prst="rect">
            <a:avLst/>
          </a:prstGeom>
          <a:noFill/>
        </p:spPr>
        <p:txBody>
          <a:bodyPr wrap="square">
            <a:spAutoFit/>
          </a:bodyPr>
          <a:lstStyle/>
          <a:p>
            <a:pPr>
              <a:defRPr sz="1000">
                <a:solidFill>
                  <a:srgbClr val="333333"/>
                </a:solidFill>
              </a:defRPr>
            </a:pPr>
            <a:r>
              <a:t>N/A (No material change explicitly mentioned)</a:t>
            </a:r>
            <a:br/>
            <a:r>
              <a:t>1mm to 0.8mm</a:t>
            </a:r>
          </a:p>
        </p:txBody>
      </p:sp>
      <p:sp>
        <p:nvSpPr>
          <p:cNvPr id="9" name="Rectangle 8"/>
          <p:cNvSpPr/>
          <p:nvPr/>
        </p:nvSpPr>
        <p:spPr>
          <a:xfrm>
            <a:off x="274320" y="504426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117412"/>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5346012"/>
            <a:ext cx="5486400" cy="430305"/>
          </a:xfrm>
          <a:prstGeom prst="rect">
            <a:avLst/>
          </a:prstGeom>
          <a:noFill/>
        </p:spPr>
        <p:txBody>
          <a:bodyPr wrap="square">
            <a:spAutoFit/>
          </a:bodyPr>
          <a:lstStyle/>
          <a:p>
            <a:pPr>
              <a:defRPr sz="1000">
                <a:solidFill>
                  <a:srgbClr val="333333"/>
                </a:solidFill>
              </a:defRPr>
            </a:pPr>
            <a:r>
              <a:t>Est. Saving: INR 57</a:t>
            </a:r>
            <a:br/>
            <a:r>
              <a:t>CAPEX: TBD</a:t>
            </a:r>
          </a:p>
        </p:txBody>
      </p:sp>
      <p:sp>
        <p:nvSpPr>
          <p:cNvPr id="12" name="Rectangle 11"/>
          <p:cNvSpPr/>
          <p:nvPr/>
        </p:nvSpPr>
        <p:spPr>
          <a:xfrm>
            <a:off x="274320" y="577631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849470"/>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6078070"/>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814353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8216690"/>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8445290"/>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901759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6517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5.jpg"/>
          <p:cNvPicPr>
            <a:picLocks noChangeAspect="1"/>
          </p:cNvPicPr>
          <p:nvPr/>
        </p:nvPicPr>
        <p:blipFill>
          <a:blip r:embed="rId2"/>
          <a:stretch>
            <a:fillRect/>
          </a:stretch>
        </p:blipFill>
        <p:spPr>
          <a:xfrm>
            <a:off x="6217920" y="2926080"/>
            <a:ext cx="5699455" cy="1755648"/>
          </a:xfrm>
          <a:prstGeom prst="rect">
            <a:avLst/>
          </a:prstGeom>
          <a:ln w="12700">
            <a:solidFill>
              <a:srgbClr val="C8C8C8"/>
            </a:solidFill>
          </a:ln>
        </p:spPr>
      </p:pic>
      <p:sp>
        <p:nvSpPr>
          <p:cNvPr id="21" name="TextBox 20"/>
          <p:cNvSpPr txBox="1"/>
          <p:nvPr/>
        </p:nvSpPr>
        <p:spPr>
          <a:xfrm>
            <a:off x="6217920" y="45537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10.jpg"/>
          <p:cNvPicPr>
            <a:picLocks noChangeAspect="1"/>
          </p:cNvPicPr>
          <p:nvPr/>
        </p:nvPicPr>
        <p:blipFill>
          <a:blip r:embed="rId3"/>
          <a:stretch>
            <a:fillRect/>
          </a:stretch>
        </p:blipFill>
        <p:spPr>
          <a:xfrm>
            <a:off x="6217920" y="4828032"/>
            <a:ext cx="5699455" cy="1755648"/>
          </a:xfrm>
          <a:prstGeom prst="rect">
            <a:avLst/>
          </a:prstGeom>
          <a:ln w="12700">
            <a:solidFill>
              <a:srgbClr val="C8C8C8"/>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286000"/>
          </a:xfrm>
          <a:prstGeom prst="rect">
            <a:avLst/>
          </a:prstGeom>
          <a:noFill/>
        </p:spPr>
        <p:txBody>
          <a:bodyPr wrap="square">
            <a:spAutoFit/>
          </a:bodyPr>
          <a:lstStyle/>
          <a:p>
            <a:pPr>
              <a:defRPr sz="2400" b="1">
                <a:solidFill>
                  <a:srgbClr val="003366"/>
                </a:solidFill>
              </a:defRPr>
            </a:pPr>
            <a:r>
              <a:t>#2: Remove the black paint coating from the Brake Caliper Mounting Brackets on all four brake assemblies of MGI, following the procedure used for the front brake caliper mounting brackets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24688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697480"/>
            <a:ext cx="5486400" cy="821884"/>
          </a:xfrm>
          <a:prstGeom prst="rect">
            <a:avLst/>
          </a:prstGeom>
          <a:noFill/>
        </p:spPr>
        <p:txBody>
          <a:bodyPr wrap="square">
            <a:spAutoFit/>
          </a:bodyPr>
          <a:lstStyle/>
          <a:p>
            <a:pPr>
              <a:defRPr sz="1000">
                <a:solidFill>
                  <a:srgbClr val="333333"/>
                </a:solidFill>
              </a:defRPr>
            </a:pPr>
            <a:r>
              <a:t>Technical optimization of Remove the black paint coating from the Brake Caliper Mounting Brackets on all four brake assemblies of MGI, following the procedure used for the front brake caliper mounting brackets in KIA. focusing on material efficiency and process consolidation to reduce cycle time.</a:t>
            </a:r>
          </a:p>
        </p:txBody>
      </p:sp>
      <p:sp>
        <p:nvSpPr>
          <p:cNvPr id="6" name="Rectangle 5"/>
          <p:cNvSpPr/>
          <p:nvPr/>
        </p:nvSpPr>
        <p:spPr>
          <a:xfrm>
            <a:off x="274320" y="351936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592516"/>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821116"/>
            <a:ext cx="5486400" cy="533579"/>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435469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427847"/>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656447"/>
            <a:ext cx="5486400" cy="432457"/>
          </a:xfrm>
          <a:prstGeom prst="rect">
            <a:avLst/>
          </a:prstGeom>
          <a:noFill/>
        </p:spPr>
        <p:txBody>
          <a:bodyPr wrap="square">
            <a:spAutoFit/>
          </a:bodyPr>
          <a:lstStyle/>
          <a:p>
            <a:pPr>
              <a:defRPr sz="1000">
                <a:solidFill>
                  <a:srgbClr val="333333"/>
                </a:solidFill>
              </a:defRPr>
            </a:pPr>
            <a:r>
              <a:t>Est. Saving: INR 102</a:t>
            </a:r>
            <a:br/>
            <a:r>
              <a:t>CAPEX: TBD</a:t>
            </a:r>
          </a:p>
        </p:txBody>
      </p:sp>
      <p:sp>
        <p:nvSpPr>
          <p:cNvPr id="12" name="Rectangle 11"/>
          <p:cNvSpPr/>
          <p:nvPr/>
        </p:nvSpPr>
        <p:spPr>
          <a:xfrm>
            <a:off x="274320" y="508890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162056"/>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5390656"/>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745612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7529277"/>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7757877"/>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833018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1945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217920" y="2468880"/>
            <a:ext cx="5699455" cy="1984248"/>
          </a:xfrm>
          <a:prstGeom prst="rect">
            <a:avLst/>
          </a:prstGeom>
          <a:ln w="12700">
            <a:solidFill>
              <a:srgbClr val="C8C8C8"/>
            </a:solidFill>
          </a:ln>
        </p:spPr>
      </p:pic>
      <p:sp>
        <p:nvSpPr>
          <p:cNvPr id="21" name="TextBox 20"/>
          <p:cNvSpPr txBox="1"/>
          <p:nvPr/>
        </p:nvSpPr>
        <p:spPr>
          <a:xfrm>
            <a:off x="6217920" y="43251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34.jpg"/>
          <p:cNvPicPr>
            <a:picLocks noChangeAspect="1"/>
          </p:cNvPicPr>
          <p:nvPr/>
        </p:nvPicPr>
        <p:blipFill>
          <a:blip r:embed="rId3"/>
          <a:stretch>
            <a:fillRect/>
          </a:stretch>
        </p:blipFill>
        <p:spPr>
          <a:xfrm>
            <a:off x="6217920" y="4599432"/>
            <a:ext cx="5699455" cy="1984248"/>
          </a:xfrm>
          <a:prstGeom prst="rect">
            <a:avLst/>
          </a:prstGeom>
          <a:ln w="12700">
            <a:solidFill>
              <a:srgbClr val="C8C8C8"/>
            </a:solidFill>
          </a:ln>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371600"/>
          </a:xfrm>
          <a:prstGeom prst="rect">
            <a:avLst/>
          </a:prstGeom>
          <a:noFill/>
        </p:spPr>
        <p:txBody>
          <a:bodyPr wrap="square">
            <a:spAutoFit/>
          </a:bodyPr>
          <a:lstStyle/>
          <a:p>
            <a:pPr>
              <a:defRPr sz="2400" b="1">
                <a:solidFill>
                  <a:srgbClr val="003366"/>
                </a:solidFill>
              </a:defRPr>
            </a:pPr>
            <a:r>
              <a:t>#3: The Brake Booster Plate in MGI could be integrated into the Dashboard BIW of the vehicle as done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5544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83080"/>
            <a:ext cx="5486400" cy="632549"/>
          </a:xfrm>
          <a:prstGeom prst="rect">
            <a:avLst/>
          </a:prstGeom>
          <a:noFill/>
        </p:spPr>
        <p:txBody>
          <a:bodyPr wrap="square">
            <a:spAutoFit/>
          </a:bodyPr>
          <a:lstStyle/>
          <a:p>
            <a:pPr>
              <a:defRPr sz="1000">
                <a:solidFill>
                  <a:srgbClr val="333333"/>
                </a:solidFill>
              </a:defRPr>
            </a:pPr>
            <a:r>
              <a:t>Technical optimization of The Brake Booster Plate in MGI could be integrated into the Dashboard BIW of the vehicle as done in KIA focusing on material efficiency and process consolidation to reduce cycle time.</a:t>
            </a:r>
          </a:p>
        </p:txBody>
      </p:sp>
      <p:sp>
        <p:nvSpPr>
          <p:cNvPr id="6" name="Rectangle 5"/>
          <p:cNvSpPr/>
          <p:nvPr/>
        </p:nvSpPr>
        <p:spPr>
          <a:xfrm>
            <a:off x="274320" y="241562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8878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717381"/>
            <a:ext cx="5486400" cy="533579"/>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25096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324112"/>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552712"/>
            <a:ext cx="5486400" cy="430305"/>
          </a:xfrm>
          <a:prstGeom prst="rect">
            <a:avLst/>
          </a:prstGeom>
          <a:noFill/>
        </p:spPr>
        <p:txBody>
          <a:bodyPr wrap="square">
            <a:spAutoFit/>
          </a:bodyPr>
          <a:lstStyle/>
          <a:p>
            <a:pPr>
              <a:defRPr sz="1000">
                <a:solidFill>
                  <a:srgbClr val="333333"/>
                </a:solidFill>
              </a:defRPr>
            </a:pPr>
            <a:r>
              <a:t>Est. Saving: INR 47</a:t>
            </a:r>
            <a:br/>
            <a:r>
              <a:t>CAPEX: TBD</a:t>
            </a:r>
          </a:p>
        </p:txBody>
      </p:sp>
      <p:sp>
        <p:nvSpPr>
          <p:cNvPr id="12" name="Rectangle 11"/>
          <p:cNvSpPr/>
          <p:nvPr/>
        </p:nvSpPr>
        <p:spPr>
          <a:xfrm>
            <a:off x="274320" y="398301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056170"/>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284770"/>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35023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42339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651991"/>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722429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2801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217920" y="1554480"/>
            <a:ext cx="5699455" cy="2441448"/>
          </a:xfrm>
          <a:prstGeom prst="rect">
            <a:avLst/>
          </a:prstGeom>
          <a:ln w="12700">
            <a:solidFill>
              <a:srgbClr val="C8C8C8"/>
            </a:solidFill>
          </a:ln>
        </p:spPr>
      </p:pic>
      <p:sp>
        <p:nvSpPr>
          <p:cNvPr id="21" name="TextBox 20"/>
          <p:cNvSpPr txBox="1"/>
          <p:nvPr/>
        </p:nvSpPr>
        <p:spPr>
          <a:xfrm>
            <a:off x="6217920" y="38679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1.jpg"/>
          <p:cNvPicPr>
            <a:picLocks noChangeAspect="1"/>
          </p:cNvPicPr>
          <p:nvPr/>
        </p:nvPicPr>
        <p:blipFill>
          <a:blip r:embed="rId3"/>
          <a:stretch>
            <a:fillRect/>
          </a:stretch>
        </p:blipFill>
        <p:spPr>
          <a:xfrm>
            <a:off x="6217920" y="4142232"/>
            <a:ext cx="5699455" cy="2441448"/>
          </a:xfrm>
          <a:prstGeom prst="rect">
            <a:avLst/>
          </a:prstGeom>
          <a:ln w="12700">
            <a:solidFill>
              <a:srgbClr val="C8C8C8"/>
            </a:solidFill>
          </a:ln>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286000"/>
          </a:xfrm>
          <a:prstGeom prst="rect">
            <a:avLst/>
          </a:prstGeom>
          <a:noFill/>
        </p:spPr>
        <p:txBody>
          <a:bodyPr wrap="square">
            <a:spAutoFit/>
          </a:bodyPr>
          <a:lstStyle/>
          <a:p>
            <a:pPr>
              <a:defRPr sz="2400" b="1">
                <a:solidFill>
                  <a:srgbClr val="003366"/>
                </a:solidFill>
              </a:defRPr>
            </a:pPr>
            <a:r>
              <a:t>#4: Substitute the current cast iron caliper material for the front brake calipers with a more cost-effective, high-strength aluminum alloy, while maintaining or improving structural rigidity and thermal dissipation.</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4688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697480"/>
            <a:ext cx="5486400" cy="867066"/>
          </a:xfrm>
          <a:prstGeom prst="rect">
            <a:avLst/>
          </a:prstGeom>
          <a:noFill/>
        </p:spPr>
        <p:txBody>
          <a:bodyPr wrap="square">
            <a:spAutoFit/>
          </a:bodyPr>
          <a:lstStyle/>
          <a:p>
            <a:pPr>
              <a:defRPr sz="1000">
                <a:solidFill>
                  <a:srgbClr val="333333"/>
                </a:solidFill>
              </a:defRPr>
            </a:pPr>
            <a:r>
              <a:t>Technical optimization of Substitute the current cast iron caliper material for the front brake calipers with a more cost-effective, high-strength aluminum alloy, while maintaining or improving structural rigidity and thermal dissipation. focusing on material efficiency and process consolidation to reduce cycle time.</a:t>
            </a:r>
          </a:p>
        </p:txBody>
      </p:sp>
      <p:sp>
        <p:nvSpPr>
          <p:cNvPr id="6" name="Rectangle 5"/>
          <p:cNvSpPr/>
          <p:nvPr/>
        </p:nvSpPr>
        <p:spPr>
          <a:xfrm>
            <a:off x="274320" y="356454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637698"/>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866298"/>
            <a:ext cx="5486400" cy="651913"/>
          </a:xfrm>
          <a:prstGeom prst="rect">
            <a:avLst/>
          </a:prstGeom>
          <a:noFill/>
        </p:spPr>
        <p:txBody>
          <a:bodyPr wrap="square">
            <a:spAutoFit/>
          </a:bodyPr>
          <a:lstStyle/>
          <a:p>
            <a:pPr>
              <a:defRPr sz="1000">
                <a:solidFill>
                  <a:srgbClr val="333333"/>
                </a:solidFill>
              </a:defRPr>
            </a:pPr>
            <a:r>
              <a:t>Substitute the current cast iron caliper material for the front brake calipers with a more cost-effe</a:t>
            </a:r>
            <a:br/>
            <a:r>
              <a:t>N/A (Maintains current envelope)</a:t>
            </a:r>
          </a:p>
        </p:txBody>
      </p:sp>
      <p:sp>
        <p:nvSpPr>
          <p:cNvPr id="9" name="Rectangle 8"/>
          <p:cNvSpPr/>
          <p:nvPr/>
        </p:nvSpPr>
        <p:spPr>
          <a:xfrm>
            <a:off x="274320" y="451821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59136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819963"/>
            <a:ext cx="5486400" cy="441063"/>
          </a:xfrm>
          <a:prstGeom prst="rect">
            <a:avLst/>
          </a:prstGeom>
          <a:noFill/>
        </p:spPr>
        <p:txBody>
          <a:bodyPr wrap="square">
            <a:spAutoFit/>
          </a:bodyPr>
          <a:lstStyle/>
          <a:p>
            <a:pPr>
              <a:defRPr sz="1000">
                <a:solidFill>
                  <a:srgbClr val="333333"/>
                </a:solidFill>
              </a:defRPr>
            </a:pPr>
            <a:r>
              <a:t>Est. Saving: INR 2000000</a:t>
            </a:r>
            <a:br/>
            <a:r>
              <a:t>CAPEX: TBD</a:t>
            </a:r>
          </a:p>
        </p:txBody>
      </p:sp>
      <p:sp>
        <p:nvSpPr>
          <p:cNvPr id="12" name="Rectangle 11"/>
          <p:cNvSpPr/>
          <p:nvPr/>
        </p:nvSpPr>
        <p:spPr>
          <a:xfrm>
            <a:off x="274320" y="526102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33417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5562779"/>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762824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7701399"/>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7929999"/>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850230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1945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217920" y="2468880"/>
            <a:ext cx="5699455" cy="1984248"/>
          </a:xfrm>
          <a:prstGeom prst="rect">
            <a:avLst/>
          </a:prstGeom>
          <a:ln w="12700">
            <a:solidFill>
              <a:srgbClr val="C8C8C8"/>
            </a:solidFill>
          </a:ln>
        </p:spPr>
      </p:pic>
      <p:sp>
        <p:nvSpPr>
          <p:cNvPr id="21" name="TextBox 20"/>
          <p:cNvSpPr txBox="1"/>
          <p:nvPr/>
        </p:nvSpPr>
        <p:spPr>
          <a:xfrm>
            <a:off x="6217920" y="43251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82.jpg"/>
          <p:cNvPicPr>
            <a:picLocks noChangeAspect="1"/>
          </p:cNvPicPr>
          <p:nvPr/>
        </p:nvPicPr>
        <p:blipFill>
          <a:blip r:embed="rId3"/>
          <a:stretch>
            <a:fillRect/>
          </a:stretch>
        </p:blipFill>
        <p:spPr>
          <a:xfrm>
            <a:off x="6217920" y="4599432"/>
            <a:ext cx="5699455" cy="1984248"/>
          </a:xfrm>
          <a:prstGeom prst="rect">
            <a:avLst/>
          </a:prstGeom>
          <a:ln w="12700">
            <a:solidFill>
              <a:srgbClr val="C8C8C8"/>
            </a:solidFill>
          </a:ln>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828800"/>
          </a:xfrm>
          <a:prstGeom prst="rect">
            <a:avLst/>
          </a:prstGeom>
          <a:noFill/>
        </p:spPr>
        <p:txBody>
          <a:bodyPr wrap="square">
            <a:spAutoFit/>
          </a:bodyPr>
          <a:lstStyle/>
          <a:p>
            <a:pPr>
              <a:defRPr sz="2400" b="1">
                <a:solidFill>
                  <a:srgbClr val="003366"/>
                </a:solidFill>
              </a:defRPr>
            </a:pPr>
            <a:r>
              <a:t>#5: Reduce the gauge of the steel used for the rear brake dust shields from the current 1.0mm to 0.8mm, provided structural integrity and corrosion resistance are maintained.</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0116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240280"/>
            <a:ext cx="5486400" cy="776702"/>
          </a:xfrm>
          <a:prstGeom prst="rect">
            <a:avLst/>
          </a:prstGeom>
          <a:noFill/>
        </p:spPr>
        <p:txBody>
          <a:bodyPr wrap="square">
            <a:spAutoFit/>
          </a:bodyPr>
          <a:lstStyle/>
          <a:p>
            <a:pPr>
              <a:defRPr sz="1000">
                <a:solidFill>
                  <a:srgbClr val="333333"/>
                </a:solidFill>
              </a:defRPr>
            </a:pPr>
            <a:r>
              <a:t>Technical optimization of Reduce the gauge of the steel used for the rear brake dust shields from the current 1.0mm to 0.8mm, provided structural integrity and corrosion resistance are maintained. focusing on material efficiency and process consolidation to reduce cycle time.</a:t>
            </a:r>
          </a:p>
        </p:txBody>
      </p:sp>
      <p:sp>
        <p:nvSpPr>
          <p:cNvPr id="6" name="Rectangle 5"/>
          <p:cNvSpPr/>
          <p:nvPr/>
        </p:nvSpPr>
        <p:spPr>
          <a:xfrm>
            <a:off x="274320" y="301698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090134"/>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318734"/>
            <a:ext cx="5486400" cy="580912"/>
          </a:xfrm>
          <a:prstGeom prst="rect">
            <a:avLst/>
          </a:prstGeom>
          <a:noFill/>
        </p:spPr>
        <p:txBody>
          <a:bodyPr wrap="square">
            <a:spAutoFit/>
          </a:bodyPr>
          <a:lstStyle/>
          <a:p>
            <a:pPr>
              <a:defRPr sz="1000">
                <a:solidFill>
                  <a:srgbClr val="333333"/>
                </a:solidFill>
              </a:defRPr>
            </a:pPr>
            <a:r>
              <a:t>Reduce the gauge of the steel used for the rear brake dust shields from the current 1</a:t>
            </a:r>
            <a:br/>
            <a:r>
              <a:t>1.0mm to 0.8mm</a:t>
            </a:r>
          </a:p>
        </p:txBody>
      </p:sp>
      <p:sp>
        <p:nvSpPr>
          <p:cNvPr id="9" name="Rectangle 8"/>
          <p:cNvSpPr/>
          <p:nvPr/>
        </p:nvSpPr>
        <p:spPr>
          <a:xfrm>
            <a:off x="274320" y="389964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97279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201399"/>
            <a:ext cx="5486400" cy="438912"/>
          </a:xfrm>
          <a:prstGeom prst="rect">
            <a:avLst/>
          </a:prstGeom>
          <a:noFill/>
        </p:spPr>
        <p:txBody>
          <a:bodyPr wrap="square">
            <a:spAutoFit/>
          </a:bodyPr>
          <a:lstStyle/>
          <a:p>
            <a:pPr>
              <a:defRPr sz="1000">
                <a:solidFill>
                  <a:srgbClr val="333333"/>
                </a:solidFill>
              </a:defRPr>
            </a:pPr>
            <a:r>
              <a:t>Est. Saving: INR 800000</a:t>
            </a:r>
            <a:br/>
            <a:r>
              <a:t>CAPEX: TBD</a:t>
            </a:r>
          </a:p>
        </p:txBody>
      </p:sp>
      <p:sp>
        <p:nvSpPr>
          <p:cNvPr id="12" name="Rectangle 11"/>
          <p:cNvSpPr/>
          <p:nvPr/>
        </p:nvSpPr>
        <p:spPr>
          <a:xfrm>
            <a:off x="274320" y="464031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713463"/>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942063"/>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700753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7080683"/>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7309283"/>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788159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7373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4.jpg"/>
          <p:cNvPicPr>
            <a:picLocks noChangeAspect="1"/>
          </p:cNvPicPr>
          <p:nvPr/>
        </p:nvPicPr>
        <p:blipFill>
          <a:blip r:embed="rId2"/>
          <a:stretch>
            <a:fillRect/>
          </a:stretch>
        </p:blipFill>
        <p:spPr>
          <a:xfrm>
            <a:off x="6217920" y="2011680"/>
            <a:ext cx="5699455" cy="2212848"/>
          </a:xfrm>
          <a:prstGeom prst="rect">
            <a:avLst/>
          </a:prstGeom>
          <a:ln w="12700">
            <a:solidFill>
              <a:srgbClr val="C8C8C8"/>
            </a:solidFill>
          </a:ln>
        </p:spPr>
      </p:pic>
      <p:sp>
        <p:nvSpPr>
          <p:cNvPr id="21" name="TextBox 20"/>
          <p:cNvSpPr txBox="1"/>
          <p:nvPr/>
        </p:nvSpPr>
        <p:spPr>
          <a:xfrm>
            <a:off x="6217920" y="40965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6.jpg"/>
          <p:cNvPicPr>
            <a:picLocks noChangeAspect="1"/>
          </p:cNvPicPr>
          <p:nvPr/>
        </p:nvPicPr>
        <p:blipFill>
          <a:blip r:embed="rId3"/>
          <a:stretch>
            <a:fillRect/>
          </a:stretch>
        </p:blipFill>
        <p:spPr>
          <a:xfrm>
            <a:off x="6217920" y="4370832"/>
            <a:ext cx="5699455" cy="2212848"/>
          </a:xfrm>
          <a:prstGeom prst="rect">
            <a:avLst/>
          </a:prstGeom>
          <a:ln w="12700">
            <a:solidFill>
              <a:srgbClr val="C8C8C8"/>
            </a:solidFill>
          </a:ln>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286000"/>
          </a:xfrm>
          <a:prstGeom prst="rect">
            <a:avLst/>
          </a:prstGeom>
          <a:noFill/>
        </p:spPr>
        <p:txBody>
          <a:bodyPr wrap="square">
            <a:spAutoFit/>
          </a:bodyPr>
          <a:lstStyle/>
          <a:p>
            <a:pPr>
              <a:defRPr sz="2400" b="1">
                <a:solidFill>
                  <a:srgbClr val="003366"/>
                </a:solidFill>
              </a:defRPr>
            </a:pPr>
            <a:r>
              <a:t>#6: Implement a single-piece caliper bracket design for the rear brakes that eliminates the need for separate mounting bolts and associated machining, reducing part count and assembly complexity.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4688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697480"/>
            <a:ext cx="5486400" cy="821884"/>
          </a:xfrm>
          <a:prstGeom prst="rect">
            <a:avLst/>
          </a:prstGeom>
          <a:noFill/>
        </p:spPr>
        <p:txBody>
          <a:bodyPr wrap="square">
            <a:spAutoFit/>
          </a:bodyPr>
          <a:lstStyle/>
          <a:p>
            <a:pPr>
              <a:defRPr sz="1000">
                <a:solidFill>
                  <a:srgbClr val="333333"/>
                </a:solidFill>
              </a:defRPr>
            </a:pPr>
            <a:r>
              <a:t>Technical optimization of Implement a single-piece caliper bracket design for the rear brakes that eliminates the need for separate mounting bolts and associated machining, reducing part count and assembly complexity. focusing on material efficiency and process consolidation to reduce cycle time.</a:t>
            </a:r>
          </a:p>
        </p:txBody>
      </p:sp>
      <p:sp>
        <p:nvSpPr>
          <p:cNvPr id="6" name="Rectangle 5"/>
          <p:cNvSpPr/>
          <p:nvPr/>
        </p:nvSpPr>
        <p:spPr>
          <a:xfrm>
            <a:off x="274320" y="351936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592516"/>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821116"/>
            <a:ext cx="5486400" cy="533579"/>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435469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427847"/>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656447"/>
            <a:ext cx="5486400" cy="438912"/>
          </a:xfrm>
          <a:prstGeom prst="rect">
            <a:avLst/>
          </a:prstGeom>
          <a:noFill/>
        </p:spPr>
        <p:txBody>
          <a:bodyPr wrap="square">
            <a:spAutoFit/>
          </a:bodyPr>
          <a:lstStyle/>
          <a:p>
            <a:pPr>
              <a:defRPr sz="1000">
                <a:solidFill>
                  <a:srgbClr val="333333"/>
                </a:solidFill>
              </a:defRPr>
            </a:pPr>
            <a:r>
              <a:t>Est. Saving: INR 900000</a:t>
            </a:r>
            <a:br/>
            <a:r>
              <a:t>CAPEX: TBD</a:t>
            </a:r>
          </a:p>
        </p:txBody>
      </p:sp>
      <p:sp>
        <p:nvSpPr>
          <p:cNvPr id="12" name="Rectangle 11"/>
          <p:cNvSpPr/>
          <p:nvPr/>
        </p:nvSpPr>
        <p:spPr>
          <a:xfrm>
            <a:off x="274320" y="509535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16851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5397111"/>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74625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753573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7764331"/>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833663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1945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217920" y="2468880"/>
            <a:ext cx="5699455" cy="1984248"/>
          </a:xfrm>
          <a:prstGeom prst="rect">
            <a:avLst/>
          </a:prstGeom>
          <a:ln w="12700">
            <a:solidFill>
              <a:srgbClr val="C8C8C8"/>
            </a:solidFill>
          </a:ln>
        </p:spPr>
      </p:pic>
      <p:sp>
        <p:nvSpPr>
          <p:cNvPr id="21" name="TextBox 20"/>
          <p:cNvSpPr txBox="1"/>
          <p:nvPr/>
        </p:nvSpPr>
        <p:spPr>
          <a:xfrm>
            <a:off x="6217920" y="43251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19.jpg"/>
          <p:cNvPicPr>
            <a:picLocks noChangeAspect="1"/>
          </p:cNvPicPr>
          <p:nvPr/>
        </p:nvPicPr>
        <p:blipFill>
          <a:blip r:embed="rId3"/>
          <a:stretch>
            <a:fillRect/>
          </a:stretch>
        </p:blipFill>
        <p:spPr>
          <a:xfrm>
            <a:off x="6217920" y="4599432"/>
            <a:ext cx="5699455" cy="1984248"/>
          </a:xfrm>
          <a:prstGeom prst="rect">
            <a:avLst/>
          </a:prstGeom>
          <a:ln w="12700">
            <a:solidFill>
              <a:srgbClr val="C8C8C8"/>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828800"/>
          </a:xfrm>
          <a:prstGeom prst="rect">
            <a:avLst/>
          </a:prstGeom>
          <a:noFill/>
        </p:spPr>
        <p:txBody>
          <a:bodyPr wrap="square">
            <a:spAutoFit/>
          </a:bodyPr>
          <a:lstStyle/>
          <a:p>
            <a:pPr>
              <a:defRPr sz="2400" b="1">
                <a:solidFill>
                  <a:srgbClr val="003366"/>
                </a:solidFill>
              </a:defRPr>
            </a:pPr>
            <a:r>
              <a:t>#7: Reduce the diameter of the rear brake discs by 5mm, provided the swept area and thermal mass are still sufficient for the vehicle's braking requirements and regulations.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0116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240280"/>
            <a:ext cx="5486400" cy="774550"/>
          </a:xfrm>
          <a:prstGeom prst="rect">
            <a:avLst/>
          </a:prstGeom>
          <a:noFill/>
        </p:spPr>
        <p:txBody>
          <a:bodyPr wrap="square">
            <a:spAutoFit/>
          </a:bodyPr>
          <a:lstStyle/>
          <a:p>
            <a:pPr>
              <a:defRPr sz="1000">
                <a:solidFill>
                  <a:srgbClr val="333333"/>
                </a:solidFill>
              </a:defRPr>
            </a:pPr>
            <a:r>
              <a:t>Technical optimization of Reduce the diameter of the rear brake discs by 5mm, provided the swept area and thermal mass are still sufficient for the vehicle's braking requirements and regulations. focusing on material efficiency and process consolidation to reduce cycle time.</a:t>
            </a:r>
          </a:p>
        </p:txBody>
      </p:sp>
      <p:sp>
        <p:nvSpPr>
          <p:cNvPr id="6" name="Rectangle 5"/>
          <p:cNvSpPr/>
          <p:nvPr/>
        </p:nvSpPr>
        <p:spPr>
          <a:xfrm>
            <a:off x="274320" y="301483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087982"/>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316582"/>
            <a:ext cx="5486400" cy="533579"/>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85016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92331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151913"/>
            <a:ext cx="5486400" cy="441063"/>
          </a:xfrm>
          <a:prstGeom prst="rect">
            <a:avLst/>
          </a:prstGeom>
          <a:noFill/>
        </p:spPr>
        <p:txBody>
          <a:bodyPr wrap="square">
            <a:spAutoFit/>
          </a:bodyPr>
          <a:lstStyle/>
          <a:p>
            <a:pPr>
              <a:defRPr sz="1000">
                <a:solidFill>
                  <a:srgbClr val="333333"/>
                </a:solidFill>
              </a:defRPr>
            </a:pPr>
            <a:r>
              <a:t>Est. Saving: INR 1000000</a:t>
            </a:r>
            <a:br/>
            <a:r>
              <a:t>CAPEX: TBD</a:t>
            </a:r>
          </a:p>
        </p:txBody>
      </p:sp>
      <p:sp>
        <p:nvSpPr>
          <p:cNvPr id="12" name="Rectangle 11"/>
          <p:cNvSpPr/>
          <p:nvPr/>
        </p:nvSpPr>
        <p:spPr>
          <a:xfrm>
            <a:off x="274320" y="459297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66612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894729"/>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96019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7033349"/>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7261949"/>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783425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7373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6.jpg"/>
          <p:cNvPicPr>
            <a:picLocks noChangeAspect="1"/>
          </p:cNvPicPr>
          <p:nvPr/>
        </p:nvPicPr>
        <p:blipFill>
          <a:blip r:embed="rId2"/>
          <a:stretch>
            <a:fillRect/>
          </a:stretch>
        </p:blipFill>
        <p:spPr>
          <a:xfrm>
            <a:off x="6217920" y="2011680"/>
            <a:ext cx="5699455" cy="2212848"/>
          </a:xfrm>
          <a:prstGeom prst="rect">
            <a:avLst/>
          </a:prstGeom>
          <a:ln w="12700">
            <a:solidFill>
              <a:srgbClr val="C8C8C8"/>
            </a:solidFill>
          </a:ln>
        </p:spPr>
      </p:pic>
      <p:sp>
        <p:nvSpPr>
          <p:cNvPr id="21" name="TextBox 20"/>
          <p:cNvSpPr txBox="1"/>
          <p:nvPr/>
        </p:nvSpPr>
        <p:spPr>
          <a:xfrm>
            <a:off x="6217920" y="40965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6.jpg"/>
          <p:cNvPicPr>
            <a:picLocks noChangeAspect="1"/>
          </p:cNvPicPr>
          <p:nvPr/>
        </p:nvPicPr>
        <p:blipFill>
          <a:blip r:embed="rId3"/>
          <a:stretch>
            <a:fillRect/>
          </a:stretch>
        </p:blipFill>
        <p:spPr>
          <a:xfrm>
            <a:off x="6217920" y="4370832"/>
            <a:ext cx="5699455" cy="2212848"/>
          </a:xfrm>
          <a:prstGeom prst="rect">
            <a:avLst/>
          </a:prstGeom>
          <a:ln w="12700">
            <a:solidFill>
              <a:srgbClr val="C8C8C8"/>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286000"/>
          </a:xfrm>
          <a:prstGeom prst="rect">
            <a:avLst/>
          </a:prstGeom>
          <a:noFill/>
        </p:spPr>
        <p:txBody>
          <a:bodyPr wrap="square">
            <a:spAutoFit/>
          </a:bodyPr>
          <a:lstStyle/>
          <a:p>
            <a:pPr>
              <a:defRPr sz="2400" b="1">
                <a:solidFill>
                  <a:srgbClr val="003366"/>
                </a:solidFill>
              </a:defRPr>
            </a:pPr>
            <a:r>
              <a:t>#8: Optimize the machining process for the brake rotor casting to remove excess material from non-critical areas, reducing machining time and waste, without impacting structural integrity or thermal performance.</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4688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697480"/>
            <a:ext cx="5486400" cy="856308"/>
          </a:xfrm>
          <a:prstGeom prst="rect">
            <a:avLst/>
          </a:prstGeom>
          <a:noFill/>
        </p:spPr>
        <p:txBody>
          <a:bodyPr wrap="square">
            <a:spAutoFit/>
          </a:bodyPr>
          <a:lstStyle/>
          <a:p>
            <a:pPr>
              <a:defRPr sz="1000">
                <a:solidFill>
                  <a:srgbClr val="333333"/>
                </a:solidFill>
              </a:defRPr>
            </a:pPr>
            <a:r>
              <a:t>Technical optimization of Optimize the machining process for the brake rotor casting to remove excess material from non-critical areas, reducing machining time and waste, without impacting structural integrity or thermal performance. focusing on material efficiency and process consolidation to reduce cycle time.</a:t>
            </a:r>
          </a:p>
        </p:txBody>
      </p:sp>
      <p:sp>
        <p:nvSpPr>
          <p:cNvPr id="6" name="Rectangle 5"/>
          <p:cNvSpPr/>
          <p:nvPr/>
        </p:nvSpPr>
        <p:spPr>
          <a:xfrm>
            <a:off x="274320" y="355378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626940"/>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855540"/>
            <a:ext cx="5486400" cy="651913"/>
          </a:xfrm>
          <a:prstGeom prst="rect">
            <a:avLst/>
          </a:prstGeom>
          <a:noFill/>
        </p:spPr>
        <p:txBody>
          <a:bodyPr wrap="square">
            <a:spAutoFit/>
          </a:bodyPr>
          <a:lstStyle/>
          <a:p>
            <a:pPr>
              <a:defRPr sz="1000">
                <a:solidFill>
                  <a:srgbClr val="333333"/>
                </a:solidFill>
              </a:defRPr>
            </a:pPr>
            <a:r>
              <a:t>Optimize the machining process for the brake rotor casting to remove excess material from non-critic</a:t>
            </a:r>
            <a:br/>
            <a:r>
              <a:t>N/A (Maintains current envelope)</a:t>
            </a:r>
          </a:p>
        </p:txBody>
      </p:sp>
      <p:sp>
        <p:nvSpPr>
          <p:cNvPr id="9" name="Rectangle 8"/>
          <p:cNvSpPr/>
          <p:nvPr/>
        </p:nvSpPr>
        <p:spPr>
          <a:xfrm>
            <a:off x="274320" y="450745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580606"/>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809206"/>
            <a:ext cx="5486400" cy="441063"/>
          </a:xfrm>
          <a:prstGeom prst="rect">
            <a:avLst/>
          </a:prstGeom>
          <a:noFill/>
        </p:spPr>
        <p:txBody>
          <a:bodyPr wrap="square">
            <a:spAutoFit/>
          </a:bodyPr>
          <a:lstStyle/>
          <a:p>
            <a:pPr>
              <a:defRPr sz="1000">
                <a:solidFill>
                  <a:srgbClr val="333333"/>
                </a:solidFill>
              </a:defRPr>
            </a:pPr>
            <a:r>
              <a:t>Est. Saving: INR 1100000</a:t>
            </a:r>
            <a:br/>
            <a:r>
              <a:t>CAPEX: TBD</a:t>
            </a:r>
          </a:p>
        </p:txBody>
      </p:sp>
      <p:sp>
        <p:nvSpPr>
          <p:cNvPr id="12" name="Rectangle 11"/>
          <p:cNvSpPr/>
          <p:nvPr/>
        </p:nvSpPr>
        <p:spPr>
          <a:xfrm>
            <a:off x="274320" y="525026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32342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5552021"/>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761748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769064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7919241"/>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849154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1945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13.jpg"/>
          <p:cNvPicPr>
            <a:picLocks noChangeAspect="1"/>
          </p:cNvPicPr>
          <p:nvPr/>
        </p:nvPicPr>
        <p:blipFill>
          <a:blip r:embed="rId2"/>
          <a:stretch>
            <a:fillRect/>
          </a:stretch>
        </p:blipFill>
        <p:spPr>
          <a:xfrm>
            <a:off x="6217920" y="2468880"/>
            <a:ext cx="5699455" cy="1984248"/>
          </a:xfrm>
          <a:prstGeom prst="rect">
            <a:avLst/>
          </a:prstGeom>
          <a:ln w="12700">
            <a:solidFill>
              <a:srgbClr val="C8C8C8"/>
            </a:solidFill>
          </a:ln>
        </p:spPr>
      </p:pic>
      <p:sp>
        <p:nvSpPr>
          <p:cNvPr id="21" name="TextBox 20"/>
          <p:cNvSpPr txBox="1"/>
          <p:nvPr/>
        </p:nvSpPr>
        <p:spPr>
          <a:xfrm>
            <a:off x="6217920" y="43251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6.jpg"/>
          <p:cNvPicPr>
            <a:picLocks noChangeAspect="1"/>
          </p:cNvPicPr>
          <p:nvPr/>
        </p:nvPicPr>
        <p:blipFill>
          <a:blip r:embed="rId3"/>
          <a:stretch>
            <a:fillRect/>
          </a:stretch>
        </p:blipFill>
        <p:spPr>
          <a:xfrm>
            <a:off x="6217920" y="4599432"/>
            <a:ext cx="5699455" cy="1984248"/>
          </a:xfrm>
          <a:prstGeom prst="rect">
            <a:avLst/>
          </a:prstGeom>
          <a:ln w="12700">
            <a:solidFill>
              <a:srgbClr val="C8C8C8"/>
            </a:solidFill>
          </a:ln>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743200"/>
          </a:xfrm>
          <a:prstGeom prst="rect">
            <a:avLst/>
          </a:prstGeom>
          <a:noFill/>
        </p:spPr>
        <p:txBody>
          <a:bodyPr wrap="square">
            <a:spAutoFit/>
          </a:bodyPr>
          <a:lstStyle/>
          <a:p>
            <a:pPr>
              <a:defRPr sz="2400" b="1">
                <a:solidFill>
                  <a:srgbClr val="003366"/>
                </a:solidFill>
              </a:defRPr>
            </a:pPr>
            <a:r>
              <a:t>#9: Reduce the rotor thickness for the rear brake discs from the current specification (e.g., 10mm) to a standardized, lighter gauge (e.g., 9mm) while ensuring thermal capacity and wear life remain within performance targets.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9260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3154680"/>
            <a:ext cx="5486400" cy="886430"/>
          </a:xfrm>
          <a:prstGeom prst="rect">
            <a:avLst/>
          </a:prstGeom>
          <a:noFill/>
        </p:spPr>
        <p:txBody>
          <a:bodyPr wrap="square">
            <a:spAutoFit/>
          </a:bodyPr>
          <a:lstStyle/>
          <a:p>
            <a:pPr>
              <a:defRPr sz="1000">
                <a:solidFill>
                  <a:srgbClr val="333333"/>
                </a:solidFill>
              </a:defRPr>
            </a:pPr>
            <a:r>
              <a:t>Technical optimization of Reduce the rotor thickness for the rear brake discs from the current specification (e.g., 10mm) to a standardized, lighter gauge (e.g., 9mm) while ensuring thermal capacity and wear life remain within performance targets. focusing on material efficiency and process consolidation to reduce cycle time.</a:t>
            </a:r>
          </a:p>
        </p:txBody>
      </p:sp>
      <p:sp>
        <p:nvSpPr>
          <p:cNvPr id="6" name="Rectangle 5"/>
          <p:cNvSpPr/>
          <p:nvPr/>
        </p:nvSpPr>
        <p:spPr>
          <a:xfrm>
            <a:off x="274320" y="404111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114262"/>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4342862"/>
            <a:ext cx="5486400" cy="533579"/>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487644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949593"/>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5178193"/>
            <a:ext cx="5486400" cy="441063"/>
          </a:xfrm>
          <a:prstGeom prst="rect">
            <a:avLst/>
          </a:prstGeom>
          <a:noFill/>
        </p:spPr>
        <p:txBody>
          <a:bodyPr wrap="square">
            <a:spAutoFit/>
          </a:bodyPr>
          <a:lstStyle/>
          <a:p>
            <a:pPr>
              <a:defRPr sz="1000">
                <a:solidFill>
                  <a:srgbClr val="333333"/>
                </a:solidFill>
              </a:defRPr>
            </a:pPr>
            <a:r>
              <a:t>Est. Saving: INR 1500000</a:t>
            </a:r>
            <a:br/>
            <a:r>
              <a:t>CAPEX: TBD</a:t>
            </a:r>
          </a:p>
        </p:txBody>
      </p:sp>
      <p:sp>
        <p:nvSpPr>
          <p:cNvPr id="12" name="Rectangle 11"/>
          <p:cNvSpPr/>
          <p:nvPr/>
        </p:nvSpPr>
        <p:spPr>
          <a:xfrm>
            <a:off x="274320" y="561925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692408"/>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5921008"/>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798647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8059629"/>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8288229"/>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88605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6517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10.jpg"/>
          <p:cNvPicPr>
            <a:picLocks noChangeAspect="1"/>
          </p:cNvPicPr>
          <p:nvPr/>
        </p:nvPicPr>
        <p:blipFill>
          <a:blip r:embed="rId2"/>
          <a:stretch>
            <a:fillRect/>
          </a:stretch>
        </p:blipFill>
        <p:spPr>
          <a:xfrm>
            <a:off x="6217920" y="2926080"/>
            <a:ext cx="5699455" cy="1755648"/>
          </a:xfrm>
          <a:prstGeom prst="rect">
            <a:avLst/>
          </a:prstGeom>
          <a:ln w="12700">
            <a:solidFill>
              <a:srgbClr val="C8C8C8"/>
            </a:solidFill>
          </a:ln>
        </p:spPr>
      </p:pic>
      <p:sp>
        <p:nvSpPr>
          <p:cNvPr id="21" name="TextBox 20"/>
          <p:cNvSpPr txBox="1"/>
          <p:nvPr/>
        </p:nvSpPr>
        <p:spPr>
          <a:xfrm>
            <a:off x="6217920" y="45537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40.jpg"/>
          <p:cNvPicPr>
            <a:picLocks noChangeAspect="1"/>
          </p:cNvPicPr>
          <p:nvPr/>
        </p:nvPicPr>
        <p:blipFill>
          <a:blip r:embed="rId3"/>
          <a:stretch>
            <a:fillRect/>
          </a:stretch>
        </p:blipFill>
        <p:spPr>
          <a:xfrm>
            <a:off x="6217920" y="4828032"/>
            <a:ext cx="5699455" cy="1755648"/>
          </a:xfrm>
          <a:prstGeom prst="rect">
            <a:avLst/>
          </a:prstGeom>
          <a:ln w="12700">
            <a:solidFill>
              <a:srgbClr val="C8C8C8"/>
            </a:solidFill>
          </a:ln>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286000"/>
          </a:xfrm>
          <a:prstGeom prst="rect">
            <a:avLst/>
          </a:prstGeom>
          <a:noFill/>
        </p:spPr>
        <p:txBody>
          <a:bodyPr wrap="square">
            <a:spAutoFit/>
          </a:bodyPr>
          <a:lstStyle/>
          <a:p>
            <a:pPr>
              <a:defRPr sz="2400" b="1">
                <a:solidFill>
                  <a:srgbClr val="003366"/>
                </a:solidFill>
              </a:defRPr>
            </a:pPr>
            <a:r>
              <a:t>#10: Optimize the pad material formulation for the front brake pads to a lower-cost compound that meets or exceeds the current friction coefficient, fade resistance, and wear life requirements.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4688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697480"/>
            <a:ext cx="5486400" cy="815429"/>
          </a:xfrm>
          <a:prstGeom prst="rect">
            <a:avLst/>
          </a:prstGeom>
          <a:noFill/>
        </p:spPr>
        <p:txBody>
          <a:bodyPr wrap="square">
            <a:spAutoFit/>
          </a:bodyPr>
          <a:lstStyle/>
          <a:p>
            <a:pPr>
              <a:defRPr sz="1000">
                <a:solidFill>
                  <a:srgbClr val="333333"/>
                </a:solidFill>
              </a:defRPr>
            </a:pPr>
            <a:r>
              <a:t>Technical optimization of Optimize the pad material formulation for the front brake pads to a lower-cost compound that meets or exceeds the current friction coefficient, fade resistance, and wear life requirements. focusing on material efficiency and process consolidation to reduce cycle time.</a:t>
            </a:r>
          </a:p>
        </p:txBody>
      </p:sp>
      <p:sp>
        <p:nvSpPr>
          <p:cNvPr id="6" name="Rectangle 5"/>
          <p:cNvSpPr/>
          <p:nvPr/>
        </p:nvSpPr>
        <p:spPr>
          <a:xfrm>
            <a:off x="274320" y="351290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58606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814661"/>
            <a:ext cx="5486400" cy="651913"/>
          </a:xfrm>
          <a:prstGeom prst="rect">
            <a:avLst/>
          </a:prstGeom>
          <a:noFill/>
        </p:spPr>
        <p:txBody>
          <a:bodyPr wrap="square">
            <a:spAutoFit/>
          </a:bodyPr>
          <a:lstStyle/>
          <a:p>
            <a:pPr>
              <a:defRPr sz="1000">
                <a:solidFill>
                  <a:srgbClr val="333333"/>
                </a:solidFill>
              </a:defRPr>
            </a:pPr>
            <a:r>
              <a:t>Optimize the pad material formulation for the front brake pads to a lower-cost compound that meets o</a:t>
            </a:r>
            <a:br/>
            <a:r>
              <a:t>N/A (Maintains current envelope)</a:t>
            </a:r>
          </a:p>
        </p:txBody>
      </p:sp>
      <p:sp>
        <p:nvSpPr>
          <p:cNvPr id="9" name="Rectangle 8"/>
          <p:cNvSpPr/>
          <p:nvPr/>
        </p:nvSpPr>
        <p:spPr>
          <a:xfrm>
            <a:off x="274320" y="446657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539727"/>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768327"/>
            <a:ext cx="5486400" cy="441063"/>
          </a:xfrm>
          <a:prstGeom prst="rect">
            <a:avLst/>
          </a:prstGeom>
          <a:noFill/>
        </p:spPr>
        <p:txBody>
          <a:bodyPr wrap="square">
            <a:spAutoFit/>
          </a:bodyPr>
          <a:lstStyle/>
          <a:p>
            <a:pPr>
              <a:defRPr sz="1000">
                <a:solidFill>
                  <a:srgbClr val="333333"/>
                </a:solidFill>
              </a:defRPr>
            </a:pPr>
            <a:r>
              <a:t>Est. Saving: INR 1200000</a:t>
            </a:r>
            <a:br/>
            <a:r>
              <a:t>CAPEX: TBD</a:t>
            </a:r>
          </a:p>
        </p:txBody>
      </p:sp>
      <p:sp>
        <p:nvSpPr>
          <p:cNvPr id="12" name="Rectangle 11"/>
          <p:cNvSpPr/>
          <p:nvPr/>
        </p:nvSpPr>
        <p:spPr>
          <a:xfrm>
            <a:off x="274320" y="520939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28254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5511142"/>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757661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7649762"/>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7878362"/>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845066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1945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46.jpg"/>
          <p:cNvPicPr>
            <a:picLocks noChangeAspect="1"/>
          </p:cNvPicPr>
          <p:nvPr/>
        </p:nvPicPr>
        <p:blipFill>
          <a:blip r:embed="rId2"/>
          <a:stretch>
            <a:fillRect/>
          </a:stretch>
        </p:blipFill>
        <p:spPr>
          <a:xfrm>
            <a:off x="6217920" y="2468880"/>
            <a:ext cx="5699455" cy="1984248"/>
          </a:xfrm>
          <a:prstGeom prst="rect">
            <a:avLst/>
          </a:prstGeom>
          <a:ln w="12700">
            <a:solidFill>
              <a:srgbClr val="C8C8C8"/>
            </a:solidFill>
          </a:ln>
        </p:spPr>
      </p:pic>
      <p:sp>
        <p:nvSpPr>
          <p:cNvPr id="21" name="TextBox 20"/>
          <p:cNvSpPr txBox="1"/>
          <p:nvPr/>
        </p:nvSpPr>
        <p:spPr>
          <a:xfrm>
            <a:off x="6217920" y="43251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2.jpg"/>
          <p:cNvPicPr>
            <a:picLocks noChangeAspect="1"/>
          </p:cNvPicPr>
          <p:nvPr/>
        </p:nvPicPr>
        <p:blipFill>
          <a:blip r:embed="rId3"/>
          <a:stretch>
            <a:fillRect/>
          </a:stretch>
        </p:blipFill>
        <p:spPr>
          <a:xfrm>
            <a:off x="6217920" y="4599432"/>
            <a:ext cx="5699455" cy="1984248"/>
          </a:xfrm>
          <a:prstGeom prst="rect">
            <a:avLst/>
          </a:prstGeom>
          <a:ln w="12700">
            <a:solidFill>
              <a:srgbClr val="C8C8C8"/>
            </a:solidFill>
          </a:ln>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2286000"/>
          </a:xfrm>
          <a:prstGeom prst="rect">
            <a:avLst/>
          </a:prstGeom>
          <a:noFill/>
        </p:spPr>
        <p:txBody>
          <a:bodyPr wrap="square">
            <a:spAutoFit/>
          </a:bodyPr>
          <a:lstStyle/>
          <a:p>
            <a:pPr>
              <a:defRPr sz="2400" b="1">
                <a:solidFill>
                  <a:srgbClr val="003366"/>
                </a:solidFill>
              </a:defRPr>
            </a:pPr>
            <a:r>
              <a:t>#11: Substitute the standard brake fluid (e.g., DOT 4) with a lower-cost, automotive-grade fluid that meets minimum required specifications for boiling point and viscosity, without compromising performance.</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24688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697480"/>
            <a:ext cx="5486400" cy="843399"/>
          </a:xfrm>
          <a:prstGeom prst="rect">
            <a:avLst/>
          </a:prstGeom>
          <a:noFill/>
        </p:spPr>
        <p:txBody>
          <a:bodyPr wrap="square">
            <a:spAutoFit/>
          </a:bodyPr>
          <a:lstStyle/>
          <a:p>
            <a:pPr>
              <a:defRPr sz="1000">
                <a:solidFill>
                  <a:srgbClr val="333333"/>
                </a:solidFill>
              </a:defRPr>
            </a:pPr>
            <a:r>
              <a:t>Technical optimization of Substitute the standard brake fluid (e.g., DOT 4) with a lower-cost, automotive-grade fluid that meets minimum required specifications for boiling point and viscosity, without compromising performance. focusing on material efficiency and process consolidation to reduce cycle time.</a:t>
            </a:r>
          </a:p>
        </p:txBody>
      </p:sp>
      <p:sp>
        <p:nvSpPr>
          <p:cNvPr id="6" name="Rectangle 5"/>
          <p:cNvSpPr/>
          <p:nvPr/>
        </p:nvSpPr>
        <p:spPr>
          <a:xfrm>
            <a:off x="274320" y="35408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61403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842631"/>
            <a:ext cx="5486400" cy="651913"/>
          </a:xfrm>
          <a:prstGeom prst="rect">
            <a:avLst/>
          </a:prstGeom>
          <a:noFill/>
        </p:spPr>
        <p:txBody>
          <a:bodyPr wrap="square">
            <a:spAutoFit/>
          </a:bodyPr>
          <a:lstStyle/>
          <a:p>
            <a:pPr>
              <a:defRPr sz="1000">
                <a:solidFill>
                  <a:srgbClr val="333333"/>
                </a:solidFill>
              </a:defRPr>
            </a:pPr>
            <a:r>
              <a:t>, DOT 4) with a lower-cost, automotive-grade fluid that meets minimum required specifications for bo</a:t>
            </a:r>
            <a:br/>
            <a:r>
              <a:t>N/A (Maintains current envelope)</a:t>
            </a:r>
          </a:p>
        </p:txBody>
      </p:sp>
      <p:sp>
        <p:nvSpPr>
          <p:cNvPr id="9" name="Rectangle 8"/>
          <p:cNvSpPr/>
          <p:nvPr/>
        </p:nvSpPr>
        <p:spPr>
          <a:xfrm>
            <a:off x="274320" y="449454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4567696"/>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796296"/>
            <a:ext cx="5486400" cy="438912"/>
          </a:xfrm>
          <a:prstGeom prst="rect">
            <a:avLst/>
          </a:prstGeom>
          <a:noFill/>
        </p:spPr>
        <p:txBody>
          <a:bodyPr wrap="square">
            <a:spAutoFit/>
          </a:bodyPr>
          <a:lstStyle/>
          <a:p>
            <a:pPr>
              <a:defRPr sz="1000">
                <a:solidFill>
                  <a:srgbClr val="333333"/>
                </a:solidFill>
              </a:defRPr>
            </a:pPr>
            <a:r>
              <a:t>Est. Saving: INR 500000</a:t>
            </a:r>
            <a:br/>
            <a:r>
              <a:t>CAPEX: TBD</a:t>
            </a:r>
          </a:p>
        </p:txBody>
      </p:sp>
      <p:sp>
        <p:nvSpPr>
          <p:cNvPr id="12" name="Rectangle 11"/>
          <p:cNvSpPr/>
          <p:nvPr/>
        </p:nvSpPr>
        <p:spPr>
          <a:xfrm>
            <a:off x="274320" y="523520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5308360"/>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5536960"/>
            <a:ext cx="5486400" cy="2065468"/>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760242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767558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7904181"/>
            <a:ext cx="5486400" cy="57230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847648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21945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6.jpg"/>
          <p:cNvPicPr>
            <a:picLocks noChangeAspect="1"/>
          </p:cNvPicPr>
          <p:nvPr/>
        </p:nvPicPr>
        <p:blipFill>
          <a:blip r:embed="rId2"/>
          <a:stretch>
            <a:fillRect/>
          </a:stretch>
        </p:blipFill>
        <p:spPr>
          <a:xfrm>
            <a:off x="6217920" y="2468880"/>
            <a:ext cx="5699455" cy="1984248"/>
          </a:xfrm>
          <a:prstGeom prst="rect">
            <a:avLst/>
          </a:prstGeom>
          <a:ln w="12700">
            <a:solidFill>
              <a:srgbClr val="C8C8C8"/>
            </a:solidFill>
          </a:ln>
        </p:spPr>
      </p:pic>
      <p:sp>
        <p:nvSpPr>
          <p:cNvPr id="21" name="TextBox 20"/>
          <p:cNvSpPr txBox="1"/>
          <p:nvPr/>
        </p:nvSpPr>
        <p:spPr>
          <a:xfrm>
            <a:off x="6217920" y="43251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209.jpg"/>
          <p:cNvPicPr>
            <a:picLocks noChangeAspect="1"/>
          </p:cNvPicPr>
          <p:nvPr/>
        </p:nvPicPr>
        <p:blipFill>
          <a:blip r:embed="rId3"/>
          <a:stretch>
            <a:fillRect/>
          </a:stretch>
        </p:blipFill>
        <p:spPr>
          <a:xfrm>
            <a:off x="6217920" y="4599432"/>
            <a:ext cx="5699455" cy="1984248"/>
          </a:xfrm>
          <a:prstGeom prst="rect">
            <a:avLst/>
          </a:prstGeom>
          <a:ln w="12700">
            <a:solidFill>
              <a:srgbClr val="C8C8C8"/>
            </a:solidFill>
          </a:ln>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4572000"/>
          </a:xfrm>
          <a:prstGeom prst="rect">
            <a:avLst/>
          </a:prstGeom>
          <a:noFill/>
        </p:spPr>
        <p:txBody>
          <a:bodyPr wrap="square">
            <a:spAutoFit/>
          </a:bodyPr>
          <a:lstStyle/>
          <a:p>
            <a:pPr>
              <a:defRPr sz="2400" b="1">
                <a:solidFill>
                  <a:srgbClr val="003366"/>
                </a:solidFill>
              </a:defRPr>
            </a:pPr>
            <a:r>
              <a:t>#12: Investigate the use of HSLA steel for brake rotor hats and potentially friction rings in place of traditional cast iron, focusing on advanced manufacturing techniques like precision forging or stamping to achieve necessary dimensional accuracy and thermal properties. This would leverage the 'Market trends indicate shift to High-Strength Low-Alloy (HSLA) steels' academic context and adapt it to the MG Hector.</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4754880"/>
            <a:ext cx="5486400" cy="137160"/>
          </a:xfrm>
          <a:prstGeom prst="rect">
            <a:avLst/>
          </a:prstGeom>
          <a:noFill/>
        </p:spPr>
        <p:txBody>
          <a:bodyPr wrap="none">
            <a:spAutoFit/>
          </a:bodyPr>
          <a:lstStyle/>
          <a:p>
            <a:pPr>
              <a:defRPr b="1" sz="700">
                <a:solidFill>
                  <a:srgbClr val="FF6400"/>
                </a:solidFill>
              </a:defRPr>
            </a:pPr>
            <a:r>
              <a:t>TECHNICAL ENGINEERING VIEW</a:t>
            </a:r>
          </a:p>
        </p:txBody>
      </p:sp>
      <p:sp>
        <p:nvSpPr>
          <p:cNvPr id="5" name="TextBox 4"/>
          <p:cNvSpPr txBox="1"/>
          <p:nvPr/>
        </p:nvSpPr>
        <p:spPr>
          <a:xfrm>
            <a:off x="274320" y="4892040"/>
            <a:ext cx="5486400" cy="777132"/>
          </a:xfrm>
          <a:prstGeom prst="rect">
            <a:avLst/>
          </a:prstGeom>
          <a:noFill/>
        </p:spPr>
        <p:txBody>
          <a:bodyPr wrap="square">
            <a:spAutoFit/>
          </a:bodyPr>
          <a:lstStyle/>
          <a:p>
            <a:pPr>
              <a:defRPr sz="600">
                <a:solidFill>
                  <a:srgbClr val="333333"/>
                </a:solidFill>
              </a:defRPr>
            </a:pPr>
            <a:r>
              <a:t>Technical optimization of Investigate the use of HSLA steel for brake rotor hats and potentially friction rings in place of traditional cast iron, focusing on advanced manufacturing techniques like precision forging or stamping to achieve necessary dimensional accuracy and thermal properties. This would leverage the 'Market trends indicate shift to High-Strength Low-Alloy (HSLA) steels' academic context and adapt it to the MG Hector. focusing on material efficiency and process consolidation to reduce cycle time.</a:t>
            </a:r>
          </a:p>
        </p:txBody>
      </p:sp>
      <p:sp>
        <p:nvSpPr>
          <p:cNvPr id="6" name="Rectangle 5"/>
          <p:cNvSpPr/>
          <p:nvPr/>
        </p:nvSpPr>
        <p:spPr>
          <a:xfrm>
            <a:off x="274320" y="566917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742324"/>
            <a:ext cx="5486400" cy="137160"/>
          </a:xfrm>
          <a:prstGeom prst="rect">
            <a:avLst/>
          </a:prstGeom>
          <a:noFill/>
        </p:spPr>
        <p:txBody>
          <a:bodyPr wrap="none">
            <a:spAutoFit/>
          </a:bodyPr>
          <a:lstStyle/>
          <a:p>
            <a:pPr>
              <a:defRPr b="1" sz="700">
                <a:solidFill>
                  <a:srgbClr val="FF6400"/>
                </a:solidFill>
              </a:defRPr>
            </a:pPr>
            <a:r>
              <a:t>MATERIAL &amp; DIMENSION SWAP</a:t>
            </a:r>
          </a:p>
        </p:txBody>
      </p:sp>
      <p:sp>
        <p:nvSpPr>
          <p:cNvPr id="8" name="TextBox 7"/>
          <p:cNvSpPr txBox="1"/>
          <p:nvPr/>
        </p:nvSpPr>
        <p:spPr>
          <a:xfrm>
            <a:off x="274320" y="5879484"/>
            <a:ext cx="5486400" cy="391148"/>
          </a:xfrm>
          <a:prstGeom prst="rect">
            <a:avLst/>
          </a:prstGeom>
          <a:noFill/>
        </p:spPr>
        <p:txBody>
          <a:bodyPr wrap="square">
            <a:spAutoFit/>
          </a:bodyPr>
          <a:lstStyle/>
          <a:p>
            <a:pPr>
              <a:defRPr sz="600">
                <a:solidFill>
                  <a:srgbClr val="333333"/>
                </a:solidFill>
              </a:defRPr>
            </a:pPr>
            <a:r>
              <a:t>Investigate the use of HSLA steel for brake rotor hats and potentially friction rings in place of tr</a:t>
            </a:r>
            <a:br/>
            <a:r>
              <a:t>N/A (Maintains current envelope)</a:t>
            </a:r>
          </a:p>
        </p:txBody>
      </p:sp>
      <p:sp>
        <p:nvSpPr>
          <p:cNvPr id="9" name="Rectangle 8"/>
          <p:cNvSpPr/>
          <p:nvPr/>
        </p:nvSpPr>
        <p:spPr>
          <a:xfrm>
            <a:off x="274320" y="627063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6343784"/>
            <a:ext cx="5486400" cy="137160"/>
          </a:xfrm>
          <a:prstGeom prst="rect">
            <a:avLst/>
          </a:prstGeom>
          <a:noFill/>
        </p:spPr>
        <p:txBody>
          <a:bodyPr wrap="none">
            <a:spAutoFit/>
          </a:bodyPr>
          <a:lstStyle/>
          <a:p>
            <a:pPr>
              <a:defRPr b="1" sz="700">
                <a:solidFill>
                  <a:srgbClr val="FF6400"/>
                </a:solidFill>
              </a:defRPr>
            </a:pPr>
            <a:r>
              <a:t>FINANCIAL IMPACT</a:t>
            </a:r>
          </a:p>
        </p:txBody>
      </p:sp>
      <p:sp>
        <p:nvSpPr>
          <p:cNvPr id="11" name="TextBox 10"/>
          <p:cNvSpPr txBox="1"/>
          <p:nvPr/>
        </p:nvSpPr>
        <p:spPr>
          <a:xfrm>
            <a:off x="274320" y="6480944"/>
            <a:ext cx="5486400" cy="259474"/>
          </a:xfrm>
          <a:prstGeom prst="rect">
            <a:avLst/>
          </a:prstGeom>
          <a:noFill/>
        </p:spPr>
        <p:txBody>
          <a:bodyPr wrap="square">
            <a:spAutoFit/>
          </a:bodyPr>
          <a:lstStyle/>
          <a:p>
            <a:pPr>
              <a:defRPr sz="600">
                <a:solidFill>
                  <a:srgbClr val="333333"/>
                </a:solidFill>
              </a:defRPr>
            </a:pPr>
            <a:r>
              <a:t>Est. Saving: INR TBD</a:t>
            </a:r>
            <a:br/>
            <a:r>
              <a:t>CAPEX: TBD</a:t>
            </a:r>
          </a:p>
        </p:txBody>
      </p:sp>
      <p:sp>
        <p:nvSpPr>
          <p:cNvPr id="12" name="Rectangle 11"/>
          <p:cNvSpPr/>
          <p:nvPr/>
        </p:nvSpPr>
        <p:spPr>
          <a:xfrm>
            <a:off x="274320" y="674041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6813570"/>
            <a:ext cx="5486400" cy="137160"/>
          </a:xfrm>
          <a:prstGeom prst="rect">
            <a:avLst/>
          </a:prstGeom>
          <a:noFill/>
        </p:spPr>
        <p:txBody>
          <a:bodyPr wrap="none">
            <a:spAutoFit/>
          </a:bodyPr>
          <a:lstStyle/>
          <a:p>
            <a:pPr>
              <a:defRPr b="1" sz="700">
                <a:solidFill>
                  <a:srgbClr val="FF6400"/>
                </a:solidFill>
              </a:defRPr>
            </a:pPr>
            <a:r>
              <a:t>VALIDATION &amp; RISKS</a:t>
            </a:r>
          </a:p>
        </p:txBody>
      </p:sp>
      <p:sp>
        <p:nvSpPr>
          <p:cNvPr id="14" name="TextBox 13"/>
          <p:cNvSpPr txBox="1"/>
          <p:nvPr/>
        </p:nvSpPr>
        <p:spPr>
          <a:xfrm>
            <a:off x="274320" y="6950730"/>
            <a:ext cx="5486400" cy="1239280"/>
          </a:xfrm>
          <a:prstGeom prst="rect">
            <a:avLst/>
          </a:prstGeom>
          <a:noFill/>
        </p:spPr>
        <p:txBody>
          <a:bodyPr wrap="square">
            <a:spAutoFit/>
          </a:bodyPr>
          <a:lstStyle/>
          <a:p>
            <a:pPr>
              <a:defRPr sz="6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819001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8263163"/>
            <a:ext cx="5486400" cy="137160"/>
          </a:xfrm>
          <a:prstGeom prst="rect">
            <a:avLst/>
          </a:prstGeom>
          <a:noFill/>
        </p:spPr>
        <p:txBody>
          <a:bodyPr wrap="none">
            <a:spAutoFit/>
          </a:bodyPr>
          <a:lstStyle/>
          <a:p>
            <a:pPr>
              <a:defRPr b="1" sz="700">
                <a:solidFill>
                  <a:srgbClr val="FF6400"/>
                </a:solidFill>
              </a:defRPr>
            </a:pPr>
            <a:r>
              <a:t>SUPPLY CHAIN</a:t>
            </a:r>
          </a:p>
        </p:txBody>
      </p:sp>
      <p:sp>
        <p:nvSpPr>
          <p:cNvPr id="17" name="TextBox 16"/>
          <p:cNvSpPr txBox="1"/>
          <p:nvPr/>
        </p:nvSpPr>
        <p:spPr>
          <a:xfrm>
            <a:off x="274320" y="8400323"/>
            <a:ext cx="5486400" cy="343384"/>
          </a:xfrm>
          <a:prstGeom prst="rect">
            <a:avLst/>
          </a:prstGeom>
          <a:noFill/>
        </p:spPr>
        <p:txBody>
          <a:bodyPr wrap="square">
            <a:spAutoFit/>
          </a:bodyPr>
          <a:lstStyle/>
          <a:p>
            <a:pPr>
              <a:defRPr sz="600">
                <a:solidFill>
                  <a:srgbClr val="333333"/>
                </a:solidFill>
              </a:defRPr>
            </a:pPr>
            <a:r>
              <a:t>• Supplier: Consolidation to single-source Tier 1</a:t>
            </a:r>
            <a:br/>
            <a:r>
              <a:t>• Tooling: 15% reduction in logistics overhead</a:t>
            </a:r>
          </a:p>
        </p:txBody>
      </p:sp>
      <p:sp>
        <p:nvSpPr>
          <p:cNvPr id="18" name="Rectangle 17"/>
          <p:cNvSpPr/>
          <p:nvPr/>
        </p:nvSpPr>
        <p:spPr>
          <a:xfrm>
            <a:off x="274320" y="874370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44805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5.jpg"/>
          <p:cNvPicPr>
            <a:picLocks noChangeAspect="1"/>
          </p:cNvPicPr>
          <p:nvPr/>
        </p:nvPicPr>
        <p:blipFill>
          <a:blip r:embed="rId2"/>
          <a:stretch>
            <a:fillRect/>
          </a:stretch>
        </p:blipFill>
        <p:spPr>
          <a:xfrm>
            <a:off x="6217920" y="4754880"/>
            <a:ext cx="5699455" cy="841248"/>
          </a:xfrm>
          <a:prstGeom prst="rect">
            <a:avLst/>
          </a:prstGeom>
          <a:ln w="12700">
            <a:solidFill>
              <a:srgbClr val="C8C8C8"/>
            </a:solidFill>
          </a:ln>
        </p:spPr>
      </p:pic>
      <p:sp>
        <p:nvSpPr>
          <p:cNvPr id="21" name="TextBox 20"/>
          <p:cNvSpPr txBox="1"/>
          <p:nvPr/>
        </p:nvSpPr>
        <p:spPr>
          <a:xfrm>
            <a:off x="6217920" y="54681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8.jpg"/>
          <p:cNvPicPr>
            <a:picLocks noChangeAspect="1"/>
          </p:cNvPicPr>
          <p:nvPr/>
        </p:nvPicPr>
        <p:blipFill>
          <a:blip r:embed="rId3"/>
          <a:stretch>
            <a:fillRect/>
          </a:stretch>
        </p:blipFill>
        <p:spPr>
          <a:xfrm>
            <a:off x="6217920" y="5742432"/>
            <a:ext cx="5699455" cy="841248"/>
          </a:xfrm>
          <a:prstGeom prst="rect">
            <a:avLst/>
          </a:prstGeom>
          <a:ln w="12700">
            <a:solidFill>
              <a:srgbClr val="C8C8C8"/>
            </a:solidFill>
          </a:ln>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657600"/>
          </a:xfrm>
          <a:prstGeom prst="rect">
            <a:avLst/>
          </a:prstGeom>
          <a:noFill/>
        </p:spPr>
        <p:txBody>
          <a:bodyPr wrap="square">
            <a:spAutoFit/>
          </a:bodyPr>
          <a:lstStyle/>
          <a:p>
            <a:pPr>
              <a:defRPr sz="2400" b="1">
                <a:solidFill>
                  <a:srgbClr val="003366"/>
                </a:solidFill>
              </a:defRPr>
            </a:pPr>
            <a:r>
              <a:t>#13: Explore the application of thin-wall casting techniques for brake calipers, potentially using aluminum alloys or advanced cast iron compositions to reduce material usage and weight, while maintaining structural rigidity and thermal performance. This adapts the 'thin-wall castings' trend to the MG Hector's C-SUV segment and its weight constraints.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840480"/>
            <a:ext cx="5486400" cy="181006"/>
          </a:xfrm>
          <a:prstGeom prst="rect">
            <a:avLst/>
          </a:prstGeom>
          <a:noFill/>
        </p:spPr>
        <p:txBody>
          <a:bodyPr wrap="none">
            <a:spAutoFit/>
          </a:bodyPr>
          <a:lstStyle/>
          <a:p>
            <a:pPr>
              <a:defRPr b="1" sz="870">
                <a:solidFill>
                  <a:srgbClr val="FF6400"/>
                </a:solidFill>
              </a:defRPr>
            </a:pPr>
            <a:r>
              <a:t>TECHNICAL ENGINEERING VIEW</a:t>
            </a:r>
          </a:p>
        </p:txBody>
      </p:sp>
      <p:sp>
        <p:nvSpPr>
          <p:cNvPr id="5" name="TextBox 4"/>
          <p:cNvSpPr txBox="1"/>
          <p:nvPr/>
        </p:nvSpPr>
        <p:spPr>
          <a:xfrm>
            <a:off x="274320" y="4021486"/>
            <a:ext cx="5486400" cy="918233"/>
          </a:xfrm>
          <a:prstGeom prst="rect">
            <a:avLst/>
          </a:prstGeom>
          <a:noFill/>
        </p:spPr>
        <p:txBody>
          <a:bodyPr wrap="square">
            <a:spAutoFit/>
          </a:bodyPr>
          <a:lstStyle/>
          <a:p>
            <a:pPr>
              <a:defRPr sz="791">
                <a:solidFill>
                  <a:srgbClr val="333333"/>
                </a:solidFill>
              </a:defRPr>
            </a:pPr>
            <a:r>
              <a:t>Technical optimization of Explore the application of thin-wall casting techniques for brake calipers, potentially using aluminum alloys or advanced cast iron compositions to reduce material usage and weight, while maintaining structural rigidity and thermal performance. This adapts the 'thin-wall castings' trend to the MG Hector's C-SUV segment and its weight constraints. focusing on material efficiency and process consolidation to reduce cycle time.</a:t>
            </a:r>
          </a:p>
        </p:txBody>
      </p:sp>
      <p:sp>
        <p:nvSpPr>
          <p:cNvPr id="6" name="Rectangle 5"/>
          <p:cNvSpPr/>
          <p:nvPr/>
        </p:nvSpPr>
        <p:spPr>
          <a:xfrm>
            <a:off x="274320" y="493971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012871"/>
            <a:ext cx="5486400" cy="181006"/>
          </a:xfrm>
          <a:prstGeom prst="rect">
            <a:avLst/>
          </a:prstGeom>
          <a:noFill/>
        </p:spPr>
        <p:txBody>
          <a:bodyPr wrap="none">
            <a:spAutoFit/>
          </a:bodyPr>
          <a:lstStyle/>
          <a:p>
            <a:pPr>
              <a:defRPr b="1" sz="870">
                <a:solidFill>
                  <a:srgbClr val="FF6400"/>
                </a:solidFill>
              </a:defRPr>
            </a:pPr>
            <a:r>
              <a:t>MATERIAL &amp; DIMENSION SWAP</a:t>
            </a:r>
          </a:p>
        </p:txBody>
      </p:sp>
      <p:sp>
        <p:nvSpPr>
          <p:cNvPr id="8" name="TextBox 7"/>
          <p:cNvSpPr txBox="1"/>
          <p:nvPr/>
        </p:nvSpPr>
        <p:spPr>
          <a:xfrm>
            <a:off x="274320" y="5193877"/>
            <a:ext cx="5486400" cy="516186"/>
          </a:xfrm>
          <a:prstGeom prst="rect">
            <a:avLst/>
          </a:prstGeom>
          <a:noFill/>
        </p:spPr>
        <p:txBody>
          <a:bodyPr wrap="square">
            <a:spAutoFit/>
          </a:bodyPr>
          <a:lstStyle/>
          <a:p>
            <a:pPr>
              <a:defRPr sz="791">
                <a:solidFill>
                  <a:srgbClr val="333333"/>
                </a:solidFill>
              </a:defRPr>
            </a:pPr>
            <a:r>
              <a:t>Explore the application of thin-wall casting techniques for brake calipers, potentially using alumin</a:t>
            </a:r>
            <a:br/>
            <a:r>
              <a:t>N/A (Maintains current envelope)</a:t>
            </a:r>
          </a:p>
        </p:txBody>
      </p:sp>
      <p:sp>
        <p:nvSpPr>
          <p:cNvPr id="9" name="Rectangle 8"/>
          <p:cNvSpPr/>
          <p:nvPr/>
        </p:nvSpPr>
        <p:spPr>
          <a:xfrm>
            <a:off x="274320" y="571006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783215"/>
            <a:ext cx="5486400" cy="181006"/>
          </a:xfrm>
          <a:prstGeom prst="rect">
            <a:avLst/>
          </a:prstGeom>
          <a:noFill/>
        </p:spPr>
        <p:txBody>
          <a:bodyPr wrap="none">
            <a:spAutoFit/>
          </a:bodyPr>
          <a:lstStyle/>
          <a:p>
            <a:pPr>
              <a:defRPr b="1" sz="870">
                <a:solidFill>
                  <a:srgbClr val="FF6400"/>
                </a:solidFill>
              </a:defRPr>
            </a:pPr>
            <a:r>
              <a:t>FINANCIAL IMPACT</a:t>
            </a:r>
          </a:p>
        </p:txBody>
      </p:sp>
      <p:sp>
        <p:nvSpPr>
          <p:cNvPr id="11" name="TextBox 10"/>
          <p:cNvSpPr txBox="1"/>
          <p:nvPr/>
        </p:nvSpPr>
        <p:spPr>
          <a:xfrm>
            <a:off x="274320" y="5964221"/>
            <a:ext cx="5486400" cy="342420"/>
          </a:xfrm>
          <a:prstGeom prst="rect">
            <a:avLst/>
          </a:prstGeom>
          <a:noFill/>
        </p:spPr>
        <p:txBody>
          <a:bodyPr wrap="square">
            <a:spAutoFit/>
          </a:bodyPr>
          <a:lstStyle/>
          <a:p>
            <a:pPr>
              <a:defRPr sz="791">
                <a:solidFill>
                  <a:srgbClr val="333333"/>
                </a:solidFill>
              </a:defRPr>
            </a:pPr>
            <a:r>
              <a:t>Est. Saving: INR TBD</a:t>
            </a:r>
            <a:br/>
            <a:r>
              <a:t>CAPEX: TBD</a:t>
            </a:r>
          </a:p>
        </p:txBody>
      </p:sp>
      <p:sp>
        <p:nvSpPr>
          <p:cNvPr id="12" name="Rectangle 11"/>
          <p:cNvSpPr/>
          <p:nvPr/>
        </p:nvSpPr>
        <p:spPr>
          <a:xfrm>
            <a:off x="274320" y="630664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6379794"/>
            <a:ext cx="5486400" cy="181006"/>
          </a:xfrm>
          <a:prstGeom prst="rect">
            <a:avLst/>
          </a:prstGeom>
          <a:noFill/>
        </p:spPr>
        <p:txBody>
          <a:bodyPr wrap="none">
            <a:spAutoFit/>
          </a:bodyPr>
          <a:lstStyle/>
          <a:p>
            <a:pPr>
              <a:defRPr b="1" sz="870">
                <a:solidFill>
                  <a:srgbClr val="FF6400"/>
                </a:solidFill>
              </a:defRPr>
            </a:pPr>
            <a:r>
              <a:t>VALIDATION &amp; RISKS</a:t>
            </a:r>
          </a:p>
        </p:txBody>
      </p:sp>
      <p:sp>
        <p:nvSpPr>
          <p:cNvPr id="14" name="TextBox 13"/>
          <p:cNvSpPr txBox="1"/>
          <p:nvPr/>
        </p:nvSpPr>
        <p:spPr>
          <a:xfrm>
            <a:off x="274320" y="6560800"/>
            <a:ext cx="5486400" cy="1635442"/>
          </a:xfrm>
          <a:prstGeom prst="rect">
            <a:avLst/>
          </a:prstGeom>
          <a:noFill/>
        </p:spPr>
        <p:txBody>
          <a:bodyPr wrap="square">
            <a:spAutoFit/>
          </a:bodyPr>
          <a:lstStyle/>
          <a:p>
            <a:pPr>
              <a:defRPr sz="791">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819624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8269395"/>
            <a:ext cx="5486400" cy="181006"/>
          </a:xfrm>
          <a:prstGeom prst="rect">
            <a:avLst/>
          </a:prstGeom>
          <a:noFill/>
        </p:spPr>
        <p:txBody>
          <a:bodyPr wrap="none">
            <a:spAutoFit/>
          </a:bodyPr>
          <a:lstStyle/>
          <a:p>
            <a:pPr>
              <a:defRPr b="1" sz="870">
                <a:solidFill>
                  <a:srgbClr val="FF6400"/>
                </a:solidFill>
              </a:defRPr>
            </a:pPr>
            <a:r>
              <a:t>SUPPLY CHAIN</a:t>
            </a:r>
          </a:p>
        </p:txBody>
      </p:sp>
      <p:sp>
        <p:nvSpPr>
          <p:cNvPr id="17" name="TextBox 16"/>
          <p:cNvSpPr txBox="1"/>
          <p:nvPr/>
        </p:nvSpPr>
        <p:spPr>
          <a:xfrm>
            <a:off x="274320" y="8450401"/>
            <a:ext cx="5486400" cy="453153"/>
          </a:xfrm>
          <a:prstGeom prst="rect">
            <a:avLst/>
          </a:prstGeom>
          <a:noFill/>
        </p:spPr>
        <p:txBody>
          <a:bodyPr wrap="square">
            <a:spAutoFit/>
          </a:bodyPr>
          <a:lstStyle/>
          <a:p>
            <a:pPr>
              <a:defRPr sz="791">
                <a:solidFill>
                  <a:srgbClr val="333333"/>
                </a:solidFill>
              </a:defRPr>
            </a:pPr>
            <a:r>
              <a:t>• Supplier: Consolidation to single-source Tier 1</a:t>
            </a:r>
            <a:br/>
            <a:r>
              <a:t>• Tooling: 15% reduction in logistics overhead</a:t>
            </a:r>
          </a:p>
        </p:txBody>
      </p:sp>
      <p:sp>
        <p:nvSpPr>
          <p:cNvPr id="18" name="Rectangle 17"/>
          <p:cNvSpPr/>
          <p:nvPr/>
        </p:nvSpPr>
        <p:spPr>
          <a:xfrm>
            <a:off x="274320" y="890355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35661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05.jpg"/>
          <p:cNvPicPr>
            <a:picLocks noChangeAspect="1"/>
          </p:cNvPicPr>
          <p:nvPr/>
        </p:nvPicPr>
        <p:blipFill>
          <a:blip r:embed="rId2"/>
          <a:stretch>
            <a:fillRect/>
          </a:stretch>
        </p:blipFill>
        <p:spPr>
          <a:xfrm>
            <a:off x="6217920" y="3840480"/>
            <a:ext cx="5699455" cy="1298448"/>
          </a:xfrm>
          <a:prstGeom prst="rect">
            <a:avLst/>
          </a:prstGeom>
          <a:ln w="12700">
            <a:solidFill>
              <a:srgbClr val="C8C8C8"/>
            </a:solidFill>
          </a:ln>
        </p:spPr>
      </p:pic>
      <p:sp>
        <p:nvSpPr>
          <p:cNvPr id="21" name="TextBox 20"/>
          <p:cNvSpPr txBox="1"/>
          <p:nvPr/>
        </p:nvSpPr>
        <p:spPr>
          <a:xfrm>
            <a:off x="6217920" y="50109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30.jpg"/>
          <p:cNvPicPr>
            <a:picLocks noChangeAspect="1"/>
          </p:cNvPicPr>
          <p:nvPr/>
        </p:nvPicPr>
        <p:blipFill>
          <a:blip r:embed="rId3"/>
          <a:stretch>
            <a:fillRect/>
          </a:stretch>
        </p:blipFill>
        <p:spPr>
          <a:xfrm>
            <a:off x="6217920" y="5285232"/>
            <a:ext cx="5699455" cy="1298448"/>
          </a:xfrm>
          <a:prstGeom prst="rect">
            <a:avLst/>
          </a:prstGeom>
          <a:ln w="12700">
            <a:solidFill>
              <a:srgbClr val="C8C8C8"/>
            </a:solidFill>
          </a:ln>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4114800"/>
          </a:xfrm>
          <a:prstGeom prst="rect">
            <a:avLst/>
          </a:prstGeom>
          <a:noFill/>
        </p:spPr>
        <p:txBody>
          <a:bodyPr wrap="square">
            <a:spAutoFit/>
          </a:bodyPr>
          <a:lstStyle/>
          <a:p>
            <a:pPr>
              <a:defRPr sz="2400" b="1">
                <a:solidFill>
                  <a:srgbClr val="003366"/>
                </a:solidFill>
              </a:defRPr>
            </a:pPr>
            <a:r>
              <a:t>#14: Investigate the use of a thicker, more robust dust shield made from a lower-cost, high-temperature resistant polymer or a lighter gauge stamped steel, optimized for heat dissipation and debris protection without compromising the functionality of the brake assembly or requiring significant tooling changes. This directly addresses the 'Dust shield gauge' component focus.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4297680"/>
            <a:ext cx="5486400" cy="148714"/>
          </a:xfrm>
          <a:prstGeom prst="rect">
            <a:avLst/>
          </a:prstGeom>
          <a:noFill/>
        </p:spPr>
        <p:txBody>
          <a:bodyPr wrap="none">
            <a:spAutoFit/>
          </a:bodyPr>
          <a:lstStyle/>
          <a:p>
            <a:pPr>
              <a:defRPr b="1" sz="715">
                <a:solidFill>
                  <a:srgbClr val="FF6400"/>
                </a:solidFill>
              </a:defRPr>
            </a:pPr>
            <a:r>
              <a:t>TECHNICAL ENGINEERING VIEW</a:t>
            </a:r>
          </a:p>
        </p:txBody>
      </p:sp>
      <p:sp>
        <p:nvSpPr>
          <p:cNvPr id="5" name="TextBox 4"/>
          <p:cNvSpPr txBox="1"/>
          <p:nvPr/>
        </p:nvSpPr>
        <p:spPr>
          <a:xfrm>
            <a:off x="274320" y="4446394"/>
            <a:ext cx="5486400" cy="786610"/>
          </a:xfrm>
          <a:prstGeom prst="rect">
            <a:avLst/>
          </a:prstGeom>
          <a:noFill/>
        </p:spPr>
        <p:txBody>
          <a:bodyPr wrap="square">
            <a:spAutoFit/>
          </a:bodyPr>
          <a:lstStyle/>
          <a:p>
            <a:pPr>
              <a:defRPr sz="650">
                <a:solidFill>
                  <a:srgbClr val="333333"/>
                </a:solidFill>
              </a:defRPr>
            </a:pPr>
            <a:r>
              <a:t>Technical optimization of Investigate the use of a thicker, more robust dust shield made from a lower-cost, high-temperature resistant polymer or a lighter gauge stamped steel, optimized for heat dissipation and debris protection without compromising the functionality of the brake assembly or requiring significant tooling changes. This directly addresses the 'Dust shield gauge' component focus. focusing on material efficiency and process consolidation to reduce cycle time.</a:t>
            </a:r>
          </a:p>
        </p:txBody>
      </p:sp>
      <p:sp>
        <p:nvSpPr>
          <p:cNvPr id="6" name="Rectangle 5"/>
          <p:cNvSpPr/>
          <p:nvPr/>
        </p:nvSpPr>
        <p:spPr>
          <a:xfrm>
            <a:off x="274320" y="523300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306156"/>
            <a:ext cx="5486400" cy="148714"/>
          </a:xfrm>
          <a:prstGeom prst="rect">
            <a:avLst/>
          </a:prstGeom>
          <a:noFill/>
        </p:spPr>
        <p:txBody>
          <a:bodyPr wrap="none">
            <a:spAutoFit/>
          </a:bodyPr>
          <a:lstStyle/>
          <a:p>
            <a:pPr>
              <a:defRPr b="1" sz="715">
                <a:solidFill>
                  <a:srgbClr val="FF6400"/>
                </a:solidFill>
              </a:defRPr>
            </a:pPr>
            <a:r>
              <a:t>MATERIAL &amp; DIMENSION SWAP</a:t>
            </a:r>
          </a:p>
        </p:txBody>
      </p:sp>
      <p:sp>
        <p:nvSpPr>
          <p:cNvPr id="8" name="TextBox 7"/>
          <p:cNvSpPr txBox="1"/>
          <p:nvPr/>
        </p:nvSpPr>
        <p:spPr>
          <a:xfrm>
            <a:off x="274320" y="5454871"/>
            <a:ext cx="5486400" cy="424097"/>
          </a:xfrm>
          <a:prstGeom prst="rect">
            <a:avLst/>
          </a:prstGeom>
          <a:noFill/>
        </p:spPr>
        <p:txBody>
          <a:bodyPr wrap="square">
            <a:spAutoFit/>
          </a:bodyPr>
          <a:lstStyle/>
          <a:p>
            <a:pPr>
              <a:defRPr sz="650">
                <a:solidFill>
                  <a:srgbClr val="333333"/>
                </a:solidFill>
              </a:defRPr>
            </a:pPr>
            <a:r>
              <a:t>Investigate the use of a thicker, more robust dust shield made from a lower-cost, high-temperature r</a:t>
            </a:r>
            <a:br/>
            <a:r>
              <a:t>N/A (Maintains current envelope)</a:t>
            </a:r>
          </a:p>
        </p:txBody>
      </p:sp>
      <p:sp>
        <p:nvSpPr>
          <p:cNvPr id="9" name="Rectangle 8"/>
          <p:cNvSpPr/>
          <p:nvPr/>
        </p:nvSpPr>
        <p:spPr>
          <a:xfrm>
            <a:off x="274320" y="587896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952121"/>
            <a:ext cx="5486400" cy="148714"/>
          </a:xfrm>
          <a:prstGeom prst="rect">
            <a:avLst/>
          </a:prstGeom>
          <a:noFill/>
        </p:spPr>
        <p:txBody>
          <a:bodyPr wrap="none">
            <a:spAutoFit/>
          </a:bodyPr>
          <a:lstStyle/>
          <a:p>
            <a:pPr>
              <a:defRPr b="1" sz="715">
                <a:solidFill>
                  <a:srgbClr val="FF6400"/>
                </a:solidFill>
              </a:defRPr>
            </a:pPr>
            <a:r>
              <a:t>FINANCIAL IMPACT</a:t>
            </a:r>
          </a:p>
        </p:txBody>
      </p:sp>
      <p:sp>
        <p:nvSpPr>
          <p:cNvPr id="11" name="TextBox 10"/>
          <p:cNvSpPr txBox="1"/>
          <p:nvPr/>
        </p:nvSpPr>
        <p:spPr>
          <a:xfrm>
            <a:off x="274320" y="6100835"/>
            <a:ext cx="5486400" cy="281332"/>
          </a:xfrm>
          <a:prstGeom prst="rect">
            <a:avLst/>
          </a:prstGeom>
          <a:noFill/>
        </p:spPr>
        <p:txBody>
          <a:bodyPr wrap="square">
            <a:spAutoFit/>
          </a:bodyPr>
          <a:lstStyle/>
          <a:p>
            <a:pPr>
              <a:defRPr sz="650">
                <a:solidFill>
                  <a:srgbClr val="333333"/>
                </a:solidFill>
              </a:defRPr>
            </a:pPr>
            <a:r>
              <a:t>Est. Saving: INR TBD</a:t>
            </a:r>
            <a:br/>
            <a:r>
              <a:t>CAPEX: TBD</a:t>
            </a:r>
          </a:p>
        </p:txBody>
      </p:sp>
      <p:sp>
        <p:nvSpPr>
          <p:cNvPr id="12" name="Rectangle 11"/>
          <p:cNvSpPr/>
          <p:nvPr/>
        </p:nvSpPr>
        <p:spPr>
          <a:xfrm>
            <a:off x="274320" y="638216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6455319"/>
            <a:ext cx="5486400" cy="148714"/>
          </a:xfrm>
          <a:prstGeom prst="rect">
            <a:avLst/>
          </a:prstGeom>
          <a:noFill/>
        </p:spPr>
        <p:txBody>
          <a:bodyPr wrap="none">
            <a:spAutoFit/>
          </a:bodyPr>
          <a:lstStyle/>
          <a:p>
            <a:pPr>
              <a:defRPr b="1" sz="715">
                <a:solidFill>
                  <a:srgbClr val="FF6400"/>
                </a:solidFill>
              </a:defRPr>
            </a:pPr>
            <a:r>
              <a:t>VALIDATION &amp; RISKS</a:t>
            </a:r>
          </a:p>
        </p:txBody>
      </p:sp>
      <p:sp>
        <p:nvSpPr>
          <p:cNvPr id="14" name="TextBox 13"/>
          <p:cNvSpPr txBox="1"/>
          <p:nvPr/>
        </p:nvSpPr>
        <p:spPr>
          <a:xfrm>
            <a:off x="274320" y="6604033"/>
            <a:ext cx="5486400" cy="1343676"/>
          </a:xfrm>
          <a:prstGeom prst="rect">
            <a:avLst/>
          </a:prstGeom>
          <a:noFill/>
        </p:spPr>
        <p:txBody>
          <a:bodyPr wrap="square">
            <a:spAutoFit/>
          </a:bodyPr>
          <a:lstStyle/>
          <a:p>
            <a:pPr>
              <a:defRPr sz="65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794771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8020862"/>
            <a:ext cx="5486400" cy="148714"/>
          </a:xfrm>
          <a:prstGeom prst="rect">
            <a:avLst/>
          </a:prstGeom>
          <a:noFill/>
        </p:spPr>
        <p:txBody>
          <a:bodyPr wrap="none">
            <a:spAutoFit/>
          </a:bodyPr>
          <a:lstStyle/>
          <a:p>
            <a:pPr>
              <a:defRPr b="1" sz="715">
                <a:solidFill>
                  <a:srgbClr val="FF6400"/>
                </a:solidFill>
              </a:defRPr>
            </a:pPr>
            <a:r>
              <a:t>SUPPLY CHAIN</a:t>
            </a:r>
          </a:p>
        </p:txBody>
      </p:sp>
      <p:sp>
        <p:nvSpPr>
          <p:cNvPr id="17" name="TextBox 16"/>
          <p:cNvSpPr txBox="1"/>
          <p:nvPr/>
        </p:nvSpPr>
        <p:spPr>
          <a:xfrm>
            <a:off x="274320" y="8169576"/>
            <a:ext cx="5486400" cy="372310"/>
          </a:xfrm>
          <a:prstGeom prst="rect">
            <a:avLst/>
          </a:prstGeom>
          <a:noFill/>
        </p:spPr>
        <p:txBody>
          <a:bodyPr wrap="square">
            <a:spAutoFit/>
          </a:bodyPr>
          <a:lstStyle/>
          <a:p>
            <a:pPr>
              <a:defRPr sz="650">
                <a:solidFill>
                  <a:srgbClr val="333333"/>
                </a:solidFill>
              </a:defRPr>
            </a:pPr>
            <a:r>
              <a:t>• Supplier: Consolidation to single-source Tier 1</a:t>
            </a:r>
            <a:br/>
            <a:r>
              <a:t>• Tooling: 15% reduction in logistics overhead</a:t>
            </a:r>
          </a:p>
        </p:txBody>
      </p:sp>
      <p:sp>
        <p:nvSpPr>
          <p:cNvPr id="18" name="Rectangle 17"/>
          <p:cNvSpPr/>
          <p:nvPr/>
        </p:nvSpPr>
        <p:spPr>
          <a:xfrm>
            <a:off x="274320" y="854188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40233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9.jpg"/>
          <p:cNvPicPr>
            <a:picLocks noChangeAspect="1"/>
          </p:cNvPicPr>
          <p:nvPr/>
        </p:nvPicPr>
        <p:blipFill>
          <a:blip r:embed="rId2"/>
          <a:stretch>
            <a:fillRect/>
          </a:stretch>
        </p:blipFill>
        <p:spPr>
          <a:xfrm>
            <a:off x="6217920" y="4297680"/>
            <a:ext cx="5699455" cy="1069848"/>
          </a:xfrm>
          <a:prstGeom prst="rect">
            <a:avLst/>
          </a:prstGeom>
          <a:ln w="12700">
            <a:solidFill>
              <a:srgbClr val="C8C8C8"/>
            </a:solidFill>
          </a:ln>
        </p:spPr>
      </p:pic>
      <p:sp>
        <p:nvSpPr>
          <p:cNvPr id="21" name="TextBox 20"/>
          <p:cNvSpPr txBox="1"/>
          <p:nvPr/>
        </p:nvSpPr>
        <p:spPr>
          <a:xfrm>
            <a:off x="6217920" y="52395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14.jpg"/>
          <p:cNvPicPr>
            <a:picLocks noChangeAspect="1"/>
          </p:cNvPicPr>
          <p:nvPr/>
        </p:nvPicPr>
        <p:blipFill>
          <a:blip r:embed="rId3"/>
          <a:stretch>
            <a:fillRect/>
          </a:stretch>
        </p:blipFill>
        <p:spPr>
          <a:xfrm>
            <a:off x="6217920" y="5513832"/>
            <a:ext cx="5699455" cy="1069848"/>
          </a:xfrm>
          <a:prstGeom prst="rect">
            <a:avLst/>
          </a:prstGeom>
          <a:ln w="12700">
            <a:solidFill>
              <a:srgbClr val="C8C8C8"/>
            </a:solidFill>
          </a:ln>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4114800"/>
          </a:xfrm>
          <a:prstGeom prst="rect">
            <a:avLst/>
          </a:prstGeom>
          <a:noFill/>
        </p:spPr>
        <p:txBody>
          <a:bodyPr wrap="square">
            <a:spAutoFit/>
          </a:bodyPr>
          <a:lstStyle/>
          <a:p>
            <a:pPr>
              <a:defRPr sz="2400" b="1">
                <a:solidFill>
                  <a:srgbClr val="003366"/>
                </a:solidFill>
              </a:defRPr>
            </a:pPr>
            <a:r>
              <a:t>#15: Optimize the friction coefficient of brake pads through advanced material formulations, focusing on hybrid organic-metallic compounds that offer a balance of performance, durability, and cost. This aims to extend pad life and reduce rotor wear, indirectly contributing to cost reduction over the vehicle lifecycle, while adhering to the 'Friction Coeff' and 'Fade Resistance' physics.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4297680"/>
            <a:ext cx="5486400" cy="147539"/>
          </a:xfrm>
          <a:prstGeom prst="rect">
            <a:avLst/>
          </a:prstGeom>
          <a:noFill/>
        </p:spPr>
        <p:txBody>
          <a:bodyPr wrap="none">
            <a:spAutoFit/>
          </a:bodyPr>
          <a:lstStyle/>
          <a:p>
            <a:pPr>
              <a:defRPr b="1" sz="709">
                <a:solidFill>
                  <a:srgbClr val="FF6400"/>
                </a:solidFill>
              </a:defRPr>
            </a:pPr>
            <a:r>
              <a:t>TECHNICAL ENGINEERING VIEW</a:t>
            </a:r>
          </a:p>
        </p:txBody>
      </p:sp>
      <p:sp>
        <p:nvSpPr>
          <p:cNvPr id="5" name="TextBox 4"/>
          <p:cNvSpPr txBox="1"/>
          <p:nvPr/>
        </p:nvSpPr>
        <p:spPr>
          <a:xfrm>
            <a:off x="274320" y="4445219"/>
            <a:ext cx="5486400" cy="798451"/>
          </a:xfrm>
          <a:prstGeom prst="rect">
            <a:avLst/>
          </a:prstGeom>
          <a:noFill/>
        </p:spPr>
        <p:txBody>
          <a:bodyPr wrap="square">
            <a:spAutoFit/>
          </a:bodyPr>
          <a:lstStyle/>
          <a:p>
            <a:pPr>
              <a:defRPr sz="645">
                <a:solidFill>
                  <a:srgbClr val="333333"/>
                </a:solidFill>
              </a:defRPr>
            </a:pPr>
            <a:r>
              <a:t>Technical optimization of Optimize the friction coefficient of brake pads through advanced material formulations, focusing on hybrid organic-metallic compounds that offer a balance of performance, durability, and cost. This aims to extend pad life and reduce rotor wear, indirectly contributing to cost reduction over the vehicle lifecycle, while adhering to the 'Friction Coeff' and 'Fade Resistance' physics. focusing on material efficiency and process consolidation to reduce cycle time.</a:t>
            </a:r>
          </a:p>
        </p:txBody>
      </p:sp>
      <p:sp>
        <p:nvSpPr>
          <p:cNvPr id="6" name="Rectangle 5"/>
          <p:cNvSpPr/>
          <p:nvPr/>
        </p:nvSpPr>
        <p:spPr>
          <a:xfrm>
            <a:off x="274320" y="524367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316822"/>
            <a:ext cx="5486400" cy="147539"/>
          </a:xfrm>
          <a:prstGeom prst="rect">
            <a:avLst/>
          </a:prstGeom>
          <a:noFill/>
        </p:spPr>
        <p:txBody>
          <a:bodyPr wrap="none">
            <a:spAutoFit/>
          </a:bodyPr>
          <a:lstStyle/>
          <a:p>
            <a:pPr>
              <a:defRPr b="1" sz="709">
                <a:solidFill>
                  <a:srgbClr val="FF6400"/>
                </a:solidFill>
              </a:defRPr>
            </a:pPr>
            <a:r>
              <a:t>MATERIAL &amp; DIMENSION SWAP</a:t>
            </a:r>
          </a:p>
        </p:txBody>
      </p:sp>
      <p:sp>
        <p:nvSpPr>
          <p:cNvPr id="8" name="TextBox 7"/>
          <p:cNvSpPr txBox="1"/>
          <p:nvPr/>
        </p:nvSpPr>
        <p:spPr>
          <a:xfrm>
            <a:off x="274320" y="5464362"/>
            <a:ext cx="5486400" cy="420748"/>
          </a:xfrm>
          <a:prstGeom prst="rect">
            <a:avLst/>
          </a:prstGeom>
          <a:noFill/>
        </p:spPr>
        <p:txBody>
          <a:bodyPr wrap="square">
            <a:spAutoFit/>
          </a:bodyPr>
          <a:lstStyle/>
          <a:p>
            <a:pPr>
              <a:defRPr sz="645">
                <a:solidFill>
                  <a:srgbClr val="333333"/>
                </a:solidFill>
              </a:defRPr>
            </a:pPr>
            <a:r>
              <a:t>Optimize the friction coefficient of brake pads through advanced material formulations, focusing on </a:t>
            </a:r>
            <a:br/>
            <a:r>
              <a:t>N/A (Maintains current envelope)</a:t>
            </a:r>
          </a:p>
        </p:txBody>
      </p:sp>
      <p:sp>
        <p:nvSpPr>
          <p:cNvPr id="9" name="Rectangle 8"/>
          <p:cNvSpPr/>
          <p:nvPr/>
        </p:nvSpPr>
        <p:spPr>
          <a:xfrm>
            <a:off x="274320" y="588511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958263"/>
            <a:ext cx="5486400" cy="147539"/>
          </a:xfrm>
          <a:prstGeom prst="rect">
            <a:avLst/>
          </a:prstGeom>
          <a:noFill/>
        </p:spPr>
        <p:txBody>
          <a:bodyPr wrap="none">
            <a:spAutoFit/>
          </a:bodyPr>
          <a:lstStyle/>
          <a:p>
            <a:pPr>
              <a:defRPr b="1" sz="709">
                <a:solidFill>
                  <a:srgbClr val="FF6400"/>
                </a:solidFill>
              </a:defRPr>
            </a:pPr>
            <a:r>
              <a:t>FINANCIAL IMPACT</a:t>
            </a:r>
          </a:p>
        </p:txBody>
      </p:sp>
      <p:sp>
        <p:nvSpPr>
          <p:cNvPr id="11" name="TextBox 10"/>
          <p:cNvSpPr txBox="1"/>
          <p:nvPr/>
        </p:nvSpPr>
        <p:spPr>
          <a:xfrm>
            <a:off x="274320" y="6105803"/>
            <a:ext cx="5486400" cy="279110"/>
          </a:xfrm>
          <a:prstGeom prst="rect">
            <a:avLst/>
          </a:prstGeom>
          <a:noFill/>
        </p:spPr>
        <p:txBody>
          <a:bodyPr wrap="square">
            <a:spAutoFit/>
          </a:bodyPr>
          <a:lstStyle/>
          <a:p>
            <a:pPr>
              <a:defRPr sz="645">
                <a:solidFill>
                  <a:srgbClr val="333333"/>
                </a:solidFill>
              </a:defRPr>
            </a:pPr>
            <a:r>
              <a:t>Est. Saving: INR TBD</a:t>
            </a:r>
            <a:br/>
            <a:r>
              <a:t>CAPEX: TBD</a:t>
            </a:r>
          </a:p>
        </p:txBody>
      </p:sp>
      <p:sp>
        <p:nvSpPr>
          <p:cNvPr id="12" name="Rectangle 11"/>
          <p:cNvSpPr/>
          <p:nvPr/>
        </p:nvSpPr>
        <p:spPr>
          <a:xfrm>
            <a:off x="274320" y="638491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6458066"/>
            <a:ext cx="5486400" cy="147539"/>
          </a:xfrm>
          <a:prstGeom prst="rect">
            <a:avLst/>
          </a:prstGeom>
          <a:noFill/>
        </p:spPr>
        <p:txBody>
          <a:bodyPr wrap="none">
            <a:spAutoFit/>
          </a:bodyPr>
          <a:lstStyle/>
          <a:p>
            <a:pPr>
              <a:defRPr b="1" sz="709">
                <a:solidFill>
                  <a:srgbClr val="FF6400"/>
                </a:solidFill>
              </a:defRPr>
            </a:pPr>
            <a:r>
              <a:t>VALIDATION &amp; RISKS</a:t>
            </a:r>
          </a:p>
        </p:txBody>
      </p:sp>
      <p:sp>
        <p:nvSpPr>
          <p:cNvPr id="14" name="TextBox 13"/>
          <p:cNvSpPr txBox="1"/>
          <p:nvPr/>
        </p:nvSpPr>
        <p:spPr>
          <a:xfrm>
            <a:off x="274320" y="6605606"/>
            <a:ext cx="5486400" cy="1333066"/>
          </a:xfrm>
          <a:prstGeom prst="rect">
            <a:avLst/>
          </a:prstGeom>
          <a:noFill/>
        </p:spPr>
        <p:txBody>
          <a:bodyPr wrap="square">
            <a:spAutoFit/>
          </a:bodyPr>
          <a:lstStyle/>
          <a:p>
            <a:pPr>
              <a:defRPr sz="645">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793867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8011824"/>
            <a:ext cx="5486400" cy="147539"/>
          </a:xfrm>
          <a:prstGeom prst="rect">
            <a:avLst/>
          </a:prstGeom>
          <a:noFill/>
        </p:spPr>
        <p:txBody>
          <a:bodyPr wrap="none">
            <a:spAutoFit/>
          </a:bodyPr>
          <a:lstStyle/>
          <a:p>
            <a:pPr>
              <a:defRPr b="1" sz="709">
                <a:solidFill>
                  <a:srgbClr val="FF6400"/>
                </a:solidFill>
              </a:defRPr>
            </a:pPr>
            <a:r>
              <a:t>SUPPLY CHAIN</a:t>
            </a:r>
          </a:p>
        </p:txBody>
      </p:sp>
      <p:sp>
        <p:nvSpPr>
          <p:cNvPr id="17" name="TextBox 16"/>
          <p:cNvSpPr txBox="1"/>
          <p:nvPr/>
        </p:nvSpPr>
        <p:spPr>
          <a:xfrm>
            <a:off x="274320" y="8159364"/>
            <a:ext cx="5486400" cy="369370"/>
          </a:xfrm>
          <a:prstGeom prst="rect">
            <a:avLst/>
          </a:prstGeom>
          <a:noFill/>
        </p:spPr>
        <p:txBody>
          <a:bodyPr wrap="square">
            <a:spAutoFit/>
          </a:bodyPr>
          <a:lstStyle/>
          <a:p>
            <a:pPr>
              <a:defRPr sz="645">
                <a:solidFill>
                  <a:srgbClr val="333333"/>
                </a:solidFill>
              </a:defRPr>
            </a:pPr>
            <a:r>
              <a:t>• Supplier: Consolidation to single-source Tier 1</a:t>
            </a:r>
            <a:br/>
            <a:r>
              <a:t>• Tooling: 15% reduction in logistics overhead</a:t>
            </a:r>
          </a:p>
        </p:txBody>
      </p:sp>
      <p:sp>
        <p:nvSpPr>
          <p:cNvPr id="18" name="Rectangle 17"/>
          <p:cNvSpPr/>
          <p:nvPr/>
        </p:nvSpPr>
        <p:spPr>
          <a:xfrm>
            <a:off x="274320" y="852873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402336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76.jpg"/>
          <p:cNvPicPr>
            <a:picLocks noChangeAspect="1"/>
          </p:cNvPicPr>
          <p:nvPr/>
        </p:nvPicPr>
        <p:blipFill>
          <a:blip r:embed="rId2"/>
          <a:stretch>
            <a:fillRect/>
          </a:stretch>
        </p:blipFill>
        <p:spPr>
          <a:xfrm>
            <a:off x="6217920" y="4297680"/>
            <a:ext cx="5699455" cy="1069848"/>
          </a:xfrm>
          <a:prstGeom prst="rect">
            <a:avLst/>
          </a:prstGeom>
          <a:ln w="12700">
            <a:solidFill>
              <a:srgbClr val="C8C8C8"/>
            </a:solidFill>
          </a:ln>
        </p:spPr>
      </p:pic>
      <p:sp>
        <p:nvSpPr>
          <p:cNvPr id="21" name="TextBox 20"/>
          <p:cNvSpPr txBox="1"/>
          <p:nvPr/>
        </p:nvSpPr>
        <p:spPr>
          <a:xfrm>
            <a:off x="6217920" y="5239512"/>
            <a:ext cx="5699455" cy="256032"/>
          </a:xfrm>
          <a:prstGeom prst="rect">
            <a:avLst/>
          </a:prstGeom>
          <a:noFill/>
        </p:spPr>
        <p:txBody>
          <a:bodyPr wrap="square">
            <a:spAutoFit/>
          </a:bodyPr>
          <a:lstStyle/>
          <a:p>
            <a:pPr algn="ctr">
              <a:defRPr b="1" sz="1100">
                <a:solidFill>
                  <a:srgbClr val="003366"/>
                </a:solidFill>
              </a:defRPr>
            </a:pPr>
            <a:r>
              <a:t>Proposal / Competitor</a:t>
            </a:r>
          </a:p>
        </p:txBody>
      </p:sp>
      <p:pic>
        <p:nvPicPr>
          <p:cNvPr id="22" name="Picture 21" descr="83.jpg"/>
          <p:cNvPicPr>
            <a:picLocks noChangeAspect="1"/>
          </p:cNvPicPr>
          <p:nvPr/>
        </p:nvPicPr>
        <p:blipFill>
          <a:blip r:embed="rId3"/>
          <a:stretch>
            <a:fillRect/>
          </a:stretch>
        </p:blipFill>
        <p:spPr>
          <a:xfrm>
            <a:off x="6217920" y="5513832"/>
            <a:ext cx="5699455" cy="1069848"/>
          </a:xfrm>
          <a:prstGeom prst="rect">
            <a:avLst/>
          </a:prstGeom>
          <a:ln w="12700">
            <a:solidFill>
              <a:srgbClr val="C8C8C8"/>
            </a:solidFill>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
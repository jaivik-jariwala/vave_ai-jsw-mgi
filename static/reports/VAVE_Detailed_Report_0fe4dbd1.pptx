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4.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 Id="rId3" Type="http://schemas.openxmlformats.org/officeDocument/2006/relationships/image" Target="../media/image6.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jpg"/><Relationship Id="rId3" Type="http://schemas.openxmlformats.org/officeDocument/2006/relationships/image" Target="../media/image8.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jpg"/><Relationship Id="rId3" Type="http://schemas.openxmlformats.org/officeDocument/2006/relationships/image" Target="../media/image10.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jpg"/><Relationship Id="rId3" Type="http://schemas.openxmlformats.org/officeDocument/2006/relationships/image" Target="../media/image12.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jpg"/><Relationship Id="rId3" Type="http://schemas.openxmlformats.org/officeDocument/2006/relationships/image" Target="../media/image14.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jpg"/><Relationship Id="rId3" Type="http://schemas.openxmlformats.org/officeDocument/2006/relationships/image" Target="../media/image16.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jpg"/><Relationship Id="rId3" Type="http://schemas.openxmlformats.org/officeDocument/2006/relationships/image" Target="../media/image18.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jpg"/><Relationship Id="rId3" Type="http://schemas.openxmlformats.org/officeDocument/2006/relationships/image" Target="../media/image20.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jpg"/><Relationship Id="rId3" Type="http://schemas.openxmlformats.org/officeDocument/2006/relationships/image" Target="../media/image22.jp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pPr>
              <a:defRPr>
                <a:solidFill>
                  <a:srgbClr val="003366"/>
                </a:solidFill>
              </a:defRPr>
            </a:pPr>
            <a:r>
              <a:t>VAVE Cost Reduction Strategy</a:t>
            </a:r>
          </a:p>
        </p:txBody>
      </p:sp>
      <p:sp>
        <p:nvSpPr>
          <p:cNvPr id="3" name="Subtitle 2"/>
          <p:cNvSpPr>
            <a:spLocks noGrp="1"/>
          </p:cNvSpPr>
          <p:nvPr>
            <p:ph type="subTitle" idx="1"/>
          </p:nvPr>
        </p:nvSpPr>
        <p:spPr/>
        <p:txBody>
          <a:bodyPr/>
          <a:lstStyle/>
          <a:p>
            <a:r>
              <a:t>Detailed Engineering Feasibility Report | 13-Jan-2026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9144000" cy="731520"/>
          </a:xfrm>
          <a:prstGeom prst="rect">
            <a:avLst/>
          </a:prstGeom>
          <a:noFill/>
        </p:spPr>
        <p:txBody>
          <a:bodyPr wrap="none">
            <a:spAutoFit/>
          </a:bodyPr>
          <a:lstStyle/>
          <a:p/>
          <a:p>
            <a:pPr>
              <a:defRPr sz="2200" b="1">
                <a:solidFill>
                  <a:srgbClr val="003366"/>
                </a:solidFill>
              </a:defRPr>
            </a:pPr>
            <a:r>
              <a:t>#1: 1. Reduce the overall wall thickness of the Brake Dust Cover Plates present on all four wheel hubs of the vehicles from 1mm to 0.8mm</a:t>
            </a:r>
            <a:br/>
            <a:r>
              <a:t>2. Reduce the paint coating thickness on each side of all four plates from 56 microns to 27.8 microns</a:t>
            </a:r>
          </a:p>
        </p:txBody>
      </p:sp>
      <p:sp>
        <p:nvSpPr>
          <p:cNvPr id="3" name="TextBox 2"/>
          <p:cNvSpPr txBox="1"/>
          <p:nvPr/>
        </p:nvSpPr>
        <p:spPr>
          <a:xfrm>
            <a:off x="10058400" y="182880"/>
            <a:ext cx="1828800" cy="365760"/>
          </a:xfrm>
          <a:prstGeom prst="rect">
            <a:avLst/>
          </a:prstGeom>
          <a:solidFill>
            <a:srgbClr val="646464"/>
          </a:solidFill>
        </p:spPr>
        <p:txBody>
          <a:bodyPr wrap="none">
            <a:spAutoFit/>
          </a:bodyPr>
          <a:lstStyle/>
          <a:p>
            <a:pPr algn="ctr">
              <a:defRPr b="1" sz="1000">
                <a:solidFill>
                  <a:srgbClr val="FFFFFF"/>
                </a:solidFill>
              </a:defRPr>
            </a:pPr>
            <a:r>
              <a:t>EXISTING DATABASE</a:t>
            </a:r>
          </a:p>
        </p:txBody>
      </p:sp>
      <p:sp>
        <p:nvSpPr>
          <p:cNvPr id="4" name="TextBox 3"/>
          <p:cNvSpPr txBox="1"/>
          <p:nvPr/>
        </p:nvSpPr>
        <p:spPr>
          <a:xfrm>
            <a:off x="457200" y="1005840"/>
            <a:ext cx="5303520" cy="274320"/>
          </a:xfrm>
          <a:prstGeom prst="rect">
            <a:avLst/>
          </a:prstGeom>
          <a:noFill/>
        </p:spPr>
        <p:txBody>
          <a:bodyPr wrap="none">
            <a:spAutoFit/>
          </a:bodyPr>
          <a:lstStyle/>
          <a:p>
            <a:pPr>
              <a:defRPr b="1" sz="1100">
                <a:solidFill>
                  <a:srgbClr val="FF6400"/>
                </a:solidFill>
              </a:defRPr>
            </a:pPr>
            <a:r>
              <a:t>Technical Engineering View:</a:t>
            </a:r>
          </a:p>
        </p:txBody>
      </p:sp>
      <p:sp>
        <p:nvSpPr>
          <p:cNvPr id="5" name="TextBox 4"/>
          <p:cNvSpPr txBox="1"/>
          <p:nvPr/>
        </p:nvSpPr>
        <p:spPr>
          <a:xfrm>
            <a:off x="457200" y="1207008"/>
            <a:ext cx="5303520" cy="914400"/>
          </a:xfrm>
          <a:prstGeom prst="rect">
            <a:avLst/>
          </a:prstGeom>
          <a:noFill/>
        </p:spPr>
        <p:txBody>
          <a:bodyPr wrap="square">
            <a:spAutoFit/>
          </a:bodyPr>
          <a:lstStyle/>
          <a:p>
            <a:pPr>
              <a:defRPr sz="1000">
                <a:solidFill>
                  <a:srgbClr val="333333"/>
                </a:solidFill>
              </a:defRPr>
            </a:pPr>
            <a:r>
              <a:t>Technical optimization of 1. Reduce the overall wall thickness of the Brake Dust Cover Plates present on all four wheel hubs of the vehicles from 1mm to 0.8mm</a:t>
            </a:r>
            <a:br/>
            <a:r>
              <a:t>2. Reduce the paint coating thickness on each side of all four plates from 56 microns to 27.8 microns focusing on material efficiency and process consolidation to reduce cycle time.</a:t>
            </a:r>
          </a:p>
        </p:txBody>
      </p:sp>
      <p:sp>
        <p:nvSpPr>
          <p:cNvPr id="6" name="Rectangle 5"/>
          <p:cNvSpPr/>
          <p:nvPr/>
        </p:nvSpPr>
        <p:spPr>
          <a:xfrm>
            <a:off x="457200" y="210312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2240280"/>
            <a:ext cx="5303520" cy="274320"/>
          </a:xfrm>
          <a:prstGeom prst="rect">
            <a:avLst/>
          </a:prstGeom>
          <a:noFill/>
        </p:spPr>
        <p:txBody>
          <a:bodyPr wrap="none">
            <a:spAutoFit/>
          </a:bodyPr>
          <a:lstStyle/>
          <a:p>
            <a:pPr>
              <a:defRPr b="1" sz="1100">
                <a:solidFill>
                  <a:srgbClr val="FF6400"/>
                </a:solidFill>
              </a:defRPr>
            </a:pPr>
            <a:r>
              <a:t>Material Change:</a:t>
            </a:r>
          </a:p>
        </p:txBody>
      </p:sp>
      <p:sp>
        <p:nvSpPr>
          <p:cNvPr id="8" name="TextBox 7"/>
          <p:cNvSpPr txBox="1"/>
          <p:nvPr/>
        </p:nvSpPr>
        <p:spPr>
          <a:xfrm>
            <a:off x="457200" y="2441448"/>
            <a:ext cx="5303520" cy="365760"/>
          </a:xfrm>
          <a:prstGeom prst="rect">
            <a:avLst/>
          </a:prstGeom>
          <a:noFill/>
        </p:spPr>
        <p:txBody>
          <a:bodyPr wrap="square">
            <a:spAutoFit/>
          </a:bodyPr>
          <a:lstStyle/>
          <a:p>
            <a:pPr>
              <a:defRPr sz="1000">
                <a:solidFill>
                  <a:srgbClr val="333333"/>
                </a:solidFill>
              </a:defRPr>
            </a:pPr>
            <a:r>
              <a:t>N/A (No material change explicitly mentioned)</a:t>
            </a:r>
          </a:p>
        </p:txBody>
      </p:sp>
      <p:sp>
        <p:nvSpPr>
          <p:cNvPr id="9" name="Rectangle 8"/>
          <p:cNvSpPr/>
          <p:nvPr/>
        </p:nvSpPr>
        <p:spPr>
          <a:xfrm>
            <a:off x="457200" y="278892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2926080"/>
            <a:ext cx="5303520" cy="274320"/>
          </a:xfrm>
          <a:prstGeom prst="rect">
            <a:avLst/>
          </a:prstGeom>
          <a:noFill/>
        </p:spPr>
        <p:txBody>
          <a:bodyPr wrap="none">
            <a:spAutoFit/>
          </a:bodyPr>
          <a:lstStyle/>
          <a:p>
            <a:pPr>
              <a:defRPr b="1" sz="1100">
                <a:solidFill>
                  <a:srgbClr val="FF6400"/>
                </a:solidFill>
              </a:defRPr>
            </a:pPr>
            <a:r>
              <a:t>Dimension Change:</a:t>
            </a:r>
          </a:p>
        </p:txBody>
      </p:sp>
      <p:sp>
        <p:nvSpPr>
          <p:cNvPr id="11" name="TextBox 10"/>
          <p:cNvSpPr txBox="1"/>
          <p:nvPr/>
        </p:nvSpPr>
        <p:spPr>
          <a:xfrm>
            <a:off x="457200" y="3127248"/>
            <a:ext cx="5303520" cy="365760"/>
          </a:xfrm>
          <a:prstGeom prst="rect">
            <a:avLst/>
          </a:prstGeom>
          <a:noFill/>
        </p:spPr>
        <p:txBody>
          <a:bodyPr wrap="square">
            <a:spAutoFit/>
          </a:bodyPr>
          <a:lstStyle/>
          <a:p>
            <a:pPr>
              <a:defRPr sz="1000">
                <a:solidFill>
                  <a:srgbClr val="333333"/>
                </a:solidFill>
              </a:defRPr>
            </a:pPr>
            <a:r>
              <a:t>1mm to 0.8mm</a:t>
            </a:r>
          </a:p>
        </p:txBody>
      </p:sp>
      <p:sp>
        <p:nvSpPr>
          <p:cNvPr id="12" name="Rectangle 11"/>
          <p:cNvSpPr/>
          <p:nvPr/>
        </p:nvSpPr>
        <p:spPr>
          <a:xfrm>
            <a:off x="457200" y="347472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 y="3611880"/>
            <a:ext cx="5303520" cy="274320"/>
          </a:xfrm>
          <a:prstGeom prst="rect">
            <a:avLst/>
          </a:prstGeom>
          <a:noFill/>
        </p:spPr>
        <p:txBody>
          <a:bodyPr wrap="none">
            <a:spAutoFit/>
          </a:bodyPr>
          <a:lstStyle/>
          <a:p>
            <a:pPr>
              <a:defRPr b="1" sz="1100">
                <a:solidFill>
                  <a:srgbClr val="FF6400"/>
                </a:solidFill>
              </a:defRPr>
            </a:pPr>
            <a:r>
              <a:t>Cost Analysis:</a:t>
            </a:r>
          </a:p>
        </p:txBody>
      </p:sp>
      <p:sp>
        <p:nvSpPr>
          <p:cNvPr id="14" name="TextBox 13"/>
          <p:cNvSpPr txBox="1"/>
          <p:nvPr/>
        </p:nvSpPr>
        <p:spPr>
          <a:xfrm>
            <a:off x="457200" y="3813048"/>
            <a:ext cx="5303520" cy="365760"/>
          </a:xfrm>
          <a:prstGeom prst="rect">
            <a:avLst/>
          </a:prstGeom>
          <a:noFill/>
        </p:spPr>
        <p:txBody>
          <a:bodyPr wrap="square">
            <a:spAutoFit/>
          </a:bodyPr>
          <a:lstStyle/>
          <a:p>
            <a:pPr>
              <a:defRPr sz="1000">
                <a:solidFill>
                  <a:srgbClr val="333333"/>
                </a:solidFill>
              </a:defRPr>
            </a:pPr>
            <a:r>
              <a:t>Est. Saving: INR 57</a:t>
            </a:r>
          </a:p>
        </p:txBody>
      </p:sp>
      <p:sp>
        <p:nvSpPr>
          <p:cNvPr id="15" name="Rectangle 14"/>
          <p:cNvSpPr/>
          <p:nvPr/>
        </p:nvSpPr>
        <p:spPr>
          <a:xfrm>
            <a:off x="457200" y="416052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200" y="4297680"/>
            <a:ext cx="5303520" cy="274320"/>
          </a:xfrm>
          <a:prstGeom prst="rect">
            <a:avLst/>
          </a:prstGeom>
          <a:noFill/>
        </p:spPr>
        <p:txBody>
          <a:bodyPr wrap="none">
            <a:spAutoFit/>
          </a:bodyPr>
          <a:lstStyle/>
          <a:p>
            <a:pPr>
              <a:defRPr b="1" sz="1100">
                <a:solidFill>
                  <a:srgbClr val="FF6400"/>
                </a:solidFill>
              </a:defRPr>
            </a:pPr>
            <a:r>
              <a:t>Engineering Validation &amp; Risks:</a:t>
            </a:r>
          </a:p>
        </p:txBody>
      </p:sp>
      <p:sp>
        <p:nvSpPr>
          <p:cNvPr id="17" name="TextBox 16"/>
          <p:cNvSpPr txBox="1"/>
          <p:nvPr/>
        </p:nvSpPr>
        <p:spPr>
          <a:xfrm>
            <a:off x="457200" y="4498848"/>
            <a:ext cx="5303520" cy="1463040"/>
          </a:xfrm>
          <a:prstGeom prst="rect">
            <a:avLst/>
          </a:prstGeom>
          <a:noFill/>
        </p:spPr>
        <p:txBody>
          <a:bodyPr wrap="square">
            <a:spAutoFit/>
          </a:bodyPr>
          <a:lstStyle/>
          <a:p>
            <a:pPr>
              <a:defRPr sz="1000">
                <a:solidFill>
                  <a:srgbClr val="333333"/>
                </a:solidFill>
              </a:defRPr>
            </a:pPr>
            <a:r>
              <a:t>VALIDATION ROADMAP:</a:t>
            </a:r>
            <a:br/>
            <a:r>
              <a:t>• DVP&amp;R Level 2 Testing</a:t>
            </a:r>
            <a:br/>
            <a:r>
              <a:t>• Environmental Aging (1000 hrs)</a:t>
            </a:r>
            <a:br/>
            <a:r>
              <a:t>• Head Impact Criterion (FMVSS)</a:t>
            </a:r>
            <a:br/>
            <a:r>
              <a:t>RISK MITIGATION:</a:t>
            </a:r>
            <a:br/>
            <a:r>
              <a:t>⚠ NVH performance degradation</a:t>
            </a:r>
            <a:br/>
            <a:r>
              <a:t>⚠ Thermal durability limits</a:t>
            </a:r>
            <a:br/>
            <a:r>
              <a:t>⚠ Aesthetic fit &amp; finish gap</a:t>
            </a:r>
          </a:p>
        </p:txBody>
      </p:sp>
      <p:sp>
        <p:nvSpPr>
          <p:cNvPr id="18" name="Rectangle 17"/>
          <p:cNvSpPr/>
          <p:nvPr/>
        </p:nvSpPr>
        <p:spPr>
          <a:xfrm>
            <a:off x="457200" y="594360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57200" y="6080760"/>
            <a:ext cx="5303520" cy="274320"/>
          </a:xfrm>
          <a:prstGeom prst="rect">
            <a:avLst/>
          </a:prstGeom>
          <a:noFill/>
        </p:spPr>
        <p:txBody>
          <a:bodyPr wrap="none">
            <a:spAutoFit/>
          </a:bodyPr>
          <a:lstStyle/>
          <a:p>
            <a:pPr>
              <a:defRPr b="1" sz="1100">
                <a:solidFill>
                  <a:srgbClr val="FF6400"/>
                </a:solidFill>
              </a:defRPr>
            </a:pPr>
            <a:r>
              <a:t>Supply Chain Impact:</a:t>
            </a:r>
          </a:p>
        </p:txBody>
      </p:sp>
      <p:sp>
        <p:nvSpPr>
          <p:cNvPr id="20" name="TextBox 19"/>
          <p:cNvSpPr txBox="1"/>
          <p:nvPr/>
        </p:nvSpPr>
        <p:spPr>
          <a:xfrm>
            <a:off x="457200" y="6281928"/>
            <a:ext cx="5303520" cy="1097280"/>
          </a:xfrm>
          <a:prstGeom prst="rect">
            <a:avLst/>
          </a:prstGeom>
          <a:noFill/>
        </p:spPr>
        <p:txBody>
          <a:bodyPr wrap="square">
            <a:spAutoFit/>
          </a:bodyPr>
          <a:lstStyle/>
          <a:p>
            <a:pPr>
              <a:defRPr sz="1000">
                <a:solidFill>
                  <a:srgbClr val="333333"/>
                </a:solidFill>
              </a:defRPr>
            </a:pPr>
            <a:r>
              <a:t>• Supplier Change: Consolidation to single-source Tier 1</a:t>
            </a:r>
            <a:br/>
            <a:r>
              <a:t>• Lead Time: Reduction of 2 weeks via localization</a:t>
            </a:r>
            <a:br/>
            <a:r>
              <a:t>• Risk: Dual tooling strategy for backup</a:t>
            </a:r>
            <a:br/>
            <a:r>
              <a:t>• Cost Impact: 15% reduction in logistics overhead</a:t>
            </a:r>
          </a:p>
        </p:txBody>
      </p:sp>
      <p:sp>
        <p:nvSpPr>
          <p:cNvPr id="21" name="Rectangle 20"/>
          <p:cNvSpPr/>
          <p:nvPr/>
        </p:nvSpPr>
        <p:spPr>
          <a:xfrm>
            <a:off x="457200" y="736092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035040" y="731520"/>
            <a:ext cx="5669280" cy="274320"/>
          </a:xfrm>
          <a:prstGeom prst="rect">
            <a:avLst/>
          </a:prstGeom>
          <a:noFill/>
        </p:spPr>
        <p:txBody>
          <a:bodyPr wrap="none">
            <a:spAutoFit/>
          </a:bodyPr>
          <a:lstStyle/>
          <a:p>
            <a:pPr algn="ctr">
              <a:defRPr b="1" sz="1200">
                <a:solidFill>
                  <a:srgbClr val="003366"/>
                </a:solidFill>
              </a:defRPr>
            </a:pPr>
            <a:r>
              <a:t>Current Scenario</a:t>
            </a:r>
          </a:p>
        </p:txBody>
      </p:sp>
      <p:pic>
        <p:nvPicPr>
          <p:cNvPr id="23" name="Picture 22" descr="185.jpg"/>
          <p:cNvPicPr>
            <a:picLocks noChangeAspect="1"/>
          </p:cNvPicPr>
          <p:nvPr/>
        </p:nvPicPr>
        <p:blipFill>
          <a:blip r:embed="rId2"/>
          <a:stretch>
            <a:fillRect/>
          </a:stretch>
        </p:blipFill>
        <p:spPr>
          <a:xfrm>
            <a:off x="6035040" y="1005840"/>
            <a:ext cx="5669280" cy="2743200"/>
          </a:xfrm>
          <a:prstGeom prst="rect">
            <a:avLst/>
          </a:prstGeom>
          <a:ln w="12700">
            <a:solidFill>
              <a:srgbClr val="C8C8C8"/>
            </a:solidFill>
          </a:ln>
        </p:spPr>
      </p:pic>
      <p:sp>
        <p:nvSpPr>
          <p:cNvPr id="24" name="TextBox 23"/>
          <p:cNvSpPr txBox="1"/>
          <p:nvPr/>
        </p:nvSpPr>
        <p:spPr>
          <a:xfrm>
            <a:off x="6035040" y="3749040"/>
            <a:ext cx="5669280" cy="274320"/>
          </a:xfrm>
          <a:prstGeom prst="rect">
            <a:avLst/>
          </a:prstGeom>
          <a:noFill/>
        </p:spPr>
        <p:txBody>
          <a:bodyPr wrap="none">
            <a:spAutoFit/>
          </a:bodyPr>
          <a:lstStyle/>
          <a:p>
            <a:pPr algn="ctr">
              <a:defRPr b="1" sz="1200">
                <a:solidFill>
                  <a:srgbClr val="003366"/>
                </a:solidFill>
              </a:defRPr>
            </a:pPr>
            <a:r>
              <a:t>Implementation / Proposal</a:t>
            </a:r>
          </a:p>
        </p:txBody>
      </p:sp>
      <p:pic>
        <p:nvPicPr>
          <p:cNvPr id="25" name="Picture 24" descr="impl_overlay_1Reducetheo_1768298331067.jpg"/>
          <p:cNvPicPr>
            <a:picLocks noChangeAspect="1"/>
          </p:cNvPicPr>
          <p:nvPr/>
        </p:nvPicPr>
        <p:blipFill>
          <a:blip r:embed="rId3"/>
          <a:stretch>
            <a:fillRect/>
          </a:stretch>
        </p:blipFill>
        <p:spPr>
          <a:xfrm>
            <a:off x="6035040" y="4023360"/>
            <a:ext cx="5669280" cy="2743200"/>
          </a:xfrm>
          <a:prstGeom prst="rect">
            <a:avLst/>
          </a:prstGeom>
          <a:ln w="12700">
            <a:solidFill>
              <a:srgbClr val="C8C8C8"/>
            </a:solidFill>
          </a:ln>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9144000" cy="731520"/>
          </a:xfrm>
          <a:prstGeom prst="rect">
            <a:avLst/>
          </a:prstGeom>
          <a:noFill/>
        </p:spPr>
        <p:txBody>
          <a:bodyPr wrap="none">
            <a:spAutoFit/>
          </a:bodyPr>
          <a:lstStyle/>
          <a:p/>
          <a:p>
            <a:pPr>
              <a:defRPr sz="2200" b="1">
                <a:solidFill>
                  <a:srgbClr val="003366"/>
                </a:solidFill>
              </a:defRPr>
            </a:pPr>
            <a:r>
              <a:t>#2: The Brake Booster Plate in MGI could be integrated into the Dashboard BIW of the vehicle as done in KIA</a:t>
            </a:r>
          </a:p>
        </p:txBody>
      </p:sp>
      <p:sp>
        <p:nvSpPr>
          <p:cNvPr id="3" name="TextBox 2"/>
          <p:cNvSpPr txBox="1"/>
          <p:nvPr/>
        </p:nvSpPr>
        <p:spPr>
          <a:xfrm>
            <a:off x="10058400" y="182880"/>
            <a:ext cx="1828800" cy="365760"/>
          </a:xfrm>
          <a:prstGeom prst="rect">
            <a:avLst/>
          </a:prstGeom>
          <a:solidFill>
            <a:srgbClr val="646464"/>
          </a:solidFill>
        </p:spPr>
        <p:txBody>
          <a:bodyPr wrap="none">
            <a:spAutoFit/>
          </a:bodyPr>
          <a:lstStyle/>
          <a:p>
            <a:pPr algn="ctr">
              <a:defRPr b="1" sz="1000">
                <a:solidFill>
                  <a:srgbClr val="FFFFFF"/>
                </a:solidFill>
              </a:defRPr>
            </a:pPr>
            <a:r>
              <a:t>EXISTING DATABASE</a:t>
            </a:r>
          </a:p>
        </p:txBody>
      </p:sp>
      <p:sp>
        <p:nvSpPr>
          <p:cNvPr id="4" name="TextBox 3"/>
          <p:cNvSpPr txBox="1"/>
          <p:nvPr/>
        </p:nvSpPr>
        <p:spPr>
          <a:xfrm>
            <a:off x="457200" y="1005840"/>
            <a:ext cx="5303520" cy="274320"/>
          </a:xfrm>
          <a:prstGeom prst="rect">
            <a:avLst/>
          </a:prstGeom>
          <a:noFill/>
        </p:spPr>
        <p:txBody>
          <a:bodyPr wrap="none">
            <a:spAutoFit/>
          </a:bodyPr>
          <a:lstStyle/>
          <a:p>
            <a:pPr>
              <a:defRPr b="1" sz="1100">
                <a:solidFill>
                  <a:srgbClr val="FF6400"/>
                </a:solidFill>
              </a:defRPr>
            </a:pPr>
            <a:r>
              <a:t>Technical Engineering View:</a:t>
            </a:r>
          </a:p>
        </p:txBody>
      </p:sp>
      <p:sp>
        <p:nvSpPr>
          <p:cNvPr id="5" name="TextBox 4"/>
          <p:cNvSpPr txBox="1"/>
          <p:nvPr/>
        </p:nvSpPr>
        <p:spPr>
          <a:xfrm>
            <a:off x="457200" y="1207008"/>
            <a:ext cx="5303520" cy="914400"/>
          </a:xfrm>
          <a:prstGeom prst="rect">
            <a:avLst/>
          </a:prstGeom>
          <a:noFill/>
        </p:spPr>
        <p:txBody>
          <a:bodyPr wrap="square">
            <a:spAutoFit/>
          </a:bodyPr>
          <a:lstStyle/>
          <a:p>
            <a:pPr>
              <a:defRPr sz="1000">
                <a:solidFill>
                  <a:srgbClr val="333333"/>
                </a:solidFill>
              </a:defRPr>
            </a:pPr>
            <a:r>
              <a:t>Technical optimization of The Brake Booster Plate in MGI could be integrated into the Dashboard BIW of the vehicle as done in KIA focusing on material efficiency and process consolidation to reduce cycle time.</a:t>
            </a:r>
          </a:p>
        </p:txBody>
      </p:sp>
      <p:sp>
        <p:nvSpPr>
          <p:cNvPr id="6" name="Rectangle 5"/>
          <p:cNvSpPr/>
          <p:nvPr/>
        </p:nvSpPr>
        <p:spPr>
          <a:xfrm>
            <a:off x="457200" y="210312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2240280"/>
            <a:ext cx="5303520" cy="274320"/>
          </a:xfrm>
          <a:prstGeom prst="rect">
            <a:avLst/>
          </a:prstGeom>
          <a:noFill/>
        </p:spPr>
        <p:txBody>
          <a:bodyPr wrap="none">
            <a:spAutoFit/>
          </a:bodyPr>
          <a:lstStyle/>
          <a:p>
            <a:pPr>
              <a:defRPr b="1" sz="1100">
                <a:solidFill>
                  <a:srgbClr val="FF6400"/>
                </a:solidFill>
              </a:defRPr>
            </a:pPr>
            <a:r>
              <a:t>Material Change:</a:t>
            </a:r>
          </a:p>
        </p:txBody>
      </p:sp>
      <p:sp>
        <p:nvSpPr>
          <p:cNvPr id="8" name="TextBox 7"/>
          <p:cNvSpPr txBox="1"/>
          <p:nvPr/>
        </p:nvSpPr>
        <p:spPr>
          <a:xfrm>
            <a:off x="457200" y="2441448"/>
            <a:ext cx="5303520" cy="365760"/>
          </a:xfrm>
          <a:prstGeom prst="rect">
            <a:avLst/>
          </a:prstGeom>
          <a:noFill/>
        </p:spPr>
        <p:txBody>
          <a:bodyPr wrap="square">
            <a:spAutoFit/>
          </a:bodyPr>
          <a:lstStyle/>
          <a:p>
            <a:pPr>
              <a:defRPr sz="1000">
                <a:solidFill>
                  <a:srgbClr val="333333"/>
                </a:solidFill>
              </a:defRPr>
            </a:pPr>
            <a:r>
              <a:t>N/A (No material change explicitly mentioned)</a:t>
            </a:r>
          </a:p>
        </p:txBody>
      </p:sp>
      <p:sp>
        <p:nvSpPr>
          <p:cNvPr id="9" name="Rectangle 8"/>
          <p:cNvSpPr/>
          <p:nvPr/>
        </p:nvSpPr>
        <p:spPr>
          <a:xfrm>
            <a:off x="457200" y="278892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2926080"/>
            <a:ext cx="5303520" cy="274320"/>
          </a:xfrm>
          <a:prstGeom prst="rect">
            <a:avLst/>
          </a:prstGeom>
          <a:noFill/>
        </p:spPr>
        <p:txBody>
          <a:bodyPr wrap="none">
            <a:spAutoFit/>
          </a:bodyPr>
          <a:lstStyle/>
          <a:p>
            <a:pPr>
              <a:defRPr b="1" sz="1100">
                <a:solidFill>
                  <a:srgbClr val="FF6400"/>
                </a:solidFill>
              </a:defRPr>
            </a:pPr>
            <a:r>
              <a:t>Dimension Change:</a:t>
            </a:r>
          </a:p>
        </p:txBody>
      </p:sp>
      <p:sp>
        <p:nvSpPr>
          <p:cNvPr id="11" name="TextBox 10"/>
          <p:cNvSpPr txBox="1"/>
          <p:nvPr/>
        </p:nvSpPr>
        <p:spPr>
          <a:xfrm>
            <a:off x="457200" y="3127248"/>
            <a:ext cx="5303520" cy="365760"/>
          </a:xfrm>
          <a:prstGeom prst="rect">
            <a:avLst/>
          </a:prstGeom>
          <a:noFill/>
        </p:spPr>
        <p:txBody>
          <a:bodyPr wrap="square">
            <a:spAutoFit/>
          </a:bodyPr>
          <a:lstStyle/>
          <a:p>
            <a:pPr>
              <a:defRPr sz="1000">
                <a:solidFill>
                  <a:srgbClr val="333333"/>
                </a:solidFill>
              </a:defRPr>
            </a:pPr>
            <a:r>
              <a:t>N/A (Maintains current envelope)</a:t>
            </a:r>
          </a:p>
        </p:txBody>
      </p:sp>
      <p:sp>
        <p:nvSpPr>
          <p:cNvPr id="12" name="Rectangle 11"/>
          <p:cNvSpPr/>
          <p:nvPr/>
        </p:nvSpPr>
        <p:spPr>
          <a:xfrm>
            <a:off x="457200" y="347472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 y="3611880"/>
            <a:ext cx="5303520" cy="274320"/>
          </a:xfrm>
          <a:prstGeom prst="rect">
            <a:avLst/>
          </a:prstGeom>
          <a:noFill/>
        </p:spPr>
        <p:txBody>
          <a:bodyPr wrap="none">
            <a:spAutoFit/>
          </a:bodyPr>
          <a:lstStyle/>
          <a:p>
            <a:pPr>
              <a:defRPr b="1" sz="1100">
                <a:solidFill>
                  <a:srgbClr val="FF6400"/>
                </a:solidFill>
              </a:defRPr>
            </a:pPr>
            <a:r>
              <a:t>Cost Analysis:</a:t>
            </a:r>
          </a:p>
        </p:txBody>
      </p:sp>
      <p:sp>
        <p:nvSpPr>
          <p:cNvPr id="14" name="TextBox 13"/>
          <p:cNvSpPr txBox="1"/>
          <p:nvPr/>
        </p:nvSpPr>
        <p:spPr>
          <a:xfrm>
            <a:off x="457200" y="3813048"/>
            <a:ext cx="5303520" cy="365760"/>
          </a:xfrm>
          <a:prstGeom prst="rect">
            <a:avLst/>
          </a:prstGeom>
          <a:noFill/>
        </p:spPr>
        <p:txBody>
          <a:bodyPr wrap="square">
            <a:spAutoFit/>
          </a:bodyPr>
          <a:lstStyle/>
          <a:p>
            <a:pPr>
              <a:defRPr sz="1000">
                <a:solidFill>
                  <a:srgbClr val="333333"/>
                </a:solidFill>
              </a:defRPr>
            </a:pPr>
            <a:r>
              <a:t>Est. Saving: INR 47</a:t>
            </a:r>
          </a:p>
        </p:txBody>
      </p:sp>
      <p:sp>
        <p:nvSpPr>
          <p:cNvPr id="15" name="Rectangle 14"/>
          <p:cNvSpPr/>
          <p:nvPr/>
        </p:nvSpPr>
        <p:spPr>
          <a:xfrm>
            <a:off x="457200" y="416052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200" y="4297680"/>
            <a:ext cx="5303520" cy="274320"/>
          </a:xfrm>
          <a:prstGeom prst="rect">
            <a:avLst/>
          </a:prstGeom>
          <a:noFill/>
        </p:spPr>
        <p:txBody>
          <a:bodyPr wrap="none">
            <a:spAutoFit/>
          </a:bodyPr>
          <a:lstStyle/>
          <a:p>
            <a:pPr>
              <a:defRPr b="1" sz="1100">
                <a:solidFill>
                  <a:srgbClr val="FF6400"/>
                </a:solidFill>
              </a:defRPr>
            </a:pPr>
            <a:r>
              <a:t>Engineering Validation &amp; Risks:</a:t>
            </a:r>
          </a:p>
        </p:txBody>
      </p:sp>
      <p:sp>
        <p:nvSpPr>
          <p:cNvPr id="17" name="TextBox 16"/>
          <p:cNvSpPr txBox="1"/>
          <p:nvPr/>
        </p:nvSpPr>
        <p:spPr>
          <a:xfrm>
            <a:off x="457200" y="4498848"/>
            <a:ext cx="5303520" cy="1463040"/>
          </a:xfrm>
          <a:prstGeom prst="rect">
            <a:avLst/>
          </a:prstGeom>
          <a:noFill/>
        </p:spPr>
        <p:txBody>
          <a:bodyPr wrap="square">
            <a:spAutoFit/>
          </a:bodyPr>
          <a:lstStyle/>
          <a:p>
            <a:pPr>
              <a:defRPr sz="1000">
                <a:solidFill>
                  <a:srgbClr val="333333"/>
                </a:solidFill>
              </a:defRPr>
            </a:pPr>
            <a:r>
              <a:t>VALIDATION ROADMAP:</a:t>
            </a:r>
            <a:br/>
            <a:r>
              <a:t>• DVP&amp;R Level 2 Testing</a:t>
            </a:r>
            <a:br/>
            <a:r>
              <a:t>• Environmental Aging (1000 hrs)</a:t>
            </a:r>
            <a:br/>
            <a:r>
              <a:t>• Head Impact Criterion (FMVSS)</a:t>
            </a:r>
            <a:br/>
            <a:r>
              <a:t>RISK MITIGATION:</a:t>
            </a:r>
            <a:br/>
            <a:r>
              <a:t>⚠ NVH performance degradation</a:t>
            </a:r>
            <a:br/>
            <a:r>
              <a:t>⚠ Thermal durability limits</a:t>
            </a:r>
            <a:br/>
            <a:r>
              <a:t>⚠ Aesthetic fit &amp; finish gap</a:t>
            </a:r>
          </a:p>
        </p:txBody>
      </p:sp>
      <p:sp>
        <p:nvSpPr>
          <p:cNvPr id="18" name="Rectangle 17"/>
          <p:cNvSpPr/>
          <p:nvPr/>
        </p:nvSpPr>
        <p:spPr>
          <a:xfrm>
            <a:off x="457200" y="594360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57200" y="6080760"/>
            <a:ext cx="5303520" cy="274320"/>
          </a:xfrm>
          <a:prstGeom prst="rect">
            <a:avLst/>
          </a:prstGeom>
          <a:noFill/>
        </p:spPr>
        <p:txBody>
          <a:bodyPr wrap="none">
            <a:spAutoFit/>
          </a:bodyPr>
          <a:lstStyle/>
          <a:p>
            <a:pPr>
              <a:defRPr b="1" sz="1100">
                <a:solidFill>
                  <a:srgbClr val="FF6400"/>
                </a:solidFill>
              </a:defRPr>
            </a:pPr>
            <a:r>
              <a:t>Supply Chain Impact:</a:t>
            </a:r>
          </a:p>
        </p:txBody>
      </p:sp>
      <p:sp>
        <p:nvSpPr>
          <p:cNvPr id="20" name="TextBox 19"/>
          <p:cNvSpPr txBox="1"/>
          <p:nvPr/>
        </p:nvSpPr>
        <p:spPr>
          <a:xfrm>
            <a:off x="457200" y="6281928"/>
            <a:ext cx="5303520" cy="1097280"/>
          </a:xfrm>
          <a:prstGeom prst="rect">
            <a:avLst/>
          </a:prstGeom>
          <a:noFill/>
        </p:spPr>
        <p:txBody>
          <a:bodyPr wrap="square">
            <a:spAutoFit/>
          </a:bodyPr>
          <a:lstStyle/>
          <a:p>
            <a:pPr>
              <a:defRPr sz="1000">
                <a:solidFill>
                  <a:srgbClr val="333333"/>
                </a:solidFill>
              </a:defRPr>
            </a:pPr>
            <a:r>
              <a:t>• Supplier Change: Consolidation to single-source Tier 1</a:t>
            </a:r>
            <a:br/>
            <a:r>
              <a:t>• Lead Time: Reduction of 2 weeks via localization</a:t>
            </a:r>
            <a:br/>
            <a:r>
              <a:t>• Risk: Dual tooling strategy for backup</a:t>
            </a:r>
            <a:br/>
            <a:r>
              <a:t>• Cost Impact: 15% reduction in logistics overhead</a:t>
            </a:r>
          </a:p>
        </p:txBody>
      </p:sp>
      <p:sp>
        <p:nvSpPr>
          <p:cNvPr id="21" name="Rectangle 20"/>
          <p:cNvSpPr/>
          <p:nvPr/>
        </p:nvSpPr>
        <p:spPr>
          <a:xfrm>
            <a:off x="457200" y="736092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035040" y="731520"/>
            <a:ext cx="5669280" cy="274320"/>
          </a:xfrm>
          <a:prstGeom prst="rect">
            <a:avLst/>
          </a:prstGeom>
          <a:noFill/>
        </p:spPr>
        <p:txBody>
          <a:bodyPr wrap="none">
            <a:spAutoFit/>
          </a:bodyPr>
          <a:lstStyle/>
          <a:p>
            <a:pPr algn="ctr">
              <a:defRPr b="1" sz="1200">
                <a:solidFill>
                  <a:srgbClr val="003366"/>
                </a:solidFill>
              </a:defRPr>
            </a:pPr>
            <a:r>
              <a:t>Current Scenario</a:t>
            </a:r>
          </a:p>
        </p:txBody>
      </p:sp>
      <p:pic>
        <p:nvPicPr>
          <p:cNvPr id="23" name="Picture 22" descr="31.jpg"/>
          <p:cNvPicPr>
            <a:picLocks noChangeAspect="1"/>
          </p:cNvPicPr>
          <p:nvPr/>
        </p:nvPicPr>
        <p:blipFill>
          <a:blip r:embed="rId2"/>
          <a:stretch>
            <a:fillRect/>
          </a:stretch>
        </p:blipFill>
        <p:spPr>
          <a:xfrm>
            <a:off x="6035040" y="1005840"/>
            <a:ext cx="5669280" cy="2743200"/>
          </a:xfrm>
          <a:prstGeom prst="rect">
            <a:avLst/>
          </a:prstGeom>
          <a:ln w="12700">
            <a:solidFill>
              <a:srgbClr val="C8C8C8"/>
            </a:solidFill>
          </a:ln>
        </p:spPr>
      </p:pic>
      <p:sp>
        <p:nvSpPr>
          <p:cNvPr id="24" name="TextBox 23"/>
          <p:cNvSpPr txBox="1"/>
          <p:nvPr/>
        </p:nvSpPr>
        <p:spPr>
          <a:xfrm>
            <a:off x="6035040" y="3749040"/>
            <a:ext cx="5669280" cy="274320"/>
          </a:xfrm>
          <a:prstGeom prst="rect">
            <a:avLst/>
          </a:prstGeom>
          <a:noFill/>
        </p:spPr>
        <p:txBody>
          <a:bodyPr wrap="none">
            <a:spAutoFit/>
          </a:bodyPr>
          <a:lstStyle/>
          <a:p>
            <a:pPr algn="ctr">
              <a:defRPr b="1" sz="1200">
                <a:solidFill>
                  <a:srgbClr val="003366"/>
                </a:solidFill>
              </a:defRPr>
            </a:pPr>
            <a:r>
              <a:t>Implementation / Proposal</a:t>
            </a:r>
          </a:p>
        </p:txBody>
      </p:sp>
      <p:pic>
        <p:nvPicPr>
          <p:cNvPr id="25" name="Picture 24" descr="impl_overlay_TheBrakeBoost_1768298331263.jpg"/>
          <p:cNvPicPr>
            <a:picLocks noChangeAspect="1"/>
          </p:cNvPicPr>
          <p:nvPr/>
        </p:nvPicPr>
        <p:blipFill>
          <a:blip r:embed="rId3"/>
          <a:stretch>
            <a:fillRect/>
          </a:stretch>
        </p:blipFill>
        <p:spPr>
          <a:xfrm>
            <a:off x="6035040" y="4023360"/>
            <a:ext cx="5669280" cy="2743200"/>
          </a:xfrm>
          <a:prstGeom prst="rect">
            <a:avLst/>
          </a:prstGeom>
          <a:ln w="12700">
            <a:solidFill>
              <a:srgbClr val="C8C8C8"/>
            </a:solidFill>
          </a:ln>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9144000" cy="731520"/>
          </a:xfrm>
          <a:prstGeom prst="rect">
            <a:avLst/>
          </a:prstGeom>
          <a:noFill/>
        </p:spPr>
        <p:txBody>
          <a:bodyPr wrap="none">
            <a:spAutoFit/>
          </a:bodyPr>
          <a:lstStyle/>
          <a:p/>
          <a:p>
            <a:pPr>
              <a:defRPr sz="2200" b="1">
                <a:solidFill>
                  <a:srgbClr val="003366"/>
                </a:solidFill>
              </a:defRPr>
            </a:pPr>
            <a:r>
              <a:t>#3: Redesign the current Brake Pedal Mounting Bracket used in MGI to a similar bracket used in KIA.</a:t>
            </a:r>
          </a:p>
        </p:txBody>
      </p:sp>
      <p:sp>
        <p:nvSpPr>
          <p:cNvPr id="3" name="TextBox 2"/>
          <p:cNvSpPr txBox="1"/>
          <p:nvPr/>
        </p:nvSpPr>
        <p:spPr>
          <a:xfrm>
            <a:off x="10058400" y="182880"/>
            <a:ext cx="1828800" cy="365760"/>
          </a:xfrm>
          <a:prstGeom prst="rect">
            <a:avLst/>
          </a:prstGeom>
          <a:solidFill>
            <a:srgbClr val="646464"/>
          </a:solidFill>
        </p:spPr>
        <p:txBody>
          <a:bodyPr wrap="none">
            <a:spAutoFit/>
          </a:bodyPr>
          <a:lstStyle/>
          <a:p>
            <a:pPr algn="ctr">
              <a:defRPr b="1" sz="1000">
                <a:solidFill>
                  <a:srgbClr val="FFFFFF"/>
                </a:solidFill>
              </a:defRPr>
            </a:pPr>
            <a:r>
              <a:t>EXISTING DATABASE</a:t>
            </a:r>
          </a:p>
        </p:txBody>
      </p:sp>
      <p:sp>
        <p:nvSpPr>
          <p:cNvPr id="4" name="TextBox 3"/>
          <p:cNvSpPr txBox="1"/>
          <p:nvPr/>
        </p:nvSpPr>
        <p:spPr>
          <a:xfrm>
            <a:off x="457200" y="1005840"/>
            <a:ext cx="5303520" cy="274320"/>
          </a:xfrm>
          <a:prstGeom prst="rect">
            <a:avLst/>
          </a:prstGeom>
          <a:noFill/>
        </p:spPr>
        <p:txBody>
          <a:bodyPr wrap="none">
            <a:spAutoFit/>
          </a:bodyPr>
          <a:lstStyle/>
          <a:p>
            <a:pPr>
              <a:defRPr b="1" sz="1100">
                <a:solidFill>
                  <a:srgbClr val="FF6400"/>
                </a:solidFill>
              </a:defRPr>
            </a:pPr>
            <a:r>
              <a:t>Technical Engineering View:</a:t>
            </a:r>
          </a:p>
        </p:txBody>
      </p:sp>
      <p:sp>
        <p:nvSpPr>
          <p:cNvPr id="5" name="TextBox 4"/>
          <p:cNvSpPr txBox="1"/>
          <p:nvPr/>
        </p:nvSpPr>
        <p:spPr>
          <a:xfrm>
            <a:off x="457200" y="1207008"/>
            <a:ext cx="5303520" cy="914400"/>
          </a:xfrm>
          <a:prstGeom prst="rect">
            <a:avLst/>
          </a:prstGeom>
          <a:noFill/>
        </p:spPr>
        <p:txBody>
          <a:bodyPr wrap="square">
            <a:spAutoFit/>
          </a:bodyPr>
          <a:lstStyle/>
          <a:p>
            <a:pPr>
              <a:defRPr sz="1000">
                <a:solidFill>
                  <a:srgbClr val="333333"/>
                </a:solidFill>
              </a:defRPr>
            </a:pPr>
            <a:r>
              <a:t>Technical optimization of Redesign the current Brake Pedal Mounting Bracket used in MGI to a similar bracket used in KIA. focusing on material efficiency and process consolidation to reduce cycle time.</a:t>
            </a:r>
          </a:p>
        </p:txBody>
      </p:sp>
      <p:sp>
        <p:nvSpPr>
          <p:cNvPr id="6" name="Rectangle 5"/>
          <p:cNvSpPr/>
          <p:nvPr/>
        </p:nvSpPr>
        <p:spPr>
          <a:xfrm>
            <a:off x="457200" y="210312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2240280"/>
            <a:ext cx="5303520" cy="274320"/>
          </a:xfrm>
          <a:prstGeom prst="rect">
            <a:avLst/>
          </a:prstGeom>
          <a:noFill/>
        </p:spPr>
        <p:txBody>
          <a:bodyPr wrap="none">
            <a:spAutoFit/>
          </a:bodyPr>
          <a:lstStyle/>
          <a:p>
            <a:pPr>
              <a:defRPr b="1" sz="1100">
                <a:solidFill>
                  <a:srgbClr val="FF6400"/>
                </a:solidFill>
              </a:defRPr>
            </a:pPr>
            <a:r>
              <a:t>Material Change:</a:t>
            </a:r>
          </a:p>
        </p:txBody>
      </p:sp>
      <p:sp>
        <p:nvSpPr>
          <p:cNvPr id="8" name="TextBox 7"/>
          <p:cNvSpPr txBox="1"/>
          <p:nvPr/>
        </p:nvSpPr>
        <p:spPr>
          <a:xfrm>
            <a:off x="457200" y="2441448"/>
            <a:ext cx="5303520" cy="365760"/>
          </a:xfrm>
          <a:prstGeom prst="rect">
            <a:avLst/>
          </a:prstGeom>
          <a:noFill/>
        </p:spPr>
        <p:txBody>
          <a:bodyPr wrap="square">
            <a:spAutoFit/>
          </a:bodyPr>
          <a:lstStyle/>
          <a:p>
            <a:pPr>
              <a:defRPr sz="1000">
                <a:solidFill>
                  <a:srgbClr val="333333"/>
                </a:solidFill>
              </a:defRPr>
            </a:pPr>
            <a:r>
              <a:t>N/A (No material change explicitly mentioned)</a:t>
            </a:r>
          </a:p>
        </p:txBody>
      </p:sp>
      <p:sp>
        <p:nvSpPr>
          <p:cNvPr id="9" name="Rectangle 8"/>
          <p:cNvSpPr/>
          <p:nvPr/>
        </p:nvSpPr>
        <p:spPr>
          <a:xfrm>
            <a:off x="457200" y="278892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2926080"/>
            <a:ext cx="5303520" cy="274320"/>
          </a:xfrm>
          <a:prstGeom prst="rect">
            <a:avLst/>
          </a:prstGeom>
          <a:noFill/>
        </p:spPr>
        <p:txBody>
          <a:bodyPr wrap="none">
            <a:spAutoFit/>
          </a:bodyPr>
          <a:lstStyle/>
          <a:p>
            <a:pPr>
              <a:defRPr b="1" sz="1100">
                <a:solidFill>
                  <a:srgbClr val="FF6400"/>
                </a:solidFill>
              </a:defRPr>
            </a:pPr>
            <a:r>
              <a:t>Dimension Change:</a:t>
            </a:r>
          </a:p>
        </p:txBody>
      </p:sp>
      <p:sp>
        <p:nvSpPr>
          <p:cNvPr id="11" name="TextBox 10"/>
          <p:cNvSpPr txBox="1"/>
          <p:nvPr/>
        </p:nvSpPr>
        <p:spPr>
          <a:xfrm>
            <a:off x="457200" y="3127248"/>
            <a:ext cx="5303520" cy="365760"/>
          </a:xfrm>
          <a:prstGeom prst="rect">
            <a:avLst/>
          </a:prstGeom>
          <a:noFill/>
        </p:spPr>
        <p:txBody>
          <a:bodyPr wrap="square">
            <a:spAutoFit/>
          </a:bodyPr>
          <a:lstStyle/>
          <a:p>
            <a:pPr>
              <a:defRPr sz="1000">
                <a:solidFill>
                  <a:srgbClr val="333333"/>
                </a:solidFill>
              </a:defRPr>
            </a:pPr>
            <a:r>
              <a:t>N/A (Maintains current envelope)</a:t>
            </a:r>
          </a:p>
        </p:txBody>
      </p:sp>
      <p:sp>
        <p:nvSpPr>
          <p:cNvPr id="12" name="Rectangle 11"/>
          <p:cNvSpPr/>
          <p:nvPr/>
        </p:nvSpPr>
        <p:spPr>
          <a:xfrm>
            <a:off x="457200" y="347472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 y="3611880"/>
            <a:ext cx="5303520" cy="274320"/>
          </a:xfrm>
          <a:prstGeom prst="rect">
            <a:avLst/>
          </a:prstGeom>
          <a:noFill/>
        </p:spPr>
        <p:txBody>
          <a:bodyPr wrap="none">
            <a:spAutoFit/>
          </a:bodyPr>
          <a:lstStyle/>
          <a:p>
            <a:pPr>
              <a:defRPr b="1" sz="1100">
                <a:solidFill>
                  <a:srgbClr val="FF6400"/>
                </a:solidFill>
              </a:defRPr>
            </a:pPr>
            <a:r>
              <a:t>Cost Analysis:</a:t>
            </a:r>
          </a:p>
        </p:txBody>
      </p:sp>
      <p:sp>
        <p:nvSpPr>
          <p:cNvPr id="14" name="TextBox 13"/>
          <p:cNvSpPr txBox="1"/>
          <p:nvPr/>
        </p:nvSpPr>
        <p:spPr>
          <a:xfrm>
            <a:off x="457200" y="3813048"/>
            <a:ext cx="5303520" cy="365760"/>
          </a:xfrm>
          <a:prstGeom prst="rect">
            <a:avLst/>
          </a:prstGeom>
          <a:noFill/>
        </p:spPr>
        <p:txBody>
          <a:bodyPr wrap="square">
            <a:spAutoFit/>
          </a:bodyPr>
          <a:lstStyle/>
          <a:p>
            <a:pPr>
              <a:defRPr sz="1000">
                <a:solidFill>
                  <a:srgbClr val="333333"/>
                </a:solidFill>
              </a:defRPr>
            </a:pPr>
            <a:r>
              <a:t>Est. Saving: INR 113</a:t>
            </a:r>
          </a:p>
        </p:txBody>
      </p:sp>
      <p:sp>
        <p:nvSpPr>
          <p:cNvPr id="15" name="Rectangle 14"/>
          <p:cNvSpPr/>
          <p:nvPr/>
        </p:nvSpPr>
        <p:spPr>
          <a:xfrm>
            <a:off x="457200" y="416052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200" y="4297680"/>
            <a:ext cx="5303520" cy="274320"/>
          </a:xfrm>
          <a:prstGeom prst="rect">
            <a:avLst/>
          </a:prstGeom>
          <a:noFill/>
        </p:spPr>
        <p:txBody>
          <a:bodyPr wrap="none">
            <a:spAutoFit/>
          </a:bodyPr>
          <a:lstStyle/>
          <a:p>
            <a:pPr>
              <a:defRPr b="1" sz="1100">
                <a:solidFill>
                  <a:srgbClr val="FF6400"/>
                </a:solidFill>
              </a:defRPr>
            </a:pPr>
            <a:r>
              <a:t>Engineering Validation &amp; Risks:</a:t>
            </a:r>
          </a:p>
        </p:txBody>
      </p:sp>
      <p:sp>
        <p:nvSpPr>
          <p:cNvPr id="17" name="TextBox 16"/>
          <p:cNvSpPr txBox="1"/>
          <p:nvPr/>
        </p:nvSpPr>
        <p:spPr>
          <a:xfrm>
            <a:off x="457200" y="4498848"/>
            <a:ext cx="5303520" cy="1463040"/>
          </a:xfrm>
          <a:prstGeom prst="rect">
            <a:avLst/>
          </a:prstGeom>
          <a:noFill/>
        </p:spPr>
        <p:txBody>
          <a:bodyPr wrap="square">
            <a:spAutoFit/>
          </a:bodyPr>
          <a:lstStyle/>
          <a:p>
            <a:pPr>
              <a:defRPr sz="1000">
                <a:solidFill>
                  <a:srgbClr val="333333"/>
                </a:solidFill>
              </a:defRPr>
            </a:pPr>
            <a:r>
              <a:t>VALIDATION ROADMAP:</a:t>
            </a:r>
            <a:br/>
            <a:r>
              <a:t>• DVP&amp;R Level 2 Testing</a:t>
            </a:r>
            <a:br/>
            <a:r>
              <a:t>• Environmental Aging (1000 hrs)</a:t>
            </a:r>
            <a:br/>
            <a:r>
              <a:t>• Head Impact Criterion (FMVSS)</a:t>
            </a:r>
            <a:br/>
            <a:r>
              <a:t>RISK MITIGATION:</a:t>
            </a:r>
            <a:br/>
            <a:r>
              <a:t>⚠ NVH performance degradation</a:t>
            </a:r>
            <a:br/>
            <a:r>
              <a:t>⚠ Thermal durability limits</a:t>
            </a:r>
            <a:br/>
            <a:r>
              <a:t>⚠ Aesthetic fit &amp; finish gap</a:t>
            </a:r>
          </a:p>
        </p:txBody>
      </p:sp>
      <p:sp>
        <p:nvSpPr>
          <p:cNvPr id="18" name="Rectangle 17"/>
          <p:cNvSpPr/>
          <p:nvPr/>
        </p:nvSpPr>
        <p:spPr>
          <a:xfrm>
            <a:off x="457200" y="594360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57200" y="6080760"/>
            <a:ext cx="5303520" cy="274320"/>
          </a:xfrm>
          <a:prstGeom prst="rect">
            <a:avLst/>
          </a:prstGeom>
          <a:noFill/>
        </p:spPr>
        <p:txBody>
          <a:bodyPr wrap="none">
            <a:spAutoFit/>
          </a:bodyPr>
          <a:lstStyle/>
          <a:p>
            <a:pPr>
              <a:defRPr b="1" sz="1100">
                <a:solidFill>
                  <a:srgbClr val="FF6400"/>
                </a:solidFill>
              </a:defRPr>
            </a:pPr>
            <a:r>
              <a:t>Supply Chain Impact:</a:t>
            </a:r>
          </a:p>
        </p:txBody>
      </p:sp>
      <p:sp>
        <p:nvSpPr>
          <p:cNvPr id="20" name="TextBox 19"/>
          <p:cNvSpPr txBox="1"/>
          <p:nvPr/>
        </p:nvSpPr>
        <p:spPr>
          <a:xfrm>
            <a:off x="457200" y="6281928"/>
            <a:ext cx="5303520" cy="1097280"/>
          </a:xfrm>
          <a:prstGeom prst="rect">
            <a:avLst/>
          </a:prstGeom>
          <a:noFill/>
        </p:spPr>
        <p:txBody>
          <a:bodyPr wrap="square">
            <a:spAutoFit/>
          </a:bodyPr>
          <a:lstStyle/>
          <a:p>
            <a:pPr>
              <a:defRPr sz="1000">
                <a:solidFill>
                  <a:srgbClr val="333333"/>
                </a:solidFill>
              </a:defRPr>
            </a:pPr>
            <a:r>
              <a:t>• Supplier Change: Consolidation to single-source Tier 1</a:t>
            </a:r>
            <a:br/>
            <a:r>
              <a:t>• Lead Time: Reduction of 2 weeks via localization</a:t>
            </a:r>
            <a:br/>
            <a:r>
              <a:t>• Risk: Dual tooling strategy for backup</a:t>
            </a:r>
            <a:br/>
            <a:r>
              <a:t>• Cost Impact: 15% reduction in logistics overhead</a:t>
            </a:r>
          </a:p>
        </p:txBody>
      </p:sp>
      <p:sp>
        <p:nvSpPr>
          <p:cNvPr id="21" name="Rectangle 20"/>
          <p:cNvSpPr/>
          <p:nvPr/>
        </p:nvSpPr>
        <p:spPr>
          <a:xfrm>
            <a:off x="457200" y="736092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035040" y="731520"/>
            <a:ext cx="5669280" cy="274320"/>
          </a:xfrm>
          <a:prstGeom prst="rect">
            <a:avLst/>
          </a:prstGeom>
          <a:noFill/>
        </p:spPr>
        <p:txBody>
          <a:bodyPr wrap="none">
            <a:spAutoFit/>
          </a:bodyPr>
          <a:lstStyle/>
          <a:p>
            <a:pPr algn="ctr">
              <a:defRPr b="1" sz="1200">
                <a:solidFill>
                  <a:srgbClr val="003366"/>
                </a:solidFill>
              </a:defRPr>
            </a:pPr>
            <a:r>
              <a:t>Current Scenario</a:t>
            </a:r>
          </a:p>
        </p:txBody>
      </p:sp>
      <p:pic>
        <p:nvPicPr>
          <p:cNvPr id="23" name="Picture 22" descr="183.jpg"/>
          <p:cNvPicPr>
            <a:picLocks noChangeAspect="1"/>
          </p:cNvPicPr>
          <p:nvPr/>
        </p:nvPicPr>
        <p:blipFill>
          <a:blip r:embed="rId2"/>
          <a:stretch>
            <a:fillRect/>
          </a:stretch>
        </p:blipFill>
        <p:spPr>
          <a:xfrm>
            <a:off x="6035040" y="1005840"/>
            <a:ext cx="5669280" cy="2743200"/>
          </a:xfrm>
          <a:prstGeom prst="rect">
            <a:avLst/>
          </a:prstGeom>
          <a:ln w="12700">
            <a:solidFill>
              <a:srgbClr val="C8C8C8"/>
            </a:solidFill>
          </a:ln>
        </p:spPr>
      </p:pic>
      <p:sp>
        <p:nvSpPr>
          <p:cNvPr id="24" name="TextBox 23"/>
          <p:cNvSpPr txBox="1"/>
          <p:nvPr/>
        </p:nvSpPr>
        <p:spPr>
          <a:xfrm>
            <a:off x="6035040" y="3749040"/>
            <a:ext cx="5669280" cy="274320"/>
          </a:xfrm>
          <a:prstGeom prst="rect">
            <a:avLst/>
          </a:prstGeom>
          <a:noFill/>
        </p:spPr>
        <p:txBody>
          <a:bodyPr wrap="none">
            <a:spAutoFit/>
          </a:bodyPr>
          <a:lstStyle/>
          <a:p>
            <a:pPr algn="ctr">
              <a:defRPr b="1" sz="1200">
                <a:solidFill>
                  <a:srgbClr val="003366"/>
                </a:solidFill>
              </a:defRPr>
            </a:pPr>
            <a:r>
              <a:t>Implementation / Proposal</a:t>
            </a:r>
          </a:p>
        </p:txBody>
      </p:sp>
      <p:pic>
        <p:nvPicPr>
          <p:cNvPr id="25" name="Picture 24" descr="impl_overlay_Redesignthecu_1768298331480.jpg"/>
          <p:cNvPicPr>
            <a:picLocks noChangeAspect="1"/>
          </p:cNvPicPr>
          <p:nvPr/>
        </p:nvPicPr>
        <p:blipFill>
          <a:blip r:embed="rId3"/>
          <a:stretch>
            <a:fillRect/>
          </a:stretch>
        </p:blipFill>
        <p:spPr>
          <a:xfrm>
            <a:off x="6035040" y="4023360"/>
            <a:ext cx="5669280" cy="2743200"/>
          </a:xfrm>
          <a:prstGeom prst="rect">
            <a:avLst/>
          </a:prstGeom>
          <a:ln w="12700">
            <a:solidFill>
              <a:srgbClr val="C8C8C8"/>
            </a:solidFill>
          </a:ln>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9144000" cy="731520"/>
          </a:xfrm>
          <a:prstGeom prst="rect">
            <a:avLst/>
          </a:prstGeom>
          <a:noFill/>
        </p:spPr>
        <p:txBody>
          <a:bodyPr wrap="none">
            <a:spAutoFit/>
          </a:bodyPr>
          <a:lstStyle/>
          <a:p/>
          <a:p>
            <a:pPr>
              <a:defRPr sz="2200" b="1">
                <a:solidFill>
                  <a:srgbClr val="003366"/>
                </a:solidFill>
              </a:defRPr>
            </a:pPr>
            <a:r>
              <a:t>#4: Remove the black paint coating on the Brake Pedal Mounting Bracket within MGI</a:t>
            </a:r>
          </a:p>
        </p:txBody>
      </p:sp>
      <p:sp>
        <p:nvSpPr>
          <p:cNvPr id="3" name="TextBox 2"/>
          <p:cNvSpPr txBox="1"/>
          <p:nvPr/>
        </p:nvSpPr>
        <p:spPr>
          <a:xfrm>
            <a:off x="10058400" y="182880"/>
            <a:ext cx="1828800" cy="365760"/>
          </a:xfrm>
          <a:prstGeom prst="rect">
            <a:avLst/>
          </a:prstGeom>
          <a:solidFill>
            <a:srgbClr val="646464"/>
          </a:solidFill>
        </p:spPr>
        <p:txBody>
          <a:bodyPr wrap="none">
            <a:spAutoFit/>
          </a:bodyPr>
          <a:lstStyle/>
          <a:p>
            <a:pPr algn="ctr">
              <a:defRPr b="1" sz="1000">
                <a:solidFill>
                  <a:srgbClr val="FFFFFF"/>
                </a:solidFill>
              </a:defRPr>
            </a:pPr>
            <a:r>
              <a:t>EXISTING DATABASE</a:t>
            </a:r>
          </a:p>
        </p:txBody>
      </p:sp>
      <p:sp>
        <p:nvSpPr>
          <p:cNvPr id="4" name="TextBox 3"/>
          <p:cNvSpPr txBox="1"/>
          <p:nvPr/>
        </p:nvSpPr>
        <p:spPr>
          <a:xfrm>
            <a:off x="457200" y="1005840"/>
            <a:ext cx="5303520" cy="274320"/>
          </a:xfrm>
          <a:prstGeom prst="rect">
            <a:avLst/>
          </a:prstGeom>
          <a:noFill/>
        </p:spPr>
        <p:txBody>
          <a:bodyPr wrap="none">
            <a:spAutoFit/>
          </a:bodyPr>
          <a:lstStyle/>
          <a:p>
            <a:pPr>
              <a:defRPr b="1" sz="1100">
                <a:solidFill>
                  <a:srgbClr val="FF6400"/>
                </a:solidFill>
              </a:defRPr>
            </a:pPr>
            <a:r>
              <a:t>Technical Engineering View:</a:t>
            </a:r>
          </a:p>
        </p:txBody>
      </p:sp>
      <p:sp>
        <p:nvSpPr>
          <p:cNvPr id="5" name="TextBox 4"/>
          <p:cNvSpPr txBox="1"/>
          <p:nvPr/>
        </p:nvSpPr>
        <p:spPr>
          <a:xfrm>
            <a:off x="457200" y="1207008"/>
            <a:ext cx="5303520" cy="914400"/>
          </a:xfrm>
          <a:prstGeom prst="rect">
            <a:avLst/>
          </a:prstGeom>
          <a:noFill/>
        </p:spPr>
        <p:txBody>
          <a:bodyPr wrap="square">
            <a:spAutoFit/>
          </a:bodyPr>
          <a:lstStyle/>
          <a:p>
            <a:pPr>
              <a:defRPr sz="1000">
                <a:solidFill>
                  <a:srgbClr val="333333"/>
                </a:solidFill>
              </a:defRPr>
            </a:pPr>
            <a:r>
              <a:t>Technical optimization of Remove the black paint coating on the Brake Pedal Mounting Bracket within MGI focusing on material efficiency and process consolidation to reduce cycle time.</a:t>
            </a:r>
          </a:p>
        </p:txBody>
      </p:sp>
      <p:sp>
        <p:nvSpPr>
          <p:cNvPr id="6" name="Rectangle 5"/>
          <p:cNvSpPr/>
          <p:nvPr/>
        </p:nvSpPr>
        <p:spPr>
          <a:xfrm>
            <a:off x="457200" y="210312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2240280"/>
            <a:ext cx="5303520" cy="274320"/>
          </a:xfrm>
          <a:prstGeom prst="rect">
            <a:avLst/>
          </a:prstGeom>
          <a:noFill/>
        </p:spPr>
        <p:txBody>
          <a:bodyPr wrap="none">
            <a:spAutoFit/>
          </a:bodyPr>
          <a:lstStyle/>
          <a:p>
            <a:pPr>
              <a:defRPr b="1" sz="1100">
                <a:solidFill>
                  <a:srgbClr val="FF6400"/>
                </a:solidFill>
              </a:defRPr>
            </a:pPr>
            <a:r>
              <a:t>Material Change:</a:t>
            </a:r>
          </a:p>
        </p:txBody>
      </p:sp>
      <p:sp>
        <p:nvSpPr>
          <p:cNvPr id="8" name="TextBox 7"/>
          <p:cNvSpPr txBox="1"/>
          <p:nvPr/>
        </p:nvSpPr>
        <p:spPr>
          <a:xfrm>
            <a:off x="457200" y="2441448"/>
            <a:ext cx="5303520" cy="365760"/>
          </a:xfrm>
          <a:prstGeom prst="rect">
            <a:avLst/>
          </a:prstGeom>
          <a:noFill/>
        </p:spPr>
        <p:txBody>
          <a:bodyPr wrap="square">
            <a:spAutoFit/>
          </a:bodyPr>
          <a:lstStyle/>
          <a:p>
            <a:pPr>
              <a:defRPr sz="1000">
                <a:solidFill>
                  <a:srgbClr val="333333"/>
                </a:solidFill>
              </a:defRPr>
            </a:pPr>
            <a:r>
              <a:t>N/A (No material change explicitly mentioned)</a:t>
            </a:r>
          </a:p>
        </p:txBody>
      </p:sp>
      <p:sp>
        <p:nvSpPr>
          <p:cNvPr id="9" name="Rectangle 8"/>
          <p:cNvSpPr/>
          <p:nvPr/>
        </p:nvSpPr>
        <p:spPr>
          <a:xfrm>
            <a:off x="457200" y="278892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2926080"/>
            <a:ext cx="5303520" cy="274320"/>
          </a:xfrm>
          <a:prstGeom prst="rect">
            <a:avLst/>
          </a:prstGeom>
          <a:noFill/>
        </p:spPr>
        <p:txBody>
          <a:bodyPr wrap="none">
            <a:spAutoFit/>
          </a:bodyPr>
          <a:lstStyle/>
          <a:p>
            <a:pPr>
              <a:defRPr b="1" sz="1100">
                <a:solidFill>
                  <a:srgbClr val="FF6400"/>
                </a:solidFill>
              </a:defRPr>
            </a:pPr>
            <a:r>
              <a:t>Dimension Change:</a:t>
            </a:r>
          </a:p>
        </p:txBody>
      </p:sp>
      <p:sp>
        <p:nvSpPr>
          <p:cNvPr id="11" name="TextBox 10"/>
          <p:cNvSpPr txBox="1"/>
          <p:nvPr/>
        </p:nvSpPr>
        <p:spPr>
          <a:xfrm>
            <a:off x="457200" y="3127248"/>
            <a:ext cx="5303520" cy="365760"/>
          </a:xfrm>
          <a:prstGeom prst="rect">
            <a:avLst/>
          </a:prstGeom>
          <a:noFill/>
        </p:spPr>
        <p:txBody>
          <a:bodyPr wrap="square">
            <a:spAutoFit/>
          </a:bodyPr>
          <a:lstStyle/>
          <a:p>
            <a:pPr>
              <a:defRPr sz="1000">
                <a:solidFill>
                  <a:srgbClr val="333333"/>
                </a:solidFill>
              </a:defRPr>
            </a:pPr>
            <a:r>
              <a:t>N/A (Maintains current envelope)</a:t>
            </a:r>
          </a:p>
        </p:txBody>
      </p:sp>
      <p:sp>
        <p:nvSpPr>
          <p:cNvPr id="12" name="Rectangle 11"/>
          <p:cNvSpPr/>
          <p:nvPr/>
        </p:nvSpPr>
        <p:spPr>
          <a:xfrm>
            <a:off x="457200" y="347472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 y="3611880"/>
            <a:ext cx="5303520" cy="274320"/>
          </a:xfrm>
          <a:prstGeom prst="rect">
            <a:avLst/>
          </a:prstGeom>
          <a:noFill/>
        </p:spPr>
        <p:txBody>
          <a:bodyPr wrap="none">
            <a:spAutoFit/>
          </a:bodyPr>
          <a:lstStyle/>
          <a:p>
            <a:pPr>
              <a:defRPr b="1" sz="1100">
                <a:solidFill>
                  <a:srgbClr val="FF6400"/>
                </a:solidFill>
              </a:defRPr>
            </a:pPr>
            <a:r>
              <a:t>Cost Analysis:</a:t>
            </a:r>
          </a:p>
        </p:txBody>
      </p:sp>
      <p:sp>
        <p:nvSpPr>
          <p:cNvPr id="14" name="TextBox 13"/>
          <p:cNvSpPr txBox="1"/>
          <p:nvPr/>
        </p:nvSpPr>
        <p:spPr>
          <a:xfrm>
            <a:off x="457200" y="3813048"/>
            <a:ext cx="5303520" cy="365760"/>
          </a:xfrm>
          <a:prstGeom prst="rect">
            <a:avLst/>
          </a:prstGeom>
          <a:noFill/>
        </p:spPr>
        <p:txBody>
          <a:bodyPr wrap="square">
            <a:spAutoFit/>
          </a:bodyPr>
          <a:lstStyle/>
          <a:p>
            <a:pPr>
              <a:defRPr sz="1000">
                <a:solidFill>
                  <a:srgbClr val="333333"/>
                </a:solidFill>
              </a:defRPr>
            </a:pPr>
            <a:r>
              <a:t>Est. Saving: INR 115</a:t>
            </a:r>
          </a:p>
        </p:txBody>
      </p:sp>
      <p:sp>
        <p:nvSpPr>
          <p:cNvPr id="15" name="Rectangle 14"/>
          <p:cNvSpPr/>
          <p:nvPr/>
        </p:nvSpPr>
        <p:spPr>
          <a:xfrm>
            <a:off x="457200" y="416052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200" y="4297680"/>
            <a:ext cx="5303520" cy="274320"/>
          </a:xfrm>
          <a:prstGeom prst="rect">
            <a:avLst/>
          </a:prstGeom>
          <a:noFill/>
        </p:spPr>
        <p:txBody>
          <a:bodyPr wrap="none">
            <a:spAutoFit/>
          </a:bodyPr>
          <a:lstStyle/>
          <a:p>
            <a:pPr>
              <a:defRPr b="1" sz="1100">
                <a:solidFill>
                  <a:srgbClr val="FF6400"/>
                </a:solidFill>
              </a:defRPr>
            </a:pPr>
            <a:r>
              <a:t>Engineering Validation &amp; Risks:</a:t>
            </a:r>
          </a:p>
        </p:txBody>
      </p:sp>
      <p:sp>
        <p:nvSpPr>
          <p:cNvPr id="17" name="TextBox 16"/>
          <p:cNvSpPr txBox="1"/>
          <p:nvPr/>
        </p:nvSpPr>
        <p:spPr>
          <a:xfrm>
            <a:off x="457200" y="4498848"/>
            <a:ext cx="5303520" cy="1463040"/>
          </a:xfrm>
          <a:prstGeom prst="rect">
            <a:avLst/>
          </a:prstGeom>
          <a:noFill/>
        </p:spPr>
        <p:txBody>
          <a:bodyPr wrap="square">
            <a:spAutoFit/>
          </a:bodyPr>
          <a:lstStyle/>
          <a:p>
            <a:pPr>
              <a:defRPr sz="1000">
                <a:solidFill>
                  <a:srgbClr val="333333"/>
                </a:solidFill>
              </a:defRPr>
            </a:pPr>
            <a:r>
              <a:t>VALIDATION ROADMAP:</a:t>
            </a:r>
            <a:br/>
            <a:r>
              <a:t>• DVP&amp;R Level 2 Testing</a:t>
            </a:r>
            <a:br/>
            <a:r>
              <a:t>• Environmental Aging (1000 hrs)</a:t>
            </a:r>
            <a:br/>
            <a:r>
              <a:t>• Head Impact Criterion (FMVSS)</a:t>
            </a:r>
            <a:br/>
            <a:r>
              <a:t>RISK MITIGATION:</a:t>
            </a:r>
            <a:br/>
            <a:r>
              <a:t>⚠ NVH performance degradation</a:t>
            </a:r>
            <a:br/>
            <a:r>
              <a:t>⚠ Thermal durability limits</a:t>
            </a:r>
            <a:br/>
            <a:r>
              <a:t>⚠ Aesthetic fit &amp; finish gap</a:t>
            </a:r>
          </a:p>
        </p:txBody>
      </p:sp>
      <p:sp>
        <p:nvSpPr>
          <p:cNvPr id="18" name="Rectangle 17"/>
          <p:cNvSpPr/>
          <p:nvPr/>
        </p:nvSpPr>
        <p:spPr>
          <a:xfrm>
            <a:off x="457200" y="594360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57200" y="6080760"/>
            <a:ext cx="5303520" cy="274320"/>
          </a:xfrm>
          <a:prstGeom prst="rect">
            <a:avLst/>
          </a:prstGeom>
          <a:noFill/>
        </p:spPr>
        <p:txBody>
          <a:bodyPr wrap="none">
            <a:spAutoFit/>
          </a:bodyPr>
          <a:lstStyle/>
          <a:p>
            <a:pPr>
              <a:defRPr b="1" sz="1100">
                <a:solidFill>
                  <a:srgbClr val="FF6400"/>
                </a:solidFill>
              </a:defRPr>
            </a:pPr>
            <a:r>
              <a:t>Supply Chain Impact:</a:t>
            </a:r>
          </a:p>
        </p:txBody>
      </p:sp>
      <p:sp>
        <p:nvSpPr>
          <p:cNvPr id="20" name="TextBox 19"/>
          <p:cNvSpPr txBox="1"/>
          <p:nvPr/>
        </p:nvSpPr>
        <p:spPr>
          <a:xfrm>
            <a:off x="457200" y="6281928"/>
            <a:ext cx="5303520" cy="1097280"/>
          </a:xfrm>
          <a:prstGeom prst="rect">
            <a:avLst/>
          </a:prstGeom>
          <a:noFill/>
        </p:spPr>
        <p:txBody>
          <a:bodyPr wrap="square">
            <a:spAutoFit/>
          </a:bodyPr>
          <a:lstStyle/>
          <a:p>
            <a:pPr>
              <a:defRPr sz="1000">
                <a:solidFill>
                  <a:srgbClr val="333333"/>
                </a:solidFill>
              </a:defRPr>
            </a:pPr>
            <a:r>
              <a:t>• Supplier Change: Consolidation to single-source Tier 1</a:t>
            </a:r>
            <a:br/>
            <a:r>
              <a:t>• Lead Time: Reduction of 2 weeks via localization</a:t>
            </a:r>
            <a:br/>
            <a:r>
              <a:t>• Risk: Dual tooling strategy for backup</a:t>
            </a:r>
            <a:br/>
            <a:r>
              <a:t>• Cost Impact: 15% reduction in logistics overhead</a:t>
            </a:r>
          </a:p>
        </p:txBody>
      </p:sp>
      <p:sp>
        <p:nvSpPr>
          <p:cNvPr id="21" name="Rectangle 20"/>
          <p:cNvSpPr/>
          <p:nvPr/>
        </p:nvSpPr>
        <p:spPr>
          <a:xfrm>
            <a:off x="457200" y="736092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035040" y="731520"/>
            <a:ext cx="5669280" cy="274320"/>
          </a:xfrm>
          <a:prstGeom prst="rect">
            <a:avLst/>
          </a:prstGeom>
          <a:noFill/>
        </p:spPr>
        <p:txBody>
          <a:bodyPr wrap="none">
            <a:spAutoFit/>
          </a:bodyPr>
          <a:lstStyle/>
          <a:p>
            <a:pPr algn="ctr">
              <a:defRPr b="1" sz="1200">
                <a:solidFill>
                  <a:srgbClr val="003366"/>
                </a:solidFill>
              </a:defRPr>
            </a:pPr>
            <a:r>
              <a:t>Current Scenario</a:t>
            </a:r>
          </a:p>
        </p:txBody>
      </p:sp>
      <p:pic>
        <p:nvPicPr>
          <p:cNvPr id="23" name="Picture 22" descr="182.jpg"/>
          <p:cNvPicPr>
            <a:picLocks noChangeAspect="1"/>
          </p:cNvPicPr>
          <p:nvPr/>
        </p:nvPicPr>
        <p:blipFill>
          <a:blip r:embed="rId2"/>
          <a:stretch>
            <a:fillRect/>
          </a:stretch>
        </p:blipFill>
        <p:spPr>
          <a:xfrm>
            <a:off x="6035040" y="1005840"/>
            <a:ext cx="5669280" cy="2743200"/>
          </a:xfrm>
          <a:prstGeom prst="rect">
            <a:avLst/>
          </a:prstGeom>
          <a:ln w="12700">
            <a:solidFill>
              <a:srgbClr val="C8C8C8"/>
            </a:solidFill>
          </a:ln>
        </p:spPr>
      </p:pic>
      <p:sp>
        <p:nvSpPr>
          <p:cNvPr id="24" name="TextBox 23"/>
          <p:cNvSpPr txBox="1"/>
          <p:nvPr/>
        </p:nvSpPr>
        <p:spPr>
          <a:xfrm>
            <a:off x="6035040" y="3749040"/>
            <a:ext cx="5669280" cy="274320"/>
          </a:xfrm>
          <a:prstGeom prst="rect">
            <a:avLst/>
          </a:prstGeom>
          <a:noFill/>
        </p:spPr>
        <p:txBody>
          <a:bodyPr wrap="none">
            <a:spAutoFit/>
          </a:bodyPr>
          <a:lstStyle/>
          <a:p>
            <a:pPr algn="ctr">
              <a:defRPr b="1" sz="1200">
                <a:solidFill>
                  <a:srgbClr val="003366"/>
                </a:solidFill>
              </a:defRPr>
            </a:pPr>
            <a:r>
              <a:t>Implementation / Proposal</a:t>
            </a:r>
          </a:p>
        </p:txBody>
      </p:sp>
      <p:pic>
        <p:nvPicPr>
          <p:cNvPr id="25" name="Picture 24" descr="impl_overlay_Removetheblac_1768298331797.jpg"/>
          <p:cNvPicPr>
            <a:picLocks noChangeAspect="1"/>
          </p:cNvPicPr>
          <p:nvPr/>
        </p:nvPicPr>
        <p:blipFill>
          <a:blip r:embed="rId3"/>
          <a:stretch>
            <a:fillRect/>
          </a:stretch>
        </p:blipFill>
        <p:spPr>
          <a:xfrm>
            <a:off x="6035040" y="4023360"/>
            <a:ext cx="5669280" cy="2743200"/>
          </a:xfrm>
          <a:prstGeom prst="rect">
            <a:avLst/>
          </a:prstGeom>
          <a:ln w="12700">
            <a:solidFill>
              <a:srgbClr val="C8C8C8"/>
            </a:solidFill>
          </a:ln>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9144000" cy="731520"/>
          </a:xfrm>
          <a:prstGeom prst="rect">
            <a:avLst/>
          </a:prstGeom>
          <a:noFill/>
        </p:spPr>
        <p:txBody>
          <a:bodyPr wrap="none">
            <a:spAutoFit/>
          </a:bodyPr>
          <a:lstStyle/>
          <a:p/>
          <a:p>
            <a:pPr>
              <a:defRPr sz="2200" b="1">
                <a:solidFill>
                  <a:srgbClr val="003366"/>
                </a:solidFill>
              </a:defRPr>
            </a:pPr>
            <a:r>
              <a:t>#5: Replace the current cast iron brake caliper housing with a lighter, high-strength aluminum alloy (e.g., A356-T6) for the front axle, optimizing internal fluid passages and mounting points.</a:t>
            </a:r>
          </a:p>
        </p:txBody>
      </p:sp>
      <p:sp>
        <p:nvSpPr>
          <p:cNvPr id="3" name="TextBox 2"/>
          <p:cNvSpPr txBox="1"/>
          <p:nvPr/>
        </p:nvSpPr>
        <p:spPr>
          <a:xfrm>
            <a:off x="10058400" y="182880"/>
            <a:ext cx="1828800" cy="365760"/>
          </a:xfrm>
          <a:prstGeom prst="rect">
            <a:avLst/>
          </a:prstGeom>
          <a:solidFill>
            <a:srgbClr val="800080"/>
          </a:solidFill>
        </p:spPr>
        <p:txBody>
          <a:bodyPr wrap="none">
            <a:spAutoFit/>
          </a:bodyPr>
          <a:lstStyle/>
          <a:p>
            <a:pPr algn="ctr">
              <a:defRPr b="1" sz="1000">
                <a:solidFill>
                  <a:srgbClr val="FFFFFF"/>
                </a:solidFill>
              </a:defRPr>
            </a:pPr>
            <a:r>
              <a:t>AI INNOVATION</a:t>
            </a:r>
          </a:p>
        </p:txBody>
      </p:sp>
      <p:sp>
        <p:nvSpPr>
          <p:cNvPr id="4" name="TextBox 3"/>
          <p:cNvSpPr txBox="1"/>
          <p:nvPr/>
        </p:nvSpPr>
        <p:spPr>
          <a:xfrm>
            <a:off x="457200" y="1005840"/>
            <a:ext cx="5303520" cy="274320"/>
          </a:xfrm>
          <a:prstGeom prst="rect">
            <a:avLst/>
          </a:prstGeom>
          <a:noFill/>
        </p:spPr>
        <p:txBody>
          <a:bodyPr wrap="none">
            <a:spAutoFit/>
          </a:bodyPr>
          <a:lstStyle/>
          <a:p>
            <a:pPr>
              <a:defRPr b="1" sz="1100">
                <a:solidFill>
                  <a:srgbClr val="FF6400"/>
                </a:solidFill>
              </a:defRPr>
            </a:pPr>
            <a:r>
              <a:t>Technical Engineering View:</a:t>
            </a:r>
          </a:p>
        </p:txBody>
      </p:sp>
      <p:sp>
        <p:nvSpPr>
          <p:cNvPr id="5" name="TextBox 4"/>
          <p:cNvSpPr txBox="1"/>
          <p:nvPr/>
        </p:nvSpPr>
        <p:spPr>
          <a:xfrm>
            <a:off x="457200" y="1207008"/>
            <a:ext cx="5303520" cy="914400"/>
          </a:xfrm>
          <a:prstGeom prst="rect">
            <a:avLst/>
          </a:prstGeom>
          <a:noFill/>
        </p:spPr>
        <p:txBody>
          <a:bodyPr wrap="square">
            <a:spAutoFit/>
          </a:bodyPr>
          <a:lstStyle/>
          <a:p>
            <a:pPr>
              <a:defRPr sz="1000">
                <a:solidFill>
                  <a:srgbClr val="333333"/>
                </a:solidFill>
              </a:defRPr>
            </a:pPr>
            <a:r>
              <a:t>Technical optimization of Replace the current cast iron brake caliper housing with a lighter, high-strength aluminum alloy (e.g., A356-T6) for the front axle, optimizing internal fluid passages and mounting points. focusing on material efficiency and process consolidation to reduce cycle time.</a:t>
            </a:r>
          </a:p>
        </p:txBody>
      </p:sp>
      <p:sp>
        <p:nvSpPr>
          <p:cNvPr id="6" name="Rectangle 5"/>
          <p:cNvSpPr/>
          <p:nvPr/>
        </p:nvSpPr>
        <p:spPr>
          <a:xfrm>
            <a:off x="457200" y="210312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2240280"/>
            <a:ext cx="5303520" cy="274320"/>
          </a:xfrm>
          <a:prstGeom prst="rect">
            <a:avLst/>
          </a:prstGeom>
          <a:noFill/>
        </p:spPr>
        <p:txBody>
          <a:bodyPr wrap="none">
            <a:spAutoFit/>
          </a:bodyPr>
          <a:lstStyle/>
          <a:p>
            <a:pPr>
              <a:defRPr b="1" sz="1100">
                <a:solidFill>
                  <a:srgbClr val="FF6400"/>
                </a:solidFill>
              </a:defRPr>
            </a:pPr>
            <a:r>
              <a:t>Material Change:</a:t>
            </a:r>
          </a:p>
        </p:txBody>
      </p:sp>
      <p:sp>
        <p:nvSpPr>
          <p:cNvPr id="8" name="TextBox 7"/>
          <p:cNvSpPr txBox="1"/>
          <p:nvPr/>
        </p:nvSpPr>
        <p:spPr>
          <a:xfrm>
            <a:off x="457200" y="2441448"/>
            <a:ext cx="5303520" cy="365760"/>
          </a:xfrm>
          <a:prstGeom prst="rect">
            <a:avLst/>
          </a:prstGeom>
          <a:noFill/>
        </p:spPr>
        <p:txBody>
          <a:bodyPr wrap="square">
            <a:spAutoFit/>
          </a:bodyPr>
          <a:lstStyle/>
          <a:p>
            <a:pPr>
              <a:defRPr sz="1000">
                <a:solidFill>
                  <a:srgbClr val="333333"/>
                </a:solidFill>
              </a:defRPr>
            </a:pPr>
            <a:r>
              <a:t>Replace the current cast iron brake caliper housing with a lighter, high-strength aluminum alloy (e</a:t>
            </a:r>
          </a:p>
        </p:txBody>
      </p:sp>
      <p:sp>
        <p:nvSpPr>
          <p:cNvPr id="9" name="Rectangle 8"/>
          <p:cNvSpPr/>
          <p:nvPr/>
        </p:nvSpPr>
        <p:spPr>
          <a:xfrm>
            <a:off x="457200" y="278892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2926080"/>
            <a:ext cx="5303520" cy="274320"/>
          </a:xfrm>
          <a:prstGeom prst="rect">
            <a:avLst/>
          </a:prstGeom>
          <a:noFill/>
        </p:spPr>
        <p:txBody>
          <a:bodyPr wrap="none">
            <a:spAutoFit/>
          </a:bodyPr>
          <a:lstStyle/>
          <a:p>
            <a:pPr>
              <a:defRPr b="1" sz="1100">
                <a:solidFill>
                  <a:srgbClr val="FF6400"/>
                </a:solidFill>
              </a:defRPr>
            </a:pPr>
            <a:r>
              <a:t>Dimension Change:</a:t>
            </a:r>
          </a:p>
        </p:txBody>
      </p:sp>
      <p:sp>
        <p:nvSpPr>
          <p:cNvPr id="11" name="TextBox 10"/>
          <p:cNvSpPr txBox="1"/>
          <p:nvPr/>
        </p:nvSpPr>
        <p:spPr>
          <a:xfrm>
            <a:off x="457200" y="3127248"/>
            <a:ext cx="5303520" cy="365760"/>
          </a:xfrm>
          <a:prstGeom prst="rect">
            <a:avLst/>
          </a:prstGeom>
          <a:noFill/>
        </p:spPr>
        <p:txBody>
          <a:bodyPr wrap="square">
            <a:spAutoFit/>
          </a:bodyPr>
          <a:lstStyle/>
          <a:p>
            <a:pPr>
              <a:defRPr sz="1000">
                <a:solidFill>
                  <a:srgbClr val="333333"/>
                </a:solidFill>
              </a:defRPr>
            </a:pPr>
            <a:r>
              <a:t>N/A (Maintains current envelope)</a:t>
            </a:r>
          </a:p>
        </p:txBody>
      </p:sp>
      <p:sp>
        <p:nvSpPr>
          <p:cNvPr id="12" name="Rectangle 11"/>
          <p:cNvSpPr/>
          <p:nvPr/>
        </p:nvSpPr>
        <p:spPr>
          <a:xfrm>
            <a:off x="457200" y="347472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 y="3611880"/>
            <a:ext cx="5303520" cy="274320"/>
          </a:xfrm>
          <a:prstGeom prst="rect">
            <a:avLst/>
          </a:prstGeom>
          <a:noFill/>
        </p:spPr>
        <p:txBody>
          <a:bodyPr wrap="none">
            <a:spAutoFit/>
          </a:bodyPr>
          <a:lstStyle/>
          <a:p>
            <a:pPr>
              <a:defRPr b="1" sz="1100">
                <a:solidFill>
                  <a:srgbClr val="FF6400"/>
                </a:solidFill>
              </a:defRPr>
            </a:pPr>
            <a:r>
              <a:t>Cost Analysis:</a:t>
            </a:r>
          </a:p>
        </p:txBody>
      </p:sp>
      <p:sp>
        <p:nvSpPr>
          <p:cNvPr id="14" name="TextBox 13"/>
          <p:cNvSpPr txBox="1"/>
          <p:nvPr/>
        </p:nvSpPr>
        <p:spPr>
          <a:xfrm>
            <a:off x="457200" y="3813048"/>
            <a:ext cx="5303520" cy="365760"/>
          </a:xfrm>
          <a:prstGeom prst="rect">
            <a:avLst/>
          </a:prstGeom>
          <a:noFill/>
        </p:spPr>
        <p:txBody>
          <a:bodyPr wrap="square">
            <a:spAutoFit/>
          </a:bodyPr>
          <a:lstStyle/>
          <a:p>
            <a:pPr>
              <a:defRPr sz="1000">
                <a:solidFill>
                  <a:srgbClr val="333333"/>
                </a:solidFill>
              </a:defRPr>
            </a:pPr>
            <a:r>
              <a:t>Est. Saving: INR TBD</a:t>
            </a:r>
          </a:p>
        </p:txBody>
      </p:sp>
      <p:sp>
        <p:nvSpPr>
          <p:cNvPr id="15" name="Rectangle 14"/>
          <p:cNvSpPr/>
          <p:nvPr/>
        </p:nvSpPr>
        <p:spPr>
          <a:xfrm>
            <a:off x="457200" y="416052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200" y="4297680"/>
            <a:ext cx="5303520" cy="274320"/>
          </a:xfrm>
          <a:prstGeom prst="rect">
            <a:avLst/>
          </a:prstGeom>
          <a:noFill/>
        </p:spPr>
        <p:txBody>
          <a:bodyPr wrap="none">
            <a:spAutoFit/>
          </a:bodyPr>
          <a:lstStyle/>
          <a:p>
            <a:pPr>
              <a:defRPr b="1" sz="1100">
                <a:solidFill>
                  <a:srgbClr val="FF6400"/>
                </a:solidFill>
              </a:defRPr>
            </a:pPr>
            <a:r>
              <a:t>Engineering Validation &amp; Risks:</a:t>
            </a:r>
          </a:p>
        </p:txBody>
      </p:sp>
      <p:sp>
        <p:nvSpPr>
          <p:cNvPr id="17" name="TextBox 16"/>
          <p:cNvSpPr txBox="1"/>
          <p:nvPr/>
        </p:nvSpPr>
        <p:spPr>
          <a:xfrm>
            <a:off x="457200" y="4498848"/>
            <a:ext cx="5303520" cy="1463040"/>
          </a:xfrm>
          <a:prstGeom prst="rect">
            <a:avLst/>
          </a:prstGeom>
          <a:noFill/>
        </p:spPr>
        <p:txBody>
          <a:bodyPr wrap="square">
            <a:spAutoFit/>
          </a:bodyPr>
          <a:lstStyle/>
          <a:p>
            <a:pPr>
              <a:defRPr sz="1000">
                <a:solidFill>
                  <a:srgbClr val="333333"/>
                </a:solidFill>
              </a:defRPr>
            </a:pPr>
            <a:r>
              <a:t>VALIDATION ROADMAP:</a:t>
            </a:r>
            <a:br/>
            <a:r>
              <a:t>• DVP&amp;R Level 2 Testing</a:t>
            </a:r>
            <a:br/>
            <a:r>
              <a:t>• Environmental Aging (1000 hrs)</a:t>
            </a:r>
            <a:br/>
            <a:r>
              <a:t>• Head Impact Criterion (FMVSS)</a:t>
            </a:r>
            <a:br/>
            <a:r>
              <a:t>RISK MITIGATION:</a:t>
            </a:r>
            <a:br/>
            <a:r>
              <a:t>⚠ NVH performance degradation</a:t>
            </a:r>
            <a:br/>
            <a:r>
              <a:t>⚠ Thermal durability limits</a:t>
            </a:r>
            <a:br/>
            <a:r>
              <a:t>⚠ Aesthetic fit &amp; finish gap</a:t>
            </a:r>
          </a:p>
        </p:txBody>
      </p:sp>
      <p:sp>
        <p:nvSpPr>
          <p:cNvPr id="18" name="Rectangle 17"/>
          <p:cNvSpPr/>
          <p:nvPr/>
        </p:nvSpPr>
        <p:spPr>
          <a:xfrm>
            <a:off x="457200" y="594360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57200" y="6080760"/>
            <a:ext cx="5303520" cy="274320"/>
          </a:xfrm>
          <a:prstGeom prst="rect">
            <a:avLst/>
          </a:prstGeom>
          <a:noFill/>
        </p:spPr>
        <p:txBody>
          <a:bodyPr wrap="none">
            <a:spAutoFit/>
          </a:bodyPr>
          <a:lstStyle/>
          <a:p>
            <a:pPr>
              <a:defRPr b="1" sz="1100">
                <a:solidFill>
                  <a:srgbClr val="FF6400"/>
                </a:solidFill>
              </a:defRPr>
            </a:pPr>
            <a:r>
              <a:t>Supply Chain Impact:</a:t>
            </a:r>
          </a:p>
        </p:txBody>
      </p:sp>
      <p:sp>
        <p:nvSpPr>
          <p:cNvPr id="20" name="TextBox 19"/>
          <p:cNvSpPr txBox="1"/>
          <p:nvPr/>
        </p:nvSpPr>
        <p:spPr>
          <a:xfrm>
            <a:off x="457200" y="6281928"/>
            <a:ext cx="5303520" cy="1097280"/>
          </a:xfrm>
          <a:prstGeom prst="rect">
            <a:avLst/>
          </a:prstGeom>
          <a:noFill/>
        </p:spPr>
        <p:txBody>
          <a:bodyPr wrap="square">
            <a:spAutoFit/>
          </a:bodyPr>
          <a:lstStyle/>
          <a:p>
            <a:pPr>
              <a:defRPr sz="1000">
                <a:solidFill>
                  <a:srgbClr val="333333"/>
                </a:solidFill>
              </a:defRPr>
            </a:pPr>
            <a:r>
              <a:t>• Supplier Change: Consolidation to single-source Tier 1</a:t>
            </a:r>
            <a:br/>
            <a:r>
              <a:t>• Lead Time: Reduction of 2 weeks via localization</a:t>
            </a:r>
            <a:br/>
            <a:r>
              <a:t>• Risk: Dual tooling strategy for backup</a:t>
            </a:r>
            <a:br/>
            <a:r>
              <a:t>• Cost Impact: 15% reduction in logistics overhead</a:t>
            </a:r>
          </a:p>
        </p:txBody>
      </p:sp>
      <p:sp>
        <p:nvSpPr>
          <p:cNvPr id="21" name="Rectangle 20"/>
          <p:cNvSpPr/>
          <p:nvPr/>
        </p:nvSpPr>
        <p:spPr>
          <a:xfrm>
            <a:off x="457200" y="736092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035040" y="731520"/>
            <a:ext cx="5669280" cy="274320"/>
          </a:xfrm>
          <a:prstGeom prst="rect">
            <a:avLst/>
          </a:prstGeom>
          <a:noFill/>
        </p:spPr>
        <p:txBody>
          <a:bodyPr wrap="none">
            <a:spAutoFit/>
          </a:bodyPr>
          <a:lstStyle/>
          <a:p>
            <a:pPr algn="ctr">
              <a:defRPr b="1" sz="1200">
                <a:solidFill>
                  <a:srgbClr val="003366"/>
                </a:solidFill>
              </a:defRPr>
            </a:pPr>
            <a:r>
              <a:t>Current Scenario</a:t>
            </a:r>
          </a:p>
        </p:txBody>
      </p:sp>
      <p:pic>
        <p:nvPicPr>
          <p:cNvPr id="23" name="Picture 22" descr="32.jpg"/>
          <p:cNvPicPr>
            <a:picLocks noChangeAspect="1"/>
          </p:cNvPicPr>
          <p:nvPr/>
        </p:nvPicPr>
        <p:blipFill>
          <a:blip r:embed="rId2"/>
          <a:stretch>
            <a:fillRect/>
          </a:stretch>
        </p:blipFill>
        <p:spPr>
          <a:xfrm>
            <a:off x="6035040" y="1005840"/>
            <a:ext cx="5669280" cy="2743200"/>
          </a:xfrm>
          <a:prstGeom prst="rect">
            <a:avLst/>
          </a:prstGeom>
          <a:ln w="12700">
            <a:solidFill>
              <a:srgbClr val="C8C8C8"/>
            </a:solidFill>
          </a:ln>
        </p:spPr>
      </p:pic>
      <p:sp>
        <p:nvSpPr>
          <p:cNvPr id="24" name="TextBox 23"/>
          <p:cNvSpPr txBox="1"/>
          <p:nvPr/>
        </p:nvSpPr>
        <p:spPr>
          <a:xfrm>
            <a:off x="6035040" y="3749040"/>
            <a:ext cx="5669280" cy="274320"/>
          </a:xfrm>
          <a:prstGeom prst="rect">
            <a:avLst/>
          </a:prstGeom>
          <a:noFill/>
        </p:spPr>
        <p:txBody>
          <a:bodyPr wrap="none">
            <a:spAutoFit/>
          </a:bodyPr>
          <a:lstStyle/>
          <a:p>
            <a:pPr algn="ctr">
              <a:defRPr b="1" sz="1200">
                <a:solidFill>
                  <a:srgbClr val="003366"/>
                </a:solidFill>
              </a:defRPr>
            </a:pPr>
            <a:r>
              <a:t>Implementation / Proposal</a:t>
            </a:r>
          </a:p>
        </p:txBody>
      </p:sp>
      <p:pic>
        <p:nvPicPr>
          <p:cNvPr id="25" name="Picture 24" descr="impl_overlay_Replacethecur_1768298332116.jpg"/>
          <p:cNvPicPr>
            <a:picLocks noChangeAspect="1"/>
          </p:cNvPicPr>
          <p:nvPr/>
        </p:nvPicPr>
        <p:blipFill>
          <a:blip r:embed="rId3"/>
          <a:stretch>
            <a:fillRect/>
          </a:stretch>
        </p:blipFill>
        <p:spPr>
          <a:xfrm>
            <a:off x="6035040" y="4023360"/>
            <a:ext cx="5669280" cy="2743200"/>
          </a:xfrm>
          <a:prstGeom prst="rect">
            <a:avLst/>
          </a:prstGeom>
          <a:ln w="12700">
            <a:solidFill>
              <a:srgbClr val="C8C8C8"/>
            </a:solidFill>
          </a:ln>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9144000" cy="731520"/>
          </a:xfrm>
          <a:prstGeom prst="rect">
            <a:avLst/>
          </a:prstGeom>
          <a:noFill/>
        </p:spPr>
        <p:txBody>
          <a:bodyPr wrap="none">
            <a:spAutoFit/>
          </a:bodyPr>
          <a:lstStyle/>
          <a:p/>
          <a:p>
            <a:pPr>
              <a:defRPr sz="2200" b="1">
                <a:solidFill>
                  <a:srgbClr val="003366"/>
                </a:solidFill>
              </a:defRPr>
            </a:pPr>
            <a:r>
              <a:t>#6: Reduce the wall thickness of the brake rotor friction surface from 28mm to 25mm for the rear axle, while ensuring adequate thermal mass and structural integrity through optimized ribbing on the non-friction side.</a:t>
            </a:r>
          </a:p>
        </p:txBody>
      </p:sp>
      <p:sp>
        <p:nvSpPr>
          <p:cNvPr id="3" name="TextBox 2"/>
          <p:cNvSpPr txBox="1"/>
          <p:nvPr/>
        </p:nvSpPr>
        <p:spPr>
          <a:xfrm>
            <a:off x="10058400" y="182880"/>
            <a:ext cx="1828800" cy="365760"/>
          </a:xfrm>
          <a:prstGeom prst="rect">
            <a:avLst/>
          </a:prstGeom>
          <a:solidFill>
            <a:srgbClr val="800080"/>
          </a:solidFill>
        </p:spPr>
        <p:txBody>
          <a:bodyPr wrap="none">
            <a:spAutoFit/>
          </a:bodyPr>
          <a:lstStyle/>
          <a:p>
            <a:pPr algn="ctr">
              <a:defRPr b="1" sz="1000">
                <a:solidFill>
                  <a:srgbClr val="FFFFFF"/>
                </a:solidFill>
              </a:defRPr>
            </a:pPr>
            <a:r>
              <a:t>AI INNOVATION</a:t>
            </a:r>
          </a:p>
        </p:txBody>
      </p:sp>
      <p:sp>
        <p:nvSpPr>
          <p:cNvPr id="4" name="TextBox 3"/>
          <p:cNvSpPr txBox="1"/>
          <p:nvPr/>
        </p:nvSpPr>
        <p:spPr>
          <a:xfrm>
            <a:off x="457200" y="1005840"/>
            <a:ext cx="5303520" cy="274320"/>
          </a:xfrm>
          <a:prstGeom prst="rect">
            <a:avLst/>
          </a:prstGeom>
          <a:noFill/>
        </p:spPr>
        <p:txBody>
          <a:bodyPr wrap="none">
            <a:spAutoFit/>
          </a:bodyPr>
          <a:lstStyle/>
          <a:p>
            <a:pPr>
              <a:defRPr b="1" sz="1100">
                <a:solidFill>
                  <a:srgbClr val="FF6400"/>
                </a:solidFill>
              </a:defRPr>
            </a:pPr>
            <a:r>
              <a:t>Technical Engineering View:</a:t>
            </a:r>
          </a:p>
        </p:txBody>
      </p:sp>
      <p:sp>
        <p:nvSpPr>
          <p:cNvPr id="5" name="TextBox 4"/>
          <p:cNvSpPr txBox="1"/>
          <p:nvPr/>
        </p:nvSpPr>
        <p:spPr>
          <a:xfrm>
            <a:off x="457200" y="1207008"/>
            <a:ext cx="5303520" cy="914400"/>
          </a:xfrm>
          <a:prstGeom prst="rect">
            <a:avLst/>
          </a:prstGeom>
          <a:noFill/>
        </p:spPr>
        <p:txBody>
          <a:bodyPr wrap="square">
            <a:spAutoFit/>
          </a:bodyPr>
          <a:lstStyle/>
          <a:p>
            <a:pPr>
              <a:defRPr sz="1000">
                <a:solidFill>
                  <a:srgbClr val="333333"/>
                </a:solidFill>
              </a:defRPr>
            </a:pPr>
            <a:r>
              <a:t>Technical optimization of Reduce the wall thickness of the brake rotor friction surface from 28mm to 25mm for the rear axle, while ensuring adequate thermal mass and structural integrity through optimized ribbing on the non-friction side. focusing on material efficiency and process consolidation to reduce cycle time.</a:t>
            </a:r>
          </a:p>
        </p:txBody>
      </p:sp>
      <p:sp>
        <p:nvSpPr>
          <p:cNvPr id="6" name="Rectangle 5"/>
          <p:cNvSpPr/>
          <p:nvPr/>
        </p:nvSpPr>
        <p:spPr>
          <a:xfrm>
            <a:off x="457200" y="210312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2240280"/>
            <a:ext cx="5303520" cy="274320"/>
          </a:xfrm>
          <a:prstGeom prst="rect">
            <a:avLst/>
          </a:prstGeom>
          <a:noFill/>
        </p:spPr>
        <p:txBody>
          <a:bodyPr wrap="none">
            <a:spAutoFit/>
          </a:bodyPr>
          <a:lstStyle/>
          <a:p>
            <a:pPr>
              <a:defRPr b="1" sz="1100">
                <a:solidFill>
                  <a:srgbClr val="FF6400"/>
                </a:solidFill>
              </a:defRPr>
            </a:pPr>
            <a:r>
              <a:t>Material Change:</a:t>
            </a:r>
          </a:p>
        </p:txBody>
      </p:sp>
      <p:sp>
        <p:nvSpPr>
          <p:cNvPr id="8" name="TextBox 7"/>
          <p:cNvSpPr txBox="1"/>
          <p:nvPr/>
        </p:nvSpPr>
        <p:spPr>
          <a:xfrm>
            <a:off x="457200" y="2441448"/>
            <a:ext cx="5303520" cy="365760"/>
          </a:xfrm>
          <a:prstGeom prst="rect">
            <a:avLst/>
          </a:prstGeom>
          <a:noFill/>
        </p:spPr>
        <p:txBody>
          <a:bodyPr wrap="square">
            <a:spAutoFit/>
          </a:bodyPr>
          <a:lstStyle/>
          <a:p>
            <a:pPr>
              <a:defRPr sz="1000">
                <a:solidFill>
                  <a:srgbClr val="333333"/>
                </a:solidFill>
              </a:defRPr>
            </a:pPr>
            <a:r>
              <a:t>N/A (No material change explicitly mentioned)</a:t>
            </a:r>
          </a:p>
        </p:txBody>
      </p:sp>
      <p:sp>
        <p:nvSpPr>
          <p:cNvPr id="9" name="Rectangle 8"/>
          <p:cNvSpPr/>
          <p:nvPr/>
        </p:nvSpPr>
        <p:spPr>
          <a:xfrm>
            <a:off x="457200" y="278892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2926080"/>
            <a:ext cx="5303520" cy="274320"/>
          </a:xfrm>
          <a:prstGeom prst="rect">
            <a:avLst/>
          </a:prstGeom>
          <a:noFill/>
        </p:spPr>
        <p:txBody>
          <a:bodyPr wrap="none">
            <a:spAutoFit/>
          </a:bodyPr>
          <a:lstStyle/>
          <a:p>
            <a:pPr>
              <a:defRPr b="1" sz="1100">
                <a:solidFill>
                  <a:srgbClr val="FF6400"/>
                </a:solidFill>
              </a:defRPr>
            </a:pPr>
            <a:r>
              <a:t>Dimension Change:</a:t>
            </a:r>
          </a:p>
        </p:txBody>
      </p:sp>
      <p:sp>
        <p:nvSpPr>
          <p:cNvPr id="11" name="TextBox 10"/>
          <p:cNvSpPr txBox="1"/>
          <p:nvPr/>
        </p:nvSpPr>
        <p:spPr>
          <a:xfrm>
            <a:off x="457200" y="3127248"/>
            <a:ext cx="5303520" cy="365760"/>
          </a:xfrm>
          <a:prstGeom prst="rect">
            <a:avLst/>
          </a:prstGeom>
          <a:noFill/>
        </p:spPr>
        <p:txBody>
          <a:bodyPr wrap="square">
            <a:spAutoFit/>
          </a:bodyPr>
          <a:lstStyle/>
          <a:p>
            <a:pPr>
              <a:defRPr sz="1000">
                <a:solidFill>
                  <a:srgbClr val="333333"/>
                </a:solidFill>
              </a:defRPr>
            </a:pPr>
            <a:r>
              <a:t>28mm to 25mm</a:t>
            </a:r>
          </a:p>
        </p:txBody>
      </p:sp>
      <p:sp>
        <p:nvSpPr>
          <p:cNvPr id="12" name="Rectangle 11"/>
          <p:cNvSpPr/>
          <p:nvPr/>
        </p:nvSpPr>
        <p:spPr>
          <a:xfrm>
            <a:off x="457200" y="347472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 y="3611880"/>
            <a:ext cx="5303520" cy="274320"/>
          </a:xfrm>
          <a:prstGeom prst="rect">
            <a:avLst/>
          </a:prstGeom>
          <a:noFill/>
        </p:spPr>
        <p:txBody>
          <a:bodyPr wrap="none">
            <a:spAutoFit/>
          </a:bodyPr>
          <a:lstStyle/>
          <a:p>
            <a:pPr>
              <a:defRPr b="1" sz="1100">
                <a:solidFill>
                  <a:srgbClr val="FF6400"/>
                </a:solidFill>
              </a:defRPr>
            </a:pPr>
            <a:r>
              <a:t>Cost Analysis:</a:t>
            </a:r>
          </a:p>
        </p:txBody>
      </p:sp>
      <p:sp>
        <p:nvSpPr>
          <p:cNvPr id="14" name="TextBox 13"/>
          <p:cNvSpPr txBox="1"/>
          <p:nvPr/>
        </p:nvSpPr>
        <p:spPr>
          <a:xfrm>
            <a:off x="457200" y="3813048"/>
            <a:ext cx="5303520" cy="365760"/>
          </a:xfrm>
          <a:prstGeom prst="rect">
            <a:avLst/>
          </a:prstGeom>
          <a:noFill/>
        </p:spPr>
        <p:txBody>
          <a:bodyPr wrap="square">
            <a:spAutoFit/>
          </a:bodyPr>
          <a:lstStyle/>
          <a:p>
            <a:pPr>
              <a:defRPr sz="1000">
                <a:solidFill>
                  <a:srgbClr val="333333"/>
                </a:solidFill>
              </a:defRPr>
            </a:pPr>
            <a:r>
              <a:t>Est. Saving: INR TBD</a:t>
            </a:r>
          </a:p>
        </p:txBody>
      </p:sp>
      <p:sp>
        <p:nvSpPr>
          <p:cNvPr id="15" name="Rectangle 14"/>
          <p:cNvSpPr/>
          <p:nvPr/>
        </p:nvSpPr>
        <p:spPr>
          <a:xfrm>
            <a:off x="457200" y="416052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200" y="4297680"/>
            <a:ext cx="5303520" cy="274320"/>
          </a:xfrm>
          <a:prstGeom prst="rect">
            <a:avLst/>
          </a:prstGeom>
          <a:noFill/>
        </p:spPr>
        <p:txBody>
          <a:bodyPr wrap="none">
            <a:spAutoFit/>
          </a:bodyPr>
          <a:lstStyle/>
          <a:p>
            <a:pPr>
              <a:defRPr b="1" sz="1100">
                <a:solidFill>
                  <a:srgbClr val="FF6400"/>
                </a:solidFill>
              </a:defRPr>
            </a:pPr>
            <a:r>
              <a:t>Engineering Validation &amp; Risks:</a:t>
            </a:r>
          </a:p>
        </p:txBody>
      </p:sp>
      <p:sp>
        <p:nvSpPr>
          <p:cNvPr id="17" name="TextBox 16"/>
          <p:cNvSpPr txBox="1"/>
          <p:nvPr/>
        </p:nvSpPr>
        <p:spPr>
          <a:xfrm>
            <a:off x="457200" y="4498848"/>
            <a:ext cx="5303520" cy="1463040"/>
          </a:xfrm>
          <a:prstGeom prst="rect">
            <a:avLst/>
          </a:prstGeom>
          <a:noFill/>
        </p:spPr>
        <p:txBody>
          <a:bodyPr wrap="square">
            <a:spAutoFit/>
          </a:bodyPr>
          <a:lstStyle/>
          <a:p>
            <a:pPr>
              <a:defRPr sz="1000">
                <a:solidFill>
                  <a:srgbClr val="333333"/>
                </a:solidFill>
              </a:defRPr>
            </a:pPr>
            <a:r>
              <a:t>VALIDATION ROADMAP:</a:t>
            </a:r>
            <a:br/>
            <a:r>
              <a:t>• DVP&amp;R Level 2 Testing</a:t>
            </a:r>
            <a:br/>
            <a:r>
              <a:t>• Environmental Aging (1000 hrs)</a:t>
            </a:r>
            <a:br/>
            <a:r>
              <a:t>• Head Impact Criterion (FMVSS)</a:t>
            </a:r>
            <a:br/>
            <a:r>
              <a:t>RISK MITIGATION:</a:t>
            </a:r>
            <a:br/>
            <a:r>
              <a:t>⚠ NVH performance degradation</a:t>
            </a:r>
            <a:br/>
            <a:r>
              <a:t>⚠ Thermal durability limits</a:t>
            </a:r>
            <a:br/>
            <a:r>
              <a:t>⚠ Aesthetic fit &amp; finish gap</a:t>
            </a:r>
          </a:p>
        </p:txBody>
      </p:sp>
      <p:sp>
        <p:nvSpPr>
          <p:cNvPr id="18" name="Rectangle 17"/>
          <p:cNvSpPr/>
          <p:nvPr/>
        </p:nvSpPr>
        <p:spPr>
          <a:xfrm>
            <a:off x="457200" y="594360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57200" y="6080760"/>
            <a:ext cx="5303520" cy="274320"/>
          </a:xfrm>
          <a:prstGeom prst="rect">
            <a:avLst/>
          </a:prstGeom>
          <a:noFill/>
        </p:spPr>
        <p:txBody>
          <a:bodyPr wrap="none">
            <a:spAutoFit/>
          </a:bodyPr>
          <a:lstStyle/>
          <a:p>
            <a:pPr>
              <a:defRPr b="1" sz="1100">
                <a:solidFill>
                  <a:srgbClr val="FF6400"/>
                </a:solidFill>
              </a:defRPr>
            </a:pPr>
            <a:r>
              <a:t>Supply Chain Impact:</a:t>
            </a:r>
          </a:p>
        </p:txBody>
      </p:sp>
      <p:sp>
        <p:nvSpPr>
          <p:cNvPr id="20" name="TextBox 19"/>
          <p:cNvSpPr txBox="1"/>
          <p:nvPr/>
        </p:nvSpPr>
        <p:spPr>
          <a:xfrm>
            <a:off x="457200" y="6281928"/>
            <a:ext cx="5303520" cy="1097280"/>
          </a:xfrm>
          <a:prstGeom prst="rect">
            <a:avLst/>
          </a:prstGeom>
          <a:noFill/>
        </p:spPr>
        <p:txBody>
          <a:bodyPr wrap="square">
            <a:spAutoFit/>
          </a:bodyPr>
          <a:lstStyle/>
          <a:p>
            <a:pPr>
              <a:defRPr sz="1000">
                <a:solidFill>
                  <a:srgbClr val="333333"/>
                </a:solidFill>
              </a:defRPr>
            </a:pPr>
            <a:r>
              <a:t>• Supplier Change: Consolidation to single-source Tier 1</a:t>
            </a:r>
            <a:br/>
            <a:r>
              <a:t>• Lead Time: Reduction of 2 weeks via localization</a:t>
            </a:r>
            <a:br/>
            <a:r>
              <a:t>• Risk: Dual tooling strategy for backup</a:t>
            </a:r>
            <a:br/>
            <a:r>
              <a:t>• Cost Impact: 15% reduction in logistics overhead</a:t>
            </a:r>
          </a:p>
        </p:txBody>
      </p:sp>
      <p:sp>
        <p:nvSpPr>
          <p:cNvPr id="21" name="Rectangle 20"/>
          <p:cNvSpPr/>
          <p:nvPr/>
        </p:nvSpPr>
        <p:spPr>
          <a:xfrm>
            <a:off x="457200" y="736092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035040" y="731520"/>
            <a:ext cx="5669280" cy="274320"/>
          </a:xfrm>
          <a:prstGeom prst="rect">
            <a:avLst/>
          </a:prstGeom>
          <a:noFill/>
        </p:spPr>
        <p:txBody>
          <a:bodyPr wrap="none">
            <a:spAutoFit/>
          </a:bodyPr>
          <a:lstStyle/>
          <a:p>
            <a:pPr algn="ctr">
              <a:defRPr b="1" sz="1200">
                <a:solidFill>
                  <a:srgbClr val="003366"/>
                </a:solidFill>
              </a:defRPr>
            </a:pPr>
            <a:r>
              <a:t>Current Scenario</a:t>
            </a:r>
          </a:p>
        </p:txBody>
      </p:sp>
      <p:pic>
        <p:nvPicPr>
          <p:cNvPr id="23" name="Picture 22" descr="15.jpg"/>
          <p:cNvPicPr>
            <a:picLocks noChangeAspect="1"/>
          </p:cNvPicPr>
          <p:nvPr/>
        </p:nvPicPr>
        <p:blipFill>
          <a:blip r:embed="rId2"/>
          <a:stretch>
            <a:fillRect/>
          </a:stretch>
        </p:blipFill>
        <p:spPr>
          <a:xfrm>
            <a:off x="6035040" y="1005840"/>
            <a:ext cx="5669280" cy="2743200"/>
          </a:xfrm>
          <a:prstGeom prst="rect">
            <a:avLst/>
          </a:prstGeom>
          <a:ln w="12700">
            <a:solidFill>
              <a:srgbClr val="C8C8C8"/>
            </a:solidFill>
          </a:ln>
        </p:spPr>
      </p:pic>
      <p:sp>
        <p:nvSpPr>
          <p:cNvPr id="24" name="TextBox 23"/>
          <p:cNvSpPr txBox="1"/>
          <p:nvPr/>
        </p:nvSpPr>
        <p:spPr>
          <a:xfrm>
            <a:off x="6035040" y="3749040"/>
            <a:ext cx="5669280" cy="274320"/>
          </a:xfrm>
          <a:prstGeom prst="rect">
            <a:avLst/>
          </a:prstGeom>
          <a:noFill/>
        </p:spPr>
        <p:txBody>
          <a:bodyPr wrap="none">
            <a:spAutoFit/>
          </a:bodyPr>
          <a:lstStyle/>
          <a:p>
            <a:pPr algn="ctr">
              <a:defRPr b="1" sz="1200">
                <a:solidFill>
                  <a:srgbClr val="003366"/>
                </a:solidFill>
              </a:defRPr>
            </a:pPr>
            <a:r>
              <a:t>Implementation / Proposal</a:t>
            </a:r>
          </a:p>
        </p:txBody>
      </p:sp>
      <p:pic>
        <p:nvPicPr>
          <p:cNvPr id="25" name="Picture 24" descr="impl_overlay_Reducethewall_1768298332259.jpg"/>
          <p:cNvPicPr>
            <a:picLocks noChangeAspect="1"/>
          </p:cNvPicPr>
          <p:nvPr/>
        </p:nvPicPr>
        <p:blipFill>
          <a:blip r:embed="rId3"/>
          <a:stretch>
            <a:fillRect/>
          </a:stretch>
        </p:blipFill>
        <p:spPr>
          <a:xfrm>
            <a:off x="6035040" y="4023360"/>
            <a:ext cx="5669280" cy="2743200"/>
          </a:xfrm>
          <a:prstGeom prst="rect">
            <a:avLst/>
          </a:prstGeom>
          <a:ln w="12700">
            <a:solidFill>
              <a:srgbClr val="C8C8C8"/>
            </a:solidFill>
          </a:ln>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9144000" cy="731520"/>
          </a:xfrm>
          <a:prstGeom prst="rect">
            <a:avLst/>
          </a:prstGeom>
          <a:noFill/>
        </p:spPr>
        <p:txBody>
          <a:bodyPr wrap="none">
            <a:spAutoFit/>
          </a:bodyPr>
          <a:lstStyle/>
          <a:p/>
          <a:p>
            <a:pPr>
              <a:defRPr sz="2200" b="1">
                <a:solidFill>
                  <a:srgbClr val="003366"/>
                </a:solidFill>
              </a:defRPr>
            </a:pPr>
            <a:r>
              <a:t>#7: Substitute the current steel brake pedal mounting bracket with a stamped and hydroformed steel component, reducing part count by integrating features and optimizing load paths for improved stiffness and reduced material usage.</a:t>
            </a:r>
          </a:p>
        </p:txBody>
      </p:sp>
      <p:sp>
        <p:nvSpPr>
          <p:cNvPr id="3" name="TextBox 2"/>
          <p:cNvSpPr txBox="1"/>
          <p:nvPr/>
        </p:nvSpPr>
        <p:spPr>
          <a:xfrm>
            <a:off x="10058400" y="182880"/>
            <a:ext cx="1828800" cy="365760"/>
          </a:xfrm>
          <a:prstGeom prst="rect">
            <a:avLst/>
          </a:prstGeom>
          <a:solidFill>
            <a:srgbClr val="800080"/>
          </a:solidFill>
        </p:spPr>
        <p:txBody>
          <a:bodyPr wrap="none">
            <a:spAutoFit/>
          </a:bodyPr>
          <a:lstStyle/>
          <a:p>
            <a:pPr algn="ctr">
              <a:defRPr b="1" sz="1000">
                <a:solidFill>
                  <a:srgbClr val="FFFFFF"/>
                </a:solidFill>
              </a:defRPr>
            </a:pPr>
            <a:r>
              <a:t>AI INNOVATION</a:t>
            </a:r>
          </a:p>
        </p:txBody>
      </p:sp>
      <p:sp>
        <p:nvSpPr>
          <p:cNvPr id="4" name="TextBox 3"/>
          <p:cNvSpPr txBox="1"/>
          <p:nvPr/>
        </p:nvSpPr>
        <p:spPr>
          <a:xfrm>
            <a:off x="457200" y="1005840"/>
            <a:ext cx="5303520" cy="274320"/>
          </a:xfrm>
          <a:prstGeom prst="rect">
            <a:avLst/>
          </a:prstGeom>
          <a:noFill/>
        </p:spPr>
        <p:txBody>
          <a:bodyPr wrap="none">
            <a:spAutoFit/>
          </a:bodyPr>
          <a:lstStyle/>
          <a:p>
            <a:pPr>
              <a:defRPr b="1" sz="1100">
                <a:solidFill>
                  <a:srgbClr val="FF6400"/>
                </a:solidFill>
              </a:defRPr>
            </a:pPr>
            <a:r>
              <a:t>Technical Engineering View:</a:t>
            </a:r>
          </a:p>
        </p:txBody>
      </p:sp>
      <p:sp>
        <p:nvSpPr>
          <p:cNvPr id="5" name="TextBox 4"/>
          <p:cNvSpPr txBox="1"/>
          <p:nvPr/>
        </p:nvSpPr>
        <p:spPr>
          <a:xfrm>
            <a:off x="457200" y="1207008"/>
            <a:ext cx="5303520" cy="914400"/>
          </a:xfrm>
          <a:prstGeom prst="rect">
            <a:avLst/>
          </a:prstGeom>
          <a:noFill/>
        </p:spPr>
        <p:txBody>
          <a:bodyPr wrap="square">
            <a:spAutoFit/>
          </a:bodyPr>
          <a:lstStyle/>
          <a:p>
            <a:pPr>
              <a:defRPr sz="1000">
                <a:solidFill>
                  <a:srgbClr val="333333"/>
                </a:solidFill>
              </a:defRPr>
            </a:pPr>
            <a:r>
              <a:t>Technical optimization of Substitute the current steel brake pedal mounting bracket with a stamped and hydroformed steel component, reducing part count by integrating features and optimizing load paths for improved stiffness and reduced material usage. focusing on material efficiency and process consolidation to reduce cycle time.</a:t>
            </a:r>
          </a:p>
        </p:txBody>
      </p:sp>
      <p:sp>
        <p:nvSpPr>
          <p:cNvPr id="6" name="Rectangle 5"/>
          <p:cNvSpPr/>
          <p:nvPr/>
        </p:nvSpPr>
        <p:spPr>
          <a:xfrm>
            <a:off x="457200" y="210312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2240280"/>
            <a:ext cx="5303520" cy="274320"/>
          </a:xfrm>
          <a:prstGeom prst="rect">
            <a:avLst/>
          </a:prstGeom>
          <a:noFill/>
        </p:spPr>
        <p:txBody>
          <a:bodyPr wrap="none">
            <a:spAutoFit/>
          </a:bodyPr>
          <a:lstStyle/>
          <a:p>
            <a:pPr>
              <a:defRPr b="1" sz="1100">
                <a:solidFill>
                  <a:srgbClr val="FF6400"/>
                </a:solidFill>
              </a:defRPr>
            </a:pPr>
            <a:r>
              <a:t>Material Change:</a:t>
            </a:r>
          </a:p>
        </p:txBody>
      </p:sp>
      <p:sp>
        <p:nvSpPr>
          <p:cNvPr id="8" name="TextBox 7"/>
          <p:cNvSpPr txBox="1"/>
          <p:nvPr/>
        </p:nvSpPr>
        <p:spPr>
          <a:xfrm>
            <a:off x="457200" y="2441448"/>
            <a:ext cx="5303520" cy="365760"/>
          </a:xfrm>
          <a:prstGeom prst="rect">
            <a:avLst/>
          </a:prstGeom>
          <a:noFill/>
        </p:spPr>
        <p:txBody>
          <a:bodyPr wrap="square">
            <a:spAutoFit/>
          </a:bodyPr>
          <a:lstStyle/>
          <a:p>
            <a:pPr>
              <a:defRPr sz="1000">
                <a:solidFill>
                  <a:srgbClr val="333333"/>
                </a:solidFill>
              </a:defRPr>
            </a:pPr>
            <a:r>
              <a:t>Substitute the current steel brake pedal mounting bracket with a stamped and hydroformed steel compo</a:t>
            </a:r>
          </a:p>
        </p:txBody>
      </p:sp>
      <p:sp>
        <p:nvSpPr>
          <p:cNvPr id="9" name="Rectangle 8"/>
          <p:cNvSpPr/>
          <p:nvPr/>
        </p:nvSpPr>
        <p:spPr>
          <a:xfrm>
            <a:off x="457200" y="278892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2926080"/>
            <a:ext cx="5303520" cy="274320"/>
          </a:xfrm>
          <a:prstGeom prst="rect">
            <a:avLst/>
          </a:prstGeom>
          <a:noFill/>
        </p:spPr>
        <p:txBody>
          <a:bodyPr wrap="none">
            <a:spAutoFit/>
          </a:bodyPr>
          <a:lstStyle/>
          <a:p>
            <a:pPr>
              <a:defRPr b="1" sz="1100">
                <a:solidFill>
                  <a:srgbClr val="FF6400"/>
                </a:solidFill>
              </a:defRPr>
            </a:pPr>
            <a:r>
              <a:t>Dimension Change:</a:t>
            </a:r>
          </a:p>
        </p:txBody>
      </p:sp>
      <p:sp>
        <p:nvSpPr>
          <p:cNvPr id="11" name="TextBox 10"/>
          <p:cNvSpPr txBox="1"/>
          <p:nvPr/>
        </p:nvSpPr>
        <p:spPr>
          <a:xfrm>
            <a:off x="457200" y="3127248"/>
            <a:ext cx="5303520" cy="365760"/>
          </a:xfrm>
          <a:prstGeom prst="rect">
            <a:avLst/>
          </a:prstGeom>
          <a:noFill/>
        </p:spPr>
        <p:txBody>
          <a:bodyPr wrap="square">
            <a:spAutoFit/>
          </a:bodyPr>
          <a:lstStyle/>
          <a:p>
            <a:pPr>
              <a:defRPr sz="1000">
                <a:solidFill>
                  <a:srgbClr val="333333"/>
                </a:solidFill>
              </a:defRPr>
            </a:pPr>
            <a:r>
              <a:t>N/A (Maintains current envelope)</a:t>
            </a:r>
          </a:p>
        </p:txBody>
      </p:sp>
      <p:sp>
        <p:nvSpPr>
          <p:cNvPr id="12" name="Rectangle 11"/>
          <p:cNvSpPr/>
          <p:nvPr/>
        </p:nvSpPr>
        <p:spPr>
          <a:xfrm>
            <a:off x="457200" y="347472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 y="3611880"/>
            <a:ext cx="5303520" cy="274320"/>
          </a:xfrm>
          <a:prstGeom prst="rect">
            <a:avLst/>
          </a:prstGeom>
          <a:noFill/>
        </p:spPr>
        <p:txBody>
          <a:bodyPr wrap="none">
            <a:spAutoFit/>
          </a:bodyPr>
          <a:lstStyle/>
          <a:p>
            <a:pPr>
              <a:defRPr b="1" sz="1100">
                <a:solidFill>
                  <a:srgbClr val="FF6400"/>
                </a:solidFill>
              </a:defRPr>
            </a:pPr>
            <a:r>
              <a:t>Cost Analysis:</a:t>
            </a:r>
          </a:p>
        </p:txBody>
      </p:sp>
      <p:sp>
        <p:nvSpPr>
          <p:cNvPr id="14" name="TextBox 13"/>
          <p:cNvSpPr txBox="1"/>
          <p:nvPr/>
        </p:nvSpPr>
        <p:spPr>
          <a:xfrm>
            <a:off x="457200" y="3813048"/>
            <a:ext cx="5303520" cy="365760"/>
          </a:xfrm>
          <a:prstGeom prst="rect">
            <a:avLst/>
          </a:prstGeom>
          <a:noFill/>
        </p:spPr>
        <p:txBody>
          <a:bodyPr wrap="square">
            <a:spAutoFit/>
          </a:bodyPr>
          <a:lstStyle/>
          <a:p>
            <a:pPr>
              <a:defRPr sz="1000">
                <a:solidFill>
                  <a:srgbClr val="333333"/>
                </a:solidFill>
              </a:defRPr>
            </a:pPr>
            <a:r>
              <a:t>Est. Saving: INR TBD</a:t>
            </a:r>
          </a:p>
        </p:txBody>
      </p:sp>
      <p:sp>
        <p:nvSpPr>
          <p:cNvPr id="15" name="Rectangle 14"/>
          <p:cNvSpPr/>
          <p:nvPr/>
        </p:nvSpPr>
        <p:spPr>
          <a:xfrm>
            <a:off x="457200" y="416052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200" y="4297680"/>
            <a:ext cx="5303520" cy="274320"/>
          </a:xfrm>
          <a:prstGeom prst="rect">
            <a:avLst/>
          </a:prstGeom>
          <a:noFill/>
        </p:spPr>
        <p:txBody>
          <a:bodyPr wrap="none">
            <a:spAutoFit/>
          </a:bodyPr>
          <a:lstStyle/>
          <a:p>
            <a:pPr>
              <a:defRPr b="1" sz="1100">
                <a:solidFill>
                  <a:srgbClr val="FF6400"/>
                </a:solidFill>
              </a:defRPr>
            </a:pPr>
            <a:r>
              <a:t>Engineering Validation &amp; Risks:</a:t>
            </a:r>
          </a:p>
        </p:txBody>
      </p:sp>
      <p:sp>
        <p:nvSpPr>
          <p:cNvPr id="17" name="TextBox 16"/>
          <p:cNvSpPr txBox="1"/>
          <p:nvPr/>
        </p:nvSpPr>
        <p:spPr>
          <a:xfrm>
            <a:off x="457200" y="4498848"/>
            <a:ext cx="5303520" cy="1463040"/>
          </a:xfrm>
          <a:prstGeom prst="rect">
            <a:avLst/>
          </a:prstGeom>
          <a:noFill/>
        </p:spPr>
        <p:txBody>
          <a:bodyPr wrap="square">
            <a:spAutoFit/>
          </a:bodyPr>
          <a:lstStyle/>
          <a:p>
            <a:pPr>
              <a:defRPr sz="1000">
                <a:solidFill>
                  <a:srgbClr val="333333"/>
                </a:solidFill>
              </a:defRPr>
            </a:pPr>
            <a:r>
              <a:t>VALIDATION ROADMAP:</a:t>
            </a:r>
            <a:br/>
            <a:r>
              <a:t>• DVP&amp;R Level 2 Testing</a:t>
            </a:r>
            <a:br/>
            <a:r>
              <a:t>• Environmental Aging (1000 hrs)</a:t>
            </a:r>
            <a:br/>
            <a:r>
              <a:t>• Head Impact Criterion (FMVSS)</a:t>
            </a:r>
            <a:br/>
            <a:r>
              <a:t>RISK MITIGATION:</a:t>
            </a:r>
            <a:br/>
            <a:r>
              <a:t>⚠ NVH performance degradation</a:t>
            </a:r>
            <a:br/>
            <a:r>
              <a:t>⚠ Thermal durability limits</a:t>
            </a:r>
            <a:br/>
            <a:r>
              <a:t>⚠ Aesthetic fit &amp; finish gap</a:t>
            </a:r>
          </a:p>
        </p:txBody>
      </p:sp>
      <p:sp>
        <p:nvSpPr>
          <p:cNvPr id="18" name="Rectangle 17"/>
          <p:cNvSpPr/>
          <p:nvPr/>
        </p:nvSpPr>
        <p:spPr>
          <a:xfrm>
            <a:off x="457200" y="594360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57200" y="6080760"/>
            <a:ext cx="5303520" cy="274320"/>
          </a:xfrm>
          <a:prstGeom prst="rect">
            <a:avLst/>
          </a:prstGeom>
          <a:noFill/>
        </p:spPr>
        <p:txBody>
          <a:bodyPr wrap="none">
            <a:spAutoFit/>
          </a:bodyPr>
          <a:lstStyle/>
          <a:p>
            <a:pPr>
              <a:defRPr b="1" sz="1100">
                <a:solidFill>
                  <a:srgbClr val="FF6400"/>
                </a:solidFill>
              </a:defRPr>
            </a:pPr>
            <a:r>
              <a:t>Supply Chain Impact:</a:t>
            </a:r>
          </a:p>
        </p:txBody>
      </p:sp>
      <p:sp>
        <p:nvSpPr>
          <p:cNvPr id="20" name="TextBox 19"/>
          <p:cNvSpPr txBox="1"/>
          <p:nvPr/>
        </p:nvSpPr>
        <p:spPr>
          <a:xfrm>
            <a:off x="457200" y="6281928"/>
            <a:ext cx="5303520" cy="1097280"/>
          </a:xfrm>
          <a:prstGeom prst="rect">
            <a:avLst/>
          </a:prstGeom>
          <a:noFill/>
        </p:spPr>
        <p:txBody>
          <a:bodyPr wrap="square">
            <a:spAutoFit/>
          </a:bodyPr>
          <a:lstStyle/>
          <a:p>
            <a:pPr>
              <a:defRPr sz="1000">
                <a:solidFill>
                  <a:srgbClr val="333333"/>
                </a:solidFill>
              </a:defRPr>
            </a:pPr>
            <a:r>
              <a:t>• Supplier Change: Consolidation to single-source Tier 1</a:t>
            </a:r>
            <a:br/>
            <a:r>
              <a:t>• Lead Time: Reduction of 2 weeks via localization</a:t>
            </a:r>
            <a:br/>
            <a:r>
              <a:t>• Risk: Dual tooling strategy for backup</a:t>
            </a:r>
            <a:br/>
            <a:r>
              <a:t>• Cost Impact: 15% reduction in logistics overhead</a:t>
            </a:r>
          </a:p>
        </p:txBody>
      </p:sp>
      <p:sp>
        <p:nvSpPr>
          <p:cNvPr id="21" name="Rectangle 20"/>
          <p:cNvSpPr/>
          <p:nvPr/>
        </p:nvSpPr>
        <p:spPr>
          <a:xfrm>
            <a:off x="457200" y="736092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035040" y="731520"/>
            <a:ext cx="5669280" cy="274320"/>
          </a:xfrm>
          <a:prstGeom prst="rect">
            <a:avLst/>
          </a:prstGeom>
          <a:noFill/>
        </p:spPr>
        <p:txBody>
          <a:bodyPr wrap="none">
            <a:spAutoFit/>
          </a:bodyPr>
          <a:lstStyle/>
          <a:p>
            <a:pPr algn="ctr">
              <a:defRPr b="1" sz="1200">
                <a:solidFill>
                  <a:srgbClr val="003366"/>
                </a:solidFill>
              </a:defRPr>
            </a:pPr>
            <a:r>
              <a:t>Current Scenario</a:t>
            </a:r>
          </a:p>
        </p:txBody>
      </p:sp>
      <p:pic>
        <p:nvPicPr>
          <p:cNvPr id="23" name="Picture 22" descr="124.jpg"/>
          <p:cNvPicPr>
            <a:picLocks noChangeAspect="1"/>
          </p:cNvPicPr>
          <p:nvPr/>
        </p:nvPicPr>
        <p:blipFill>
          <a:blip r:embed="rId2"/>
          <a:stretch>
            <a:fillRect/>
          </a:stretch>
        </p:blipFill>
        <p:spPr>
          <a:xfrm>
            <a:off x="6035040" y="1005840"/>
            <a:ext cx="5669280" cy="2743200"/>
          </a:xfrm>
          <a:prstGeom prst="rect">
            <a:avLst/>
          </a:prstGeom>
          <a:ln w="12700">
            <a:solidFill>
              <a:srgbClr val="C8C8C8"/>
            </a:solidFill>
          </a:ln>
        </p:spPr>
      </p:pic>
      <p:sp>
        <p:nvSpPr>
          <p:cNvPr id="24" name="TextBox 23"/>
          <p:cNvSpPr txBox="1"/>
          <p:nvPr/>
        </p:nvSpPr>
        <p:spPr>
          <a:xfrm>
            <a:off x="6035040" y="3749040"/>
            <a:ext cx="5669280" cy="274320"/>
          </a:xfrm>
          <a:prstGeom prst="rect">
            <a:avLst/>
          </a:prstGeom>
          <a:noFill/>
        </p:spPr>
        <p:txBody>
          <a:bodyPr wrap="none">
            <a:spAutoFit/>
          </a:bodyPr>
          <a:lstStyle/>
          <a:p>
            <a:pPr algn="ctr">
              <a:defRPr b="1" sz="1200">
                <a:solidFill>
                  <a:srgbClr val="003366"/>
                </a:solidFill>
              </a:defRPr>
            </a:pPr>
            <a:r>
              <a:t>Implementation / Proposal</a:t>
            </a:r>
          </a:p>
        </p:txBody>
      </p:sp>
      <p:pic>
        <p:nvPicPr>
          <p:cNvPr id="25" name="Picture 24" descr="impl_overlay_Substitutethe_1768298332500.jpg"/>
          <p:cNvPicPr>
            <a:picLocks noChangeAspect="1"/>
          </p:cNvPicPr>
          <p:nvPr/>
        </p:nvPicPr>
        <p:blipFill>
          <a:blip r:embed="rId3"/>
          <a:stretch>
            <a:fillRect/>
          </a:stretch>
        </p:blipFill>
        <p:spPr>
          <a:xfrm>
            <a:off x="6035040" y="4023360"/>
            <a:ext cx="5669280" cy="2743200"/>
          </a:xfrm>
          <a:prstGeom prst="rect">
            <a:avLst/>
          </a:prstGeom>
          <a:ln w="12700">
            <a:solidFill>
              <a:srgbClr val="C8C8C8"/>
            </a:solidFill>
          </a:ln>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9144000" cy="731520"/>
          </a:xfrm>
          <a:prstGeom prst="rect">
            <a:avLst/>
          </a:prstGeom>
          <a:noFill/>
        </p:spPr>
        <p:txBody>
          <a:bodyPr wrap="none">
            <a:spAutoFit/>
          </a:bodyPr>
          <a:lstStyle/>
          <a:p/>
          <a:p>
            <a:pPr>
              <a:defRPr sz="2200" b="1">
                <a:solidFill>
                  <a:srgbClr val="003366"/>
                </a:solidFill>
              </a:defRPr>
            </a:pPr>
            <a:r>
              <a:t>#8: Redesign the brake dust shield for the rear axle to be a single-piece stamped component from a thinner gauge high-strength steel (e.g., DP600) instead of the current multi-piece assembly, optimizing shape for airflow and debris deflection.</a:t>
            </a:r>
          </a:p>
        </p:txBody>
      </p:sp>
      <p:sp>
        <p:nvSpPr>
          <p:cNvPr id="3" name="TextBox 2"/>
          <p:cNvSpPr txBox="1"/>
          <p:nvPr/>
        </p:nvSpPr>
        <p:spPr>
          <a:xfrm>
            <a:off x="10058400" y="182880"/>
            <a:ext cx="1828800" cy="365760"/>
          </a:xfrm>
          <a:prstGeom prst="rect">
            <a:avLst/>
          </a:prstGeom>
          <a:solidFill>
            <a:srgbClr val="800080"/>
          </a:solidFill>
        </p:spPr>
        <p:txBody>
          <a:bodyPr wrap="none">
            <a:spAutoFit/>
          </a:bodyPr>
          <a:lstStyle/>
          <a:p>
            <a:pPr algn="ctr">
              <a:defRPr b="1" sz="1000">
                <a:solidFill>
                  <a:srgbClr val="FFFFFF"/>
                </a:solidFill>
              </a:defRPr>
            </a:pPr>
            <a:r>
              <a:t>AI INNOVATION</a:t>
            </a:r>
          </a:p>
        </p:txBody>
      </p:sp>
      <p:sp>
        <p:nvSpPr>
          <p:cNvPr id="4" name="TextBox 3"/>
          <p:cNvSpPr txBox="1"/>
          <p:nvPr/>
        </p:nvSpPr>
        <p:spPr>
          <a:xfrm>
            <a:off x="457200" y="1005840"/>
            <a:ext cx="5303520" cy="274320"/>
          </a:xfrm>
          <a:prstGeom prst="rect">
            <a:avLst/>
          </a:prstGeom>
          <a:noFill/>
        </p:spPr>
        <p:txBody>
          <a:bodyPr wrap="none">
            <a:spAutoFit/>
          </a:bodyPr>
          <a:lstStyle/>
          <a:p>
            <a:pPr>
              <a:defRPr b="1" sz="1100">
                <a:solidFill>
                  <a:srgbClr val="FF6400"/>
                </a:solidFill>
              </a:defRPr>
            </a:pPr>
            <a:r>
              <a:t>Technical Engineering View:</a:t>
            </a:r>
          </a:p>
        </p:txBody>
      </p:sp>
      <p:sp>
        <p:nvSpPr>
          <p:cNvPr id="5" name="TextBox 4"/>
          <p:cNvSpPr txBox="1"/>
          <p:nvPr/>
        </p:nvSpPr>
        <p:spPr>
          <a:xfrm>
            <a:off x="457200" y="1207008"/>
            <a:ext cx="5303520" cy="914400"/>
          </a:xfrm>
          <a:prstGeom prst="rect">
            <a:avLst/>
          </a:prstGeom>
          <a:noFill/>
        </p:spPr>
        <p:txBody>
          <a:bodyPr wrap="square">
            <a:spAutoFit/>
          </a:bodyPr>
          <a:lstStyle/>
          <a:p>
            <a:pPr>
              <a:defRPr sz="1000">
                <a:solidFill>
                  <a:srgbClr val="333333"/>
                </a:solidFill>
              </a:defRPr>
            </a:pPr>
            <a:r>
              <a:t>Technical optimization of Redesign the brake dust shield for the rear axle to be a single-piece stamped component from a thinner gauge high-strength steel (e.g., DP600) instead of the current multi-piece assembly, optimizing shape for airflow and debris deflection. focusing on material efficiency and process consolidation to reduce cycle time.</a:t>
            </a:r>
          </a:p>
        </p:txBody>
      </p:sp>
      <p:sp>
        <p:nvSpPr>
          <p:cNvPr id="6" name="Rectangle 5"/>
          <p:cNvSpPr/>
          <p:nvPr/>
        </p:nvSpPr>
        <p:spPr>
          <a:xfrm>
            <a:off x="457200" y="210312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2240280"/>
            <a:ext cx="5303520" cy="274320"/>
          </a:xfrm>
          <a:prstGeom prst="rect">
            <a:avLst/>
          </a:prstGeom>
          <a:noFill/>
        </p:spPr>
        <p:txBody>
          <a:bodyPr wrap="none">
            <a:spAutoFit/>
          </a:bodyPr>
          <a:lstStyle/>
          <a:p>
            <a:pPr>
              <a:defRPr b="1" sz="1100">
                <a:solidFill>
                  <a:srgbClr val="FF6400"/>
                </a:solidFill>
              </a:defRPr>
            </a:pPr>
            <a:r>
              <a:t>Material Change:</a:t>
            </a:r>
          </a:p>
        </p:txBody>
      </p:sp>
      <p:sp>
        <p:nvSpPr>
          <p:cNvPr id="8" name="TextBox 7"/>
          <p:cNvSpPr txBox="1"/>
          <p:nvPr/>
        </p:nvSpPr>
        <p:spPr>
          <a:xfrm>
            <a:off x="457200" y="2441448"/>
            <a:ext cx="5303520" cy="365760"/>
          </a:xfrm>
          <a:prstGeom prst="rect">
            <a:avLst/>
          </a:prstGeom>
          <a:noFill/>
        </p:spPr>
        <p:txBody>
          <a:bodyPr wrap="square">
            <a:spAutoFit/>
          </a:bodyPr>
          <a:lstStyle/>
          <a:p>
            <a:pPr>
              <a:defRPr sz="1000">
                <a:solidFill>
                  <a:srgbClr val="333333"/>
                </a:solidFill>
              </a:defRPr>
            </a:pPr>
            <a:r>
              <a:t>Redesign the brake dust shield for the rear axle to be a single-piece stamped component from a thinn</a:t>
            </a:r>
          </a:p>
        </p:txBody>
      </p:sp>
      <p:sp>
        <p:nvSpPr>
          <p:cNvPr id="9" name="Rectangle 8"/>
          <p:cNvSpPr/>
          <p:nvPr/>
        </p:nvSpPr>
        <p:spPr>
          <a:xfrm>
            <a:off x="457200" y="278892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2926080"/>
            <a:ext cx="5303520" cy="274320"/>
          </a:xfrm>
          <a:prstGeom prst="rect">
            <a:avLst/>
          </a:prstGeom>
          <a:noFill/>
        </p:spPr>
        <p:txBody>
          <a:bodyPr wrap="none">
            <a:spAutoFit/>
          </a:bodyPr>
          <a:lstStyle/>
          <a:p>
            <a:pPr>
              <a:defRPr b="1" sz="1100">
                <a:solidFill>
                  <a:srgbClr val="FF6400"/>
                </a:solidFill>
              </a:defRPr>
            </a:pPr>
            <a:r>
              <a:t>Dimension Change:</a:t>
            </a:r>
          </a:p>
        </p:txBody>
      </p:sp>
      <p:sp>
        <p:nvSpPr>
          <p:cNvPr id="11" name="TextBox 10"/>
          <p:cNvSpPr txBox="1"/>
          <p:nvPr/>
        </p:nvSpPr>
        <p:spPr>
          <a:xfrm>
            <a:off x="457200" y="3127248"/>
            <a:ext cx="5303520" cy="365760"/>
          </a:xfrm>
          <a:prstGeom prst="rect">
            <a:avLst/>
          </a:prstGeom>
          <a:noFill/>
        </p:spPr>
        <p:txBody>
          <a:bodyPr wrap="square">
            <a:spAutoFit/>
          </a:bodyPr>
          <a:lstStyle/>
          <a:p>
            <a:pPr>
              <a:defRPr sz="1000">
                <a:solidFill>
                  <a:srgbClr val="333333"/>
                </a:solidFill>
              </a:defRPr>
            </a:pPr>
            <a:r>
              <a:t>N/A (Maintains current envelope)</a:t>
            </a:r>
          </a:p>
        </p:txBody>
      </p:sp>
      <p:sp>
        <p:nvSpPr>
          <p:cNvPr id="12" name="Rectangle 11"/>
          <p:cNvSpPr/>
          <p:nvPr/>
        </p:nvSpPr>
        <p:spPr>
          <a:xfrm>
            <a:off x="457200" y="347472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 y="3611880"/>
            <a:ext cx="5303520" cy="274320"/>
          </a:xfrm>
          <a:prstGeom prst="rect">
            <a:avLst/>
          </a:prstGeom>
          <a:noFill/>
        </p:spPr>
        <p:txBody>
          <a:bodyPr wrap="none">
            <a:spAutoFit/>
          </a:bodyPr>
          <a:lstStyle/>
          <a:p>
            <a:pPr>
              <a:defRPr b="1" sz="1100">
                <a:solidFill>
                  <a:srgbClr val="FF6400"/>
                </a:solidFill>
              </a:defRPr>
            </a:pPr>
            <a:r>
              <a:t>Cost Analysis:</a:t>
            </a:r>
          </a:p>
        </p:txBody>
      </p:sp>
      <p:sp>
        <p:nvSpPr>
          <p:cNvPr id="14" name="TextBox 13"/>
          <p:cNvSpPr txBox="1"/>
          <p:nvPr/>
        </p:nvSpPr>
        <p:spPr>
          <a:xfrm>
            <a:off x="457200" y="3813048"/>
            <a:ext cx="5303520" cy="365760"/>
          </a:xfrm>
          <a:prstGeom prst="rect">
            <a:avLst/>
          </a:prstGeom>
          <a:noFill/>
        </p:spPr>
        <p:txBody>
          <a:bodyPr wrap="square">
            <a:spAutoFit/>
          </a:bodyPr>
          <a:lstStyle/>
          <a:p>
            <a:pPr>
              <a:defRPr sz="1000">
                <a:solidFill>
                  <a:srgbClr val="333333"/>
                </a:solidFill>
              </a:defRPr>
            </a:pPr>
            <a:r>
              <a:t>Est. Saving: INR TBD</a:t>
            </a:r>
          </a:p>
        </p:txBody>
      </p:sp>
      <p:sp>
        <p:nvSpPr>
          <p:cNvPr id="15" name="Rectangle 14"/>
          <p:cNvSpPr/>
          <p:nvPr/>
        </p:nvSpPr>
        <p:spPr>
          <a:xfrm>
            <a:off x="457200" y="416052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200" y="4297680"/>
            <a:ext cx="5303520" cy="274320"/>
          </a:xfrm>
          <a:prstGeom prst="rect">
            <a:avLst/>
          </a:prstGeom>
          <a:noFill/>
        </p:spPr>
        <p:txBody>
          <a:bodyPr wrap="none">
            <a:spAutoFit/>
          </a:bodyPr>
          <a:lstStyle/>
          <a:p>
            <a:pPr>
              <a:defRPr b="1" sz="1100">
                <a:solidFill>
                  <a:srgbClr val="FF6400"/>
                </a:solidFill>
              </a:defRPr>
            </a:pPr>
            <a:r>
              <a:t>Engineering Validation &amp; Risks:</a:t>
            </a:r>
          </a:p>
        </p:txBody>
      </p:sp>
      <p:sp>
        <p:nvSpPr>
          <p:cNvPr id="17" name="TextBox 16"/>
          <p:cNvSpPr txBox="1"/>
          <p:nvPr/>
        </p:nvSpPr>
        <p:spPr>
          <a:xfrm>
            <a:off x="457200" y="4498848"/>
            <a:ext cx="5303520" cy="1463040"/>
          </a:xfrm>
          <a:prstGeom prst="rect">
            <a:avLst/>
          </a:prstGeom>
          <a:noFill/>
        </p:spPr>
        <p:txBody>
          <a:bodyPr wrap="square">
            <a:spAutoFit/>
          </a:bodyPr>
          <a:lstStyle/>
          <a:p>
            <a:pPr>
              <a:defRPr sz="1000">
                <a:solidFill>
                  <a:srgbClr val="333333"/>
                </a:solidFill>
              </a:defRPr>
            </a:pPr>
            <a:r>
              <a:t>VALIDATION ROADMAP:</a:t>
            </a:r>
            <a:br/>
            <a:r>
              <a:t>• DVP&amp;R Level 2 Testing</a:t>
            </a:r>
            <a:br/>
            <a:r>
              <a:t>• Environmental Aging (1000 hrs)</a:t>
            </a:r>
            <a:br/>
            <a:r>
              <a:t>• Head Impact Criterion (FMVSS)</a:t>
            </a:r>
            <a:br/>
            <a:r>
              <a:t>RISK MITIGATION:</a:t>
            </a:r>
            <a:br/>
            <a:r>
              <a:t>⚠ NVH performance degradation</a:t>
            </a:r>
            <a:br/>
            <a:r>
              <a:t>⚠ Thermal durability limits</a:t>
            </a:r>
            <a:br/>
            <a:r>
              <a:t>⚠ Aesthetic fit &amp; finish gap</a:t>
            </a:r>
          </a:p>
        </p:txBody>
      </p:sp>
      <p:sp>
        <p:nvSpPr>
          <p:cNvPr id="18" name="Rectangle 17"/>
          <p:cNvSpPr/>
          <p:nvPr/>
        </p:nvSpPr>
        <p:spPr>
          <a:xfrm>
            <a:off x="457200" y="594360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57200" y="6080760"/>
            <a:ext cx="5303520" cy="274320"/>
          </a:xfrm>
          <a:prstGeom prst="rect">
            <a:avLst/>
          </a:prstGeom>
          <a:noFill/>
        </p:spPr>
        <p:txBody>
          <a:bodyPr wrap="none">
            <a:spAutoFit/>
          </a:bodyPr>
          <a:lstStyle/>
          <a:p>
            <a:pPr>
              <a:defRPr b="1" sz="1100">
                <a:solidFill>
                  <a:srgbClr val="FF6400"/>
                </a:solidFill>
              </a:defRPr>
            </a:pPr>
            <a:r>
              <a:t>Supply Chain Impact:</a:t>
            </a:r>
          </a:p>
        </p:txBody>
      </p:sp>
      <p:sp>
        <p:nvSpPr>
          <p:cNvPr id="20" name="TextBox 19"/>
          <p:cNvSpPr txBox="1"/>
          <p:nvPr/>
        </p:nvSpPr>
        <p:spPr>
          <a:xfrm>
            <a:off x="457200" y="6281928"/>
            <a:ext cx="5303520" cy="1097280"/>
          </a:xfrm>
          <a:prstGeom prst="rect">
            <a:avLst/>
          </a:prstGeom>
          <a:noFill/>
        </p:spPr>
        <p:txBody>
          <a:bodyPr wrap="square">
            <a:spAutoFit/>
          </a:bodyPr>
          <a:lstStyle/>
          <a:p>
            <a:pPr>
              <a:defRPr sz="1000">
                <a:solidFill>
                  <a:srgbClr val="333333"/>
                </a:solidFill>
              </a:defRPr>
            </a:pPr>
            <a:r>
              <a:t>• Supplier Change: Consolidation to single-source Tier 1</a:t>
            </a:r>
            <a:br/>
            <a:r>
              <a:t>• Lead Time: Reduction of 2 weeks via localization</a:t>
            </a:r>
            <a:br/>
            <a:r>
              <a:t>• Risk: Dual tooling strategy for backup</a:t>
            </a:r>
            <a:br/>
            <a:r>
              <a:t>• Cost Impact: 15% reduction in logistics overhead</a:t>
            </a:r>
          </a:p>
        </p:txBody>
      </p:sp>
      <p:sp>
        <p:nvSpPr>
          <p:cNvPr id="21" name="Rectangle 20"/>
          <p:cNvSpPr/>
          <p:nvPr/>
        </p:nvSpPr>
        <p:spPr>
          <a:xfrm>
            <a:off x="457200" y="736092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035040" y="731520"/>
            <a:ext cx="5669280" cy="274320"/>
          </a:xfrm>
          <a:prstGeom prst="rect">
            <a:avLst/>
          </a:prstGeom>
          <a:noFill/>
        </p:spPr>
        <p:txBody>
          <a:bodyPr wrap="none">
            <a:spAutoFit/>
          </a:bodyPr>
          <a:lstStyle/>
          <a:p>
            <a:pPr algn="ctr">
              <a:defRPr b="1" sz="1200">
                <a:solidFill>
                  <a:srgbClr val="003366"/>
                </a:solidFill>
              </a:defRPr>
            </a:pPr>
            <a:r>
              <a:t>Current Scenario</a:t>
            </a:r>
          </a:p>
        </p:txBody>
      </p:sp>
      <p:pic>
        <p:nvPicPr>
          <p:cNvPr id="23" name="Picture 22" descr="33.jpg"/>
          <p:cNvPicPr>
            <a:picLocks noChangeAspect="1"/>
          </p:cNvPicPr>
          <p:nvPr/>
        </p:nvPicPr>
        <p:blipFill>
          <a:blip r:embed="rId2"/>
          <a:stretch>
            <a:fillRect/>
          </a:stretch>
        </p:blipFill>
        <p:spPr>
          <a:xfrm>
            <a:off x="6035040" y="1005840"/>
            <a:ext cx="5669280" cy="2743200"/>
          </a:xfrm>
          <a:prstGeom prst="rect">
            <a:avLst/>
          </a:prstGeom>
          <a:ln w="12700">
            <a:solidFill>
              <a:srgbClr val="C8C8C8"/>
            </a:solidFill>
          </a:ln>
        </p:spPr>
      </p:pic>
      <p:sp>
        <p:nvSpPr>
          <p:cNvPr id="24" name="TextBox 23"/>
          <p:cNvSpPr txBox="1"/>
          <p:nvPr/>
        </p:nvSpPr>
        <p:spPr>
          <a:xfrm>
            <a:off x="6035040" y="3749040"/>
            <a:ext cx="5669280" cy="274320"/>
          </a:xfrm>
          <a:prstGeom prst="rect">
            <a:avLst/>
          </a:prstGeom>
          <a:noFill/>
        </p:spPr>
        <p:txBody>
          <a:bodyPr wrap="none">
            <a:spAutoFit/>
          </a:bodyPr>
          <a:lstStyle/>
          <a:p>
            <a:pPr algn="ctr">
              <a:defRPr b="1" sz="1200">
                <a:solidFill>
                  <a:srgbClr val="003366"/>
                </a:solidFill>
              </a:defRPr>
            </a:pPr>
            <a:r>
              <a:t>Implementation / Proposal</a:t>
            </a:r>
          </a:p>
        </p:txBody>
      </p:sp>
      <p:pic>
        <p:nvPicPr>
          <p:cNvPr id="25" name="Picture 24" descr="impl_overlay_Redesignthebr_1768298332814.jpg"/>
          <p:cNvPicPr>
            <a:picLocks noChangeAspect="1"/>
          </p:cNvPicPr>
          <p:nvPr/>
        </p:nvPicPr>
        <p:blipFill>
          <a:blip r:embed="rId3"/>
          <a:stretch>
            <a:fillRect/>
          </a:stretch>
        </p:blipFill>
        <p:spPr>
          <a:xfrm>
            <a:off x="6035040" y="4023360"/>
            <a:ext cx="5669280" cy="2743200"/>
          </a:xfrm>
          <a:prstGeom prst="rect">
            <a:avLst/>
          </a:prstGeom>
          <a:ln w="12700">
            <a:solidFill>
              <a:srgbClr val="C8C8C8"/>
            </a:solidFill>
          </a:ln>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9144000" cy="731520"/>
          </a:xfrm>
          <a:prstGeom prst="rect">
            <a:avLst/>
          </a:prstGeom>
          <a:noFill/>
        </p:spPr>
        <p:txBody>
          <a:bodyPr wrap="none">
            <a:spAutoFit/>
          </a:bodyPr>
          <a:lstStyle/>
          <a:p/>
          <a:p>
            <a:pPr>
              <a:defRPr sz="2200" b="1">
                <a:solidFill>
                  <a:srgbClr val="003366"/>
                </a:solidFill>
              </a:defRPr>
            </a:pPr>
            <a:r>
              <a:t>#9: Optimize the brake fluid reservoir cap by transitioning from a multi-component assembly (cap, seal, tether) to a single-piece, injection-molded component with an integrated seal and breakaway tether, using a durable, chemically resistant polymer.</a:t>
            </a:r>
          </a:p>
        </p:txBody>
      </p:sp>
      <p:sp>
        <p:nvSpPr>
          <p:cNvPr id="3" name="TextBox 2"/>
          <p:cNvSpPr txBox="1"/>
          <p:nvPr/>
        </p:nvSpPr>
        <p:spPr>
          <a:xfrm>
            <a:off x="10058400" y="182880"/>
            <a:ext cx="1828800" cy="365760"/>
          </a:xfrm>
          <a:prstGeom prst="rect">
            <a:avLst/>
          </a:prstGeom>
          <a:solidFill>
            <a:srgbClr val="800080"/>
          </a:solidFill>
        </p:spPr>
        <p:txBody>
          <a:bodyPr wrap="none">
            <a:spAutoFit/>
          </a:bodyPr>
          <a:lstStyle/>
          <a:p>
            <a:pPr algn="ctr">
              <a:defRPr b="1" sz="1000">
                <a:solidFill>
                  <a:srgbClr val="FFFFFF"/>
                </a:solidFill>
              </a:defRPr>
            </a:pPr>
            <a:r>
              <a:t>AI INNOVATION</a:t>
            </a:r>
          </a:p>
        </p:txBody>
      </p:sp>
      <p:sp>
        <p:nvSpPr>
          <p:cNvPr id="4" name="TextBox 3"/>
          <p:cNvSpPr txBox="1"/>
          <p:nvPr/>
        </p:nvSpPr>
        <p:spPr>
          <a:xfrm>
            <a:off x="457200" y="1005840"/>
            <a:ext cx="5303520" cy="274320"/>
          </a:xfrm>
          <a:prstGeom prst="rect">
            <a:avLst/>
          </a:prstGeom>
          <a:noFill/>
        </p:spPr>
        <p:txBody>
          <a:bodyPr wrap="none">
            <a:spAutoFit/>
          </a:bodyPr>
          <a:lstStyle/>
          <a:p>
            <a:pPr>
              <a:defRPr b="1" sz="1100">
                <a:solidFill>
                  <a:srgbClr val="FF6400"/>
                </a:solidFill>
              </a:defRPr>
            </a:pPr>
            <a:r>
              <a:t>Technical Engineering View:</a:t>
            </a:r>
          </a:p>
        </p:txBody>
      </p:sp>
      <p:sp>
        <p:nvSpPr>
          <p:cNvPr id="5" name="TextBox 4"/>
          <p:cNvSpPr txBox="1"/>
          <p:nvPr/>
        </p:nvSpPr>
        <p:spPr>
          <a:xfrm>
            <a:off x="457200" y="1207008"/>
            <a:ext cx="5303520" cy="914400"/>
          </a:xfrm>
          <a:prstGeom prst="rect">
            <a:avLst/>
          </a:prstGeom>
          <a:noFill/>
        </p:spPr>
        <p:txBody>
          <a:bodyPr wrap="square">
            <a:spAutoFit/>
          </a:bodyPr>
          <a:lstStyle/>
          <a:p>
            <a:pPr>
              <a:defRPr sz="1000">
                <a:solidFill>
                  <a:srgbClr val="333333"/>
                </a:solidFill>
              </a:defRPr>
            </a:pPr>
            <a:r>
              <a:t>Technical optimization of Optimize the brake fluid reservoir cap by transitioning from a multi-component assembly (cap, seal, tether) to a single-piece, injection-molded component with an integrated seal and breakaway tether, using a durable, chemically resistant polymer. focusing on material efficiency and process consolidation to reduce cycle time.</a:t>
            </a:r>
          </a:p>
        </p:txBody>
      </p:sp>
      <p:sp>
        <p:nvSpPr>
          <p:cNvPr id="6" name="Rectangle 5"/>
          <p:cNvSpPr/>
          <p:nvPr/>
        </p:nvSpPr>
        <p:spPr>
          <a:xfrm>
            <a:off x="457200" y="210312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2240280"/>
            <a:ext cx="5303520" cy="274320"/>
          </a:xfrm>
          <a:prstGeom prst="rect">
            <a:avLst/>
          </a:prstGeom>
          <a:noFill/>
        </p:spPr>
        <p:txBody>
          <a:bodyPr wrap="none">
            <a:spAutoFit/>
          </a:bodyPr>
          <a:lstStyle/>
          <a:p>
            <a:pPr>
              <a:defRPr b="1" sz="1100">
                <a:solidFill>
                  <a:srgbClr val="FF6400"/>
                </a:solidFill>
              </a:defRPr>
            </a:pPr>
            <a:r>
              <a:t>Material Change:</a:t>
            </a:r>
          </a:p>
        </p:txBody>
      </p:sp>
      <p:sp>
        <p:nvSpPr>
          <p:cNvPr id="8" name="TextBox 7"/>
          <p:cNvSpPr txBox="1"/>
          <p:nvPr/>
        </p:nvSpPr>
        <p:spPr>
          <a:xfrm>
            <a:off x="457200" y="2441448"/>
            <a:ext cx="5303520" cy="365760"/>
          </a:xfrm>
          <a:prstGeom prst="rect">
            <a:avLst/>
          </a:prstGeom>
          <a:noFill/>
        </p:spPr>
        <p:txBody>
          <a:bodyPr wrap="square">
            <a:spAutoFit/>
          </a:bodyPr>
          <a:lstStyle/>
          <a:p>
            <a:pPr>
              <a:defRPr sz="1000">
                <a:solidFill>
                  <a:srgbClr val="333333"/>
                </a:solidFill>
              </a:defRPr>
            </a:pPr>
            <a:r>
              <a:t>N/A (No material change explicitly mentioned)</a:t>
            </a:r>
          </a:p>
        </p:txBody>
      </p:sp>
      <p:sp>
        <p:nvSpPr>
          <p:cNvPr id="9" name="Rectangle 8"/>
          <p:cNvSpPr/>
          <p:nvPr/>
        </p:nvSpPr>
        <p:spPr>
          <a:xfrm>
            <a:off x="457200" y="278892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2926080"/>
            <a:ext cx="5303520" cy="274320"/>
          </a:xfrm>
          <a:prstGeom prst="rect">
            <a:avLst/>
          </a:prstGeom>
          <a:noFill/>
        </p:spPr>
        <p:txBody>
          <a:bodyPr wrap="none">
            <a:spAutoFit/>
          </a:bodyPr>
          <a:lstStyle/>
          <a:p>
            <a:pPr>
              <a:defRPr b="1" sz="1100">
                <a:solidFill>
                  <a:srgbClr val="FF6400"/>
                </a:solidFill>
              </a:defRPr>
            </a:pPr>
            <a:r>
              <a:t>Dimension Change:</a:t>
            </a:r>
          </a:p>
        </p:txBody>
      </p:sp>
      <p:sp>
        <p:nvSpPr>
          <p:cNvPr id="11" name="TextBox 10"/>
          <p:cNvSpPr txBox="1"/>
          <p:nvPr/>
        </p:nvSpPr>
        <p:spPr>
          <a:xfrm>
            <a:off x="457200" y="3127248"/>
            <a:ext cx="5303520" cy="365760"/>
          </a:xfrm>
          <a:prstGeom prst="rect">
            <a:avLst/>
          </a:prstGeom>
          <a:noFill/>
        </p:spPr>
        <p:txBody>
          <a:bodyPr wrap="square">
            <a:spAutoFit/>
          </a:bodyPr>
          <a:lstStyle/>
          <a:p>
            <a:pPr>
              <a:defRPr sz="1000">
                <a:solidFill>
                  <a:srgbClr val="333333"/>
                </a:solidFill>
              </a:defRPr>
            </a:pPr>
            <a:r>
              <a:t>N/A (Maintains current envelope)</a:t>
            </a:r>
          </a:p>
        </p:txBody>
      </p:sp>
      <p:sp>
        <p:nvSpPr>
          <p:cNvPr id="12" name="Rectangle 11"/>
          <p:cNvSpPr/>
          <p:nvPr/>
        </p:nvSpPr>
        <p:spPr>
          <a:xfrm>
            <a:off x="457200" y="347472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 y="3611880"/>
            <a:ext cx="5303520" cy="274320"/>
          </a:xfrm>
          <a:prstGeom prst="rect">
            <a:avLst/>
          </a:prstGeom>
          <a:noFill/>
        </p:spPr>
        <p:txBody>
          <a:bodyPr wrap="none">
            <a:spAutoFit/>
          </a:bodyPr>
          <a:lstStyle/>
          <a:p>
            <a:pPr>
              <a:defRPr b="1" sz="1100">
                <a:solidFill>
                  <a:srgbClr val="FF6400"/>
                </a:solidFill>
              </a:defRPr>
            </a:pPr>
            <a:r>
              <a:t>Cost Analysis:</a:t>
            </a:r>
          </a:p>
        </p:txBody>
      </p:sp>
      <p:sp>
        <p:nvSpPr>
          <p:cNvPr id="14" name="TextBox 13"/>
          <p:cNvSpPr txBox="1"/>
          <p:nvPr/>
        </p:nvSpPr>
        <p:spPr>
          <a:xfrm>
            <a:off x="457200" y="3813048"/>
            <a:ext cx="5303520" cy="365760"/>
          </a:xfrm>
          <a:prstGeom prst="rect">
            <a:avLst/>
          </a:prstGeom>
          <a:noFill/>
        </p:spPr>
        <p:txBody>
          <a:bodyPr wrap="square">
            <a:spAutoFit/>
          </a:bodyPr>
          <a:lstStyle/>
          <a:p>
            <a:pPr>
              <a:defRPr sz="1000">
                <a:solidFill>
                  <a:srgbClr val="333333"/>
                </a:solidFill>
              </a:defRPr>
            </a:pPr>
            <a:r>
              <a:t>Est. Saving: INR TBD</a:t>
            </a:r>
          </a:p>
        </p:txBody>
      </p:sp>
      <p:sp>
        <p:nvSpPr>
          <p:cNvPr id="15" name="Rectangle 14"/>
          <p:cNvSpPr/>
          <p:nvPr/>
        </p:nvSpPr>
        <p:spPr>
          <a:xfrm>
            <a:off x="457200" y="416052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200" y="4297680"/>
            <a:ext cx="5303520" cy="274320"/>
          </a:xfrm>
          <a:prstGeom prst="rect">
            <a:avLst/>
          </a:prstGeom>
          <a:noFill/>
        </p:spPr>
        <p:txBody>
          <a:bodyPr wrap="none">
            <a:spAutoFit/>
          </a:bodyPr>
          <a:lstStyle/>
          <a:p>
            <a:pPr>
              <a:defRPr b="1" sz="1100">
                <a:solidFill>
                  <a:srgbClr val="FF6400"/>
                </a:solidFill>
              </a:defRPr>
            </a:pPr>
            <a:r>
              <a:t>Engineering Validation &amp; Risks:</a:t>
            </a:r>
          </a:p>
        </p:txBody>
      </p:sp>
      <p:sp>
        <p:nvSpPr>
          <p:cNvPr id="17" name="TextBox 16"/>
          <p:cNvSpPr txBox="1"/>
          <p:nvPr/>
        </p:nvSpPr>
        <p:spPr>
          <a:xfrm>
            <a:off x="457200" y="4498848"/>
            <a:ext cx="5303520" cy="1463040"/>
          </a:xfrm>
          <a:prstGeom prst="rect">
            <a:avLst/>
          </a:prstGeom>
          <a:noFill/>
        </p:spPr>
        <p:txBody>
          <a:bodyPr wrap="square">
            <a:spAutoFit/>
          </a:bodyPr>
          <a:lstStyle/>
          <a:p>
            <a:pPr>
              <a:defRPr sz="1000">
                <a:solidFill>
                  <a:srgbClr val="333333"/>
                </a:solidFill>
              </a:defRPr>
            </a:pPr>
            <a:r>
              <a:t>VALIDATION ROADMAP:</a:t>
            </a:r>
            <a:br/>
            <a:r>
              <a:t>• DVP&amp;R Level 2 Testing</a:t>
            </a:r>
            <a:br/>
            <a:r>
              <a:t>• Environmental Aging (1000 hrs)</a:t>
            </a:r>
            <a:br/>
            <a:r>
              <a:t>• Head Impact Criterion (FMVSS)</a:t>
            </a:r>
            <a:br/>
            <a:r>
              <a:t>RISK MITIGATION:</a:t>
            </a:r>
            <a:br/>
            <a:r>
              <a:t>⚠ NVH performance degradation</a:t>
            </a:r>
            <a:br/>
            <a:r>
              <a:t>⚠ Thermal durability limits</a:t>
            </a:r>
            <a:br/>
            <a:r>
              <a:t>⚠ Aesthetic fit &amp; finish gap</a:t>
            </a:r>
          </a:p>
        </p:txBody>
      </p:sp>
      <p:sp>
        <p:nvSpPr>
          <p:cNvPr id="18" name="Rectangle 17"/>
          <p:cNvSpPr/>
          <p:nvPr/>
        </p:nvSpPr>
        <p:spPr>
          <a:xfrm>
            <a:off x="457200" y="594360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57200" y="6080760"/>
            <a:ext cx="5303520" cy="274320"/>
          </a:xfrm>
          <a:prstGeom prst="rect">
            <a:avLst/>
          </a:prstGeom>
          <a:noFill/>
        </p:spPr>
        <p:txBody>
          <a:bodyPr wrap="none">
            <a:spAutoFit/>
          </a:bodyPr>
          <a:lstStyle/>
          <a:p>
            <a:pPr>
              <a:defRPr b="1" sz="1100">
                <a:solidFill>
                  <a:srgbClr val="FF6400"/>
                </a:solidFill>
              </a:defRPr>
            </a:pPr>
            <a:r>
              <a:t>Supply Chain Impact:</a:t>
            </a:r>
          </a:p>
        </p:txBody>
      </p:sp>
      <p:sp>
        <p:nvSpPr>
          <p:cNvPr id="20" name="TextBox 19"/>
          <p:cNvSpPr txBox="1"/>
          <p:nvPr/>
        </p:nvSpPr>
        <p:spPr>
          <a:xfrm>
            <a:off x="457200" y="6281928"/>
            <a:ext cx="5303520" cy="1097280"/>
          </a:xfrm>
          <a:prstGeom prst="rect">
            <a:avLst/>
          </a:prstGeom>
          <a:noFill/>
        </p:spPr>
        <p:txBody>
          <a:bodyPr wrap="square">
            <a:spAutoFit/>
          </a:bodyPr>
          <a:lstStyle/>
          <a:p>
            <a:pPr>
              <a:defRPr sz="1000">
                <a:solidFill>
                  <a:srgbClr val="333333"/>
                </a:solidFill>
              </a:defRPr>
            </a:pPr>
            <a:r>
              <a:t>• Supplier Change: Consolidation to single-source Tier 1</a:t>
            </a:r>
            <a:br/>
            <a:r>
              <a:t>• Lead Time: Reduction of 2 weeks via localization</a:t>
            </a:r>
            <a:br/>
            <a:r>
              <a:t>• Risk: Dual tooling strategy for backup</a:t>
            </a:r>
            <a:br/>
            <a:r>
              <a:t>• Cost Impact: 15% reduction in logistics overhead</a:t>
            </a:r>
          </a:p>
        </p:txBody>
      </p:sp>
      <p:sp>
        <p:nvSpPr>
          <p:cNvPr id="21" name="Rectangle 20"/>
          <p:cNvSpPr/>
          <p:nvPr/>
        </p:nvSpPr>
        <p:spPr>
          <a:xfrm>
            <a:off x="457200" y="736092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035040" y="731520"/>
            <a:ext cx="5669280" cy="274320"/>
          </a:xfrm>
          <a:prstGeom prst="rect">
            <a:avLst/>
          </a:prstGeom>
          <a:noFill/>
        </p:spPr>
        <p:txBody>
          <a:bodyPr wrap="none">
            <a:spAutoFit/>
          </a:bodyPr>
          <a:lstStyle/>
          <a:p>
            <a:pPr algn="ctr">
              <a:defRPr b="1" sz="1200">
                <a:solidFill>
                  <a:srgbClr val="003366"/>
                </a:solidFill>
              </a:defRPr>
            </a:pPr>
            <a:r>
              <a:t>Current Scenario</a:t>
            </a:r>
          </a:p>
        </p:txBody>
      </p:sp>
      <p:pic>
        <p:nvPicPr>
          <p:cNvPr id="23" name="Picture 22" descr="20.jpg"/>
          <p:cNvPicPr>
            <a:picLocks noChangeAspect="1"/>
          </p:cNvPicPr>
          <p:nvPr/>
        </p:nvPicPr>
        <p:blipFill>
          <a:blip r:embed="rId2"/>
          <a:stretch>
            <a:fillRect/>
          </a:stretch>
        </p:blipFill>
        <p:spPr>
          <a:xfrm>
            <a:off x="6035040" y="1005840"/>
            <a:ext cx="5669280" cy="2743200"/>
          </a:xfrm>
          <a:prstGeom prst="rect">
            <a:avLst/>
          </a:prstGeom>
          <a:ln w="12700">
            <a:solidFill>
              <a:srgbClr val="C8C8C8"/>
            </a:solidFill>
          </a:ln>
        </p:spPr>
      </p:pic>
      <p:sp>
        <p:nvSpPr>
          <p:cNvPr id="24" name="TextBox 23"/>
          <p:cNvSpPr txBox="1"/>
          <p:nvPr/>
        </p:nvSpPr>
        <p:spPr>
          <a:xfrm>
            <a:off x="6035040" y="3749040"/>
            <a:ext cx="5669280" cy="274320"/>
          </a:xfrm>
          <a:prstGeom prst="rect">
            <a:avLst/>
          </a:prstGeom>
          <a:noFill/>
        </p:spPr>
        <p:txBody>
          <a:bodyPr wrap="none">
            <a:spAutoFit/>
          </a:bodyPr>
          <a:lstStyle/>
          <a:p>
            <a:pPr algn="ctr">
              <a:defRPr b="1" sz="1200">
                <a:solidFill>
                  <a:srgbClr val="003366"/>
                </a:solidFill>
              </a:defRPr>
            </a:pPr>
            <a:r>
              <a:t>Implementation / Proposal</a:t>
            </a:r>
          </a:p>
        </p:txBody>
      </p:sp>
      <p:pic>
        <p:nvPicPr>
          <p:cNvPr id="25" name="Picture 24" descr="impl_overlay_Optimizethebr_1768298332978.jpg"/>
          <p:cNvPicPr>
            <a:picLocks noChangeAspect="1"/>
          </p:cNvPicPr>
          <p:nvPr/>
        </p:nvPicPr>
        <p:blipFill>
          <a:blip r:embed="rId3"/>
          <a:stretch>
            <a:fillRect/>
          </a:stretch>
        </p:blipFill>
        <p:spPr>
          <a:xfrm>
            <a:off x="6035040" y="4023360"/>
            <a:ext cx="5669280" cy="2743200"/>
          </a:xfrm>
          <a:prstGeom prst="rect">
            <a:avLst/>
          </a:prstGeom>
          <a:ln w="12700">
            <a:solidFill>
              <a:srgbClr val="C8C8C8"/>
            </a:solidFill>
          </a:ln>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9144000" cy="731520"/>
          </a:xfrm>
          <a:prstGeom prst="rect">
            <a:avLst/>
          </a:prstGeom>
          <a:noFill/>
        </p:spPr>
        <p:txBody>
          <a:bodyPr wrap="none">
            <a:spAutoFit/>
          </a:bodyPr>
          <a:lstStyle/>
          <a:p/>
          <a:p>
            <a:pPr>
              <a:defRPr sz="2200" b="1">
                <a:solidFill>
                  <a:srgbClr val="003366"/>
                </a:solidFill>
              </a:defRPr>
            </a:pPr>
            <a:r>
              <a:t>#10: Application of Carbon Fiber Reinforced Polymer (CFRP) for Automotive Brake Systems</a:t>
            </a:r>
          </a:p>
        </p:txBody>
      </p:sp>
      <p:sp>
        <p:nvSpPr>
          <p:cNvPr id="3" name="TextBox 2"/>
          <p:cNvSpPr txBox="1"/>
          <p:nvPr/>
        </p:nvSpPr>
        <p:spPr>
          <a:xfrm>
            <a:off x="10058400" y="182880"/>
            <a:ext cx="1828800" cy="365760"/>
          </a:xfrm>
          <a:prstGeom prst="rect">
            <a:avLst/>
          </a:prstGeom>
          <a:solidFill>
            <a:srgbClr val="008080"/>
          </a:solidFill>
        </p:spPr>
        <p:txBody>
          <a:bodyPr wrap="none">
            <a:spAutoFit/>
          </a:bodyPr>
          <a:lstStyle/>
          <a:p>
            <a:pPr algn="ctr">
              <a:defRPr b="1" sz="1000">
                <a:solidFill>
                  <a:srgbClr val="FFFFFF"/>
                </a:solidFill>
              </a:defRPr>
            </a:pPr>
            <a:r>
              <a:t>WEB SOURCED</a:t>
            </a:r>
          </a:p>
        </p:txBody>
      </p:sp>
      <p:sp>
        <p:nvSpPr>
          <p:cNvPr id="4" name="TextBox 3"/>
          <p:cNvSpPr txBox="1"/>
          <p:nvPr/>
        </p:nvSpPr>
        <p:spPr>
          <a:xfrm>
            <a:off x="457200" y="1005840"/>
            <a:ext cx="5303520" cy="274320"/>
          </a:xfrm>
          <a:prstGeom prst="rect">
            <a:avLst/>
          </a:prstGeom>
          <a:noFill/>
        </p:spPr>
        <p:txBody>
          <a:bodyPr wrap="none">
            <a:spAutoFit/>
          </a:bodyPr>
          <a:lstStyle/>
          <a:p>
            <a:pPr>
              <a:defRPr b="1" sz="1100">
                <a:solidFill>
                  <a:srgbClr val="FF6400"/>
                </a:solidFill>
              </a:defRPr>
            </a:pPr>
            <a:r>
              <a:t>Technical Engineering View:</a:t>
            </a:r>
          </a:p>
        </p:txBody>
      </p:sp>
      <p:sp>
        <p:nvSpPr>
          <p:cNvPr id="5" name="TextBox 4"/>
          <p:cNvSpPr txBox="1"/>
          <p:nvPr/>
        </p:nvSpPr>
        <p:spPr>
          <a:xfrm>
            <a:off x="457200" y="1207008"/>
            <a:ext cx="5303520" cy="914400"/>
          </a:xfrm>
          <a:prstGeom prst="rect">
            <a:avLst/>
          </a:prstGeom>
          <a:noFill/>
        </p:spPr>
        <p:txBody>
          <a:bodyPr wrap="square">
            <a:spAutoFit/>
          </a:bodyPr>
          <a:lstStyle/>
          <a:p>
            <a:pPr>
              <a:defRPr sz="1000">
                <a:solidFill>
                  <a:srgbClr val="333333"/>
                </a:solidFill>
              </a:defRPr>
            </a:pPr>
            <a:r>
              <a:t>Technical optimization of Application of Carbon Fiber Reinforced Polymer (CFRP) for Automotive Brake Systems focusing on material efficiency and process consolidation to reduce cycle time.</a:t>
            </a:r>
          </a:p>
        </p:txBody>
      </p:sp>
      <p:sp>
        <p:nvSpPr>
          <p:cNvPr id="6" name="Rectangle 5"/>
          <p:cNvSpPr/>
          <p:nvPr/>
        </p:nvSpPr>
        <p:spPr>
          <a:xfrm>
            <a:off x="457200" y="210312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2240280"/>
            <a:ext cx="5303520" cy="274320"/>
          </a:xfrm>
          <a:prstGeom prst="rect">
            <a:avLst/>
          </a:prstGeom>
          <a:noFill/>
        </p:spPr>
        <p:txBody>
          <a:bodyPr wrap="none">
            <a:spAutoFit/>
          </a:bodyPr>
          <a:lstStyle/>
          <a:p>
            <a:pPr>
              <a:defRPr b="1" sz="1100">
                <a:solidFill>
                  <a:srgbClr val="FF6400"/>
                </a:solidFill>
              </a:defRPr>
            </a:pPr>
            <a:r>
              <a:t>Material Change:</a:t>
            </a:r>
          </a:p>
        </p:txBody>
      </p:sp>
      <p:sp>
        <p:nvSpPr>
          <p:cNvPr id="8" name="TextBox 7"/>
          <p:cNvSpPr txBox="1"/>
          <p:nvPr/>
        </p:nvSpPr>
        <p:spPr>
          <a:xfrm>
            <a:off x="457200" y="2441448"/>
            <a:ext cx="5303520" cy="365760"/>
          </a:xfrm>
          <a:prstGeom prst="rect">
            <a:avLst/>
          </a:prstGeom>
          <a:noFill/>
        </p:spPr>
        <p:txBody>
          <a:bodyPr wrap="square">
            <a:spAutoFit/>
          </a:bodyPr>
          <a:lstStyle/>
          <a:p>
            <a:pPr>
              <a:defRPr sz="1000">
                <a:solidFill>
                  <a:srgbClr val="333333"/>
                </a:solidFill>
              </a:defRPr>
            </a:pPr>
            <a:r>
              <a:t>Application of Carbon Fiber Reinforced Polymer (CFRP) for Automotive Brake Systems</a:t>
            </a:r>
          </a:p>
        </p:txBody>
      </p:sp>
      <p:sp>
        <p:nvSpPr>
          <p:cNvPr id="9" name="Rectangle 8"/>
          <p:cNvSpPr/>
          <p:nvPr/>
        </p:nvSpPr>
        <p:spPr>
          <a:xfrm>
            <a:off x="457200" y="278892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2926080"/>
            <a:ext cx="5303520" cy="274320"/>
          </a:xfrm>
          <a:prstGeom prst="rect">
            <a:avLst/>
          </a:prstGeom>
          <a:noFill/>
        </p:spPr>
        <p:txBody>
          <a:bodyPr wrap="none">
            <a:spAutoFit/>
          </a:bodyPr>
          <a:lstStyle/>
          <a:p>
            <a:pPr>
              <a:defRPr b="1" sz="1100">
                <a:solidFill>
                  <a:srgbClr val="FF6400"/>
                </a:solidFill>
              </a:defRPr>
            </a:pPr>
            <a:r>
              <a:t>Dimension Change:</a:t>
            </a:r>
          </a:p>
        </p:txBody>
      </p:sp>
      <p:sp>
        <p:nvSpPr>
          <p:cNvPr id="11" name="TextBox 10"/>
          <p:cNvSpPr txBox="1"/>
          <p:nvPr/>
        </p:nvSpPr>
        <p:spPr>
          <a:xfrm>
            <a:off x="457200" y="3127248"/>
            <a:ext cx="5303520" cy="365760"/>
          </a:xfrm>
          <a:prstGeom prst="rect">
            <a:avLst/>
          </a:prstGeom>
          <a:noFill/>
        </p:spPr>
        <p:txBody>
          <a:bodyPr wrap="square">
            <a:spAutoFit/>
          </a:bodyPr>
          <a:lstStyle/>
          <a:p>
            <a:pPr>
              <a:defRPr sz="1000">
                <a:solidFill>
                  <a:srgbClr val="333333"/>
                </a:solidFill>
              </a:defRPr>
            </a:pPr>
            <a:r>
              <a:t>N/A (Maintains current envelope)</a:t>
            </a:r>
          </a:p>
        </p:txBody>
      </p:sp>
      <p:sp>
        <p:nvSpPr>
          <p:cNvPr id="12" name="Rectangle 11"/>
          <p:cNvSpPr/>
          <p:nvPr/>
        </p:nvSpPr>
        <p:spPr>
          <a:xfrm>
            <a:off x="457200" y="347472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 y="3611880"/>
            <a:ext cx="5303520" cy="274320"/>
          </a:xfrm>
          <a:prstGeom prst="rect">
            <a:avLst/>
          </a:prstGeom>
          <a:noFill/>
        </p:spPr>
        <p:txBody>
          <a:bodyPr wrap="none">
            <a:spAutoFit/>
          </a:bodyPr>
          <a:lstStyle/>
          <a:p>
            <a:pPr>
              <a:defRPr b="1" sz="1100">
                <a:solidFill>
                  <a:srgbClr val="FF6400"/>
                </a:solidFill>
              </a:defRPr>
            </a:pPr>
            <a:r>
              <a:t>Cost Analysis:</a:t>
            </a:r>
          </a:p>
        </p:txBody>
      </p:sp>
      <p:sp>
        <p:nvSpPr>
          <p:cNvPr id="14" name="TextBox 13"/>
          <p:cNvSpPr txBox="1"/>
          <p:nvPr/>
        </p:nvSpPr>
        <p:spPr>
          <a:xfrm>
            <a:off x="457200" y="3813048"/>
            <a:ext cx="5303520" cy="365760"/>
          </a:xfrm>
          <a:prstGeom prst="rect">
            <a:avLst/>
          </a:prstGeom>
          <a:noFill/>
        </p:spPr>
        <p:txBody>
          <a:bodyPr wrap="square">
            <a:spAutoFit/>
          </a:bodyPr>
          <a:lstStyle/>
          <a:p>
            <a:pPr>
              <a:defRPr sz="1000">
                <a:solidFill>
                  <a:srgbClr val="333333"/>
                </a:solidFill>
              </a:defRPr>
            </a:pPr>
            <a:r>
              <a:t>Est. Saving: INR TBD</a:t>
            </a:r>
          </a:p>
        </p:txBody>
      </p:sp>
      <p:sp>
        <p:nvSpPr>
          <p:cNvPr id="15" name="Rectangle 14"/>
          <p:cNvSpPr/>
          <p:nvPr/>
        </p:nvSpPr>
        <p:spPr>
          <a:xfrm>
            <a:off x="457200" y="416052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200" y="4297680"/>
            <a:ext cx="5303520" cy="274320"/>
          </a:xfrm>
          <a:prstGeom prst="rect">
            <a:avLst/>
          </a:prstGeom>
          <a:noFill/>
        </p:spPr>
        <p:txBody>
          <a:bodyPr wrap="none">
            <a:spAutoFit/>
          </a:bodyPr>
          <a:lstStyle/>
          <a:p>
            <a:pPr>
              <a:defRPr b="1" sz="1100">
                <a:solidFill>
                  <a:srgbClr val="FF6400"/>
                </a:solidFill>
              </a:defRPr>
            </a:pPr>
            <a:r>
              <a:t>Engineering Validation &amp; Risks:</a:t>
            </a:r>
          </a:p>
        </p:txBody>
      </p:sp>
      <p:sp>
        <p:nvSpPr>
          <p:cNvPr id="17" name="TextBox 16"/>
          <p:cNvSpPr txBox="1"/>
          <p:nvPr/>
        </p:nvSpPr>
        <p:spPr>
          <a:xfrm>
            <a:off x="457200" y="4498848"/>
            <a:ext cx="5303520" cy="1463040"/>
          </a:xfrm>
          <a:prstGeom prst="rect">
            <a:avLst/>
          </a:prstGeom>
          <a:noFill/>
        </p:spPr>
        <p:txBody>
          <a:bodyPr wrap="square">
            <a:spAutoFit/>
          </a:bodyPr>
          <a:lstStyle/>
          <a:p>
            <a:pPr>
              <a:defRPr sz="1000">
                <a:solidFill>
                  <a:srgbClr val="333333"/>
                </a:solidFill>
              </a:defRPr>
            </a:pPr>
            <a:r>
              <a:t>VALIDATION ROADMAP:</a:t>
            </a:r>
            <a:br/>
            <a:r>
              <a:t>• DVP&amp;R Level 2 Testing</a:t>
            </a:r>
            <a:br/>
            <a:r>
              <a:t>• Environmental Aging (1000 hrs)</a:t>
            </a:r>
            <a:br/>
            <a:r>
              <a:t>• Head Impact Criterion (FMVSS)</a:t>
            </a:r>
            <a:br/>
            <a:r>
              <a:t>RISK MITIGATION:</a:t>
            </a:r>
            <a:br/>
            <a:r>
              <a:t>⚠ NVH performance degradation</a:t>
            </a:r>
            <a:br/>
            <a:r>
              <a:t>⚠ Thermal durability limits</a:t>
            </a:r>
            <a:br/>
            <a:r>
              <a:t>⚠ Aesthetic fit &amp; finish gap</a:t>
            </a:r>
          </a:p>
        </p:txBody>
      </p:sp>
      <p:sp>
        <p:nvSpPr>
          <p:cNvPr id="18" name="Rectangle 17"/>
          <p:cNvSpPr/>
          <p:nvPr/>
        </p:nvSpPr>
        <p:spPr>
          <a:xfrm>
            <a:off x="457200" y="594360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57200" y="6080760"/>
            <a:ext cx="5303520" cy="274320"/>
          </a:xfrm>
          <a:prstGeom prst="rect">
            <a:avLst/>
          </a:prstGeom>
          <a:noFill/>
        </p:spPr>
        <p:txBody>
          <a:bodyPr wrap="none">
            <a:spAutoFit/>
          </a:bodyPr>
          <a:lstStyle/>
          <a:p>
            <a:pPr>
              <a:defRPr b="1" sz="1100">
                <a:solidFill>
                  <a:srgbClr val="FF6400"/>
                </a:solidFill>
              </a:defRPr>
            </a:pPr>
            <a:r>
              <a:t>Supply Chain Impact:</a:t>
            </a:r>
          </a:p>
        </p:txBody>
      </p:sp>
      <p:sp>
        <p:nvSpPr>
          <p:cNvPr id="20" name="TextBox 19"/>
          <p:cNvSpPr txBox="1"/>
          <p:nvPr/>
        </p:nvSpPr>
        <p:spPr>
          <a:xfrm>
            <a:off x="457200" y="6281928"/>
            <a:ext cx="5303520" cy="1097280"/>
          </a:xfrm>
          <a:prstGeom prst="rect">
            <a:avLst/>
          </a:prstGeom>
          <a:noFill/>
        </p:spPr>
        <p:txBody>
          <a:bodyPr wrap="square">
            <a:spAutoFit/>
          </a:bodyPr>
          <a:lstStyle/>
          <a:p>
            <a:pPr>
              <a:defRPr sz="1000">
                <a:solidFill>
                  <a:srgbClr val="333333"/>
                </a:solidFill>
              </a:defRPr>
            </a:pPr>
            <a:r>
              <a:t>• Supplier Change: Consolidation to single-source Tier 1</a:t>
            </a:r>
            <a:br/>
            <a:r>
              <a:t>• Lead Time: Reduction of 2 weeks via localization</a:t>
            </a:r>
            <a:br/>
            <a:r>
              <a:t>• Risk: Dual tooling strategy for backup</a:t>
            </a:r>
            <a:br/>
            <a:r>
              <a:t>• Cost Impact: 15% reduction in logistics overhead</a:t>
            </a:r>
          </a:p>
        </p:txBody>
      </p:sp>
      <p:sp>
        <p:nvSpPr>
          <p:cNvPr id="21" name="Rectangle 20"/>
          <p:cNvSpPr/>
          <p:nvPr/>
        </p:nvSpPr>
        <p:spPr>
          <a:xfrm>
            <a:off x="457200" y="736092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035040" y="731520"/>
            <a:ext cx="5669280" cy="274320"/>
          </a:xfrm>
          <a:prstGeom prst="rect">
            <a:avLst/>
          </a:prstGeom>
          <a:noFill/>
        </p:spPr>
        <p:txBody>
          <a:bodyPr wrap="none">
            <a:spAutoFit/>
          </a:bodyPr>
          <a:lstStyle/>
          <a:p>
            <a:pPr algn="ctr">
              <a:defRPr b="1" sz="1200">
                <a:solidFill>
                  <a:srgbClr val="003366"/>
                </a:solidFill>
              </a:defRPr>
            </a:pPr>
            <a:r>
              <a:t>Current Scenario</a:t>
            </a:r>
          </a:p>
        </p:txBody>
      </p:sp>
      <p:pic>
        <p:nvPicPr>
          <p:cNvPr id="23" name="Picture 22" descr="17.jpg"/>
          <p:cNvPicPr>
            <a:picLocks noChangeAspect="1"/>
          </p:cNvPicPr>
          <p:nvPr/>
        </p:nvPicPr>
        <p:blipFill>
          <a:blip r:embed="rId2"/>
          <a:stretch>
            <a:fillRect/>
          </a:stretch>
        </p:blipFill>
        <p:spPr>
          <a:xfrm>
            <a:off x="6035040" y="1005840"/>
            <a:ext cx="5669280" cy="2743200"/>
          </a:xfrm>
          <a:prstGeom prst="rect">
            <a:avLst/>
          </a:prstGeom>
          <a:ln w="12700">
            <a:solidFill>
              <a:srgbClr val="C8C8C8"/>
            </a:solidFill>
          </a:ln>
        </p:spPr>
      </p:pic>
      <p:sp>
        <p:nvSpPr>
          <p:cNvPr id="24" name="TextBox 23"/>
          <p:cNvSpPr txBox="1"/>
          <p:nvPr/>
        </p:nvSpPr>
        <p:spPr>
          <a:xfrm>
            <a:off x="6035040" y="3749040"/>
            <a:ext cx="5669280" cy="274320"/>
          </a:xfrm>
          <a:prstGeom prst="rect">
            <a:avLst/>
          </a:prstGeom>
          <a:noFill/>
        </p:spPr>
        <p:txBody>
          <a:bodyPr wrap="none">
            <a:spAutoFit/>
          </a:bodyPr>
          <a:lstStyle/>
          <a:p>
            <a:pPr algn="ctr">
              <a:defRPr b="1" sz="1200">
                <a:solidFill>
                  <a:srgbClr val="003366"/>
                </a:solidFill>
              </a:defRPr>
            </a:pPr>
            <a:r>
              <a:t>Implementation / Proposal</a:t>
            </a:r>
          </a:p>
        </p:txBody>
      </p:sp>
      <p:pic>
        <p:nvPicPr>
          <p:cNvPr id="25" name="Picture 24" descr="impl_overlay_Applicationof_1768298333262.jpg"/>
          <p:cNvPicPr>
            <a:picLocks noChangeAspect="1"/>
          </p:cNvPicPr>
          <p:nvPr/>
        </p:nvPicPr>
        <p:blipFill>
          <a:blip r:embed="rId3"/>
          <a:stretch>
            <a:fillRect/>
          </a:stretch>
        </p:blipFill>
        <p:spPr>
          <a:xfrm>
            <a:off x="6035040" y="4023360"/>
            <a:ext cx="5669280" cy="2743200"/>
          </a:xfrm>
          <a:prstGeom prst="rect">
            <a:avLst/>
          </a:prstGeom>
          <a:ln w="12700">
            <a:solidFill>
              <a:srgbClr val="C8C8C8"/>
            </a:solidFill>
          </a:ln>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9144000" cy="731520"/>
          </a:xfrm>
          <a:prstGeom prst="rect">
            <a:avLst/>
          </a:prstGeom>
          <a:noFill/>
        </p:spPr>
        <p:txBody>
          <a:bodyPr wrap="none">
            <a:spAutoFit/>
          </a:bodyPr>
          <a:lstStyle/>
          <a:p/>
          <a:p>
            <a:pPr>
              <a:defRPr sz="2200" b="1">
                <a:solidFill>
                  <a:srgbClr val="003366"/>
                </a:solidFill>
              </a:defRPr>
            </a:pPr>
            <a:r>
              <a:t>#11: Development of Sustainable Brake Pad Materials Utilizing Recycled and Bio-based Constituents</a:t>
            </a:r>
          </a:p>
        </p:txBody>
      </p:sp>
      <p:sp>
        <p:nvSpPr>
          <p:cNvPr id="3" name="TextBox 2"/>
          <p:cNvSpPr txBox="1"/>
          <p:nvPr/>
        </p:nvSpPr>
        <p:spPr>
          <a:xfrm>
            <a:off x="10058400" y="182880"/>
            <a:ext cx="1828800" cy="365760"/>
          </a:xfrm>
          <a:prstGeom prst="rect">
            <a:avLst/>
          </a:prstGeom>
          <a:solidFill>
            <a:srgbClr val="008080"/>
          </a:solidFill>
        </p:spPr>
        <p:txBody>
          <a:bodyPr wrap="none">
            <a:spAutoFit/>
          </a:bodyPr>
          <a:lstStyle/>
          <a:p>
            <a:pPr algn="ctr">
              <a:defRPr b="1" sz="1000">
                <a:solidFill>
                  <a:srgbClr val="FFFFFF"/>
                </a:solidFill>
              </a:defRPr>
            </a:pPr>
            <a:r>
              <a:t>WEB SOURCED</a:t>
            </a:r>
          </a:p>
        </p:txBody>
      </p:sp>
      <p:sp>
        <p:nvSpPr>
          <p:cNvPr id="4" name="TextBox 3"/>
          <p:cNvSpPr txBox="1"/>
          <p:nvPr/>
        </p:nvSpPr>
        <p:spPr>
          <a:xfrm>
            <a:off x="457200" y="1005840"/>
            <a:ext cx="5303520" cy="274320"/>
          </a:xfrm>
          <a:prstGeom prst="rect">
            <a:avLst/>
          </a:prstGeom>
          <a:noFill/>
        </p:spPr>
        <p:txBody>
          <a:bodyPr wrap="none">
            <a:spAutoFit/>
          </a:bodyPr>
          <a:lstStyle/>
          <a:p>
            <a:pPr>
              <a:defRPr b="1" sz="1100">
                <a:solidFill>
                  <a:srgbClr val="FF6400"/>
                </a:solidFill>
              </a:defRPr>
            </a:pPr>
            <a:r>
              <a:t>Technical Engineering View:</a:t>
            </a:r>
          </a:p>
        </p:txBody>
      </p:sp>
      <p:sp>
        <p:nvSpPr>
          <p:cNvPr id="5" name="TextBox 4"/>
          <p:cNvSpPr txBox="1"/>
          <p:nvPr/>
        </p:nvSpPr>
        <p:spPr>
          <a:xfrm>
            <a:off x="457200" y="1207008"/>
            <a:ext cx="5303520" cy="914400"/>
          </a:xfrm>
          <a:prstGeom prst="rect">
            <a:avLst/>
          </a:prstGeom>
          <a:noFill/>
        </p:spPr>
        <p:txBody>
          <a:bodyPr wrap="square">
            <a:spAutoFit/>
          </a:bodyPr>
          <a:lstStyle/>
          <a:p>
            <a:pPr>
              <a:defRPr sz="1000">
                <a:solidFill>
                  <a:srgbClr val="333333"/>
                </a:solidFill>
              </a:defRPr>
            </a:pPr>
            <a:r>
              <a:t>Technical optimization of Development of Sustainable Brake Pad Materials Utilizing Recycled and Bio-based Constituents focusing on material efficiency and process consolidation to reduce cycle time.</a:t>
            </a:r>
          </a:p>
        </p:txBody>
      </p:sp>
      <p:sp>
        <p:nvSpPr>
          <p:cNvPr id="6" name="Rectangle 5"/>
          <p:cNvSpPr/>
          <p:nvPr/>
        </p:nvSpPr>
        <p:spPr>
          <a:xfrm>
            <a:off x="457200" y="210312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2240280"/>
            <a:ext cx="5303520" cy="274320"/>
          </a:xfrm>
          <a:prstGeom prst="rect">
            <a:avLst/>
          </a:prstGeom>
          <a:noFill/>
        </p:spPr>
        <p:txBody>
          <a:bodyPr wrap="none">
            <a:spAutoFit/>
          </a:bodyPr>
          <a:lstStyle/>
          <a:p>
            <a:pPr>
              <a:defRPr b="1" sz="1100">
                <a:solidFill>
                  <a:srgbClr val="FF6400"/>
                </a:solidFill>
              </a:defRPr>
            </a:pPr>
            <a:r>
              <a:t>Material Change:</a:t>
            </a:r>
          </a:p>
        </p:txBody>
      </p:sp>
      <p:sp>
        <p:nvSpPr>
          <p:cNvPr id="8" name="TextBox 7"/>
          <p:cNvSpPr txBox="1"/>
          <p:nvPr/>
        </p:nvSpPr>
        <p:spPr>
          <a:xfrm>
            <a:off x="457200" y="2441448"/>
            <a:ext cx="5303520" cy="365760"/>
          </a:xfrm>
          <a:prstGeom prst="rect">
            <a:avLst/>
          </a:prstGeom>
          <a:noFill/>
        </p:spPr>
        <p:txBody>
          <a:bodyPr wrap="square">
            <a:spAutoFit/>
          </a:bodyPr>
          <a:lstStyle/>
          <a:p>
            <a:pPr>
              <a:defRPr sz="1000">
                <a:solidFill>
                  <a:srgbClr val="333333"/>
                </a:solidFill>
              </a:defRPr>
            </a:pPr>
            <a:r>
              <a:t>Development of Sustainable Brake Pad Materials Utilizing Recycled and Bio-based Constituents</a:t>
            </a:r>
          </a:p>
        </p:txBody>
      </p:sp>
      <p:sp>
        <p:nvSpPr>
          <p:cNvPr id="9" name="Rectangle 8"/>
          <p:cNvSpPr/>
          <p:nvPr/>
        </p:nvSpPr>
        <p:spPr>
          <a:xfrm>
            <a:off x="457200" y="278892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2926080"/>
            <a:ext cx="5303520" cy="274320"/>
          </a:xfrm>
          <a:prstGeom prst="rect">
            <a:avLst/>
          </a:prstGeom>
          <a:noFill/>
        </p:spPr>
        <p:txBody>
          <a:bodyPr wrap="none">
            <a:spAutoFit/>
          </a:bodyPr>
          <a:lstStyle/>
          <a:p>
            <a:pPr>
              <a:defRPr b="1" sz="1100">
                <a:solidFill>
                  <a:srgbClr val="FF6400"/>
                </a:solidFill>
              </a:defRPr>
            </a:pPr>
            <a:r>
              <a:t>Dimension Change:</a:t>
            </a:r>
          </a:p>
        </p:txBody>
      </p:sp>
      <p:sp>
        <p:nvSpPr>
          <p:cNvPr id="11" name="TextBox 10"/>
          <p:cNvSpPr txBox="1"/>
          <p:nvPr/>
        </p:nvSpPr>
        <p:spPr>
          <a:xfrm>
            <a:off x="457200" y="3127248"/>
            <a:ext cx="5303520" cy="365760"/>
          </a:xfrm>
          <a:prstGeom prst="rect">
            <a:avLst/>
          </a:prstGeom>
          <a:noFill/>
        </p:spPr>
        <p:txBody>
          <a:bodyPr wrap="square">
            <a:spAutoFit/>
          </a:bodyPr>
          <a:lstStyle/>
          <a:p>
            <a:pPr>
              <a:defRPr sz="1000">
                <a:solidFill>
                  <a:srgbClr val="333333"/>
                </a:solidFill>
              </a:defRPr>
            </a:pPr>
            <a:r>
              <a:t>N/A (Maintains current envelope)</a:t>
            </a:r>
          </a:p>
        </p:txBody>
      </p:sp>
      <p:sp>
        <p:nvSpPr>
          <p:cNvPr id="12" name="Rectangle 11"/>
          <p:cNvSpPr/>
          <p:nvPr/>
        </p:nvSpPr>
        <p:spPr>
          <a:xfrm>
            <a:off x="457200" y="347472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 y="3611880"/>
            <a:ext cx="5303520" cy="274320"/>
          </a:xfrm>
          <a:prstGeom prst="rect">
            <a:avLst/>
          </a:prstGeom>
          <a:noFill/>
        </p:spPr>
        <p:txBody>
          <a:bodyPr wrap="none">
            <a:spAutoFit/>
          </a:bodyPr>
          <a:lstStyle/>
          <a:p>
            <a:pPr>
              <a:defRPr b="1" sz="1100">
                <a:solidFill>
                  <a:srgbClr val="FF6400"/>
                </a:solidFill>
              </a:defRPr>
            </a:pPr>
            <a:r>
              <a:t>Cost Analysis:</a:t>
            </a:r>
          </a:p>
        </p:txBody>
      </p:sp>
      <p:sp>
        <p:nvSpPr>
          <p:cNvPr id="14" name="TextBox 13"/>
          <p:cNvSpPr txBox="1"/>
          <p:nvPr/>
        </p:nvSpPr>
        <p:spPr>
          <a:xfrm>
            <a:off x="457200" y="3813048"/>
            <a:ext cx="5303520" cy="365760"/>
          </a:xfrm>
          <a:prstGeom prst="rect">
            <a:avLst/>
          </a:prstGeom>
          <a:noFill/>
        </p:spPr>
        <p:txBody>
          <a:bodyPr wrap="square">
            <a:spAutoFit/>
          </a:bodyPr>
          <a:lstStyle/>
          <a:p>
            <a:pPr>
              <a:defRPr sz="1000">
                <a:solidFill>
                  <a:srgbClr val="333333"/>
                </a:solidFill>
              </a:defRPr>
            </a:pPr>
            <a:r>
              <a:t>Est. Saving: INR TBD</a:t>
            </a:r>
          </a:p>
        </p:txBody>
      </p:sp>
      <p:sp>
        <p:nvSpPr>
          <p:cNvPr id="15" name="Rectangle 14"/>
          <p:cNvSpPr/>
          <p:nvPr/>
        </p:nvSpPr>
        <p:spPr>
          <a:xfrm>
            <a:off x="457200" y="416052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200" y="4297680"/>
            <a:ext cx="5303520" cy="274320"/>
          </a:xfrm>
          <a:prstGeom prst="rect">
            <a:avLst/>
          </a:prstGeom>
          <a:noFill/>
        </p:spPr>
        <p:txBody>
          <a:bodyPr wrap="none">
            <a:spAutoFit/>
          </a:bodyPr>
          <a:lstStyle/>
          <a:p>
            <a:pPr>
              <a:defRPr b="1" sz="1100">
                <a:solidFill>
                  <a:srgbClr val="FF6400"/>
                </a:solidFill>
              </a:defRPr>
            </a:pPr>
            <a:r>
              <a:t>Engineering Validation &amp; Risks:</a:t>
            </a:r>
          </a:p>
        </p:txBody>
      </p:sp>
      <p:sp>
        <p:nvSpPr>
          <p:cNvPr id="17" name="TextBox 16"/>
          <p:cNvSpPr txBox="1"/>
          <p:nvPr/>
        </p:nvSpPr>
        <p:spPr>
          <a:xfrm>
            <a:off x="457200" y="4498848"/>
            <a:ext cx="5303520" cy="1463040"/>
          </a:xfrm>
          <a:prstGeom prst="rect">
            <a:avLst/>
          </a:prstGeom>
          <a:noFill/>
        </p:spPr>
        <p:txBody>
          <a:bodyPr wrap="square">
            <a:spAutoFit/>
          </a:bodyPr>
          <a:lstStyle/>
          <a:p>
            <a:pPr>
              <a:defRPr sz="1000">
                <a:solidFill>
                  <a:srgbClr val="333333"/>
                </a:solidFill>
              </a:defRPr>
            </a:pPr>
            <a:r>
              <a:t>VALIDATION ROADMAP:</a:t>
            </a:r>
            <a:br/>
            <a:r>
              <a:t>• DVP&amp;R Level 2 Testing</a:t>
            </a:r>
            <a:br/>
            <a:r>
              <a:t>• Environmental Aging (1000 hrs)</a:t>
            </a:r>
            <a:br/>
            <a:r>
              <a:t>• Head Impact Criterion (FMVSS)</a:t>
            </a:r>
            <a:br/>
            <a:r>
              <a:t>RISK MITIGATION:</a:t>
            </a:r>
            <a:br/>
            <a:r>
              <a:t>⚠ NVH performance degradation</a:t>
            </a:r>
            <a:br/>
            <a:r>
              <a:t>⚠ Thermal durability limits</a:t>
            </a:r>
            <a:br/>
            <a:r>
              <a:t>⚠ Aesthetic fit &amp; finish gap</a:t>
            </a:r>
          </a:p>
        </p:txBody>
      </p:sp>
      <p:sp>
        <p:nvSpPr>
          <p:cNvPr id="18" name="Rectangle 17"/>
          <p:cNvSpPr/>
          <p:nvPr/>
        </p:nvSpPr>
        <p:spPr>
          <a:xfrm>
            <a:off x="457200" y="594360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57200" y="6080760"/>
            <a:ext cx="5303520" cy="274320"/>
          </a:xfrm>
          <a:prstGeom prst="rect">
            <a:avLst/>
          </a:prstGeom>
          <a:noFill/>
        </p:spPr>
        <p:txBody>
          <a:bodyPr wrap="none">
            <a:spAutoFit/>
          </a:bodyPr>
          <a:lstStyle/>
          <a:p>
            <a:pPr>
              <a:defRPr b="1" sz="1100">
                <a:solidFill>
                  <a:srgbClr val="FF6400"/>
                </a:solidFill>
              </a:defRPr>
            </a:pPr>
            <a:r>
              <a:t>Supply Chain Impact:</a:t>
            </a:r>
          </a:p>
        </p:txBody>
      </p:sp>
      <p:sp>
        <p:nvSpPr>
          <p:cNvPr id="20" name="TextBox 19"/>
          <p:cNvSpPr txBox="1"/>
          <p:nvPr/>
        </p:nvSpPr>
        <p:spPr>
          <a:xfrm>
            <a:off x="457200" y="6281928"/>
            <a:ext cx="5303520" cy="1097280"/>
          </a:xfrm>
          <a:prstGeom prst="rect">
            <a:avLst/>
          </a:prstGeom>
          <a:noFill/>
        </p:spPr>
        <p:txBody>
          <a:bodyPr wrap="square">
            <a:spAutoFit/>
          </a:bodyPr>
          <a:lstStyle/>
          <a:p>
            <a:pPr>
              <a:defRPr sz="1000">
                <a:solidFill>
                  <a:srgbClr val="333333"/>
                </a:solidFill>
              </a:defRPr>
            </a:pPr>
            <a:r>
              <a:t>• Supplier Change: Consolidation to single-source Tier 1</a:t>
            </a:r>
            <a:br/>
            <a:r>
              <a:t>• Lead Time: Reduction of 2 weeks via localization</a:t>
            </a:r>
            <a:br/>
            <a:r>
              <a:t>• Risk: Dual tooling strategy for backup</a:t>
            </a:r>
            <a:br/>
            <a:r>
              <a:t>• Cost Impact: 15% reduction in logistics overhead</a:t>
            </a:r>
          </a:p>
        </p:txBody>
      </p:sp>
      <p:sp>
        <p:nvSpPr>
          <p:cNvPr id="21" name="Rectangle 20"/>
          <p:cNvSpPr/>
          <p:nvPr/>
        </p:nvSpPr>
        <p:spPr>
          <a:xfrm>
            <a:off x="457200" y="7360920"/>
            <a:ext cx="5303520" cy="9144"/>
          </a:xfrm>
          <a:prstGeom prst="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035040" y="731520"/>
            <a:ext cx="5669280" cy="274320"/>
          </a:xfrm>
          <a:prstGeom prst="rect">
            <a:avLst/>
          </a:prstGeom>
          <a:noFill/>
        </p:spPr>
        <p:txBody>
          <a:bodyPr wrap="none">
            <a:spAutoFit/>
          </a:bodyPr>
          <a:lstStyle/>
          <a:p>
            <a:pPr algn="ctr">
              <a:defRPr b="1" sz="1200">
                <a:solidFill>
                  <a:srgbClr val="003366"/>
                </a:solidFill>
              </a:defRPr>
            </a:pPr>
            <a:r>
              <a:t>Current Scenario</a:t>
            </a:r>
          </a:p>
        </p:txBody>
      </p:sp>
      <p:pic>
        <p:nvPicPr>
          <p:cNvPr id="23" name="Picture 22" descr="82.jpg"/>
          <p:cNvPicPr>
            <a:picLocks noChangeAspect="1"/>
          </p:cNvPicPr>
          <p:nvPr/>
        </p:nvPicPr>
        <p:blipFill>
          <a:blip r:embed="rId2"/>
          <a:stretch>
            <a:fillRect/>
          </a:stretch>
        </p:blipFill>
        <p:spPr>
          <a:xfrm>
            <a:off x="6035040" y="1005840"/>
            <a:ext cx="5669280" cy="2743200"/>
          </a:xfrm>
          <a:prstGeom prst="rect">
            <a:avLst/>
          </a:prstGeom>
          <a:ln w="12700">
            <a:solidFill>
              <a:srgbClr val="C8C8C8"/>
            </a:solidFill>
          </a:ln>
        </p:spPr>
      </p:pic>
      <p:sp>
        <p:nvSpPr>
          <p:cNvPr id="24" name="TextBox 23"/>
          <p:cNvSpPr txBox="1"/>
          <p:nvPr/>
        </p:nvSpPr>
        <p:spPr>
          <a:xfrm>
            <a:off x="6035040" y="3749040"/>
            <a:ext cx="5669280" cy="274320"/>
          </a:xfrm>
          <a:prstGeom prst="rect">
            <a:avLst/>
          </a:prstGeom>
          <a:noFill/>
        </p:spPr>
        <p:txBody>
          <a:bodyPr wrap="none">
            <a:spAutoFit/>
          </a:bodyPr>
          <a:lstStyle/>
          <a:p>
            <a:pPr algn="ctr">
              <a:defRPr b="1" sz="1200">
                <a:solidFill>
                  <a:srgbClr val="003366"/>
                </a:solidFill>
              </a:defRPr>
            </a:pPr>
            <a:r>
              <a:t>Implementation / Proposal</a:t>
            </a:r>
          </a:p>
        </p:txBody>
      </p:sp>
      <p:pic>
        <p:nvPicPr>
          <p:cNvPr id="25" name="Picture 24" descr="impl_overlay_Developmentof_1768298333599.jpg"/>
          <p:cNvPicPr>
            <a:picLocks noChangeAspect="1"/>
          </p:cNvPicPr>
          <p:nvPr/>
        </p:nvPicPr>
        <p:blipFill>
          <a:blip r:embed="rId3"/>
          <a:stretch>
            <a:fillRect/>
          </a:stretch>
        </p:blipFill>
        <p:spPr>
          <a:xfrm>
            <a:off x="6035040" y="4023360"/>
            <a:ext cx="5669280" cy="2743200"/>
          </a:xfrm>
          <a:prstGeom prst="rect">
            <a:avLst/>
          </a:prstGeom>
          <a:ln w="12700">
            <a:solidFill>
              <a:srgbClr val="C8C8C8"/>
            </a:solidFill>
          </a:ln>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
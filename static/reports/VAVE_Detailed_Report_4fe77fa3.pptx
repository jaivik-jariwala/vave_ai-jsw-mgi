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image" Target="../media/image6.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image" Target="../media/image8.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image" Target="../media/image10.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image" Target="../media/image1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image" Target="../media/image1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image" Target="../media/image16.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image" Target="../media/image18.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image" Target="../media/image20.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 Id="rId3" Type="http://schemas.openxmlformats.org/officeDocument/2006/relationships/image" Target="../media/image23.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 Id="rId3" Type="http://schemas.openxmlformats.org/officeDocument/2006/relationships/image" Target="../media/image25.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jpg"/><Relationship Id="rId3" Type="http://schemas.openxmlformats.org/officeDocument/2006/relationships/image" Target="../media/image27.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a:solidFill>
                  <a:srgbClr val="003366"/>
                </a:solidFill>
              </a:defRPr>
            </a:pPr>
            <a:r>
              <a:t>VAVE Cost Reduction Strategy</a:t>
            </a:r>
          </a:p>
        </p:txBody>
      </p:sp>
      <p:sp>
        <p:nvSpPr>
          <p:cNvPr id="3" name="Subtitle 2"/>
          <p:cNvSpPr>
            <a:spLocks noGrp="1"/>
          </p:cNvSpPr>
          <p:nvPr>
            <p:ph type="subTitle" idx="1"/>
          </p:nvPr>
        </p:nvSpPr>
        <p:spPr/>
        <p:txBody>
          <a:bodyPr/>
          <a:lstStyle/>
          <a:p>
            <a:r>
              <a:t>Engineering Feasibility Report | 01-Jan-2026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972800" cy="731520"/>
          </a:xfrm>
          <a:prstGeom prst="rect">
            <a:avLst/>
          </a:prstGeom>
          <a:noFill/>
        </p:spPr>
        <p:txBody>
          <a:bodyPr wrap="none">
            <a:spAutoFit/>
          </a:bodyPr>
          <a:lstStyle/>
          <a:p/>
          <a:p>
            <a:pPr>
              <a:defRPr sz="2400" b="1">
                <a:solidFill>
                  <a:srgbClr val="003366"/>
                </a:solidFill>
              </a:defRPr>
            </a:pPr>
            <a:r>
              <a:t>#1: Reduce the projection of the 'HECTOR' badging on the tailgate at the rear end of the car from 4mm to 2.5mm</a:t>
            </a:r>
          </a:p>
        </p:txBody>
      </p:sp>
      <p:sp>
        <p:nvSpPr>
          <p:cNvPr id="3" name="TextBox 2"/>
          <p:cNvSpPr txBox="1"/>
          <p:nvPr/>
        </p:nvSpPr>
        <p:spPr>
          <a:xfrm>
            <a:off x="457200" y="1097280"/>
            <a:ext cx="5303520" cy="274320"/>
          </a:xfrm>
          <a:prstGeom prst="rect">
            <a:avLst/>
          </a:prstGeom>
          <a:noFill/>
        </p:spPr>
        <p:txBody>
          <a:bodyPr wrap="none">
            <a:spAutoFit/>
          </a:bodyPr>
          <a:lstStyle/>
          <a:p>
            <a:pPr>
              <a:defRPr b="1" sz="1100">
                <a:solidFill>
                  <a:srgbClr val="FF6400"/>
                </a:solidFill>
              </a:defRPr>
            </a:pPr>
            <a:r>
              <a:t>Technical Engineering View:</a:t>
            </a:r>
          </a:p>
        </p:txBody>
      </p:sp>
      <p:sp>
        <p:nvSpPr>
          <p:cNvPr id="4" name="TextBox 3"/>
          <p:cNvSpPr txBox="1"/>
          <p:nvPr/>
        </p:nvSpPr>
        <p:spPr>
          <a:xfrm>
            <a:off x="457200" y="1325880"/>
            <a:ext cx="5303520" cy="731520"/>
          </a:xfrm>
          <a:prstGeom prst="rect">
            <a:avLst/>
          </a:prstGeom>
          <a:noFill/>
        </p:spPr>
        <p:txBody>
          <a:bodyPr wrap="square">
            <a:spAutoFit/>
          </a:bodyPr>
          <a:lstStyle/>
          <a:p>
            <a:pPr>
              <a:defRPr sz="1100">
                <a:solidFill>
                  <a:srgbClr val="333333"/>
                </a:solidFill>
              </a:defRPr>
            </a:pPr>
            <a:r>
              <a:t>Optimization of Reduce the projection of the 'HECTOR' badging on the tailgate at the rear end of the car from 4mm to 2.5mm via material substitution and process efficiency.</a:t>
            </a:r>
          </a:p>
        </p:txBody>
      </p:sp>
      <p:sp>
        <p:nvSpPr>
          <p:cNvPr id="5" name="Rectangle 4"/>
          <p:cNvSpPr/>
          <p:nvPr/>
        </p:nvSpPr>
        <p:spPr>
          <a:xfrm>
            <a:off x="457200" y="196596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103120"/>
            <a:ext cx="5303520" cy="274320"/>
          </a:xfrm>
          <a:prstGeom prst="rect">
            <a:avLst/>
          </a:prstGeom>
          <a:noFill/>
        </p:spPr>
        <p:txBody>
          <a:bodyPr wrap="none">
            <a:spAutoFit/>
          </a:bodyPr>
          <a:lstStyle/>
          <a:p>
            <a:pPr>
              <a:defRPr b="1" sz="1100">
                <a:solidFill>
                  <a:srgbClr val="FF6400"/>
                </a:solidFill>
              </a:defRPr>
            </a:pPr>
            <a:r>
              <a:t>Material Change:</a:t>
            </a:r>
          </a:p>
        </p:txBody>
      </p:sp>
      <p:sp>
        <p:nvSpPr>
          <p:cNvPr id="7" name="TextBox 6"/>
          <p:cNvSpPr txBox="1"/>
          <p:nvPr/>
        </p:nvSpPr>
        <p:spPr>
          <a:xfrm>
            <a:off x="457200" y="2331720"/>
            <a:ext cx="5303520" cy="457200"/>
          </a:xfrm>
          <a:prstGeom prst="rect">
            <a:avLst/>
          </a:prstGeom>
          <a:noFill/>
        </p:spPr>
        <p:txBody>
          <a:bodyPr wrap="square">
            <a:spAutoFit/>
          </a:bodyPr>
          <a:lstStyle/>
          <a:p>
            <a:pPr>
              <a:defRPr sz="1100">
                <a:solidFill>
                  <a:srgbClr val="333333"/>
                </a:solidFill>
              </a:defRPr>
            </a:pPr>
            <a:r>
              <a:t>N/A (No material change explicitly mentioned)</a:t>
            </a:r>
          </a:p>
        </p:txBody>
      </p:sp>
      <p:sp>
        <p:nvSpPr>
          <p:cNvPr id="8" name="Rectangle 7"/>
          <p:cNvSpPr/>
          <p:nvPr/>
        </p:nvSpPr>
        <p:spPr>
          <a:xfrm>
            <a:off x="457200" y="269748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2834640"/>
            <a:ext cx="5303520" cy="274320"/>
          </a:xfrm>
          <a:prstGeom prst="rect">
            <a:avLst/>
          </a:prstGeom>
          <a:noFill/>
        </p:spPr>
        <p:txBody>
          <a:bodyPr wrap="none">
            <a:spAutoFit/>
          </a:bodyPr>
          <a:lstStyle/>
          <a:p>
            <a:pPr>
              <a:defRPr b="1" sz="1100">
                <a:solidFill>
                  <a:srgbClr val="FF6400"/>
                </a:solidFill>
              </a:defRPr>
            </a:pPr>
            <a:r>
              <a:t>Dimension Change:</a:t>
            </a:r>
          </a:p>
        </p:txBody>
      </p:sp>
      <p:sp>
        <p:nvSpPr>
          <p:cNvPr id="10" name="TextBox 9"/>
          <p:cNvSpPr txBox="1"/>
          <p:nvPr/>
        </p:nvSpPr>
        <p:spPr>
          <a:xfrm>
            <a:off x="457200" y="3063240"/>
            <a:ext cx="5303520" cy="457200"/>
          </a:xfrm>
          <a:prstGeom prst="rect">
            <a:avLst/>
          </a:prstGeom>
          <a:noFill/>
        </p:spPr>
        <p:txBody>
          <a:bodyPr wrap="square">
            <a:spAutoFit/>
          </a:bodyPr>
          <a:lstStyle/>
          <a:p>
            <a:pPr>
              <a:defRPr sz="1100">
                <a:solidFill>
                  <a:srgbClr val="333333"/>
                </a:solidFill>
              </a:defRPr>
            </a:pPr>
            <a:r>
              <a:t>4mm to 2.5mm</a:t>
            </a:r>
          </a:p>
        </p:txBody>
      </p:sp>
      <p:sp>
        <p:nvSpPr>
          <p:cNvPr id="11" name="Rectangle 10"/>
          <p:cNvSpPr/>
          <p:nvPr/>
        </p:nvSpPr>
        <p:spPr>
          <a:xfrm>
            <a:off x="457200" y="342900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3566160"/>
            <a:ext cx="5303520" cy="274320"/>
          </a:xfrm>
          <a:prstGeom prst="rect">
            <a:avLst/>
          </a:prstGeom>
          <a:noFill/>
        </p:spPr>
        <p:txBody>
          <a:bodyPr wrap="none">
            <a:spAutoFit/>
          </a:bodyPr>
          <a:lstStyle/>
          <a:p>
            <a:pPr>
              <a:defRPr b="1" sz="1100">
                <a:solidFill>
                  <a:srgbClr val="FF6400"/>
                </a:solidFill>
              </a:defRPr>
            </a:pPr>
            <a:r>
              <a:t>Cost Analysis:</a:t>
            </a:r>
          </a:p>
        </p:txBody>
      </p:sp>
      <p:sp>
        <p:nvSpPr>
          <p:cNvPr id="13" name="TextBox 12"/>
          <p:cNvSpPr txBox="1"/>
          <p:nvPr/>
        </p:nvSpPr>
        <p:spPr>
          <a:xfrm>
            <a:off x="457200" y="3794760"/>
            <a:ext cx="5303520" cy="457200"/>
          </a:xfrm>
          <a:prstGeom prst="rect">
            <a:avLst/>
          </a:prstGeom>
          <a:noFill/>
        </p:spPr>
        <p:txBody>
          <a:bodyPr wrap="square">
            <a:spAutoFit/>
          </a:bodyPr>
          <a:lstStyle/>
          <a:p>
            <a:pPr>
              <a:defRPr sz="1100">
                <a:solidFill>
                  <a:srgbClr val="333333"/>
                </a:solidFill>
              </a:defRPr>
            </a:pPr>
            <a:r>
              <a:t>Est. Saving: INR 135</a:t>
            </a:r>
          </a:p>
        </p:txBody>
      </p:sp>
      <p:sp>
        <p:nvSpPr>
          <p:cNvPr id="14" name="Rectangle 13"/>
          <p:cNvSpPr/>
          <p:nvPr/>
        </p:nvSpPr>
        <p:spPr>
          <a:xfrm>
            <a:off x="457200" y="41605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4297680"/>
            <a:ext cx="5303520" cy="274320"/>
          </a:xfrm>
          <a:prstGeom prst="rect">
            <a:avLst/>
          </a:prstGeom>
          <a:noFill/>
        </p:spPr>
        <p:txBody>
          <a:bodyPr wrap="none">
            <a:spAutoFit/>
          </a:bodyPr>
          <a:lstStyle/>
          <a:p>
            <a:pPr>
              <a:defRPr b="1" sz="1100">
                <a:solidFill>
                  <a:srgbClr val="FF6400"/>
                </a:solidFill>
              </a:defRPr>
            </a:pPr>
            <a:r>
              <a:t>Engineering Validation:</a:t>
            </a:r>
          </a:p>
        </p:txBody>
      </p:sp>
      <p:sp>
        <p:nvSpPr>
          <p:cNvPr id="16" name="TextBox 15"/>
          <p:cNvSpPr txBox="1"/>
          <p:nvPr/>
        </p:nvSpPr>
        <p:spPr>
          <a:xfrm>
            <a:off x="457200" y="4526280"/>
            <a:ext cx="5303520" cy="548640"/>
          </a:xfrm>
          <a:prstGeom prst="rect">
            <a:avLst/>
          </a:prstGeom>
          <a:noFill/>
        </p:spPr>
        <p:txBody>
          <a:bodyPr wrap="square">
            <a:spAutoFit/>
          </a:bodyPr>
          <a:lstStyle/>
          <a:p>
            <a:pPr>
              <a:defRPr sz="1100">
                <a:solidFill>
                  <a:srgbClr val="333333"/>
                </a:solidFill>
              </a:defRPr>
            </a:pPr>
            <a:r>
              <a:t>DVP&amp;R Level 1</a:t>
            </a:r>
            <a:br/>
            <a:r>
              <a:t>• Environmental Cycling</a:t>
            </a:r>
          </a:p>
        </p:txBody>
      </p:sp>
      <p:sp>
        <p:nvSpPr>
          <p:cNvPr id="17" name="Rectangle 16"/>
          <p:cNvSpPr/>
          <p:nvPr/>
        </p:nvSpPr>
        <p:spPr>
          <a:xfrm>
            <a:off x="457200" y="498348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5120640"/>
            <a:ext cx="5303520" cy="274320"/>
          </a:xfrm>
          <a:prstGeom prst="rect">
            <a:avLst/>
          </a:prstGeom>
          <a:noFill/>
        </p:spPr>
        <p:txBody>
          <a:bodyPr wrap="none">
            <a:spAutoFit/>
          </a:bodyPr>
          <a:lstStyle/>
          <a:p>
            <a:pPr>
              <a:defRPr b="1" sz="1100">
                <a:solidFill>
                  <a:srgbClr val="FF6400"/>
                </a:solidFill>
              </a:defRPr>
            </a:pPr>
            <a:r>
              <a:t>Supply Chain Impact:</a:t>
            </a:r>
          </a:p>
        </p:txBody>
      </p:sp>
      <p:sp>
        <p:nvSpPr>
          <p:cNvPr id="19" name="TextBox 18"/>
          <p:cNvSpPr txBox="1"/>
          <p:nvPr/>
        </p:nvSpPr>
        <p:spPr>
          <a:xfrm>
            <a:off x="457200" y="5349240"/>
            <a:ext cx="5303520" cy="548640"/>
          </a:xfrm>
          <a:prstGeom prst="rect">
            <a:avLst/>
          </a:prstGeom>
          <a:noFill/>
        </p:spPr>
        <p:txBody>
          <a:bodyPr wrap="square">
            <a:spAutoFit/>
          </a:bodyPr>
          <a:lstStyle/>
          <a:p>
            <a:pPr>
              <a:defRPr sz="1100">
                <a:solidFill>
                  <a:srgbClr val="333333"/>
                </a:solidFill>
              </a:defRPr>
            </a:pPr>
            <a:r>
              <a:t>Assess supplier capability and lead time impact.</a:t>
            </a:r>
          </a:p>
        </p:txBody>
      </p:sp>
      <p:sp>
        <p:nvSpPr>
          <p:cNvPr id="20" name="Rectangle 19"/>
          <p:cNvSpPr/>
          <p:nvPr/>
        </p:nvSpPr>
        <p:spPr>
          <a:xfrm>
            <a:off x="457200" y="580644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35040" y="822960"/>
            <a:ext cx="5669280" cy="274320"/>
          </a:xfrm>
          <a:prstGeom prst="rect">
            <a:avLst/>
          </a:prstGeom>
          <a:noFill/>
        </p:spPr>
        <p:txBody>
          <a:bodyPr wrap="none">
            <a:spAutoFit/>
          </a:bodyPr>
          <a:lstStyle/>
          <a:p>
            <a:pPr algn="ctr">
              <a:defRPr b="1" sz="1200">
                <a:solidFill>
                  <a:srgbClr val="003366"/>
                </a:solidFill>
              </a:defRPr>
            </a:pPr>
            <a:r>
              <a:t>Current Scenario</a:t>
            </a:r>
          </a:p>
        </p:txBody>
      </p:sp>
      <p:pic>
        <p:nvPicPr>
          <p:cNvPr id="22" name="Picture 21" descr="6.jpg"/>
          <p:cNvPicPr>
            <a:picLocks noChangeAspect="1"/>
          </p:cNvPicPr>
          <p:nvPr/>
        </p:nvPicPr>
        <p:blipFill>
          <a:blip r:embed="rId2"/>
          <a:stretch>
            <a:fillRect/>
          </a:stretch>
        </p:blipFill>
        <p:spPr>
          <a:xfrm>
            <a:off x="6035040" y="1097280"/>
            <a:ext cx="5669280" cy="2743200"/>
          </a:xfrm>
          <a:prstGeom prst="rect">
            <a:avLst/>
          </a:prstGeom>
          <a:ln w="12700">
            <a:solidFill>
              <a:srgbClr val="C8C8C8"/>
            </a:solidFill>
          </a:ln>
        </p:spPr>
      </p:pic>
      <p:sp>
        <p:nvSpPr>
          <p:cNvPr id="23" name="TextBox 22"/>
          <p:cNvSpPr txBox="1"/>
          <p:nvPr/>
        </p:nvSpPr>
        <p:spPr>
          <a:xfrm>
            <a:off x="6035040" y="3840480"/>
            <a:ext cx="5669280" cy="274320"/>
          </a:xfrm>
          <a:prstGeom prst="rect">
            <a:avLst/>
          </a:prstGeom>
          <a:noFill/>
        </p:spPr>
        <p:txBody>
          <a:bodyPr wrap="none">
            <a:spAutoFit/>
          </a:bodyPr>
          <a:lstStyle/>
          <a:p>
            <a:pPr algn="ctr">
              <a:defRPr b="1" sz="1200">
                <a:solidFill>
                  <a:srgbClr val="003366"/>
                </a:solidFill>
              </a:defRPr>
            </a:pPr>
            <a:r>
              <a:t>Implementation / Proposal</a:t>
            </a:r>
          </a:p>
        </p:txBody>
      </p:sp>
      <p:pic>
        <p:nvPicPr>
          <p:cNvPr id="24" name="Picture 23" descr="impl_overlay_Reducetheproj_1767287656076.jpg"/>
          <p:cNvPicPr>
            <a:picLocks noChangeAspect="1"/>
          </p:cNvPicPr>
          <p:nvPr/>
        </p:nvPicPr>
        <p:blipFill>
          <a:blip r:embed="rId3"/>
          <a:stretch>
            <a:fillRect/>
          </a:stretch>
        </p:blipFill>
        <p:spPr>
          <a:xfrm>
            <a:off x="6035040" y="4114800"/>
            <a:ext cx="5669280" cy="2743200"/>
          </a:xfrm>
          <a:prstGeom prst="rect">
            <a:avLst/>
          </a:prstGeom>
          <a:ln w="12700">
            <a:solidFill>
              <a:srgbClr val="C8C8C8"/>
            </a:solidFill>
          </a:ln>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972800" cy="731520"/>
          </a:xfrm>
          <a:prstGeom prst="rect">
            <a:avLst/>
          </a:prstGeom>
          <a:noFill/>
        </p:spPr>
        <p:txBody>
          <a:bodyPr wrap="none">
            <a:spAutoFit/>
          </a:bodyPr>
          <a:lstStyle/>
          <a:p/>
          <a:p>
            <a:pPr>
              <a:defRPr sz="2400" b="1">
                <a:solidFill>
                  <a:srgbClr val="003366"/>
                </a:solidFill>
              </a:defRPr>
            </a:pPr>
            <a:r>
              <a:t>#2: Reduce the 2.5mm wall thickness of the LH &amp; RH B-pillar Interior Lower Trims in MGI to 2.3mm as in KIA</a:t>
            </a:r>
          </a:p>
        </p:txBody>
      </p:sp>
      <p:sp>
        <p:nvSpPr>
          <p:cNvPr id="3" name="TextBox 2"/>
          <p:cNvSpPr txBox="1"/>
          <p:nvPr/>
        </p:nvSpPr>
        <p:spPr>
          <a:xfrm>
            <a:off x="457200" y="1097280"/>
            <a:ext cx="5303520" cy="274320"/>
          </a:xfrm>
          <a:prstGeom prst="rect">
            <a:avLst/>
          </a:prstGeom>
          <a:noFill/>
        </p:spPr>
        <p:txBody>
          <a:bodyPr wrap="none">
            <a:spAutoFit/>
          </a:bodyPr>
          <a:lstStyle/>
          <a:p>
            <a:pPr>
              <a:defRPr b="1" sz="1100">
                <a:solidFill>
                  <a:srgbClr val="FF6400"/>
                </a:solidFill>
              </a:defRPr>
            </a:pPr>
            <a:r>
              <a:t>Technical Engineering View:</a:t>
            </a:r>
          </a:p>
        </p:txBody>
      </p:sp>
      <p:sp>
        <p:nvSpPr>
          <p:cNvPr id="4" name="TextBox 3"/>
          <p:cNvSpPr txBox="1"/>
          <p:nvPr/>
        </p:nvSpPr>
        <p:spPr>
          <a:xfrm>
            <a:off x="457200" y="1325880"/>
            <a:ext cx="5303520" cy="731520"/>
          </a:xfrm>
          <a:prstGeom prst="rect">
            <a:avLst/>
          </a:prstGeom>
          <a:noFill/>
        </p:spPr>
        <p:txBody>
          <a:bodyPr wrap="square">
            <a:spAutoFit/>
          </a:bodyPr>
          <a:lstStyle/>
          <a:p>
            <a:pPr>
              <a:defRPr sz="1100">
                <a:solidFill>
                  <a:srgbClr val="333333"/>
                </a:solidFill>
              </a:defRPr>
            </a:pPr>
            <a:r>
              <a:t>Optimization of Reduce the 2.5mm wall thickness of the LH &amp; RH B-pillar Interior Lower Trims in MGI to 2.3mm as in KIA via material substitution and process efficiency.</a:t>
            </a:r>
          </a:p>
        </p:txBody>
      </p:sp>
      <p:sp>
        <p:nvSpPr>
          <p:cNvPr id="5" name="Rectangle 4"/>
          <p:cNvSpPr/>
          <p:nvPr/>
        </p:nvSpPr>
        <p:spPr>
          <a:xfrm>
            <a:off x="457200" y="196596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103120"/>
            <a:ext cx="5303520" cy="274320"/>
          </a:xfrm>
          <a:prstGeom prst="rect">
            <a:avLst/>
          </a:prstGeom>
          <a:noFill/>
        </p:spPr>
        <p:txBody>
          <a:bodyPr wrap="none">
            <a:spAutoFit/>
          </a:bodyPr>
          <a:lstStyle/>
          <a:p>
            <a:pPr>
              <a:defRPr b="1" sz="1100">
                <a:solidFill>
                  <a:srgbClr val="FF6400"/>
                </a:solidFill>
              </a:defRPr>
            </a:pPr>
            <a:r>
              <a:t>Material Change:</a:t>
            </a:r>
          </a:p>
        </p:txBody>
      </p:sp>
      <p:sp>
        <p:nvSpPr>
          <p:cNvPr id="7" name="TextBox 6"/>
          <p:cNvSpPr txBox="1"/>
          <p:nvPr/>
        </p:nvSpPr>
        <p:spPr>
          <a:xfrm>
            <a:off x="457200" y="2331720"/>
            <a:ext cx="5303520" cy="457200"/>
          </a:xfrm>
          <a:prstGeom prst="rect">
            <a:avLst/>
          </a:prstGeom>
          <a:noFill/>
        </p:spPr>
        <p:txBody>
          <a:bodyPr wrap="square">
            <a:spAutoFit/>
          </a:bodyPr>
          <a:lstStyle/>
          <a:p>
            <a:pPr>
              <a:defRPr sz="1100">
                <a:solidFill>
                  <a:srgbClr val="333333"/>
                </a:solidFill>
              </a:defRPr>
            </a:pPr>
            <a:r>
              <a:t>N/A (No material change explicitly mentioned)</a:t>
            </a:r>
          </a:p>
        </p:txBody>
      </p:sp>
      <p:sp>
        <p:nvSpPr>
          <p:cNvPr id="8" name="Rectangle 7"/>
          <p:cNvSpPr/>
          <p:nvPr/>
        </p:nvSpPr>
        <p:spPr>
          <a:xfrm>
            <a:off x="457200" y="269748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2834640"/>
            <a:ext cx="5303520" cy="274320"/>
          </a:xfrm>
          <a:prstGeom prst="rect">
            <a:avLst/>
          </a:prstGeom>
          <a:noFill/>
        </p:spPr>
        <p:txBody>
          <a:bodyPr wrap="none">
            <a:spAutoFit/>
          </a:bodyPr>
          <a:lstStyle/>
          <a:p>
            <a:pPr>
              <a:defRPr b="1" sz="1100">
                <a:solidFill>
                  <a:srgbClr val="FF6400"/>
                </a:solidFill>
              </a:defRPr>
            </a:pPr>
            <a:r>
              <a:t>Dimension Change:</a:t>
            </a:r>
          </a:p>
        </p:txBody>
      </p:sp>
      <p:sp>
        <p:nvSpPr>
          <p:cNvPr id="10" name="TextBox 9"/>
          <p:cNvSpPr txBox="1"/>
          <p:nvPr/>
        </p:nvSpPr>
        <p:spPr>
          <a:xfrm>
            <a:off x="457200" y="3063240"/>
            <a:ext cx="5303520" cy="457200"/>
          </a:xfrm>
          <a:prstGeom prst="rect">
            <a:avLst/>
          </a:prstGeom>
          <a:noFill/>
        </p:spPr>
        <p:txBody>
          <a:bodyPr wrap="square">
            <a:spAutoFit/>
          </a:bodyPr>
          <a:lstStyle/>
          <a:p>
            <a:pPr>
              <a:defRPr sz="1100">
                <a:solidFill>
                  <a:srgbClr val="333333"/>
                </a:solidFill>
              </a:defRPr>
            </a:pPr>
            <a:r>
              <a:t>N/A (Maintains current envelope)</a:t>
            </a:r>
          </a:p>
        </p:txBody>
      </p:sp>
      <p:sp>
        <p:nvSpPr>
          <p:cNvPr id="11" name="Rectangle 10"/>
          <p:cNvSpPr/>
          <p:nvPr/>
        </p:nvSpPr>
        <p:spPr>
          <a:xfrm>
            <a:off x="457200" y="342900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3566160"/>
            <a:ext cx="5303520" cy="274320"/>
          </a:xfrm>
          <a:prstGeom prst="rect">
            <a:avLst/>
          </a:prstGeom>
          <a:noFill/>
        </p:spPr>
        <p:txBody>
          <a:bodyPr wrap="none">
            <a:spAutoFit/>
          </a:bodyPr>
          <a:lstStyle/>
          <a:p>
            <a:pPr>
              <a:defRPr b="1" sz="1100">
                <a:solidFill>
                  <a:srgbClr val="FF6400"/>
                </a:solidFill>
              </a:defRPr>
            </a:pPr>
            <a:r>
              <a:t>Cost Analysis:</a:t>
            </a:r>
          </a:p>
        </p:txBody>
      </p:sp>
      <p:sp>
        <p:nvSpPr>
          <p:cNvPr id="13" name="TextBox 12"/>
          <p:cNvSpPr txBox="1"/>
          <p:nvPr/>
        </p:nvSpPr>
        <p:spPr>
          <a:xfrm>
            <a:off x="457200" y="3794760"/>
            <a:ext cx="5303520" cy="457200"/>
          </a:xfrm>
          <a:prstGeom prst="rect">
            <a:avLst/>
          </a:prstGeom>
          <a:noFill/>
        </p:spPr>
        <p:txBody>
          <a:bodyPr wrap="square">
            <a:spAutoFit/>
          </a:bodyPr>
          <a:lstStyle/>
          <a:p>
            <a:pPr>
              <a:defRPr sz="1100">
                <a:solidFill>
                  <a:srgbClr val="333333"/>
                </a:solidFill>
              </a:defRPr>
            </a:pPr>
            <a:r>
              <a:t>Est. Saving: INR 66</a:t>
            </a:r>
          </a:p>
        </p:txBody>
      </p:sp>
      <p:sp>
        <p:nvSpPr>
          <p:cNvPr id="14" name="Rectangle 13"/>
          <p:cNvSpPr/>
          <p:nvPr/>
        </p:nvSpPr>
        <p:spPr>
          <a:xfrm>
            <a:off x="457200" y="41605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4297680"/>
            <a:ext cx="5303520" cy="274320"/>
          </a:xfrm>
          <a:prstGeom prst="rect">
            <a:avLst/>
          </a:prstGeom>
          <a:noFill/>
        </p:spPr>
        <p:txBody>
          <a:bodyPr wrap="none">
            <a:spAutoFit/>
          </a:bodyPr>
          <a:lstStyle/>
          <a:p>
            <a:pPr>
              <a:defRPr b="1" sz="1100">
                <a:solidFill>
                  <a:srgbClr val="FF6400"/>
                </a:solidFill>
              </a:defRPr>
            </a:pPr>
            <a:r>
              <a:t>Engineering Validation:</a:t>
            </a:r>
          </a:p>
        </p:txBody>
      </p:sp>
      <p:sp>
        <p:nvSpPr>
          <p:cNvPr id="16" name="TextBox 15"/>
          <p:cNvSpPr txBox="1"/>
          <p:nvPr/>
        </p:nvSpPr>
        <p:spPr>
          <a:xfrm>
            <a:off x="457200" y="4526280"/>
            <a:ext cx="5303520" cy="548640"/>
          </a:xfrm>
          <a:prstGeom prst="rect">
            <a:avLst/>
          </a:prstGeom>
          <a:noFill/>
        </p:spPr>
        <p:txBody>
          <a:bodyPr wrap="square">
            <a:spAutoFit/>
          </a:bodyPr>
          <a:lstStyle/>
          <a:p>
            <a:pPr>
              <a:defRPr sz="1100">
                <a:solidFill>
                  <a:srgbClr val="333333"/>
                </a:solidFill>
              </a:defRPr>
            </a:pPr>
            <a:r>
              <a:t>DVP&amp;R Level 1</a:t>
            </a:r>
            <a:br/>
            <a:r>
              <a:t>• Environmental Cycling</a:t>
            </a:r>
          </a:p>
        </p:txBody>
      </p:sp>
      <p:sp>
        <p:nvSpPr>
          <p:cNvPr id="17" name="Rectangle 16"/>
          <p:cNvSpPr/>
          <p:nvPr/>
        </p:nvSpPr>
        <p:spPr>
          <a:xfrm>
            <a:off x="457200" y="498348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5120640"/>
            <a:ext cx="5303520" cy="274320"/>
          </a:xfrm>
          <a:prstGeom prst="rect">
            <a:avLst/>
          </a:prstGeom>
          <a:noFill/>
        </p:spPr>
        <p:txBody>
          <a:bodyPr wrap="none">
            <a:spAutoFit/>
          </a:bodyPr>
          <a:lstStyle/>
          <a:p>
            <a:pPr>
              <a:defRPr b="1" sz="1100">
                <a:solidFill>
                  <a:srgbClr val="FF6400"/>
                </a:solidFill>
              </a:defRPr>
            </a:pPr>
            <a:r>
              <a:t>Supply Chain Impact:</a:t>
            </a:r>
          </a:p>
        </p:txBody>
      </p:sp>
      <p:sp>
        <p:nvSpPr>
          <p:cNvPr id="19" name="TextBox 18"/>
          <p:cNvSpPr txBox="1"/>
          <p:nvPr/>
        </p:nvSpPr>
        <p:spPr>
          <a:xfrm>
            <a:off x="457200" y="5349240"/>
            <a:ext cx="5303520" cy="548640"/>
          </a:xfrm>
          <a:prstGeom prst="rect">
            <a:avLst/>
          </a:prstGeom>
          <a:noFill/>
        </p:spPr>
        <p:txBody>
          <a:bodyPr wrap="square">
            <a:spAutoFit/>
          </a:bodyPr>
          <a:lstStyle/>
          <a:p>
            <a:pPr>
              <a:defRPr sz="1100">
                <a:solidFill>
                  <a:srgbClr val="333333"/>
                </a:solidFill>
              </a:defRPr>
            </a:pPr>
            <a:r>
              <a:t>Assess supplier capability and lead time impact.</a:t>
            </a:r>
          </a:p>
        </p:txBody>
      </p:sp>
      <p:sp>
        <p:nvSpPr>
          <p:cNvPr id="20" name="Rectangle 19"/>
          <p:cNvSpPr/>
          <p:nvPr/>
        </p:nvSpPr>
        <p:spPr>
          <a:xfrm>
            <a:off x="457200" y="580644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35040" y="822960"/>
            <a:ext cx="5669280" cy="274320"/>
          </a:xfrm>
          <a:prstGeom prst="rect">
            <a:avLst/>
          </a:prstGeom>
          <a:noFill/>
        </p:spPr>
        <p:txBody>
          <a:bodyPr wrap="none">
            <a:spAutoFit/>
          </a:bodyPr>
          <a:lstStyle/>
          <a:p>
            <a:pPr algn="ctr">
              <a:defRPr b="1" sz="1200">
                <a:solidFill>
                  <a:srgbClr val="003366"/>
                </a:solidFill>
              </a:defRPr>
            </a:pPr>
            <a:r>
              <a:t>Current Scenario</a:t>
            </a:r>
          </a:p>
        </p:txBody>
      </p:sp>
      <p:pic>
        <p:nvPicPr>
          <p:cNvPr id="22" name="Picture 21" descr="178.jpg"/>
          <p:cNvPicPr>
            <a:picLocks noChangeAspect="1"/>
          </p:cNvPicPr>
          <p:nvPr/>
        </p:nvPicPr>
        <p:blipFill>
          <a:blip r:embed="rId2"/>
          <a:stretch>
            <a:fillRect/>
          </a:stretch>
        </p:blipFill>
        <p:spPr>
          <a:xfrm>
            <a:off x="6035040" y="1097280"/>
            <a:ext cx="5669280" cy="2743200"/>
          </a:xfrm>
          <a:prstGeom prst="rect">
            <a:avLst/>
          </a:prstGeom>
          <a:ln w="12700">
            <a:solidFill>
              <a:srgbClr val="C8C8C8"/>
            </a:solidFill>
          </a:ln>
        </p:spPr>
      </p:pic>
      <p:sp>
        <p:nvSpPr>
          <p:cNvPr id="23" name="TextBox 22"/>
          <p:cNvSpPr txBox="1"/>
          <p:nvPr/>
        </p:nvSpPr>
        <p:spPr>
          <a:xfrm>
            <a:off x="6035040" y="3840480"/>
            <a:ext cx="5669280" cy="274320"/>
          </a:xfrm>
          <a:prstGeom prst="rect">
            <a:avLst/>
          </a:prstGeom>
          <a:noFill/>
        </p:spPr>
        <p:txBody>
          <a:bodyPr wrap="none">
            <a:spAutoFit/>
          </a:bodyPr>
          <a:lstStyle/>
          <a:p>
            <a:pPr algn="ctr">
              <a:defRPr b="1" sz="1200">
                <a:solidFill>
                  <a:srgbClr val="003366"/>
                </a:solidFill>
              </a:defRPr>
            </a:pPr>
            <a:r>
              <a:t>Implementation / Proposal</a:t>
            </a:r>
          </a:p>
        </p:txBody>
      </p:sp>
      <p:pic>
        <p:nvPicPr>
          <p:cNvPr id="24" name="Picture 23" descr="impl_overlay_Reducethe25m_1767287656383.jpg"/>
          <p:cNvPicPr>
            <a:picLocks noChangeAspect="1"/>
          </p:cNvPicPr>
          <p:nvPr/>
        </p:nvPicPr>
        <p:blipFill>
          <a:blip r:embed="rId3"/>
          <a:stretch>
            <a:fillRect/>
          </a:stretch>
        </p:blipFill>
        <p:spPr>
          <a:xfrm>
            <a:off x="6035040" y="4114800"/>
            <a:ext cx="5669280" cy="2743200"/>
          </a:xfrm>
          <a:prstGeom prst="rect">
            <a:avLst/>
          </a:prstGeom>
          <a:ln w="12700">
            <a:solidFill>
              <a:srgbClr val="C8C8C8"/>
            </a:solidFill>
          </a:ln>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972800" cy="731520"/>
          </a:xfrm>
          <a:prstGeom prst="rect">
            <a:avLst/>
          </a:prstGeom>
          <a:noFill/>
        </p:spPr>
        <p:txBody>
          <a:bodyPr wrap="none">
            <a:spAutoFit/>
          </a:bodyPr>
          <a:lstStyle/>
          <a:p/>
          <a:p>
            <a:pPr>
              <a:defRPr sz="2400" b="1">
                <a:solidFill>
                  <a:srgbClr val="003366"/>
                </a:solidFill>
              </a:defRPr>
            </a:pPr>
            <a:r>
              <a:t>#3: Replace ABS+PVC+PU with PP+PE-TD14 in the manufacture of both Front and Rear Passenger Armrest Trims of MGI</a:t>
            </a:r>
          </a:p>
        </p:txBody>
      </p:sp>
      <p:sp>
        <p:nvSpPr>
          <p:cNvPr id="3" name="TextBox 2"/>
          <p:cNvSpPr txBox="1"/>
          <p:nvPr/>
        </p:nvSpPr>
        <p:spPr>
          <a:xfrm>
            <a:off x="457200" y="1097280"/>
            <a:ext cx="5303520" cy="274320"/>
          </a:xfrm>
          <a:prstGeom prst="rect">
            <a:avLst/>
          </a:prstGeom>
          <a:noFill/>
        </p:spPr>
        <p:txBody>
          <a:bodyPr wrap="none">
            <a:spAutoFit/>
          </a:bodyPr>
          <a:lstStyle/>
          <a:p>
            <a:pPr>
              <a:defRPr b="1" sz="1100">
                <a:solidFill>
                  <a:srgbClr val="FF6400"/>
                </a:solidFill>
              </a:defRPr>
            </a:pPr>
            <a:r>
              <a:t>Technical Engineering View:</a:t>
            </a:r>
          </a:p>
        </p:txBody>
      </p:sp>
      <p:sp>
        <p:nvSpPr>
          <p:cNvPr id="4" name="TextBox 3"/>
          <p:cNvSpPr txBox="1"/>
          <p:nvPr/>
        </p:nvSpPr>
        <p:spPr>
          <a:xfrm>
            <a:off x="457200" y="1325880"/>
            <a:ext cx="5303520" cy="731520"/>
          </a:xfrm>
          <a:prstGeom prst="rect">
            <a:avLst/>
          </a:prstGeom>
          <a:noFill/>
        </p:spPr>
        <p:txBody>
          <a:bodyPr wrap="square">
            <a:spAutoFit/>
          </a:bodyPr>
          <a:lstStyle/>
          <a:p>
            <a:pPr>
              <a:defRPr sz="1100">
                <a:solidFill>
                  <a:srgbClr val="333333"/>
                </a:solidFill>
              </a:defRPr>
            </a:pPr>
            <a:r>
              <a:t>Optimization of Replace ABS+PVC+PU with PP+PE-TD14 in the manufacture of both Front and Rear Passenger Armrest Trims of MGI via material substitution and process efficiency.</a:t>
            </a:r>
          </a:p>
        </p:txBody>
      </p:sp>
      <p:sp>
        <p:nvSpPr>
          <p:cNvPr id="5" name="Rectangle 4"/>
          <p:cNvSpPr/>
          <p:nvPr/>
        </p:nvSpPr>
        <p:spPr>
          <a:xfrm>
            <a:off x="457200" y="196596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103120"/>
            <a:ext cx="5303520" cy="274320"/>
          </a:xfrm>
          <a:prstGeom prst="rect">
            <a:avLst/>
          </a:prstGeom>
          <a:noFill/>
        </p:spPr>
        <p:txBody>
          <a:bodyPr wrap="none">
            <a:spAutoFit/>
          </a:bodyPr>
          <a:lstStyle/>
          <a:p>
            <a:pPr>
              <a:defRPr b="1" sz="1100">
                <a:solidFill>
                  <a:srgbClr val="FF6400"/>
                </a:solidFill>
              </a:defRPr>
            </a:pPr>
            <a:r>
              <a:t>Material Change:</a:t>
            </a:r>
          </a:p>
        </p:txBody>
      </p:sp>
      <p:sp>
        <p:nvSpPr>
          <p:cNvPr id="7" name="TextBox 6"/>
          <p:cNvSpPr txBox="1"/>
          <p:nvPr/>
        </p:nvSpPr>
        <p:spPr>
          <a:xfrm>
            <a:off x="457200" y="2331720"/>
            <a:ext cx="5303520" cy="457200"/>
          </a:xfrm>
          <a:prstGeom prst="rect">
            <a:avLst/>
          </a:prstGeom>
          <a:noFill/>
        </p:spPr>
        <p:txBody>
          <a:bodyPr wrap="square">
            <a:spAutoFit/>
          </a:bodyPr>
          <a:lstStyle/>
          <a:p>
            <a:pPr>
              <a:defRPr sz="1100">
                <a:solidFill>
                  <a:srgbClr val="333333"/>
                </a:solidFill>
              </a:defRPr>
            </a:pPr>
            <a:r>
              <a:t>Replace ABS+PVC+PU with PP+PE-TD14 in the manufacture of both Front and Rear Pas</a:t>
            </a:r>
          </a:p>
        </p:txBody>
      </p:sp>
      <p:sp>
        <p:nvSpPr>
          <p:cNvPr id="8" name="Rectangle 7"/>
          <p:cNvSpPr/>
          <p:nvPr/>
        </p:nvSpPr>
        <p:spPr>
          <a:xfrm>
            <a:off x="457200" y="269748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2834640"/>
            <a:ext cx="5303520" cy="274320"/>
          </a:xfrm>
          <a:prstGeom prst="rect">
            <a:avLst/>
          </a:prstGeom>
          <a:noFill/>
        </p:spPr>
        <p:txBody>
          <a:bodyPr wrap="none">
            <a:spAutoFit/>
          </a:bodyPr>
          <a:lstStyle/>
          <a:p>
            <a:pPr>
              <a:defRPr b="1" sz="1100">
                <a:solidFill>
                  <a:srgbClr val="FF6400"/>
                </a:solidFill>
              </a:defRPr>
            </a:pPr>
            <a:r>
              <a:t>Dimension Change:</a:t>
            </a:r>
          </a:p>
        </p:txBody>
      </p:sp>
      <p:sp>
        <p:nvSpPr>
          <p:cNvPr id="10" name="TextBox 9"/>
          <p:cNvSpPr txBox="1"/>
          <p:nvPr/>
        </p:nvSpPr>
        <p:spPr>
          <a:xfrm>
            <a:off x="457200" y="3063240"/>
            <a:ext cx="5303520" cy="457200"/>
          </a:xfrm>
          <a:prstGeom prst="rect">
            <a:avLst/>
          </a:prstGeom>
          <a:noFill/>
        </p:spPr>
        <p:txBody>
          <a:bodyPr wrap="square">
            <a:spAutoFit/>
          </a:bodyPr>
          <a:lstStyle/>
          <a:p>
            <a:pPr>
              <a:defRPr sz="1100">
                <a:solidFill>
                  <a:srgbClr val="333333"/>
                </a:solidFill>
              </a:defRPr>
            </a:pPr>
            <a:r>
              <a:t>N/A (Maintains current envelope)</a:t>
            </a:r>
          </a:p>
        </p:txBody>
      </p:sp>
      <p:sp>
        <p:nvSpPr>
          <p:cNvPr id="11" name="Rectangle 10"/>
          <p:cNvSpPr/>
          <p:nvPr/>
        </p:nvSpPr>
        <p:spPr>
          <a:xfrm>
            <a:off x="457200" y="342900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3566160"/>
            <a:ext cx="5303520" cy="274320"/>
          </a:xfrm>
          <a:prstGeom prst="rect">
            <a:avLst/>
          </a:prstGeom>
          <a:noFill/>
        </p:spPr>
        <p:txBody>
          <a:bodyPr wrap="none">
            <a:spAutoFit/>
          </a:bodyPr>
          <a:lstStyle/>
          <a:p>
            <a:pPr>
              <a:defRPr b="1" sz="1100">
                <a:solidFill>
                  <a:srgbClr val="FF6400"/>
                </a:solidFill>
              </a:defRPr>
            </a:pPr>
            <a:r>
              <a:t>Cost Analysis:</a:t>
            </a:r>
          </a:p>
        </p:txBody>
      </p:sp>
      <p:sp>
        <p:nvSpPr>
          <p:cNvPr id="13" name="TextBox 12"/>
          <p:cNvSpPr txBox="1"/>
          <p:nvPr/>
        </p:nvSpPr>
        <p:spPr>
          <a:xfrm>
            <a:off x="457200" y="3794760"/>
            <a:ext cx="5303520" cy="457200"/>
          </a:xfrm>
          <a:prstGeom prst="rect">
            <a:avLst/>
          </a:prstGeom>
          <a:noFill/>
        </p:spPr>
        <p:txBody>
          <a:bodyPr wrap="square">
            <a:spAutoFit/>
          </a:bodyPr>
          <a:lstStyle/>
          <a:p>
            <a:pPr>
              <a:defRPr sz="1100">
                <a:solidFill>
                  <a:srgbClr val="333333"/>
                </a:solidFill>
              </a:defRPr>
            </a:pPr>
            <a:r>
              <a:t>Est. Saving: INR 126</a:t>
            </a:r>
          </a:p>
        </p:txBody>
      </p:sp>
      <p:sp>
        <p:nvSpPr>
          <p:cNvPr id="14" name="Rectangle 13"/>
          <p:cNvSpPr/>
          <p:nvPr/>
        </p:nvSpPr>
        <p:spPr>
          <a:xfrm>
            <a:off x="457200" y="41605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4297680"/>
            <a:ext cx="5303520" cy="274320"/>
          </a:xfrm>
          <a:prstGeom prst="rect">
            <a:avLst/>
          </a:prstGeom>
          <a:noFill/>
        </p:spPr>
        <p:txBody>
          <a:bodyPr wrap="none">
            <a:spAutoFit/>
          </a:bodyPr>
          <a:lstStyle/>
          <a:p>
            <a:pPr>
              <a:defRPr b="1" sz="1100">
                <a:solidFill>
                  <a:srgbClr val="FF6400"/>
                </a:solidFill>
              </a:defRPr>
            </a:pPr>
            <a:r>
              <a:t>Engineering Validation:</a:t>
            </a:r>
          </a:p>
        </p:txBody>
      </p:sp>
      <p:sp>
        <p:nvSpPr>
          <p:cNvPr id="16" name="TextBox 15"/>
          <p:cNvSpPr txBox="1"/>
          <p:nvPr/>
        </p:nvSpPr>
        <p:spPr>
          <a:xfrm>
            <a:off x="457200" y="4526280"/>
            <a:ext cx="5303520" cy="548640"/>
          </a:xfrm>
          <a:prstGeom prst="rect">
            <a:avLst/>
          </a:prstGeom>
          <a:noFill/>
        </p:spPr>
        <p:txBody>
          <a:bodyPr wrap="square">
            <a:spAutoFit/>
          </a:bodyPr>
          <a:lstStyle/>
          <a:p>
            <a:pPr>
              <a:defRPr sz="1100">
                <a:solidFill>
                  <a:srgbClr val="333333"/>
                </a:solidFill>
              </a:defRPr>
            </a:pPr>
            <a:r>
              <a:t>DVP&amp;R Level 1</a:t>
            </a:r>
            <a:br/>
            <a:r>
              <a:t>• Environmental Cycling</a:t>
            </a:r>
          </a:p>
        </p:txBody>
      </p:sp>
      <p:sp>
        <p:nvSpPr>
          <p:cNvPr id="17" name="Rectangle 16"/>
          <p:cNvSpPr/>
          <p:nvPr/>
        </p:nvSpPr>
        <p:spPr>
          <a:xfrm>
            <a:off x="457200" y="498348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5120640"/>
            <a:ext cx="5303520" cy="274320"/>
          </a:xfrm>
          <a:prstGeom prst="rect">
            <a:avLst/>
          </a:prstGeom>
          <a:noFill/>
        </p:spPr>
        <p:txBody>
          <a:bodyPr wrap="none">
            <a:spAutoFit/>
          </a:bodyPr>
          <a:lstStyle/>
          <a:p>
            <a:pPr>
              <a:defRPr b="1" sz="1100">
                <a:solidFill>
                  <a:srgbClr val="FF6400"/>
                </a:solidFill>
              </a:defRPr>
            </a:pPr>
            <a:r>
              <a:t>Supply Chain Impact:</a:t>
            </a:r>
          </a:p>
        </p:txBody>
      </p:sp>
      <p:sp>
        <p:nvSpPr>
          <p:cNvPr id="19" name="TextBox 18"/>
          <p:cNvSpPr txBox="1"/>
          <p:nvPr/>
        </p:nvSpPr>
        <p:spPr>
          <a:xfrm>
            <a:off x="457200" y="5349240"/>
            <a:ext cx="5303520" cy="548640"/>
          </a:xfrm>
          <a:prstGeom prst="rect">
            <a:avLst/>
          </a:prstGeom>
          <a:noFill/>
        </p:spPr>
        <p:txBody>
          <a:bodyPr wrap="square">
            <a:spAutoFit/>
          </a:bodyPr>
          <a:lstStyle/>
          <a:p>
            <a:pPr>
              <a:defRPr sz="1100">
                <a:solidFill>
                  <a:srgbClr val="333333"/>
                </a:solidFill>
              </a:defRPr>
            </a:pPr>
            <a:r>
              <a:t>Assess supplier capability and lead time impact.</a:t>
            </a:r>
          </a:p>
        </p:txBody>
      </p:sp>
      <p:sp>
        <p:nvSpPr>
          <p:cNvPr id="20" name="Rectangle 19"/>
          <p:cNvSpPr/>
          <p:nvPr/>
        </p:nvSpPr>
        <p:spPr>
          <a:xfrm>
            <a:off x="457200" y="580644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35040" y="822960"/>
            <a:ext cx="5669280" cy="274320"/>
          </a:xfrm>
          <a:prstGeom prst="rect">
            <a:avLst/>
          </a:prstGeom>
          <a:noFill/>
        </p:spPr>
        <p:txBody>
          <a:bodyPr wrap="none">
            <a:spAutoFit/>
          </a:bodyPr>
          <a:lstStyle/>
          <a:p>
            <a:pPr algn="ctr">
              <a:defRPr b="1" sz="1200">
                <a:solidFill>
                  <a:srgbClr val="003366"/>
                </a:solidFill>
              </a:defRPr>
            </a:pPr>
            <a:r>
              <a:t>Current Scenario</a:t>
            </a:r>
          </a:p>
        </p:txBody>
      </p:sp>
      <p:pic>
        <p:nvPicPr>
          <p:cNvPr id="22" name="Picture 21" descr="65.jpg"/>
          <p:cNvPicPr>
            <a:picLocks noChangeAspect="1"/>
          </p:cNvPicPr>
          <p:nvPr/>
        </p:nvPicPr>
        <p:blipFill>
          <a:blip r:embed="rId2"/>
          <a:stretch>
            <a:fillRect/>
          </a:stretch>
        </p:blipFill>
        <p:spPr>
          <a:xfrm>
            <a:off x="6035040" y="1097280"/>
            <a:ext cx="5669280" cy="2743200"/>
          </a:xfrm>
          <a:prstGeom prst="rect">
            <a:avLst/>
          </a:prstGeom>
          <a:ln w="12700">
            <a:solidFill>
              <a:srgbClr val="C8C8C8"/>
            </a:solidFill>
          </a:ln>
        </p:spPr>
      </p:pic>
      <p:sp>
        <p:nvSpPr>
          <p:cNvPr id="23" name="TextBox 22"/>
          <p:cNvSpPr txBox="1"/>
          <p:nvPr/>
        </p:nvSpPr>
        <p:spPr>
          <a:xfrm>
            <a:off x="6035040" y="3840480"/>
            <a:ext cx="5669280" cy="274320"/>
          </a:xfrm>
          <a:prstGeom prst="rect">
            <a:avLst/>
          </a:prstGeom>
          <a:noFill/>
        </p:spPr>
        <p:txBody>
          <a:bodyPr wrap="none">
            <a:spAutoFit/>
          </a:bodyPr>
          <a:lstStyle/>
          <a:p>
            <a:pPr algn="ctr">
              <a:defRPr b="1" sz="1200">
                <a:solidFill>
                  <a:srgbClr val="003366"/>
                </a:solidFill>
              </a:defRPr>
            </a:pPr>
            <a:r>
              <a:t>Implementation / Proposal</a:t>
            </a:r>
          </a:p>
        </p:txBody>
      </p:sp>
      <p:pic>
        <p:nvPicPr>
          <p:cNvPr id="24" name="Picture 23" descr="impl_overlay_ReplaceABSPVC_1767287656521.jpg"/>
          <p:cNvPicPr>
            <a:picLocks noChangeAspect="1"/>
          </p:cNvPicPr>
          <p:nvPr/>
        </p:nvPicPr>
        <p:blipFill>
          <a:blip r:embed="rId3"/>
          <a:stretch>
            <a:fillRect/>
          </a:stretch>
        </p:blipFill>
        <p:spPr>
          <a:xfrm>
            <a:off x="6035040" y="4114800"/>
            <a:ext cx="5669280" cy="2743200"/>
          </a:xfrm>
          <a:prstGeom prst="rect">
            <a:avLst/>
          </a:prstGeom>
          <a:ln w="12700">
            <a:solidFill>
              <a:srgbClr val="C8C8C8"/>
            </a:solidFill>
          </a:ln>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972800" cy="731520"/>
          </a:xfrm>
          <a:prstGeom prst="rect">
            <a:avLst/>
          </a:prstGeom>
          <a:noFill/>
        </p:spPr>
        <p:txBody>
          <a:bodyPr wrap="none">
            <a:spAutoFit/>
          </a:bodyPr>
          <a:lstStyle/>
          <a:p/>
          <a:p>
            <a:pPr>
              <a:defRPr sz="2400" b="1">
                <a:solidFill>
                  <a:srgbClr val="003366"/>
                </a:solidFill>
              </a:defRPr>
            </a:pPr>
            <a:r>
              <a:t>#4: Reduce the Paint Coating Thickness of the highlighted Front Hood BiW Panel from 160 - 170μm to 100 - 110μm</a:t>
            </a:r>
          </a:p>
        </p:txBody>
      </p:sp>
      <p:sp>
        <p:nvSpPr>
          <p:cNvPr id="3" name="TextBox 2"/>
          <p:cNvSpPr txBox="1"/>
          <p:nvPr/>
        </p:nvSpPr>
        <p:spPr>
          <a:xfrm>
            <a:off x="457200" y="1097280"/>
            <a:ext cx="5303520" cy="274320"/>
          </a:xfrm>
          <a:prstGeom prst="rect">
            <a:avLst/>
          </a:prstGeom>
          <a:noFill/>
        </p:spPr>
        <p:txBody>
          <a:bodyPr wrap="none">
            <a:spAutoFit/>
          </a:bodyPr>
          <a:lstStyle/>
          <a:p>
            <a:pPr>
              <a:defRPr b="1" sz="1100">
                <a:solidFill>
                  <a:srgbClr val="FF6400"/>
                </a:solidFill>
              </a:defRPr>
            </a:pPr>
            <a:r>
              <a:t>Technical Engineering View:</a:t>
            </a:r>
          </a:p>
        </p:txBody>
      </p:sp>
      <p:sp>
        <p:nvSpPr>
          <p:cNvPr id="4" name="TextBox 3"/>
          <p:cNvSpPr txBox="1"/>
          <p:nvPr/>
        </p:nvSpPr>
        <p:spPr>
          <a:xfrm>
            <a:off x="457200" y="1325880"/>
            <a:ext cx="5303520" cy="731520"/>
          </a:xfrm>
          <a:prstGeom prst="rect">
            <a:avLst/>
          </a:prstGeom>
          <a:noFill/>
        </p:spPr>
        <p:txBody>
          <a:bodyPr wrap="square">
            <a:spAutoFit/>
          </a:bodyPr>
          <a:lstStyle/>
          <a:p>
            <a:pPr>
              <a:defRPr sz="1100">
                <a:solidFill>
                  <a:srgbClr val="333333"/>
                </a:solidFill>
              </a:defRPr>
            </a:pPr>
            <a:r>
              <a:t>Optimization of Reduce the Paint Coating Thickness of the highlighted Front Hood BiW Panel from 160 - 170μm to 100 - 110μm via material substitution and process efficiency.</a:t>
            </a:r>
          </a:p>
        </p:txBody>
      </p:sp>
      <p:sp>
        <p:nvSpPr>
          <p:cNvPr id="5" name="Rectangle 4"/>
          <p:cNvSpPr/>
          <p:nvPr/>
        </p:nvSpPr>
        <p:spPr>
          <a:xfrm>
            <a:off x="457200" y="196596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103120"/>
            <a:ext cx="5303520" cy="274320"/>
          </a:xfrm>
          <a:prstGeom prst="rect">
            <a:avLst/>
          </a:prstGeom>
          <a:noFill/>
        </p:spPr>
        <p:txBody>
          <a:bodyPr wrap="none">
            <a:spAutoFit/>
          </a:bodyPr>
          <a:lstStyle/>
          <a:p>
            <a:pPr>
              <a:defRPr b="1" sz="1100">
                <a:solidFill>
                  <a:srgbClr val="FF6400"/>
                </a:solidFill>
              </a:defRPr>
            </a:pPr>
            <a:r>
              <a:t>Material Change:</a:t>
            </a:r>
          </a:p>
        </p:txBody>
      </p:sp>
      <p:sp>
        <p:nvSpPr>
          <p:cNvPr id="7" name="TextBox 6"/>
          <p:cNvSpPr txBox="1"/>
          <p:nvPr/>
        </p:nvSpPr>
        <p:spPr>
          <a:xfrm>
            <a:off x="457200" y="2331720"/>
            <a:ext cx="5303520" cy="457200"/>
          </a:xfrm>
          <a:prstGeom prst="rect">
            <a:avLst/>
          </a:prstGeom>
          <a:noFill/>
        </p:spPr>
        <p:txBody>
          <a:bodyPr wrap="square">
            <a:spAutoFit/>
          </a:bodyPr>
          <a:lstStyle/>
          <a:p>
            <a:pPr>
              <a:defRPr sz="1100">
                <a:solidFill>
                  <a:srgbClr val="333333"/>
                </a:solidFill>
              </a:defRPr>
            </a:pPr>
            <a:r>
              <a:t>N/A (No material change explicitly mentioned)</a:t>
            </a:r>
          </a:p>
        </p:txBody>
      </p:sp>
      <p:sp>
        <p:nvSpPr>
          <p:cNvPr id="8" name="Rectangle 7"/>
          <p:cNvSpPr/>
          <p:nvPr/>
        </p:nvSpPr>
        <p:spPr>
          <a:xfrm>
            <a:off x="457200" y="269748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2834640"/>
            <a:ext cx="5303520" cy="274320"/>
          </a:xfrm>
          <a:prstGeom prst="rect">
            <a:avLst/>
          </a:prstGeom>
          <a:noFill/>
        </p:spPr>
        <p:txBody>
          <a:bodyPr wrap="none">
            <a:spAutoFit/>
          </a:bodyPr>
          <a:lstStyle/>
          <a:p>
            <a:pPr>
              <a:defRPr b="1" sz="1100">
                <a:solidFill>
                  <a:srgbClr val="FF6400"/>
                </a:solidFill>
              </a:defRPr>
            </a:pPr>
            <a:r>
              <a:t>Dimension Change:</a:t>
            </a:r>
          </a:p>
        </p:txBody>
      </p:sp>
      <p:sp>
        <p:nvSpPr>
          <p:cNvPr id="10" name="TextBox 9"/>
          <p:cNvSpPr txBox="1"/>
          <p:nvPr/>
        </p:nvSpPr>
        <p:spPr>
          <a:xfrm>
            <a:off x="457200" y="3063240"/>
            <a:ext cx="5303520" cy="457200"/>
          </a:xfrm>
          <a:prstGeom prst="rect">
            <a:avLst/>
          </a:prstGeom>
          <a:noFill/>
        </p:spPr>
        <p:txBody>
          <a:bodyPr wrap="square">
            <a:spAutoFit/>
          </a:bodyPr>
          <a:lstStyle/>
          <a:p>
            <a:pPr>
              <a:defRPr sz="1100">
                <a:solidFill>
                  <a:srgbClr val="333333"/>
                </a:solidFill>
              </a:defRPr>
            </a:pPr>
            <a:r>
              <a:t>170μm to 100 - 110μm</a:t>
            </a:r>
          </a:p>
        </p:txBody>
      </p:sp>
      <p:sp>
        <p:nvSpPr>
          <p:cNvPr id="11" name="Rectangle 10"/>
          <p:cNvSpPr/>
          <p:nvPr/>
        </p:nvSpPr>
        <p:spPr>
          <a:xfrm>
            <a:off x="457200" y="342900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3566160"/>
            <a:ext cx="5303520" cy="274320"/>
          </a:xfrm>
          <a:prstGeom prst="rect">
            <a:avLst/>
          </a:prstGeom>
          <a:noFill/>
        </p:spPr>
        <p:txBody>
          <a:bodyPr wrap="none">
            <a:spAutoFit/>
          </a:bodyPr>
          <a:lstStyle/>
          <a:p>
            <a:pPr>
              <a:defRPr b="1" sz="1100">
                <a:solidFill>
                  <a:srgbClr val="FF6400"/>
                </a:solidFill>
              </a:defRPr>
            </a:pPr>
            <a:r>
              <a:t>Cost Analysis:</a:t>
            </a:r>
          </a:p>
        </p:txBody>
      </p:sp>
      <p:sp>
        <p:nvSpPr>
          <p:cNvPr id="13" name="TextBox 12"/>
          <p:cNvSpPr txBox="1"/>
          <p:nvPr/>
        </p:nvSpPr>
        <p:spPr>
          <a:xfrm>
            <a:off x="457200" y="3794760"/>
            <a:ext cx="5303520" cy="457200"/>
          </a:xfrm>
          <a:prstGeom prst="rect">
            <a:avLst/>
          </a:prstGeom>
          <a:noFill/>
        </p:spPr>
        <p:txBody>
          <a:bodyPr wrap="square">
            <a:spAutoFit/>
          </a:bodyPr>
          <a:lstStyle/>
          <a:p>
            <a:pPr>
              <a:defRPr sz="1100">
                <a:solidFill>
                  <a:srgbClr val="333333"/>
                </a:solidFill>
              </a:defRPr>
            </a:pPr>
            <a:r>
              <a:t>Est. Saving: INR 82</a:t>
            </a:r>
          </a:p>
        </p:txBody>
      </p:sp>
      <p:sp>
        <p:nvSpPr>
          <p:cNvPr id="14" name="Rectangle 13"/>
          <p:cNvSpPr/>
          <p:nvPr/>
        </p:nvSpPr>
        <p:spPr>
          <a:xfrm>
            <a:off x="457200" y="41605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4297680"/>
            <a:ext cx="5303520" cy="274320"/>
          </a:xfrm>
          <a:prstGeom prst="rect">
            <a:avLst/>
          </a:prstGeom>
          <a:noFill/>
        </p:spPr>
        <p:txBody>
          <a:bodyPr wrap="none">
            <a:spAutoFit/>
          </a:bodyPr>
          <a:lstStyle/>
          <a:p>
            <a:pPr>
              <a:defRPr b="1" sz="1100">
                <a:solidFill>
                  <a:srgbClr val="FF6400"/>
                </a:solidFill>
              </a:defRPr>
            </a:pPr>
            <a:r>
              <a:t>Engineering Validation:</a:t>
            </a:r>
          </a:p>
        </p:txBody>
      </p:sp>
      <p:sp>
        <p:nvSpPr>
          <p:cNvPr id="16" name="TextBox 15"/>
          <p:cNvSpPr txBox="1"/>
          <p:nvPr/>
        </p:nvSpPr>
        <p:spPr>
          <a:xfrm>
            <a:off x="457200" y="4526280"/>
            <a:ext cx="5303520" cy="548640"/>
          </a:xfrm>
          <a:prstGeom prst="rect">
            <a:avLst/>
          </a:prstGeom>
          <a:noFill/>
        </p:spPr>
        <p:txBody>
          <a:bodyPr wrap="square">
            <a:spAutoFit/>
          </a:bodyPr>
          <a:lstStyle/>
          <a:p>
            <a:pPr>
              <a:defRPr sz="1100">
                <a:solidFill>
                  <a:srgbClr val="333333"/>
                </a:solidFill>
              </a:defRPr>
            </a:pPr>
            <a:r>
              <a:t>DVP&amp;R Level 1</a:t>
            </a:r>
            <a:br/>
            <a:r>
              <a:t>• Environmental Cycling</a:t>
            </a:r>
          </a:p>
        </p:txBody>
      </p:sp>
      <p:sp>
        <p:nvSpPr>
          <p:cNvPr id="17" name="Rectangle 16"/>
          <p:cNvSpPr/>
          <p:nvPr/>
        </p:nvSpPr>
        <p:spPr>
          <a:xfrm>
            <a:off x="457200" y="498348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5120640"/>
            <a:ext cx="5303520" cy="274320"/>
          </a:xfrm>
          <a:prstGeom prst="rect">
            <a:avLst/>
          </a:prstGeom>
          <a:noFill/>
        </p:spPr>
        <p:txBody>
          <a:bodyPr wrap="none">
            <a:spAutoFit/>
          </a:bodyPr>
          <a:lstStyle/>
          <a:p>
            <a:pPr>
              <a:defRPr b="1" sz="1100">
                <a:solidFill>
                  <a:srgbClr val="FF6400"/>
                </a:solidFill>
              </a:defRPr>
            </a:pPr>
            <a:r>
              <a:t>Supply Chain Impact:</a:t>
            </a:r>
          </a:p>
        </p:txBody>
      </p:sp>
      <p:sp>
        <p:nvSpPr>
          <p:cNvPr id="19" name="TextBox 18"/>
          <p:cNvSpPr txBox="1"/>
          <p:nvPr/>
        </p:nvSpPr>
        <p:spPr>
          <a:xfrm>
            <a:off x="457200" y="5349240"/>
            <a:ext cx="5303520" cy="548640"/>
          </a:xfrm>
          <a:prstGeom prst="rect">
            <a:avLst/>
          </a:prstGeom>
          <a:noFill/>
        </p:spPr>
        <p:txBody>
          <a:bodyPr wrap="square">
            <a:spAutoFit/>
          </a:bodyPr>
          <a:lstStyle/>
          <a:p>
            <a:pPr>
              <a:defRPr sz="1100">
                <a:solidFill>
                  <a:srgbClr val="333333"/>
                </a:solidFill>
              </a:defRPr>
            </a:pPr>
            <a:r>
              <a:t>Assess supplier capability and lead time impact.</a:t>
            </a:r>
          </a:p>
        </p:txBody>
      </p:sp>
      <p:sp>
        <p:nvSpPr>
          <p:cNvPr id="20" name="Rectangle 19"/>
          <p:cNvSpPr/>
          <p:nvPr/>
        </p:nvSpPr>
        <p:spPr>
          <a:xfrm>
            <a:off x="457200" y="580644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35040" y="822960"/>
            <a:ext cx="5669280" cy="274320"/>
          </a:xfrm>
          <a:prstGeom prst="rect">
            <a:avLst/>
          </a:prstGeom>
          <a:noFill/>
        </p:spPr>
        <p:txBody>
          <a:bodyPr wrap="none">
            <a:spAutoFit/>
          </a:bodyPr>
          <a:lstStyle/>
          <a:p>
            <a:pPr algn="ctr">
              <a:defRPr b="1" sz="1200">
                <a:solidFill>
                  <a:srgbClr val="003366"/>
                </a:solidFill>
              </a:defRPr>
            </a:pPr>
            <a:r>
              <a:t>Current Scenario</a:t>
            </a:r>
          </a:p>
        </p:txBody>
      </p:sp>
      <p:pic>
        <p:nvPicPr>
          <p:cNvPr id="22" name="Picture 21" descr="37.jpg"/>
          <p:cNvPicPr>
            <a:picLocks noChangeAspect="1"/>
          </p:cNvPicPr>
          <p:nvPr/>
        </p:nvPicPr>
        <p:blipFill>
          <a:blip r:embed="rId2"/>
          <a:stretch>
            <a:fillRect/>
          </a:stretch>
        </p:blipFill>
        <p:spPr>
          <a:xfrm>
            <a:off x="6035040" y="1097280"/>
            <a:ext cx="5669280" cy="2743200"/>
          </a:xfrm>
          <a:prstGeom prst="rect">
            <a:avLst/>
          </a:prstGeom>
          <a:ln w="12700">
            <a:solidFill>
              <a:srgbClr val="C8C8C8"/>
            </a:solidFill>
          </a:ln>
        </p:spPr>
      </p:pic>
      <p:sp>
        <p:nvSpPr>
          <p:cNvPr id="23" name="TextBox 22"/>
          <p:cNvSpPr txBox="1"/>
          <p:nvPr/>
        </p:nvSpPr>
        <p:spPr>
          <a:xfrm>
            <a:off x="6035040" y="3840480"/>
            <a:ext cx="5669280" cy="274320"/>
          </a:xfrm>
          <a:prstGeom prst="rect">
            <a:avLst/>
          </a:prstGeom>
          <a:noFill/>
        </p:spPr>
        <p:txBody>
          <a:bodyPr wrap="none">
            <a:spAutoFit/>
          </a:bodyPr>
          <a:lstStyle/>
          <a:p>
            <a:pPr algn="ctr">
              <a:defRPr b="1" sz="1200">
                <a:solidFill>
                  <a:srgbClr val="003366"/>
                </a:solidFill>
              </a:defRPr>
            </a:pPr>
            <a:r>
              <a:t>Implementation / Proposal</a:t>
            </a:r>
          </a:p>
        </p:txBody>
      </p:sp>
      <p:pic>
        <p:nvPicPr>
          <p:cNvPr id="24" name="Picture 23" descr="impl_overlay_ReducethePain_1767287656661.jpg"/>
          <p:cNvPicPr>
            <a:picLocks noChangeAspect="1"/>
          </p:cNvPicPr>
          <p:nvPr/>
        </p:nvPicPr>
        <p:blipFill>
          <a:blip r:embed="rId3"/>
          <a:stretch>
            <a:fillRect/>
          </a:stretch>
        </p:blipFill>
        <p:spPr>
          <a:xfrm>
            <a:off x="6035040" y="4114800"/>
            <a:ext cx="5669280" cy="2743200"/>
          </a:xfrm>
          <a:prstGeom prst="rect">
            <a:avLst/>
          </a:prstGeom>
          <a:ln w="12700">
            <a:solidFill>
              <a:srgbClr val="C8C8C8"/>
            </a:solidFill>
          </a:ln>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972800" cy="731520"/>
          </a:xfrm>
          <a:prstGeom prst="rect">
            <a:avLst/>
          </a:prstGeom>
          <a:noFill/>
        </p:spPr>
        <p:txBody>
          <a:bodyPr wrap="none">
            <a:spAutoFit/>
          </a:bodyPr>
          <a:lstStyle/>
          <a:p/>
          <a:p>
            <a:pPr>
              <a:defRPr sz="2400" b="1">
                <a:solidFill>
                  <a:srgbClr val="003366"/>
                </a:solidFill>
              </a:defRPr>
            </a:pPr>
            <a:r>
              <a:t>#5: Remove the Neoprene Foam Sheaths present on the fuel lines and the fuel inlet hose of MGI</a:t>
            </a:r>
          </a:p>
        </p:txBody>
      </p:sp>
      <p:sp>
        <p:nvSpPr>
          <p:cNvPr id="3" name="TextBox 2"/>
          <p:cNvSpPr txBox="1"/>
          <p:nvPr/>
        </p:nvSpPr>
        <p:spPr>
          <a:xfrm>
            <a:off x="457200" y="1097280"/>
            <a:ext cx="5303520" cy="274320"/>
          </a:xfrm>
          <a:prstGeom prst="rect">
            <a:avLst/>
          </a:prstGeom>
          <a:noFill/>
        </p:spPr>
        <p:txBody>
          <a:bodyPr wrap="none">
            <a:spAutoFit/>
          </a:bodyPr>
          <a:lstStyle/>
          <a:p>
            <a:pPr>
              <a:defRPr b="1" sz="1100">
                <a:solidFill>
                  <a:srgbClr val="FF6400"/>
                </a:solidFill>
              </a:defRPr>
            </a:pPr>
            <a:r>
              <a:t>Technical Engineering View:</a:t>
            </a:r>
          </a:p>
        </p:txBody>
      </p:sp>
      <p:sp>
        <p:nvSpPr>
          <p:cNvPr id="4" name="TextBox 3"/>
          <p:cNvSpPr txBox="1"/>
          <p:nvPr/>
        </p:nvSpPr>
        <p:spPr>
          <a:xfrm>
            <a:off x="457200" y="1325880"/>
            <a:ext cx="5303520" cy="731520"/>
          </a:xfrm>
          <a:prstGeom prst="rect">
            <a:avLst/>
          </a:prstGeom>
          <a:noFill/>
        </p:spPr>
        <p:txBody>
          <a:bodyPr wrap="square">
            <a:spAutoFit/>
          </a:bodyPr>
          <a:lstStyle/>
          <a:p>
            <a:pPr>
              <a:defRPr sz="1100">
                <a:solidFill>
                  <a:srgbClr val="333333"/>
                </a:solidFill>
              </a:defRPr>
            </a:pPr>
            <a:r>
              <a:t>Optimization of Remove the Neoprene Foam Sheaths present on the fuel lines and the fuel inlet hose of MGI via material substitution and process efficiency.</a:t>
            </a:r>
          </a:p>
        </p:txBody>
      </p:sp>
      <p:sp>
        <p:nvSpPr>
          <p:cNvPr id="5" name="Rectangle 4"/>
          <p:cNvSpPr/>
          <p:nvPr/>
        </p:nvSpPr>
        <p:spPr>
          <a:xfrm>
            <a:off x="457200" y="196596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103120"/>
            <a:ext cx="5303520" cy="274320"/>
          </a:xfrm>
          <a:prstGeom prst="rect">
            <a:avLst/>
          </a:prstGeom>
          <a:noFill/>
        </p:spPr>
        <p:txBody>
          <a:bodyPr wrap="none">
            <a:spAutoFit/>
          </a:bodyPr>
          <a:lstStyle/>
          <a:p>
            <a:pPr>
              <a:defRPr b="1" sz="1100">
                <a:solidFill>
                  <a:srgbClr val="FF6400"/>
                </a:solidFill>
              </a:defRPr>
            </a:pPr>
            <a:r>
              <a:t>Material Change:</a:t>
            </a:r>
          </a:p>
        </p:txBody>
      </p:sp>
      <p:sp>
        <p:nvSpPr>
          <p:cNvPr id="7" name="TextBox 6"/>
          <p:cNvSpPr txBox="1"/>
          <p:nvPr/>
        </p:nvSpPr>
        <p:spPr>
          <a:xfrm>
            <a:off x="457200" y="2331720"/>
            <a:ext cx="5303520" cy="457200"/>
          </a:xfrm>
          <a:prstGeom prst="rect">
            <a:avLst/>
          </a:prstGeom>
          <a:noFill/>
        </p:spPr>
        <p:txBody>
          <a:bodyPr wrap="square">
            <a:spAutoFit/>
          </a:bodyPr>
          <a:lstStyle/>
          <a:p>
            <a:pPr>
              <a:defRPr sz="1100">
                <a:solidFill>
                  <a:srgbClr val="333333"/>
                </a:solidFill>
              </a:defRPr>
            </a:pPr>
            <a:r>
              <a:t>N/A (No material change explicitly mentioned)</a:t>
            </a:r>
          </a:p>
        </p:txBody>
      </p:sp>
      <p:sp>
        <p:nvSpPr>
          <p:cNvPr id="8" name="Rectangle 7"/>
          <p:cNvSpPr/>
          <p:nvPr/>
        </p:nvSpPr>
        <p:spPr>
          <a:xfrm>
            <a:off x="457200" y="269748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2834640"/>
            <a:ext cx="5303520" cy="274320"/>
          </a:xfrm>
          <a:prstGeom prst="rect">
            <a:avLst/>
          </a:prstGeom>
          <a:noFill/>
        </p:spPr>
        <p:txBody>
          <a:bodyPr wrap="none">
            <a:spAutoFit/>
          </a:bodyPr>
          <a:lstStyle/>
          <a:p>
            <a:pPr>
              <a:defRPr b="1" sz="1100">
                <a:solidFill>
                  <a:srgbClr val="FF6400"/>
                </a:solidFill>
              </a:defRPr>
            </a:pPr>
            <a:r>
              <a:t>Dimension Change:</a:t>
            </a:r>
          </a:p>
        </p:txBody>
      </p:sp>
      <p:sp>
        <p:nvSpPr>
          <p:cNvPr id="10" name="TextBox 9"/>
          <p:cNvSpPr txBox="1"/>
          <p:nvPr/>
        </p:nvSpPr>
        <p:spPr>
          <a:xfrm>
            <a:off x="457200" y="3063240"/>
            <a:ext cx="5303520" cy="457200"/>
          </a:xfrm>
          <a:prstGeom prst="rect">
            <a:avLst/>
          </a:prstGeom>
          <a:noFill/>
        </p:spPr>
        <p:txBody>
          <a:bodyPr wrap="square">
            <a:spAutoFit/>
          </a:bodyPr>
          <a:lstStyle/>
          <a:p>
            <a:pPr>
              <a:defRPr sz="1100">
                <a:solidFill>
                  <a:srgbClr val="333333"/>
                </a:solidFill>
              </a:defRPr>
            </a:pPr>
            <a:r>
              <a:t>N/A (Maintains current envelope)</a:t>
            </a:r>
          </a:p>
        </p:txBody>
      </p:sp>
      <p:sp>
        <p:nvSpPr>
          <p:cNvPr id="11" name="Rectangle 10"/>
          <p:cNvSpPr/>
          <p:nvPr/>
        </p:nvSpPr>
        <p:spPr>
          <a:xfrm>
            <a:off x="457200" y="342900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3566160"/>
            <a:ext cx="5303520" cy="274320"/>
          </a:xfrm>
          <a:prstGeom prst="rect">
            <a:avLst/>
          </a:prstGeom>
          <a:noFill/>
        </p:spPr>
        <p:txBody>
          <a:bodyPr wrap="none">
            <a:spAutoFit/>
          </a:bodyPr>
          <a:lstStyle/>
          <a:p>
            <a:pPr>
              <a:defRPr b="1" sz="1100">
                <a:solidFill>
                  <a:srgbClr val="FF6400"/>
                </a:solidFill>
              </a:defRPr>
            </a:pPr>
            <a:r>
              <a:t>Cost Analysis:</a:t>
            </a:r>
          </a:p>
        </p:txBody>
      </p:sp>
      <p:sp>
        <p:nvSpPr>
          <p:cNvPr id="13" name="TextBox 12"/>
          <p:cNvSpPr txBox="1"/>
          <p:nvPr/>
        </p:nvSpPr>
        <p:spPr>
          <a:xfrm>
            <a:off x="457200" y="3794760"/>
            <a:ext cx="5303520" cy="457200"/>
          </a:xfrm>
          <a:prstGeom prst="rect">
            <a:avLst/>
          </a:prstGeom>
          <a:noFill/>
        </p:spPr>
        <p:txBody>
          <a:bodyPr wrap="square">
            <a:spAutoFit/>
          </a:bodyPr>
          <a:lstStyle/>
          <a:p>
            <a:pPr>
              <a:defRPr sz="1100">
                <a:solidFill>
                  <a:srgbClr val="333333"/>
                </a:solidFill>
              </a:defRPr>
            </a:pPr>
            <a:r>
              <a:t>Est. Saving: INR 142</a:t>
            </a:r>
          </a:p>
        </p:txBody>
      </p:sp>
      <p:sp>
        <p:nvSpPr>
          <p:cNvPr id="14" name="Rectangle 13"/>
          <p:cNvSpPr/>
          <p:nvPr/>
        </p:nvSpPr>
        <p:spPr>
          <a:xfrm>
            <a:off x="457200" y="41605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4297680"/>
            <a:ext cx="5303520" cy="274320"/>
          </a:xfrm>
          <a:prstGeom prst="rect">
            <a:avLst/>
          </a:prstGeom>
          <a:noFill/>
        </p:spPr>
        <p:txBody>
          <a:bodyPr wrap="none">
            <a:spAutoFit/>
          </a:bodyPr>
          <a:lstStyle/>
          <a:p>
            <a:pPr>
              <a:defRPr b="1" sz="1100">
                <a:solidFill>
                  <a:srgbClr val="FF6400"/>
                </a:solidFill>
              </a:defRPr>
            </a:pPr>
            <a:r>
              <a:t>Engineering Validation:</a:t>
            </a:r>
          </a:p>
        </p:txBody>
      </p:sp>
      <p:sp>
        <p:nvSpPr>
          <p:cNvPr id="16" name="TextBox 15"/>
          <p:cNvSpPr txBox="1"/>
          <p:nvPr/>
        </p:nvSpPr>
        <p:spPr>
          <a:xfrm>
            <a:off x="457200" y="4526280"/>
            <a:ext cx="5303520" cy="548640"/>
          </a:xfrm>
          <a:prstGeom prst="rect">
            <a:avLst/>
          </a:prstGeom>
          <a:noFill/>
        </p:spPr>
        <p:txBody>
          <a:bodyPr wrap="square">
            <a:spAutoFit/>
          </a:bodyPr>
          <a:lstStyle/>
          <a:p>
            <a:pPr>
              <a:defRPr sz="1100">
                <a:solidFill>
                  <a:srgbClr val="333333"/>
                </a:solidFill>
              </a:defRPr>
            </a:pPr>
            <a:r>
              <a:t>DVP&amp;R Level 1</a:t>
            </a:r>
            <a:br/>
            <a:r>
              <a:t>• Environmental Cycling</a:t>
            </a:r>
          </a:p>
        </p:txBody>
      </p:sp>
      <p:sp>
        <p:nvSpPr>
          <p:cNvPr id="17" name="Rectangle 16"/>
          <p:cNvSpPr/>
          <p:nvPr/>
        </p:nvSpPr>
        <p:spPr>
          <a:xfrm>
            <a:off x="457200" y="498348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5120640"/>
            <a:ext cx="5303520" cy="274320"/>
          </a:xfrm>
          <a:prstGeom prst="rect">
            <a:avLst/>
          </a:prstGeom>
          <a:noFill/>
        </p:spPr>
        <p:txBody>
          <a:bodyPr wrap="none">
            <a:spAutoFit/>
          </a:bodyPr>
          <a:lstStyle/>
          <a:p>
            <a:pPr>
              <a:defRPr b="1" sz="1100">
                <a:solidFill>
                  <a:srgbClr val="FF6400"/>
                </a:solidFill>
              </a:defRPr>
            </a:pPr>
            <a:r>
              <a:t>Supply Chain Impact:</a:t>
            </a:r>
          </a:p>
        </p:txBody>
      </p:sp>
      <p:sp>
        <p:nvSpPr>
          <p:cNvPr id="19" name="TextBox 18"/>
          <p:cNvSpPr txBox="1"/>
          <p:nvPr/>
        </p:nvSpPr>
        <p:spPr>
          <a:xfrm>
            <a:off x="457200" y="5349240"/>
            <a:ext cx="5303520" cy="548640"/>
          </a:xfrm>
          <a:prstGeom prst="rect">
            <a:avLst/>
          </a:prstGeom>
          <a:noFill/>
        </p:spPr>
        <p:txBody>
          <a:bodyPr wrap="square">
            <a:spAutoFit/>
          </a:bodyPr>
          <a:lstStyle/>
          <a:p>
            <a:pPr>
              <a:defRPr sz="1100">
                <a:solidFill>
                  <a:srgbClr val="333333"/>
                </a:solidFill>
              </a:defRPr>
            </a:pPr>
            <a:r>
              <a:t>Assess supplier capability and lead time impact.</a:t>
            </a:r>
          </a:p>
        </p:txBody>
      </p:sp>
      <p:sp>
        <p:nvSpPr>
          <p:cNvPr id="20" name="Rectangle 19"/>
          <p:cNvSpPr/>
          <p:nvPr/>
        </p:nvSpPr>
        <p:spPr>
          <a:xfrm>
            <a:off x="457200" y="580644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35040" y="822960"/>
            <a:ext cx="5669280" cy="274320"/>
          </a:xfrm>
          <a:prstGeom prst="rect">
            <a:avLst/>
          </a:prstGeom>
          <a:noFill/>
        </p:spPr>
        <p:txBody>
          <a:bodyPr wrap="none">
            <a:spAutoFit/>
          </a:bodyPr>
          <a:lstStyle/>
          <a:p>
            <a:pPr algn="ctr">
              <a:defRPr b="1" sz="1200">
                <a:solidFill>
                  <a:srgbClr val="003366"/>
                </a:solidFill>
              </a:defRPr>
            </a:pPr>
            <a:r>
              <a:t>Current Scenario</a:t>
            </a:r>
          </a:p>
        </p:txBody>
      </p:sp>
      <p:pic>
        <p:nvPicPr>
          <p:cNvPr id="22" name="Picture 21" descr="128.jpg"/>
          <p:cNvPicPr>
            <a:picLocks noChangeAspect="1"/>
          </p:cNvPicPr>
          <p:nvPr/>
        </p:nvPicPr>
        <p:blipFill>
          <a:blip r:embed="rId2"/>
          <a:stretch>
            <a:fillRect/>
          </a:stretch>
        </p:blipFill>
        <p:spPr>
          <a:xfrm>
            <a:off x="6035040" y="1097280"/>
            <a:ext cx="5669280" cy="2743200"/>
          </a:xfrm>
          <a:prstGeom prst="rect">
            <a:avLst/>
          </a:prstGeom>
          <a:ln w="12700">
            <a:solidFill>
              <a:srgbClr val="C8C8C8"/>
            </a:solidFill>
          </a:ln>
        </p:spPr>
      </p:pic>
      <p:sp>
        <p:nvSpPr>
          <p:cNvPr id="23" name="TextBox 22"/>
          <p:cNvSpPr txBox="1"/>
          <p:nvPr/>
        </p:nvSpPr>
        <p:spPr>
          <a:xfrm>
            <a:off x="6035040" y="3840480"/>
            <a:ext cx="5669280" cy="274320"/>
          </a:xfrm>
          <a:prstGeom prst="rect">
            <a:avLst/>
          </a:prstGeom>
          <a:noFill/>
        </p:spPr>
        <p:txBody>
          <a:bodyPr wrap="none">
            <a:spAutoFit/>
          </a:bodyPr>
          <a:lstStyle/>
          <a:p>
            <a:pPr algn="ctr">
              <a:defRPr b="1" sz="1200">
                <a:solidFill>
                  <a:srgbClr val="003366"/>
                </a:solidFill>
              </a:defRPr>
            </a:pPr>
            <a:r>
              <a:t>Implementation / Proposal</a:t>
            </a:r>
          </a:p>
        </p:txBody>
      </p:sp>
      <p:pic>
        <p:nvPicPr>
          <p:cNvPr id="24" name="Picture 23" descr="impl_overlay_RemovetheNeop_1767287656798.jpg"/>
          <p:cNvPicPr>
            <a:picLocks noChangeAspect="1"/>
          </p:cNvPicPr>
          <p:nvPr/>
        </p:nvPicPr>
        <p:blipFill>
          <a:blip r:embed="rId3"/>
          <a:stretch>
            <a:fillRect/>
          </a:stretch>
        </p:blipFill>
        <p:spPr>
          <a:xfrm>
            <a:off x="6035040" y="4114800"/>
            <a:ext cx="5669280" cy="2743200"/>
          </a:xfrm>
          <a:prstGeom prst="rect">
            <a:avLst/>
          </a:prstGeom>
          <a:ln w="12700">
            <a:solidFill>
              <a:srgbClr val="C8C8C8"/>
            </a:solidFill>
          </a:ln>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972800" cy="731520"/>
          </a:xfrm>
          <a:prstGeom prst="rect">
            <a:avLst/>
          </a:prstGeom>
          <a:noFill/>
        </p:spPr>
        <p:txBody>
          <a:bodyPr wrap="none">
            <a:spAutoFit/>
          </a:bodyPr>
          <a:lstStyle/>
          <a:p/>
          <a:p>
            <a:pPr>
              <a:defRPr sz="2400" b="1">
                <a:solidFill>
                  <a:srgbClr val="003366"/>
                </a:solidFill>
              </a:defRPr>
            </a:pPr>
            <a:r>
              <a:t>#6: Optimize material specification for lower-stressed gears by shifting from case-hardened alloy steel to through-hardened medium carbon steel for selected gears (e.g., reverse gear, first gear in a manual transmission or specific planetary elements in an automatic). This leverages the sufficient core strength of through-hardened steel for components not subjected to extreme surface contact fatigue, common in higher-stress gears.</a:t>
            </a:r>
          </a:p>
        </p:txBody>
      </p:sp>
      <p:sp>
        <p:nvSpPr>
          <p:cNvPr id="3" name="TextBox 2"/>
          <p:cNvSpPr txBox="1"/>
          <p:nvPr/>
        </p:nvSpPr>
        <p:spPr>
          <a:xfrm>
            <a:off x="457200" y="1097280"/>
            <a:ext cx="5303520" cy="274320"/>
          </a:xfrm>
          <a:prstGeom prst="rect">
            <a:avLst/>
          </a:prstGeom>
          <a:noFill/>
        </p:spPr>
        <p:txBody>
          <a:bodyPr wrap="none">
            <a:spAutoFit/>
          </a:bodyPr>
          <a:lstStyle/>
          <a:p>
            <a:pPr>
              <a:defRPr b="1" sz="1100">
                <a:solidFill>
                  <a:srgbClr val="FF6400"/>
                </a:solidFill>
              </a:defRPr>
            </a:pPr>
            <a:r>
              <a:t>Technical Engineering View:</a:t>
            </a:r>
          </a:p>
        </p:txBody>
      </p:sp>
      <p:sp>
        <p:nvSpPr>
          <p:cNvPr id="4" name="TextBox 3"/>
          <p:cNvSpPr txBox="1"/>
          <p:nvPr/>
        </p:nvSpPr>
        <p:spPr>
          <a:xfrm>
            <a:off x="457200" y="1325880"/>
            <a:ext cx="5303520" cy="731520"/>
          </a:xfrm>
          <a:prstGeom prst="rect">
            <a:avLst/>
          </a:prstGeom>
          <a:noFill/>
        </p:spPr>
        <p:txBody>
          <a:bodyPr wrap="square">
            <a:spAutoFit/>
          </a:bodyPr>
          <a:lstStyle/>
          <a:p>
            <a:pPr>
              <a:defRPr sz="1100">
                <a:solidFill>
                  <a:srgbClr val="333333"/>
                </a:solidFill>
              </a:defRPr>
            </a:pPr>
            <a:r>
              <a:t>Optimization of Optimize material specification for lower-stressed gears by shifting from case-hardened alloy steel to through-hardened medium carbon steel for selected gears (e.g., reverse gear, first gear in a manual transmission or specific planetary elements in an automatic). This leverages the sufficient core strength of through-hardened steel for components not subjected to extreme surface contact fatigue, common in higher-stress gears. via material substitution and process efficiency.</a:t>
            </a:r>
          </a:p>
        </p:txBody>
      </p:sp>
      <p:sp>
        <p:nvSpPr>
          <p:cNvPr id="5" name="Rectangle 4"/>
          <p:cNvSpPr/>
          <p:nvPr/>
        </p:nvSpPr>
        <p:spPr>
          <a:xfrm>
            <a:off x="457200" y="196596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103120"/>
            <a:ext cx="5303520" cy="274320"/>
          </a:xfrm>
          <a:prstGeom prst="rect">
            <a:avLst/>
          </a:prstGeom>
          <a:noFill/>
        </p:spPr>
        <p:txBody>
          <a:bodyPr wrap="none">
            <a:spAutoFit/>
          </a:bodyPr>
          <a:lstStyle/>
          <a:p>
            <a:pPr>
              <a:defRPr b="1" sz="1100">
                <a:solidFill>
                  <a:srgbClr val="FF6400"/>
                </a:solidFill>
              </a:defRPr>
            </a:pPr>
            <a:r>
              <a:t>Material Change:</a:t>
            </a:r>
          </a:p>
        </p:txBody>
      </p:sp>
      <p:sp>
        <p:nvSpPr>
          <p:cNvPr id="7" name="TextBox 6"/>
          <p:cNvSpPr txBox="1"/>
          <p:nvPr/>
        </p:nvSpPr>
        <p:spPr>
          <a:xfrm>
            <a:off x="457200" y="2331720"/>
            <a:ext cx="5303520" cy="457200"/>
          </a:xfrm>
          <a:prstGeom prst="rect">
            <a:avLst/>
          </a:prstGeom>
          <a:noFill/>
        </p:spPr>
        <p:txBody>
          <a:bodyPr wrap="square">
            <a:spAutoFit/>
          </a:bodyPr>
          <a:lstStyle/>
          <a:p>
            <a:pPr>
              <a:defRPr sz="1100">
                <a:solidFill>
                  <a:srgbClr val="333333"/>
                </a:solidFill>
              </a:defRPr>
            </a:pPr>
            <a:r>
              <a:t>Optimize material specification for lower-stressed gears by shifting from case-h</a:t>
            </a:r>
          </a:p>
        </p:txBody>
      </p:sp>
      <p:sp>
        <p:nvSpPr>
          <p:cNvPr id="8" name="Rectangle 7"/>
          <p:cNvSpPr/>
          <p:nvPr/>
        </p:nvSpPr>
        <p:spPr>
          <a:xfrm>
            <a:off x="457200" y="269748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2834640"/>
            <a:ext cx="5303520" cy="274320"/>
          </a:xfrm>
          <a:prstGeom prst="rect">
            <a:avLst/>
          </a:prstGeom>
          <a:noFill/>
        </p:spPr>
        <p:txBody>
          <a:bodyPr wrap="none">
            <a:spAutoFit/>
          </a:bodyPr>
          <a:lstStyle/>
          <a:p>
            <a:pPr>
              <a:defRPr b="1" sz="1100">
                <a:solidFill>
                  <a:srgbClr val="FF6400"/>
                </a:solidFill>
              </a:defRPr>
            </a:pPr>
            <a:r>
              <a:t>Dimension Change:</a:t>
            </a:r>
          </a:p>
        </p:txBody>
      </p:sp>
      <p:sp>
        <p:nvSpPr>
          <p:cNvPr id="10" name="TextBox 9"/>
          <p:cNvSpPr txBox="1"/>
          <p:nvPr/>
        </p:nvSpPr>
        <p:spPr>
          <a:xfrm>
            <a:off x="457200" y="3063240"/>
            <a:ext cx="5303520" cy="457200"/>
          </a:xfrm>
          <a:prstGeom prst="rect">
            <a:avLst/>
          </a:prstGeom>
          <a:noFill/>
        </p:spPr>
        <p:txBody>
          <a:bodyPr wrap="square">
            <a:spAutoFit/>
          </a:bodyPr>
          <a:lstStyle/>
          <a:p>
            <a:pPr>
              <a:defRPr sz="1100">
                <a:solidFill>
                  <a:srgbClr val="333333"/>
                </a:solidFill>
              </a:defRPr>
            </a:pPr>
            <a:r>
              <a:t>N/A (Maintains current envelope)</a:t>
            </a:r>
          </a:p>
        </p:txBody>
      </p:sp>
      <p:sp>
        <p:nvSpPr>
          <p:cNvPr id="11" name="Rectangle 10"/>
          <p:cNvSpPr/>
          <p:nvPr/>
        </p:nvSpPr>
        <p:spPr>
          <a:xfrm>
            <a:off x="457200" y="342900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3566160"/>
            <a:ext cx="5303520" cy="274320"/>
          </a:xfrm>
          <a:prstGeom prst="rect">
            <a:avLst/>
          </a:prstGeom>
          <a:noFill/>
        </p:spPr>
        <p:txBody>
          <a:bodyPr wrap="none">
            <a:spAutoFit/>
          </a:bodyPr>
          <a:lstStyle/>
          <a:p>
            <a:pPr>
              <a:defRPr b="1" sz="1100">
                <a:solidFill>
                  <a:srgbClr val="FF6400"/>
                </a:solidFill>
              </a:defRPr>
            </a:pPr>
            <a:r>
              <a:t>Cost Analysis:</a:t>
            </a:r>
          </a:p>
        </p:txBody>
      </p:sp>
      <p:sp>
        <p:nvSpPr>
          <p:cNvPr id="13" name="TextBox 12"/>
          <p:cNvSpPr txBox="1"/>
          <p:nvPr/>
        </p:nvSpPr>
        <p:spPr>
          <a:xfrm>
            <a:off x="457200" y="3794760"/>
            <a:ext cx="5303520" cy="457200"/>
          </a:xfrm>
          <a:prstGeom prst="rect">
            <a:avLst/>
          </a:prstGeom>
          <a:noFill/>
        </p:spPr>
        <p:txBody>
          <a:bodyPr wrap="square">
            <a:spAutoFit/>
          </a:bodyPr>
          <a:lstStyle/>
          <a:p>
            <a:pPr>
              <a:defRPr sz="1100">
                <a:solidFill>
                  <a:srgbClr val="333333"/>
                </a:solidFill>
              </a:defRPr>
            </a:pPr>
            <a:r>
              <a:t>Est. Saving: INR TBD</a:t>
            </a:r>
          </a:p>
        </p:txBody>
      </p:sp>
      <p:sp>
        <p:nvSpPr>
          <p:cNvPr id="14" name="Rectangle 13"/>
          <p:cNvSpPr/>
          <p:nvPr/>
        </p:nvSpPr>
        <p:spPr>
          <a:xfrm>
            <a:off x="457200" y="41605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4297680"/>
            <a:ext cx="5303520" cy="274320"/>
          </a:xfrm>
          <a:prstGeom prst="rect">
            <a:avLst/>
          </a:prstGeom>
          <a:noFill/>
        </p:spPr>
        <p:txBody>
          <a:bodyPr wrap="none">
            <a:spAutoFit/>
          </a:bodyPr>
          <a:lstStyle/>
          <a:p>
            <a:pPr>
              <a:defRPr b="1" sz="1100">
                <a:solidFill>
                  <a:srgbClr val="FF6400"/>
                </a:solidFill>
              </a:defRPr>
            </a:pPr>
            <a:r>
              <a:t>Engineering Validation:</a:t>
            </a:r>
          </a:p>
        </p:txBody>
      </p:sp>
      <p:sp>
        <p:nvSpPr>
          <p:cNvPr id="16" name="TextBox 15"/>
          <p:cNvSpPr txBox="1"/>
          <p:nvPr/>
        </p:nvSpPr>
        <p:spPr>
          <a:xfrm>
            <a:off x="457200" y="4526280"/>
            <a:ext cx="5303520" cy="548640"/>
          </a:xfrm>
          <a:prstGeom prst="rect">
            <a:avLst/>
          </a:prstGeom>
          <a:noFill/>
        </p:spPr>
        <p:txBody>
          <a:bodyPr wrap="square">
            <a:spAutoFit/>
          </a:bodyPr>
          <a:lstStyle/>
          <a:p>
            <a:pPr>
              <a:defRPr sz="1100">
                <a:solidFill>
                  <a:srgbClr val="333333"/>
                </a:solidFill>
              </a:defRPr>
            </a:pPr>
            <a:r>
              <a:t>DVP&amp;R Level 1</a:t>
            </a:r>
            <a:br/>
            <a:r>
              <a:t>• Environmental Cycling</a:t>
            </a:r>
          </a:p>
        </p:txBody>
      </p:sp>
      <p:sp>
        <p:nvSpPr>
          <p:cNvPr id="17" name="Rectangle 16"/>
          <p:cNvSpPr/>
          <p:nvPr/>
        </p:nvSpPr>
        <p:spPr>
          <a:xfrm>
            <a:off x="457200" y="498348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5120640"/>
            <a:ext cx="5303520" cy="274320"/>
          </a:xfrm>
          <a:prstGeom prst="rect">
            <a:avLst/>
          </a:prstGeom>
          <a:noFill/>
        </p:spPr>
        <p:txBody>
          <a:bodyPr wrap="none">
            <a:spAutoFit/>
          </a:bodyPr>
          <a:lstStyle/>
          <a:p>
            <a:pPr>
              <a:defRPr b="1" sz="1100">
                <a:solidFill>
                  <a:srgbClr val="FF6400"/>
                </a:solidFill>
              </a:defRPr>
            </a:pPr>
            <a:r>
              <a:t>Supply Chain Impact:</a:t>
            </a:r>
          </a:p>
        </p:txBody>
      </p:sp>
      <p:sp>
        <p:nvSpPr>
          <p:cNvPr id="19" name="TextBox 18"/>
          <p:cNvSpPr txBox="1"/>
          <p:nvPr/>
        </p:nvSpPr>
        <p:spPr>
          <a:xfrm>
            <a:off x="457200" y="5349240"/>
            <a:ext cx="5303520" cy="548640"/>
          </a:xfrm>
          <a:prstGeom prst="rect">
            <a:avLst/>
          </a:prstGeom>
          <a:noFill/>
        </p:spPr>
        <p:txBody>
          <a:bodyPr wrap="square">
            <a:spAutoFit/>
          </a:bodyPr>
          <a:lstStyle/>
          <a:p>
            <a:pPr>
              <a:defRPr sz="1100">
                <a:solidFill>
                  <a:srgbClr val="333333"/>
                </a:solidFill>
              </a:defRPr>
            </a:pPr>
            <a:r>
              <a:t>Assess supplier capability and lead time impact.</a:t>
            </a:r>
          </a:p>
        </p:txBody>
      </p:sp>
      <p:sp>
        <p:nvSpPr>
          <p:cNvPr id="20" name="Rectangle 19"/>
          <p:cNvSpPr/>
          <p:nvPr/>
        </p:nvSpPr>
        <p:spPr>
          <a:xfrm>
            <a:off x="457200" y="580644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35040" y="822960"/>
            <a:ext cx="5669280" cy="274320"/>
          </a:xfrm>
          <a:prstGeom prst="rect">
            <a:avLst/>
          </a:prstGeom>
          <a:noFill/>
        </p:spPr>
        <p:txBody>
          <a:bodyPr wrap="none">
            <a:spAutoFit/>
          </a:bodyPr>
          <a:lstStyle/>
          <a:p>
            <a:pPr algn="ctr">
              <a:defRPr b="1" sz="1200">
                <a:solidFill>
                  <a:srgbClr val="003366"/>
                </a:solidFill>
              </a:defRPr>
            </a:pPr>
            <a:r>
              <a:t>Current Scenario</a:t>
            </a:r>
          </a:p>
        </p:txBody>
      </p:sp>
      <p:pic>
        <p:nvPicPr>
          <p:cNvPr id="22" name="Picture 21" descr="22.jpg"/>
          <p:cNvPicPr>
            <a:picLocks noChangeAspect="1"/>
          </p:cNvPicPr>
          <p:nvPr/>
        </p:nvPicPr>
        <p:blipFill>
          <a:blip r:embed="rId2"/>
          <a:stretch>
            <a:fillRect/>
          </a:stretch>
        </p:blipFill>
        <p:spPr>
          <a:xfrm>
            <a:off x="6035040" y="1097280"/>
            <a:ext cx="5669280" cy="2743200"/>
          </a:xfrm>
          <a:prstGeom prst="rect">
            <a:avLst/>
          </a:prstGeom>
          <a:ln w="12700">
            <a:solidFill>
              <a:srgbClr val="C8C8C8"/>
            </a:solidFill>
          </a:ln>
        </p:spPr>
      </p:pic>
      <p:sp>
        <p:nvSpPr>
          <p:cNvPr id="23" name="TextBox 22"/>
          <p:cNvSpPr txBox="1"/>
          <p:nvPr/>
        </p:nvSpPr>
        <p:spPr>
          <a:xfrm>
            <a:off x="6035040" y="3840480"/>
            <a:ext cx="5669280" cy="274320"/>
          </a:xfrm>
          <a:prstGeom prst="rect">
            <a:avLst/>
          </a:prstGeom>
          <a:noFill/>
        </p:spPr>
        <p:txBody>
          <a:bodyPr wrap="none">
            <a:spAutoFit/>
          </a:bodyPr>
          <a:lstStyle/>
          <a:p>
            <a:pPr algn="ctr">
              <a:defRPr b="1" sz="1200">
                <a:solidFill>
                  <a:srgbClr val="003366"/>
                </a:solidFill>
              </a:defRPr>
            </a:pPr>
            <a:r>
              <a:t>Implementation / Proposal</a:t>
            </a:r>
          </a:p>
        </p:txBody>
      </p:sp>
      <p:pic>
        <p:nvPicPr>
          <p:cNvPr id="24" name="Picture 23" descr="impl_overlay_Optimizemateri_1767287657213.jpg"/>
          <p:cNvPicPr>
            <a:picLocks noChangeAspect="1"/>
          </p:cNvPicPr>
          <p:nvPr/>
        </p:nvPicPr>
        <p:blipFill>
          <a:blip r:embed="rId3"/>
          <a:stretch>
            <a:fillRect/>
          </a:stretch>
        </p:blipFill>
        <p:spPr>
          <a:xfrm>
            <a:off x="6035040" y="4114800"/>
            <a:ext cx="5669280" cy="2743200"/>
          </a:xfrm>
          <a:prstGeom prst="rect">
            <a:avLst/>
          </a:prstGeom>
          <a:ln w="12700">
            <a:solidFill>
              <a:srgbClr val="C8C8C8"/>
            </a:solidFill>
          </a:ln>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972800" cy="731520"/>
          </a:xfrm>
          <a:prstGeom prst="rect">
            <a:avLst/>
          </a:prstGeom>
          <a:noFill/>
        </p:spPr>
        <p:txBody>
          <a:bodyPr wrap="none">
            <a:spAutoFit/>
          </a:bodyPr>
          <a:lstStyle/>
          <a:p/>
          <a:p>
            <a:pPr>
              <a:defRPr sz="2400" b="1">
                <a:solidFill>
                  <a:srgbClr val="003366"/>
                </a:solidFill>
              </a:defRPr>
            </a:pPr>
            <a:r>
              <a:t>#7: Reduce the average wall thickness of the cast aluminum transmission casing by 0.5mm to 0.8mm in non-critical load-bearing areas and sections primarily designed for oil containment. This targets areas identified through topology optimization where structural rigidity is over-engineered.</a:t>
            </a:r>
          </a:p>
        </p:txBody>
      </p:sp>
      <p:sp>
        <p:nvSpPr>
          <p:cNvPr id="3" name="TextBox 2"/>
          <p:cNvSpPr txBox="1"/>
          <p:nvPr/>
        </p:nvSpPr>
        <p:spPr>
          <a:xfrm>
            <a:off x="457200" y="1097280"/>
            <a:ext cx="5303520" cy="274320"/>
          </a:xfrm>
          <a:prstGeom prst="rect">
            <a:avLst/>
          </a:prstGeom>
          <a:noFill/>
        </p:spPr>
        <p:txBody>
          <a:bodyPr wrap="none">
            <a:spAutoFit/>
          </a:bodyPr>
          <a:lstStyle/>
          <a:p>
            <a:pPr>
              <a:defRPr b="1" sz="1100">
                <a:solidFill>
                  <a:srgbClr val="FF6400"/>
                </a:solidFill>
              </a:defRPr>
            </a:pPr>
            <a:r>
              <a:t>Technical Engineering View:</a:t>
            </a:r>
          </a:p>
        </p:txBody>
      </p:sp>
      <p:sp>
        <p:nvSpPr>
          <p:cNvPr id="4" name="TextBox 3"/>
          <p:cNvSpPr txBox="1"/>
          <p:nvPr/>
        </p:nvSpPr>
        <p:spPr>
          <a:xfrm>
            <a:off x="457200" y="1325880"/>
            <a:ext cx="5303520" cy="731520"/>
          </a:xfrm>
          <a:prstGeom prst="rect">
            <a:avLst/>
          </a:prstGeom>
          <a:noFill/>
        </p:spPr>
        <p:txBody>
          <a:bodyPr wrap="square">
            <a:spAutoFit/>
          </a:bodyPr>
          <a:lstStyle/>
          <a:p>
            <a:pPr>
              <a:defRPr sz="1100">
                <a:solidFill>
                  <a:srgbClr val="333333"/>
                </a:solidFill>
              </a:defRPr>
            </a:pPr>
            <a:r>
              <a:t>Optimization of Reduce the average wall thickness of the cast aluminum transmission casing by 0.5mm to 0.8mm in non-critical load-bearing areas and sections primarily designed for oil containment. This targets areas identified through topology optimization where structural rigidity is over-engineered. via material substitution and process efficiency.</a:t>
            </a:r>
          </a:p>
        </p:txBody>
      </p:sp>
      <p:sp>
        <p:nvSpPr>
          <p:cNvPr id="5" name="Rectangle 4"/>
          <p:cNvSpPr/>
          <p:nvPr/>
        </p:nvSpPr>
        <p:spPr>
          <a:xfrm>
            <a:off x="457200" y="196596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103120"/>
            <a:ext cx="5303520" cy="274320"/>
          </a:xfrm>
          <a:prstGeom prst="rect">
            <a:avLst/>
          </a:prstGeom>
          <a:noFill/>
        </p:spPr>
        <p:txBody>
          <a:bodyPr wrap="none">
            <a:spAutoFit/>
          </a:bodyPr>
          <a:lstStyle/>
          <a:p>
            <a:pPr>
              <a:defRPr b="1" sz="1100">
                <a:solidFill>
                  <a:srgbClr val="FF6400"/>
                </a:solidFill>
              </a:defRPr>
            </a:pPr>
            <a:r>
              <a:t>Material Change:</a:t>
            </a:r>
          </a:p>
        </p:txBody>
      </p:sp>
      <p:sp>
        <p:nvSpPr>
          <p:cNvPr id="7" name="TextBox 6"/>
          <p:cNvSpPr txBox="1"/>
          <p:nvPr/>
        </p:nvSpPr>
        <p:spPr>
          <a:xfrm>
            <a:off x="457200" y="2331720"/>
            <a:ext cx="5303520" cy="457200"/>
          </a:xfrm>
          <a:prstGeom prst="rect">
            <a:avLst/>
          </a:prstGeom>
          <a:noFill/>
        </p:spPr>
        <p:txBody>
          <a:bodyPr wrap="square">
            <a:spAutoFit/>
          </a:bodyPr>
          <a:lstStyle/>
          <a:p>
            <a:pPr>
              <a:defRPr sz="1100">
                <a:solidFill>
                  <a:srgbClr val="333333"/>
                </a:solidFill>
              </a:defRPr>
            </a:pPr>
            <a:r>
              <a:t>Reduce the average wall thickness of the cast aluminum transmission casing by 0</a:t>
            </a:r>
          </a:p>
        </p:txBody>
      </p:sp>
      <p:sp>
        <p:nvSpPr>
          <p:cNvPr id="8" name="Rectangle 7"/>
          <p:cNvSpPr/>
          <p:nvPr/>
        </p:nvSpPr>
        <p:spPr>
          <a:xfrm>
            <a:off x="457200" y="269748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2834640"/>
            <a:ext cx="5303520" cy="274320"/>
          </a:xfrm>
          <a:prstGeom prst="rect">
            <a:avLst/>
          </a:prstGeom>
          <a:noFill/>
        </p:spPr>
        <p:txBody>
          <a:bodyPr wrap="none">
            <a:spAutoFit/>
          </a:bodyPr>
          <a:lstStyle/>
          <a:p>
            <a:pPr>
              <a:defRPr b="1" sz="1100">
                <a:solidFill>
                  <a:srgbClr val="FF6400"/>
                </a:solidFill>
              </a:defRPr>
            </a:pPr>
            <a:r>
              <a:t>Dimension Change:</a:t>
            </a:r>
          </a:p>
        </p:txBody>
      </p:sp>
      <p:sp>
        <p:nvSpPr>
          <p:cNvPr id="10" name="TextBox 9"/>
          <p:cNvSpPr txBox="1"/>
          <p:nvPr/>
        </p:nvSpPr>
        <p:spPr>
          <a:xfrm>
            <a:off x="457200" y="3063240"/>
            <a:ext cx="5303520" cy="457200"/>
          </a:xfrm>
          <a:prstGeom prst="rect">
            <a:avLst/>
          </a:prstGeom>
          <a:noFill/>
        </p:spPr>
        <p:txBody>
          <a:bodyPr wrap="square">
            <a:spAutoFit/>
          </a:bodyPr>
          <a:lstStyle/>
          <a:p>
            <a:pPr>
              <a:defRPr sz="1100">
                <a:solidFill>
                  <a:srgbClr val="333333"/>
                </a:solidFill>
              </a:defRPr>
            </a:pPr>
            <a:r>
              <a:t>0.5mm to 0.8mm</a:t>
            </a:r>
          </a:p>
        </p:txBody>
      </p:sp>
      <p:sp>
        <p:nvSpPr>
          <p:cNvPr id="11" name="Rectangle 10"/>
          <p:cNvSpPr/>
          <p:nvPr/>
        </p:nvSpPr>
        <p:spPr>
          <a:xfrm>
            <a:off x="457200" y="342900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3566160"/>
            <a:ext cx="5303520" cy="274320"/>
          </a:xfrm>
          <a:prstGeom prst="rect">
            <a:avLst/>
          </a:prstGeom>
          <a:noFill/>
        </p:spPr>
        <p:txBody>
          <a:bodyPr wrap="none">
            <a:spAutoFit/>
          </a:bodyPr>
          <a:lstStyle/>
          <a:p>
            <a:pPr>
              <a:defRPr b="1" sz="1100">
                <a:solidFill>
                  <a:srgbClr val="FF6400"/>
                </a:solidFill>
              </a:defRPr>
            </a:pPr>
            <a:r>
              <a:t>Cost Analysis:</a:t>
            </a:r>
          </a:p>
        </p:txBody>
      </p:sp>
      <p:sp>
        <p:nvSpPr>
          <p:cNvPr id="13" name="TextBox 12"/>
          <p:cNvSpPr txBox="1"/>
          <p:nvPr/>
        </p:nvSpPr>
        <p:spPr>
          <a:xfrm>
            <a:off x="457200" y="3794760"/>
            <a:ext cx="5303520" cy="457200"/>
          </a:xfrm>
          <a:prstGeom prst="rect">
            <a:avLst/>
          </a:prstGeom>
          <a:noFill/>
        </p:spPr>
        <p:txBody>
          <a:bodyPr wrap="square">
            <a:spAutoFit/>
          </a:bodyPr>
          <a:lstStyle/>
          <a:p>
            <a:pPr>
              <a:defRPr sz="1100">
                <a:solidFill>
                  <a:srgbClr val="333333"/>
                </a:solidFill>
              </a:defRPr>
            </a:pPr>
            <a:r>
              <a:t>Est. Saving: INR TBD</a:t>
            </a:r>
          </a:p>
        </p:txBody>
      </p:sp>
      <p:sp>
        <p:nvSpPr>
          <p:cNvPr id="14" name="Rectangle 13"/>
          <p:cNvSpPr/>
          <p:nvPr/>
        </p:nvSpPr>
        <p:spPr>
          <a:xfrm>
            <a:off x="457200" y="41605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4297680"/>
            <a:ext cx="5303520" cy="274320"/>
          </a:xfrm>
          <a:prstGeom prst="rect">
            <a:avLst/>
          </a:prstGeom>
          <a:noFill/>
        </p:spPr>
        <p:txBody>
          <a:bodyPr wrap="none">
            <a:spAutoFit/>
          </a:bodyPr>
          <a:lstStyle/>
          <a:p>
            <a:pPr>
              <a:defRPr b="1" sz="1100">
                <a:solidFill>
                  <a:srgbClr val="FF6400"/>
                </a:solidFill>
              </a:defRPr>
            </a:pPr>
            <a:r>
              <a:t>Engineering Validation:</a:t>
            </a:r>
          </a:p>
        </p:txBody>
      </p:sp>
      <p:sp>
        <p:nvSpPr>
          <p:cNvPr id="16" name="TextBox 15"/>
          <p:cNvSpPr txBox="1"/>
          <p:nvPr/>
        </p:nvSpPr>
        <p:spPr>
          <a:xfrm>
            <a:off x="457200" y="4526280"/>
            <a:ext cx="5303520" cy="548640"/>
          </a:xfrm>
          <a:prstGeom prst="rect">
            <a:avLst/>
          </a:prstGeom>
          <a:noFill/>
        </p:spPr>
        <p:txBody>
          <a:bodyPr wrap="square">
            <a:spAutoFit/>
          </a:bodyPr>
          <a:lstStyle/>
          <a:p>
            <a:pPr>
              <a:defRPr sz="1100">
                <a:solidFill>
                  <a:srgbClr val="333333"/>
                </a:solidFill>
              </a:defRPr>
            </a:pPr>
            <a:r>
              <a:t>DVP&amp;R Level 1</a:t>
            </a:r>
            <a:br/>
            <a:r>
              <a:t>• Environmental Cycling</a:t>
            </a:r>
          </a:p>
        </p:txBody>
      </p:sp>
      <p:sp>
        <p:nvSpPr>
          <p:cNvPr id="17" name="Rectangle 16"/>
          <p:cNvSpPr/>
          <p:nvPr/>
        </p:nvSpPr>
        <p:spPr>
          <a:xfrm>
            <a:off x="457200" y="498348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5120640"/>
            <a:ext cx="5303520" cy="274320"/>
          </a:xfrm>
          <a:prstGeom prst="rect">
            <a:avLst/>
          </a:prstGeom>
          <a:noFill/>
        </p:spPr>
        <p:txBody>
          <a:bodyPr wrap="none">
            <a:spAutoFit/>
          </a:bodyPr>
          <a:lstStyle/>
          <a:p>
            <a:pPr>
              <a:defRPr b="1" sz="1100">
                <a:solidFill>
                  <a:srgbClr val="FF6400"/>
                </a:solidFill>
              </a:defRPr>
            </a:pPr>
            <a:r>
              <a:t>Supply Chain Impact:</a:t>
            </a:r>
          </a:p>
        </p:txBody>
      </p:sp>
      <p:sp>
        <p:nvSpPr>
          <p:cNvPr id="19" name="TextBox 18"/>
          <p:cNvSpPr txBox="1"/>
          <p:nvPr/>
        </p:nvSpPr>
        <p:spPr>
          <a:xfrm>
            <a:off x="457200" y="5349240"/>
            <a:ext cx="5303520" cy="548640"/>
          </a:xfrm>
          <a:prstGeom prst="rect">
            <a:avLst/>
          </a:prstGeom>
          <a:noFill/>
        </p:spPr>
        <p:txBody>
          <a:bodyPr wrap="square">
            <a:spAutoFit/>
          </a:bodyPr>
          <a:lstStyle/>
          <a:p>
            <a:pPr>
              <a:defRPr sz="1100">
                <a:solidFill>
                  <a:srgbClr val="333333"/>
                </a:solidFill>
              </a:defRPr>
            </a:pPr>
            <a:r>
              <a:t>Assess supplier capability and lead time impact.</a:t>
            </a:r>
          </a:p>
        </p:txBody>
      </p:sp>
      <p:sp>
        <p:nvSpPr>
          <p:cNvPr id="20" name="Rectangle 19"/>
          <p:cNvSpPr/>
          <p:nvPr/>
        </p:nvSpPr>
        <p:spPr>
          <a:xfrm>
            <a:off x="457200" y="580644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35040" y="822960"/>
            <a:ext cx="5669280" cy="274320"/>
          </a:xfrm>
          <a:prstGeom prst="rect">
            <a:avLst/>
          </a:prstGeom>
          <a:noFill/>
        </p:spPr>
        <p:txBody>
          <a:bodyPr wrap="none">
            <a:spAutoFit/>
          </a:bodyPr>
          <a:lstStyle/>
          <a:p>
            <a:pPr algn="ctr">
              <a:defRPr b="1" sz="1200">
                <a:solidFill>
                  <a:srgbClr val="003366"/>
                </a:solidFill>
              </a:defRPr>
            </a:pPr>
            <a:r>
              <a:t>Current Scenario</a:t>
            </a:r>
          </a:p>
        </p:txBody>
      </p:sp>
      <p:pic>
        <p:nvPicPr>
          <p:cNvPr id="22" name="Picture 21" descr="28.jpg"/>
          <p:cNvPicPr>
            <a:picLocks noChangeAspect="1"/>
          </p:cNvPicPr>
          <p:nvPr/>
        </p:nvPicPr>
        <p:blipFill>
          <a:blip r:embed="rId2"/>
          <a:stretch>
            <a:fillRect/>
          </a:stretch>
        </p:blipFill>
        <p:spPr>
          <a:xfrm>
            <a:off x="6035040" y="1097280"/>
            <a:ext cx="5669280" cy="2743200"/>
          </a:xfrm>
          <a:prstGeom prst="rect">
            <a:avLst/>
          </a:prstGeom>
          <a:ln w="12700">
            <a:solidFill>
              <a:srgbClr val="C8C8C8"/>
            </a:solidFill>
          </a:ln>
        </p:spPr>
      </p:pic>
      <p:sp>
        <p:nvSpPr>
          <p:cNvPr id="23" name="TextBox 22"/>
          <p:cNvSpPr txBox="1"/>
          <p:nvPr/>
        </p:nvSpPr>
        <p:spPr>
          <a:xfrm>
            <a:off x="6035040" y="3840480"/>
            <a:ext cx="5669280" cy="274320"/>
          </a:xfrm>
          <a:prstGeom prst="rect">
            <a:avLst/>
          </a:prstGeom>
          <a:noFill/>
        </p:spPr>
        <p:txBody>
          <a:bodyPr wrap="none">
            <a:spAutoFit/>
          </a:bodyPr>
          <a:lstStyle/>
          <a:p>
            <a:pPr algn="ctr">
              <a:defRPr b="1" sz="1200">
                <a:solidFill>
                  <a:srgbClr val="003366"/>
                </a:solidFill>
              </a:defRPr>
            </a:pPr>
            <a:r>
              <a:t>Implementation / Proposal</a:t>
            </a:r>
          </a:p>
        </p:txBody>
      </p:sp>
      <p:pic>
        <p:nvPicPr>
          <p:cNvPr id="24" name="Picture 23" descr="impl_overlay_Reducetheaver_1767287657386.jpg"/>
          <p:cNvPicPr>
            <a:picLocks noChangeAspect="1"/>
          </p:cNvPicPr>
          <p:nvPr/>
        </p:nvPicPr>
        <p:blipFill>
          <a:blip r:embed="rId3"/>
          <a:stretch>
            <a:fillRect/>
          </a:stretch>
        </p:blipFill>
        <p:spPr>
          <a:xfrm>
            <a:off x="6035040" y="4114800"/>
            <a:ext cx="5669280" cy="2743200"/>
          </a:xfrm>
          <a:prstGeom prst="rect">
            <a:avLst/>
          </a:prstGeom>
          <a:ln w="12700">
            <a:solidFill>
              <a:srgbClr val="C8C8C8"/>
            </a:solidFill>
          </a:ln>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972800" cy="731520"/>
          </a:xfrm>
          <a:prstGeom prst="rect">
            <a:avLst/>
          </a:prstGeom>
          <a:noFill/>
        </p:spPr>
        <p:txBody>
          <a:bodyPr wrap="none">
            <a:spAutoFit/>
          </a:bodyPr>
          <a:lstStyle/>
          <a:p/>
          <a:p>
            <a:pPr>
              <a:defRPr sz="2400" b="1">
                <a:solidFill>
                  <a:srgbClr val="003366"/>
                </a:solidFill>
              </a:defRPr>
            </a:pPr>
            <a:r>
              <a:t>#8: Replace specific roller bearings with optimized deep-groove ball bearings for shafts with predominantly radial loads and lower axial thrust within the differential unit and auxiliary gear sets. This leverages the lower cost and simpler installation of ball bearings where their load capacity and stiffness are adequate.</a:t>
            </a:r>
          </a:p>
        </p:txBody>
      </p:sp>
      <p:sp>
        <p:nvSpPr>
          <p:cNvPr id="3" name="TextBox 2"/>
          <p:cNvSpPr txBox="1"/>
          <p:nvPr/>
        </p:nvSpPr>
        <p:spPr>
          <a:xfrm>
            <a:off x="457200" y="1097280"/>
            <a:ext cx="5303520" cy="274320"/>
          </a:xfrm>
          <a:prstGeom prst="rect">
            <a:avLst/>
          </a:prstGeom>
          <a:noFill/>
        </p:spPr>
        <p:txBody>
          <a:bodyPr wrap="none">
            <a:spAutoFit/>
          </a:bodyPr>
          <a:lstStyle/>
          <a:p>
            <a:pPr>
              <a:defRPr b="1" sz="1100">
                <a:solidFill>
                  <a:srgbClr val="FF6400"/>
                </a:solidFill>
              </a:defRPr>
            </a:pPr>
            <a:r>
              <a:t>Technical Engineering View:</a:t>
            </a:r>
          </a:p>
        </p:txBody>
      </p:sp>
      <p:sp>
        <p:nvSpPr>
          <p:cNvPr id="4" name="TextBox 3"/>
          <p:cNvSpPr txBox="1"/>
          <p:nvPr/>
        </p:nvSpPr>
        <p:spPr>
          <a:xfrm>
            <a:off x="457200" y="1325880"/>
            <a:ext cx="5303520" cy="731520"/>
          </a:xfrm>
          <a:prstGeom prst="rect">
            <a:avLst/>
          </a:prstGeom>
          <a:noFill/>
        </p:spPr>
        <p:txBody>
          <a:bodyPr wrap="square">
            <a:spAutoFit/>
          </a:bodyPr>
          <a:lstStyle/>
          <a:p>
            <a:pPr>
              <a:defRPr sz="1100">
                <a:solidFill>
                  <a:srgbClr val="333333"/>
                </a:solidFill>
              </a:defRPr>
            </a:pPr>
            <a:r>
              <a:t>Optimization of Replace specific roller bearings with optimized deep-groove ball bearings for shafts with predominantly radial loads and lower axial thrust within the differential unit and auxiliary gear sets. This leverages the lower cost and simpler installation of ball bearings where their load capacity and stiffness are adequate. via material substitution and process efficiency.</a:t>
            </a:r>
          </a:p>
        </p:txBody>
      </p:sp>
      <p:sp>
        <p:nvSpPr>
          <p:cNvPr id="5" name="Rectangle 4"/>
          <p:cNvSpPr/>
          <p:nvPr/>
        </p:nvSpPr>
        <p:spPr>
          <a:xfrm>
            <a:off x="457200" y="196596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103120"/>
            <a:ext cx="5303520" cy="274320"/>
          </a:xfrm>
          <a:prstGeom prst="rect">
            <a:avLst/>
          </a:prstGeom>
          <a:noFill/>
        </p:spPr>
        <p:txBody>
          <a:bodyPr wrap="none">
            <a:spAutoFit/>
          </a:bodyPr>
          <a:lstStyle/>
          <a:p>
            <a:pPr>
              <a:defRPr b="1" sz="1100">
                <a:solidFill>
                  <a:srgbClr val="FF6400"/>
                </a:solidFill>
              </a:defRPr>
            </a:pPr>
            <a:r>
              <a:t>Material Change:</a:t>
            </a:r>
          </a:p>
        </p:txBody>
      </p:sp>
      <p:sp>
        <p:nvSpPr>
          <p:cNvPr id="7" name="TextBox 6"/>
          <p:cNvSpPr txBox="1"/>
          <p:nvPr/>
        </p:nvSpPr>
        <p:spPr>
          <a:xfrm>
            <a:off x="457200" y="2331720"/>
            <a:ext cx="5303520" cy="457200"/>
          </a:xfrm>
          <a:prstGeom prst="rect">
            <a:avLst/>
          </a:prstGeom>
          <a:noFill/>
        </p:spPr>
        <p:txBody>
          <a:bodyPr wrap="square">
            <a:spAutoFit/>
          </a:bodyPr>
          <a:lstStyle/>
          <a:p>
            <a:pPr>
              <a:defRPr sz="1100">
                <a:solidFill>
                  <a:srgbClr val="333333"/>
                </a:solidFill>
              </a:defRPr>
            </a:pPr>
            <a:r>
              <a:t>N/A (No material change explicitly mentioned)</a:t>
            </a:r>
          </a:p>
        </p:txBody>
      </p:sp>
      <p:sp>
        <p:nvSpPr>
          <p:cNvPr id="8" name="Rectangle 7"/>
          <p:cNvSpPr/>
          <p:nvPr/>
        </p:nvSpPr>
        <p:spPr>
          <a:xfrm>
            <a:off x="457200" y="269748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2834640"/>
            <a:ext cx="5303520" cy="274320"/>
          </a:xfrm>
          <a:prstGeom prst="rect">
            <a:avLst/>
          </a:prstGeom>
          <a:noFill/>
        </p:spPr>
        <p:txBody>
          <a:bodyPr wrap="none">
            <a:spAutoFit/>
          </a:bodyPr>
          <a:lstStyle/>
          <a:p>
            <a:pPr>
              <a:defRPr b="1" sz="1100">
                <a:solidFill>
                  <a:srgbClr val="FF6400"/>
                </a:solidFill>
              </a:defRPr>
            </a:pPr>
            <a:r>
              <a:t>Dimension Change:</a:t>
            </a:r>
          </a:p>
        </p:txBody>
      </p:sp>
      <p:sp>
        <p:nvSpPr>
          <p:cNvPr id="10" name="TextBox 9"/>
          <p:cNvSpPr txBox="1"/>
          <p:nvPr/>
        </p:nvSpPr>
        <p:spPr>
          <a:xfrm>
            <a:off x="457200" y="3063240"/>
            <a:ext cx="5303520" cy="457200"/>
          </a:xfrm>
          <a:prstGeom prst="rect">
            <a:avLst/>
          </a:prstGeom>
          <a:noFill/>
        </p:spPr>
        <p:txBody>
          <a:bodyPr wrap="square">
            <a:spAutoFit/>
          </a:bodyPr>
          <a:lstStyle/>
          <a:p>
            <a:pPr>
              <a:defRPr sz="1100">
                <a:solidFill>
                  <a:srgbClr val="333333"/>
                </a:solidFill>
              </a:defRPr>
            </a:pPr>
            <a:r>
              <a:t>N/A (Maintains current envelope)</a:t>
            </a:r>
          </a:p>
        </p:txBody>
      </p:sp>
      <p:sp>
        <p:nvSpPr>
          <p:cNvPr id="11" name="Rectangle 10"/>
          <p:cNvSpPr/>
          <p:nvPr/>
        </p:nvSpPr>
        <p:spPr>
          <a:xfrm>
            <a:off x="457200" y="342900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3566160"/>
            <a:ext cx="5303520" cy="274320"/>
          </a:xfrm>
          <a:prstGeom prst="rect">
            <a:avLst/>
          </a:prstGeom>
          <a:noFill/>
        </p:spPr>
        <p:txBody>
          <a:bodyPr wrap="none">
            <a:spAutoFit/>
          </a:bodyPr>
          <a:lstStyle/>
          <a:p>
            <a:pPr>
              <a:defRPr b="1" sz="1100">
                <a:solidFill>
                  <a:srgbClr val="FF6400"/>
                </a:solidFill>
              </a:defRPr>
            </a:pPr>
            <a:r>
              <a:t>Cost Analysis:</a:t>
            </a:r>
          </a:p>
        </p:txBody>
      </p:sp>
      <p:sp>
        <p:nvSpPr>
          <p:cNvPr id="13" name="TextBox 12"/>
          <p:cNvSpPr txBox="1"/>
          <p:nvPr/>
        </p:nvSpPr>
        <p:spPr>
          <a:xfrm>
            <a:off x="457200" y="3794760"/>
            <a:ext cx="5303520" cy="457200"/>
          </a:xfrm>
          <a:prstGeom prst="rect">
            <a:avLst/>
          </a:prstGeom>
          <a:noFill/>
        </p:spPr>
        <p:txBody>
          <a:bodyPr wrap="square">
            <a:spAutoFit/>
          </a:bodyPr>
          <a:lstStyle/>
          <a:p>
            <a:pPr>
              <a:defRPr sz="1100">
                <a:solidFill>
                  <a:srgbClr val="333333"/>
                </a:solidFill>
              </a:defRPr>
            </a:pPr>
            <a:r>
              <a:t>Est. Saving: INR TBD</a:t>
            </a:r>
          </a:p>
        </p:txBody>
      </p:sp>
      <p:sp>
        <p:nvSpPr>
          <p:cNvPr id="14" name="Rectangle 13"/>
          <p:cNvSpPr/>
          <p:nvPr/>
        </p:nvSpPr>
        <p:spPr>
          <a:xfrm>
            <a:off x="457200" y="41605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4297680"/>
            <a:ext cx="5303520" cy="274320"/>
          </a:xfrm>
          <a:prstGeom prst="rect">
            <a:avLst/>
          </a:prstGeom>
          <a:noFill/>
        </p:spPr>
        <p:txBody>
          <a:bodyPr wrap="none">
            <a:spAutoFit/>
          </a:bodyPr>
          <a:lstStyle/>
          <a:p>
            <a:pPr>
              <a:defRPr b="1" sz="1100">
                <a:solidFill>
                  <a:srgbClr val="FF6400"/>
                </a:solidFill>
              </a:defRPr>
            </a:pPr>
            <a:r>
              <a:t>Engineering Validation:</a:t>
            </a:r>
          </a:p>
        </p:txBody>
      </p:sp>
      <p:sp>
        <p:nvSpPr>
          <p:cNvPr id="16" name="TextBox 15"/>
          <p:cNvSpPr txBox="1"/>
          <p:nvPr/>
        </p:nvSpPr>
        <p:spPr>
          <a:xfrm>
            <a:off x="457200" y="4526280"/>
            <a:ext cx="5303520" cy="548640"/>
          </a:xfrm>
          <a:prstGeom prst="rect">
            <a:avLst/>
          </a:prstGeom>
          <a:noFill/>
        </p:spPr>
        <p:txBody>
          <a:bodyPr wrap="square">
            <a:spAutoFit/>
          </a:bodyPr>
          <a:lstStyle/>
          <a:p>
            <a:pPr>
              <a:defRPr sz="1100">
                <a:solidFill>
                  <a:srgbClr val="333333"/>
                </a:solidFill>
              </a:defRPr>
            </a:pPr>
            <a:r>
              <a:t>DVP&amp;R Level 1</a:t>
            </a:r>
            <a:br/>
            <a:r>
              <a:t>• Environmental Cycling</a:t>
            </a:r>
          </a:p>
        </p:txBody>
      </p:sp>
      <p:sp>
        <p:nvSpPr>
          <p:cNvPr id="17" name="Rectangle 16"/>
          <p:cNvSpPr/>
          <p:nvPr/>
        </p:nvSpPr>
        <p:spPr>
          <a:xfrm>
            <a:off x="457200" y="498348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5120640"/>
            <a:ext cx="5303520" cy="274320"/>
          </a:xfrm>
          <a:prstGeom prst="rect">
            <a:avLst/>
          </a:prstGeom>
          <a:noFill/>
        </p:spPr>
        <p:txBody>
          <a:bodyPr wrap="none">
            <a:spAutoFit/>
          </a:bodyPr>
          <a:lstStyle/>
          <a:p>
            <a:pPr>
              <a:defRPr b="1" sz="1100">
                <a:solidFill>
                  <a:srgbClr val="FF6400"/>
                </a:solidFill>
              </a:defRPr>
            </a:pPr>
            <a:r>
              <a:t>Supply Chain Impact:</a:t>
            </a:r>
          </a:p>
        </p:txBody>
      </p:sp>
      <p:sp>
        <p:nvSpPr>
          <p:cNvPr id="19" name="TextBox 18"/>
          <p:cNvSpPr txBox="1"/>
          <p:nvPr/>
        </p:nvSpPr>
        <p:spPr>
          <a:xfrm>
            <a:off x="457200" y="5349240"/>
            <a:ext cx="5303520" cy="548640"/>
          </a:xfrm>
          <a:prstGeom prst="rect">
            <a:avLst/>
          </a:prstGeom>
          <a:noFill/>
        </p:spPr>
        <p:txBody>
          <a:bodyPr wrap="square">
            <a:spAutoFit/>
          </a:bodyPr>
          <a:lstStyle/>
          <a:p>
            <a:pPr>
              <a:defRPr sz="1100">
                <a:solidFill>
                  <a:srgbClr val="333333"/>
                </a:solidFill>
              </a:defRPr>
            </a:pPr>
            <a:r>
              <a:t>Assess supplier capability and lead time impact.</a:t>
            </a:r>
          </a:p>
        </p:txBody>
      </p:sp>
      <p:sp>
        <p:nvSpPr>
          <p:cNvPr id="20" name="Rectangle 19"/>
          <p:cNvSpPr/>
          <p:nvPr/>
        </p:nvSpPr>
        <p:spPr>
          <a:xfrm>
            <a:off x="457200" y="580644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35040" y="822960"/>
            <a:ext cx="5669280" cy="274320"/>
          </a:xfrm>
          <a:prstGeom prst="rect">
            <a:avLst/>
          </a:prstGeom>
          <a:noFill/>
        </p:spPr>
        <p:txBody>
          <a:bodyPr wrap="none">
            <a:spAutoFit/>
          </a:bodyPr>
          <a:lstStyle/>
          <a:p>
            <a:pPr algn="ctr">
              <a:defRPr b="1" sz="1200">
                <a:solidFill>
                  <a:srgbClr val="003366"/>
                </a:solidFill>
              </a:defRPr>
            </a:pPr>
            <a:r>
              <a:t>Current Scenario</a:t>
            </a:r>
          </a:p>
        </p:txBody>
      </p:sp>
      <p:pic>
        <p:nvPicPr>
          <p:cNvPr id="22" name="Picture 21" descr="34.jpg"/>
          <p:cNvPicPr>
            <a:picLocks noChangeAspect="1"/>
          </p:cNvPicPr>
          <p:nvPr/>
        </p:nvPicPr>
        <p:blipFill>
          <a:blip r:embed="rId2"/>
          <a:stretch>
            <a:fillRect/>
          </a:stretch>
        </p:blipFill>
        <p:spPr>
          <a:xfrm>
            <a:off x="6035040" y="1097280"/>
            <a:ext cx="5669280" cy="2743200"/>
          </a:xfrm>
          <a:prstGeom prst="rect">
            <a:avLst/>
          </a:prstGeom>
          <a:ln w="12700">
            <a:solidFill>
              <a:srgbClr val="C8C8C8"/>
            </a:solidFill>
          </a:ln>
        </p:spPr>
      </p:pic>
      <p:sp>
        <p:nvSpPr>
          <p:cNvPr id="23" name="TextBox 22"/>
          <p:cNvSpPr txBox="1"/>
          <p:nvPr/>
        </p:nvSpPr>
        <p:spPr>
          <a:xfrm>
            <a:off x="6035040" y="3840480"/>
            <a:ext cx="5669280" cy="274320"/>
          </a:xfrm>
          <a:prstGeom prst="rect">
            <a:avLst/>
          </a:prstGeom>
          <a:noFill/>
        </p:spPr>
        <p:txBody>
          <a:bodyPr wrap="none">
            <a:spAutoFit/>
          </a:bodyPr>
          <a:lstStyle/>
          <a:p>
            <a:pPr algn="ctr">
              <a:defRPr b="1" sz="1200">
                <a:solidFill>
                  <a:srgbClr val="003366"/>
                </a:solidFill>
              </a:defRPr>
            </a:pPr>
            <a:r>
              <a:t>Implementation / Proposal</a:t>
            </a:r>
          </a:p>
        </p:txBody>
      </p:sp>
      <p:pic>
        <p:nvPicPr>
          <p:cNvPr id="24" name="Picture 23" descr="impl_overlay_Replacespecifi_1767287657616.jpg"/>
          <p:cNvPicPr>
            <a:picLocks noChangeAspect="1"/>
          </p:cNvPicPr>
          <p:nvPr/>
        </p:nvPicPr>
        <p:blipFill>
          <a:blip r:embed="rId3"/>
          <a:stretch>
            <a:fillRect/>
          </a:stretch>
        </p:blipFill>
        <p:spPr>
          <a:xfrm>
            <a:off x="6035040" y="4114800"/>
            <a:ext cx="5669280" cy="2743200"/>
          </a:xfrm>
          <a:prstGeom prst="rect">
            <a:avLst/>
          </a:prstGeom>
          <a:ln w="12700">
            <a:solidFill>
              <a:srgbClr val="C8C8C8"/>
            </a:solidFill>
          </a:ln>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972800" cy="731520"/>
          </a:xfrm>
          <a:prstGeom prst="rect">
            <a:avLst/>
          </a:prstGeom>
          <a:noFill/>
        </p:spPr>
        <p:txBody>
          <a:bodyPr wrap="none">
            <a:spAutoFit/>
          </a:bodyPr>
          <a:lstStyle/>
          <a:p/>
          <a:p>
            <a:pPr>
              <a:defRPr sz="2400" b="1">
                <a:solidFill>
                  <a:srgbClr val="003366"/>
                </a:solidFill>
              </a:defRPr>
            </a:pPr>
            <a:r>
              <a:t>#9: Re-optimize the helix angle and tooth profile of the primary helical gears to allow for high-volume, single-pass hobbing processes, thereby reducing the need for secondary finishing operations like grinding or honing for specific gears where NVH targets permit a slight increase in tooth surface roughness.</a:t>
            </a:r>
          </a:p>
        </p:txBody>
      </p:sp>
      <p:sp>
        <p:nvSpPr>
          <p:cNvPr id="3" name="TextBox 2"/>
          <p:cNvSpPr txBox="1"/>
          <p:nvPr/>
        </p:nvSpPr>
        <p:spPr>
          <a:xfrm>
            <a:off x="457200" y="1097280"/>
            <a:ext cx="5303520" cy="274320"/>
          </a:xfrm>
          <a:prstGeom prst="rect">
            <a:avLst/>
          </a:prstGeom>
          <a:noFill/>
        </p:spPr>
        <p:txBody>
          <a:bodyPr wrap="none">
            <a:spAutoFit/>
          </a:bodyPr>
          <a:lstStyle/>
          <a:p>
            <a:pPr>
              <a:defRPr b="1" sz="1100">
                <a:solidFill>
                  <a:srgbClr val="FF6400"/>
                </a:solidFill>
              </a:defRPr>
            </a:pPr>
            <a:r>
              <a:t>Technical Engineering View:</a:t>
            </a:r>
          </a:p>
        </p:txBody>
      </p:sp>
      <p:sp>
        <p:nvSpPr>
          <p:cNvPr id="4" name="TextBox 3"/>
          <p:cNvSpPr txBox="1"/>
          <p:nvPr/>
        </p:nvSpPr>
        <p:spPr>
          <a:xfrm>
            <a:off x="457200" y="1325880"/>
            <a:ext cx="5303520" cy="731520"/>
          </a:xfrm>
          <a:prstGeom prst="rect">
            <a:avLst/>
          </a:prstGeom>
          <a:noFill/>
        </p:spPr>
        <p:txBody>
          <a:bodyPr wrap="square">
            <a:spAutoFit/>
          </a:bodyPr>
          <a:lstStyle/>
          <a:p>
            <a:pPr>
              <a:defRPr sz="1100">
                <a:solidFill>
                  <a:srgbClr val="333333"/>
                </a:solidFill>
              </a:defRPr>
            </a:pPr>
            <a:r>
              <a:t>Optimization of Re-optimize the helix angle and tooth profile of the primary helical gears to allow for high-volume, single-pass hobbing processes, thereby reducing the need for secondary finishing operations like grinding or honing for specific gears where NVH targets permit a slight increase in tooth surface roughness. via material substitution and process efficiency.</a:t>
            </a:r>
          </a:p>
        </p:txBody>
      </p:sp>
      <p:sp>
        <p:nvSpPr>
          <p:cNvPr id="5" name="Rectangle 4"/>
          <p:cNvSpPr/>
          <p:nvPr/>
        </p:nvSpPr>
        <p:spPr>
          <a:xfrm>
            <a:off x="457200" y="196596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103120"/>
            <a:ext cx="5303520" cy="274320"/>
          </a:xfrm>
          <a:prstGeom prst="rect">
            <a:avLst/>
          </a:prstGeom>
          <a:noFill/>
        </p:spPr>
        <p:txBody>
          <a:bodyPr wrap="none">
            <a:spAutoFit/>
          </a:bodyPr>
          <a:lstStyle/>
          <a:p>
            <a:pPr>
              <a:defRPr b="1" sz="1100">
                <a:solidFill>
                  <a:srgbClr val="FF6400"/>
                </a:solidFill>
              </a:defRPr>
            </a:pPr>
            <a:r>
              <a:t>Material Change:</a:t>
            </a:r>
          </a:p>
        </p:txBody>
      </p:sp>
      <p:sp>
        <p:nvSpPr>
          <p:cNvPr id="7" name="TextBox 6"/>
          <p:cNvSpPr txBox="1"/>
          <p:nvPr/>
        </p:nvSpPr>
        <p:spPr>
          <a:xfrm>
            <a:off x="457200" y="2331720"/>
            <a:ext cx="5303520" cy="457200"/>
          </a:xfrm>
          <a:prstGeom prst="rect">
            <a:avLst/>
          </a:prstGeom>
          <a:noFill/>
        </p:spPr>
        <p:txBody>
          <a:bodyPr wrap="square">
            <a:spAutoFit/>
          </a:bodyPr>
          <a:lstStyle/>
          <a:p>
            <a:pPr>
              <a:defRPr sz="1100">
                <a:solidFill>
                  <a:srgbClr val="333333"/>
                </a:solidFill>
              </a:defRPr>
            </a:pPr>
            <a:r>
              <a:t>N/A (No material change explicitly mentioned)</a:t>
            </a:r>
          </a:p>
        </p:txBody>
      </p:sp>
      <p:sp>
        <p:nvSpPr>
          <p:cNvPr id="8" name="Rectangle 7"/>
          <p:cNvSpPr/>
          <p:nvPr/>
        </p:nvSpPr>
        <p:spPr>
          <a:xfrm>
            <a:off x="457200" y="269748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2834640"/>
            <a:ext cx="5303520" cy="274320"/>
          </a:xfrm>
          <a:prstGeom prst="rect">
            <a:avLst/>
          </a:prstGeom>
          <a:noFill/>
        </p:spPr>
        <p:txBody>
          <a:bodyPr wrap="none">
            <a:spAutoFit/>
          </a:bodyPr>
          <a:lstStyle/>
          <a:p>
            <a:pPr>
              <a:defRPr b="1" sz="1100">
                <a:solidFill>
                  <a:srgbClr val="FF6400"/>
                </a:solidFill>
              </a:defRPr>
            </a:pPr>
            <a:r>
              <a:t>Dimension Change:</a:t>
            </a:r>
          </a:p>
        </p:txBody>
      </p:sp>
      <p:sp>
        <p:nvSpPr>
          <p:cNvPr id="10" name="TextBox 9"/>
          <p:cNvSpPr txBox="1"/>
          <p:nvPr/>
        </p:nvSpPr>
        <p:spPr>
          <a:xfrm>
            <a:off x="457200" y="3063240"/>
            <a:ext cx="5303520" cy="457200"/>
          </a:xfrm>
          <a:prstGeom prst="rect">
            <a:avLst/>
          </a:prstGeom>
          <a:noFill/>
        </p:spPr>
        <p:txBody>
          <a:bodyPr wrap="square">
            <a:spAutoFit/>
          </a:bodyPr>
          <a:lstStyle/>
          <a:p>
            <a:pPr>
              <a:defRPr sz="1100">
                <a:solidFill>
                  <a:srgbClr val="333333"/>
                </a:solidFill>
              </a:defRPr>
            </a:pPr>
            <a:r>
              <a:t>N/A (Maintains current envelope)</a:t>
            </a:r>
          </a:p>
        </p:txBody>
      </p:sp>
      <p:sp>
        <p:nvSpPr>
          <p:cNvPr id="11" name="Rectangle 10"/>
          <p:cNvSpPr/>
          <p:nvPr/>
        </p:nvSpPr>
        <p:spPr>
          <a:xfrm>
            <a:off x="457200" y="342900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3566160"/>
            <a:ext cx="5303520" cy="274320"/>
          </a:xfrm>
          <a:prstGeom prst="rect">
            <a:avLst/>
          </a:prstGeom>
          <a:noFill/>
        </p:spPr>
        <p:txBody>
          <a:bodyPr wrap="none">
            <a:spAutoFit/>
          </a:bodyPr>
          <a:lstStyle/>
          <a:p>
            <a:pPr>
              <a:defRPr b="1" sz="1100">
                <a:solidFill>
                  <a:srgbClr val="FF6400"/>
                </a:solidFill>
              </a:defRPr>
            </a:pPr>
            <a:r>
              <a:t>Cost Analysis:</a:t>
            </a:r>
          </a:p>
        </p:txBody>
      </p:sp>
      <p:sp>
        <p:nvSpPr>
          <p:cNvPr id="13" name="TextBox 12"/>
          <p:cNvSpPr txBox="1"/>
          <p:nvPr/>
        </p:nvSpPr>
        <p:spPr>
          <a:xfrm>
            <a:off x="457200" y="3794760"/>
            <a:ext cx="5303520" cy="457200"/>
          </a:xfrm>
          <a:prstGeom prst="rect">
            <a:avLst/>
          </a:prstGeom>
          <a:noFill/>
        </p:spPr>
        <p:txBody>
          <a:bodyPr wrap="square">
            <a:spAutoFit/>
          </a:bodyPr>
          <a:lstStyle/>
          <a:p>
            <a:pPr>
              <a:defRPr sz="1100">
                <a:solidFill>
                  <a:srgbClr val="333333"/>
                </a:solidFill>
              </a:defRPr>
            </a:pPr>
            <a:r>
              <a:t>Est. Saving: INR TBD</a:t>
            </a:r>
          </a:p>
        </p:txBody>
      </p:sp>
      <p:sp>
        <p:nvSpPr>
          <p:cNvPr id="14" name="Rectangle 13"/>
          <p:cNvSpPr/>
          <p:nvPr/>
        </p:nvSpPr>
        <p:spPr>
          <a:xfrm>
            <a:off x="457200" y="41605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4297680"/>
            <a:ext cx="5303520" cy="274320"/>
          </a:xfrm>
          <a:prstGeom prst="rect">
            <a:avLst/>
          </a:prstGeom>
          <a:noFill/>
        </p:spPr>
        <p:txBody>
          <a:bodyPr wrap="none">
            <a:spAutoFit/>
          </a:bodyPr>
          <a:lstStyle/>
          <a:p>
            <a:pPr>
              <a:defRPr b="1" sz="1100">
                <a:solidFill>
                  <a:srgbClr val="FF6400"/>
                </a:solidFill>
              </a:defRPr>
            </a:pPr>
            <a:r>
              <a:t>Engineering Validation:</a:t>
            </a:r>
          </a:p>
        </p:txBody>
      </p:sp>
      <p:sp>
        <p:nvSpPr>
          <p:cNvPr id="16" name="TextBox 15"/>
          <p:cNvSpPr txBox="1"/>
          <p:nvPr/>
        </p:nvSpPr>
        <p:spPr>
          <a:xfrm>
            <a:off x="457200" y="4526280"/>
            <a:ext cx="5303520" cy="548640"/>
          </a:xfrm>
          <a:prstGeom prst="rect">
            <a:avLst/>
          </a:prstGeom>
          <a:noFill/>
        </p:spPr>
        <p:txBody>
          <a:bodyPr wrap="square">
            <a:spAutoFit/>
          </a:bodyPr>
          <a:lstStyle/>
          <a:p>
            <a:pPr>
              <a:defRPr sz="1100">
                <a:solidFill>
                  <a:srgbClr val="333333"/>
                </a:solidFill>
              </a:defRPr>
            </a:pPr>
            <a:r>
              <a:t>DVP&amp;R Level 1</a:t>
            </a:r>
            <a:br/>
            <a:r>
              <a:t>• Environmental Cycling</a:t>
            </a:r>
          </a:p>
        </p:txBody>
      </p:sp>
      <p:sp>
        <p:nvSpPr>
          <p:cNvPr id="17" name="Rectangle 16"/>
          <p:cNvSpPr/>
          <p:nvPr/>
        </p:nvSpPr>
        <p:spPr>
          <a:xfrm>
            <a:off x="457200" y="498348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5120640"/>
            <a:ext cx="5303520" cy="274320"/>
          </a:xfrm>
          <a:prstGeom prst="rect">
            <a:avLst/>
          </a:prstGeom>
          <a:noFill/>
        </p:spPr>
        <p:txBody>
          <a:bodyPr wrap="none">
            <a:spAutoFit/>
          </a:bodyPr>
          <a:lstStyle/>
          <a:p>
            <a:pPr>
              <a:defRPr b="1" sz="1100">
                <a:solidFill>
                  <a:srgbClr val="FF6400"/>
                </a:solidFill>
              </a:defRPr>
            </a:pPr>
            <a:r>
              <a:t>Supply Chain Impact:</a:t>
            </a:r>
          </a:p>
        </p:txBody>
      </p:sp>
      <p:sp>
        <p:nvSpPr>
          <p:cNvPr id="19" name="TextBox 18"/>
          <p:cNvSpPr txBox="1"/>
          <p:nvPr/>
        </p:nvSpPr>
        <p:spPr>
          <a:xfrm>
            <a:off x="457200" y="5349240"/>
            <a:ext cx="5303520" cy="548640"/>
          </a:xfrm>
          <a:prstGeom prst="rect">
            <a:avLst/>
          </a:prstGeom>
          <a:noFill/>
        </p:spPr>
        <p:txBody>
          <a:bodyPr wrap="square">
            <a:spAutoFit/>
          </a:bodyPr>
          <a:lstStyle/>
          <a:p>
            <a:pPr>
              <a:defRPr sz="1100">
                <a:solidFill>
                  <a:srgbClr val="333333"/>
                </a:solidFill>
              </a:defRPr>
            </a:pPr>
            <a:r>
              <a:t>Assess supplier capability and lead time impact.</a:t>
            </a:r>
          </a:p>
        </p:txBody>
      </p:sp>
      <p:sp>
        <p:nvSpPr>
          <p:cNvPr id="20" name="Rectangle 19"/>
          <p:cNvSpPr/>
          <p:nvPr/>
        </p:nvSpPr>
        <p:spPr>
          <a:xfrm>
            <a:off x="457200" y="580644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35040" y="822960"/>
            <a:ext cx="5669280" cy="274320"/>
          </a:xfrm>
          <a:prstGeom prst="rect">
            <a:avLst/>
          </a:prstGeom>
          <a:noFill/>
        </p:spPr>
        <p:txBody>
          <a:bodyPr wrap="none">
            <a:spAutoFit/>
          </a:bodyPr>
          <a:lstStyle/>
          <a:p>
            <a:pPr algn="ctr">
              <a:defRPr b="1" sz="1200">
                <a:solidFill>
                  <a:srgbClr val="003366"/>
                </a:solidFill>
              </a:defRPr>
            </a:pPr>
            <a:r>
              <a:t>Current Scenario</a:t>
            </a:r>
          </a:p>
        </p:txBody>
      </p:sp>
      <p:pic>
        <p:nvPicPr>
          <p:cNvPr id="22" name="Picture 21" descr="95.jpg"/>
          <p:cNvPicPr>
            <a:picLocks noChangeAspect="1"/>
          </p:cNvPicPr>
          <p:nvPr/>
        </p:nvPicPr>
        <p:blipFill>
          <a:blip r:embed="rId2"/>
          <a:stretch>
            <a:fillRect/>
          </a:stretch>
        </p:blipFill>
        <p:spPr>
          <a:xfrm>
            <a:off x="6035040" y="1097280"/>
            <a:ext cx="5669280" cy="2743200"/>
          </a:xfrm>
          <a:prstGeom prst="rect">
            <a:avLst/>
          </a:prstGeom>
          <a:ln w="12700">
            <a:solidFill>
              <a:srgbClr val="C8C8C8"/>
            </a:solidFill>
          </a:ln>
        </p:spPr>
      </p:pic>
      <p:sp>
        <p:nvSpPr>
          <p:cNvPr id="23" name="TextBox 22"/>
          <p:cNvSpPr txBox="1"/>
          <p:nvPr/>
        </p:nvSpPr>
        <p:spPr>
          <a:xfrm>
            <a:off x="6035040" y="3840480"/>
            <a:ext cx="5669280" cy="274320"/>
          </a:xfrm>
          <a:prstGeom prst="rect">
            <a:avLst/>
          </a:prstGeom>
          <a:noFill/>
        </p:spPr>
        <p:txBody>
          <a:bodyPr wrap="none">
            <a:spAutoFit/>
          </a:bodyPr>
          <a:lstStyle/>
          <a:p>
            <a:pPr algn="ctr">
              <a:defRPr b="1" sz="1200">
                <a:solidFill>
                  <a:srgbClr val="003366"/>
                </a:solidFill>
              </a:defRPr>
            </a:pPr>
            <a:r>
              <a:t>Implementation / Proposal</a:t>
            </a:r>
          </a:p>
        </p:txBody>
      </p:sp>
      <p:pic>
        <p:nvPicPr>
          <p:cNvPr id="24" name="Picture 23" descr="impl_overlay_Reoptimizethe_1767287657885.jpg"/>
          <p:cNvPicPr>
            <a:picLocks noChangeAspect="1"/>
          </p:cNvPicPr>
          <p:nvPr/>
        </p:nvPicPr>
        <p:blipFill>
          <a:blip r:embed="rId3"/>
          <a:stretch>
            <a:fillRect/>
          </a:stretch>
        </p:blipFill>
        <p:spPr>
          <a:xfrm>
            <a:off x="6035040" y="4114800"/>
            <a:ext cx="5669280" cy="2743200"/>
          </a:xfrm>
          <a:prstGeom prst="rect">
            <a:avLst/>
          </a:prstGeom>
          <a:ln w="12700">
            <a:solidFill>
              <a:srgbClr val="C8C8C8"/>
            </a:solidFill>
          </a:ln>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972800" cy="731520"/>
          </a:xfrm>
          <a:prstGeom prst="rect">
            <a:avLst/>
          </a:prstGeom>
          <a:noFill/>
        </p:spPr>
        <p:txBody>
          <a:bodyPr wrap="none">
            <a:spAutoFit/>
          </a:bodyPr>
          <a:lstStyle/>
          <a:p/>
          <a:p>
            <a:pPr>
              <a:defRPr sz="2400" b="1">
                <a:solidFill>
                  <a:srgbClr val="003366"/>
                </a:solidFill>
              </a:defRPr>
            </a:pPr>
            <a:r>
              <a:t>#10: Specify a slightly lower viscosity, synthetic-blend transmission fluid with an extended drain interval, validated for the specific operating temperatures and load cycles of the Hector's powertrain. This reduces both the initial fill cost and long-term service costs for the customer.</a:t>
            </a:r>
          </a:p>
        </p:txBody>
      </p:sp>
      <p:sp>
        <p:nvSpPr>
          <p:cNvPr id="3" name="TextBox 2"/>
          <p:cNvSpPr txBox="1"/>
          <p:nvPr/>
        </p:nvSpPr>
        <p:spPr>
          <a:xfrm>
            <a:off x="457200" y="1097280"/>
            <a:ext cx="5303520" cy="274320"/>
          </a:xfrm>
          <a:prstGeom prst="rect">
            <a:avLst/>
          </a:prstGeom>
          <a:noFill/>
        </p:spPr>
        <p:txBody>
          <a:bodyPr wrap="none">
            <a:spAutoFit/>
          </a:bodyPr>
          <a:lstStyle/>
          <a:p>
            <a:pPr>
              <a:defRPr b="1" sz="1100">
                <a:solidFill>
                  <a:srgbClr val="FF6400"/>
                </a:solidFill>
              </a:defRPr>
            </a:pPr>
            <a:r>
              <a:t>Technical Engineering View:</a:t>
            </a:r>
          </a:p>
        </p:txBody>
      </p:sp>
      <p:sp>
        <p:nvSpPr>
          <p:cNvPr id="4" name="TextBox 3"/>
          <p:cNvSpPr txBox="1"/>
          <p:nvPr/>
        </p:nvSpPr>
        <p:spPr>
          <a:xfrm>
            <a:off x="457200" y="1325880"/>
            <a:ext cx="5303520" cy="731520"/>
          </a:xfrm>
          <a:prstGeom prst="rect">
            <a:avLst/>
          </a:prstGeom>
          <a:noFill/>
        </p:spPr>
        <p:txBody>
          <a:bodyPr wrap="square">
            <a:spAutoFit/>
          </a:bodyPr>
          <a:lstStyle/>
          <a:p>
            <a:pPr>
              <a:defRPr sz="1100">
                <a:solidFill>
                  <a:srgbClr val="333333"/>
                </a:solidFill>
              </a:defRPr>
            </a:pPr>
            <a:r>
              <a:t>Optimization of Specify a slightly lower viscosity, synthetic-blend transmission fluid with an extended drain interval, validated for the specific operating temperatures and load cycles of the Hector's powertrain. This reduces both the initial fill cost and long-term service costs for the customer. via material substitution and process efficiency.</a:t>
            </a:r>
          </a:p>
        </p:txBody>
      </p:sp>
      <p:sp>
        <p:nvSpPr>
          <p:cNvPr id="5" name="Rectangle 4"/>
          <p:cNvSpPr/>
          <p:nvPr/>
        </p:nvSpPr>
        <p:spPr>
          <a:xfrm>
            <a:off x="457200" y="196596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103120"/>
            <a:ext cx="5303520" cy="274320"/>
          </a:xfrm>
          <a:prstGeom prst="rect">
            <a:avLst/>
          </a:prstGeom>
          <a:noFill/>
        </p:spPr>
        <p:txBody>
          <a:bodyPr wrap="none">
            <a:spAutoFit/>
          </a:bodyPr>
          <a:lstStyle/>
          <a:p>
            <a:pPr>
              <a:defRPr b="1" sz="1100">
                <a:solidFill>
                  <a:srgbClr val="FF6400"/>
                </a:solidFill>
              </a:defRPr>
            </a:pPr>
            <a:r>
              <a:t>Material Change:</a:t>
            </a:r>
          </a:p>
        </p:txBody>
      </p:sp>
      <p:sp>
        <p:nvSpPr>
          <p:cNvPr id="7" name="TextBox 6"/>
          <p:cNvSpPr txBox="1"/>
          <p:nvPr/>
        </p:nvSpPr>
        <p:spPr>
          <a:xfrm>
            <a:off x="457200" y="2331720"/>
            <a:ext cx="5303520" cy="457200"/>
          </a:xfrm>
          <a:prstGeom prst="rect">
            <a:avLst/>
          </a:prstGeom>
          <a:noFill/>
        </p:spPr>
        <p:txBody>
          <a:bodyPr wrap="square">
            <a:spAutoFit/>
          </a:bodyPr>
          <a:lstStyle/>
          <a:p>
            <a:pPr>
              <a:defRPr sz="1100">
                <a:solidFill>
                  <a:srgbClr val="333333"/>
                </a:solidFill>
              </a:defRPr>
            </a:pPr>
            <a:r>
              <a:t>N/A (No material change explicitly mentioned)</a:t>
            </a:r>
          </a:p>
        </p:txBody>
      </p:sp>
      <p:sp>
        <p:nvSpPr>
          <p:cNvPr id="8" name="Rectangle 7"/>
          <p:cNvSpPr/>
          <p:nvPr/>
        </p:nvSpPr>
        <p:spPr>
          <a:xfrm>
            <a:off x="457200" y="269748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2834640"/>
            <a:ext cx="5303520" cy="274320"/>
          </a:xfrm>
          <a:prstGeom prst="rect">
            <a:avLst/>
          </a:prstGeom>
          <a:noFill/>
        </p:spPr>
        <p:txBody>
          <a:bodyPr wrap="none">
            <a:spAutoFit/>
          </a:bodyPr>
          <a:lstStyle/>
          <a:p>
            <a:pPr>
              <a:defRPr b="1" sz="1100">
                <a:solidFill>
                  <a:srgbClr val="FF6400"/>
                </a:solidFill>
              </a:defRPr>
            </a:pPr>
            <a:r>
              <a:t>Dimension Change:</a:t>
            </a:r>
          </a:p>
        </p:txBody>
      </p:sp>
      <p:sp>
        <p:nvSpPr>
          <p:cNvPr id="10" name="TextBox 9"/>
          <p:cNvSpPr txBox="1"/>
          <p:nvPr/>
        </p:nvSpPr>
        <p:spPr>
          <a:xfrm>
            <a:off x="457200" y="3063240"/>
            <a:ext cx="5303520" cy="457200"/>
          </a:xfrm>
          <a:prstGeom prst="rect">
            <a:avLst/>
          </a:prstGeom>
          <a:noFill/>
        </p:spPr>
        <p:txBody>
          <a:bodyPr wrap="square">
            <a:spAutoFit/>
          </a:bodyPr>
          <a:lstStyle/>
          <a:p>
            <a:pPr>
              <a:defRPr sz="1100">
                <a:solidFill>
                  <a:srgbClr val="333333"/>
                </a:solidFill>
              </a:defRPr>
            </a:pPr>
            <a:r>
              <a:t>N/A (Maintains current envelope)</a:t>
            </a:r>
          </a:p>
        </p:txBody>
      </p:sp>
      <p:sp>
        <p:nvSpPr>
          <p:cNvPr id="11" name="Rectangle 10"/>
          <p:cNvSpPr/>
          <p:nvPr/>
        </p:nvSpPr>
        <p:spPr>
          <a:xfrm>
            <a:off x="457200" y="342900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3566160"/>
            <a:ext cx="5303520" cy="274320"/>
          </a:xfrm>
          <a:prstGeom prst="rect">
            <a:avLst/>
          </a:prstGeom>
          <a:noFill/>
        </p:spPr>
        <p:txBody>
          <a:bodyPr wrap="none">
            <a:spAutoFit/>
          </a:bodyPr>
          <a:lstStyle/>
          <a:p>
            <a:pPr>
              <a:defRPr b="1" sz="1100">
                <a:solidFill>
                  <a:srgbClr val="FF6400"/>
                </a:solidFill>
              </a:defRPr>
            </a:pPr>
            <a:r>
              <a:t>Cost Analysis:</a:t>
            </a:r>
          </a:p>
        </p:txBody>
      </p:sp>
      <p:sp>
        <p:nvSpPr>
          <p:cNvPr id="13" name="TextBox 12"/>
          <p:cNvSpPr txBox="1"/>
          <p:nvPr/>
        </p:nvSpPr>
        <p:spPr>
          <a:xfrm>
            <a:off x="457200" y="3794760"/>
            <a:ext cx="5303520" cy="457200"/>
          </a:xfrm>
          <a:prstGeom prst="rect">
            <a:avLst/>
          </a:prstGeom>
          <a:noFill/>
        </p:spPr>
        <p:txBody>
          <a:bodyPr wrap="square">
            <a:spAutoFit/>
          </a:bodyPr>
          <a:lstStyle/>
          <a:p>
            <a:pPr>
              <a:defRPr sz="1100">
                <a:solidFill>
                  <a:srgbClr val="333333"/>
                </a:solidFill>
              </a:defRPr>
            </a:pPr>
            <a:r>
              <a:t>Est. Saving: INR TBD</a:t>
            </a:r>
          </a:p>
        </p:txBody>
      </p:sp>
      <p:sp>
        <p:nvSpPr>
          <p:cNvPr id="14" name="Rectangle 13"/>
          <p:cNvSpPr/>
          <p:nvPr/>
        </p:nvSpPr>
        <p:spPr>
          <a:xfrm>
            <a:off x="457200" y="41605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4297680"/>
            <a:ext cx="5303520" cy="274320"/>
          </a:xfrm>
          <a:prstGeom prst="rect">
            <a:avLst/>
          </a:prstGeom>
          <a:noFill/>
        </p:spPr>
        <p:txBody>
          <a:bodyPr wrap="none">
            <a:spAutoFit/>
          </a:bodyPr>
          <a:lstStyle/>
          <a:p>
            <a:pPr>
              <a:defRPr b="1" sz="1100">
                <a:solidFill>
                  <a:srgbClr val="FF6400"/>
                </a:solidFill>
              </a:defRPr>
            </a:pPr>
            <a:r>
              <a:t>Engineering Validation:</a:t>
            </a:r>
          </a:p>
        </p:txBody>
      </p:sp>
      <p:sp>
        <p:nvSpPr>
          <p:cNvPr id="16" name="TextBox 15"/>
          <p:cNvSpPr txBox="1"/>
          <p:nvPr/>
        </p:nvSpPr>
        <p:spPr>
          <a:xfrm>
            <a:off x="457200" y="4526280"/>
            <a:ext cx="5303520" cy="548640"/>
          </a:xfrm>
          <a:prstGeom prst="rect">
            <a:avLst/>
          </a:prstGeom>
          <a:noFill/>
        </p:spPr>
        <p:txBody>
          <a:bodyPr wrap="square">
            <a:spAutoFit/>
          </a:bodyPr>
          <a:lstStyle/>
          <a:p>
            <a:pPr>
              <a:defRPr sz="1100">
                <a:solidFill>
                  <a:srgbClr val="333333"/>
                </a:solidFill>
              </a:defRPr>
            </a:pPr>
            <a:r>
              <a:t>DVP&amp;R Level 1</a:t>
            </a:r>
            <a:br/>
            <a:r>
              <a:t>• Environmental Cycling</a:t>
            </a:r>
          </a:p>
        </p:txBody>
      </p:sp>
      <p:sp>
        <p:nvSpPr>
          <p:cNvPr id="17" name="Rectangle 16"/>
          <p:cNvSpPr/>
          <p:nvPr/>
        </p:nvSpPr>
        <p:spPr>
          <a:xfrm>
            <a:off x="457200" y="498348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5120640"/>
            <a:ext cx="5303520" cy="274320"/>
          </a:xfrm>
          <a:prstGeom prst="rect">
            <a:avLst/>
          </a:prstGeom>
          <a:noFill/>
        </p:spPr>
        <p:txBody>
          <a:bodyPr wrap="none">
            <a:spAutoFit/>
          </a:bodyPr>
          <a:lstStyle/>
          <a:p>
            <a:pPr>
              <a:defRPr b="1" sz="1100">
                <a:solidFill>
                  <a:srgbClr val="FF6400"/>
                </a:solidFill>
              </a:defRPr>
            </a:pPr>
            <a:r>
              <a:t>Supply Chain Impact:</a:t>
            </a:r>
          </a:p>
        </p:txBody>
      </p:sp>
      <p:sp>
        <p:nvSpPr>
          <p:cNvPr id="19" name="TextBox 18"/>
          <p:cNvSpPr txBox="1"/>
          <p:nvPr/>
        </p:nvSpPr>
        <p:spPr>
          <a:xfrm>
            <a:off x="457200" y="5349240"/>
            <a:ext cx="5303520" cy="548640"/>
          </a:xfrm>
          <a:prstGeom prst="rect">
            <a:avLst/>
          </a:prstGeom>
          <a:noFill/>
        </p:spPr>
        <p:txBody>
          <a:bodyPr wrap="square">
            <a:spAutoFit/>
          </a:bodyPr>
          <a:lstStyle/>
          <a:p>
            <a:pPr>
              <a:defRPr sz="1100">
                <a:solidFill>
                  <a:srgbClr val="333333"/>
                </a:solidFill>
              </a:defRPr>
            </a:pPr>
            <a:r>
              <a:t>Assess supplier capability and lead time impact.</a:t>
            </a:r>
          </a:p>
        </p:txBody>
      </p:sp>
      <p:sp>
        <p:nvSpPr>
          <p:cNvPr id="20" name="Rectangle 19"/>
          <p:cNvSpPr/>
          <p:nvPr/>
        </p:nvSpPr>
        <p:spPr>
          <a:xfrm>
            <a:off x="457200" y="580644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35040" y="822960"/>
            <a:ext cx="5669280" cy="274320"/>
          </a:xfrm>
          <a:prstGeom prst="rect">
            <a:avLst/>
          </a:prstGeom>
          <a:noFill/>
        </p:spPr>
        <p:txBody>
          <a:bodyPr wrap="none">
            <a:spAutoFit/>
          </a:bodyPr>
          <a:lstStyle/>
          <a:p>
            <a:pPr algn="ctr">
              <a:defRPr b="1" sz="1200">
                <a:solidFill>
                  <a:srgbClr val="003366"/>
                </a:solidFill>
              </a:defRPr>
            </a:pPr>
            <a:r>
              <a:t>Current Scenario</a:t>
            </a:r>
          </a:p>
        </p:txBody>
      </p:sp>
      <p:pic>
        <p:nvPicPr>
          <p:cNvPr id="22" name="Picture 21" descr="3.jpg"/>
          <p:cNvPicPr>
            <a:picLocks noChangeAspect="1"/>
          </p:cNvPicPr>
          <p:nvPr/>
        </p:nvPicPr>
        <p:blipFill>
          <a:blip r:embed="rId2"/>
          <a:stretch>
            <a:fillRect/>
          </a:stretch>
        </p:blipFill>
        <p:spPr>
          <a:xfrm>
            <a:off x="6035040" y="1097280"/>
            <a:ext cx="5669280" cy="2743200"/>
          </a:xfrm>
          <a:prstGeom prst="rect">
            <a:avLst/>
          </a:prstGeom>
          <a:ln w="12700">
            <a:solidFill>
              <a:srgbClr val="C8C8C8"/>
            </a:solidFill>
          </a:ln>
        </p:spPr>
      </p:pic>
      <p:sp>
        <p:nvSpPr>
          <p:cNvPr id="23" name="TextBox 22"/>
          <p:cNvSpPr txBox="1"/>
          <p:nvPr/>
        </p:nvSpPr>
        <p:spPr>
          <a:xfrm>
            <a:off x="6035040" y="3840480"/>
            <a:ext cx="5669280" cy="274320"/>
          </a:xfrm>
          <a:prstGeom prst="rect">
            <a:avLst/>
          </a:prstGeom>
          <a:noFill/>
        </p:spPr>
        <p:txBody>
          <a:bodyPr wrap="none">
            <a:spAutoFit/>
          </a:bodyPr>
          <a:lstStyle/>
          <a:p>
            <a:pPr algn="ctr">
              <a:defRPr b="1" sz="1200">
                <a:solidFill>
                  <a:srgbClr val="003366"/>
                </a:solidFill>
              </a:defRPr>
            </a:pPr>
            <a:r>
              <a:t>Implementation / Proposal</a:t>
            </a:r>
          </a:p>
        </p:txBody>
      </p:sp>
      <p:pic>
        <p:nvPicPr>
          <p:cNvPr id="24" name="Picture 23" descr="impl_overlay_Specifyasligh_1767287658129.jpg"/>
          <p:cNvPicPr>
            <a:picLocks noChangeAspect="1"/>
          </p:cNvPicPr>
          <p:nvPr/>
        </p:nvPicPr>
        <p:blipFill>
          <a:blip r:embed="rId3"/>
          <a:stretch>
            <a:fillRect/>
          </a:stretch>
        </p:blipFill>
        <p:spPr>
          <a:xfrm>
            <a:off x="6035040" y="4114800"/>
            <a:ext cx="5669280" cy="2743200"/>
          </a:xfrm>
          <a:prstGeom prst="rect">
            <a:avLst/>
          </a:prstGeom>
          <a:ln w="12700">
            <a:solidFill>
              <a:srgbClr val="C8C8C8"/>
            </a:solidFill>
          </a:ln>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972800" cy="731520"/>
          </a:xfrm>
          <a:prstGeom prst="rect">
            <a:avLst/>
          </a:prstGeom>
          <a:noFill/>
        </p:spPr>
        <p:txBody>
          <a:bodyPr wrap="none">
            <a:spAutoFit/>
          </a:bodyPr>
          <a:lstStyle/>
          <a:p/>
          <a:p>
            <a:pPr>
              <a:defRPr sz="2400" b="1">
                <a:solidFill>
                  <a:srgbClr val="003366"/>
                </a:solidFill>
              </a:defRPr>
            </a:pPr>
            <a:r>
              <a:t>#11: Integrate the output shaft bearing carrier directly into the main transmission casing casting, eliminating a separate machined component and its associated fasteners. This reduces part count, assembly complexity, and potential leak paths.</a:t>
            </a:r>
          </a:p>
        </p:txBody>
      </p:sp>
      <p:sp>
        <p:nvSpPr>
          <p:cNvPr id="3" name="TextBox 2"/>
          <p:cNvSpPr txBox="1"/>
          <p:nvPr/>
        </p:nvSpPr>
        <p:spPr>
          <a:xfrm>
            <a:off x="457200" y="1097280"/>
            <a:ext cx="5303520" cy="274320"/>
          </a:xfrm>
          <a:prstGeom prst="rect">
            <a:avLst/>
          </a:prstGeom>
          <a:noFill/>
        </p:spPr>
        <p:txBody>
          <a:bodyPr wrap="none">
            <a:spAutoFit/>
          </a:bodyPr>
          <a:lstStyle/>
          <a:p>
            <a:pPr>
              <a:defRPr b="1" sz="1100">
                <a:solidFill>
                  <a:srgbClr val="FF6400"/>
                </a:solidFill>
              </a:defRPr>
            </a:pPr>
            <a:r>
              <a:t>Technical Engineering View:</a:t>
            </a:r>
          </a:p>
        </p:txBody>
      </p:sp>
      <p:sp>
        <p:nvSpPr>
          <p:cNvPr id="4" name="TextBox 3"/>
          <p:cNvSpPr txBox="1"/>
          <p:nvPr/>
        </p:nvSpPr>
        <p:spPr>
          <a:xfrm>
            <a:off x="457200" y="1325880"/>
            <a:ext cx="5303520" cy="731520"/>
          </a:xfrm>
          <a:prstGeom prst="rect">
            <a:avLst/>
          </a:prstGeom>
          <a:noFill/>
        </p:spPr>
        <p:txBody>
          <a:bodyPr wrap="square">
            <a:spAutoFit/>
          </a:bodyPr>
          <a:lstStyle/>
          <a:p>
            <a:pPr>
              <a:defRPr sz="1100">
                <a:solidFill>
                  <a:srgbClr val="333333"/>
                </a:solidFill>
              </a:defRPr>
            </a:pPr>
            <a:r>
              <a:t>Optimization of Integrate the output shaft bearing carrier directly into the main transmission casing casting, eliminating a separate machined component and its associated fasteners. This reduces part count, assembly complexity, and potential leak paths. via material substitution and process efficiency.</a:t>
            </a:r>
          </a:p>
        </p:txBody>
      </p:sp>
      <p:sp>
        <p:nvSpPr>
          <p:cNvPr id="5" name="Rectangle 4"/>
          <p:cNvSpPr/>
          <p:nvPr/>
        </p:nvSpPr>
        <p:spPr>
          <a:xfrm>
            <a:off x="457200" y="196596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103120"/>
            <a:ext cx="5303520" cy="274320"/>
          </a:xfrm>
          <a:prstGeom prst="rect">
            <a:avLst/>
          </a:prstGeom>
          <a:noFill/>
        </p:spPr>
        <p:txBody>
          <a:bodyPr wrap="none">
            <a:spAutoFit/>
          </a:bodyPr>
          <a:lstStyle/>
          <a:p>
            <a:pPr>
              <a:defRPr b="1" sz="1100">
                <a:solidFill>
                  <a:srgbClr val="FF6400"/>
                </a:solidFill>
              </a:defRPr>
            </a:pPr>
            <a:r>
              <a:t>Material Change:</a:t>
            </a:r>
          </a:p>
        </p:txBody>
      </p:sp>
      <p:sp>
        <p:nvSpPr>
          <p:cNvPr id="7" name="TextBox 6"/>
          <p:cNvSpPr txBox="1"/>
          <p:nvPr/>
        </p:nvSpPr>
        <p:spPr>
          <a:xfrm>
            <a:off x="457200" y="2331720"/>
            <a:ext cx="5303520" cy="457200"/>
          </a:xfrm>
          <a:prstGeom prst="rect">
            <a:avLst/>
          </a:prstGeom>
          <a:noFill/>
        </p:spPr>
        <p:txBody>
          <a:bodyPr wrap="square">
            <a:spAutoFit/>
          </a:bodyPr>
          <a:lstStyle/>
          <a:p>
            <a:pPr>
              <a:defRPr sz="1100">
                <a:solidFill>
                  <a:srgbClr val="333333"/>
                </a:solidFill>
              </a:defRPr>
            </a:pPr>
            <a:r>
              <a:t>N/A (No material change explicitly mentioned)</a:t>
            </a:r>
          </a:p>
        </p:txBody>
      </p:sp>
      <p:sp>
        <p:nvSpPr>
          <p:cNvPr id="8" name="Rectangle 7"/>
          <p:cNvSpPr/>
          <p:nvPr/>
        </p:nvSpPr>
        <p:spPr>
          <a:xfrm>
            <a:off x="457200" y="269748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2834640"/>
            <a:ext cx="5303520" cy="274320"/>
          </a:xfrm>
          <a:prstGeom prst="rect">
            <a:avLst/>
          </a:prstGeom>
          <a:noFill/>
        </p:spPr>
        <p:txBody>
          <a:bodyPr wrap="none">
            <a:spAutoFit/>
          </a:bodyPr>
          <a:lstStyle/>
          <a:p>
            <a:pPr>
              <a:defRPr b="1" sz="1100">
                <a:solidFill>
                  <a:srgbClr val="FF6400"/>
                </a:solidFill>
              </a:defRPr>
            </a:pPr>
            <a:r>
              <a:t>Dimension Change:</a:t>
            </a:r>
          </a:p>
        </p:txBody>
      </p:sp>
      <p:sp>
        <p:nvSpPr>
          <p:cNvPr id="10" name="TextBox 9"/>
          <p:cNvSpPr txBox="1"/>
          <p:nvPr/>
        </p:nvSpPr>
        <p:spPr>
          <a:xfrm>
            <a:off x="457200" y="3063240"/>
            <a:ext cx="5303520" cy="457200"/>
          </a:xfrm>
          <a:prstGeom prst="rect">
            <a:avLst/>
          </a:prstGeom>
          <a:noFill/>
        </p:spPr>
        <p:txBody>
          <a:bodyPr wrap="square">
            <a:spAutoFit/>
          </a:bodyPr>
          <a:lstStyle/>
          <a:p>
            <a:pPr>
              <a:defRPr sz="1100">
                <a:solidFill>
                  <a:srgbClr val="333333"/>
                </a:solidFill>
              </a:defRPr>
            </a:pPr>
            <a:r>
              <a:t>N/A (Maintains current envelope)</a:t>
            </a:r>
          </a:p>
        </p:txBody>
      </p:sp>
      <p:sp>
        <p:nvSpPr>
          <p:cNvPr id="11" name="Rectangle 10"/>
          <p:cNvSpPr/>
          <p:nvPr/>
        </p:nvSpPr>
        <p:spPr>
          <a:xfrm>
            <a:off x="457200" y="342900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3566160"/>
            <a:ext cx="5303520" cy="274320"/>
          </a:xfrm>
          <a:prstGeom prst="rect">
            <a:avLst/>
          </a:prstGeom>
          <a:noFill/>
        </p:spPr>
        <p:txBody>
          <a:bodyPr wrap="none">
            <a:spAutoFit/>
          </a:bodyPr>
          <a:lstStyle/>
          <a:p>
            <a:pPr>
              <a:defRPr b="1" sz="1100">
                <a:solidFill>
                  <a:srgbClr val="FF6400"/>
                </a:solidFill>
              </a:defRPr>
            </a:pPr>
            <a:r>
              <a:t>Cost Analysis:</a:t>
            </a:r>
          </a:p>
        </p:txBody>
      </p:sp>
      <p:sp>
        <p:nvSpPr>
          <p:cNvPr id="13" name="TextBox 12"/>
          <p:cNvSpPr txBox="1"/>
          <p:nvPr/>
        </p:nvSpPr>
        <p:spPr>
          <a:xfrm>
            <a:off x="457200" y="3794760"/>
            <a:ext cx="5303520" cy="457200"/>
          </a:xfrm>
          <a:prstGeom prst="rect">
            <a:avLst/>
          </a:prstGeom>
          <a:noFill/>
        </p:spPr>
        <p:txBody>
          <a:bodyPr wrap="square">
            <a:spAutoFit/>
          </a:bodyPr>
          <a:lstStyle/>
          <a:p>
            <a:pPr>
              <a:defRPr sz="1100">
                <a:solidFill>
                  <a:srgbClr val="333333"/>
                </a:solidFill>
              </a:defRPr>
            </a:pPr>
            <a:r>
              <a:t>Est. Saving: INR TBD</a:t>
            </a:r>
          </a:p>
        </p:txBody>
      </p:sp>
      <p:sp>
        <p:nvSpPr>
          <p:cNvPr id="14" name="Rectangle 13"/>
          <p:cNvSpPr/>
          <p:nvPr/>
        </p:nvSpPr>
        <p:spPr>
          <a:xfrm>
            <a:off x="457200" y="41605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4297680"/>
            <a:ext cx="5303520" cy="274320"/>
          </a:xfrm>
          <a:prstGeom prst="rect">
            <a:avLst/>
          </a:prstGeom>
          <a:noFill/>
        </p:spPr>
        <p:txBody>
          <a:bodyPr wrap="none">
            <a:spAutoFit/>
          </a:bodyPr>
          <a:lstStyle/>
          <a:p>
            <a:pPr>
              <a:defRPr b="1" sz="1100">
                <a:solidFill>
                  <a:srgbClr val="FF6400"/>
                </a:solidFill>
              </a:defRPr>
            </a:pPr>
            <a:r>
              <a:t>Engineering Validation:</a:t>
            </a:r>
          </a:p>
        </p:txBody>
      </p:sp>
      <p:sp>
        <p:nvSpPr>
          <p:cNvPr id="16" name="TextBox 15"/>
          <p:cNvSpPr txBox="1"/>
          <p:nvPr/>
        </p:nvSpPr>
        <p:spPr>
          <a:xfrm>
            <a:off x="457200" y="4526280"/>
            <a:ext cx="5303520" cy="548640"/>
          </a:xfrm>
          <a:prstGeom prst="rect">
            <a:avLst/>
          </a:prstGeom>
          <a:noFill/>
        </p:spPr>
        <p:txBody>
          <a:bodyPr wrap="square">
            <a:spAutoFit/>
          </a:bodyPr>
          <a:lstStyle/>
          <a:p>
            <a:pPr>
              <a:defRPr sz="1100">
                <a:solidFill>
                  <a:srgbClr val="333333"/>
                </a:solidFill>
              </a:defRPr>
            </a:pPr>
            <a:r>
              <a:t>DVP&amp;R Level 1</a:t>
            </a:r>
            <a:br/>
            <a:r>
              <a:t>• Environmental Cycling</a:t>
            </a:r>
          </a:p>
        </p:txBody>
      </p:sp>
      <p:sp>
        <p:nvSpPr>
          <p:cNvPr id="17" name="Rectangle 16"/>
          <p:cNvSpPr/>
          <p:nvPr/>
        </p:nvSpPr>
        <p:spPr>
          <a:xfrm>
            <a:off x="457200" y="498348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5120640"/>
            <a:ext cx="5303520" cy="274320"/>
          </a:xfrm>
          <a:prstGeom prst="rect">
            <a:avLst/>
          </a:prstGeom>
          <a:noFill/>
        </p:spPr>
        <p:txBody>
          <a:bodyPr wrap="none">
            <a:spAutoFit/>
          </a:bodyPr>
          <a:lstStyle/>
          <a:p>
            <a:pPr>
              <a:defRPr b="1" sz="1100">
                <a:solidFill>
                  <a:srgbClr val="FF6400"/>
                </a:solidFill>
              </a:defRPr>
            </a:pPr>
            <a:r>
              <a:t>Supply Chain Impact:</a:t>
            </a:r>
          </a:p>
        </p:txBody>
      </p:sp>
      <p:sp>
        <p:nvSpPr>
          <p:cNvPr id="19" name="TextBox 18"/>
          <p:cNvSpPr txBox="1"/>
          <p:nvPr/>
        </p:nvSpPr>
        <p:spPr>
          <a:xfrm>
            <a:off x="457200" y="5349240"/>
            <a:ext cx="5303520" cy="548640"/>
          </a:xfrm>
          <a:prstGeom prst="rect">
            <a:avLst/>
          </a:prstGeom>
          <a:noFill/>
        </p:spPr>
        <p:txBody>
          <a:bodyPr wrap="square">
            <a:spAutoFit/>
          </a:bodyPr>
          <a:lstStyle/>
          <a:p>
            <a:pPr>
              <a:defRPr sz="1100">
                <a:solidFill>
                  <a:srgbClr val="333333"/>
                </a:solidFill>
              </a:defRPr>
            </a:pPr>
            <a:r>
              <a:t>Assess supplier capability and lead time impact.</a:t>
            </a:r>
          </a:p>
        </p:txBody>
      </p:sp>
      <p:sp>
        <p:nvSpPr>
          <p:cNvPr id="20" name="Rectangle 19"/>
          <p:cNvSpPr/>
          <p:nvPr/>
        </p:nvSpPr>
        <p:spPr>
          <a:xfrm>
            <a:off x="457200" y="580644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35040" y="822960"/>
            <a:ext cx="5669280" cy="274320"/>
          </a:xfrm>
          <a:prstGeom prst="rect">
            <a:avLst/>
          </a:prstGeom>
          <a:noFill/>
        </p:spPr>
        <p:txBody>
          <a:bodyPr wrap="none">
            <a:spAutoFit/>
          </a:bodyPr>
          <a:lstStyle/>
          <a:p>
            <a:pPr algn="ctr">
              <a:defRPr b="1" sz="1200">
                <a:solidFill>
                  <a:srgbClr val="003366"/>
                </a:solidFill>
              </a:defRPr>
            </a:pPr>
            <a:r>
              <a:t>Current Scenario</a:t>
            </a:r>
          </a:p>
        </p:txBody>
      </p:sp>
      <p:sp>
        <p:nvSpPr>
          <p:cNvPr id="22" name="Rectangle 21"/>
          <p:cNvSpPr/>
          <p:nvPr/>
        </p:nvSpPr>
        <p:spPr>
          <a:xfrm>
            <a:off x="6035040" y="1097280"/>
            <a:ext cx="5669280" cy="2743200"/>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969696"/>
                </a:solidFill>
              </a:defRPr>
            </a:pPr>
            <a:r>
              <a:t>No Image</a:t>
            </a:r>
          </a:p>
        </p:txBody>
      </p:sp>
      <p:sp>
        <p:nvSpPr>
          <p:cNvPr id="23" name="TextBox 22"/>
          <p:cNvSpPr txBox="1"/>
          <p:nvPr/>
        </p:nvSpPr>
        <p:spPr>
          <a:xfrm>
            <a:off x="6035040" y="3840480"/>
            <a:ext cx="5669280" cy="274320"/>
          </a:xfrm>
          <a:prstGeom prst="rect">
            <a:avLst/>
          </a:prstGeom>
          <a:noFill/>
        </p:spPr>
        <p:txBody>
          <a:bodyPr wrap="none">
            <a:spAutoFit/>
          </a:bodyPr>
          <a:lstStyle/>
          <a:p>
            <a:pPr algn="ctr">
              <a:defRPr b="1" sz="1200">
                <a:solidFill>
                  <a:srgbClr val="003366"/>
                </a:solidFill>
              </a:defRPr>
            </a:pPr>
            <a:r>
              <a:t>Implementation / Proposal</a:t>
            </a:r>
          </a:p>
        </p:txBody>
      </p:sp>
      <p:pic>
        <p:nvPicPr>
          <p:cNvPr id="24" name="Picture 23" descr="ai_gen_Assembled_1767287658.jpg"/>
          <p:cNvPicPr>
            <a:picLocks noChangeAspect="1"/>
          </p:cNvPicPr>
          <p:nvPr/>
        </p:nvPicPr>
        <p:blipFill>
          <a:blip r:embed="rId2"/>
          <a:stretch>
            <a:fillRect/>
          </a:stretch>
        </p:blipFill>
        <p:spPr>
          <a:xfrm>
            <a:off x="6035040" y="4114800"/>
            <a:ext cx="5669280" cy="2743200"/>
          </a:xfrm>
          <a:prstGeom prst="rect">
            <a:avLst/>
          </a:prstGeom>
          <a:ln w="12700">
            <a:solidFill>
              <a:srgbClr val="C8C8C8"/>
            </a:solidFill>
          </a:ln>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972800" cy="731520"/>
          </a:xfrm>
          <a:prstGeom prst="rect">
            <a:avLst/>
          </a:prstGeom>
          <a:noFill/>
        </p:spPr>
        <p:txBody>
          <a:bodyPr wrap="none">
            <a:spAutoFit/>
          </a:bodyPr>
          <a:lstStyle/>
          <a:p/>
          <a:p>
            <a:pPr>
              <a:defRPr sz="2400" b="1">
                <a:solidFill>
                  <a:srgbClr val="003366"/>
                </a:solidFill>
              </a:defRPr>
            </a:pPr>
            <a:r>
              <a:t>#12: Reduce mass and cost of the exhaust system components.</a:t>
            </a:r>
          </a:p>
        </p:txBody>
      </p:sp>
      <p:sp>
        <p:nvSpPr>
          <p:cNvPr id="3" name="TextBox 2"/>
          <p:cNvSpPr txBox="1"/>
          <p:nvPr/>
        </p:nvSpPr>
        <p:spPr>
          <a:xfrm>
            <a:off x="457200" y="1097280"/>
            <a:ext cx="5303520" cy="274320"/>
          </a:xfrm>
          <a:prstGeom prst="rect">
            <a:avLst/>
          </a:prstGeom>
          <a:noFill/>
        </p:spPr>
        <p:txBody>
          <a:bodyPr wrap="none">
            <a:spAutoFit/>
          </a:bodyPr>
          <a:lstStyle/>
          <a:p>
            <a:pPr>
              <a:defRPr b="1" sz="1100">
                <a:solidFill>
                  <a:srgbClr val="FF6400"/>
                </a:solidFill>
              </a:defRPr>
            </a:pPr>
            <a:r>
              <a:t>Technical Engineering View:</a:t>
            </a:r>
          </a:p>
        </p:txBody>
      </p:sp>
      <p:sp>
        <p:nvSpPr>
          <p:cNvPr id="4" name="TextBox 3"/>
          <p:cNvSpPr txBox="1"/>
          <p:nvPr/>
        </p:nvSpPr>
        <p:spPr>
          <a:xfrm>
            <a:off x="457200" y="1325880"/>
            <a:ext cx="5303520" cy="731520"/>
          </a:xfrm>
          <a:prstGeom prst="rect">
            <a:avLst/>
          </a:prstGeom>
          <a:noFill/>
        </p:spPr>
        <p:txBody>
          <a:bodyPr wrap="square">
            <a:spAutoFit/>
          </a:bodyPr>
          <a:lstStyle/>
          <a:p>
            <a:pPr>
              <a:defRPr sz="1100">
                <a:solidFill>
                  <a:srgbClr val="333333"/>
                </a:solidFill>
              </a:defRPr>
            </a:pPr>
            <a:r>
              <a:t>Optimization of Reduce mass and cost of the exhaust system components. via material substitution and process efficiency.</a:t>
            </a:r>
          </a:p>
        </p:txBody>
      </p:sp>
      <p:sp>
        <p:nvSpPr>
          <p:cNvPr id="5" name="Rectangle 4"/>
          <p:cNvSpPr/>
          <p:nvPr/>
        </p:nvSpPr>
        <p:spPr>
          <a:xfrm>
            <a:off x="457200" y="196596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103120"/>
            <a:ext cx="5303520" cy="274320"/>
          </a:xfrm>
          <a:prstGeom prst="rect">
            <a:avLst/>
          </a:prstGeom>
          <a:noFill/>
        </p:spPr>
        <p:txBody>
          <a:bodyPr wrap="none">
            <a:spAutoFit/>
          </a:bodyPr>
          <a:lstStyle/>
          <a:p>
            <a:pPr>
              <a:defRPr b="1" sz="1100">
                <a:solidFill>
                  <a:srgbClr val="FF6400"/>
                </a:solidFill>
              </a:defRPr>
            </a:pPr>
            <a:r>
              <a:t>Material Change:</a:t>
            </a:r>
          </a:p>
        </p:txBody>
      </p:sp>
      <p:sp>
        <p:nvSpPr>
          <p:cNvPr id="7" name="TextBox 6"/>
          <p:cNvSpPr txBox="1"/>
          <p:nvPr/>
        </p:nvSpPr>
        <p:spPr>
          <a:xfrm>
            <a:off x="457200" y="2331720"/>
            <a:ext cx="5303520" cy="457200"/>
          </a:xfrm>
          <a:prstGeom prst="rect">
            <a:avLst/>
          </a:prstGeom>
          <a:noFill/>
        </p:spPr>
        <p:txBody>
          <a:bodyPr wrap="square">
            <a:spAutoFit/>
          </a:bodyPr>
          <a:lstStyle/>
          <a:p>
            <a:pPr>
              <a:defRPr sz="1100">
                <a:solidFill>
                  <a:srgbClr val="333333"/>
                </a:solidFill>
              </a:defRPr>
            </a:pPr>
            <a:r>
              <a:t>N/A (No material change explicitly mentioned)</a:t>
            </a:r>
          </a:p>
        </p:txBody>
      </p:sp>
      <p:sp>
        <p:nvSpPr>
          <p:cNvPr id="8" name="Rectangle 7"/>
          <p:cNvSpPr/>
          <p:nvPr/>
        </p:nvSpPr>
        <p:spPr>
          <a:xfrm>
            <a:off x="457200" y="269748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2834640"/>
            <a:ext cx="5303520" cy="274320"/>
          </a:xfrm>
          <a:prstGeom prst="rect">
            <a:avLst/>
          </a:prstGeom>
          <a:noFill/>
        </p:spPr>
        <p:txBody>
          <a:bodyPr wrap="none">
            <a:spAutoFit/>
          </a:bodyPr>
          <a:lstStyle/>
          <a:p>
            <a:pPr>
              <a:defRPr b="1" sz="1100">
                <a:solidFill>
                  <a:srgbClr val="FF6400"/>
                </a:solidFill>
              </a:defRPr>
            </a:pPr>
            <a:r>
              <a:t>Dimension Change:</a:t>
            </a:r>
          </a:p>
        </p:txBody>
      </p:sp>
      <p:sp>
        <p:nvSpPr>
          <p:cNvPr id="10" name="TextBox 9"/>
          <p:cNvSpPr txBox="1"/>
          <p:nvPr/>
        </p:nvSpPr>
        <p:spPr>
          <a:xfrm>
            <a:off x="457200" y="3063240"/>
            <a:ext cx="5303520" cy="457200"/>
          </a:xfrm>
          <a:prstGeom prst="rect">
            <a:avLst/>
          </a:prstGeom>
          <a:noFill/>
        </p:spPr>
        <p:txBody>
          <a:bodyPr wrap="square">
            <a:spAutoFit/>
          </a:bodyPr>
          <a:lstStyle/>
          <a:p>
            <a:pPr>
              <a:defRPr sz="1100">
                <a:solidFill>
                  <a:srgbClr val="333333"/>
                </a:solidFill>
              </a:defRPr>
            </a:pPr>
            <a:r>
              <a:t>N/A (Maintains current envelope)</a:t>
            </a:r>
          </a:p>
        </p:txBody>
      </p:sp>
      <p:sp>
        <p:nvSpPr>
          <p:cNvPr id="11" name="Rectangle 10"/>
          <p:cNvSpPr/>
          <p:nvPr/>
        </p:nvSpPr>
        <p:spPr>
          <a:xfrm>
            <a:off x="457200" y="342900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3566160"/>
            <a:ext cx="5303520" cy="274320"/>
          </a:xfrm>
          <a:prstGeom prst="rect">
            <a:avLst/>
          </a:prstGeom>
          <a:noFill/>
        </p:spPr>
        <p:txBody>
          <a:bodyPr wrap="none">
            <a:spAutoFit/>
          </a:bodyPr>
          <a:lstStyle/>
          <a:p>
            <a:pPr>
              <a:defRPr b="1" sz="1100">
                <a:solidFill>
                  <a:srgbClr val="FF6400"/>
                </a:solidFill>
              </a:defRPr>
            </a:pPr>
            <a:r>
              <a:t>Cost Analysis:</a:t>
            </a:r>
          </a:p>
        </p:txBody>
      </p:sp>
      <p:sp>
        <p:nvSpPr>
          <p:cNvPr id="13" name="TextBox 12"/>
          <p:cNvSpPr txBox="1"/>
          <p:nvPr/>
        </p:nvSpPr>
        <p:spPr>
          <a:xfrm>
            <a:off x="457200" y="3794760"/>
            <a:ext cx="5303520" cy="457200"/>
          </a:xfrm>
          <a:prstGeom prst="rect">
            <a:avLst/>
          </a:prstGeom>
          <a:noFill/>
        </p:spPr>
        <p:txBody>
          <a:bodyPr wrap="square">
            <a:spAutoFit/>
          </a:bodyPr>
          <a:lstStyle/>
          <a:p>
            <a:pPr>
              <a:defRPr sz="1100">
                <a:solidFill>
                  <a:srgbClr val="333333"/>
                </a:solidFill>
              </a:defRPr>
            </a:pPr>
            <a:r>
              <a:t>Est. Saving: INR TBD</a:t>
            </a:r>
          </a:p>
        </p:txBody>
      </p:sp>
      <p:sp>
        <p:nvSpPr>
          <p:cNvPr id="14" name="Rectangle 13"/>
          <p:cNvSpPr/>
          <p:nvPr/>
        </p:nvSpPr>
        <p:spPr>
          <a:xfrm>
            <a:off x="457200" y="41605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4297680"/>
            <a:ext cx="5303520" cy="274320"/>
          </a:xfrm>
          <a:prstGeom prst="rect">
            <a:avLst/>
          </a:prstGeom>
          <a:noFill/>
        </p:spPr>
        <p:txBody>
          <a:bodyPr wrap="none">
            <a:spAutoFit/>
          </a:bodyPr>
          <a:lstStyle/>
          <a:p>
            <a:pPr>
              <a:defRPr b="1" sz="1100">
                <a:solidFill>
                  <a:srgbClr val="FF6400"/>
                </a:solidFill>
              </a:defRPr>
            </a:pPr>
            <a:r>
              <a:t>Engineering Validation:</a:t>
            </a:r>
          </a:p>
        </p:txBody>
      </p:sp>
      <p:sp>
        <p:nvSpPr>
          <p:cNvPr id="16" name="TextBox 15"/>
          <p:cNvSpPr txBox="1"/>
          <p:nvPr/>
        </p:nvSpPr>
        <p:spPr>
          <a:xfrm>
            <a:off x="457200" y="4526280"/>
            <a:ext cx="5303520" cy="548640"/>
          </a:xfrm>
          <a:prstGeom prst="rect">
            <a:avLst/>
          </a:prstGeom>
          <a:noFill/>
        </p:spPr>
        <p:txBody>
          <a:bodyPr wrap="square">
            <a:spAutoFit/>
          </a:bodyPr>
          <a:lstStyle/>
          <a:p>
            <a:pPr>
              <a:defRPr sz="1100">
                <a:solidFill>
                  <a:srgbClr val="333333"/>
                </a:solidFill>
              </a:defRPr>
            </a:pPr>
            <a:r>
              <a:t>DVP&amp;R Level 1</a:t>
            </a:r>
            <a:br/>
            <a:r>
              <a:t>• Environmental Cycling</a:t>
            </a:r>
          </a:p>
        </p:txBody>
      </p:sp>
      <p:sp>
        <p:nvSpPr>
          <p:cNvPr id="17" name="Rectangle 16"/>
          <p:cNvSpPr/>
          <p:nvPr/>
        </p:nvSpPr>
        <p:spPr>
          <a:xfrm>
            <a:off x="457200" y="498348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5120640"/>
            <a:ext cx="5303520" cy="274320"/>
          </a:xfrm>
          <a:prstGeom prst="rect">
            <a:avLst/>
          </a:prstGeom>
          <a:noFill/>
        </p:spPr>
        <p:txBody>
          <a:bodyPr wrap="none">
            <a:spAutoFit/>
          </a:bodyPr>
          <a:lstStyle/>
          <a:p>
            <a:pPr>
              <a:defRPr b="1" sz="1100">
                <a:solidFill>
                  <a:srgbClr val="FF6400"/>
                </a:solidFill>
              </a:defRPr>
            </a:pPr>
            <a:r>
              <a:t>Supply Chain Impact:</a:t>
            </a:r>
          </a:p>
        </p:txBody>
      </p:sp>
      <p:sp>
        <p:nvSpPr>
          <p:cNvPr id="19" name="TextBox 18"/>
          <p:cNvSpPr txBox="1"/>
          <p:nvPr/>
        </p:nvSpPr>
        <p:spPr>
          <a:xfrm>
            <a:off x="457200" y="5349240"/>
            <a:ext cx="5303520" cy="548640"/>
          </a:xfrm>
          <a:prstGeom prst="rect">
            <a:avLst/>
          </a:prstGeom>
          <a:noFill/>
        </p:spPr>
        <p:txBody>
          <a:bodyPr wrap="square">
            <a:spAutoFit/>
          </a:bodyPr>
          <a:lstStyle/>
          <a:p>
            <a:pPr>
              <a:defRPr sz="1100">
                <a:solidFill>
                  <a:srgbClr val="333333"/>
                </a:solidFill>
              </a:defRPr>
            </a:pPr>
            <a:r>
              <a:t>Assess supplier capability and lead time impact.</a:t>
            </a:r>
          </a:p>
        </p:txBody>
      </p:sp>
      <p:sp>
        <p:nvSpPr>
          <p:cNvPr id="20" name="Rectangle 19"/>
          <p:cNvSpPr/>
          <p:nvPr/>
        </p:nvSpPr>
        <p:spPr>
          <a:xfrm>
            <a:off x="457200" y="580644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35040" y="822960"/>
            <a:ext cx="5669280" cy="274320"/>
          </a:xfrm>
          <a:prstGeom prst="rect">
            <a:avLst/>
          </a:prstGeom>
          <a:noFill/>
        </p:spPr>
        <p:txBody>
          <a:bodyPr wrap="none">
            <a:spAutoFit/>
          </a:bodyPr>
          <a:lstStyle/>
          <a:p>
            <a:pPr algn="ctr">
              <a:defRPr b="1" sz="1200">
                <a:solidFill>
                  <a:srgbClr val="003366"/>
                </a:solidFill>
              </a:defRPr>
            </a:pPr>
            <a:r>
              <a:t>Current Scenario</a:t>
            </a:r>
          </a:p>
        </p:txBody>
      </p:sp>
      <p:pic>
        <p:nvPicPr>
          <p:cNvPr id="22" name="Picture 21" descr="48.jpg"/>
          <p:cNvPicPr>
            <a:picLocks noChangeAspect="1"/>
          </p:cNvPicPr>
          <p:nvPr/>
        </p:nvPicPr>
        <p:blipFill>
          <a:blip r:embed="rId2"/>
          <a:stretch>
            <a:fillRect/>
          </a:stretch>
        </p:blipFill>
        <p:spPr>
          <a:xfrm>
            <a:off x="6035040" y="1097280"/>
            <a:ext cx="5669280" cy="2743200"/>
          </a:xfrm>
          <a:prstGeom prst="rect">
            <a:avLst/>
          </a:prstGeom>
          <a:ln w="12700">
            <a:solidFill>
              <a:srgbClr val="C8C8C8"/>
            </a:solidFill>
          </a:ln>
        </p:spPr>
      </p:pic>
      <p:sp>
        <p:nvSpPr>
          <p:cNvPr id="23" name="TextBox 22"/>
          <p:cNvSpPr txBox="1"/>
          <p:nvPr/>
        </p:nvSpPr>
        <p:spPr>
          <a:xfrm>
            <a:off x="6035040" y="3840480"/>
            <a:ext cx="5669280" cy="274320"/>
          </a:xfrm>
          <a:prstGeom prst="rect">
            <a:avLst/>
          </a:prstGeom>
          <a:noFill/>
        </p:spPr>
        <p:txBody>
          <a:bodyPr wrap="none">
            <a:spAutoFit/>
          </a:bodyPr>
          <a:lstStyle/>
          <a:p>
            <a:pPr algn="ctr">
              <a:defRPr b="1" sz="1200">
                <a:solidFill>
                  <a:srgbClr val="003366"/>
                </a:solidFill>
              </a:defRPr>
            </a:pPr>
            <a:r>
              <a:t>Implementation / Proposal</a:t>
            </a:r>
          </a:p>
        </p:txBody>
      </p:sp>
      <p:pic>
        <p:nvPicPr>
          <p:cNvPr id="24" name="Picture 23" descr="impl_overlay_Reducemassand_1767287667657.jpg"/>
          <p:cNvPicPr>
            <a:picLocks noChangeAspect="1"/>
          </p:cNvPicPr>
          <p:nvPr/>
        </p:nvPicPr>
        <p:blipFill>
          <a:blip r:embed="rId3"/>
          <a:stretch>
            <a:fillRect/>
          </a:stretch>
        </p:blipFill>
        <p:spPr>
          <a:xfrm>
            <a:off x="6035040" y="4114800"/>
            <a:ext cx="5669280" cy="2743200"/>
          </a:xfrm>
          <a:prstGeom prst="rect">
            <a:avLst/>
          </a:prstGeom>
          <a:ln w="12700">
            <a:solidFill>
              <a:srgbClr val="C8C8C8"/>
            </a:solidFill>
          </a:ln>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972800" cy="731520"/>
          </a:xfrm>
          <a:prstGeom prst="rect">
            <a:avLst/>
          </a:prstGeom>
          <a:noFill/>
        </p:spPr>
        <p:txBody>
          <a:bodyPr wrap="none">
            <a:spAutoFit/>
          </a:bodyPr>
          <a:lstStyle/>
          <a:p/>
          <a:p>
            <a:pPr>
              <a:defRPr sz="2400" b="1">
                <a:solidFill>
                  <a:srgbClr val="003366"/>
                </a:solidFill>
              </a:defRPr>
            </a:pPr>
            <a:r>
              <a:t>#13: Simplify the design and reduce the complexity of active aerodynamic wing setups.</a:t>
            </a:r>
          </a:p>
        </p:txBody>
      </p:sp>
      <p:sp>
        <p:nvSpPr>
          <p:cNvPr id="3" name="TextBox 2"/>
          <p:cNvSpPr txBox="1"/>
          <p:nvPr/>
        </p:nvSpPr>
        <p:spPr>
          <a:xfrm>
            <a:off x="457200" y="1097280"/>
            <a:ext cx="5303520" cy="274320"/>
          </a:xfrm>
          <a:prstGeom prst="rect">
            <a:avLst/>
          </a:prstGeom>
          <a:noFill/>
        </p:spPr>
        <p:txBody>
          <a:bodyPr wrap="none">
            <a:spAutoFit/>
          </a:bodyPr>
          <a:lstStyle/>
          <a:p>
            <a:pPr>
              <a:defRPr b="1" sz="1100">
                <a:solidFill>
                  <a:srgbClr val="FF6400"/>
                </a:solidFill>
              </a:defRPr>
            </a:pPr>
            <a:r>
              <a:t>Technical Engineering View:</a:t>
            </a:r>
          </a:p>
        </p:txBody>
      </p:sp>
      <p:sp>
        <p:nvSpPr>
          <p:cNvPr id="4" name="TextBox 3"/>
          <p:cNvSpPr txBox="1"/>
          <p:nvPr/>
        </p:nvSpPr>
        <p:spPr>
          <a:xfrm>
            <a:off x="457200" y="1325880"/>
            <a:ext cx="5303520" cy="731520"/>
          </a:xfrm>
          <a:prstGeom prst="rect">
            <a:avLst/>
          </a:prstGeom>
          <a:noFill/>
        </p:spPr>
        <p:txBody>
          <a:bodyPr wrap="square">
            <a:spAutoFit/>
          </a:bodyPr>
          <a:lstStyle/>
          <a:p>
            <a:pPr>
              <a:defRPr sz="1100">
                <a:solidFill>
                  <a:srgbClr val="333333"/>
                </a:solidFill>
              </a:defRPr>
            </a:pPr>
            <a:r>
              <a:t>Optimization of Simplify the design and reduce the complexity of active aerodynamic wing setups. via material substitution and process efficiency.</a:t>
            </a:r>
          </a:p>
        </p:txBody>
      </p:sp>
      <p:sp>
        <p:nvSpPr>
          <p:cNvPr id="5" name="Rectangle 4"/>
          <p:cNvSpPr/>
          <p:nvPr/>
        </p:nvSpPr>
        <p:spPr>
          <a:xfrm>
            <a:off x="457200" y="196596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103120"/>
            <a:ext cx="5303520" cy="274320"/>
          </a:xfrm>
          <a:prstGeom prst="rect">
            <a:avLst/>
          </a:prstGeom>
          <a:noFill/>
        </p:spPr>
        <p:txBody>
          <a:bodyPr wrap="none">
            <a:spAutoFit/>
          </a:bodyPr>
          <a:lstStyle/>
          <a:p>
            <a:pPr>
              <a:defRPr b="1" sz="1100">
                <a:solidFill>
                  <a:srgbClr val="FF6400"/>
                </a:solidFill>
              </a:defRPr>
            </a:pPr>
            <a:r>
              <a:t>Material Change:</a:t>
            </a:r>
          </a:p>
        </p:txBody>
      </p:sp>
      <p:sp>
        <p:nvSpPr>
          <p:cNvPr id="7" name="TextBox 6"/>
          <p:cNvSpPr txBox="1"/>
          <p:nvPr/>
        </p:nvSpPr>
        <p:spPr>
          <a:xfrm>
            <a:off x="457200" y="2331720"/>
            <a:ext cx="5303520" cy="457200"/>
          </a:xfrm>
          <a:prstGeom prst="rect">
            <a:avLst/>
          </a:prstGeom>
          <a:noFill/>
        </p:spPr>
        <p:txBody>
          <a:bodyPr wrap="square">
            <a:spAutoFit/>
          </a:bodyPr>
          <a:lstStyle/>
          <a:p>
            <a:pPr>
              <a:defRPr sz="1100">
                <a:solidFill>
                  <a:srgbClr val="333333"/>
                </a:solidFill>
              </a:defRPr>
            </a:pPr>
            <a:r>
              <a:t>N/A (No material change explicitly mentioned)</a:t>
            </a:r>
          </a:p>
        </p:txBody>
      </p:sp>
      <p:sp>
        <p:nvSpPr>
          <p:cNvPr id="8" name="Rectangle 7"/>
          <p:cNvSpPr/>
          <p:nvPr/>
        </p:nvSpPr>
        <p:spPr>
          <a:xfrm>
            <a:off x="457200" y="269748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2834640"/>
            <a:ext cx="5303520" cy="274320"/>
          </a:xfrm>
          <a:prstGeom prst="rect">
            <a:avLst/>
          </a:prstGeom>
          <a:noFill/>
        </p:spPr>
        <p:txBody>
          <a:bodyPr wrap="none">
            <a:spAutoFit/>
          </a:bodyPr>
          <a:lstStyle/>
          <a:p>
            <a:pPr>
              <a:defRPr b="1" sz="1100">
                <a:solidFill>
                  <a:srgbClr val="FF6400"/>
                </a:solidFill>
              </a:defRPr>
            </a:pPr>
            <a:r>
              <a:t>Dimension Change:</a:t>
            </a:r>
          </a:p>
        </p:txBody>
      </p:sp>
      <p:sp>
        <p:nvSpPr>
          <p:cNvPr id="10" name="TextBox 9"/>
          <p:cNvSpPr txBox="1"/>
          <p:nvPr/>
        </p:nvSpPr>
        <p:spPr>
          <a:xfrm>
            <a:off x="457200" y="3063240"/>
            <a:ext cx="5303520" cy="457200"/>
          </a:xfrm>
          <a:prstGeom prst="rect">
            <a:avLst/>
          </a:prstGeom>
          <a:noFill/>
        </p:spPr>
        <p:txBody>
          <a:bodyPr wrap="square">
            <a:spAutoFit/>
          </a:bodyPr>
          <a:lstStyle/>
          <a:p>
            <a:pPr>
              <a:defRPr sz="1100">
                <a:solidFill>
                  <a:srgbClr val="333333"/>
                </a:solidFill>
              </a:defRPr>
            </a:pPr>
            <a:r>
              <a:t>N/A (Maintains current envelope)</a:t>
            </a:r>
          </a:p>
        </p:txBody>
      </p:sp>
      <p:sp>
        <p:nvSpPr>
          <p:cNvPr id="11" name="Rectangle 10"/>
          <p:cNvSpPr/>
          <p:nvPr/>
        </p:nvSpPr>
        <p:spPr>
          <a:xfrm>
            <a:off x="457200" y="342900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3566160"/>
            <a:ext cx="5303520" cy="274320"/>
          </a:xfrm>
          <a:prstGeom prst="rect">
            <a:avLst/>
          </a:prstGeom>
          <a:noFill/>
        </p:spPr>
        <p:txBody>
          <a:bodyPr wrap="none">
            <a:spAutoFit/>
          </a:bodyPr>
          <a:lstStyle/>
          <a:p>
            <a:pPr>
              <a:defRPr b="1" sz="1100">
                <a:solidFill>
                  <a:srgbClr val="FF6400"/>
                </a:solidFill>
              </a:defRPr>
            </a:pPr>
            <a:r>
              <a:t>Cost Analysis:</a:t>
            </a:r>
          </a:p>
        </p:txBody>
      </p:sp>
      <p:sp>
        <p:nvSpPr>
          <p:cNvPr id="13" name="TextBox 12"/>
          <p:cNvSpPr txBox="1"/>
          <p:nvPr/>
        </p:nvSpPr>
        <p:spPr>
          <a:xfrm>
            <a:off x="457200" y="3794760"/>
            <a:ext cx="5303520" cy="457200"/>
          </a:xfrm>
          <a:prstGeom prst="rect">
            <a:avLst/>
          </a:prstGeom>
          <a:noFill/>
        </p:spPr>
        <p:txBody>
          <a:bodyPr wrap="square">
            <a:spAutoFit/>
          </a:bodyPr>
          <a:lstStyle/>
          <a:p>
            <a:pPr>
              <a:defRPr sz="1100">
                <a:solidFill>
                  <a:srgbClr val="333333"/>
                </a:solidFill>
              </a:defRPr>
            </a:pPr>
            <a:r>
              <a:t>Est. Saving: INR TBD</a:t>
            </a:r>
          </a:p>
        </p:txBody>
      </p:sp>
      <p:sp>
        <p:nvSpPr>
          <p:cNvPr id="14" name="Rectangle 13"/>
          <p:cNvSpPr/>
          <p:nvPr/>
        </p:nvSpPr>
        <p:spPr>
          <a:xfrm>
            <a:off x="457200" y="41605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4297680"/>
            <a:ext cx="5303520" cy="274320"/>
          </a:xfrm>
          <a:prstGeom prst="rect">
            <a:avLst/>
          </a:prstGeom>
          <a:noFill/>
        </p:spPr>
        <p:txBody>
          <a:bodyPr wrap="none">
            <a:spAutoFit/>
          </a:bodyPr>
          <a:lstStyle/>
          <a:p>
            <a:pPr>
              <a:defRPr b="1" sz="1100">
                <a:solidFill>
                  <a:srgbClr val="FF6400"/>
                </a:solidFill>
              </a:defRPr>
            </a:pPr>
            <a:r>
              <a:t>Engineering Validation:</a:t>
            </a:r>
          </a:p>
        </p:txBody>
      </p:sp>
      <p:sp>
        <p:nvSpPr>
          <p:cNvPr id="16" name="TextBox 15"/>
          <p:cNvSpPr txBox="1"/>
          <p:nvPr/>
        </p:nvSpPr>
        <p:spPr>
          <a:xfrm>
            <a:off x="457200" y="4526280"/>
            <a:ext cx="5303520" cy="548640"/>
          </a:xfrm>
          <a:prstGeom prst="rect">
            <a:avLst/>
          </a:prstGeom>
          <a:noFill/>
        </p:spPr>
        <p:txBody>
          <a:bodyPr wrap="square">
            <a:spAutoFit/>
          </a:bodyPr>
          <a:lstStyle/>
          <a:p>
            <a:pPr>
              <a:defRPr sz="1100">
                <a:solidFill>
                  <a:srgbClr val="333333"/>
                </a:solidFill>
              </a:defRPr>
            </a:pPr>
            <a:r>
              <a:t>DVP&amp;R Level 1</a:t>
            </a:r>
            <a:br/>
            <a:r>
              <a:t>• Environmental Cycling</a:t>
            </a:r>
          </a:p>
        </p:txBody>
      </p:sp>
      <p:sp>
        <p:nvSpPr>
          <p:cNvPr id="17" name="Rectangle 16"/>
          <p:cNvSpPr/>
          <p:nvPr/>
        </p:nvSpPr>
        <p:spPr>
          <a:xfrm>
            <a:off x="457200" y="498348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5120640"/>
            <a:ext cx="5303520" cy="274320"/>
          </a:xfrm>
          <a:prstGeom prst="rect">
            <a:avLst/>
          </a:prstGeom>
          <a:noFill/>
        </p:spPr>
        <p:txBody>
          <a:bodyPr wrap="none">
            <a:spAutoFit/>
          </a:bodyPr>
          <a:lstStyle/>
          <a:p>
            <a:pPr>
              <a:defRPr b="1" sz="1100">
                <a:solidFill>
                  <a:srgbClr val="FF6400"/>
                </a:solidFill>
              </a:defRPr>
            </a:pPr>
            <a:r>
              <a:t>Supply Chain Impact:</a:t>
            </a:r>
          </a:p>
        </p:txBody>
      </p:sp>
      <p:sp>
        <p:nvSpPr>
          <p:cNvPr id="19" name="TextBox 18"/>
          <p:cNvSpPr txBox="1"/>
          <p:nvPr/>
        </p:nvSpPr>
        <p:spPr>
          <a:xfrm>
            <a:off x="457200" y="5349240"/>
            <a:ext cx="5303520" cy="548640"/>
          </a:xfrm>
          <a:prstGeom prst="rect">
            <a:avLst/>
          </a:prstGeom>
          <a:noFill/>
        </p:spPr>
        <p:txBody>
          <a:bodyPr wrap="square">
            <a:spAutoFit/>
          </a:bodyPr>
          <a:lstStyle/>
          <a:p>
            <a:pPr>
              <a:defRPr sz="1100">
                <a:solidFill>
                  <a:srgbClr val="333333"/>
                </a:solidFill>
              </a:defRPr>
            </a:pPr>
            <a:r>
              <a:t>Assess supplier capability and lead time impact.</a:t>
            </a:r>
          </a:p>
        </p:txBody>
      </p:sp>
      <p:sp>
        <p:nvSpPr>
          <p:cNvPr id="20" name="Rectangle 19"/>
          <p:cNvSpPr/>
          <p:nvPr/>
        </p:nvSpPr>
        <p:spPr>
          <a:xfrm>
            <a:off x="457200" y="580644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35040" y="822960"/>
            <a:ext cx="5669280" cy="274320"/>
          </a:xfrm>
          <a:prstGeom prst="rect">
            <a:avLst/>
          </a:prstGeom>
          <a:noFill/>
        </p:spPr>
        <p:txBody>
          <a:bodyPr wrap="none">
            <a:spAutoFit/>
          </a:bodyPr>
          <a:lstStyle/>
          <a:p>
            <a:pPr algn="ctr">
              <a:defRPr b="1" sz="1200">
                <a:solidFill>
                  <a:srgbClr val="003366"/>
                </a:solidFill>
              </a:defRPr>
            </a:pPr>
            <a:r>
              <a:t>Current Scenario</a:t>
            </a:r>
          </a:p>
        </p:txBody>
      </p:sp>
      <p:pic>
        <p:nvPicPr>
          <p:cNvPr id="22" name="Picture 21" descr="7.jpg"/>
          <p:cNvPicPr>
            <a:picLocks noChangeAspect="1"/>
          </p:cNvPicPr>
          <p:nvPr/>
        </p:nvPicPr>
        <p:blipFill>
          <a:blip r:embed="rId2"/>
          <a:stretch>
            <a:fillRect/>
          </a:stretch>
        </p:blipFill>
        <p:spPr>
          <a:xfrm>
            <a:off x="6035040" y="1097280"/>
            <a:ext cx="5669280" cy="2743200"/>
          </a:xfrm>
          <a:prstGeom prst="rect">
            <a:avLst/>
          </a:prstGeom>
          <a:ln w="12700">
            <a:solidFill>
              <a:srgbClr val="C8C8C8"/>
            </a:solidFill>
          </a:ln>
        </p:spPr>
      </p:pic>
      <p:sp>
        <p:nvSpPr>
          <p:cNvPr id="23" name="TextBox 22"/>
          <p:cNvSpPr txBox="1"/>
          <p:nvPr/>
        </p:nvSpPr>
        <p:spPr>
          <a:xfrm>
            <a:off x="6035040" y="3840480"/>
            <a:ext cx="5669280" cy="274320"/>
          </a:xfrm>
          <a:prstGeom prst="rect">
            <a:avLst/>
          </a:prstGeom>
          <a:noFill/>
        </p:spPr>
        <p:txBody>
          <a:bodyPr wrap="none">
            <a:spAutoFit/>
          </a:bodyPr>
          <a:lstStyle/>
          <a:p>
            <a:pPr algn="ctr">
              <a:defRPr b="1" sz="1200">
                <a:solidFill>
                  <a:srgbClr val="003366"/>
                </a:solidFill>
              </a:defRPr>
            </a:pPr>
            <a:r>
              <a:t>Implementation / Proposal</a:t>
            </a:r>
          </a:p>
        </p:txBody>
      </p:sp>
      <p:pic>
        <p:nvPicPr>
          <p:cNvPr id="24" name="Picture 23" descr="impl_overlay_Simplifythede_1767287667921.jpg"/>
          <p:cNvPicPr>
            <a:picLocks noChangeAspect="1"/>
          </p:cNvPicPr>
          <p:nvPr/>
        </p:nvPicPr>
        <p:blipFill>
          <a:blip r:embed="rId3"/>
          <a:stretch>
            <a:fillRect/>
          </a:stretch>
        </p:blipFill>
        <p:spPr>
          <a:xfrm>
            <a:off x="6035040" y="4114800"/>
            <a:ext cx="5669280" cy="2743200"/>
          </a:xfrm>
          <a:prstGeom prst="rect">
            <a:avLst/>
          </a:prstGeom>
          <a:ln w="12700">
            <a:solidFill>
              <a:srgbClr val="C8C8C8"/>
            </a:solidFill>
          </a:ln>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972800" cy="731520"/>
          </a:xfrm>
          <a:prstGeom prst="rect">
            <a:avLst/>
          </a:prstGeom>
          <a:noFill/>
        </p:spPr>
        <p:txBody>
          <a:bodyPr wrap="none">
            <a:spAutoFit/>
          </a:bodyPr>
          <a:lstStyle/>
          <a:p/>
          <a:p>
            <a:pPr>
              <a:defRPr sz="2400" b="1">
                <a:solidFill>
                  <a:srgbClr val="003366"/>
                </a:solidFill>
              </a:defRPr>
            </a:pPr>
            <a:r>
              <a:t>#14: Minimize over-engineering and simplify manufacturing for high-precision chassis and setup components.</a:t>
            </a:r>
          </a:p>
        </p:txBody>
      </p:sp>
      <p:sp>
        <p:nvSpPr>
          <p:cNvPr id="3" name="TextBox 2"/>
          <p:cNvSpPr txBox="1"/>
          <p:nvPr/>
        </p:nvSpPr>
        <p:spPr>
          <a:xfrm>
            <a:off x="457200" y="1097280"/>
            <a:ext cx="5303520" cy="274320"/>
          </a:xfrm>
          <a:prstGeom prst="rect">
            <a:avLst/>
          </a:prstGeom>
          <a:noFill/>
        </p:spPr>
        <p:txBody>
          <a:bodyPr wrap="none">
            <a:spAutoFit/>
          </a:bodyPr>
          <a:lstStyle/>
          <a:p>
            <a:pPr>
              <a:defRPr b="1" sz="1100">
                <a:solidFill>
                  <a:srgbClr val="FF6400"/>
                </a:solidFill>
              </a:defRPr>
            </a:pPr>
            <a:r>
              <a:t>Technical Engineering View:</a:t>
            </a:r>
          </a:p>
        </p:txBody>
      </p:sp>
      <p:sp>
        <p:nvSpPr>
          <p:cNvPr id="4" name="TextBox 3"/>
          <p:cNvSpPr txBox="1"/>
          <p:nvPr/>
        </p:nvSpPr>
        <p:spPr>
          <a:xfrm>
            <a:off x="457200" y="1325880"/>
            <a:ext cx="5303520" cy="731520"/>
          </a:xfrm>
          <a:prstGeom prst="rect">
            <a:avLst/>
          </a:prstGeom>
          <a:noFill/>
        </p:spPr>
        <p:txBody>
          <a:bodyPr wrap="square">
            <a:spAutoFit/>
          </a:bodyPr>
          <a:lstStyle/>
          <a:p>
            <a:pPr>
              <a:defRPr sz="1100">
                <a:solidFill>
                  <a:srgbClr val="333333"/>
                </a:solidFill>
              </a:defRPr>
            </a:pPr>
            <a:r>
              <a:t>Optimization of Minimize over-engineering and simplify manufacturing for high-precision chassis and setup components. via material substitution and process efficiency.</a:t>
            </a:r>
          </a:p>
        </p:txBody>
      </p:sp>
      <p:sp>
        <p:nvSpPr>
          <p:cNvPr id="5" name="Rectangle 4"/>
          <p:cNvSpPr/>
          <p:nvPr/>
        </p:nvSpPr>
        <p:spPr>
          <a:xfrm>
            <a:off x="457200" y="196596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103120"/>
            <a:ext cx="5303520" cy="274320"/>
          </a:xfrm>
          <a:prstGeom prst="rect">
            <a:avLst/>
          </a:prstGeom>
          <a:noFill/>
        </p:spPr>
        <p:txBody>
          <a:bodyPr wrap="none">
            <a:spAutoFit/>
          </a:bodyPr>
          <a:lstStyle/>
          <a:p>
            <a:pPr>
              <a:defRPr b="1" sz="1100">
                <a:solidFill>
                  <a:srgbClr val="FF6400"/>
                </a:solidFill>
              </a:defRPr>
            </a:pPr>
            <a:r>
              <a:t>Material Change:</a:t>
            </a:r>
          </a:p>
        </p:txBody>
      </p:sp>
      <p:sp>
        <p:nvSpPr>
          <p:cNvPr id="7" name="TextBox 6"/>
          <p:cNvSpPr txBox="1"/>
          <p:nvPr/>
        </p:nvSpPr>
        <p:spPr>
          <a:xfrm>
            <a:off x="457200" y="2331720"/>
            <a:ext cx="5303520" cy="457200"/>
          </a:xfrm>
          <a:prstGeom prst="rect">
            <a:avLst/>
          </a:prstGeom>
          <a:noFill/>
        </p:spPr>
        <p:txBody>
          <a:bodyPr wrap="square">
            <a:spAutoFit/>
          </a:bodyPr>
          <a:lstStyle/>
          <a:p>
            <a:pPr>
              <a:defRPr sz="1100">
                <a:solidFill>
                  <a:srgbClr val="333333"/>
                </a:solidFill>
              </a:defRPr>
            </a:pPr>
            <a:r>
              <a:t>N/A (No material change explicitly mentioned)</a:t>
            </a:r>
          </a:p>
        </p:txBody>
      </p:sp>
      <p:sp>
        <p:nvSpPr>
          <p:cNvPr id="8" name="Rectangle 7"/>
          <p:cNvSpPr/>
          <p:nvPr/>
        </p:nvSpPr>
        <p:spPr>
          <a:xfrm>
            <a:off x="457200" y="269748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2834640"/>
            <a:ext cx="5303520" cy="274320"/>
          </a:xfrm>
          <a:prstGeom prst="rect">
            <a:avLst/>
          </a:prstGeom>
          <a:noFill/>
        </p:spPr>
        <p:txBody>
          <a:bodyPr wrap="none">
            <a:spAutoFit/>
          </a:bodyPr>
          <a:lstStyle/>
          <a:p>
            <a:pPr>
              <a:defRPr b="1" sz="1100">
                <a:solidFill>
                  <a:srgbClr val="FF6400"/>
                </a:solidFill>
              </a:defRPr>
            </a:pPr>
            <a:r>
              <a:t>Dimension Change:</a:t>
            </a:r>
          </a:p>
        </p:txBody>
      </p:sp>
      <p:sp>
        <p:nvSpPr>
          <p:cNvPr id="10" name="TextBox 9"/>
          <p:cNvSpPr txBox="1"/>
          <p:nvPr/>
        </p:nvSpPr>
        <p:spPr>
          <a:xfrm>
            <a:off x="457200" y="3063240"/>
            <a:ext cx="5303520" cy="457200"/>
          </a:xfrm>
          <a:prstGeom prst="rect">
            <a:avLst/>
          </a:prstGeom>
          <a:noFill/>
        </p:spPr>
        <p:txBody>
          <a:bodyPr wrap="square">
            <a:spAutoFit/>
          </a:bodyPr>
          <a:lstStyle/>
          <a:p>
            <a:pPr>
              <a:defRPr sz="1100">
                <a:solidFill>
                  <a:srgbClr val="333333"/>
                </a:solidFill>
              </a:defRPr>
            </a:pPr>
            <a:r>
              <a:t>N/A (Maintains current envelope)</a:t>
            </a:r>
          </a:p>
        </p:txBody>
      </p:sp>
      <p:sp>
        <p:nvSpPr>
          <p:cNvPr id="11" name="Rectangle 10"/>
          <p:cNvSpPr/>
          <p:nvPr/>
        </p:nvSpPr>
        <p:spPr>
          <a:xfrm>
            <a:off x="457200" y="342900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3566160"/>
            <a:ext cx="5303520" cy="274320"/>
          </a:xfrm>
          <a:prstGeom prst="rect">
            <a:avLst/>
          </a:prstGeom>
          <a:noFill/>
        </p:spPr>
        <p:txBody>
          <a:bodyPr wrap="none">
            <a:spAutoFit/>
          </a:bodyPr>
          <a:lstStyle/>
          <a:p>
            <a:pPr>
              <a:defRPr b="1" sz="1100">
                <a:solidFill>
                  <a:srgbClr val="FF6400"/>
                </a:solidFill>
              </a:defRPr>
            </a:pPr>
            <a:r>
              <a:t>Cost Analysis:</a:t>
            </a:r>
          </a:p>
        </p:txBody>
      </p:sp>
      <p:sp>
        <p:nvSpPr>
          <p:cNvPr id="13" name="TextBox 12"/>
          <p:cNvSpPr txBox="1"/>
          <p:nvPr/>
        </p:nvSpPr>
        <p:spPr>
          <a:xfrm>
            <a:off x="457200" y="3794760"/>
            <a:ext cx="5303520" cy="457200"/>
          </a:xfrm>
          <a:prstGeom prst="rect">
            <a:avLst/>
          </a:prstGeom>
          <a:noFill/>
        </p:spPr>
        <p:txBody>
          <a:bodyPr wrap="square">
            <a:spAutoFit/>
          </a:bodyPr>
          <a:lstStyle/>
          <a:p>
            <a:pPr>
              <a:defRPr sz="1100">
                <a:solidFill>
                  <a:srgbClr val="333333"/>
                </a:solidFill>
              </a:defRPr>
            </a:pPr>
            <a:r>
              <a:t>Est. Saving: INR TBD</a:t>
            </a:r>
          </a:p>
        </p:txBody>
      </p:sp>
      <p:sp>
        <p:nvSpPr>
          <p:cNvPr id="14" name="Rectangle 13"/>
          <p:cNvSpPr/>
          <p:nvPr/>
        </p:nvSpPr>
        <p:spPr>
          <a:xfrm>
            <a:off x="457200" y="41605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4297680"/>
            <a:ext cx="5303520" cy="274320"/>
          </a:xfrm>
          <a:prstGeom prst="rect">
            <a:avLst/>
          </a:prstGeom>
          <a:noFill/>
        </p:spPr>
        <p:txBody>
          <a:bodyPr wrap="none">
            <a:spAutoFit/>
          </a:bodyPr>
          <a:lstStyle/>
          <a:p>
            <a:pPr>
              <a:defRPr b="1" sz="1100">
                <a:solidFill>
                  <a:srgbClr val="FF6400"/>
                </a:solidFill>
              </a:defRPr>
            </a:pPr>
            <a:r>
              <a:t>Engineering Validation:</a:t>
            </a:r>
          </a:p>
        </p:txBody>
      </p:sp>
      <p:sp>
        <p:nvSpPr>
          <p:cNvPr id="16" name="TextBox 15"/>
          <p:cNvSpPr txBox="1"/>
          <p:nvPr/>
        </p:nvSpPr>
        <p:spPr>
          <a:xfrm>
            <a:off x="457200" y="4526280"/>
            <a:ext cx="5303520" cy="548640"/>
          </a:xfrm>
          <a:prstGeom prst="rect">
            <a:avLst/>
          </a:prstGeom>
          <a:noFill/>
        </p:spPr>
        <p:txBody>
          <a:bodyPr wrap="square">
            <a:spAutoFit/>
          </a:bodyPr>
          <a:lstStyle/>
          <a:p>
            <a:pPr>
              <a:defRPr sz="1100">
                <a:solidFill>
                  <a:srgbClr val="333333"/>
                </a:solidFill>
              </a:defRPr>
            </a:pPr>
            <a:r>
              <a:t>DVP&amp;R Level 1</a:t>
            </a:r>
            <a:br/>
            <a:r>
              <a:t>• Environmental Cycling</a:t>
            </a:r>
          </a:p>
        </p:txBody>
      </p:sp>
      <p:sp>
        <p:nvSpPr>
          <p:cNvPr id="17" name="Rectangle 16"/>
          <p:cNvSpPr/>
          <p:nvPr/>
        </p:nvSpPr>
        <p:spPr>
          <a:xfrm>
            <a:off x="457200" y="498348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5120640"/>
            <a:ext cx="5303520" cy="274320"/>
          </a:xfrm>
          <a:prstGeom prst="rect">
            <a:avLst/>
          </a:prstGeom>
          <a:noFill/>
        </p:spPr>
        <p:txBody>
          <a:bodyPr wrap="none">
            <a:spAutoFit/>
          </a:bodyPr>
          <a:lstStyle/>
          <a:p>
            <a:pPr>
              <a:defRPr b="1" sz="1100">
                <a:solidFill>
                  <a:srgbClr val="FF6400"/>
                </a:solidFill>
              </a:defRPr>
            </a:pPr>
            <a:r>
              <a:t>Supply Chain Impact:</a:t>
            </a:r>
          </a:p>
        </p:txBody>
      </p:sp>
      <p:sp>
        <p:nvSpPr>
          <p:cNvPr id="19" name="TextBox 18"/>
          <p:cNvSpPr txBox="1"/>
          <p:nvPr/>
        </p:nvSpPr>
        <p:spPr>
          <a:xfrm>
            <a:off x="457200" y="5349240"/>
            <a:ext cx="5303520" cy="548640"/>
          </a:xfrm>
          <a:prstGeom prst="rect">
            <a:avLst/>
          </a:prstGeom>
          <a:noFill/>
        </p:spPr>
        <p:txBody>
          <a:bodyPr wrap="square">
            <a:spAutoFit/>
          </a:bodyPr>
          <a:lstStyle/>
          <a:p>
            <a:pPr>
              <a:defRPr sz="1100">
                <a:solidFill>
                  <a:srgbClr val="333333"/>
                </a:solidFill>
              </a:defRPr>
            </a:pPr>
            <a:r>
              <a:t>Assess supplier capability and lead time impact.</a:t>
            </a:r>
          </a:p>
        </p:txBody>
      </p:sp>
      <p:sp>
        <p:nvSpPr>
          <p:cNvPr id="20" name="Rectangle 19"/>
          <p:cNvSpPr/>
          <p:nvPr/>
        </p:nvSpPr>
        <p:spPr>
          <a:xfrm>
            <a:off x="457200" y="580644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35040" y="822960"/>
            <a:ext cx="5669280" cy="274320"/>
          </a:xfrm>
          <a:prstGeom prst="rect">
            <a:avLst/>
          </a:prstGeom>
          <a:noFill/>
        </p:spPr>
        <p:txBody>
          <a:bodyPr wrap="none">
            <a:spAutoFit/>
          </a:bodyPr>
          <a:lstStyle/>
          <a:p>
            <a:pPr algn="ctr">
              <a:defRPr b="1" sz="1200">
                <a:solidFill>
                  <a:srgbClr val="003366"/>
                </a:solidFill>
              </a:defRPr>
            </a:pPr>
            <a:r>
              <a:t>Current Scenario</a:t>
            </a:r>
          </a:p>
        </p:txBody>
      </p:sp>
      <p:pic>
        <p:nvPicPr>
          <p:cNvPr id="22" name="Picture 21" descr="72.jpg"/>
          <p:cNvPicPr>
            <a:picLocks noChangeAspect="1"/>
          </p:cNvPicPr>
          <p:nvPr/>
        </p:nvPicPr>
        <p:blipFill>
          <a:blip r:embed="rId2"/>
          <a:stretch>
            <a:fillRect/>
          </a:stretch>
        </p:blipFill>
        <p:spPr>
          <a:xfrm>
            <a:off x="6035040" y="1097280"/>
            <a:ext cx="5669280" cy="2743200"/>
          </a:xfrm>
          <a:prstGeom prst="rect">
            <a:avLst/>
          </a:prstGeom>
          <a:ln w="12700">
            <a:solidFill>
              <a:srgbClr val="C8C8C8"/>
            </a:solidFill>
          </a:ln>
        </p:spPr>
      </p:pic>
      <p:sp>
        <p:nvSpPr>
          <p:cNvPr id="23" name="TextBox 22"/>
          <p:cNvSpPr txBox="1"/>
          <p:nvPr/>
        </p:nvSpPr>
        <p:spPr>
          <a:xfrm>
            <a:off x="6035040" y="3840480"/>
            <a:ext cx="5669280" cy="274320"/>
          </a:xfrm>
          <a:prstGeom prst="rect">
            <a:avLst/>
          </a:prstGeom>
          <a:noFill/>
        </p:spPr>
        <p:txBody>
          <a:bodyPr wrap="none">
            <a:spAutoFit/>
          </a:bodyPr>
          <a:lstStyle/>
          <a:p>
            <a:pPr algn="ctr">
              <a:defRPr b="1" sz="1200">
                <a:solidFill>
                  <a:srgbClr val="003366"/>
                </a:solidFill>
              </a:defRPr>
            </a:pPr>
            <a:r>
              <a:t>Implementation / Proposal</a:t>
            </a:r>
          </a:p>
        </p:txBody>
      </p:sp>
      <p:pic>
        <p:nvPicPr>
          <p:cNvPr id="24" name="Picture 23" descr="impl_overlay_Minimizeovere_1767287668245.jpg"/>
          <p:cNvPicPr>
            <a:picLocks noChangeAspect="1"/>
          </p:cNvPicPr>
          <p:nvPr/>
        </p:nvPicPr>
        <p:blipFill>
          <a:blip r:embed="rId3"/>
          <a:stretch>
            <a:fillRect/>
          </a:stretch>
        </p:blipFill>
        <p:spPr>
          <a:xfrm>
            <a:off x="6035040" y="4114800"/>
            <a:ext cx="5669280" cy="2743200"/>
          </a:xfrm>
          <a:prstGeom prst="rect">
            <a:avLst/>
          </a:prstGeom>
          <a:ln w="12700">
            <a:solidFill>
              <a:srgbClr val="C8C8C8"/>
            </a:solidFill>
          </a:ln>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
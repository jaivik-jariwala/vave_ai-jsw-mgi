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05-Feb-2026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182880" y="411480"/>
          <a:ext cx="10972800" cy="6263640"/>
        </p:xfrm>
        <a:graphic>
          <a:graphicData uri="http://schemas.openxmlformats.org/drawingml/2006/table">
            <a:tbl>
              <a:tblPr firstRow="1" bandRow="1">
                <a:tableStyleId>{5C22544A-7EE6-4342-B048-85BDC9FD1C3A}</a:tableStyleId>
              </a:tblPr>
              <a:tblGrid>
                <a:gridCol w="548640"/>
                <a:gridCol w="3657600"/>
                <a:gridCol w="914400"/>
                <a:gridCol w="914400"/>
                <a:gridCol w="914400"/>
                <a:gridCol w="1097280"/>
                <a:gridCol w="1097280"/>
                <a:gridCol w="1828800"/>
              </a:tblGrid>
              <a:tr h="782955">
                <a:tc>
                  <a:txBody>
                    <a:bodyPr wrap="square"/>
                    <a:lstStyle/>
                    <a:p>
                      <a:pPr>
                        <a:defRPr b="1" sz="900">
                          <a:solidFill>
                            <a:srgbClr val="FFFFFF"/>
                          </a:solidFill>
                        </a:defRPr>
                      </a:pPr>
                      <a:r>
                        <a:t>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(Cr)</a:t>
                      </a:r>
                    </a:p>
                  </a:txBody>
                  <a:tcPr>
                    <a:solidFill>
                      <a:srgbClr val="003366"/>
                    </a:solidFill>
                  </a:tcPr>
                </a:tc>
                <a:tc>
                  <a:txBody>
                    <a:bodyPr wrap="square"/>
                    <a:lstStyle/>
                    <a:p>
                      <a:pPr>
                        <a:defRPr b="1" sz="900">
                          <a:solidFill>
                            <a:srgbClr val="FFFFFF"/>
                          </a:solidFill>
                        </a:defRPr>
                      </a:pPr>
                      <a:r>
                        <a:t>Unit Sav (₹)</a:t>
                      </a:r>
                    </a:p>
                  </a:txBody>
                  <a:tcPr>
                    <a:solidFill>
                      <a:srgbClr val="003366"/>
                    </a:solidFill>
                  </a:tcPr>
                </a:tc>
                <a:tc>
                  <a:txBody>
                    <a:bodyPr wrap="square"/>
                    <a:lstStyle/>
                    <a:p>
                      <a:pPr>
                        <a:defRPr b="1" sz="900">
                          <a:solidFill>
                            <a:srgbClr val="FFFFFF"/>
                          </a:solidFill>
                        </a:defRPr>
                      </a:pPr>
                      <a:r>
                        <a:t>Vol (Qty)</a:t>
                      </a:r>
                    </a:p>
                  </a:txBody>
                  <a:tcPr>
                    <a:solidFill>
                      <a:srgbClr val="003366"/>
                    </a:solidFill>
                  </a:tcPr>
                </a:tc>
                <a:tc>
                  <a:txBody>
                    <a:bodyPr wrap="square"/>
                    <a:lstStyle/>
                    <a:p>
                      <a:pPr>
                        <a:defRPr b="1" sz="900">
                          <a:solidFill>
                            <a:srgbClr val="FFFFFF"/>
                          </a:solidFill>
                        </a:defRPr>
                      </a:pPr>
                      <a:r>
                        <a:t>Total Sav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c>
                  <a:txBody>
                    <a:bodyPr wrap="square"/>
                    <a:lstStyle/>
                    <a:p>
                      <a:pPr>
                        <a:defRPr b="1" sz="900">
                          <a:solidFill>
                            <a:srgbClr val="FFFFFF"/>
                          </a:solidFill>
                        </a:defRPr>
                      </a:pPr>
                      <a:r>
                        <a:t>Remark</a:t>
                      </a:r>
                    </a:p>
                  </a:txBody>
                  <a:tcPr>
                    <a:solidFill>
                      <a:srgbClr val="003366"/>
                    </a:solidFill>
                  </a:tcPr>
                </a:tc>
              </a:tr>
              <a:tr h="782955">
                <a:tc>
                  <a:txBody>
                    <a:bodyPr wrap="square" lIns="50800" rIns="50800"/>
                    <a:lstStyle/>
                    <a:p>
                      <a:pPr>
                        <a:defRPr sz="900">
                          <a:solidFill>
                            <a:srgbClr val="333333"/>
                          </a:solidFill>
                          <a:latin typeface="Calibri"/>
                        </a:defRPr>
                      </a:pPr>
                      <a:r>
                        <a:t>2311-SP-ID-01</a:t>
                      </a:r>
                    </a:p>
                  </a:txBody>
                  <a:tcPr/>
                </a:tc>
                <a:tc>
                  <a:txBody>
                    <a:bodyPr wrap="square" lIns="50800" rIns="50800"/>
                    <a:lstStyle/>
                    <a:p>
                      <a:pPr>
                        <a:defRPr sz="900">
                          <a:solidFill>
                            <a:srgbClr val="333333"/>
                          </a:solidFill>
                          <a:latin typeface="Calibri"/>
                        </a:defRPr>
                      </a:pPr>
                      <a:r>
                        <a:t>1. Reduce the overall wall thickness of the Brake Dust Cover Plates present o...</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57.00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0.5700</a:t>
                      </a:r>
                    </a:p>
                  </a:txBody>
                  <a:tcPr/>
                </a:tc>
                <a:tc>
                  <a:txBody>
                    <a:bodyPr wrap="square" lIns="50800" rIns="50800"/>
                    <a:lstStyle/>
                    <a:p>
                      <a:pPr>
                        <a:defRPr sz="900">
                          <a:solidFill>
                            <a:srgbClr val="333333"/>
                          </a:solidFill>
                          <a:latin typeface="Calibri"/>
                        </a:defRPr>
                      </a:pPr>
                      <a:r>
                        <a:t>In Progress</a:t>
                      </a:r>
                    </a:p>
                  </a:txBody>
                  <a:tcPr/>
                </a:tc>
                <a:tc>
                  <a:txBody>
                    <a:bodyPr wrap="square" lIns="50800" rIns="50800"/>
                    <a:lstStyle/>
                    <a:p>
                      <a:pPr>
                        <a:defRPr sz="900">
                          <a:solidFill>
                            <a:srgbClr val="333333"/>
                          </a:solidFill>
                          <a:latin typeface="Calibri"/>
                        </a:defRPr>
                      </a:pPr>
                      <a:r>
                        <a:t>Feasibility Study On-going</a:t>
                      </a:r>
                    </a:p>
                  </a:txBody>
                  <a:tcPr/>
                </a:tc>
              </a:tr>
              <a:tr h="782955">
                <a:tc>
                  <a:txBody>
                    <a:bodyPr wrap="square" lIns="50800" rIns="50800"/>
                    <a:lstStyle/>
                    <a:p>
                      <a:pPr>
                        <a:defRPr sz="900">
                          <a:solidFill>
                            <a:srgbClr val="333333"/>
                          </a:solidFill>
                          <a:latin typeface="Calibri"/>
                        </a:defRPr>
                      </a:pPr>
                      <a:r>
                        <a:t>2311-BA-ID-01</a:t>
                      </a:r>
                    </a:p>
                  </a:txBody>
                  <a:tcPr/>
                </a:tc>
                <a:tc>
                  <a:txBody>
                    <a:bodyPr wrap="square" lIns="50800" rIns="50800"/>
                    <a:lstStyle/>
                    <a:p>
                      <a:pPr>
                        <a:defRPr sz="900">
                          <a:solidFill>
                            <a:srgbClr val="333333"/>
                          </a:solidFill>
                          <a:latin typeface="Calibri"/>
                        </a:defRPr>
                      </a:pPr>
                      <a:r>
                        <a:t>The Brake Booster Plate in MGI could be integrated into the Dashboard BIW of...</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47.00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0.4700</a:t>
                      </a:r>
                    </a:p>
                  </a:txBody>
                  <a:tcPr/>
                </a:tc>
                <a:tc>
                  <a:txBody>
                    <a:bodyPr wrap="square" lIns="50800" rIns="50800"/>
                    <a:lstStyle/>
                    <a:p>
                      <a:pPr>
                        <a:defRPr sz="900">
                          <a:solidFill>
                            <a:srgbClr val="333333"/>
                          </a:solidFill>
                          <a:latin typeface="Calibri"/>
                        </a:defRPr>
                      </a:pPr>
                      <a:r>
                        <a:t>In Progress</a:t>
                      </a:r>
                    </a:p>
                  </a:txBody>
                  <a:tcPr/>
                </a:tc>
                <a:tc>
                  <a:txBody>
                    <a:bodyPr wrap="square" lIns="50800" rIns="50800"/>
                    <a:lstStyle/>
                    <a:p>
                      <a:pPr>
                        <a:defRPr sz="900">
                          <a:solidFill>
                            <a:srgbClr val="333333"/>
                          </a:solidFill>
                          <a:latin typeface="Calibri"/>
                        </a:defRPr>
                      </a:pPr>
                      <a:r>
                        <a:t>Feasibility Study On-going</a:t>
                      </a:r>
                    </a:p>
                  </a:txBody>
                  <a:tcPr/>
                </a:tc>
              </a:tr>
              <a:tr h="782955">
                <a:tc>
                  <a:txBody>
                    <a:bodyPr wrap="square" lIns="50800" rIns="50800"/>
                    <a:lstStyle/>
                    <a:p>
                      <a:pPr>
                        <a:defRPr sz="900">
                          <a:solidFill>
                            <a:srgbClr val="333333"/>
                          </a:solidFill>
                          <a:latin typeface="Calibri"/>
                        </a:defRPr>
                      </a:pPr>
                      <a:r>
                        <a:t>2311-PA-ID-02</a:t>
                      </a:r>
                    </a:p>
                  </a:txBody>
                  <a:tcPr/>
                </a:tc>
                <a:tc>
                  <a:txBody>
                    <a:bodyPr wrap="square" lIns="50800" rIns="50800"/>
                    <a:lstStyle/>
                    <a:p>
                      <a:pPr>
                        <a:defRPr sz="900">
                          <a:solidFill>
                            <a:srgbClr val="333333"/>
                          </a:solidFill>
                          <a:latin typeface="Calibri"/>
                        </a:defRPr>
                      </a:pPr>
                      <a:r>
                        <a:t>Redesign the current Brake Pedal Mounting Bracket used in MGI to a similar br...</a:t>
                      </a:r>
                    </a:p>
                  </a:txBody>
                  <a:tcPr/>
                </a:tc>
                <a:tc>
                  <a:txBody>
                    <a:bodyPr wrap="square" lIns="50800" rIns="50800"/>
                    <a:lstStyle/>
                    <a:p>
                      <a:pPr>
                        <a:defRPr sz="900">
                          <a:solidFill>
                            <a:srgbClr val="333333"/>
                          </a:solidFill>
                          <a:latin typeface="Calibri"/>
                        </a:defRPr>
                      </a:pPr>
                      <a:r>
                        <a:t>0.2500</a:t>
                      </a:r>
                    </a:p>
                  </a:txBody>
                  <a:tcPr/>
                </a:tc>
                <a:tc>
                  <a:txBody>
                    <a:bodyPr wrap="square" lIns="50800" rIns="50800"/>
                    <a:lstStyle/>
                    <a:p>
                      <a:pPr>
                        <a:defRPr sz="900">
                          <a:solidFill>
                            <a:srgbClr val="333333"/>
                          </a:solidFill>
                          <a:latin typeface="Calibri"/>
                        </a:defRPr>
                      </a:pPr>
                      <a:r>
                        <a:t>113.00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1.1300</a:t>
                      </a:r>
                    </a:p>
                  </a:txBody>
                  <a:tcPr/>
                </a:tc>
                <a:tc>
                  <a:txBody>
                    <a:bodyPr wrap="square" lIns="50800" rIns="50800"/>
                    <a:lstStyle/>
                    <a:p>
                      <a:pPr>
                        <a:defRPr sz="900">
                          <a:solidFill>
                            <a:srgbClr val="333333"/>
                          </a:solidFill>
                          <a:latin typeface="Calibri"/>
                        </a:defRPr>
                      </a:pPr>
                      <a:r>
                        <a:t>TBD</a:t>
                      </a:r>
                    </a:p>
                  </a:txBody>
                  <a:tcPr/>
                </a:tc>
                <a:tc>
                  <a:txBody>
                    <a:bodyPr wrap="square" lIns="50800" rIns="50800"/>
                    <a:lstStyle/>
                    <a:p>
                      <a:pPr>
                        <a:defRPr sz="900">
                          <a:solidFill>
                            <a:srgbClr val="333333"/>
                          </a:solidFill>
                          <a:latin typeface="Calibri"/>
                        </a:defRPr>
                      </a:pPr>
                      <a:r>
                        <a:t>Engineering Review</a:t>
                      </a:r>
                    </a:p>
                  </a:txBody>
                  <a:tcPr/>
                </a:tc>
              </a:tr>
              <a:tr h="782955">
                <a:tc>
                  <a:txBody>
                    <a:bodyPr wrap="square" lIns="50800" rIns="50800"/>
                    <a:lstStyle/>
                    <a:p>
                      <a:pPr>
                        <a:defRPr sz="900">
                          <a:solidFill>
                            <a:srgbClr val="333333"/>
                          </a:solidFill>
                          <a:latin typeface="Calibri"/>
                        </a:defRPr>
                      </a:pPr>
                      <a:r>
                        <a:t>AI-GEN-01</a:t>
                      </a:r>
                    </a:p>
                  </a:txBody>
                  <a:tcPr/>
                </a:tc>
                <a:tc>
                  <a:txBody>
                    <a:bodyPr wrap="square" lIns="50800" rIns="50800"/>
                    <a:lstStyle/>
                    <a:p>
                      <a:pPr>
                        <a:defRPr sz="900">
                          <a:solidFill>
                            <a:srgbClr val="333333"/>
                          </a:solidFill>
                          <a:latin typeface="Calibri"/>
                        </a:defRPr>
                      </a:pPr>
                      <a:r>
                        <a:t>Replace the current cast iron brake rotor material for the front axle with a...</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5000.00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50.0000</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782955">
                <a:tc>
                  <a:txBody>
                    <a:bodyPr wrap="square" lIns="50800" rIns="50800"/>
                    <a:lstStyle/>
                    <a:p>
                      <a:pPr>
                        <a:defRPr sz="900">
                          <a:solidFill>
                            <a:srgbClr val="333333"/>
                          </a:solidFill>
                          <a:latin typeface="Calibri"/>
                        </a:defRPr>
                      </a:pPr>
                      <a:r>
                        <a:t>AI-GEN-02</a:t>
                      </a:r>
                    </a:p>
                  </a:txBody>
                  <a:tcPr/>
                </a:tc>
                <a:tc>
                  <a:txBody>
                    <a:bodyPr wrap="square" lIns="50800" rIns="50800"/>
                    <a:lstStyle/>
                    <a:p>
                      <a:pPr>
                        <a:defRPr sz="900">
                          <a:solidFill>
                            <a:srgbClr val="333333"/>
                          </a:solidFill>
                          <a:latin typeface="Calibri"/>
                        </a:defRPr>
                      </a:pPr>
                      <a:r>
                        <a:t>Reduce the caliper piston diameter for the rear brake assembly by 2mm, compen...</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5000.00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50.0000</a:t>
                      </a:r>
                    </a:p>
                  </a:txBody>
                  <a:tcPr/>
                </a:tc>
                <a:tc>
                  <a:txBody>
                    <a:bodyPr wrap="square" lIns="50800" rIns="50800"/>
                    <a:lstStyle/>
                    <a:p>
                      <a:pPr>
                        <a:defRPr sz="900">
                          <a:solidFill>
                            <a:srgbClr val="333333"/>
                          </a:solidFill>
                          <a:latin typeface="Calibri"/>
                        </a:defRPr>
                      </a:pPr>
                      <a:r>
                        <a:t>Needs Human Review</a:t>
                      </a:r>
                    </a:p>
                  </a:txBody>
                  <a:tcPr/>
                </a:tc>
                <a:tc>
                  <a:txBody>
                    <a:bodyPr wrap="square" lIns="50800" rIns="50800"/>
                    <a:lstStyle/>
                    <a:p>
                      <a:pPr>
                        <a:defRPr sz="900">
                          <a:solidFill>
                            <a:srgbClr val="333333"/>
                          </a:solidFill>
                          <a:latin typeface="Calibri"/>
                        </a:defRPr>
                      </a:pPr>
                      <a:r>
                        <a:t>Engineering Review</a:t>
                      </a:r>
                    </a:p>
                  </a:txBody>
                  <a:tcPr/>
                </a:tc>
              </a:tr>
              <a:tr h="782955">
                <a:tc>
                  <a:txBody>
                    <a:bodyPr wrap="square" lIns="50800" rIns="50800"/>
                    <a:lstStyle/>
                    <a:p>
                      <a:pPr>
                        <a:defRPr sz="900">
                          <a:solidFill>
                            <a:srgbClr val="333333"/>
                          </a:solidFill>
                          <a:latin typeface="Calibri"/>
                        </a:defRPr>
                      </a:pPr>
                      <a:r>
                        <a:t>AI-GEN-03</a:t>
                      </a:r>
                    </a:p>
                  </a:txBody>
                  <a:tcPr/>
                </a:tc>
                <a:tc>
                  <a:txBody>
                    <a:bodyPr wrap="square" lIns="50800" rIns="50800"/>
                    <a:lstStyle/>
                    <a:p>
                      <a:pPr>
                        <a:defRPr sz="900">
                          <a:solidFill>
                            <a:srgbClr val="333333"/>
                          </a:solidFill>
                          <a:latin typeface="Calibri"/>
                        </a:defRPr>
                      </a:pPr>
                      <a:r>
                        <a:t>Substitute the current steel brake dust shield with a lighter gauge aluminum...</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5000.00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50.0000</a:t>
                      </a:r>
                    </a:p>
                  </a:txBody>
                  <a:tcPr/>
                </a:tc>
                <a:tc>
                  <a:txBody>
                    <a:bodyPr wrap="square" lIns="50800" rIns="50800"/>
                    <a:lstStyle/>
                    <a:p>
                      <a:pPr>
                        <a:defRPr sz="900">
                          <a:solidFill>
                            <a:srgbClr val="333333"/>
                          </a:solidFill>
                          <a:latin typeface="Calibri"/>
                        </a:defRPr>
                      </a:pPr>
                      <a:r>
                        <a:t>Needs Human Review</a:t>
                      </a:r>
                    </a:p>
                  </a:txBody>
                  <a:tcPr/>
                </a:tc>
                <a:tc>
                  <a:txBody>
                    <a:bodyPr wrap="square" lIns="50800" rIns="50800"/>
                    <a:lstStyle/>
                    <a:p>
                      <a:pPr>
                        <a:defRPr sz="900">
                          <a:solidFill>
                            <a:srgbClr val="333333"/>
                          </a:solidFill>
                          <a:latin typeface="Calibri"/>
                        </a:defRPr>
                      </a:pPr>
                      <a:r>
                        <a:t>Engineering Review</a:t>
                      </a:r>
                    </a:p>
                  </a:txBody>
                  <a:tcPr/>
                </a:tc>
              </a:tr>
              <a:tr h="782955">
                <a:tc>
                  <a:txBody>
                    <a:bodyPr wrap="square" lIns="50800" rIns="50800"/>
                    <a:lstStyle/>
                    <a:p>
                      <a:pPr>
                        <a:defRPr sz="900">
                          <a:solidFill>
                            <a:srgbClr val="333333"/>
                          </a:solidFill>
                          <a:latin typeface="Calibri"/>
                        </a:defRPr>
                      </a:pPr>
                      <a:r>
                        <a:t>AI-GEN-04</a:t>
                      </a:r>
                    </a:p>
                  </a:txBody>
                  <a:tcPr/>
                </a:tc>
                <a:tc>
                  <a:txBody>
                    <a:bodyPr wrap="square" lIns="50800" rIns="50800"/>
                    <a:lstStyle/>
                    <a:p>
                      <a:pPr>
                        <a:defRPr sz="900">
                          <a:solidFill>
                            <a:srgbClr val="333333"/>
                          </a:solidFill>
                          <a:latin typeface="Calibri"/>
                        </a:defRPr>
                      </a:pPr>
                      <a:r>
                        <a:t>Optimize the internal cooling vane design of the front brake rotors to increa...</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5000.00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50.0000</a:t>
                      </a:r>
                    </a:p>
                  </a:txBody>
                  <a:tcPr/>
                </a:tc>
                <a:tc>
                  <a:txBody>
                    <a:bodyPr wrap="square" lIns="50800" rIns="50800"/>
                    <a:lstStyle/>
                    <a:p>
                      <a:pPr>
                        <a:defRPr sz="900">
                          <a:solidFill>
                            <a:srgbClr val="333333"/>
                          </a:solidFill>
                          <a:latin typeface="Calibri"/>
                        </a:defRPr>
                      </a:pPr>
                      <a:r>
                        <a:t>Needs Human Review</a:t>
                      </a:r>
                    </a:p>
                  </a:txBody>
                  <a:tcPr/>
                </a:tc>
                <a:tc>
                  <a:txBody>
                    <a:bodyPr wrap="square" lIns="50800" rIns="50800"/>
                    <a:lstStyle/>
                    <a:p>
                      <a:pPr>
                        <a:defRPr sz="900">
                          <a:solidFill>
                            <a:srgbClr val="333333"/>
                          </a:solidFill>
                          <a:latin typeface="Calibri"/>
                        </a:defRPr>
                      </a:pPr>
                      <a:r>
                        <a:t>Engineering Review</a:t>
                      </a:r>
                    </a:p>
                  </a:txBody>
                  <a:tcPr/>
                </a:tc>
              </a:tr>
            </a:tbl>
          </a:graphicData>
        </a:graphic>
      </p:graphicFrame>
      <p:sp>
        <p:nvSpPr>
          <p:cNvPr id="3" name="TextBox 2"/>
          <p:cNvSpPr txBox="1"/>
          <p:nvPr/>
        </p:nvSpPr>
        <p:spPr>
          <a:xfrm>
            <a:off x="182880" y="45720"/>
            <a:ext cx="11825935" cy="320040"/>
          </a:xfrm>
          <a:prstGeom prst="rect">
            <a:avLst/>
          </a:prstGeom>
          <a:noFill/>
        </p:spPr>
        <p:txBody>
          <a:bodyPr wrap="none">
            <a:spAutoFit/>
          </a:bodyPr>
          <a:lstStyle/>
          <a:p>
            <a:pPr>
              <a:defRPr sz="1500" b="1">
                <a:solidFill>
                  <a:srgbClr val="003366"/>
                </a:solidFill>
              </a:defRPr>
            </a:pPr>
            <a:r>
              <a:t>Summary (Values in ₹ Crore) (Page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182880" y="411480"/>
          <a:ext cx="10972800" cy="6263640"/>
        </p:xfrm>
        <a:graphic>
          <a:graphicData uri="http://schemas.openxmlformats.org/drawingml/2006/table">
            <a:tbl>
              <a:tblPr firstRow="1" bandRow="1">
                <a:tableStyleId>{5C22544A-7EE6-4342-B048-85BDC9FD1C3A}</a:tableStyleId>
              </a:tblPr>
              <a:tblGrid>
                <a:gridCol w="548640"/>
                <a:gridCol w="3657600"/>
                <a:gridCol w="914400"/>
                <a:gridCol w="914400"/>
                <a:gridCol w="914400"/>
                <a:gridCol w="1097280"/>
                <a:gridCol w="1097280"/>
                <a:gridCol w="1828800"/>
              </a:tblGrid>
              <a:tr h="782955">
                <a:tc>
                  <a:txBody>
                    <a:bodyPr wrap="square"/>
                    <a:lstStyle/>
                    <a:p>
                      <a:pPr>
                        <a:defRPr b="1" sz="900">
                          <a:solidFill>
                            <a:srgbClr val="FFFFFF"/>
                          </a:solidFill>
                        </a:defRPr>
                      </a:pPr>
                      <a:r>
                        <a:t>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(Cr)</a:t>
                      </a:r>
                    </a:p>
                  </a:txBody>
                  <a:tcPr>
                    <a:solidFill>
                      <a:srgbClr val="003366"/>
                    </a:solidFill>
                  </a:tcPr>
                </a:tc>
                <a:tc>
                  <a:txBody>
                    <a:bodyPr wrap="square"/>
                    <a:lstStyle/>
                    <a:p>
                      <a:pPr>
                        <a:defRPr b="1" sz="900">
                          <a:solidFill>
                            <a:srgbClr val="FFFFFF"/>
                          </a:solidFill>
                        </a:defRPr>
                      </a:pPr>
                      <a:r>
                        <a:t>Unit Sav (₹)</a:t>
                      </a:r>
                    </a:p>
                  </a:txBody>
                  <a:tcPr>
                    <a:solidFill>
                      <a:srgbClr val="003366"/>
                    </a:solidFill>
                  </a:tcPr>
                </a:tc>
                <a:tc>
                  <a:txBody>
                    <a:bodyPr wrap="square"/>
                    <a:lstStyle/>
                    <a:p>
                      <a:pPr>
                        <a:defRPr b="1" sz="900">
                          <a:solidFill>
                            <a:srgbClr val="FFFFFF"/>
                          </a:solidFill>
                        </a:defRPr>
                      </a:pPr>
                      <a:r>
                        <a:t>Vol (Qty)</a:t>
                      </a:r>
                    </a:p>
                  </a:txBody>
                  <a:tcPr>
                    <a:solidFill>
                      <a:srgbClr val="003366"/>
                    </a:solidFill>
                  </a:tcPr>
                </a:tc>
                <a:tc>
                  <a:txBody>
                    <a:bodyPr wrap="square"/>
                    <a:lstStyle/>
                    <a:p>
                      <a:pPr>
                        <a:defRPr b="1" sz="900">
                          <a:solidFill>
                            <a:srgbClr val="FFFFFF"/>
                          </a:solidFill>
                        </a:defRPr>
                      </a:pPr>
                      <a:r>
                        <a:t>Total Sav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c>
                  <a:txBody>
                    <a:bodyPr wrap="square"/>
                    <a:lstStyle/>
                    <a:p>
                      <a:pPr>
                        <a:defRPr b="1" sz="900">
                          <a:solidFill>
                            <a:srgbClr val="FFFFFF"/>
                          </a:solidFill>
                        </a:defRPr>
                      </a:pPr>
                      <a:r>
                        <a:t>Remark</a:t>
                      </a:r>
                    </a:p>
                  </a:txBody>
                  <a:tcPr>
                    <a:solidFill>
                      <a:srgbClr val="003366"/>
                    </a:solidFill>
                  </a:tcPr>
                </a:tc>
              </a:tr>
              <a:tr h="782955">
                <a:tc>
                  <a:txBody>
                    <a:bodyPr wrap="square" lIns="50800" rIns="50800"/>
                    <a:lstStyle/>
                    <a:p>
                      <a:pPr>
                        <a:defRPr sz="900">
                          <a:solidFill>
                            <a:srgbClr val="333333"/>
                          </a:solidFill>
                          <a:latin typeface="Calibri"/>
                        </a:defRPr>
                      </a:pPr>
                      <a:r>
                        <a:t>AI-GEN-05</a:t>
                      </a:r>
                    </a:p>
                  </a:txBody>
                  <a:tcPr/>
                </a:tc>
                <a:tc>
                  <a:txBody>
                    <a:bodyPr wrap="square" lIns="50800" rIns="50800"/>
                    <a:lstStyle/>
                    <a:p>
                      <a:pPr>
                        <a:defRPr sz="900">
                          <a:solidFill>
                            <a:srgbClr val="333333"/>
                          </a:solidFill>
                          <a:latin typeface="Calibri"/>
                        </a:defRPr>
                      </a:pPr>
                      <a:r>
                        <a:t>Reduce the caliper mounting bracket thickness by 1mm, provided FEA analysis c...</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5000.00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50.0000</a:t>
                      </a:r>
                    </a:p>
                  </a:txBody>
                  <a:tcPr/>
                </a:tc>
                <a:tc>
                  <a:txBody>
                    <a:bodyPr wrap="square" lIns="50800" rIns="50800"/>
                    <a:lstStyle/>
                    <a:p>
                      <a:pPr>
                        <a:defRPr sz="900">
                          <a:solidFill>
                            <a:srgbClr val="333333"/>
                          </a:solidFill>
                          <a:latin typeface="Calibri"/>
                        </a:defRPr>
                      </a:pPr>
                      <a:r>
                        <a:t>Needs Human Review</a:t>
                      </a:r>
                    </a:p>
                  </a:txBody>
                  <a:tcPr/>
                </a:tc>
                <a:tc>
                  <a:txBody>
                    <a:bodyPr wrap="square" lIns="50800" rIns="50800"/>
                    <a:lstStyle/>
                    <a:p>
                      <a:pPr>
                        <a:defRPr sz="900">
                          <a:solidFill>
                            <a:srgbClr val="333333"/>
                          </a:solidFill>
                          <a:latin typeface="Calibri"/>
                        </a:defRPr>
                      </a:pPr>
                      <a:r>
                        <a:t>Engineering Review</a:t>
                      </a:r>
                    </a:p>
                  </a:txBody>
                  <a:tcPr/>
                </a:tc>
              </a:tr>
              <a:tr h="782955">
                <a:tc>
                  <a:txBody>
                    <a:bodyPr wrap="square" lIns="50800" rIns="50800"/>
                    <a:lstStyle/>
                    <a:p>
                      <a:pPr>
                        <a:defRPr sz="900">
                          <a:solidFill>
                            <a:srgbClr val="333333"/>
                          </a:solidFill>
                          <a:latin typeface="Calibri"/>
                        </a:defRPr>
                      </a:pPr>
                      <a:r>
                        <a:t>AI-GEN-06</a:t>
                      </a:r>
                    </a:p>
                  </a:txBody>
                  <a:tcPr/>
                </a:tc>
                <a:tc>
                  <a:txBody>
                    <a:bodyPr wrap="square" lIns="50800" rIns="50800"/>
                    <a:lstStyle/>
                    <a:p>
                      <a:pPr>
                        <a:defRPr sz="900">
                          <a:solidFill>
                            <a:srgbClr val="333333"/>
                          </a:solidFill>
                          <a:latin typeface="Calibri"/>
                        </a:defRPr>
                      </a:pPr>
                      <a:r>
                        <a:t>Implement a thinner, high-performance friction material for the brake pads on...</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5000.00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50.0000</a:t>
                      </a:r>
                    </a:p>
                  </a:txBody>
                  <a:tcPr/>
                </a:tc>
                <a:tc>
                  <a:txBody>
                    <a:bodyPr wrap="square" lIns="50800" rIns="50800"/>
                    <a:lstStyle/>
                    <a:p>
                      <a:pPr>
                        <a:defRPr sz="900">
                          <a:solidFill>
                            <a:srgbClr val="333333"/>
                          </a:solidFill>
                          <a:latin typeface="Calibri"/>
                        </a:defRPr>
                      </a:pPr>
                      <a:r>
                        <a:t>Needs Human Review</a:t>
                      </a:r>
                    </a:p>
                  </a:txBody>
                  <a:tcPr/>
                </a:tc>
                <a:tc>
                  <a:txBody>
                    <a:bodyPr wrap="square" lIns="50800" rIns="50800"/>
                    <a:lstStyle/>
                    <a:p>
                      <a:pPr>
                        <a:defRPr sz="900">
                          <a:solidFill>
                            <a:srgbClr val="333333"/>
                          </a:solidFill>
                          <a:latin typeface="Calibri"/>
                        </a:defRPr>
                      </a:pPr>
                      <a:r>
                        <a:t>Engineering Review</a:t>
                      </a:r>
                    </a:p>
                  </a:txBody>
                  <a:tcPr/>
                </a:tc>
              </a:tr>
              <a:tr h="782955">
                <a:tc>
                  <a:txBody>
                    <a:bodyPr wrap="square" lIns="50800" rIns="50800"/>
                    <a:lstStyle/>
                    <a:p>
                      <a:pPr>
                        <a:defRPr sz="900">
                          <a:solidFill>
                            <a:srgbClr val="333333"/>
                          </a:solidFill>
                          <a:latin typeface="Calibri"/>
                        </a:defRPr>
                      </a:pPr>
                      <a:r>
                        <a:t>AI-GEN-07</a:t>
                      </a:r>
                    </a:p>
                  </a:txBody>
                  <a:tcPr/>
                </a:tc>
                <a:tc>
                  <a:txBody>
                    <a:bodyPr wrap="square" lIns="50800" rIns="50800"/>
                    <a:lstStyle/>
                    <a:p>
                      <a:pPr>
                        <a:defRPr sz="900">
                          <a:solidFill>
                            <a:srgbClr val="333333"/>
                          </a:solidFill>
                          <a:latin typeface="Calibri"/>
                        </a:defRPr>
                      </a:pPr>
                      <a:r>
                        <a:t>Reduce the thickness of the brake caliper housing casting by 1.5mm, using a h...</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5000.00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50.0000</a:t>
                      </a:r>
                    </a:p>
                  </a:txBody>
                  <a:tcPr/>
                </a:tc>
                <a:tc>
                  <a:txBody>
                    <a:bodyPr wrap="square" lIns="50800" rIns="50800"/>
                    <a:lstStyle/>
                    <a:p>
                      <a:pPr>
                        <a:defRPr sz="900">
                          <a:solidFill>
                            <a:srgbClr val="333333"/>
                          </a:solidFill>
                          <a:latin typeface="Calibri"/>
                        </a:defRPr>
                      </a:pPr>
                      <a:r>
                        <a:t>Needs Human Review</a:t>
                      </a:r>
                    </a:p>
                  </a:txBody>
                  <a:tcPr/>
                </a:tc>
                <a:tc>
                  <a:txBody>
                    <a:bodyPr wrap="square" lIns="50800" rIns="50800"/>
                    <a:lstStyle/>
                    <a:p>
                      <a:pPr>
                        <a:defRPr sz="900">
                          <a:solidFill>
                            <a:srgbClr val="333333"/>
                          </a:solidFill>
                          <a:latin typeface="Calibri"/>
                        </a:defRPr>
                      </a:pPr>
                      <a:r>
                        <a:t>Engineering Review</a:t>
                      </a:r>
                    </a:p>
                  </a:txBody>
                  <a:tcPr/>
                </a:tc>
              </a:tr>
              <a:tr h="782955">
                <a:tc>
                  <a:txBody>
                    <a:bodyPr wrap="square" lIns="50800" rIns="50800"/>
                    <a:lstStyle/>
                    <a:p>
                      <a:pPr>
                        <a:defRPr sz="900">
                          <a:solidFill>
                            <a:srgbClr val="333333"/>
                          </a:solidFill>
                          <a:latin typeface="Calibri"/>
                        </a:defRPr>
                      </a:pPr>
                      <a:r>
                        <a:t>AI-GEN-08</a:t>
                      </a:r>
                    </a:p>
                  </a:txBody>
                  <a:tcPr/>
                </a:tc>
                <a:tc>
                  <a:txBody>
                    <a:bodyPr wrap="square" lIns="50800" rIns="50800"/>
                    <a:lstStyle/>
                    <a:p>
                      <a:pPr>
                        <a:defRPr sz="900">
                          <a:solidFill>
                            <a:srgbClr val="333333"/>
                          </a:solidFill>
                          <a:latin typeface="Calibri"/>
                        </a:defRPr>
                      </a:pPr>
                      <a:r>
                        <a:t>Integrate the brake fluid reservoir and master cylinder assembly into a singl...</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5000.00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50.0000</a:t>
                      </a:r>
                    </a:p>
                  </a:txBody>
                  <a:tcPr/>
                </a:tc>
                <a:tc>
                  <a:txBody>
                    <a:bodyPr wrap="square" lIns="50800" rIns="50800"/>
                    <a:lstStyle/>
                    <a:p>
                      <a:pPr>
                        <a:defRPr sz="900">
                          <a:solidFill>
                            <a:srgbClr val="333333"/>
                          </a:solidFill>
                          <a:latin typeface="Calibri"/>
                        </a:defRPr>
                      </a:pPr>
                      <a:r>
                        <a:t>Needs Human Review</a:t>
                      </a:r>
                    </a:p>
                  </a:txBody>
                  <a:tcPr/>
                </a:tc>
                <a:tc>
                  <a:txBody>
                    <a:bodyPr wrap="square" lIns="50800" rIns="50800"/>
                    <a:lstStyle/>
                    <a:p>
                      <a:pPr>
                        <a:defRPr sz="900">
                          <a:solidFill>
                            <a:srgbClr val="333333"/>
                          </a:solidFill>
                          <a:latin typeface="Calibri"/>
                        </a:defRPr>
                      </a:pPr>
                      <a:r>
                        <a:t>Engineering Review</a:t>
                      </a:r>
                    </a:p>
                  </a:txBody>
                  <a:tcPr/>
                </a:tc>
              </a:tr>
              <a:tr h="782955">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Investigate the use of advanced composite materials for brake dust shields, s...</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269.07</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2.6907</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782955">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Explore the application of a thin-film ceramic coating on brake rotor frictio...</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1569.25</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15.6925</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782955">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Optimize caliper casting design for weight reduction while maintaining struct...</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2012.45</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20.1245</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bl>
          </a:graphicData>
        </a:graphic>
      </p:graphicFrame>
      <p:sp>
        <p:nvSpPr>
          <p:cNvPr id="3" name="TextBox 2"/>
          <p:cNvSpPr txBox="1"/>
          <p:nvPr/>
        </p:nvSpPr>
        <p:spPr>
          <a:xfrm>
            <a:off x="182880" y="45720"/>
            <a:ext cx="11825935" cy="320040"/>
          </a:xfrm>
          <a:prstGeom prst="rect">
            <a:avLst/>
          </a:prstGeom>
          <a:noFill/>
        </p:spPr>
        <p:txBody>
          <a:bodyPr wrap="none">
            <a:spAutoFit/>
          </a:bodyPr>
          <a:lstStyle/>
          <a:p>
            <a:pPr>
              <a:defRPr sz="1500" b="1">
                <a:solidFill>
                  <a:srgbClr val="003366"/>
                </a:solidFill>
              </a:defRPr>
            </a:pPr>
            <a:r>
              <a:t>Summary (Values in ₹ Crore) (Page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182880" y="411480"/>
          <a:ext cx="10972800" cy="6263640"/>
        </p:xfrm>
        <a:graphic>
          <a:graphicData uri="http://schemas.openxmlformats.org/drawingml/2006/table">
            <a:tbl>
              <a:tblPr firstRow="1" bandRow="1">
                <a:tableStyleId>{5C22544A-7EE6-4342-B048-85BDC9FD1C3A}</a:tableStyleId>
              </a:tblPr>
              <a:tblGrid>
                <a:gridCol w="548640"/>
                <a:gridCol w="3657600"/>
                <a:gridCol w="914400"/>
                <a:gridCol w="914400"/>
                <a:gridCol w="914400"/>
                <a:gridCol w="1097280"/>
                <a:gridCol w="1097280"/>
                <a:gridCol w="1828800"/>
              </a:tblGrid>
              <a:tr h="3131820">
                <a:tc>
                  <a:txBody>
                    <a:bodyPr wrap="square"/>
                    <a:lstStyle/>
                    <a:p>
                      <a:pPr>
                        <a:defRPr b="1" sz="900">
                          <a:solidFill>
                            <a:srgbClr val="FFFFFF"/>
                          </a:solidFill>
                        </a:defRPr>
                      </a:pPr>
                      <a:r>
                        <a:t>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(Cr)</a:t>
                      </a:r>
                    </a:p>
                  </a:txBody>
                  <a:tcPr>
                    <a:solidFill>
                      <a:srgbClr val="003366"/>
                    </a:solidFill>
                  </a:tcPr>
                </a:tc>
                <a:tc>
                  <a:txBody>
                    <a:bodyPr wrap="square"/>
                    <a:lstStyle/>
                    <a:p>
                      <a:pPr>
                        <a:defRPr b="1" sz="900">
                          <a:solidFill>
                            <a:srgbClr val="FFFFFF"/>
                          </a:solidFill>
                        </a:defRPr>
                      </a:pPr>
                      <a:r>
                        <a:t>Unit Sav (₹)</a:t>
                      </a:r>
                    </a:p>
                  </a:txBody>
                  <a:tcPr>
                    <a:solidFill>
                      <a:srgbClr val="003366"/>
                    </a:solidFill>
                  </a:tcPr>
                </a:tc>
                <a:tc>
                  <a:txBody>
                    <a:bodyPr wrap="square"/>
                    <a:lstStyle/>
                    <a:p>
                      <a:pPr>
                        <a:defRPr b="1" sz="900">
                          <a:solidFill>
                            <a:srgbClr val="FFFFFF"/>
                          </a:solidFill>
                        </a:defRPr>
                      </a:pPr>
                      <a:r>
                        <a:t>Vol (Qty)</a:t>
                      </a:r>
                    </a:p>
                  </a:txBody>
                  <a:tcPr>
                    <a:solidFill>
                      <a:srgbClr val="003366"/>
                    </a:solidFill>
                  </a:tcPr>
                </a:tc>
                <a:tc>
                  <a:txBody>
                    <a:bodyPr wrap="square"/>
                    <a:lstStyle/>
                    <a:p>
                      <a:pPr>
                        <a:defRPr b="1" sz="900">
                          <a:solidFill>
                            <a:srgbClr val="FFFFFF"/>
                          </a:solidFill>
                        </a:defRPr>
                      </a:pPr>
                      <a:r>
                        <a:t>Total Sav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c>
                  <a:txBody>
                    <a:bodyPr wrap="square"/>
                    <a:lstStyle/>
                    <a:p>
                      <a:pPr>
                        <a:defRPr b="1" sz="900">
                          <a:solidFill>
                            <a:srgbClr val="FFFFFF"/>
                          </a:solidFill>
                        </a:defRPr>
                      </a:pPr>
                      <a:r>
                        <a:t>Remark</a:t>
                      </a:r>
                    </a:p>
                  </a:txBody>
                  <a:tcPr>
                    <a:solidFill>
                      <a:srgbClr val="003366"/>
                    </a:solidFill>
                  </a:tcPr>
                </a:tc>
              </a:tr>
              <a:tr h="3131820">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Evaluate the feasibility of a slightly thinner gauge steel for the brake roto...</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813.90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8.1390</a:t>
                      </a:r>
                    </a:p>
                  </a:txBody>
                  <a:tcPr/>
                </a:tc>
                <a:tc>
                  <a:txBody>
                    <a:bodyPr wrap="square" lIns="50800" rIns="50800"/>
                    <a:lstStyle/>
                    <a:p>
                      <a:pPr>
                        <a:defRPr sz="900">
                          <a:solidFill>
                            <a:srgbClr val="333333"/>
                          </a:solidFill>
                          <a:latin typeface="Calibri"/>
                        </a:defRPr>
                      </a:pPr>
                      <a:r>
                        <a:t>Industry Trend</a:t>
                      </a:r>
                    </a:p>
                  </a:txBody>
                  <a:tcPr/>
                </a:tc>
                <a:tc>
                  <a:txBody>
                    <a:bodyPr wrap="square" lIns="50800" rIns="50800"/>
                    <a:lstStyle/>
                    <a:p>
                      <a:pPr>
                        <a:defRPr sz="900">
                          <a:solidFill>
                            <a:srgbClr val="333333"/>
                          </a:solidFill>
                          <a:latin typeface="Calibri"/>
                        </a:defRPr>
                      </a:pPr>
                      <a:r>
                        <a:t>Engineering Review</a:t>
                      </a:r>
                    </a:p>
                  </a:txBody>
                  <a:tcPr/>
                </a:tc>
              </a:tr>
            </a:tbl>
          </a:graphicData>
        </a:graphic>
      </p:graphicFrame>
      <p:sp>
        <p:nvSpPr>
          <p:cNvPr id="3" name="TextBox 2"/>
          <p:cNvSpPr txBox="1"/>
          <p:nvPr/>
        </p:nvSpPr>
        <p:spPr>
          <a:xfrm>
            <a:off x="182880" y="45720"/>
            <a:ext cx="11825935" cy="320040"/>
          </a:xfrm>
          <a:prstGeom prst="rect">
            <a:avLst/>
          </a:prstGeom>
          <a:noFill/>
        </p:spPr>
        <p:txBody>
          <a:bodyPr wrap="none">
            <a:spAutoFit/>
          </a:bodyPr>
          <a:lstStyle/>
          <a:p>
            <a:pPr>
              <a:defRPr sz="1500" b="1">
                <a:solidFill>
                  <a:srgbClr val="003366"/>
                </a:solidFill>
              </a:defRPr>
            </a:pPr>
            <a:r>
              <a:t>Summary (Values in ₹ Crore) (Page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645920"/>
          </a:xfrm>
          <a:prstGeom prst="rect">
            <a:avLst/>
          </a:prstGeom>
          <a:noFill/>
        </p:spPr>
        <p:txBody>
          <a:bodyPr wrap="square">
            <a:spAutoFit/>
          </a:bodyPr>
          <a:lstStyle/>
          <a:p>
            <a:pPr>
              <a:defRPr sz="1800" b="1">
                <a:solidFill>
                  <a:srgbClr val="003366"/>
                </a:solidFill>
              </a:defRPr>
            </a:pPr>
            <a:r>
              <a:t>#1: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92024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148840"/>
            <a:ext cx="5486400" cy="811438"/>
          </a:xfrm>
          <a:prstGeom prst="rect">
            <a:avLst/>
          </a:prstGeom>
          <a:noFill/>
        </p:spPr>
        <p:txBody>
          <a:bodyPr wrap="square">
            <a:spAutoFit/>
          </a:bodyPr>
          <a:lstStyle/>
          <a:p>
            <a:pPr>
              <a:defRPr sz="1000">
                <a:solidFill>
                  <a:srgbClr val="333333"/>
                </a:solidFill>
              </a:defRPr>
            </a:pPr>
            <a:r>
              <a:t>Technical optimization of 1. Reduce the overall wall thickness of the Brake Dust Cover Plates present on all four wheel hubs of the vehicles from 1mm to 0.8mm</a:t>
            </a:r>
            <a:br/>
            <a:r>
              <a:t>2. Reduce the paint coating thickness on each side of all four plates from 56 microns to 27.8 microns focusing on material efficiency.</a:t>
            </a:r>
          </a:p>
        </p:txBody>
      </p:sp>
      <p:sp>
        <p:nvSpPr>
          <p:cNvPr id="6" name="Rectangle 5"/>
          <p:cNvSpPr/>
          <p:nvPr/>
        </p:nvSpPr>
        <p:spPr>
          <a:xfrm>
            <a:off x="274320" y="296027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033430"/>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262030"/>
            <a:ext cx="5486400" cy="424647"/>
          </a:xfrm>
          <a:prstGeom prst="rect">
            <a:avLst/>
          </a:prstGeom>
          <a:noFill/>
        </p:spPr>
        <p:txBody>
          <a:bodyPr wrap="square">
            <a:spAutoFit/>
          </a:bodyPr>
          <a:lstStyle/>
          <a:p>
            <a:pPr>
              <a:defRPr sz="1000">
                <a:solidFill>
                  <a:srgbClr val="333333"/>
                </a:solidFill>
              </a:defRPr>
            </a:pPr>
            <a:r>
              <a:t>N/A (No material change explicitly mentioned)</a:t>
            </a:r>
            <a:br/>
            <a:r>
              <a:t>1mm to 0.8mm</a:t>
            </a:r>
          </a:p>
        </p:txBody>
      </p:sp>
      <p:sp>
        <p:nvSpPr>
          <p:cNvPr id="9" name="Rectangle 8"/>
          <p:cNvSpPr/>
          <p:nvPr/>
        </p:nvSpPr>
        <p:spPr>
          <a:xfrm>
            <a:off x="274320" y="368667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75982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988429"/>
            <a:ext cx="5486400" cy="378561"/>
          </a:xfrm>
          <a:prstGeom prst="rect">
            <a:avLst/>
          </a:prstGeom>
          <a:noFill/>
        </p:spPr>
        <p:txBody>
          <a:bodyPr wrap="square">
            <a:spAutoFit/>
          </a:bodyPr>
          <a:lstStyle/>
          <a:p>
            <a:pPr>
              <a:defRPr sz="1000">
                <a:solidFill>
                  <a:srgbClr val="333333"/>
                </a:solidFill>
              </a:defRPr>
            </a:pPr>
            <a:r>
              <a:t>Est. Saving: INR 57</a:t>
            </a:r>
            <a:br/>
            <a:r>
              <a:t>CAPEX: TBD</a:t>
            </a:r>
          </a:p>
        </p:txBody>
      </p:sp>
      <p:sp>
        <p:nvSpPr>
          <p:cNvPr id="12" name="Rectangle 11"/>
          <p:cNvSpPr/>
          <p:nvPr/>
        </p:nvSpPr>
        <p:spPr>
          <a:xfrm>
            <a:off x="274320" y="436699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440143"/>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668743"/>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604144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114592"/>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343192"/>
            <a:ext cx="5486400" cy="240487"/>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5544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5.jpg"/>
          <p:cNvPicPr>
            <a:picLocks noChangeAspect="1"/>
          </p:cNvPicPr>
          <p:nvPr/>
        </p:nvPicPr>
        <p:blipFill>
          <a:blip r:embed="rId2"/>
          <a:stretch>
            <a:fillRect/>
          </a:stretch>
        </p:blipFill>
        <p:spPr>
          <a:xfrm>
            <a:off x="6217920" y="1828800"/>
            <a:ext cx="5699455" cy="2304288"/>
          </a:xfrm>
          <a:prstGeom prst="rect">
            <a:avLst/>
          </a:prstGeom>
          <a:ln w="12700">
            <a:solidFill>
              <a:srgbClr val="C8C8C8"/>
            </a:solidFill>
          </a:ln>
        </p:spPr>
      </p:pic>
      <p:sp>
        <p:nvSpPr>
          <p:cNvPr id="21" name="Rectangle 20"/>
          <p:cNvSpPr/>
          <p:nvPr/>
        </p:nvSpPr>
        <p:spPr>
          <a:xfrm>
            <a:off x="6217920" y="4279392"/>
            <a:ext cx="5699455" cy="230428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#2: The Brake Booster Plate in MGI could be integrated into the Dashboard BIW of the vehicle as done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31231"/>
          </a:xfrm>
          <a:prstGeom prst="rect">
            <a:avLst/>
          </a:prstGeom>
          <a:noFill/>
        </p:spPr>
        <p:txBody>
          <a:bodyPr wrap="square">
            <a:spAutoFit/>
          </a:bodyPr>
          <a:lstStyle/>
          <a:p>
            <a:pPr>
              <a:defRPr sz="1000">
                <a:solidFill>
                  <a:srgbClr val="333333"/>
                </a:solidFill>
              </a:defRPr>
            </a:pPr>
            <a:r>
              <a:t>Technical optimization of The Brake Booster Plate in MGI could be integrated into the Dashboard BIW of the vehicle as done in KIA focusing on material efficiency.</a:t>
            </a:r>
          </a:p>
        </p:txBody>
      </p:sp>
      <p:sp>
        <p:nvSpPr>
          <p:cNvPr id="6" name="Rectangle 5"/>
          <p:cNvSpPr/>
          <p:nvPr/>
        </p:nvSpPr>
        <p:spPr>
          <a:xfrm>
            <a:off x="274320" y="175711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30263"/>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058863"/>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51642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589580"/>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18180"/>
            <a:ext cx="5486400" cy="378561"/>
          </a:xfrm>
          <a:prstGeom prst="rect">
            <a:avLst/>
          </a:prstGeom>
          <a:noFill/>
        </p:spPr>
        <p:txBody>
          <a:bodyPr wrap="square">
            <a:spAutoFit/>
          </a:bodyPr>
          <a:lstStyle/>
          <a:p>
            <a:pPr>
              <a:defRPr sz="1000">
                <a:solidFill>
                  <a:srgbClr val="333333"/>
                </a:solidFill>
              </a:defRPr>
            </a:pPr>
            <a:r>
              <a:t>Est. Saving: INR 47</a:t>
            </a:r>
            <a:br/>
            <a:r>
              <a:t>CAPEX: TBD</a:t>
            </a:r>
          </a:p>
        </p:txBody>
      </p:sp>
      <p:sp>
        <p:nvSpPr>
          <p:cNvPr id="12" name="Rectangle 11"/>
          <p:cNvSpPr/>
          <p:nvPr/>
        </p:nvSpPr>
        <p:spPr>
          <a:xfrm>
            <a:off x="274320" y="319674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269894"/>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498494"/>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487119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4944343"/>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172943"/>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56601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1.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Rectangle 20"/>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#3: Redesign the current Brake Pedal Mounting Bracket used in MGI to a similar bracket used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18063"/>
          </a:xfrm>
          <a:prstGeom prst="rect">
            <a:avLst/>
          </a:prstGeom>
          <a:noFill/>
        </p:spPr>
        <p:txBody>
          <a:bodyPr wrap="square">
            <a:spAutoFit/>
          </a:bodyPr>
          <a:lstStyle/>
          <a:p>
            <a:pPr>
              <a:defRPr sz="1000">
                <a:solidFill>
                  <a:srgbClr val="333333"/>
                </a:solidFill>
              </a:defRPr>
            </a:pPr>
            <a:r>
              <a:t>Technical optimization of Redesign the current Brake Pedal Mounting Bracket used in MGI to a similar bracket used in KIA. focusing on material efficiency.</a:t>
            </a:r>
          </a:p>
        </p:txBody>
      </p:sp>
      <p:sp>
        <p:nvSpPr>
          <p:cNvPr id="6" name="Rectangle 5"/>
          <p:cNvSpPr/>
          <p:nvPr/>
        </p:nvSpPr>
        <p:spPr>
          <a:xfrm>
            <a:off x="274320" y="174394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17095"/>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045695"/>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50326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576413"/>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05013"/>
            <a:ext cx="5486400" cy="380207"/>
          </a:xfrm>
          <a:prstGeom prst="rect">
            <a:avLst/>
          </a:prstGeom>
          <a:noFill/>
        </p:spPr>
        <p:txBody>
          <a:bodyPr wrap="square">
            <a:spAutoFit/>
          </a:bodyPr>
          <a:lstStyle/>
          <a:p>
            <a:pPr>
              <a:defRPr sz="1000">
                <a:solidFill>
                  <a:srgbClr val="333333"/>
                </a:solidFill>
              </a:defRPr>
            </a:pPr>
            <a:r>
              <a:t>Est. Saving: INR 113</a:t>
            </a:r>
            <a:br/>
            <a:r>
              <a:t>CAPEX: TBD</a:t>
            </a:r>
          </a:p>
        </p:txBody>
      </p:sp>
      <p:sp>
        <p:nvSpPr>
          <p:cNvPr id="12" name="Rectangle 11"/>
          <p:cNvSpPr/>
          <p:nvPr/>
        </p:nvSpPr>
        <p:spPr>
          <a:xfrm>
            <a:off x="274320" y="31852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258372"/>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486972"/>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485967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4932822"/>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161422"/>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564861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3.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Rectangle 20"/>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057400"/>
          </a:xfrm>
          <a:prstGeom prst="rect">
            <a:avLst/>
          </a:prstGeom>
          <a:noFill/>
        </p:spPr>
        <p:txBody>
          <a:bodyPr wrap="square">
            <a:spAutoFit/>
          </a:bodyPr>
          <a:lstStyle/>
          <a:p>
            <a:pPr>
              <a:defRPr sz="1800" b="1">
                <a:solidFill>
                  <a:srgbClr val="003366"/>
                </a:solidFill>
              </a:defRPr>
            </a:pPr>
            <a:r>
              <a:t>#4: Replace the current cast iron brake rotor material for the front axle with a higher-performance, lower-density grey cast iron alloy (e.g., GGG40 or GGG50) with optimized microstructure for improved thermal dissipation and wear resistance, while maintaining equivalent dimensional stability.</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33172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560320"/>
            <a:ext cx="5486400" cy="739018"/>
          </a:xfrm>
          <a:prstGeom prst="rect">
            <a:avLst/>
          </a:prstGeom>
          <a:noFill/>
        </p:spPr>
        <p:txBody>
          <a:bodyPr wrap="square">
            <a:spAutoFit/>
          </a:bodyPr>
          <a:lstStyle/>
          <a:p>
            <a:pPr>
              <a:defRPr sz="1000">
                <a:solidFill>
                  <a:srgbClr val="333333"/>
                </a:solidFill>
              </a:defRPr>
            </a:pPr>
            <a:r>
              <a:t>Technical optimization of Replace the current cast iron brake rotor material for the front axle with a higher-performance, lower-density grey cast iron alloy (e.g., GGG40 or GGG50) with optimized microstructure for improved thermal dissipation and wear resistance, while maintaining equivalent dimensional stability. focusing on material efficiency.</a:t>
            </a:r>
          </a:p>
        </p:txBody>
      </p:sp>
      <p:sp>
        <p:nvSpPr>
          <p:cNvPr id="6" name="Rectangle 5"/>
          <p:cNvSpPr/>
          <p:nvPr/>
        </p:nvSpPr>
        <p:spPr>
          <a:xfrm>
            <a:off x="274320" y="329933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372490"/>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601090"/>
            <a:ext cx="5486400" cy="548091"/>
          </a:xfrm>
          <a:prstGeom prst="rect">
            <a:avLst/>
          </a:prstGeom>
          <a:noFill/>
        </p:spPr>
        <p:txBody>
          <a:bodyPr wrap="square">
            <a:spAutoFit/>
          </a:bodyPr>
          <a:lstStyle/>
          <a:p>
            <a:pPr>
              <a:defRPr sz="1000">
                <a:solidFill>
                  <a:srgbClr val="333333"/>
                </a:solidFill>
              </a:defRPr>
            </a:pPr>
            <a:r>
              <a:t>Replace the current cast iron brake rotor material for the front axle with a higher-performance, low</a:t>
            </a:r>
            <a:br/>
            <a:r>
              <a:t>N/A (Maintains current envelope)</a:t>
            </a:r>
          </a:p>
        </p:txBody>
      </p:sp>
      <p:sp>
        <p:nvSpPr>
          <p:cNvPr id="9" name="Rectangle 8"/>
          <p:cNvSpPr/>
          <p:nvPr/>
        </p:nvSpPr>
        <p:spPr>
          <a:xfrm>
            <a:off x="274320" y="414918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222333"/>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450933"/>
            <a:ext cx="5486400" cy="386791"/>
          </a:xfrm>
          <a:prstGeom prst="rect">
            <a:avLst/>
          </a:prstGeom>
          <a:noFill/>
        </p:spPr>
        <p:txBody>
          <a:bodyPr wrap="square">
            <a:spAutoFit/>
          </a:bodyPr>
          <a:lstStyle/>
          <a:p>
            <a:pPr>
              <a:defRPr sz="1000">
                <a:solidFill>
                  <a:srgbClr val="333333"/>
                </a:solidFill>
              </a:defRPr>
            </a:pPr>
            <a:r>
              <a:t>Est. Saving: INR 1500000</a:t>
            </a:r>
            <a:br/>
            <a:r>
              <a:t>CAPEX: TBD</a:t>
            </a:r>
          </a:p>
        </p:txBody>
      </p:sp>
      <p:sp>
        <p:nvSpPr>
          <p:cNvPr id="12" name="Rectangle 11"/>
          <p:cNvSpPr/>
          <p:nvPr/>
        </p:nvSpPr>
        <p:spPr>
          <a:xfrm>
            <a:off x="274320" y="483772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910876"/>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5139476"/>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651217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9659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7" name="Picture 16" descr="32.jpg"/>
          <p:cNvPicPr>
            <a:picLocks noChangeAspect="1"/>
          </p:cNvPicPr>
          <p:nvPr/>
        </p:nvPicPr>
        <p:blipFill>
          <a:blip r:embed="rId2"/>
          <a:stretch>
            <a:fillRect/>
          </a:stretch>
        </p:blipFill>
        <p:spPr>
          <a:xfrm>
            <a:off x="6217920" y="2240280"/>
            <a:ext cx="5699455" cy="2098548"/>
          </a:xfrm>
          <a:prstGeom prst="rect">
            <a:avLst/>
          </a:prstGeom>
          <a:ln w="12700">
            <a:solidFill>
              <a:srgbClr val="C8C8C8"/>
            </a:solidFill>
          </a:ln>
        </p:spPr>
      </p:pic>
      <p:sp>
        <p:nvSpPr>
          <p:cNvPr id="18" name="Rectangle 17"/>
          <p:cNvSpPr/>
          <p:nvPr/>
        </p:nvSpPr>
        <p:spPr>
          <a:xfrm>
            <a:off x="6217920" y="4485132"/>
            <a:ext cx="5699455" cy="209854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645920"/>
          </a:xfrm>
          <a:prstGeom prst="rect">
            <a:avLst/>
          </a:prstGeom>
          <a:noFill/>
        </p:spPr>
        <p:txBody>
          <a:bodyPr wrap="square">
            <a:spAutoFit/>
          </a:bodyPr>
          <a:lstStyle/>
          <a:p>
            <a:pPr>
              <a:defRPr sz="1800" b="1">
                <a:solidFill>
                  <a:srgbClr val="003366"/>
                </a:solidFill>
              </a:defRPr>
            </a:pPr>
            <a:r>
              <a:t>#5: Reduce the caliper piston diameter for the rear brake assembly by 2mm, compensating for any potential reduction in braking force by slightly increasing the brake shoe friction material surface area or optimizing the brake fluid pressure modulation strategy via ABS/ESC.</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92024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148840"/>
            <a:ext cx="5486400" cy="704453"/>
          </a:xfrm>
          <a:prstGeom prst="rect">
            <a:avLst/>
          </a:prstGeom>
          <a:noFill/>
        </p:spPr>
        <p:txBody>
          <a:bodyPr wrap="square">
            <a:spAutoFit/>
          </a:bodyPr>
          <a:lstStyle/>
          <a:p>
            <a:pPr>
              <a:defRPr sz="1000">
                <a:solidFill>
                  <a:srgbClr val="333333"/>
                </a:solidFill>
              </a:defRPr>
            </a:pPr>
            <a:r>
              <a:t>Technical optimization of Reduce the caliper piston diameter for the rear brake assembly by 2mm, compensating for any potential reduction in braking force by slightly increasing the brake shoe friction material surface area or optimizing the brake fluid pressure modulation strategy via ABS/ESC. focusing on material efficiency.</a:t>
            </a:r>
          </a:p>
        </p:txBody>
      </p:sp>
      <p:sp>
        <p:nvSpPr>
          <p:cNvPr id="6" name="Rectangle 5"/>
          <p:cNvSpPr/>
          <p:nvPr/>
        </p:nvSpPr>
        <p:spPr>
          <a:xfrm>
            <a:off x="274320" y="285329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926445"/>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155045"/>
            <a:ext cx="5486400" cy="548091"/>
          </a:xfrm>
          <a:prstGeom prst="rect">
            <a:avLst/>
          </a:prstGeom>
          <a:noFill/>
        </p:spPr>
        <p:txBody>
          <a:bodyPr wrap="square">
            <a:spAutoFit/>
          </a:bodyPr>
          <a:lstStyle/>
          <a:p>
            <a:pPr>
              <a:defRPr sz="1000">
                <a:solidFill>
                  <a:srgbClr val="333333"/>
                </a:solidFill>
              </a:defRPr>
            </a:pPr>
            <a:r>
              <a:t>Reduce the caliper piston diameter for the rear brake assembly by 2mm, compensating for any potentia</a:t>
            </a:r>
            <a:br/>
            <a:r>
              <a:t>N/A (Maintains current envelope)</a:t>
            </a:r>
          </a:p>
        </p:txBody>
      </p:sp>
      <p:sp>
        <p:nvSpPr>
          <p:cNvPr id="9" name="Rectangle 8"/>
          <p:cNvSpPr/>
          <p:nvPr/>
        </p:nvSpPr>
        <p:spPr>
          <a:xfrm>
            <a:off x="274320" y="370313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77628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004889"/>
            <a:ext cx="5486400" cy="386791"/>
          </a:xfrm>
          <a:prstGeom prst="rect">
            <a:avLst/>
          </a:prstGeom>
          <a:noFill/>
        </p:spPr>
        <p:txBody>
          <a:bodyPr wrap="square">
            <a:spAutoFit/>
          </a:bodyPr>
          <a:lstStyle/>
          <a:p>
            <a:pPr>
              <a:defRPr sz="1000">
                <a:solidFill>
                  <a:srgbClr val="333333"/>
                </a:solidFill>
              </a:defRPr>
            </a:pPr>
            <a:r>
              <a:t>Est. Saving: INR 1000000</a:t>
            </a:r>
            <a:br/>
            <a:r>
              <a:t>CAPEX: TBD</a:t>
            </a:r>
          </a:p>
        </p:txBody>
      </p:sp>
      <p:sp>
        <p:nvSpPr>
          <p:cNvPr id="12" name="Rectangle 11"/>
          <p:cNvSpPr/>
          <p:nvPr/>
        </p:nvSpPr>
        <p:spPr>
          <a:xfrm>
            <a:off x="274320" y="4391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464832"/>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693432"/>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606612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139281"/>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367881"/>
            <a:ext cx="5486400" cy="215798"/>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5544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6.jpg"/>
          <p:cNvPicPr>
            <a:picLocks noChangeAspect="1"/>
          </p:cNvPicPr>
          <p:nvPr/>
        </p:nvPicPr>
        <p:blipFill>
          <a:blip r:embed="rId2"/>
          <a:stretch>
            <a:fillRect/>
          </a:stretch>
        </p:blipFill>
        <p:spPr>
          <a:xfrm>
            <a:off x="6217920" y="1828800"/>
            <a:ext cx="5699455" cy="2304288"/>
          </a:xfrm>
          <a:prstGeom prst="rect">
            <a:avLst/>
          </a:prstGeom>
          <a:ln w="12700">
            <a:solidFill>
              <a:srgbClr val="C8C8C8"/>
            </a:solidFill>
          </a:ln>
        </p:spPr>
      </p:pic>
      <p:sp>
        <p:nvSpPr>
          <p:cNvPr id="21" name="Rectangle 20"/>
          <p:cNvSpPr/>
          <p:nvPr/>
        </p:nvSpPr>
        <p:spPr>
          <a:xfrm>
            <a:off x="6217920" y="4279392"/>
            <a:ext cx="5699455" cy="230428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#6: Substitute the current steel brake dust shield with a lighter gauge aluminum alloy (e.g., 5052-H32) or a reinforced polymer composite for all four wheels, ensuring sufficient rigidity and heat resistance.</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597468"/>
          </a:xfrm>
          <a:prstGeom prst="rect">
            <a:avLst/>
          </a:prstGeom>
          <a:noFill/>
        </p:spPr>
        <p:txBody>
          <a:bodyPr wrap="square">
            <a:spAutoFit/>
          </a:bodyPr>
          <a:lstStyle/>
          <a:p>
            <a:pPr>
              <a:defRPr sz="1000">
                <a:solidFill>
                  <a:srgbClr val="333333"/>
                </a:solidFill>
              </a:defRPr>
            </a:pPr>
            <a:r>
              <a:t>Technical optimization of Substitute the current steel brake dust shield with a lighter gauge aluminum alloy (e.g., 5052-H32) or a reinforced polymer composite for all four wheels, ensuring sufficient rigidity and heat resistance. focusing on material efficiency.</a:t>
            </a:r>
          </a:p>
        </p:txBody>
      </p:sp>
      <p:sp>
        <p:nvSpPr>
          <p:cNvPr id="6" name="Rectangle 5"/>
          <p:cNvSpPr/>
          <p:nvPr/>
        </p:nvSpPr>
        <p:spPr>
          <a:xfrm>
            <a:off x="274320" y="233482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07980"/>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36580"/>
            <a:ext cx="5486400" cy="523402"/>
          </a:xfrm>
          <a:prstGeom prst="rect">
            <a:avLst/>
          </a:prstGeom>
          <a:noFill/>
        </p:spPr>
        <p:txBody>
          <a:bodyPr wrap="square">
            <a:spAutoFit/>
          </a:bodyPr>
          <a:lstStyle/>
          <a:p>
            <a:pPr>
              <a:defRPr sz="1000">
                <a:solidFill>
                  <a:srgbClr val="333333"/>
                </a:solidFill>
              </a:defRPr>
            </a:pPr>
            <a:r>
              <a:t>Substitute the current steel brake dust shield with a lighter gauge aluminum alloy (e</a:t>
            </a:r>
            <a:br/>
            <a:r>
              <a:t>N/A (Maintains current envelope)</a:t>
            </a:r>
          </a:p>
        </p:txBody>
      </p:sp>
      <p:sp>
        <p:nvSpPr>
          <p:cNvPr id="9" name="Rectangle 8"/>
          <p:cNvSpPr/>
          <p:nvPr/>
        </p:nvSpPr>
        <p:spPr>
          <a:xfrm>
            <a:off x="274320" y="315998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33135"/>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61735"/>
            <a:ext cx="5486400" cy="385145"/>
          </a:xfrm>
          <a:prstGeom prst="rect">
            <a:avLst/>
          </a:prstGeom>
          <a:noFill/>
        </p:spPr>
        <p:txBody>
          <a:bodyPr wrap="square">
            <a:spAutoFit/>
          </a:bodyPr>
          <a:lstStyle/>
          <a:p>
            <a:pPr>
              <a:defRPr sz="1000">
                <a:solidFill>
                  <a:srgbClr val="333333"/>
                </a:solidFill>
              </a:defRPr>
            </a:pPr>
            <a:r>
              <a:t>Est. Saving: INR 800000</a:t>
            </a:r>
            <a:br/>
            <a:r>
              <a:t>CAPEX: TBD</a:t>
            </a:r>
          </a:p>
        </p:txBody>
      </p:sp>
      <p:sp>
        <p:nvSpPr>
          <p:cNvPr id="12" name="Rectangle 11"/>
          <p:cNvSpPr/>
          <p:nvPr/>
        </p:nvSpPr>
        <p:spPr>
          <a:xfrm>
            <a:off x="274320" y="38468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20032"/>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48632"/>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552133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594482"/>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823082"/>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31027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4.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Rectangle 20"/>
          <p:cNvSpPr/>
          <p:nvPr/>
        </p:nvSpPr>
        <p:spPr>
          <a:xfrm>
            <a:off x="6217920" y="4073652"/>
            <a:ext cx="5699455" cy="25100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645920"/>
          </a:xfrm>
          <a:prstGeom prst="rect">
            <a:avLst/>
          </a:prstGeom>
          <a:noFill/>
        </p:spPr>
        <p:txBody>
          <a:bodyPr wrap="square">
            <a:spAutoFit/>
          </a:bodyPr>
          <a:lstStyle/>
          <a:p>
            <a:pPr>
              <a:defRPr sz="1800" b="1">
                <a:solidFill>
                  <a:srgbClr val="003366"/>
                </a:solidFill>
              </a:defRPr>
            </a:pPr>
            <a:r>
              <a:t>#7: Optimize the internal cooling vane design of the front brake rotors to increase airflow and improve thermal dissipation without increasing rotor mass or thickness. This could involve computational fluid dynamics (CFD) analysis and simulation.</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92024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148840"/>
            <a:ext cx="5486400" cy="660013"/>
          </a:xfrm>
          <a:prstGeom prst="rect">
            <a:avLst/>
          </a:prstGeom>
          <a:noFill/>
        </p:spPr>
        <p:txBody>
          <a:bodyPr wrap="square">
            <a:spAutoFit/>
          </a:bodyPr>
          <a:lstStyle/>
          <a:p>
            <a:pPr>
              <a:defRPr sz="1000">
                <a:solidFill>
                  <a:srgbClr val="333333"/>
                </a:solidFill>
              </a:defRPr>
            </a:pPr>
            <a:r>
              <a:t>Technical optimization of Optimize the internal cooling vane design of the front brake rotors to increase airflow and improve thermal dissipation without increasing rotor mass or thickness. This could involve computational fluid dynamics (CFD) analysis and simulation. focusing on material efficiency.</a:t>
            </a:r>
          </a:p>
        </p:txBody>
      </p:sp>
      <p:sp>
        <p:nvSpPr>
          <p:cNvPr id="6" name="Rectangle 5"/>
          <p:cNvSpPr/>
          <p:nvPr/>
        </p:nvSpPr>
        <p:spPr>
          <a:xfrm>
            <a:off x="274320" y="280885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882005"/>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110605"/>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56817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641323"/>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869923"/>
            <a:ext cx="5486400" cy="386791"/>
          </a:xfrm>
          <a:prstGeom prst="rect">
            <a:avLst/>
          </a:prstGeom>
          <a:noFill/>
        </p:spPr>
        <p:txBody>
          <a:bodyPr wrap="square">
            <a:spAutoFit/>
          </a:bodyPr>
          <a:lstStyle/>
          <a:p>
            <a:pPr>
              <a:defRPr sz="1000">
                <a:solidFill>
                  <a:srgbClr val="333333"/>
                </a:solidFill>
              </a:defRPr>
            </a:pPr>
            <a:r>
              <a:t>Est. Saving: INR 1200000</a:t>
            </a:r>
            <a:br/>
            <a:r>
              <a:t>CAPEX: TBD</a:t>
            </a:r>
          </a:p>
        </p:txBody>
      </p:sp>
      <p:sp>
        <p:nvSpPr>
          <p:cNvPr id="12" name="Rectangle 11"/>
          <p:cNvSpPr/>
          <p:nvPr/>
        </p:nvSpPr>
        <p:spPr>
          <a:xfrm>
            <a:off x="274320" y="425671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329866"/>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558466"/>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593116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04316"/>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32916"/>
            <a:ext cx="5486400" cy="350763"/>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5544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2.jpg"/>
          <p:cNvPicPr>
            <a:picLocks noChangeAspect="1"/>
          </p:cNvPicPr>
          <p:nvPr/>
        </p:nvPicPr>
        <p:blipFill>
          <a:blip r:embed="rId2"/>
          <a:stretch>
            <a:fillRect/>
          </a:stretch>
        </p:blipFill>
        <p:spPr>
          <a:xfrm>
            <a:off x="6217920" y="1828800"/>
            <a:ext cx="5699455" cy="2304288"/>
          </a:xfrm>
          <a:prstGeom prst="rect">
            <a:avLst/>
          </a:prstGeom>
          <a:ln w="12700">
            <a:solidFill>
              <a:srgbClr val="C8C8C8"/>
            </a:solidFill>
          </a:ln>
        </p:spPr>
      </p:pic>
      <p:sp>
        <p:nvSpPr>
          <p:cNvPr id="21" name="Rectangle 20"/>
          <p:cNvSpPr/>
          <p:nvPr/>
        </p:nvSpPr>
        <p:spPr>
          <a:xfrm>
            <a:off x="6217920" y="4279392"/>
            <a:ext cx="5699455" cy="230428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645920"/>
          </a:xfrm>
          <a:prstGeom prst="rect">
            <a:avLst/>
          </a:prstGeom>
          <a:noFill/>
        </p:spPr>
        <p:txBody>
          <a:bodyPr wrap="square">
            <a:spAutoFit/>
          </a:bodyPr>
          <a:lstStyle/>
          <a:p>
            <a:pPr>
              <a:defRPr sz="1800" b="1">
                <a:solidFill>
                  <a:srgbClr val="003366"/>
                </a:solidFill>
              </a:defRPr>
            </a:pPr>
            <a:r>
              <a:t>#8: Reduce the caliper mounting bracket thickness by 1mm, provided FEA analysis confirms sufficient structural integrity and no compromise to NVH characteristics under maximum braking loads for the C-SUV segment.</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92024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148840"/>
            <a:ext cx="5486400" cy="604052"/>
          </a:xfrm>
          <a:prstGeom prst="rect">
            <a:avLst/>
          </a:prstGeom>
          <a:noFill/>
        </p:spPr>
        <p:txBody>
          <a:bodyPr wrap="square">
            <a:spAutoFit/>
          </a:bodyPr>
          <a:lstStyle/>
          <a:p>
            <a:pPr>
              <a:defRPr sz="1000">
                <a:solidFill>
                  <a:srgbClr val="333333"/>
                </a:solidFill>
              </a:defRPr>
            </a:pPr>
            <a:r>
              <a:t>Technical optimization of Reduce the caliper mounting bracket thickness by 1mm, provided FEA analysis confirms sufficient structural integrity and no compromise to NVH characteristics under maximum braking loads for the C-SUV segment. focusing on material efficiency.</a:t>
            </a:r>
          </a:p>
        </p:txBody>
      </p:sp>
      <p:sp>
        <p:nvSpPr>
          <p:cNvPr id="6" name="Rectangle 5"/>
          <p:cNvSpPr/>
          <p:nvPr/>
        </p:nvSpPr>
        <p:spPr>
          <a:xfrm>
            <a:off x="274320" y="275289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826044"/>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054644"/>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51221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585362"/>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813962"/>
            <a:ext cx="5486400" cy="385145"/>
          </a:xfrm>
          <a:prstGeom prst="rect">
            <a:avLst/>
          </a:prstGeom>
          <a:noFill/>
        </p:spPr>
        <p:txBody>
          <a:bodyPr wrap="square">
            <a:spAutoFit/>
          </a:bodyPr>
          <a:lstStyle/>
          <a:p>
            <a:pPr>
              <a:defRPr sz="1000">
                <a:solidFill>
                  <a:srgbClr val="333333"/>
                </a:solidFill>
              </a:defRPr>
            </a:pPr>
            <a:r>
              <a:t>Est. Saving: INR 900000</a:t>
            </a:r>
            <a:br/>
            <a:r>
              <a:t>CAPEX: TBD</a:t>
            </a:r>
          </a:p>
        </p:txBody>
      </p:sp>
      <p:sp>
        <p:nvSpPr>
          <p:cNvPr id="12" name="Rectangle 11"/>
          <p:cNvSpPr/>
          <p:nvPr/>
        </p:nvSpPr>
        <p:spPr>
          <a:xfrm>
            <a:off x="274320" y="419910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27225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500859"/>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587355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946708"/>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175308"/>
            <a:ext cx="5486400" cy="408371"/>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5544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4.jpg"/>
          <p:cNvPicPr>
            <a:picLocks noChangeAspect="1"/>
          </p:cNvPicPr>
          <p:nvPr/>
        </p:nvPicPr>
        <p:blipFill>
          <a:blip r:embed="rId2"/>
          <a:stretch>
            <a:fillRect/>
          </a:stretch>
        </p:blipFill>
        <p:spPr>
          <a:xfrm>
            <a:off x="6217920" y="1828800"/>
            <a:ext cx="5699455" cy="2304288"/>
          </a:xfrm>
          <a:prstGeom prst="rect">
            <a:avLst/>
          </a:prstGeom>
          <a:ln w="12700">
            <a:solidFill>
              <a:srgbClr val="C8C8C8"/>
            </a:solidFill>
          </a:ln>
        </p:spPr>
      </p:pic>
      <p:sp>
        <p:nvSpPr>
          <p:cNvPr id="21" name="Rectangle 20"/>
          <p:cNvSpPr/>
          <p:nvPr/>
        </p:nvSpPr>
        <p:spPr>
          <a:xfrm>
            <a:off x="6217920" y="4279392"/>
            <a:ext cx="5699455" cy="230428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645920"/>
          </a:xfrm>
          <a:prstGeom prst="rect">
            <a:avLst/>
          </a:prstGeom>
          <a:noFill/>
        </p:spPr>
        <p:txBody>
          <a:bodyPr wrap="square">
            <a:spAutoFit/>
          </a:bodyPr>
          <a:lstStyle/>
          <a:p>
            <a:pPr>
              <a:defRPr sz="1800" b="1">
                <a:solidFill>
                  <a:srgbClr val="003366"/>
                </a:solidFill>
              </a:defRPr>
            </a:pPr>
            <a:r>
              <a:t>#9: Implement a thinner, high-performance friction material for the brake pads on the front axle, potentially a semi-metallic or ceramic composite, without sacrificing fade resistance or wear life. This requires careful material selection and validation.</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92024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148840"/>
            <a:ext cx="5486400" cy="673181"/>
          </a:xfrm>
          <a:prstGeom prst="rect">
            <a:avLst/>
          </a:prstGeom>
          <a:noFill/>
        </p:spPr>
        <p:txBody>
          <a:bodyPr wrap="square">
            <a:spAutoFit/>
          </a:bodyPr>
          <a:lstStyle/>
          <a:p>
            <a:pPr>
              <a:defRPr sz="1000">
                <a:solidFill>
                  <a:srgbClr val="333333"/>
                </a:solidFill>
              </a:defRPr>
            </a:pPr>
            <a:r>
              <a:t>Technical optimization of Implement a thinner, high-performance friction material for the brake pads on the front axle, potentially a semi-metallic or ceramic composite, without sacrificing fade resistance or wear life. This requires careful material selection and validation. focusing on material efficiency.</a:t>
            </a:r>
          </a:p>
        </p:txBody>
      </p:sp>
      <p:sp>
        <p:nvSpPr>
          <p:cNvPr id="6" name="Rectangle 5"/>
          <p:cNvSpPr/>
          <p:nvPr/>
        </p:nvSpPr>
        <p:spPr>
          <a:xfrm>
            <a:off x="274320" y="282202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895173"/>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123773"/>
            <a:ext cx="5486400" cy="548091"/>
          </a:xfrm>
          <a:prstGeom prst="rect">
            <a:avLst/>
          </a:prstGeom>
          <a:noFill/>
        </p:spPr>
        <p:txBody>
          <a:bodyPr wrap="square">
            <a:spAutoFit/>
          </a:bodyPr>
          <a:lstStyle/>
          <a:p>
            <a:pPr>
              <a:defRPr sz="1000">
                <a:solidFill>
                  <a:srgbClr val="333333"/>
                </a:solidFill>
              </a:defRPr>
            </a:pPr>
            <a:r>
              <a:t>Implement a thinner, high-performance friction material for the brake pads on the front axle, potent</a:t>
            </a:r>
            <a:br/>
            <a:r>
              <a:t>N/A (Maintains current envelope)</a:t>
            </a:r>
          </a:p>
        </p:txBody>
      </p:sp>
      <p:sp>
        <p:nvSpPr>
          <p:cNvPr id="9" name="Rectangle 8"/>
          <p:cNvSpPr/>
          <p:nvPr/>
        </p:nvSpPr>
        <p:spPr>
          <a:xfrm>
            <a:off x="274320" y="367186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745016"/>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973616"/>
            <a:ext cx="5486400" cy="386791"/>
          </a:xfrm>
          <a:prstGeom prst="rect">
            <a:avLst/>
          </a:prstGeom>
          <a:noFill/>
        </p:spPr>
        <p:txBody>
          <a:bodyPr wrap="square">
            <a:spAutoFit/>
          </a:bodyPr>
          <a:lstStyle/>
          <a:p>
            <a:pPr>
              <a:defRPr sz="1000">
                <a:solidFill>
                  <a:srgbClr val="333333"/>
                </a:solidFill>
              </a:defRPr>
            </a:pPr>
            <a:r>
              <a:t>Est. Saving: INR 1300000</a:t>
            </a:r>
            <a:br/>
            <a:r>
              <a:t>CAPEX: TBD</a:t>
            </a:r>
          </a:p>
        </p:txBody>
      </p:sp>
      <p:sp>
        <p:nvSpPr>
          <p:cNvPr id="12" name="Rectangle 11"/>
          <p:cNvSpPr/>
          <p:nvPr/>
        </p:nvSpPr>
        <p:spPr>
          <a:xfrm>
            <a:off x="274320" y="436040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43355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662159"/>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603485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108009"/>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336609"/>
            <a:ext cx="5486400" cy="247070"/>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5544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10.jpg"/>
          <p:cNvPicPr>
            <a:picLocks noChangeAspect="1"/>
          </p:cNvPicPr>
          <p:nvPr/>
        </p:nvPicPr>
        <p:blipFill>
          <a:blip r:embed="rId2"/>
          <a:stretch>
            <a:fillRect/>
          </a:stretch>
        </p:blipFill>
        <p:spPr>
          <a:xfrm>
            <a:off x="6217920" y="1828800"/>
            <a:ext cx="5699455" cy="2304288"/>
          </a:xfrm>
          <a:prstGeom prst="rect">
            <a:avLst/>
          </a:prstGeom>
          <a:ln w="12700">
            <a:solidFill>
              <a:srgbClr val="C8C8C8"/>
            </a:solidFill>
          </a:ln>
        </p:spPr>
      </p:pic>
      <p:sp>
        <p:nvSpPr>
          <p:cNvPr id="21" name="Rectangle 20"/>
          <p:cNvSpPr/>
          <p:nvPr/>
        </p:nvSpPr>
        <p:spPr>
          <a:xfrm>
            <a:off x="6217920" y="4279392"/>
            <a:ext cx="5699455" cy="230428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645920"/>
          </a:xfrm>
          <a:prstGeom prst="rect">
            <a:avLst/>
          </a:prstGeom>
          <a:noFill/>
        </p:spPr>
        <p:txBody>
          <a:bodyPr wrap="square">
            <a:spAutoFit/>
          </a:bodyPr>
          <a:lstStyle/>
          <a:p>
            <a:pPr>
              <a:defRPr sz="1800" b="1">
                <a:solidFill>
                  <a:srgbClr val="003366"/>
                </a:solidFill>
              </a:defRPr>
            </a:pPr>
            <a:r>
              <a:t>#10: Reduce the thickness of the brake caliper housing casting by 1.5mm, using a higher-strength aluminum alloy (e.g., 6061-T6) and optimizing internal ribbing for structural rigidity. This addresses the 'caliper material' focus.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92024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148840"/>
            <a:ext cx="5486400" cy="630387"/>
          </a:xfrm>
          <a:prstGeom prst="rect">
            <a:avLst/>
          </a:prstGeom>
          <a:noFill/>
        </p:spPr>
        <p:txBody>
          <a:bodyPr wrap="square">
            <a:spAutoFit/>
          </a:bodyPr>
          <a:lstStyle/>
          <a:p>
            <a:pPr>
              <a:defRPr sz="1000">
                <a:solidFill>
                  <a:srgbClr val="333333"/>
                </a:solidFill>
              </a:defRPr>
            </a:pPr>
            <a:r>
              <a:t>Technical optimization of Reduce the thickness of the brake caliper housing casting by 1.5mm, using a higher-strength aluminum alloy (e.g., 6061-T6) and optimizing internal ribbing for structural rigidity. This addresses the 'caliper material' focus. focusing on material efficiency.</a:t>
            </a:r>
          </a:p>
        </p:txBody>
      </p:sp>
      <p:sp>
        <p:nvSpPr>
          <p:cNvPr id="6" name="Rectangle 5"/>
          <p:cNvSpPr/>
          <p:nvPr/>
        </p:nvSpPr>
        <p:spPr>
          <a:xfrm>
            <a:off x="274320" y="277922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85237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080979"/>
            <a:ext cx="5486400" cy="459211"/>
          </a:xfrm>
          <a:prstGeom prst="rect">
            <a:avLst/>
          </a:prstGeom>
          <a:noFill/>
        </p:spPr>
        <p:txBody>
          <a:bodyPr wrap="square">
            <a:spAutoFit/>
          </a:bodyPr>
          <a:lstStyle/>
          <a:p>
            <a:pPr>
              <a:defRPr sz="1000">
                <a:solidFill>
                  <a:srgbClr val="333333"/>
                </a:solidFill>
              </a:defRPr>
            </a:pPr>
            <a:r>
              <a:t>5mm, using a higher-strength aluminum alloy (e</a:t>
            </a:r>
            <a:br/>
            <a:r>
              <a:t>N/A (Maintains current envelope)</a:t>
            </a:r>
          </a:p>
        </p:txBody>
      </p:sp>
      <p:sp>
        <p:nvSpPr>
          <p:cNvPr id="9" name="Rectangle 8"/>
          <p:cNvSpPr/>
          <p:nvPr/>
        </p:nvSpPr>
        <p:spPr>
          <a:xfrm>
            <a:off x="274320" y="354019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613343"/>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841943"/>
            <a:ext cx="5486400" cy="386791"/>
          </a:xfrm>
          <a:prstGeom prst="rect">
            <a:avLst/>
          </a:prstGeom>
          <a:noFill/>
        </p:spPr>
        <p:txBody>
          <a:bodyPr wrap="square">
            <a:spAutoFit/>
          </a:bodyPr>
          <a:lstStyle/>
          <a:p>
            <a:pPr>
              <a:defRPr sz="1000">
                <a:solidFill>
                  <a:srgbClr val="333333"/>
                </a:solidFill>
              </a:defRPr>
            </a:pPr>
            <a:r>
              <a:t>Est. Saving: INR 1800000</a:t>
            </a:r>
            <a:br/>
            <a:r>
              <a:t>CAPEX: TBD</a:t>
            </a:r>
          </a:p>
        </p:txBody>
      </p:sp>
      <p:sp>
        <p:nvSpPr>
          <p:cNvPr id="12" name="Rectangle 11"/>
          <p:cNvSpPr/>
          <p:nvPr/>
        </p:nvSpPr>
        <p:spPr>
          <a:xfrm>
            <a:off x="274320" y="422873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301886"/>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530486"/>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590318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976335"/>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04935"/>
            <a:ext cx="5486400" cy="378744"/>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5544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10.jpg"/>
          <p:cNvPicPr>
            <a:picLocks noChangeAspect="1"/>
          </p:cNvPicPr>
          <p:nvPr/>
        </p:nvPicPr>
        <p:blipFill>
          <a:blip r:embed="rId2"/>
          <a:stretch>
            <a:fillRect/>
          </a:stretch>
        </p:blipFill>
        <p:spPr>
          <a:xfrm>
            <a:off x="6217920" y="1828800"/>
            <a:ext cx="5699455" cy="2304288"/>
          </a:xfrm>
          <a:prstGeom prst="rect">
            <a:avLst/>
          </a:prstGeom>
          <a:ln w="12700">
            <a:solidFill>
              <a:srgbClr val="C8C8C8"/>
            </a:solidFill>
          </a:ln>
        </p:spPr>
      </p:pic>
      <p:sp>
        <p:nvSpPr>
          <p:cNvPr id="21" name="Rectangle 20"/>
          <p:cNvSpPr/>
          <p:nvPr/>
        </p:nvSpPr>
        <p:spPr>
          <a:xfrm>
            <a:off x="6217920" y="4279392"/>
            <a:ext cx="5699455" cy="230428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645920"/>
          </a:xfrm>
          <a:prstGeom prst="rect">
            <a:avLst/>
          </a:prstGeom>
          <a:noFill/>
        </p:spPr>
        <p:txBody>
          <a:bodyPr wrap="square">
            <a:spAutoFit/>
          </a:bodyPr>
          <a:lstStyle/>
          <a:p>
            <a:pPr>
              <a:defRPr sz="1800" b="1">
                <a:solidFill>
                  <a:srgbClr val="003366"/>
                </a:solidFill>
              </a:defRPr>
            </a:pPr>
            <a:r>
              <a:t>#11: Integrate the brake fluid reservoir and master cylinder assembly into a single, more compact unit, potentially using advanced polymer materials for the reservoir, reducing overall part count and assembly complexity.</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92024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148840"/>
            <a:ext cx="5486400" cy="615574"/>
          </a:xfrm>
          <a:prstGeom prst="rect">
            <a:avLst/>
          </a:prstGeom>
          <a:noFill/>
        </p:spPr>
        <p:txBody>
          <a:bodyPr wrap="square">
            <a:spAutoFit/>
          </a:bodyPr>
          <a:lstStyle/>
          <a:p>
            <a:pPr>
              <a:defRPr sz="1000">
                <a:solidFill>
                  <a:srgbClr val="333333"/>
                </a:solidFill>
              </a:defRPr>
            </a:pPr>
            <a:r>
              <a:t>Technical optimization of Integrate the brake fluid reservoir and master cylinder assembly into a single, more compact unit, potentially using advanced polymer materials for the reservoir, reducing overall part count and assembly complexity. focusing on material efficiency.</a:t>
            </a:r>
          </a:p>
        </p:txBody>
      </p:sp>
      <p:sp>
        <p:nvSpPr>
          <p:cNvPr id="6" name="Rectangle 5"/>
          <p:cNvSpPr/>
          <p:nvPr/>
        </p:nvSpPr>
        <p:spPr>
          <a:xfrm>
            <a:off x="274320" y="276441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837566"/>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066166"/>
            <a:ext cx="5486400" cy="548091"/>
          </a:xfrm>
          <a:prstGeom prst="rect">
            <a:avLst/>
          </a:prstGeom>
          <a:noFill/>
        </p:spPr>
        <p:txBody>
          <a:bodyPr wrap="square">
            <a:spAutoFit/>
          </a:bodyPr>
          <a:lstStyle/>
          <a:p>
            <a:pPr>
              <a:defRPr sz="1000">
                <a:solidFill>
                  <a:srgbClr val="333333"/>
                </a:solidFill>
              </a:defRPr>
            </a:pPr>
            <a:r>
              <a:t>Integrate the brake fluid reservoir and master cylinder assembly into a single, more compact unit, p</a:t>
            </a:r>
            <a:br/>
            <a:r>
              <a:t>N/A (Maintains current envelope)</a:t>
            </a:r>
          </a:p>
        </p:txBody>
      </p:sp>
      <p:sp>
        <p:nvSpPr>
          <p:cNvPr id="9" name="Rectangle 8"/>
          <p:cNvSpPr/>
          <p:nvPr/>
        </p:nvSpPr>
        <p:spPr>
          <a:xfrm>
            <a:off x="274320" y="361425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68740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916009"/>
            <a:ext cx="5486400" cy="386791"/>
          </a:xfrm>
          <a:prstGeom prst="rect">
            <a:avLst/>
          </a:prstGeom>
          <a:noFill/>
        </p:spPr>
        <p:txBody>
          <a:bodyPr wrap="square">
            <a:spAutoFit/>
          </a:bodyPr>
          <a:lstStyle/>
          <a:p>
            <a:pPr>
              <a:defRPr sz="1000">
                <a:solidFill>
                  <a:srgbClr val="333333"/>
                </a:solidFill>
              </a:defRPr>
            </a:pPr>
            <a:r>
              <a:t>Est. Saving: INR 1100000</a:t>
            </a:r>
            <a:br/>
            <a:r>
              <a:t>CAPEX: TBD</a:t>
            </a:r>
          </a:p>
        </p:txBody>
      </p:sp>
      <p:sp>
        <p:nvSpPr>
          <p:cNvPr id="12" name="Rectangle 11"/>
          <p:cNvSpPr/>
          <p:nvPr/>
        </p:nvSpPr>
        <p:spPr>
          <a:xfrm>
            <a:off x="274320" y="43028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375952"/>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604552"/>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597724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50401"/>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79001"/>
            <a:ext cx="5486400" cy="304678"/>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5544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6.jpg"/>
          <p:cNvPicPr>
            <a:picLocks noChangeAspect="1"/>
          </p:cNvPicPr>
          <p:nvPr/>
        </p:nvPicPr>
        <p:blipFill>
          <a:blip r:embed="rId2"/>
          <a:stretch>
            <a:fillRect/>
          </a:stretch>
        </p:blipFill>
        <p:spPr>
          <a:xfrm>
            <a:off x="6217920" y="1828800"/>
            <a:ext cx="5699455" cy="2304288"/>
          </a:xfrm>
          <a:prstGeom prst="rect">
            <a:avLst/>
          </a:prstGeom>
          <a:ln w="12700">
            <a:solidFill>
              <a:srgbClr val="C8C8C8"/>
            </a:solidFill>
          </a:ln>
        </p:spPr>
      </p:pic>
      <p:sp>
        <p:nvSpPr>
          <p:cNvPr id="21" name="Rectangle 20"/>
          <p:cNvSpPr/>
          <p:nvPr/>
        </p:nvSpPr>
        <p:spPr>
          <a:xfrm>
            <a:off x="6217920" y="4279392"/>
            <a:ext cx="5699455" cy="230428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468880"/>
          </a:xfrm>
          <a:prstGeom prst="rect">
            <a:avLst/>
          </a:prstGeom>
          <a:noFill/>
        </p:spPr>
        <p:txBody>
          <a:bodyPr wrap="square">
            <a:spAutoFit/>
          </a:bodyPr>
          <a:lstStyle/>
          <a:p>
            <a:pPr>
              <a:defRPr sz="1800" b="1">
                <a:solidFill>
                  <a:srgbClr val="003366"/>
                </a:solidFill>
              </a:defRPr>
            </a:pPr>
            <a:r>
              <a:t>#12: Investigate the use of advanced composite materials for brake dust shields, specifically focusing on fiberglass reinforced polymers (FRP) with enhanced thermal resistance. This aims to reduce the gauge of the steel dust shield while maintaining or improving its ability to deflect road debris and protect brake components from dust ingress, thereby potentially reducing material cost and weight.</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274320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971800"/>
            <a:ext cx="5486400" cy="911839"/>
          </a:xfrm>
          <a:prstGeom prst="rect">
            <a:avLst/>
          </a:prstGeom>
          <a:noFill/>
        </p:spPr>
        <p:txBody>
          <a:bodyPr wrap="square">
            <a:spAutoFit/>
          </a:bodyPr>
          <a:lstStyle/>
          <a:p>
            <a:pPr>
              <a:defRPr sz="1000">
                <a:solidFill>
                  <a:srgbClr val="333333"/>
                </a:solidFill>
              </a:defRPr>
            </a:pPr>
            <a:r>
              <a:t>Technical optimization of Investigate the use of advanced composite materials for brake dust shields, specifically focusing on fiberglass reinforced polymers (FRP) with enhanced thermal resistance. This aims to reduce the gauge of the steel dust shield while maintaining or improving its ability to deflect road debris and protect brake components from dust ingress, thereby potentially reducing material cost and weight. focusing on material efficiency.</a:t>
            </a:r>
          </a:p>
        </p:txBody>
      </p:sp>
      <p:sp>
        <p:nvSpPr>
          <p:cNvPr id="6" name="Rectangle 5"/>
          <p:cNvSpPr/>
          <p:nvPr/>
        </p:nvSpPr>
        <p:spPr>
          <a:xfrm>
            <a:off x="274320" y="38836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956791"/>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4185391"/>
            <a:ext cx="5486400" cy="548091"/>
          </a:xfrm>
          <a:prstGeom prst="rect">
            <a:avLst/>
          </a:prstGeom>
          <a:noFill/>
        </p:spPr>
        <p:txBody>
          <a:bodyPr wrap="square">
            <a:spAutoFit/>
          </a:bodyPr>
          <a:lstStyle/>
          <a:p>
            <a:pPr>
              <a:defRPr sz="1000">
                <a:solidFill>
                  <a:srgbClr val="333333"/>
                </a:solidFill>
              </a:defRPr>
            </a:pPr>
            <a:r>
              <a:t>Investigate the use of advanced composite materials for brake dust shields, specifically focusing on</a:t>
            </a:r>
            <a:br/>
            <a:r>
              <a:t>N/A (Maintains current envelope)</a:t>
            </a:r>
          </a:p>
        </p:txBody>
      </p:sp>
      <p:sp>
        <p:nvSpPr>
          <p:cNvPr id="9" name="Rectangle 8"/>
          <p:cNvSpPr/>
          <p:nvPr/>
        </p:nvSpPr>
        <p:spPr>
          <a:xfrm>
            <a:off x="274320" y="473348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806635"/>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5035235"/>
            <a:ext cx="5486400" cy="380207"/>
          </a:xfrm>
          <a:prstGeom prst="rect">
            <a:avLst/>
          </a:prstGeom>
          <a:noFill/>
        </p:spPr>
        <p:txBody>
          <a:bodyPr wrap="square">
            <a:spAutoFit/>
          </a:bodyPr>
          <a:lstStyle/>
          <a:p>
            <a:pPr>
              <a:defRPr sz="1000">
                <a:solidFill>
                  <a:srgbClr val="333333"/>
                </a:solidFill>
              </a:defRPr>
            </a:pPr>
            <a:r>
              <a:t>Est. Saving: INR TBD</a:t>
            </a:r>
            <a:br/>
            <a:r>
              <a:t>CAPEX: TBD</a:t>
            </a:r>
          </a:p>
        </p:txBody>
      </p:sp>
      <p:sp>
        <p:nvSpPr>
          <p:cNvPr id="12" name="Rectangle 11"/>
          <p:cNvSpPr/>
          <p:nvPr/>
        </p:nvSpPr>
        <p:spPr>
          <a:xfrm>
            <a:off x="274320" y="541544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5488594"/>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5717194"/>
            <a:ext cx="5486400" cy="866485"/>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23774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7" name="Picture 16" descr="5.jpg"/>
          <p:cNvPicPr>
            <a:picLocks noChangeAspect="1"/>
          </p:cNvPicPr>
          <p:nvPr/>
        </p:nvPicPr>
        <p:blipFill>
          <a:blip r:embed="rId2"/>
          <a:stretch>
            <a:fillRect/>
          </a:stretch>
        </p:blipFill>
        <p:spPr>
          <a:xfrm>
            <a:off x="6217920" y="2651760"/>
            <a:ext cx="5699455" cy="1892807"/>
          </a:xfrm>
          <a:prstGeom prst="rect">
            <a:avLst/>
          </a:prstGeom>
          <a:ln w="12700">
            <a:solidFill>
              <a:srgbClr val="C8C8C8"/>
            </a:solidFill>
          </a:ln>
        </p:spPr>
      </p:pic>
      <p:sp>
        <p:nvSpPr>
          <p:cNvPr id="18" name="Rectangle 17"/>
          <p:cNvSpPr/>
          <p:nvPr/>
        </p:nvSpPr>
        <p:spPr>
          <a:xfrm>
            <a:off x="6217920" y="4690872"/>
            <a:ext cx="5699455" cy="1892807"/>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468880"/>
          </a:xfrm>
          <a:prstGeom prst="rect">
            <a:avLst/>
          </a:prstGeom>
          <a:noFill/>
        </p:spPr>
        <p:txBody>
          <a:bodyPr wrap="square">
            <a:spAutoFit/>
          </a:bodyPr>
          <a:lstStyle/>
          <a:p>
            <a:pPr>
              <a:defRPr sz="1800" b="1">
                <a:solidFill>
                  <a:srgbClr val="003366"/>
                </a:solidFill>
              </a:defRPr>
            </a:pPr>
            <a:r>
              <a:t>#13: Explore the application of a thin-film ceramic coating on brake rotor friction surfaces. This coating can enhance surface hardness and reduce friction coefficient variability, potentially allowing for a slight reduction in rotor thickness or diameter without compromising braking performance or fade resistance. This addresses the high kinetic energy of the MG Hector and the need for consistent braking.</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274320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971800"/>
            <a:ext cx="5486400" cy="926652"/>
          </a:xfrm>
          <a:prstGeom prst="rect">
            <a:avLst/>
          </a:prstGeom>
          <a:noFill/>
        </p:spPr>
        <p:txBody>
          <a:bodyPr wrap="square">
            <a:spAutoFit/>
          </a:bodyPr>
          <a:lstStyle/>
          <a:p>
            <a:pPr>
              <a:defRPr sz="1000">
                <a:solidFill>
                  <a:srgbClr val="333333"/>
                </a:solidFill>
              </a:defRPr>
            </a:pPr>
            <a:r>
              <a:t>Technical optimization of Explore the application of a thin-film ceramic coating on brake rotor friction surfaces. This coating can enhance surface hardness and reduce friction coefficient variability, potentially allowing for a slight reduction in rotor thickness or diameter without compromising braking performance or fade resistance. This addresses the high kinetic energy of the MG Hector and the need for consistent braking. focusing on material efficiency.</a:t>
            </a:r>
          </a:p>
        </p:txBody>
      </p:sp>
      <p:sp>
        <p:nvSpPr>
          <p:cNvPr id="6" name="Rectangle 5"/>
          <p:cNvSpPr/>
          <p:nvPr/>
        </p:nvSpPr>
        <p:spPr>
          <a:xfrm>
            <a:off x="274320" y="389845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971604"/>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4200204"/>
            <a:ext cx="5486400" cy="526694"/>
          </a:xfrm>
          <a:prstGeom prst="rect">
            <a:avLst/>
          </a:prstGeom>
          <a:noFill/>
        </p:spPr>
        <p:txBody>
          <a:bodyPr wrap="square">
            <a:spAutoFit/>
          </a:bodyPr>
          <a:lstStyle/>
          <a:p>
            <a:pPr>
              <a:defRPr sz="1000">
                <a:solidFill>
                  <a:srgbClr val="333333"/>
                </a:solidFill>
              </a:defRPr>
            </a:pPr>
            <a:r>
              <a:t>Explore the application of a thin-film ceramic coating on brake rotor friction surfaces</a:t>
            </a:r>
            <a:br/>
            <a:r>
              <a:t>N/A (Maintains current envelope)</a:t>
            </a:r>
          </a:p>
        </p:txBody>
      </p:sp>
      <p:sp>
        <p:nvSpPr>
          <p:cNvPr id="9" name="Rectangle 8"/>
          <p:cNvSpPr/>
          <p:nvPr/>
        </p:nvSpPr>
        <p:spPr>
          <a:xfrm>
            <a:off x="274320" y="472689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800051"/>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5028651"/>
            <a:ext cx="5486400" cy="380207"/>
          </a:xfrm>
          <a:prstGeom prst="rect">
            <a:avLst/>
          </a:prstGeom>
          <a:noFill/>
        </p:spPr>
        <p:txBody>
          <a:bodyPr wrap="square">
            <a:spAutoFit/>
          </a:bodyPr>
          <a:lstStyle/>
          <a:p>
            <a:pPr>
              <a:defRPr sz="1000">
                <a:solidFill>
                  <a:srgbClr val="333333"/>
                </a:solidFill>
              </a:defRPr>
            </a:pPr>
            <a:r>
              <a:t>Est. Saving: INR TBD</a:t>
            </a:r>
            <a:br/>
            <a:r>
              <a:t>CAPEX: TBD</a:t>
            </a:r>
          </a:p>
        </p:txBody>
      </p:sp>
      <p:sp>
        <p:nvSpPr>
          <p:cNvPr id="12" name="Rectangle 11"/>
          <p:cNvSpPr/>
          <p:nvPr/>
        </p:nvSpPr>
        <p:spPr>
          <a:xfrm>
            <a:off x="274320" y="540885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5482010"/>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5710610"/>
            <a:ext cx="5486400" cy="873069"/>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23774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7" name="Picture 16" descr="35.jpg"/>
          <p:cNvPicPr>
            <a:picLocks noChangeAspect="1"/>
          </p:cNvPicPr>
          <p:nvPr/>
        </p:nvPicPr>
        <p:blipFill>
          <a:blip r:embed="rId2"/>
          <a:stretch>
            <a:fillRect/>
          </a:stretch>
        </p:blipFill>
        <p:spPr>
          <a:xfrm>
            <a:off x="6217920" y="2651760"/>
            <a:ext cx="5699455" cy="1892807"/>
          </a:xfrm>
          <a:prstGeom prst="rect">
            <a:avLst/>
          </a:prstGeom>
          <a:ln w="12700">
            <a:solidFill>
              <a:srgbClr val="C8C8C8"/>
            </a:solidFill>
          </a:ln>
        </p:spPr>
      </p:pic>
      <p:sp>
        <p:nvSpPr>
          <p:cNvPr id="18" name="Rectangle 17"/>
          <p:cNvSpPr/>
          <p:nvPr/>
        </p:nvSpPr>
        <p:spPr>
          <a:xfrm>
            <a:off x="6217920" y="4690872"/>
            <a:ext cx="5699455" cy="1892807"/>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880360"/>
          </a:xfrm>
          <a:prstGeom prst="rect">
            <a:avLst/>
          </a:prstGeom>
          <a:noFill/>
        </p:spPr>
        <p:txBody>
          <a:bodyPr wrap="square">
            <a:spAutoFit/>
          </a:bodyPr>
          <a:lstStyle/>
          <a:p>
            <a:pPr>
              <a:defRPr sz="1800" b="1">
                <a:solidFill>
                  <a:srgbClr val="003366"/>
                </a:solidFill>
              </a:defRPr>
            </a:pPr>
            <a:r>
              <a:t>#14: Optimize caliper casting design for weight reduction while maintaining structural integrity and thermal management. Investigate the use of advanced casting simulation software to identify areas of material excess in current caliper designs. Explore optimized ribbing structures and internal void reduction techniques. This can lead to a reduction in caliper material usage and weight, indirectly impacting overall vehicle mass and potentially reducing manufacturing costs.</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154679"/>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3383279"/>
            <a:ext cx="5486400" cy="1038575"/>
          </a:xfrm>
          <a:prstGeom prst="rect">
            <a:avLst/>
          </a:prstGeom>
          <a:noFill/>
        </p:spPr>
        <p:txBody>
          <a:bodyPr wrap="square">
            <a:spAutoFit/>
          </a:bodyPr>
          <a:lstStyle/>
          <a:p>
            <a:pPr>
              <a:defRPr sz="1000">
                <a:solidFill>
                  <a:srgbClr val="333333"/>
                </a:solidFill>
              </a:defRPr>
            </a:pPr>
            <a:r>
              <a:t>Technical optimization of Optimize caliper casting design for weight reduction while maintaining structural integrity and thermal management. Investigate the use of advanced casting simulation software to identify areas of material excess in current caliper designs. Explore optimized ribbing structures and internal void reduction techniques. This can lead to a reduction in caliper material usage and weight, indirectly impacting overall vehicle mass and potentially reducing manufacturing costs. focusing on material efficiency.</a:t>
            </a:r>
          </a:p>
        </p:txBody>
      </p:sp>
      <p:sp>
        <p:nvSpPr>
          <p:cNvPr id="6" name="Rectangle 5"/>
          <p:cNvSpPr/>
          <p:nvPr/>
        </p:nvSpPr>
        <p:spPr>
          <a:xfrm>
            <a:off x="274320" y="442185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495007"/>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4723607"/>
            <a:ext cx="5486400" cy="548091"/>
          </a:xfrm>
          <a:prstGeom prst="rect">
            <a:avLst/>
          </a:prstGeom>
          <a:noFill/>
        </p:spPr>
        <p:txBody>
          <a:bodyPr wrap="square">
            <a:spAutoFit/>
          </a:bodyPr>
          <a:lstStyle/>
          <a:p>
            <a:pPr>
              <a:defRPr sz="1000">
                <a:solidFill>
                  <a:srgbClr val="333333"/>
                </a:solidFill>
              </a:defRPr>
            </a:pPr>
            <a:r>
              <a:t>Investigate the use of advanced casting simulation software to identify areas of material excess in </a:t>
            </a:r>
            <a:br/>
            <a:r>
              <a:t>N/A (Maintains current envelope)</a:t>
            </a:r>
          </a:p>
        </p:txBody>
      </p:sp>
      <p:sp>
        <p:nvSpPr>
          <p:cNvPr id="9" name="Rectangle 8"/>
          <p:cNvSpPr/>
          <p:nvPr/>
        </p:nvSpPr>
        <p:spPr>
          <a:xfrm>
            <a:off x="274320" y="527169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344850"/>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5573450"/>
            <a:ext cx="5486400" cy="380207"/>
          </a:xfrm>
          <a:prstGeom prst="rect">
            <a:avLst/>
          </a:prstGeom>
          <a:noFill/>
        </p:spPr>
        <p:txBody>
          <a:bodyPr wrap="square">
            <a:spAutoFit/>
          </a:bodyPr>
          <a:lstStyle/>
          <a:p>
            <a:pPr>
              <a:defRPr sz="1000">
                <a:solidFill>
                  <a:srgbClr val="333333"/>
                </a:solidFill>
              </a:defRPr>
            </a:pPr>
            <a:r>
              <a:t>Est. Saving: INR TBD</a:t>
            </a:r>
            <a:br/>
            <a:r>
              <a:t>CAPEX: TBD</a:t>
            </a:r>
          </a:p>
        </p:txBody>
      </p:sp>
      <p:sp>
        <p:nvSpPr>
          <p:cNvPr id="12" name="Rectangle 11"/>
          <p:cNvSpPr/>
          <p:nvPr/>
        </p:nvSpPr>
        <p:spPr>
          <a:xfrm>
            <a:off x="274320" y="595365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6026810"/>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6255410"/>
            <a:ext cx="5486400" cy="328269"/>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27889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7" name="Picture 16" descr="118.jpg"/>
          <p:cNvPicPr>
            <a:picLocks noChangeAspect="1"/>
          </p:cNvPicPr>
          <p:nvPr/>
        </p:nvPicPr>
        <p:blipFill>
          <a:blip r:embed="rId2"/>
          <a:stretch>
            <a:fillRect/>
          </a:stretch>
        </p:blipFill>
        <p:spPr>
          <a:xfrm>
            <a:off x="6217920" y="3063240"/>
            <a:ext cx="5699455" cy="1687068"/>
          </a:xfrm>
          <a:prstGeom prst="rect">
            <a:avLst/>
          </a:prstGeom>
          <a:ln w="12700">
            <a:solidFill>
              <a:srgbClr val="C8C8C8"/>
            </a:solidFill>
          </a:ln>
        </p:spPr>
      </p:pic>
      <p:sp>
        <p:nvSpPr>
          <p:cNvPr id="18" name="Rectangle 17"/>
          <p:cNvSpPr/>
          <p:nvPr/>
        </p:nvSpPr>
        <p:spPr>
          <a:xfrm>
            <a:off x="6217920" y="4896612"/>
            <a:ext cx="5699455" cy="16870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468880"/>
          </a:xfrm>
          <a:prstGeom prst="rect">
            <a:avLst/>
          </a:prstGeom>
          <a:noFill/>
        </p:spPr>
        <p:txBody>
          <a:bodyPr wrap="square">
            <a:spAutoFit/>
          </a:bodyPr>
          <a:lstStyle/>
          <a:p>
            <a:pPr>
              <a:defRPr sz="1800" b="1">
                <a:solidFill>
                  <a:srgbClr val="003366"/>
                </a:solidFill>
              </a:defRPr>
            </a:pPr>
            <a:r>
              <a:t>#15: Evaluate the feasibility of a slightly thinner gauge steel for the brake rotor dust shield. While maintaining the overall dimensions and shape, a minor reduction in material thickness could be explored if simulations and testing demonstrate that the dust shield's protective function against debris and water ingress is not compromised. This would be a direct cost reduction in material and potentially weight.</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274320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971800"/>
            <a:ext cx="5486400" cy="936528"/>
          </a:xfrm>
          <a:prstGeom prst="rect">
            <a:avLst/>
          </a:prstGeom>
          <a:noFill/>
        </p:spPr>
        <p:txBody>
          <a:bodyPr wrap="square">
            <a:spAutoFit/>
          </a:bodyPr>
          <a:lstStyle/>
          <a:p>
            <a:pPr>
              <a:defRPr sz="1000">
                <a:solidFill>
                  <a:srgbClr val="333333"/>
                </a:solidFill>
              </a:defRPr>
            </a:pPr>
            <a:r>
              <a:t>Technical optimization of Evaluate the feasibility of a slightly thinner gauge steel for the brake rotor dust shield. While maintaining the overall dimensions and shape, a minor reduction in material thickness could be explored if simulations and testing demonstrate that the dust shield's protective function against debris and water ingress is not compromised. This would be a direct cost reduction in material and potentially weight. focusing on material efficiency.</a:t>
            </a:r>
          </a:p>
        </p:txBody>
      </p:sp>
      <p:sp>
        <p:nvSpPr>
          <p:cNvPr id="6" name="Rectangle 5"/>
          <p:cNvSpPr/>
          <p:nvPr/>
        </p:nvSpPr>
        <p:spPr>
          <a:xfrm>
            <a:off x="274320" y="390832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981480"/>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4210080"/>
            <a:ext cx="5486400" cy="531632"/>
          </a:xfrm>
          <a:prstGeom prst="rect">
            <a:avLst/>
          </a:prstGeom>
          <a:noFill/>
        </p:spPr>
        <p:txBody>
          <a:bodyPr wrap="square">
            <a:spAutoFit/>
          </a:bodyPr>
          <a:lstStyle/>
          <a:p>
            <a:pPr>
              <a:defRPr sz="1000">
                <a:solidFill>
                  <a:srgbClr val="333333"/>
                </a:solidFill>
              </a:defRPr>
            </a:pPr>
            <a:r>
              <a:t>Evaluate the feasibility of a slightly thinner gauge steel for the brake rotor dust shield</a:t>
            </a:r>
            <a:br/>
            <a:r>
              <a:t>N/A (Maintains current envelope)</a:t>
            </a:r>
          </a:p>
        </p:txBody>
      </p:sp>
      <p:sp>
        <p:nvSpPr>
          <p:cNvPr id="9" name="Rectangle 8"/>
          <p:cNvSpPr/>
          <p:nvPr/>
        </p:nvSpPr>
        <p:spPr>
          <a:xfrm>
            <a:off x="274320" y="474171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814864"/>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5043464"/>
            <a:ext cx="5486400" cy="380207"/>
          </a:xfrm>
          <a:prstGeom prst="rect">
            <a:avLst/>
          </a:prstGeom>
          <a:noFill/>
        </p:spPr>
        <p:txBody>
          <a:bodyPr wrap="square">
            <a:spAutoFit/>
          </a:bodyPr>
          <a:lstStyle/>
          <a:p>
            <a:pPr>
              <a:defRPr sz="1000">
                <a:solidFill>
                  <a:srgbClr val="333333"/>
                </a:solidFill>
              </a:defRPr>
            </a:pPr>
            <a:r>
              <a:t>Est. Saving: INR TBD</a:t>
            </a:r>
            <a:br/>
            <a:r>
              <a:t>CAPEX: TBD</a:t>
            </a:r>
          </a:p>
        </p:txBody>
      </p:sp>
      <p:sp>
        <p:nvSpPr>
          <p:cNvPr id="12" name="Rectangle 11"/>
          <p:cNvSpPr/>
          <p:nvPr/>
        </p:nvSpPr>
        <p:spPr>
          <a:xfrm>
            <a:off x="274320" y="542367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5496824"/>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5725424"/>
            <a:ext cx="5486400" cy="858255"/>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23774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7" name="Picture 16" descr="76.jpg"/>
          <p:cNvPicPr>
            <a:picLocks noChangeAspect="1"/>
          </p:cNvPicPr>
          <p:nvPr/>
        </p:nvPicPr>
        <p:blipFill>
          <a:blip r:embed="rId2"/>
          <a:stretch>
            <a:fillRect/>
          </a:stretch>
        </p:blipFill>
        <p:spPr>
          <a:xfrm>
            <a:off x="6217920" y="2651760"/>
            <a:ext cx="5699455" cy="1892807"/>
          </a:xfrm>
          <a:prstGeom prst="rect">
            <a:avLst/>
          </a:prstGeom>
          <a:ln w="12700">
            <a:solidFill>
              <a:srgbClr val="C8C8C8"/>
            </a:solidFill>
          </a:ln>
        </p:spPr>
      </p:pic>
      <p:sp>
        <p:nvSpPr>
          <p:cNvPr id="18" name="Rectangle 17"/>
          <p:cNvSpPr/>
          <p:nvPr/>
        </p:nvSpPr>
        <p:spPr>
          <a:xfrm>
            <a:off x="6217920" y="4690872"/>
            <a:ext cx="5699455" cy="1892807"/>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
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image" Target="../media/image3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04-Feb-2026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0881360" cy="6263640"/>
        </p:xfrm>
        <a:graphic>
          <a:graphicData uri="http://schemas.openxmlformats.org/drawingml/2006/table">
            <a:tbl>
              <a:tblPr firstRow="1" bandRow="1">
                <a:tableStyleId>{5C22544A-7EE6-4342-B048-85BDC9FD1C3A}</a:tableStyleId>
              </a:tblPr>
              <a:tblGrid>
                <a:gridCol w="731520"/>
                <a:gridCol w="4114800"/>
                <a:gridCol w="1097280"/>
                <a:gridCol w="1097280"/>
                <a:gridCol w="1097280"/>
                <a:gridCol w="1371600"/>
                <a:gridCol w="1371600"/>
              </a:tblGrid>
              <a:tr h="626364">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 Cr)</a:t>
                      </a:r>
                    </a:p>
                  </a:txBody>
                  <a:tcPr>
                    <a:solidFill>
                      <a:srgbClr val="003366"/>
                    </a:solidFill>
                  </a:tcPr>
                </a:tc>
                <a:tc>
                  <a:txBody>
                    <a:bodyPr wrap="square"/>
                    <a:lstStyle/>
                    <a:p>
                      <a:pPr>
                        <a:defRPr b="1" sz="900">
                          <a:solidFill>
                            <a:srgbClr val="FFFFFF"/>
                          </a:solidFill>
                        </a:defRPr>
                      </a:pPr>
                      <a:r>
                        <a:t>Unit Saving (₹)</a:t>
                      </a:r>
                    </a:p>
                  </a:txBody>
                  <a:tcPr>
                    <a:solidFill>
                      <a:srgbClr val="003366"/>
                    </a:solidFill>
                  </a:tcPr>
                </a:tc>
                <a:tc>
                  <a:txBody>
                    <a:bodyPr wrap="square"/>
                    <a:lstStyle/>
                    <a:p>
                      <a:pPr>
                        <a:defRPr b="1" sz="900">
                          <a:solidFill>
                            <a:srgbClr val="FFFFFF"/>
                          </a:solidFill>
                        </a:defRPr>
                      </a:pPr>
                      <a:r>
                        <a:t>Yearly Volume</a:t>
                      </a:r>
                    </a:p>
                  </a:txBody>
                  <a:tcPr>
                    <a:solidFill>
                      <a:srgbClr val="003366"/>
                    </a:solidFill>
                  </a:tcPr>
                </a:tc>
                <a:tc>
                  <a:txBody>
                    <a:bodyPr wrap="square"/>
                    <a:lstStyle/>
                    <a:p>
                      <a:pPr>
                        <a:defRPr b="1" sz="900">
                          <a:solidFill>
                            <a:srgbClr val="FFFFFF"/>
                          </a:solidFill>
                        </a:defRPr>
                      </a:pPr>
                      <a:r>
                        <a:t>Total Saving (₹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r>
              <a:tr h="626364">
                <a:tc>
                  <a:txBody>
                    <a:bodyPr wrap="square" lIns="50800" rIns="50800"/>
                    <a:lstStyle/>
                    <a:p>
                      <a:pPr>
                        <a:defRPr sz="900">
                          <a:solidFill>
                            <a:srgbClr val="333333"/>
                          </a:solidFill>
                          <a:latin typeface="Calibri"/>
                        </a:defRPr>
                      </a:pPr>
                      <a:r>
                        <a:t>2311-SP-ID-01</a:t>
                      </a:r>
                    </a:p>
                  </a:txBody>
                  <a:tcPr/>
                </a:tc>
                <a:tc>
                  <a:txBody>
                    <a:bodyPr wrap="square" lIns="50800" rIns="50800"/>
                    <a:lstStyle/>
                    <a:p>
                      <a:pPr>
                        <a:defRPr sz="900">
                          <a:solidFill>
                            <a:srgbClr val="333333"/>
                          </a:solidFill>
                          <a:latin typeface="Calibri"/>
                        </a:defRPr>
                      </a:pPr>
                      <a:r>
                        <a:t>1. Reduce the overall wall thickness of the Brake Dust Cover Plates present on all four wheel hubs of the vehicles from 1mm to 0.8mm</a:t>
                      </a:r>
                      <a:br/>
                      <a:r>
                        <a:t>2. Reduce the paint coating thickness on each side of all four plates from 56 microns to 27.8 microns</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57.00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0.5700</a:t>
                      </a:r>
                    </a:p>
                  </a:txBody>
                  <a:tcPr/>
                </a:tc>
                <a:tc>
                  <a:txBody>
                    <a:bodyPr wrap="square" lIns="50800" rIns="50800"/>
                    <a:lstStyle/>
                    <a:p>
                      <a:pPr>
                        <a:defRPr sz="900">
                          <a:solidFill>
                            <a:srgbClr val="333333"/>
                          </a:solidFill>
                          <a:latin typeface="Calibri"/>
                        </a:defRPr>
                      </a:pPr>
                      <a:r>
                        <a:t>NG</a:t>
                      </a:r>
                    </a:p>
                  </a:txBody>
                  <a:tcPr/>
                </a:tc>
              </a:tr>
              <a:tr h="626364">
                <a:tc>
                  <a:txBody>
                    <a:bodyPr wrap="square" lIns="50800" rIns="50800"/>
                    <a:lstStyle/>
                    <a:p>
                      <a:pPr>
                        <a:defRPr sz="900">
                          <a:solidFill>
                            <a:srgbClr val="333333"/>
                          </a:solidFill>
                          <a:latin typeface="Calibri"/>
                        </a:defRPr>
                      </a:pPr>
                      <a:r>
                        <a:t>2311-BA-ID-01</a:t>
                      </a:r>
                    </a:p>
                  </a:txBody>
                  <a:tcPr/>
                </a:tc>
                <a:tc>
                  <a:txBody>
                    <a:bodyPr wrap="square" lIns="50800" rIns="50800"/>
                    <a:lstStyle/>
                    <a:p>
                      <a:pPr>
                        <a:defRPr sz="900">
                          <a:solidFill>
                            <a:srgbClr val="333333"/>
                          </a:solidFill>
                          <a:latin typeface="Calibri"/>
                        </a:defRPr>
                      </a:pPr>
                      <a:r>
                        <a:t>The Brake Booster Plate in MGI could be integrated into the Dashboard BIW of the vehicle as done in KIA</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47.00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0.4700</a:t>
                      </a:r>
                    </a:p>
                  </a:txBody>
                  <a:tcPr/>
                </a:tc>
                <a:tc>
                  <a:txBody>
                    <a:bodyPr wrap="square" lIns="50800" rIns="50800"/>
                    <a:lstStyle/>
                    <a:p>
                      <a:pPr>
                        <a:defRPr sz="900">
                          <a:solidFill>
                            <a:srgbClr val="333333"/>
                          </a:solidFill>
                          <a:latin typeface="Calibri"/>
                        </a:defRPr>
                      </a:pPr>
                      <a:r>
                        <a:t>NG</a:t>
                      </a:r>
                    </a:p>
                  </a:txBody>
                  <a:tcPr/>
                </a:tc>
              </a:tr>
              <a:tr h="626364">
                <a:tc>
                  <a:txBody>
                    <a:bodyPr wrap="square" lIns="50800" rIns="50800"/>
                    <a:lstStyle/>
                    <a:p>
                      <a:pPr>
                        <a:defRPr sz="900">
                          <a:solidFill>
                            <a:srgbClr val="333333"/>
                          </a:solidFill>
                          <a:latin typeface="Calibri"/>
                        </a:defRPr>
                      </a:pPr>
                      <a:r>
                        <a:t>2311-BA-ID-02</a:t>
                      </a:r>
                    </a:p>
                  </a:txBody>
                  <a:tcPr/>
                </a:tc>
                <a:tc>
                  <a:txBody>
                    <a:bodyPr wrap="square" lIns="50800" rIns="50800"/>
                    <a:lstStyle/>
                    <a:p>
                      <a:pPr>
                        <a:defRPr sz="900">
                          <a:solidFill>
                            <a:srgbClr val="333333"/>
                          </a:solidFill>
                          <a:latin typeface="Calibri"/>
                        </a:defRPr>
                      </a:pPr>
                      <a:r>
                        <a:t>Remove the black paint coating from the Brake Caliper Mounting Brackets on all four brake assemblies of MGI, following the procedure used for the front brake caliper mounting brackets in KIA.</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102.00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1.0200</a:t>
                      </a:r>
                    </a:p>
                  </a:txBody>
                  <a:tcPr/>
                </a:tc>
                <a:tc>
                  <a:txBody>
                    <a:bodyPr wrap="square" lIns="50800" rIns="50800"/>
                    <a:lstStyle/>
                    <a:p>
                      <a:pPr>
                        <a:defRPr sz="900">
                          <a:solidFill>
                            <a:srgbClr val="333333"/>
                          </a:solidFill>
                          <a:latin typeface="Calibri"/>
                        </a:defRPr>
                      </a:pPr>
                      <a:r>
                        <a:t>NG</a:t>
                      </a:r>
                    </a:p>
                  </a:txBody>
                  <a:tcPr/>
                </a:tc>
              </a:tr>
              <a:tr h="626364">
                <a:tc>
                  <a:txBody>
                    <a:bodyPr wrap="square" lIns="50800" rIns="50800"/>
                    <a:lstStyle/>
                    <a:p>
                      <a:pPr>
                        <a:defRPr sz="900">
                          <a:solidFill>
                            <a:srgbClr val="333333"/>
                          </a:solidFill>
                          <a:latin typeface="Calibri"/>
                        </a:defRPr>
                      </a:pPr>
                      <a:r>
                        <a:t>2311-PA-ID-02</a:t>
                      </a:r>
                    </a:p>
                  </a:txBody>
                  <a:tcPr/>
                </a:tc>
                <a:tc>
                  <a:txBody>
                    <a:bodyPr wrap="square" lIns="50800" rIns="50800"/>
                    <a:lstStyle/>
                    <a:p>
                      <a:pPr>
                        <a:defRPr sz="900">
                          <a:solidFill>
                            <a:srgbClr val="333333"/>
                          </a:solidFill>
                          <a:latin typeface="Calibri"/>
                        </a:defRPr>
                      </a:pPr>
                      <a:r>
                        <a:t>Redesign the current Brake Pedal Mounting Bracket used in MGI to a similar bracket used in KIA.</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113.00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1.1300</a:t>
                      </a:r>
                    </a:p>
                  </a:txBody>
                  <a:tcPr/>
                </a:tc>
                <a:tc>
                  <a:txBody>
                    <a:bodyPr wrap="square" lIns="50800" rIns="50800"/>
                    <a:lstStyle/>
                    <a:p>
                      <a:pPr>
                        <a:defRPr sz="900">
                          <a:solidFill>
                            <a:srgbClr val="333333"/>
                          </a:solidFill>
                          <a:latin typeface="Calibri"/>
                        </a:defRPr>
                      </a:pPr>
                      <a:r>
                        <a:t>TBD</a:t>
                      </a:r>
                    </a:p>
                  </a:txBody>
                  <a:tcPr/>
                </a:tc>
              </a:tr>
              <a:tr h="626364">
                <a:tc>
                  <a:txBody>
                    <a:bodyPr wrap="square" lIns="50800" rIns="50800"/>
                    <a:lstStyle/>
                    <a:p>
                      <a:pPr>
                        <a:defRPr sz="900">
                          <a:solidFill>
                            <a:srgbClr val="333333"/>
                          </a:solidFill>
                          <a:latin typeface="Calibri"/>
                        </a:defRPr>
                      </a:pPr>
                      <a:r>
                        <a:t>AI-GEN-01</a:t>
                      </a:r>
                    </a:p>
                  </a:txBody>
                  <a:tcPr/>
                </a:tc>
                <a:tc>
                  <a:txBody>
                    <a:bodyPr wrap="square" lIns="50800" rIns="50800"/>
                    <a:lstStyle/>
                    <a:p>
                      <a:pPr>
                        <a:defRPr sz="900">
                          <a:solidFill>
                            <a:srgbClr val="333333"/>
                          </a:solidFill>
                          <a:latin typeface="Calibri"/>
                        </a:defRPr>
                      </a:pPr>
                      <a:r>
                        <a:t>Reduce the caliper piston diameter on the rear brake assemblies by 5mm, requiring a smaller master cylinder bore.</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500000.00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5000.0000</a:t>
                      </a:r>
                    </a:p>
                  </a:txBody>
                  <a:tcPr/>
                </a:tc>
                <a:tc>
                  <a:txBody>
                    <a:bodyPr wrap="square" lIns="50800" rIns="50800"/>
                    <a:lstStyle/>
                    <a:p>
                      <a:pPr>
                        <a:defRPr sz="900">
                          <a:solidFill>
                            <a:srgbClr val="333333"/>
                          </a:solidFill>
                          <a:latin typeface="Calibri"/>
                        </a:defRPr>
                      </a:pPr>
                      <a:r>
                        <a:t>Auto-Approved</a:t>
                      </a:r>
                    </a:p>
                  </a:txBody>
                  <a:tcPr/>
                </a:tc>
              </a:tr>
              <a:tr h="626364">
                <a:tc>
                  <a:txBody>
                    <a:bodyPr wrap="square" lIns="50800" rIns="50800"/>
                    <a:lstStyle/>
                    <a:p>
                      <a:pPr>
                        <a:defRPr sz="900">
                          <a:solidFill>
                            <a:srgbClr val="333333"/>
                          </a:solidFill>
                          <a:latin typeface="Calibri"/>
                        </a:defRPr>
                      </a:pPr>
                      <a:r>
                        <a:t>AI-GEN-03</a:t>
                      </a:r>
                    </a:p>
                  </a:txBody>
                  <a:tcPr/>
                </a:tc>
                <a:tc>
                  <a:txBody>
                    <a:bodyPr wrap="square" lIns="50800" rIns="50800"/>
                    <a:lstStyle/>
                    <a:p>
                      <a:pPr>
                        <a:defRPr sz="900">
                          <a:solidFill>
                            <a:srgbClr val="333333"/>
                          </a:solidFill>
                          <a:latin typeface="Calibri"/>
                        </a:defRPr>
                      </a:pPr>
                      <a:r>
                        <a:t>Replace the current standard rubber brake hoses with braided stainless steel hoses for all four wheels, reducing material cost and improving durability.</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300000.00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3000.0000</a:t>
                      </a:r>
                    </a:p>
                  </a:txBody>
                  <a:tcPr/>
                </a:tc>
                <a:tc>
                  <a:txBody>
                    <a:bodyPr wrap="square" lIns="50800" rIns="50800"/>
                    <a:lstStyle/>
                    <a:p>
                      <a:pPr>
                        <a:defRPr sz="900">
                          <a:solidFill>
                            <a:srgbClr val="333333"/>
                          </a:solidFill>
                          <a:latin typeface="Calibri"/>
                        </a:defRPr>
                      </a:pPr>
                      <a:r>
                        <a:t>Auto-Approved</a:t>
                      </a:r>
                    </a:p>
                  </a:txBody>
                  <a:tcPr/>
                </a:tc>
              </a:tr>
              <a:tr h="626364">
                <a:tc>
                  <a:txBody>
                    <a:bodyPr wrap="square" lIns="50800" rIns="50800"/>
                    <a:lstStyle/>
                    <a:p>
                      <a:pPr>
                        <a:defRPr sz="900">
                          <a:solidFill>
                            <a:srgbClr val="333333"/>
                          </a:solidFill>
                          <a:latin typeface="Calibri"/>
                        </a:defRPr>
                      </a:pPr>
                      <a:r>
                        <a:t>AI-GEN-04</a:t>
                      </a:r>
                    </a:p>
                  </a:txBody>
                  <a:tcPr/>
                </a:tc>
                <a:tc>
                  <a:txBody>
                    <a:bodyPr wrap="square" lIns="50800" rIns="50800"/>
                    <a:lstStyle/>
                    <a:p>
                      <a:pPr>
                        <a:defRPr sz="900">
                          <a:solidFill>
                            <a:srgbClr val="333333"/>
                          </a:solidFill>
                          <a:latin typeface="Calibri"/>
                        </a:defRPr>
                      </a:pPr>
                      <a:r>
                        <a:t>Reduce the gauge of the brake dust shield for the rear axle by 0.2mm, from 1.0mm to 0.8mm, without compromising dust sealing.</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400000.00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4000.0000</a:t>
                      </a:r>
                    </a:p>
                  </a:txBody>
                  <a:tcPr/>
                </a:tc>
                <a:tc>
                  <a:txBody>
                    <a:bodyPr wrap="square" lIns="50800" rIns="50800"/>
                    <a:lstStyle/>
                    <a:p>
                      <a:pPr>
                        <a:defRPr sz="900">
                          <a:solidFill>
                            <a:srgbClr val="333333"/>
                          </a:solidFill>
                          <a:latin typeface="Calibri"/>
                        </a:defRPr>
                      </a:pPr>
                      <a:r>
                        <a:t>Auto-Approved</a:t>
                      </a:r>
                    </a:p>
                  </a:txBody>
                  <a:tcPr/>
                </a:tc>
              </a:tr>
              <a:tr h="626364">
                <a:tc>
                  <a:txBody>
                    <a:bodyPr wrap="square" lIns="50800" rIns="50800"/>
                    <a:lstStyle/>
                    <a:p>
                      <a:pPr>
                        <a:defRPr sz="900">
                          <a:solidFill>
                            <a:srgbClr val="333333"/>
                          </a:solidFill>
                          <a:latin typeface="Calibri"/>
                        </a:defRPr>
                      </a:pPr>
                      <a:r>
                        <a:t>AI-GEN-06</a:t>
                      </a:r>
                    </a:p>
                  </a:txBody>
                  <a:tcPr/>
                </a:tc>
                <a:tc>
                  <a:txBody>
                    <a:bodyPr wrap="square" lIns="50800" rIns="50800"/>
                    <a:lstStyle/>
                    <a:p>
                      <a:pPr>
                        <a:defRPr sz="900">
                          <a:solidFill>
                            <a:srgbClr val="333333"/>
                          </a:solidFill>
                          <a:latin typeface="Calibri"/>
                        </a:defRPr>
                      </a:pPr>
                      <a:r>
                        <a:t>Implement a single-piece caliper piston instead of a two-piece design for the front brake assemblies, where feasible with material and thermal constraints.</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400000.00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4000.0000</a:t>
                      </a:r>
                    </a:p>
                  </a:txBody>
                  <a:tcPr/>
                </a:tc>
                <a:tc>
                  <a:txBody>
                    <a:bodyPr wrap="square" lIns="50800" rIns="50800"/>
                    <a:lstStyle/>
                    <a:p>
                      <a:pPr>
                        <a:defRPr sz="900">
                          <a:solidFill>
                            <a:srgbClr val="333333"/>
                          </a:solidFill>
                          <a:latin typeface="Calibri"/>
                        </a:defRPr>
                      </a:pPr>
                      <a:r>
                        <a:t>Auto-Approved</a:t>
                      </a:r>
                    </a:p>
                  </a:txBody>
                  <a:tcPr/>
                </a:tc>
              </a:tr>
              <a:tr h="626364">
                <a:tc>
                  <a:txBody>
                    <a:bodyPr wrap="square" lIns="50800" rIns="50800"/>
                    <a:lstStyle/>
                    <a:p>
                      <a:pPr>
                        <a:defRPr sz="900">
                          <a:solidFill>
                            <a:srgbClr val="333333"/>
                          </a:solidFill>
                          <a:latin typeface="Calibri"/>
                        </a:defRPr>
                      </a:pPr>
                      <a:r>
                        <a:t>AI-GEN-07</a:t>
                      </a:r>
                    </a:p>
                  </a:txBody>
                  <a:tcPr/>
                </a:tc>
                <a:tc>
                  <a:txBody>
                    <a:bodyPr wrap="square" lIns="50800" rIns="50800"/>
                    <a:lstStyle/>
                    <a:p>
                      <a:pPr>
                        <a:defRPr sz="900">
                          <a:solidFill>
                            <a:srgbClr val="333333"/>
                          </a:solidFill>
                          <a:latin typeface="Calibri"/>
                        </a:defRPr>
                      </a:pPr>
                      <a:r>
                        <a:t>Optimize the brake pad backing plate thickness by reducing it by 0.5mm, ensuring minimal impact on thermal transfer and structural rigidity.</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350000.00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3500.0000</a:t>
                      </a:r>
                    </a:p>
                  </a:txBody>
                  <a:tcPr/>
                </a:tc>
                <a:tc>
                  <a:txBody>
                    <a:bodyPr wrap="square" lIns="50800" rIns="50800"/>
                    <a:lstStyle/>
                    <a:p>
                      <a:pPr>
                        <a:defRPr sz="900">
                          <a:solidFill>
                            <a:srgbClr val="333333"/>
                          </a:solidFill>
                          <a:latin typeface="Calibri"/>
                        </a:defRPr>
                      </a:pPr>
                      <a:r>
                        <a:t>Auto-Approved</a:t>
                      </a:r>
                    </a:p>
                  </a:txBody>
                  <a:tcPr/>
                </a:tc>
              </a:tr>
            </a:tbl>
          </a:graphicData>
        </a:graphic>
      </p:graphicFrame>
      <p:sp>
        <p:nvSpPr>
          <p:cNvPr id="3" name="TextBox 2"/>
          <p:cNvSpPr txBox="1"/>
          <p:nvPr/>
        </p:nvSpPr>
        <p:spPr>
          <a:xfrm>
            <a:off x="365760" y="45720"/>
            <a:ext cx="11460175" cy="320040"/>
          </a:xfrm>
          <a:prstGeom prst="rect">
            <a:avLst/>
          </a:prstGeom>
          <a:noFill/>
        </p:spPr>
        <p:txBody>
          <a:bodyPr wrap="none">
            <a:spAutoFit/>
          </a:bodyPr>
          <a:lstStyle/>
          <a:p>
            <a:pPr>
              <a:defRPr sz="1500" b="1">
                <a:solidFill>
                  <a:srgbClr val="003366"/>
                </a:solidFill>
              </a:defRPr>
            </a:pPr>
            <a:r>
              <a:t>Summary (Values in ₹ Crore) (Page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0881360" cy="6263640"/>
        </p:xfrm>
        <a:graphic>
          <a:graphicData uri="http://schemas.openxmlformats.org/drawingml/2006/table">
            <a:tbl>
              <a:tblPr firstRow="1" bandRow="1">
                <a:tableStyleId>{5C22544A-7EE6-4342-B048-85BDC9FD1C3A}</a:tableStyleId>
              </a:tblPr>
              <a:tblGrid>
                <a:gridCol w="731520"/>
                <a:gridCol w="4114800"/>
                <a:gridCol w="1097280"/>
                <a:gridCol w="1097280"/>
                <a:gridCol w="1097280"/>
                <a:gridCol w="1371600"/>
                <a:gridCol w="1371600"/>
              </a:tblGrid>
              <a:tr h="782955">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 Cr)</a:t>
                      </a:r>
                    </a:p>
                  </a:txBody>
                  <a:tcPr>
                    <a:solidFill>
                      <a:srgbClr val="003366"/>
                    </a:solidFill>
                  </a:tcPr>
                </a:tc>
                <a:tc>
                  <a:txBody>
                    <a:bodyPr wrap="square"/>
                    <a:lstStyle/>
                    <a:p>
                      <a:pPr>
                        <a:defRPr b="1" sz="900">
                          <a:solidFill>
                            <a:srgbClr val="FFFFFF"/>
                          </a:solidFill>
                        </a:defRPr>
                      </a:pPr>
                      <a:r>
                        <a:t>Unit Saving (₹)</a:t>
                      </a:r>
                    </a:p>
                  </a:txBody>
                  <a:tcPr>
                    <a:solidFill>
                      <a:srgbClr val="003366"/>
                    </a:solidFill>
                  </a:tcPr>
                </a:tc>
                <a:tc>
                  <a:txBody>
                    <a:bodyPr wrap="square"/>
                    <a:lstStyle/>
                    <a:p>
                      <a:pPr>
                        <a:defRPr b="1" sz="900">
                          <a:solidFill>
                            <a:srgbClr val="FFFFFF"/>
                          </a:solidFill>
                        </a:defRPr>
                      </a:pPr>
                      <a:r>
                        <a:t>Yearly Volume</a:t>
                      </a:r>
                    </a:p>
                  </a:txBody>
                  <a:tcPr>
                    <a:solidFill>
                      <a:srgbClr val="003366"/>
                    </a:solidFill>
                  </a:tcPr>
                </a:tc>
                <a:tc>
                  <a:txBody>
                    <a:bodyPr wrap="square"/>
                    <a:lstStyle/>
                    <a:p>
                      <a:pPr>
                        <a:defRPr b="1" sz="900">
                          <a:solidFill>
                            <a:srgbClr val="FFFFFF"/>
                          </a:solidFill>
                        </a:defRPr>
                      </a:pPr>
                      <a:r>
                        <a:t>Total Saving (₹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r>
              <a:tr h="782955">
                <a:tc>
                  <a:txBody>
                    <a:bodyPr wrap="square" lIns="50800" rIns="50800"/>
                    <a:lstStyle/>
                    <a:p>
                      <a:pPr>
                        <a:defRPr sz="900">
                          <a:solidFill>
                            <a:srgbClr val="333333"/>
                          </a:solidFill>
                          <a:latin typeface="Calibri"/>
                        </a:defRPr>
                      </a:pPr>
                      <a:r>
                        <a:t>AI-GEN-09</a:t>
                      </a:r>
                    </a:p>
                  </a:txBody>
                  <a:tcPr/>
                </a:tc>
                <a:tc>
                  <a:txBody>
                    <a:bodyPr wrap="square" lIns="50800" rIns="50800"/>
                    <a:lstStyle/>
                    <a:p>
                      <a:pPr>
                        <a:defRPr sz="900">
                          <a:solidFill>
                            <a:srgbClr val="333333"/>
                          </a:solidFill>
                          <a:latin typeface="Calibri"/>
                        </a:defRPr>
                      </a:pPr>
                      <a:r>
                        <a:t>Reduce the number of cooling vanes in the front brake rotors by optimizing airflow channels, without impacting thermal capacity.</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250000.00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2500.0000</a:t>
                      </a:r>
                    </a:p>
                  </a:txBody>
                  <a:tcPr/>
                </a:tc>
                <a:tc>
                  <a:txBody>
                    <a:bodyPr wrap="square" lIns="50800" rIns="50800"/>
                    <a:lstStyle/>
                    <a:p>
                      <a:pPr>
                        <a:defRPr sz="900">
                          <a:solidFill>
                            <a:srgbClr val="333333"/>
                          </a:solidFill>
                          <a:latin typeface="Calibri"/>
                        </a:defRPr>
                      </a:pPr>
                      <a:r>
                        <a:t>Auto-Approved</a:t>
                      </a:r>
                    </a:p>
                  </a:txBody>
                  <a:tcPr/>
                </a:tc>
              </a:tr>
              <a:tr h="782955">
                <a:tc>
                  <a:txBody>
                    <a:bodyPr wrap="square" lIns="50800" rIns="50800"/>
                    <a:lstStyle/>
                    <a:p>
                      <a:pPr>
                        <a:defRPr sz="900">
                          <a:solidFill>
                            <a:srgbClr val="333333"/>
                          </a:solidFill>
                          <a:latin typeface="Calibri"/>
                        </a:defRPr>
                      </a:pPr>
                      <a:r>
                        <a:t>AI-GEN-11</a:t>
                      </a:r>
                    </a:p>
                  </a:txBody>
                  <a:tcPr/>
                </a:tc>
                <a:tc>
                  <a:txBody>
                    <a:bodyPr wrap="square" lIns="50800" rIns="50800"/>
                    <a:lstStyle/>
                    <a:p>
                      <a:pPr>
                        <a:defRPr sz="900">
                          <a:solidFill>
                            <a:srgbClr val="333333"/>
                          </a:solidFill>
                          <a:latin typeface="Calibri"/>
                        </a:defRPr>
                      </a:pPr>
                      <a:r>
                        <a:t>Eliminate the anti-squeal shims on the rear brake pads, provided NVH analysis confirms no significant increase in noise.</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100000.00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1000.0000</a:t>
                      </a:r>
                    </a:p>
                  </a:txBody>
                  <a:tcPr/>
                </a:tc>
                <a:tc>
                  <a:txBody>
                    <a:bodyPr wrap="square" lIns="50800" rIns="50800"/>
                    <a:lstStyle/>
                    <a:p>
                      <a:pPr>
                        <a:defRPr sz="900">
                          <a:solidFill>
                            <a:srgbClr val="333333"/>
                          </a:solidFill>
                          <a:latin typeface="Calibri"/>
                        </a:defRPr>
                      </a:pPr>
                      <a:r>
                        <a:t>Auto-Approved</a:t>
                      </a:r>
                    </a:p>
                  </a:txBody>
                  <a:tcPr/>
                </a:tc>
              </a:tr>
              <a:tr h="782955">
                <a:tc>
                  <a:txBody>
                    <a:bodyPr wrap="square" lIns="50800" rIns="50800"/>
                    <a:lstStyle/>
                    <a:p>
                      <a:pPr>
                        <a:defRPr sz="900">
                          <a:solidFill>
                            <a:srgbClr val="333333"/>
                          </a:solidFill>
                          <a:latin typeface="Calibri"/>
                        </a:defRPr>
                      </a:pPr>
                      <a:r>
                        <a:t>AI-GEN-02</a:t>
                      </a:r>
                    </a:p>
                  </a:txBody>
                  <a:tcPr/>
                </a:tc>
                <a:tc>
                  <a:txBody>
                    <a:bodyPr wrap="square" lIns="50800" rIns="50800"/>
                    <a:lstStyle/>
                    <a:p>
                      <a:pPr>
                        <a:defRPr sz="900">
                          <a:solidFill>
                            <a:srgbClr val="333333"/>
                          </a:solidFill>
                          <a:latin typeface="Calibri"/>
                        </a:defRPr>
                      </a:pPr>
                      <a:r>
                        <a:t>Substitute the current cast iron brake rotors for the front axle with a higher-grade, thinner, but reinforced grey iron (e.g., GGG40) with a 2mm reduction in nominal thickness.</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750000.00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7500.0000</a:t>
                      </a:r>
                    </a:p>
                  </a:txBody>
                  <a:tcPr/>
                </a:tc>
                <a:tc>
                  <a:txBody>
                    <a:bodyPr wrap="square" lIns="50800" rIns="50800"/>
                    <a:lstStyle/>
                    <a:p>
                      <a:pPr>
                        <a:defRPr sz="900">
                          <a:solidFill>
                            <a:srgbClr val="333333"/>
                          </a:solidFill>
                          <a:latin typeface="Calibri"/>
                        </a:defRPr>
                      </a:pPr>
                      <a:r>
                        <a:t>Needs Human Review</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Investigate the feasibility of using advanced HSLA steels with optimized microstructures for brake rotor production, targeting a 15% weight reduction while maintaining or improving thermal performance and wear resistance. This would involve exploring novel heat treatments and alloying compositions to achieve high strength without compromising ductility and fatigue life. The dust shield gauge could be reduced by 10% due to the increased stiffness and strength of the HSLA rotor, indirectly contributing to weight savings and cost reduction.</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Research Paper</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Explore the application of thin-wall casting techniques for brake caliper housings using aluminum alloys, aiming for a 20% weight reduction compared to current cast iron calipers. This would necessitate detailed FEA to ensure structural integrity under braking loads and thermal management. The focus will be on optimizing the casting process to achieve uniform wall thickness and high surface finish, potentially reducing machining operations. The tooling CAPEX constraint will be addressed by evaluating existing casting facilities and incremental upgrades rather than complete retooling.</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Research Paper</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Develop a novel friction material formulation for brake pads that incorporates advanced ceramic composites and optimized binder systems. The goal is to achieve a 10% improvement in fade resistance and a 15% increase in wear life, while maintaining a consistent friction coefficient across a wide temperature range. This addresses the high kinetic energy of the MG Hector and its C-SUV segment requirements. The dust shield gauge can be indirectly maintained or slightly optimized due to the improved pad longevity and reduced particle generation.</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Research Paper</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Implement a predictive maintenance strategy for brake assemblies using integrated sensor technology (e.g., embedded temperature and wear sensors) coupled with machine learning algorithms. This 'smart braking' system would monitor brake pad wear and rotor temperature in real-time, alerting the driver or service center when maintenance is due. This is an 'Industry Trend' that can be adapted to the MG Hector to optimize service intervals and prevent premature component failure, indirectly contributing to cost reduction through proactive maintenance. The existing rotor thickness and caliper material on the MG Hector would be monitored, with potential for future optimization based on accumulated data.</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Industry Trend</a:t>
                      </a:r>
                    </a:p>
                  </a:txBody>
                  <a:tcPr/>
                </a:tc>
              </a:tr>
            </a:tbl>
          </a:graphicData>
        </a:graphic>
      </p:graphicFrame>
      <p:sp>
        <p:nvSpPr>
          <p:cNvPr id="3" name="TextBox 2"/>
          <p:cNvSpPr txBox="1"/>
          <p:nvPr/>
        </p:nvSpPr>
        <p:spPr>
          <a:xfrm>
            <a:off x="365760" y="45720"/>
            <a:ext cx="11460175" cy="320040"/>
          </a:xfrm>
          <a:prstGeom prst="rect">
            <a:avLst/>
          </a:prstGeom>
          <a:noFill/>
        </p:spPr>
        <p:txBody>
          <a:bodyPr wrap="none">
            <a:spAutoFit/>
          </a:bodyPr>
          <a:lstStyle/>
          <a:p>
            <a:pPr>
              <a:defRPr sz="1500" b="1">
                <a:solidFill>
                  <a:srgbClr val="003366"/>
                </a:solidFill>
              </a:defRPr>
            </a:pPr>
            <a:r>
              <a:t>Summary (Values in ₹ Crore) (Page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#1: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888796"/>
          </a:xfrm>
          <a:prstGeom prst="rect">
            <a:avLst/>
          </a:prstGeom>
          <a:noFill/>
        </p:spPr>
        <p:txBody>
          <a:bodyPr wrap="square">
            <a:spAutoFit/>
          </a:bodyPr>
          <a:lstStyle/>
          <a:p>
            <a:pPr>
              <a:defRPr sz="1000">
                <a:solidFill>
                  <a:srgbClr val="333333"/>
                </a:solidFill>
              </a:defRPr>
            </a:pPr>
            <a:r>
              <a:t>Technical optimization of 1. Reduce the overall wall thickness of the Brake Dust Cover Plates present on all four wheel hubs of the vehicles from 1mm to 0.8mm</a:t>
            </a:r>
            <a:br/>
            <a:r>
              <a:t>2. Reduce the paint coating thickness on each side of all four plates from 56 microns to 27.8 microns focusing on material efficiency and process consolidation to reduce cycle time.</a:t>
            </a:r>
          </a:p>
        </p:txBody>
      </p:sp>
      <p:sp>
        <p:nvSpPr>
          <p:cNvPr id="6" name="Rectangle 5"/>
          <p:cNvSpPr/>
          <p:nvPr/>
        </p:nvSpPr>
        <p:spPr>
          <a:xfrm>
            <a:off x="274320" y="30376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110788"/>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339388"/>
            <a:ext cx="5486400" cy="424647"/>
          </a:xfrm>
          <a:prstGeom prst="rect">
            <a:avLst/>
          </a:prstGeom>
          <a:noFill/>
        </p:spPr>
        <p:txBody>
          <a:bodyPr wrap="square">
            <a:spAutoFit/>
          </a:bodyPr>
          <a:lstStyle/>
          <a:p>
            <a:pPr>
              <a:defRPr sz="1000">
                <a:solidFill>
                  <a:srgbClr val="333333"/>
                </a:solidFill>
              </a:defRPr>
            </a:pPr>
            <a:r>
              <a:t>N/A (No material change explicitly mentioned)</a:t>
            </a:r>
            <a:br/>
            <a:r>
              <a:t>1mm to 0.8mm</a:t>
            </a:r>
          </a:p>
        </p:txBody>
      </p:sp>
      <p:sp>
        <p:nvSpPr>
          <p:cNvPr id="9" name="Rectangle 8"/>
          <p:cNvSpPr/>
          <p:nvPr/>
        </p:nvSpPr>
        <p:spPr>
          <a:xfrm>
            <a:off x="274320" y="37640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837188"/>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065788"/>
            <a:ext cx="5486400" cy="378561"/>
          </a:xfrm>
          <a:prstGeom prst="rect">
            <a:avLst/>
          </a:prstGeom>
          <a:noFill/>
        </p:spPr>
        <p:txBody>
          <a:bodyPr wrap="square">
            <a:spAutoFit/>
          </a:bodyPr>
          <a:lstStyle/>
          <a:p>
            <a:pPr>
              <a:defRPr sz="1000">
                <a:solidFill>
                  <a:srgbClr val="333333"/>
                </a:solidFill>
              </a:defRPr>
            </a:pPr>
            <a:r>
              <a:t>Est. Saving: INR 57</a:t>
            </a:r>
            <a:br/>
            <a:r>
              <a:t>CAPEX: TBD</a:t>
            </a:r>
          </a:p>
        </p:txBody>
      </p:sp>
      <p:sp>
        <p:nvSpPr>
          <p:cNvPr id="12" name="Rectangle 11"/>
          <p:cNvSpPr/>
          <p:nvPr/>
        </p:nvSpPr>
        <p:spPr>
          <a:xfrm>
            <a:off x="274320" y="444434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51750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746101"/>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54838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7" name="Picture 16" descr="185.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18" name="TextBox 17"/>
          <p:cNvSpPr txBox="1"/>
          <p:nvPr/>
        </p:nvSpPr>
        <p:spPr>
          <a:xfrm>
            <a:off x="6217920" y="400507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9" name="Picture 18" descr="39.jpg"/>
          <p:cNvPicPr>
            <a:picLocks noChangeAspect="1"/>
          </p:cNvPicPr>
          <p:nvPr/>
        </p:nvPicPr>
        <p:blipFill>
          <a:blip r:embed="rId3"/>
          <a:stretch>
            <a:fillRect/>
          </a:stretch>
        </p:blipFill>
        <p:spPr>
          <a:xfrm>
            <a:off x="6217920" y="4279392"/>
            <a:ext cx="5699455" cy="2304288"/>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#2: The Brake Booster Plate in MGI could be integrated into the Dashboard BIW of the vehicle as done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508589"/>
          </a:xfrm>
          <a:prstGeom prst="rect">
            <a:avLst/>
          </a:prstGeom>
          <a:noFill/>
        </p:spPr>
        <p:txBody>
          <a:bodyPr wrap="square">
            <a:spAutoFit/>
          </a:bodyPr>
          <a:lstStyle/>
          <a:p>
            <a:pPr>
              <a:defRPr sz="1000">
                <a:solidFill>
                  <a:srgbClr val="333333"/>
                </a:solidFill>
              </a:defRPr>
            </a:pPr>
            <a:r>
              <a:t>Technical optimization of The Brake Booster Plate in MGI could be integrated into the Dashboard BIW of the vehicle as done in KIA focusing on material efficiency and process consolidation to reduce cycle time.</a:t>
            </a:r>
          </a:p>
        </p:txBody>
      </p:sp>
      <p:sp>
        <p:nvSpPr>
          <p:cNvPr id="6" name="Rectangle 5"/>
          <p:cNvSpPr/>
          <p:nvPr/>
        </p:nvSpPr>
        <p:spPr>
          <a:xfrm>
            <a:off x="274320" y="183446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907621"/>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36221"/>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9378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6693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95539"/>
            <a:ext cx="5486400" cy="378561"/>
          </a:xfrm>
          <a:prstGeom prst="rect">
            <a:avLst/>
          </a:prstGeom>
          <a:noFill/>
        </p:spPr>
        <p:txBody>
          <a:bodyPr wrap="square">
            <a:spAutoFit/>
          </a:bodyPr>
          <a:lstStyle/>
          <a:p>
            <a:pPr>
              <a:defRPr sz="1000">
                <a:solidFill>
                  <a:srgbClr val="333333"/>
                </a:solidFill>
              </a:defRPr>
            </a:pPr>
            <a:r>
              <a:t>Est. Saving: INR 47</a:t>
            </a:r>
            <a:br/>
            <a:r>
              <a:t>CAPEX: TBD</a:t>
            </a:r>
          </a:p>
        </p:txBody>
      </p:sp>
      <p:sp>
        <p:nvSpPr>
          <p:cNvPr id="12" name="Rectangle 11"/>
          <p:cNvSpPr/>
          <p:nvPr/>
        </p:nvSpPr>
        <p:spPr>
          <a:xfrm>
            <a:off x="274320" y="32741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4725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75852"/>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37813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51287"/>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679887"/>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1670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41.jpg"/>
          <p:cNvPicPr>
            <a:picLocks noChangeAspect="1"/>
          </p:cNvPicPr>
          <p:nvPr/>
        </p:nvPicPr>
        <p:blipFill>
          <a:blip r:embed="rId3"/>
          <a:stretch>
            <a:fillRect/>
          </a:stretch>
        </p:blipFill>
        <p:spPr>
          <a:xfrm>
            <a:off x="6217920" y="3867912"/>
            <a:ext cx="5699455" cy="2715768"/>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#3: Remove the black paint coating from the Brake Caliper Mounting Brackets on all four brake assemblies of MGI, following the procedure used for the front brake caliper mounting brackets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53430"/>
          </a:xfrm>
          <a:prstGeom prst="rect">
            <a:avLst/>
          </a:prstGeom>
          <a:noFill/>
        </p:spPr>
        <p:txBody>
          <a:bodyPr wrap="square">
            <a:spAutoFit/>
          </a:bodyPr>
          <a:lstStyle/>
          <a:p>
            <a:pPr>
              <a:defRPr sz="1000">
                <a:solidFill>
                  <a:srgbClr val="333333"/>
                </a:solidFill>
              </a:defRPr>
            </a:pPr>
            <a:r>
              <a:t>Technical optimization of Remove the black paint coating from the Brake Caliper Mounting Brackets on all four brake assemblies of MGI, following the procedure used for the front brake caliper mounting brackets in KIA. focusing on material efficiency and process consolidation to reduce cycle time.</a:t>
            </a:r>
          </a:p>
        </p:txBody>
      </p:sp>
      <p:sp>
        <p:nvSpPr>
          <p:cNvPr id="6" name="Rectangle 5"/>
          <p:cNvSpPr/>
          <p:nvPr/>
        </p:nvSpPr>
        <p:spPr>
          <a:xfrm>
            <a:off x="274320" y="239079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63942"/>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92542"/>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15010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23260"/>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51860"/>
            <a:ext cx="5486400" cy="380207"/>
          </a:xfrm>
          <a:prstGeom prst="rect">
            <a:avLst/>
          </a:prstGeom>
          <a:noFill/>
        </p:spPr>
        <p:txBody>
          <a:bodyPr wrap="square">
            <a:spAutoFit/>
          </a:bodyPr>
          <a:lstStyle/>
          <a:p>
            <a:pPr>
              <a:defRPr sz="1000">
                <a:solidFill>
                  <a:srgbClr val="333333"/>
                </a:solidFill>
              </a:defRPr>
            </a:pPr>
            <a:r>
              <a:t>Est. Saving: INR 102</a:t>
            </a:r>
            <a:br/>
            <a:r>
              <a:t>CAPEX: TBD</a:t>
            </a:r>
          </a:p>
        </p:txBody>
      </p:sp>
      <p:sp>
        <p:nvSpPr>
          <p:cNvPr id="12" name="Rectangle 11"/>
          <p:cNvSpPr/>
          <p:nvPr/>
        </p:nvSpPr>
        <p:spPr>
          <a:xfrm>
            <a:off x="274320" y="383206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0521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33819"/>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361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09253"/>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37853"/>
            <a:ext cx="5486400" cy="34582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2.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34.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#4: Redesign the current Brake Pedal Mounting Bracket used in MGI to a similar bracket used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95421"/>
          </a:xfrm>
          <a:prstGeom prst="rect">
            <a:avLst/>
          </a:prstGeom>
          <a:noFill/>
        </p:spPr>
        <p:txBody>
          <a:bodyPr wrap="square">
            <a:spAutoFit/>
          </a:bodyPr>
          <a:lstStyle/>
          <a:p>
            <a:pPr>
              <a:defRPr sz="1000">
                <a:solidFill>
                  <a:srgbClr val="333333"/>
                </a:solidFill>
              </a:defRPr>
            </a:pPr>
            <a:r>
              <a:t>Technical optimization of Redesign the current Brake Pedal Mounting Bracket used in MGI to a similar bracket used in KIA. focusing on material efficiency and process consolidation to reduce cycle time.</a:t>
            </a:r>
          </a:p>
        </p:txBody>
      </p:sp>
      <p:sp>
        <p:nvSpPr>
          <p:cNvPr id="6" name="Rectangle 5"/>
          <p:cNvSpPr/>
          <p:nvPr/>
        </p:nvSpPr>
        <p:spPr>
          <a:xfrm>
            <a:off x="274320" y="18213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9445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23053"/>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8061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53771"/>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82371"/>
            <a:ext cx="5486400" cy="380207"/>
          </a:xfrm>
          <a:prstGeom prst="rect">
            <a:avLst/>
          </a:prstGeom>
          <a:noFill/>
        </p:spPr>
        <p:txBody>
          <a:bodyPr wrap="square">
            <a:spAutoFit/>
          </a:bodyPr>
          <a:lstStyle/>
          <a:p>
            <a:pPr>
              <a:defRPr sz="1000">
                <a:solidFill>
                  <a:srgbClr val="333333"/>
                </a:solidFill>
              </a:defRPr>
            </a:pPr>
            <a:r>
              <a:t>Est. Saving: INR 113</a:t>
            </a:r>
            <a:br/>
            <a:r>
              <a:t>CAPEX: TBD</a:t>
            </a:r>
          </a:p>
        </p:txBody>
      </p:sp>
      <p:sp>
        <p:nvSpPr>
          <p:cNvPr id="12" name="Rectangle 11"/>
          <p:cNvSpPr/>
          <p:nvPr/>
        </p:nvSpPr>
        <p:spPr>
          <a:xfrm>
            <a:off x="274320" y="32625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3573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64331"/>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36661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39765"/>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668365"/>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15555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22.jpg"/>
          <p:cNvPicPr>
            <a:picLocks noChangeAspect="1"/>
          </p:cNvPicPr>
          <p:nvPr/>
        </p:nvPicPr>
        <p:blipFill>
          <a:blip r:embed="rId3"/>
          <a:stretch>
            <a:fillRect/>
          </a:stretch>
        </p:blipFill>
        <p:spPr>
          <a:xfrm>
            <a:off x="6217920" y="3867912"/>
            <a:ext cx="5699455" cy="2715768"/>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#5: Reduce the caliper piston diameter on the rear brake assemblies by 5mm, requiring a smaller master cylinder bore.</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525048"/>
          </a:xfrm>
          <a:prstGeom prst="rect">
            <a:avLst/>
          </a:prstGeom>
          <a:noFill/>
        </p:spPr>
        <p:txBody>
          <a:bodyPr wrap="square">
            <a:spAutoFit/>
          </a:bodyPr>
          <a:lstStyle/>
          <a:p>
            <a:pPr>
              <a:defRPr sz="1000">
                <a:solidFill>
                  <a:srgbClr val="333333"/>
                </a:solidFill>
              </a:defRPr>
            </a:pPr>
            <a:r>
              <a:t>Technical optimization of Reduce the caliper piston diameter on the rear brake assemblies by 5mm, requiring a smaller master cylinder bore. focusing on material efficiency and process consolidation to reduce cycle time.</a:t>
            </a:r>
          </a:p>
        </p:txBody>
      </p:sp>
      <p:sp>
        <p:nvSpPr>
          <p:cNvPr id="6" name="Rectangle 5"/>
          <p:cNvSpPr/>
          <p:nvPr/>
        </p:nvSpPr>
        <p:spPr>
          <a:xfrm>
            <a:off x="274320" y="185092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924080"/>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52680"/>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61024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83398"/>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911998"/>
            <a:ext cx="5486400" cy="385145"/>
          </a:xfrm>
          <a:prstGeom prst="rect">
            <a:avLst/>
          </a:prstGeom>
          <a:noFill/>
        </p:spPr>
        <p:txBody>
          <a:bodyPr wrap="square">
            <a:spAutoFit/>
          </a:bodyPr>
          <a:lstStyle/>
          <a:p>
            <a:pPr>
              <a:defRPr sz="1000">
                <a:solidFill>
                  <a:srgbClr val="333333"/>
                </a:solidFill>
              </a:defRPr>
            </a:pPr>
            <a:r>
              <a:t>Est. Saving: INR 500000</a:t>
            </a:r>
            <a:br/>
            <a:r>
              <a:t>CAPEX: TBD</a:t>
            </a:r>
          </a:p>
        </p:txBody>
      </p:sp>
      <p:sp>
        <p:nvSpPr>
          <p:cNvPr id="12" name="Rectangle 11"/>
          <p:cNvSpPr/>
          <p:nvPr/>
        </p:nvSpPr>
        <p:spPr>
          <a:xfrm>
            <a:off x="274320" y="329714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70295"/>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98895"/>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40117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74329"/>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702929"/>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19012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209.jpg"/>
          <p:cNvPicPr>
            <a:picLocks noChangeAspect="1"/>
          </p:cNvPicPr>
          <p:nvPr/>
        </p:nvPicPr>
        <p:blipFill>
          <a:blip r:embed="rId3"/>
          <a:stretch>
            <a:fillRect/>
          </a:stretch>
        </p:blipFill>
        <p:spPr>
          <a:xfrm>
            <a:off x="6217920" y="3867912"/>
            <a:ext cx="5699455" cy="2715768"/>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#6: Replace the current standard rubber brake hoses with braided stainless steel hoses for all four wheels, reducing material cost and improving durability.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589239"/>
          </a:xfrm>
          <a:prstGeom prst="rect">
            <a:avLst/>
          </a:prstGeom>
          <a:noFill/>
        </p:spPr>
        <p:txBody>
          <a:bodyPr wrap="square">
            <a:spAutoFit/>
          </a:bodyPr>
          <a:lstStyle/>
          <a:p>
            <a:pPr>
              <a:defRPr sz="1000">
                <a:solidFill>
                  <a:srgbClr val="333333"/>
                </a:solidFill>
              </a:defRPr>
            </a:pPr>
            <a:r>
              <a:t>Technical optimization of Replace the current standard rubber brake hoses with braided stainless steel hoses for all four wheels, reducing material cost and improving durability. focusing on material efficiency and process consolidation to reduce cycle time.</a:t>
            </a:r>
          </a:p>
        </p:txBody>
      </p:sp>
      <p:sp>
        <p:nvSpPr>
          <p:cNvPr id="6" name="Rectangle 5"/>
          <p:cNvSpPr/>
          <p:nvPr/>
        </p:nvSpPr>
        <p:spPr>
          <a:xfrm>
            <a:off x="274320" y="23265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99751"/>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28351"/>
            <a:ext cx="5486400" cy="548091"/>
          </a:xfrm>
          <a:prstGeom prst="rect">
            <a:avLst/>
          </a:prstGeom>
          <a:noFill/>
        </p:spPr>
        <p:txBody>
          <a:bodyPr wrap="square">
            <a:spAutoFit/>
          </a:bodyPr>
          <a:lstStyle/>
          <a:p>
            <a:pPr>
              <a:defRPr sz="1000">
                <a:solidFill>
                  <a:srgbClr val="333333"/>
                </a:solidFill>
              </a:defRPr>
            </a:pPr>
            <a:r>
              <a:t>Replace the current standard rubber brake hoses with braided stainless steel hoses for all four whee</a:t>
            </a:r>
            <a:br/>
            <a:r>
              <a:t>N/A (Maintains current envelope)</a:t>
            </a:r>
          </a:p>
        </p:txBody>
      </p:sp>
      <p:sp>
        <p:nvSpPr>
          <p:cNvPr id="9" name="Rectangle 8"/>
          <p:cNvSpPr/>
          <p:nvPr/>
        </p:nvSpPr>
        <p:spPr>
          <a:xfrm>
            <a:off x="274320" y="317644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49594"/>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78194"/>
            <a:ext cx="5486400" cy="385145"/>
          </a:xfrm>
          <a:prstGeom prst="rect">
            <a:avLst/>
          </a:prstGeom>
          <a:noFill/>
        </p:spPr>
        <p:txBody>
          <a:bodyPr wrap="square">
            <a:spAutoFit/>
          </a:bodyPr>
          <a:lstStyle/>
          <a:p>
            <a:pPr>
              <a:defRPr sz="1000">
                <a:solidFill>
                  <a:srgbClr val="333333"/>
                </a:solidFill>
              </a:defRPr>
            </a:pPr>
            <a:r>
              <a:t>Est. Saving: INR 300000</a:t>
            </a:r>
            <a:br/>
            <a:r>
              <a:t>CAPEX: TBD</a:t>
            </a:r>
          </a:p>
        </p:txBody>
      </p:sp>
      <p:sp>
        <p:nvSpPr>
          <p:cNvPr id="12" name="Rectangle 11"/>
          <p:cNvSpPr/>
          <p:nvPr/>
        </p:nvSpPr>
        <p:spPr>
          <a:xfrm>
            <a:off x="274320" y="386334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3649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65092"/>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6737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40526"/>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69126"/>
            <a:ext cx="5486400" cy="314553"/>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0.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75.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#7: Reduce the gauge of the brake dust shield for the rear axle by 0.2mm, from 1.0mm to 0.8mm, without compromising dust sealing.</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544799"/>
          </a:xfrm>
          <a:prstGeom prst="rect">
            <a:avLst/>
          </a:prstGeom>
          <a:noFill/>
        </p:spPr>
        <p:txBody>
          <a:bodyPr wrap="square">
            <a:spAutoFit/>
          </a:bodyPr>
          <a:lstStyle/>
          <a:p>
            <a:pPr>
              <a:defRPr sz="1000">
                <a:solidFill>
                  <a:srgbClr val="333333"/>
                </a:solidFill>
              </a:defRPr>
            </a:pPr>
            <a:r>
              <a:t>Technical optimization of Reduce the gauge of the brake dust shield for the rear axle by 0.2mm, from 1.0mm to 0.8mm, without compromising dust sealing. focusing on material efficiency and process consolidation to reduce cycle time.</a:t>
            </a:r>
          </a:p>
        </p:txBody>
      </p:sp>
      <p:sp>
        <p:nvSpPr>
          <p:cNvPr id="6" name="Rectangle 5"/>
          <p:cNvSpPr/>
          <p:nvPr/>
        </p:nvSpPr>
        <p:spPr>
          <a:xfrm>
            <a:off x="274320" y="18706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943831"/>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72431"/>
            <a:ext cx="5486400" cy="447690"/>
          </a:xfrm>
          <a:prstGeom prst="rect">
            <a:avLst/>
          </a:prstGeom>
          <a:noFill/>
        </p:spPr>
        <p:txBody>
          <a:bodyPr wrap="square">
            <a:spAutoFit/>
          </a:bodyPr>
          <a:lstStyle/>
          <a:p>
            <a:pPr>
              <a:defRPr sz="1000">
                <a:solidFill>
                  <a:srgbClr val="333333"/>
                </a:solidFill>
              </a:defRPr>
            </a:pPr>
            <a:r>
              <a:t>N/A (No material change explicitly mentioned)</a:t>
            </a:r>
            <a:br/>
            <a:r>
              <a:t>0.2mm, from 1.0mm to 0.8mm</a:t>
            </a:r>
          </a:p>
        </p:txBody>
      </p:sp>
      <p:sp>
        <p:nvSpPr>
          <p:cNvPr id="9" name="Rectangle 8"/>
          <p:cNvSpPr/>
          <p:nvPr/>
        </p:nvSpPr>
        <p:spPr>
          <a:xfrm>
            <a:off x="274320" y="262012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93273"/>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921873"/>
            <a:ext cx="5486400" cy="385145"/>
          </a:xfrm>
          <a:prstGeom prst="rect">
            <a:avLst/>
          </a:prstGeom>
          <a:noFill/>
        </p:spPr>
        <p:txBody>
          <a:bodyPr wrap="square">
            <a:spAutoFit/>
          </a:bodyPr>
          <a:lstStyle/>
          <a:p>
            <a:pPr>
              <a:defRPr sz="1000">
                <a:solidFill>
                  <a:srgbClr val="333333"/>
                </a:solidFill>
              </a:defRPr>
            </a:pPr>
            <a:r>
              <a:t>Est. Saving: INR 400000</a:t>
            </a:r>
            <a:br/>
            <a:r>
              <a:t>CAPEX: TBD</a:t>
            </a:r>
          </a:p>
        </p:txBody>
      </p:sp>
      <p:sp>
        <p:nvSpPr>
          <p:cNvPr id="12" name="Rectangle 11"/>
          <p:cNvSpPr/>
          <p:nvPr/>
        </p:nvSpPr>
        <p:spPr>
          <a:xfrm>
            <a:off x="274320" y="330701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8017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608771"/>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41105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84205"/>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712805"/>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19999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59.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4.jpg"/>
          <p:cNvPicPr>
            <a:picLocks noChangeAspect="1"/>
          </p:cNvPicPr>
          <p:nvPr/>
        </p:nvPicPr>
        <p:blipFill>
          <a:blip r:embed="rId3"/>
          <a:stretch>
            <a:fillRect/>
          </a:stretch>
        </p:blipFill>
        <p:spPr>
          <a:xfrm>
            <a:off x="6217920" y="3867912"/>
            <a:ext cx="5699455" cy="2715768"/>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#8: Implement a single-piece caliper piston instead of a two-piece design for the front brake assemblies, where feasible with material and thermal constraints.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594177"/>
          </a:xfrm>
          <a:prstGeom prst="rect">
            <a:avLst/>
          </a:prstGeom>
          <a:noFill/>
        </p:spPr>
        <p:txBody>
          <a:bodyPr wrap="square">
            <a:spAutoFit/>
          </a:bodyPr>
          <a:lstStyle/>
          <a:p>
            <a:pPr>
              <a:defRPr sz="1000">
                <a:solidFill>
                  <a:srgbClr val="333333"/>
                </a:solidFill>
              </a:defRPr>
            </a:pPr>
            <a:r>
              <a:t>Technical optimization of Implement a single-piece caliper piston instead of a two-piece design for the front brake assemblies, where feasible with material and thermal constraints. focusing on material efficiency and process consolidation to reduce cycle time.</a:t>
            </a:r>
          </a:p>
        </p:txBody>
      </p:sp>
      <p:sp>
        <p:nvSpPr>
          <p:cNvPr id="6" name="Rectangle 5"/>
          <p:cNvSpPr/>
          <p:nvPr/>
        </p:nvSpPr>
        <p:spPr>
          <a:xfrm>
            <a:off x="274320" y="233153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0468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33289"/>
            <a:ext cx="5486400" cy="548091"/>
          </a:xfrm>
          <a:prstGeom prst="rect">
            <a:avLst/>
          </a:prstGeom>
          <a:noFill/>
        </p:spPr>
        <p:txBody>
          <a:bodyPr wrap="square">
            <a:spAutoFit/>
          </a:bodyPr>
          <a:lstStyle/>
          <a:p>
            <a:pPr>
              <a:defRPr sz="1000">
                <a:solidFill>
                  <a:srgbClr val="333333"/>
                </a:solidFill>
              </a:defRPr>
            </a:pPr>
            <a:r>
              <a:t>Implement a single-piece caliper piston instead of a two-piece design for the front brake assemblies</a:t>
            </a:r>
            <a:br/>
            <a:r>
              <a:t>N/A (Maintains current envelope)</a:t>
            </a:r>
          </a:p>
        </p:txBody>
      </p:sp>
      <p:sp>
        <p:nvSpPr>
          <p:cNvPr id="9" name="Rectangle 8"/>
          <p:cNvSpPr/>
          <p:nvPr/>
        </p:nvSpPr>
        <p:spPr>
          <a:xfrm>
            <a:off x="274320" y="31813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54532"/>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83132"/>
            <a:ext cx="5486400" cy="385145"/>
          </a:xfrm>
          <a:prstGeom prst="rect">
            <a:avLst/>
          </a:prstGeom>
          <a:noFill/>
        </p:spPr>
        <p:txBody>
          <a:bodyPr wrap="square">
            <a:spAutoFit/>
          </a:bodyPr>
          <a:lstStyle/>
          <a:p>
            <a:pPr>
              <a:defRPr sz="1000">
                <a:solidFill>
                  <a:srgbClr val="333333"/>
                </a:solidFill>
              </a:defRPr>
            </a:pPr>
            <a:r>
              <a:t>Est. Saving: INR 400000</a:t>
            </a:r>
            <a:br/>
            <a:r>
              <a:t>CAPEX: TBD</a:t>
            </a:r>
          </a:p>
        </p:txBody>
      </p:sp>
      <p:sp>
        <p:nvSpPr>
          <p:cNvPr id="12" name="Rectangle 11"/>
          <p:cNvSpPr/>
          <p:nvPr/>
        </p:nvSpPr>
        <p:spPr>
          <a:xfrm>
            <a:off x="274320" y="386827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4142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70029"/>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7231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45464"/>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74064"/>
            <a:ext cx="5486400" cy="309615"/>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4.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8.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#9: Optimize the brake pad backing plate thickness by reducing it by 0.5mm, ensuring minimal impact on thermal transfer and structural rigidity.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569488"/>
          </a:xfrm>
          <a:prstGeom prst="rect">
            <a:avLst/>
          </a:prstGeom>
          <a:noFill/>
        </p:spPr>
        <p:txBody>
          <a:bodyPr wrap="square">
            <a:spAutoFit/>
          </a:bodyPr>
          <a:lstStyle/>
          <a:p>
            <a:pPr>
              <a:defRPr sz="1000">
                <a:solidFill>
                  <a:srgbClr val="333333"/>
                </a:solidFill>
              </a:defRPr>
            </a:pPr>
            <a:r>
              <a:t>Technical optimization of Optimize the brake pad backing plate thickness by reducing it by 0.5mm, ensuring minimal impact on thermal transfer and structural rigidity. focusing on material efficiency and process consolidation to reduce cycle time.</a:t>
            </a:r>
          </a:p>
        </p:txBody>
      </p:sp>
      <p:sp>
        <p:nvSpPr>
          <p:cNvPr id="6" name="Rectangle 5"/>
          <p:cNvSpPr/>
          <p:nvPr/>
        </p:nvSpPr>
        <p:spPr>
          <a:xfrm>
            <a:off x="274320" y="230684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80000"/>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8600"/>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06616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39318"/>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67918"/>
            <a:ext cx="5486400" cy="385145"/>
          </a:xfrm>
          <a:prstGeom prst="rect">
            <a:avLst/>
          </a:prstGeom>
          <a:noFill/>
        </p:spPr>
        <p:txBody>
          <a:bodyPr wrap="square">
            <a:spAutoFit/>
          </a:bodyPr>
          <a:lstStyle/>
          <a:p>
            <a:pPr>
              <a:defRPr sz="1000">
                <a:solidFill>
                  <a:srgbClr val="333333"/>
                </a:solidFill>
              </a:defRPr>
            </a:pPr>
            <a:r>
              <a:t>Est. Saving: INR 350000</a:t>
            </a:r>
            <a:br/>
            <a:r>
              <a:t>CAPEX: TBD</a:t>
            </a:r>
          </a:p>
        </p:txBody>
      </p:sp>
      <p:sp>
        <p:nvSpPr>
          <p:cNvPr id="12" name="Rectangle 11"/>
          <p:cNvSpPr/>
          <p:nvPr/>
        </p:nvSpPr>
        <p:spPr>
          <a:xfrm>
            <a:off x="274320" y="375306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826215"/>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054815"/>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85709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930249"/>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158849"/>
            <a:ext cx="5486400" cy="424830"/>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10.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10.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#10: Reduce the number of cooling vanes in the front brake rotors by optimizing airflow channels, without impacting thermal capacity.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549737"/>
          </a:xfrm>
          <a:prstGeom prst="rect">
            <a:avLst/>
          </a:prstGeom>
          <a:noFill/>
        </p:spPr>
        <p:txBody>
          <a:bodyPr wrap="square">
            <a:spAutoFit/>
          </a:bodyPr>
          <a:lstStyle/>
          <a:p>
            <a:pPr>
              <a:defRPr sz="1000">
                <a:solidFill>
                  <a:srgbClr val="333333"/>
                </a:solidFill>
              </a:defRPr>
            </a:pPr>
            <a:r>
              <a:t>Technical optimization of Reduce the number of cooling vanes in the front brake rotors by optimizing airflow channels, without impacting thermal capacity. focusing on material efficiency and process consolidation to reduce cycle time.</a:t>
            </a:r>
          </a:p>
        </p:txBody>
      </p:sp>
      <p:sp>
        <p:nvSpPr>
          <p:cNvPr id="6" name="Rectangle 5"/>
          <p:cNvSpPr/>
          <p:nvPr/>
        </p:nvSpPr>
        <p:spPr>
          <a:xfrm>
            <a:off x="274320" y="187561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94876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77369"/>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63493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708087"/>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936687"/>
            <a:ext cx="5486400" cy="385145"/>
          </a:xfrm>
          <a:prstGeom prst="rect">
            <a:avLst/>
          </a:prstGeom>
          <a:noFill/>
        </p:spPr>
        <p:txBody>
          <a:bodyPr wrap="square">
            <a:spAutoFit/>
          </a:bodyPr>
          <a:lstStyle/>
          <a:p>
            <a:pPr>
              <a:defRPr sz="1000">
                <a:solidFill>
                  <a:srgbClr val="333333"/>
                </a:solidFill>
              </a:defRPr>
            </a:pPr>
            <a:r>
              <a:t>Est. Saving: INR 250000</a:t>
            </a:r>
            <a:br/>
            <a:r>
              <a:t>CAPEX: TBD</a:t>
            </a:r>
          </a:p>
        </p:txBody>
      </p:sp>
      <p:sp>
        <p:nvSpPr>
          <p:cNvPr id="12" name="Rectangle 11"/>
          <p:cNvSpPr/>
          <p:nvPr/>
        </p:nvSpPr>
        <p:spPr>
          <a:xfrm>
            <a:off x="274320" y="332183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94984"/>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623584"/>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42586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99018"/>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727618"/>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21481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76.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87.jpg"/>
          <p:cNvPicPr>
            <a:picLocks noChangeAspect="1"/>
          </p:cNvPicPr>
          <p:nvPr/>
        </p:nvPicPr>
        <p:blipFill>
          <a:blip r:embed="rId3"/>
          <a:stretch>
            <a:fillRect/>
          </a:stretch>
        </p:blipFill>
        <p:spPr>
          <a:xfrm>
            <a:off x="6217920" y="3867912"/>
            <a:ext cx="5699455" cy="2715768"/>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#11: Eliminate the anti-squeal shims on the rear brake pads, provided NVH analysis confirms no significant increase in noise.</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536569"/>
          </a:xfrm>
          <a:prstGeom prst="rect">
            <a:avLst/>
          </a:prstGeom>
          <a:noFill/>
        </p:spPr>
        <p:txBody>
          <a:bodyPr wrap="square">
            <a:spAutoFit/>
          </a:bodyPr>
          <a:lstStyle/>
          <a:p>
            <a:pPr>
              <a:defRPr sz="1000">
                <a:solidFill>
                  <a:srgbClr val="333333"/>
                </a:solidFill>
              </a:defRPr>
            </a:pPr>
            <a:r>
              <a:t>Technical optimization of Eliminate the anti-squeal shims on the rear brake pads, provided NVH analysis confirms no significant increase in noise. focusing on material efficiency and process consolidation to reduce cycle time.</a:t>
            </a:r>
          </a:p>
        </p:txBody>
      </p:sp>
      <p:sp>
        <p:nvSpPr>
          <p:cNvPr id="6" name="Rectangle 5"/>
          <p:cNvSpPr/>
          <p:nvPr/>
        </p:nvSpPr>
        <p:spPr>
          <a:xfrm>
            <a:off x="274320" y="186244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935601"/>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64201"/>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62176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9491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923519"/>
            <a:ext cx="5486400" cy="385145"/>
          </a:xfrm>
          <a:prstGeom prst="rect">
            <a:avLst/>
          </a:prstGeom>
          <a:noFill/>
        </p:spPr>
        <p:txBody>
          <a:bodyPr wrap="square">
            <a:spAutoFit/>
          </a:bodyPr>
          <a:lstStyle/>
          <a:p>
            <a:pPr>
              <a:defRPr sz="1000">
                <a:solidFill>
                  <a:srgbClr val="333333"/>
                </a:solidFill>
              </a:defRPr>
            </a:pPr>
            <a:r>
              <a:t>Est. Saving: INR 100000</a:t>
            </a:r>
            <a:br/>
            <a:r>
              <a:t>CAPEX: TBD</a:t>
            </a:r>
          </a:p>
        </p:txBody>
      </p:sp>
      <p:sp>
        <p:nvSpPr>
          <p:cNvPr id="12" name="Rectangle 11"/>
          <p:cNvSpPr/>
          <p:nvPr/>
        </p:nvSpPr>
        <p:spPr>
          <a:xfrm>
            <a:off x="274320" y="330866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81816"/>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610416"/>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4126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85851"/>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714451"/>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20164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46.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42.jpg"/>
          <p:cNvPicPr>
            <a:picLocks noChangeAspect="1"/>
          </p:cNvPicPr>
          <p:nvPr/>
        </p:nvPicPr>
        <p:blipFill>
          <a:blip r:embed="rId3"/>
          <a:stretch>
            <a:fillRect/>
          </a:stretch>
        </p:blipFill>
        <p:spPr>
          <a:xfrm>
            <a:off x="6217920" y="3867912"/>
            <a:ext cx="5699455" cy="2715768"/>
          </a:xfrm>
          <a:prstGeom prst="rect">
            <a:avLst/>
          </a:prstGeom>
          <a:ln w="12700">
            <a:solidFill>
              <a:srgbClr val="C8C8C8"/>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#12: Substitute the current cast iron brake rotors for the front axle with a higher-grade, thinner, but reinforced grey iron (e.g., GGG40) with a 2mm reduction in nominal thickness.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28741"/>
          </a:xfrm>
          <a:prstGeom prst="rect">
            <a:avLst/>
          </a:prstGeom>
          <a:noFill/>
        </p:spPr>
        <p:txBody>
          <a:bodyPr wrap="square">
            <a:spAutoFit/>
          </a:bodyPr>
          <a:lstStyle/>
          <a:p>
            <a:pPr>
              <a:defRPr sz="1000">
                <a:solidFill>
                  <a:srgbClr val="333333"/>
                </a:solidFill>
              </a:defRPr>
            </a:pPr>
            <a:r>
              <a:t>Technical optimization of Substitute the current cast iron brake rotors for the front axle with a higher-grade, thinner, but reinforced grey iron (e.g., GGG40) with a 2mm reduction in nominal thickness. focusing on material efficiency and process consolidation to reduce cycle time.</a:t>
            </a:r>
          </a:p>
        </p:txBody>
      </p:sp>
      <p:sp>
        <p:nvSpPr>
          <p:cNvPr id="6" name="Rectangle 5"/>
          <p:cNvSpPr/>
          <p:nvPr/>
        </p:nvSpPr>
        <p:spPr>
          <a:xfrm>
            <a:off x="274320" y="23661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3925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67853"/>
            <a:ext cx="5486400" cy="548091"/>
          </a:xfrm>
          <a:prstGeom prst="rect">
            <a:avLst/>
          </a:prstGeom>
          <a:noFill/>
        </p:spPr>
        <p:txBody>
          <a:bodyPr wrap="square">
            <a:spAutoFit/>
          </a:bodyPr>
          <a:lstStyle/>
          <a:p>
            <a:pPr>
              <a:defRPr sz="1000">
                <a:solidFill>
                  <a:srgbClr val="333333"/>
                </a:solidFill>
              </a:defRPr>
            </a:pPr>
            <a:r>
              <a:t>Substitute the current cast iron brake rotors for the front axle with a higher-grade, thinner, but r</a:t>
            </a:r>
            <a:br/>
            <a:r>
              <a:t>N/A (Maintains current envelope)</a:t>
            </a:r>
          </a:p>
        </p:txBody>
      </p:sp>
      <p:sp>
        <p:nvSpPr>
          <p:cNvPr id="9" name="Rectangle 8"/>
          <p:cNvSpPr/>
          <p:nvPr/>
        </p:nvSpPr>
        <p:spPr>
          <a:xfrm>
            <a:off x="274320" y="321594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89096"/>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517696"/>
            <a:ext cx="5486400" cy="385145"/>
          </a:xfrm>
          <a:prstGeom prst="rect">
            <a:avLst/>
          </a:prstGeom>
          <a:noFill/>
        </p:spPr>
        <p:txBody>
          <a:bodyPr wrap="square">
            <a:spAutoFit/>
          </a:bodyPr>
          <a:lstStyle/>
          <a:p>
            <a:pPr>
              <a:defRPr sz="1000">
                <a:solidFill>
                  <a:srgbClr val="333333"/>
                </a:solidFill>
              </a:defRPr>
            </a:pPr>
            <a:r>
              <a:t>Est. Saving: INR 750000</a:t>
            </a:r>
            <a:br/>
            <a:r>
              <a:t>CAPEX: TBD</a:t>
            </a:r>
          </a:p>
        </p:txBody>
      </p:sp>
      <p:sp>
        <p:nvSpPr>
          <p:cNvPr id="12" name="Rectangle 11"/>
          <p:cNvSpPr/>
          <p:nvPr/>
        </p:nvSpPr>
        <p:spPr>
          <a:xfrm>
            <a:off x="274320" y="390284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75994"/>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204594"/>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00687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80028"/>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308628"/>
            <a:ext cx="5486400" cy="275051"/>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0.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04.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291840"/>
          </a:xfrm>
          <a:prstGeom prst="rect">
            <a:avLst/>
          </a:prstGeom>
          <a:noFill/>
        </p:spPr>
        <p:txBody>
          <a:bodyPr wrap="square">
            <a:spAutoFit/>
          </a:bodyPr>
          <a:lstStyle/>
          <a:p>
            <a:pPr>
              <a:defRPr sz="1800" b="1">
                <a:solidFill>
                  <a:srgbClr val="003366"/>
                </a:solidFill>
              </a:defRPr>
            </a:pPr>
            <a:r>
              <a:t>#13: Investigate the feasibility of using advanced HSLA steels with optimized microstructures for brake rotor production, targeting a 15% weight reduction while maintaining or improving thermal performance and wear resistance. This would involve exploring novel heat treatments and alloying compositions to achieve high strength without compromising ductility and fatigue life. The dust shield gauge could be reduced by 10% due to the increased stiffness and strength of the HSLA rotor, indirectly contributing to weight savings and cost reduction.</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566160"/>
            <a:ext cx="5486400" cy="207406"/>
          </a:xfrm>
          <a:prstGeom prst="rect">
            <a:avLst/>
          </a:prstGeom>
          <a:noFill/>
        </p:spPr>
        <p:txBody>
          <a:bodyPr wrap="none">
            <a:spAutoFit/>
          </a:bodyPr>
          <a:lstStyle/>
          <a:p>
            <a:pPr>
              <a:defRPr b="1" sz="998">
                <a:solidFill>
                  <a:srgbClr val="FF6400"/>
                </a:solidFill>
              </a:defRPr>
            </a:pPr>
            <a:r>
              <a:t>TECHNICAL ENGINEERING VIEW</a:t>
            </a:r>
          </a:p>
        </p:txBody>
      </p:sp>
      <p:sp>
        <p:nvSpPr>
          <p:cNvPr id="5" name="TextBox 4"/>
          <p:cNvSpPr txBox="1"/>
          <p:nvPr/>
        </p:nvSpPr>
        <p:spPr>
          <a:xfrm>
            <a:off x="274320" y="3773566"/>
            <a:ext cx="5486400" cy="1118503"/>
          </a:xfrm>
          <a:prstGeom prst="rect">
            <a:avLst/>
          </a:prstGeom>
          <a:noFill/>
        </p:spPr>
        <p:txBody>
          <a:bodyPr wrap="square">
            <a:spAutoFit/>
          </a:bodyPr>
          <a:lstStyle/>
          <a:p>
            <a:pPr>
              <a:defRPr sz="907">
                <a:solidFill>
                  <a:srgbClr val="333333"/>
                </a:solidFill>
              </a:defRPr>
            </a:pPr>
            <a:r>
              <a:t>Technical optimization of Investigate the feasibility of using advanced HSLA steels with optimized microstructures for brake rotor production, targeting a 15% weight reduction while maintaining or improving thermal performance and wear resistance. This would involve exploring novel heat treatments and alloying compositions to achieve high strength without compromising ductility and fatigue life. The dust shield gauge could be reduced by 10% due to the increased stiffness and strength of the HSLA rotor, indirectly contributing to weight savings and cost reduction. focusing on material efficiency and process consolidation to reduce cycle time.</a:t>
            </a:r>
          </a:p>
        </p:txBody>
      </p:sp>
      <p:sp>
        <p:nvSpPr>
          <p:cNvPr id="6" name="Rectangle 5"/>
          <p:cNvSpPr/>
          <p:nvPr/>
        </p:nvSpPr>
        <p:spPr>
          <a:xfrm>
            <a:off x="274320" y="489207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965222"/>
            <a:ext cx="5486400" cy="207406"/>
          </a:xfrm>
          <a:prstGeom prst="rect">
            <a:avLst/>
          </a:prstGeom>
          <a:noFill/>
        </p:spPr>
        <p:txBody>
          <a:bodyPr wrap="none">
            <a:spAutoFit/>
          </a:bodyPr>
          <a:lstStyle/>
          <a:p>
            <a:pPr>
              <a:defRPr b="1" sz="998">
                <a:solidFill>
                  <a:srgbClr val="FF6400"/>
                </a:solidFill>
              </a:defRPr>
            </a:pPr>
            <a:r>
              <a:t>MATERIAL &amp; DIMENSION SWAP</a:t>
            </a:r>
          </a:p>
        </p:txBody>
      </p:sp>
      <p:sp>
        <p:nvSpPr>
          <p:cNvPr id="8" name="TextBox 7"/>
          <p:cNvSpPr txBox="1"/>
          <p:nvPr/>
        </p:nvSpPr>
        <p:spPr>
          <a:xfrm>
            <a:off x="274320" y="5172628"/>
            <a:ext cx="5486400" cy="497278"/>
          </a:xfrm>
          <a:prstGeom prst="rect">
            <a:avLst/>
          </a:prstGeom>
          <a:noFill/>
        </p:spPr>
        <p:txBody>
          <a:bodyPr wrap="square">
            <a:spAutoFit/>
          </a:bodyPr>
          <a:lstStyle/>
          <a:p>
            <a:pPr>
              <a:defRPr sz="907">
                <a:solidFill>
                  <a:srgbClr val="333333"/>
                </a:solidFill>
              </a:defRPr>
            </a:pPr>
            <a:r>
              <a:t>Investigate the feasibility of using advanced HSLA steels with optimized microstructures for brake r</a:t>
            </a:r>
            <a:br/>
            <a:r>
              <a:t>N/A (Maintains current envelope)</a:t>
            </a:r>
          </a:p>
        </p:txBody>
      </p:sp>
      <p:sp>
        <p:nvSpPr>
          <p:cNvPr id="9" name="Rectangle 8"/>
          <p:cNvSpPr/>
          <p:nvPr/>
        </p:nvSpPr>
        <p:spPr>
          <a:xfrm>
            <a:off x="274320" y="566990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743059"/>
            <a:ext cx="5486400" cy="207406"/>
          </a:xfrm>
          <a:prstGeom prst="rect">
            <a:avLst/>
          </a:prstGeom>
          <a:noFill/>
        </p:spPr>
        <p:txBody>
          <a:bodyPr wrap="none">
            <a:spAutoFit/>
          </a:bodyPr>
          <a:lstStyle/>
          <a:p>
            <a:pPr>
              <a:defRPr b="1" sz="998">
                <a:solidFill>
                  <a:srgbClr val="FF6400"/>
                </a:solidFill>
              </a:defRPr>
            </a:pPr>
            <a:r>
              <a:t>FINANCIAL IMPACT</a:t>
            </a:r>
          </a:p>
        </p:txBody>
      </p:sp>
      <p:sp>
        <p:nvSpPr>
          <p:cNvPr id="11" name="TextBox 10"/>
          <p:cNvSpPr txBox="1"/>
          <p:nvPr/>
        </p:nvSpPr>
        <p:spPr>
          <a:xfrm>
            <a:off x="274320" y="5950466"/>
            <a:ext cx="5486400" cy="344958"/>
          </a:xfrm>
          <a:prstGeom prst="rect">
            <a:avLst/>
          </a:prstGeom>
          <a:noFill/>
        </p:spPr>
        <p:txBody>
          <a:bodyPr wrap="square">
            <a:spAutoFit/>
          </a:bodyPr>
          <a:lstStyle/>
          <a:p>
            <a:pPr>
              <a:defRPr sz="907">
                <a:solidFill>
                  <a:srgbClr val="333333"/>
                </a:solidFill>
              </a:defRPr>
            </a:pPr>
            <a:r>
              <a:t>Est. Saving: INR TBD</a:t>
            </a:r>
            <a:br/>
            <a:r>
              <a:t>CAPEX: TBD</a:t>
            </a:r>
          </a:p>
        </p:txBody>
      </p:sp>
      <p:sp>
        <p:nvSpPr>
          <p:cNvPr id="12" name="Rectangle 11"/>
          <p:cNvSpPr/>
          <p:nvPr/>
        </p:nvSpPr>
        <p:spPr>
          <a:xfrm>
            <a:off x="274320" y="629542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2004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56.jpg"/>
          <p:cNvPicPr>
            <a:picLocks noChangeAspect="1"/>
          </p:cNvPicPr>
          <p:nvPr/>
        </p:nvPicPr>
        <p:blipFill>
          <a:blip r:embed="rId2"/>
          <a:stretch>
            <a:fillRect/>
          </a:stretch>
        </p:blipFill>
        <p:spPr>
          <a:xfrm>
            <a:off x="6217920" y="3474720"/>
            <a:ext cx="5699455" cy="1481328"/>
          </a:xfrm>
          <a:prstGeom prst="rect">
            <a:avLst/>
          </a:prstGeom>
          <a:ln w="12700">
            <a:solidFill>
              <a:srgbClr val="C8C8C8"/>
            </a:solidFill>
          </a:ln>
        </p:spPr>
      </p:pic>
      <p:sp>
        <p:nvSpPr>
          <p:cNvPr id="15" name="TextBox 14"/>
          <p:cNvSpPr txBox="1"/>
          <p:nvPr/>
        </p:nvSpPr>
        <p:spPr>
          <a:xfrm>
            <a:off x="6217920" y="48280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6" name="Picture 15" descr="33.jpg"/>
          <p:cNvPicPr>
            <a:picLocks noChangeAspect="1"/>
          </p:cNvPicPr>
          <p:nvPr/>
        </p:nvPicPr>
        <p:blipFill>
          <a:blip r:embed="rId3"/>
          <a:stretch>
            <a:fillRect/>
          </a:stretch>
        </p:blipFill>
        <p:spPr>
          <a:xfrm>
            <a:off x="6217920" y="5102352"/>
            <a:ext cx="5699455" cy="1481328"/>
          </a:xfrm>
          <a:prstGeom prst="rect">
            <a:avLst/>
          </a:prstGeom>
          <a:ln w="12700">
            <a:solidFill>
              <a:srgbClr val="C8C8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703320"/>
          </a:xfrm>
          <a:prstGeom prst="rect">
            <a:avLst/>
          </a:prstGeom>
          <a:noFill/>
        </p:spPr>
        <p:txBody>
          <a:bodyPr wrap="square">
            <a:spAutoFit/>
          </a:bodyPr>
          <a:lstStyle/>
          <a:p>
            <a:pPr>
              <a:defRPr sz="1800" b="1">
                <a:solidFill>
                  <a:srgbClr val="003366"/>
                </a:solidFill>
              </a:defRPr>
            </a:pPr>
            <a:r>
              <a:t>#14: Explore the application of thin-wall casting techniques for brake caliper housings using aluminum alloys, aiming for a 20% weight reduction compared to current cast iron calipers. This would necessitate detailed FEA to ensure structural integrity under braking loads and thermal management. The focus will be on optimizing the casting process to achieve uniform wall thickness and high surface finish, potentially reducing machining operations. The tooling CAPEX constraint will be addressed by evaluating existing casting facilities and incremental upgrades rather than complete retooling.</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977639"/>
            <a:ext cx="5486400" cy="175052"/>
          </a:xfrm>
          <a:prstGeom prst="rect">
            <a:avLst/>
          </a:prstGeom>
          <a:noFill/>
        </p:spPr>
        <p:txBody>
          <a:bodyPr wrap="none">
            <a:spAutoFit/>
          </a:bodyPr>
          <a:lstStyle/>
          <a:p>
            <a:pPr>
              <a:defRPr b="1" sz="842">
                <a:solidFill>
                  <a:srgbClr val="FF6400"/>
                </a:solidFill>
              </a:defRPr>
            </a:pPr>
            <a:r>
              <a:t>TECHNICAL ENGINEERING VIEW</a:t>
            </a:r>
          </a:p>
        </p:txBody>
      </p:sp>
      <p:sp>
        <p:nvSpPr>
          <p:cNvPr id="5" name="TextBox 4"/>
          <p:cNvSpPr txBox="1"/>
          <p:nvPr/>
        </p:nvSpPr>
        <p:spPr>
          <a:xfrm>
            <a:off x="274320" y="4152692"/>
            <a:ext cx="5486400" cy="1003260"/>
          </a:xfrm>
          <a:prstGeom prst="rect">
            <a:avLst/>
          </a:prstGeom>
          <a:noFill/>
        </p:spPr>
        <p:txBody>
          <a:bodyPr wrap="square">
            <a:spAutoFit/>
          </a:bodyPr>
          <a:lstStyle/>
          <a:p>
            <a:pPr>
              <a:defRPr sz="765">
                <a:solidFill>
                  <a:srgbClr val="333333"/>
                </a:solidFill>
              </a:defRPr>
            </a:pPr>
            <a:r>
              <a:t>Technical optimization of Explore the application of thin-wall casting techniques for brake caliper housings using aluminum alloys, aiming for a 20% weight reduction compared to current cast iron calipers. This would necessitate detailed FEA to ensure structural integrity under braking loads and thermal management. The focus will be on optimizing the casting process to achieve uniform wall thickness and high surface finish, potentially reducing machining operations. The tooling CAPEX constraint will be addressed by evaluating existing casting facilities and incremental upgrades rather than complete retooling. focusing on material efficiency and process consolidation to reduce cycle time.</a:t>
            </a:r>
          </a:p>
        </p:txBody>
      </p:sp>
      <p:sp>
        <p:nvSpPr>
          <p:cNvPr id="6" name="Rectangle 5"/>
          <p:cNvSpPr/>
          <p:nvPr/>
        </p:nvSpPr>
        <p:spPr>
          <a:xfrm>
            <a:off x="274320" y="515595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229104"/>
            <a:ext cx="5486400" cy="175052"/>
          </a:xfrm>
          <a:prstGeom prst="rect">
            <a:avLst/>
          </a:prstGeom>
          <a:noFill/>
        </p:spPr>
        <p:txBody>
          <a:bodyPr wrap="none">
            <a:spAutoFit/>
          </a:bodyPr>
          <a:lstStyle/>
          <a:p>
            <a:pPr>
              <a:defRPr b="1" sz="842">
                <a:solidFill>
                  <a:srgbClr val="FF6400"/>
                </a:solidFill>
              </a:defRPr>
            </a:pPr>
            <a:r>
              <a:t>MATERIAL &amp; DIMENSION SWAP</a:t>
            </a:r>
          </a:p>
        </p:txBody>
      </p:sp>
      <p:sp>
        <p:nvSpPr>
          <p:cNvPr id="8" name="TextBox 7"/>
          <p:cNvSpPr txBox="1"/>
          <p:nvPr/>
        </p:nvSpPr>
        <p:spPr>
          <a:xfrm>
            <a:off x="274320" y="5404157"/>
            <a:ext cx="5486400" cy="419705"/>
          </a:xfrm>
          <a:prstGeom prst="rect">
            <a:avLst/>
          </a:prstGeom>
          <a:noFill/>
        </p:spPr>
        <p:txBody>
          <a:bodyPr wrap="square">
            <a:spAutoFit/>
          </a:bodyPr>
          <a:lstStyle/>
          <a:p>
            <a:pPr>
              <a:defRPr sz="765">
                <a:solidFill>
                  <a:srgbClr val="333333"/>
                </a:solidFill>
              </a:defRPr>
            </a:pPr>
            <a:r>
              <a:t>Explore the application of thin-wall casting techniques for brake caliper housings using aluminum al</a:t>
            </a:r>
            <a:br/>
            <a:r>
              <a:t>N/A (Maintains current envelope)</a:t>
            </a:r>
          </a:p>
        </p:txBody>
      </p:sp>
      <p:sp>
        <p:nvSpPr>
          <p:cNvPr id="9" name="Rectangle 8"/>
          <p:cNvSpPr/>
          <p:nvPr/>
        </p:nvSpPr>
        <p:spPr>
          <a:xfrm>
            <a:off x="274320" y="582386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897014"/>
            <a:ext cx="5486400" cy="175052"/>
          </a:xfrm>
          <a:prstGeom prst="rect">
            <a:avLst/>
          </a:prstGeom>
          <a:noFill/>
        </p:spPr>
        <p:txBody>
          <a:bodyPr wrap="none">
            <a:spAutoFit/>
          </a:bodyPr>
          <a:lstStyle/>
          <a:p>
            <a:pPr>
              <a:defRPr b="1" sz="842">
                <a:solidFill>
                  <a:srgbClr val="FF6400"/>
                </a:solidFill>
              </a:defRPr>
            </a:pPr>
            <a:r>
              <a:t>FINANCIAL IMPACT</a:t>
            </a:r>
          </a:p>
        </p:txBody>
      </p:sp>
      <p:sp>
        <p:nvSpPr>
          <p:cNvPr id="11" name="TextBox 10"/>
          <p:cNvSpPr txBox="1"/>
          <p:nvPr/>
        </p:nvSpPr>
        <p:spPr>
          <a:xfrm>
            <a:off x="274320" y="6072067"/>
            <a:ext cx="5486400" cy="291147"/>
          </a:xfrm>
          <a:prstGeom prst="rect">
            <a:avLst/>
          </a:prstGeom>
          <a:noFill/>
        </p:spPr>
        <p:txBody>
          <a:bodyPr wrap="square">
            <a:spAutoFit/>
          </a:bodyPr>
          <a:lstStyle/>
          <a:p>
            <a:pPr>
              <a:defRPr sz="765">
                <a:solidFill>
                  <a:srgbClr val="333333"/>
                </a:solidFill>
              </a:defRPr>
            </a:pPr>
            <a:r>
              <a:t>Est. Saving: INR TBD</a:t>
            </a:r>
            <a:br/>
            <a:r>
              <a:t>CAPEX: TBD</a:t>
            </a:r>
          </a:p>
        </p:txBody>
      </p:sp>
      <p:sp>
        <p:nvSpPr>
          <p:cNvPr id="12" name="Rectangle 11"/>
          <p:cNvSpPr/>
          <p:nvPr/>
        </p:nvSpPr>
        <p:spPr>
          <a:xfrm>
            <a:off x="274320" y="636321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6118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18.jpg"/>
          <p:cNvPicPr>
            <a:picLocks noChangeAspect="1"/>
          </p:cNvPicPr>
          <p:nvPr/>
        </p:nvPicPr>
        <p:blipFill>
          <a:blip r:embed="rId2"/>
          <a:stretch>
            <a:fillRect/>
          </a:stretch>
        </p:blipFill>
        <p:spPr>
          <a:xfrm>
            <a:off x="6217920" y="3886200"/>
            <a:ext cx="5699455" cy="1275588"/>
          </a:xfrm>
          <a:prstGeom prst="rect">
            <a:avLst/>
          </a:prstGeom>
          <a:ln w="12700">
            <a:solidFill>
              <a:srgbClr val="C8C8C8"/>
            </a:solidFill>
          </a:ln>
        </p:spPr>
      </p:pic>
      <p:sp>
        <p:nvSpPr>
          <p:cNvPr id="15" name="TextBox 14"/>
          <p:cNvSpPr txBox="1"/>
          <p:nvPr/>
        </p:nvSpPr>
        <p:spPr>
          <a:xfrm>
            <a:off x="6217920" y="503377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6" name="Picture 15" descr="170.jpg"/>
          <p:cNvPicPr>
            <a:picLocks noChangeAspect="1"/>
          </p:cNvPicPr>
          <p:nvPr/>
        </p:nvPicPr>
        <p:blipFill>
          <a:blip r:embed="rId3"/>
          <a:stretch>
            <a:fillRect/>
          </a:stretch>
        </p:blipFill>
        <p:spPr>
          <a:xfrm>
            <a:off x="6217920" y="5308092"/>
            <a:ext cx="5699455" cy="1275588"/>
          </a:xfrm>
          <a:prstGeom prst="rect">
            <a:avLst/>
          </a:prstGeom>
          <a:ln w="12700">
            <a:solidFill>
              <a:srgbClr val="C8C8C8"/>
            </a:solid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291840"/>
          </a:xfrm>
          <a:prstGeom prst="rect">
            <a:avLst/>
          </a:prstGeom>
          <a:noFill/>
        </p:spPr>
        <p:txBody>
          <a:bodyPr wrap="square">
            <a:spAutoFit/>
          </a:bodyPr>
          <a:lstStyle/>
          <a:p>
            <a:pPr>
              <a:defRPr sz="1800" b="1">
                <a:solidFill>
                  <a:srgbClr val="003366"/>
                </a:solidFill>
              </a:defRPr>
            </a:pPr>
            <a:r>
              <a:t>#15: Develop a novel friction material formulation for brake pads that incorporates advanced ceramic composites and optimized binder systems. The goal is to achieve a 10% improvement in fade resistance and a 15% increase in wear life, while maintaining a consistent friction coefficient across a wide temperature range. This addresses the high kinetic energy of the MG Hector and its C-SUV segment requirements. The dust shield gauge can be indirectly maintained or slightly optimized due to the improved pad longevity and reduced particle generation.</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566160"/>
            <a:ext cx="5486400" cy="207099"/>
          </a:xfrm>
          <a:prstGeom prst="rect">
            <a:avLst/>
          </a:prstGeom>
          <a:noFill/>
        </p:spPr>
        <p:txBody>
          <a:bodyPr wrap="none">
            <a:spAutoFit/>
          </a:bodyPr>
          <a:lstStyle/>
          <a:p>
            <a:pPr>
              <a:defRPr b="1" sz="996">
                <a:solidFill>
                  <a:srgbClr val="FF6400"/>
                </a:solidFill>
              </a:defRPr>
            </a:pPr>
            <a:r>
              <a:t>TECHNICAL ENGINEERING VIEW</a:t>
            </a:r>
          </a:p>
        </p:txBody>
      </p:sp>
      <p:sp>
        <p:nvSpPr>
          <p:cNvPr id="5" name="TextBox 4"/>
          <p:cNvSpPr txBox="1"/>
          <p:nvPr/>
        </p:nvSpPr>
        <p:spPr>
          <a:xfrm>
            <a:off x="274320" y="3773259"/>
            <a:ext cx="5486400" cy="1121318"/>
          </a:xfrm>
          <a:prstGeom prst="rect">
            <a:avLst/>
          </a:prstGeom>
          <a:noFill/>
        </p:spPr>
        <p:txBody>
          <a:bodyPr wrap="square">
            <a:spAutoFit/>
          </a:bodyPr>
          <a:lstStyle/>
          <a:p>
            <a:pPr>
              <a:defRPr sz="905">
                <a:solidFill>
                  <a:srgbClr val="333333"/>
                </a:solidFill>
              </a:defRPr>
            </a:pPr>
            <a:r>
              <a:t>Technical optimization of Develop a novel friction material formulation for brake pads that incorporates advanced ceramic composites and optimized binder systems. The goal is to achieve a 10% improvement in fade resistance and a 15% increase in wear life, while maintaining a consistent friction coefficient across a wide temperature range. This addresses the high kinetic energy of the MG Hector and its C-SUV segment requirements. The dust shield gauge can be indirectly maintained or slightly optimized due to the improved pad longevity and reduced particle generation. focusing on material efficiency and process consolidation to reduce cycle time.</a:t>
            </a:r>
          </a:p>
        </p:txBody>
      </p:sp>
      <p:sp>
        <p:nvSpPr>
          <p:cNvPr id="6" name="Rectangle 5"/>
          <p:cNvSpPr/>
          <p:nvPr/>
        </p:nvSpPr>
        <p:spPr>
          <a:xfrm>
            <a:off x="274320" y="489457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967729"/>
            <a:ext cx="5486400" cy="207099"/>
          </a:xfrm>
          <a:prstGeom prst="rect">
            <a:avLst/>
          </a:prstGeom>
          <a:noFill/>
        </p:spPr>
        <p:txBody>
          <a:bodyPr wrap="none">
            <a:spAutoFit/>
          </a:bodyPr>
          <a:lstStyle/>
          <a:p>
            <a:pPr>
              <a:defRPr b="1" sz="996">
                <a:solidFill>
                  <a:srgbClr val="FF6400"/>
                </a:solidFill>
              </a:defRPr>
            </a:pPr>
            <a:r>
              <a:t>MATERIAL &amp; DIMENSION SWAP</a:t>
            </a:r>
          </a:p>
        </p:txBody>
      </p:sp>
      <p:sp>
        <p:nvSpPr>
          <p:cNvPr id="8" name="TextBox 7"/>
          <p:cNvSpPr txBox="1"/>
          <p:nvPr/>
        </p:nvSpPr>
        <p:spPr>
          <a:xfrm>
            <a:off x="274320" y="5174829"/>
            <a:ext cx="5486400" cy="496541"/>
          </a:xfrm>
          <a:prstGeom prst="rect">
            <a:avLst/>
          </a:prstGeom>
          <a:noFill/>
        </p:spPr>
        <p:txBody>
          <a:bodyPr wrap="square">
            <a:spAutoFit/>
          </a:bodyPr>
          <a:lstStyle/>
          <a:p>
            <a:pPr>
              <a:defRPr sz="905">
                <a:solidFill>
                  <a:srgbClr val="333333"/>
                </a:solidFill>
              </a:defRPr>
            </a:pPr>
            <a:r>
              <a:t>Develop a novel friction material formulation for brake pads that incorporates advanced ceramic comp</a:t>
            </a:r>
            <a:br/>
            <a:r>
              <a:t>N/A (Maintains current envelope)</a:t>
            </a:r>
          </a:p>
        </p:txBody>
      </p:sp>
      <p:sp>
        <p:nvSpPr>
          <p:cNvPr id="9" name="Rectangle 8"/>
          <p:cNvSpPr/>
          <p:nvPr/>
        </p:nvSpPr>
        <p:spPr>
          <a:xfrm>
            <a:off x="274320" y="567137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744522"/>
            <a:ext cx="5486400" cy="207099"/>
          </a:xfrm>
          <a:prstGeom prst="rect">
            <a:avLst/>
          </a:prstGeom>
          <a:noFill/>
        </p:spPr>
        <p:txBody>
          <a:bodyPr wrap="none">
            <a:spAutoFit/>
          </a:bodyPr>
          <a:lstStyle/>
          <a:p>
            <a:pPr>
              <a:defRPr b="1" sz="996">
                <a:solidFill>
                  <a:srgbClr val="FF6400"/>
                </a:solidFill>
              </a:defRPr>
            </a:pPr>
            <a:r>
              <a:t>FINANCIAL IMPACT</a:t>
            </a:r>
          </a:p>
        </p:txBody>
      </p:sp>
      <p:sp>
        <p:nvSpPr>
          <p:cNvPr id="11" name="TextBox 10"/>
          <p:cNvSpPr txBox="1"/>
          <p:nvPr/>
        </p:nvSpPr>
        <p:spPr>
          <a:xfrm>
            <a:off x="274320" y="5951621"/>
            <a:ext cx="5486400" cy="344447"/>
          </a:xfrm>
          <a:prstGeom prst="rect">
            <a:avLst/>
          </a:prstGeom>
          <a:noFill/>
        </p:spPr>
        <p:txBody>
          <a:bodyPr wrap="square">
            <a:spAutoFit/>
          </a:bodyPr>
          <a:lstStyle/>
          <a:p>
            <a:pPr>
              <a:defRPr sz="905">
                <a:solidFill>
                  <a:srgbClr val="333333"/>
                </a:solidFill>
              </a:defRPr>
            </a:pPr>
            <a:r>
              <a:t>Est. Saving: INR TBD</a:t>
            </a:r>
            <a:br/>
            <a:r>
              <a:t>CAPEX: TBD</a:t>
            </a:r>
          </a:p>
        </p:txBody>
      </p:sp>
      <p:sp>
        <p:nvSpPr>
          <p:cNvPr id="12" name="Rectangle 11"/>
          <p:cNvSpPr/>
          <p:nvPr/>
        </p:nvSpPr>
        <p:spPr>
          <a:xfrm>
            <a:off x="274320" y="629606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2004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118.jpg"/>
          <p:cNvPicPr>
            <a:picLocks noChangeAspect="1"/>
          </p:cNvPicPr>
          <p:nvPr/>
        </p:nvPicPr>
        <p:blipFill>
          <a:blip r:embed="rId2"/>
          <a:stretch>
            <a:fillRect/>
          </a:stretch>
        </p:blipFill>
        <p:spPr>
          <a:xfrm>
            <a:off x="6217920" y="3474720"/>
            <a:ext cx="5699455" cy="1481328"/>
          </a:xfrm>
          <a:prstGeom prst="rect">
            <a:avLst/>
          </a:prstGeom>
          <a:ln w="12700">
            <a:solidFill>
              <a:srgbClr val="C8C8C8"/>
            </a:solidFill>
          </a:ln>
        </p:spPr>
      </p:pic>
      <p:sp>
        <p:nvSpPr>
          <p:cNvPr id="15" name="TextBox 14"/>
          <p:cNvSpPr txBox="1"/>
          <p:nvPr/>
        </p:nvSpPr>
        <p:spPr>
          <a:xfrm>
            <a:off x="6217920" y="48280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6" name="Picture 15" descr="125.jpg"/>
          <p:cNvPicPr>
            <a:picLocks noChangeAspect="1"/>
          </p:cNvPicPr>
          <p:nvPr/>
        </p:nvPicPr>
        <p:blipFill>
          <a:blip r:embed="rId3"/>
          <a:stretch>
            <a:fillRect/>
          </a:stretch>
        </p:blipFill>
        <p:spPr>
          <a:xfrm>
            <a:off x="6217920" y="5102352"/>
            <a:ext cx="5699455" cy="1481328"/>
          </a:xfrm>
          <a:prstGeom prst="rect">
            <a:avLst/>
          </a:prstGeom>
          <a:ln w="12700">
            <a:solidFill>
              <a:srgbClr val="C8C8C8"/>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4526280"/>
          </a:xfrm>
          <a:prstGeom prst="rect">
            <a:avLst/>
          </a:prstGeom>
          <a:noFill/>
        </p:spPr>
        <p:txBody>
          <a:bodyPr wrap="square">
            <a:spAutoFit/>
          </a:bodyPr>
          <a:lstStyle/>
          <a:p>
            <a:pPr>
              <a:defRPr sz="1800" b="1">
                <a:solidFill>
                  <a:srgbClr val="003366"/>
                </a:solidFill>
              </a:defRPr>
            </a:pPr>
            <a:r>
              <a:t>#16: Implement a predictive maintenance strategy for brake assemblies using integrated sensor technology (e.g., embedded temperature and wear sensors) coupled with machine learning algorithms. This 'smart braking' system would monitor brake pad wear and rotor temperature in real-time, alerting the driver or service center when maintenance is due. This is an 'Industry Trend' that can be adapted to the MG Hector to optimize service intervals and prevent premature component failure, indirectly contributing to cost reduction through proactive maintenance. The existing rotor thickness and caliper material on the MG Hector would be monitored, with potential for future optimization based on accumulated data.</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4800600"/>
            <a:ext cx="5486400" cy="137160"/>
          </a:xfrm>
          <a:prstGeom prst="rect">
            <a:avLst/>
          </a:prstGeom>
          <a:noFill/>
        </p:spPr>
        <p:txBody>
          <a:bodyPr wrap="none">
            <a:spAutoFit/>
          </a:bodyPr>
          <a:lstStyle/>
          <a:p>
            <a:pPr>
              <a:defRPr b="1" sz="660">
                <a:solidFill>
                  <a:srgbClr val="FF6400"/>
                </a:solidFill>
              </a:defRPr>
            </a:pPr>
            <a:r>
              <a:t>TECHNICAL ENGINEERING VIEW</a:t>
            </a:r>
          </a:p>
        </p:txBody>
      </p:sp>
      <p:sp>
        <p:nvSpPr>
          <p:cNvPr id="5" name="TextBox 4"/>
          <p:cNvSpPr txBox="1"/>
          <p:nvPr/>
        </p:nvSpPr>
        <p:spPr>
          <a:xfrm>
            <a:off x="274320" y="4937760"/>
            <a:ext cx="5486400" cy="899659"/>
          </a:xfrm>
          <a:prstGeom prst="rect">
            <a:avLst/>
          </a:prstGeom>
          <a:noFill/>
        </p:spPr>
        <p:txBody>
          <a:bodyPr wrap="square">
            <a:spAutoFit/>
          </a:bodyPr>
          <a:lstStyle/>
          <a:p>
            <a:pPr>
              <a:defRPr sz="600">
                <a:solidFill>
                  <a:srgbClr val="333333"/>
                </a:solidFill>
              </a:defRPr>
            </a:pPr>
            <a:r>
              <a:t>Technical optimization of Implement a predictive maintenance strategy for brake assemblies using integrated sensor technology (e.g., embedded temperature and wear sensors) coupled with machine learning algorithms. This 'smart braking' system would monitor brake pad wear and rotor temperature in real-time, alerting the driver or service center when maintenance is due. This is an 'Industry Trend' that can be adapted to the MG Hector to optimize service intervals and prevent premature component failure, indirectly contributing to cost reduction through proactive maintenance. The existing rotor thickness and caliper material on the MG Hector would be monitored, with potential for future optimization based on accumulated data. focusing on material efficiency and process consolidation to reduce cycle time.</a:t>
            </a:r>
          </a:p>
        </p:txBody>
      </p:sp>
      <p:sp>
        <p:nvSpPr>
          <p:cNvPr id="6" name="Rectangle 5"/>
          <p:cNvSpPr/>
          <p:nvPr/>
        </p:nvSpPr>
        <p:spPr>
          <a:xfrm>
            <a:off x="274320" y="583741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910571"/>
            <a:ext cx="5486400" cy="137160"/>
          </a:xfrm>
          <a:prstGeom prst="rect">
            <a:avLst/>
          </a:prstGeom>
          <a:noFill/>
        </p:spPr>
        <p:txBody>
          <a:bodyPr wrap="none">
            <a:spAutoFit/>
          </a:bodyPr>
          <a:lstStyle/>
          <a:p>
            <a:pPr>
              <a:defRPr b="1" sz="660">
                <a:solidFill>
                  <a:srgbClr val="FF6400"/>
                </a:solidFill>
              </a:defRPr>
            </a:pPr>
            <a:r>
              <a:t>MATERIAL &amp; DIMENSION SWAP</a:t>
            </a:r>
          </a:p>
        </p:txBody>
      </p:sp>
      <p:sp>
        <p:nvSpPr>
          <p:cNvPr id="8" name="TextBox 7"/>
          <p:cNvSpPr txBox="1"/>
          <p:nvPr/>
        </p:nvSpPr>
        <p:spPr>
          <a:xfrm>
            <a:off x="274320" y="6047731"/>
            <a:ext cx="5486400" cy="328854"/>
          </a:xfrm>
          <a:prstGeom prst="rect">
            <a:avLst/>
          </a:prstGeom>
          <a:noFill/>
        </p:spPr>
        <p:txBody>
          <a:bodyPr wrap="square">
            <a:spAutoFit/>
          </a:bodyPr>
          <a:lstStyle/>
          <a:p>
            <a:pPr>
              <a:defRPr sz="600">
                <a:solidFill>
                  <a:srgbClr val="333333"/>
                </a:solidFill>
              </a:defRPr>
            </a:pPr>
            <a:r>
              <a:t>The existing rotor thickness and caliper material on the MG Hector would be monitored, with potentia</a:t>
            </a:r>
            <a:br/>
            <a:r>
              <a:t>N/A (Maintains current envelope)</a:t>
            </a:r>
          </a:p>
        </p:txBody>
      </p:sp>
      <p:sp>
        <p:nvSpPr>
          <p:cNvPr id="9" name="Rectangle 8"/>
          <p:cNvSpPr/>
          <p:nvPr/>
        </p:nvSpPr>
        <p:spPr>
          <a:xfrm>
            <a:off x="274320" y="637658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4434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1" name="Picture 10" descr="212.jpg"/>
          <p:cNvPicPr>
            <a:picLocks noChangeAspect="1"/>
          </p:cNvPicPr>
          <p:nvPr/>
        </p:nvPicPr>
        <p:blipFill>
          <a:blip r:embed="rId2"/>
          <a:stretch>
            <a:fillRect/>
          </a:stretch>
        </p:blipFill>
        <p:spPr>
          <a:xfrm>
            <a:off x="6217920" y="4709160"/>
            <a:ext cx="5699455" cy="864108"/>
          </a:xfrm>
          <a:prstGeom prst="rect">
            <a:avLst/>
          </a:prstGeom>
          <a:ln w="12700">
            <a:solidFill>
              <a:srgbClr val="C8C8C8"/>
            </a:solidFill>
          </a:ln>
        </p:spPr>
      </p:pic>
      <p:sp>
        <p:nvSpPr>
          <p:cNvPr id="12" name="TextBox 11"/>
          <p:cNvSpPr txBox="1"/>
          <p:nvPr/>
        </p:nvSpPr>
        <p:spPr>
          <a:xfrm>
            <a:off x="6217920" y="544525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3" name="Picture 12" descr="28.jpg"/>
          <p:cNvPicPr>
            <a:picLocks noChangeAspect="1"/>
          </p:cNvPicPr>
          <p:nvPr/>
        </p:nvPicPr>
        <p:blipFill>
          <a:blip r:embed="rId3"/>
          <a:stretch>
            <a:fillRect/>
          </a:stretch>
        </p:blipFill>
        <p:spPr>
          <a:xfrm>
            <a:off x="6217920" y="5719572"/>
            <a:ext cx="5699455" cy="864108"/>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
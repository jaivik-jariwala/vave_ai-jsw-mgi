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2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image" Target="../media/image2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2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image" Target="../media/image2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image" Target="../media/image30.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a:solidFill>
                  <a:srgbClr val="003366"/>
                </a:solidFill>
              </a:defRPr>
            </a:pPr>
            <a:r>
              <a:t>VAVE Cost Reduction Strategy</a:t>
            </a:r>
          </a:p>
        </p:txBody>
      </p:sp>
      <p:sp>
        <p:nvSpPr>
          <p:cNvPr id="3" name="Subtitle 2"/>
          <p:cNvSpPr>
            <a:spLocks noGrp="1"/>
          </p:cNvSpPr>
          <p:nvPr>
            <p:ph type="subTitle" idx="1"/>
          </p:nvPr>
        </p:nvSpPr>
        <p:spPr/>
        <p:txBody>
          <a:bodyPr wrap="square"/>
          <a:lstStyle/>
          <a:p>
            <a:r>
              <a:t>Detailed Engineering Feasibility Report | 03-Feb-2026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365760" y="411480"/>
          <a:ext cx="11460175" cy="6263640"/>
        </p:xfrm>
        <a:graphic>
          <a:graphicData uri="http://schemas.openxmlformats.org/drawingml/2006/table">
            <a:tbl>
              <a:tblPr firstRow="1" bandRow="1">
                <a:tableStyleId>{5C22544A-7EE6-4342-B048-85BDC9FD1C3A}</a:tableStyleId>
              </a:tblPr>
              <a:tblGrid>
                <a:gridCol w="1273352"/>
                <a:gridCol w="1273352"/>
                <a:gridCol w="1273352"/>
                <a:gridCol w="1273352"/>
                <a:gridCol w="1273352"/>
                <a:gridCol w="1273352"/>
                <a:gridCol w="1273352"/>
                <a:gridCol w="1273352"/>
                <a:gridCol w="1273359"/>
              </a:tblGrid>
              <a:tr h="347980">
                <a:tc>
                  <a:txBody>
                    <a:bodyPr wrap="square"/>
                    <a:lstStyle/>
                    <a:p>
                      <a:pPr>
                        <a:defRPr b="1" sz="900">
                          <a:solidFill>
                            <a:srgbClr val="FFFFFF"/>
                          </a:solidFill>
                        </a:defRPr>
                      </a:pPr>
                      <a:r>
                        <a:t>Idea 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a:t>
                      </a:r>
                    </a:p>
                  </a:txBody>
                  <a:tcPr>
                    <a:solidFill>
                      <a:srgbClr val="003366"/>
                    </a:solidFill>
                  </a:tcPr>
                </a:tc>
                <a:tc>
                  <a:txBody>
                    <a:bodyPr wrap="square"/>
                    <a:lstStyle/>
                    <a:p>
                      <a:pPr>
                        <a:defRPr b="1" sz="900">
                          <a:solidFill>
                            <a:srgbClr val="FFFFFF"/>
                          </a:solidFill>
                        </a:defRPr>
                      </a:pPr>
                      <a:r>
                        <a:t>Saving</a:t>
                      </a:r>
                    </a:p>
                  </a:txBody>
                  <a:tcPr>
                    <a:solidFill>
                      <a:srgbClr val="003366"/>
                    </a:solidFill>
                  </a:tcPr>
                </a:tc>
                <a:tc>
                  <a:txBody>
                    <a:bodyPr wrap="square"/>
                    <a:lstStyle/>
                    <a:p>
                      <a:pPr>
                        <a:defRPr b="1" sz="900">
                          <a:solidFill>
                            <a:srgbClr val="FFFFFF"/>
                          </a:solidFill>
                        </a:defRPr>
                      </a:pPr>
                      <a:r>
                        <a:t>Yearly volume (per 1 lakh)</a:t>
                      </a:r>
                    </a:p>
                  </a:txBody>
                  <a:tcPr>
                    <a:solidFill>
                      <a:srgbClr val="003366"/>
                    </a:solidFill>
                  </a:tcPr>
                </a:tc>
                <a:tc>
                  <a:txBody>
                    <a:bodyPr wrap="square"/>
                    <a:lstStyle/>
                    <a:p>
                      <a:pPr>
                        <a:defRPr b="1" sz="900">
                          <a:solidFill>
                            <a:srgbClr val="FFFFFF"/>
                          </a:solidFill>
                        </a:defRPr>
                      </a:pPr>
                      <a:r>
                        <a:t>Saving overall (Saving × Volume)</a:t>
                      </a:r>
                    </a:p>
                  </a:txBody>
                  <a:tcPr>
                    <a:solidFill>
                      <a:srgbClr val="003366"/>
                    </a:solidFill>
                  </a:tcPr>
                </a:tc>
                <a:tc>
                  <a:txBody>
                    <a:bodyPr wrap="square"/>
                    <a:lstStyle/>
                    <a:p>
                      <a:pPr>
                        <a:defRPr b="1" sz="900">
                          <a:solidFill>
                            <a:srgbClr val="FFFFFF"/>
                          </a:solidFill>
                        </a:defRPr>
                      </a:pPr>
                      <a:r>
                        <a:t>Status (Accept/Reject)</a:t>
                      </a:r>
                    </a:p>
                  </a:txBody>
                  <a:tcPr>
                    <a:solidFill>
                      <a:srgbClr val="003366"/>
                    </a:solidFill>
                  </a:tcPr>
                </a:tc>
                <a:tc>
                  <a:txBody>
                    <a:bodyPr wrap="square"/>
                    <a:lstStyle/>
                    <a:p>
                      <a:pPr>
                        <a:defRPr b="1" sz="900">
                          <a:solidFill>
                            <a:srgbClr val="FFFFFF"/>
                          </a:solidFill>
                        </a:defRPr>
                      </a:pPr>
                      <a:r>
                        <a:t>Turnaround time</a:t>
                      </a:r>
                    </a:p>
                  </a:txBody>
                  <a:tcPr>
                    <a:solidFill>
                      <a:srgbClr val="003366"/>
                    </a:solidFill>
                  </a:tcPr>
                </a:tc>
                <a:tc>
                  <a:txBody>
                    <a:bodyPr wrap="square"/>
                    <a:lstStyle/>
                    <a:p>
                      <a:pPr>
                        <a:defRPr b="1" sz="900">
                          <a:solidFill>
                            <a:srgbClr val="FFFFFF"/>
                          </a:solidFill>
                        </a:defRPr>
                      </a:pPr>
                      <a:r>
                        <a:t>Required volume yearly</a:t>
                      </a:r>
                    </a:p>
                  </a:txBody>
                  <a:tcPr>
                    <a:solidFill>
                      <a:srgbClr val="003366"/>
                    </a:solidFill>
                  </a:tcPr>
                </a:tc>
              </a:tr>
              <a:tr h="347980">
                <a:tc>
                  <a:txBody>
                    <a:bodyPr wrap="square" lIns="50800" rIns="50800" tIns="25400" bIns="25400"/>
                    <a:lstStyle/>
                    <a:p>
                      <a:pPr>
                        <a:defRPr sz="800">
                          <a:solidFill>
                            <a:srgbClr val="333333"/>
                          </a:solidFill>
                          <a:latin typeface="Calibri"/>
                        </a:defRPr>
                      </a:pPr>
                      <a:r>
                        <a:t>2311-PA-ID-02</a:t>
                      </a:r>
                    </a:p>
                  </a:txBody>
                  <a:tcPr/>
                </a:tc>
                <a:tc>
                  <a:txBody>
                    <a:bodyPr wrap="square" lIns="50800" rIns="50800" tIns="25400" bIns="25400"/>
                    <a:lstStyle/>
                    <a:p>
                      <a:pPr>
                        <a:defRPr sz="800">
                          <a:solidFill>
                            <a:srgbClr val="333333"/>
                          </a:solidFill>
                          <a:latin typeface="Calibri"/>
                        </a:defRPr>
                      </a:pPr>
                      <a:r>
                        <a:t>Redesign the current Brake Pedal Mounting Bracket used in MGI to a similar bracket used in KIA.</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113</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11,300,000</a:t>
                      </a: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2311-BA-ID-01</a:t>
                      </a:r>
                    </a:p>
                  </a:txBody>
                  <a:tcPr/>
                </a:tc>
                <a:tc>
                  <a:txBody>
                    <a:bodyPr wrap="square" lIns="50800" rIns="50800" tIns="25400" bIns="25400"/>
                    <a:lstStyle/>
                    <a:p>
                      <a:pPr>
                        <a:defRPr sz="800">
                          <a:solidFill>
                            <a:srgbClr val="333333"/>
                          </a:solidFill>
                          <a:latin typeface="Calibri"/>
                        </a:defRPr>
                      </a:pPr>
                      <a:r>
                        <a:t>The Brake Booster Plate in MGI could be integrated into the Dashboard BIW of the vehicle as done in KIA</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47</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4,700,000</a:t>
                      </a:r>
                    </a:p>
                  </a:txBody>
                  <a:tcPr/>
                </a:tc>
                <a:tc>
                  <a:txBody>
                    <a:bodyPr wrap="square" lIns="50800" rIns="50800" tIns="25400" bIns="25400"/>
                    <a:lstStyle/>
                    <a:p>
                      <a:pPr>
                        <a:defRPr sz="800">
                          <a:solidFill>
                            <a:srgbClr val="333333"/>
                          </a:solidFill>
                          <a:latin typeface="Calibri"/>
                        </a:defRPr>
                      </a:pPr>
                      <a:r>
                        <a:t>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2311-PA-ID-01</a:t>
                      </a:r>
                    </a:p>
                  </a:txBody>
                  <a:tcPr/>
                </a:tc>
                <a:tc>
                  <a:txBody>
                    <a:bodyPr wrap="square" lIns="50800" rIns="50800" tIns="25400" bIns="25400"/>
                    <a:lstStyle/>
                    <a:p>
                      <a:pPr>
                        <a:defRPr sz="800">
                          <a:solidFill>
                            <a:srgbClr val="333333"/>
                          </a:solidFill>
                          <a:latin typeface="Calibri"/>
                        </a:defRPr>
                      </a:pPr>
                      <a:r>
                        <a:t>Remove the black paint coating on the Brake Pedal Mounting Bracket within MGI</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115</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11,500,000</a:t>
                      </a: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2311-SP-ID-01</a:t>
                      </a:r>
                    </a:p>
                  </a:txBody>
                  <a:tcPr/>
                </a:tc>
                <a:tc>
                  <a:txBody>
                    <a:bodyPr wrap="square" lIns="50800" rIns="50800" tIns="25400" bIns="25400"/>
                    <a:lstStyle/>
                    <a:p>
                      <a:pPr>
                        <a:defRPr sz="800">
                          <a:solidFill>
                            <a:srgbClr val="333333"/>
                          </a:solidFill>
                          <a:latin typeface="Calibri"/>
                        </a:defRPr>
                      </a:pPr>
                      <a:r>
                        <a:t>1. Reduce the overall wall thickness of the Brake Dust Cover Plates present on all four wheel hubs of the vehicles from 1mm to 0.8mm</a:t>
                      </a:r>
                      <a:br/>
                      <a:r>
                        <a:t>2. Reduce the paint coating thickness on each side of all four plates from 56 microns to 27.8 microns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57</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5,700,000</a:t>
                      </a:r>
                    </a:p>
                  </a:txBody>
                  <a:tcPr/>
                </a:tc>
                <a:tc>
                  <a:txBody>
                    <a:bodyPr wrap="square" lIns="50800" rIns="50800" tIns="25400" bIns="25400"/>
                    <a:lstStyle/>
                    <a:p>
                      <a:pPr>
                        <a:defRPr sz="800">
                          <a:solidFill>
                            <a:srgbClr val="333333"/>
                          </a:solidFill>
                          <a:latin typeface="Calibri"/>
                        </a:defRPr>
                      </a:pPr>
                      <a:r>
                        <a:t>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2311-BA-ID-02</a:t>
                      </a:r>
                    </a:p>
                  </a:txBody>
                  <a:tcPr/>
                </a:tc>
                <a:tc>
                  <a:txBody>
                    <a:bodyPr wrap="square" lIns="50800" rIns="50800" tIns="25400" bIns="25400"/>
                    <a:lstStyle/>
                    <a:p>
                      <a:pPr>
                        <a:defRPr sz="800">
                          <a:solidFill>
                            <a:srgbClr val="333333"/>
                          </a:solidFill>
                          <a:latin typeface="Calibri"/>
                        </a:defRPr>
                      </a:pPr>
                      <a:r>
                        <a:t>Remove the black paint coating from the Brake Caliper Mounting Brackets on all four brake assemblies of MGI, following the procedure used for the front brake caliper mounting brackets in KIA.</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102</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10,200,000</a:t>
                      </a:r>
                    </a:p>
                  </a:txBody>
                  <a:tcPr/>
                </a:tc>
                <a:tc>
                  <a:txBody>
                    <a:bodyPr wrap="square" lIns="50800" rIns="50800" tIns="25400" bIns="25400"/>
                    <a:lstStyle/>
                    <a:p>
                      <a:pPr>
                        <a:defRPr sz="800">
                          <a:solidFill>
                            <a:srgbClr val="333333"/>
                          </a:solidFill>
                          <a:latin typeface="Calibri"/>
                        </a:defRPr>
                      </a:pPr>
                      <a:r>
                        <a:t>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AI-GEN-01</a:t>
                      </a:r>
                    </a:p>
                  </a:txBody>
                  <a:tcPr/>
                </a:tc>
                <a:tc>
                  <a:txBody>
                    <a:bodyPr wrap="square" lIns="50800" rIns="50800" tIns="25400" bIns="25400"/>
                    <a:lstStyle/>
                    <a:p>
                      <a:pPr>
                        <a:defRPr sz="800">
                          <a:solidFill>
                            <a:srgbClr val="333333"/>
                          </a:solidFill>
                          <a:latin typeface="Calibri"/>
                        </a:defRPr>
                      </a:pPr>
                      <a:r>
                        <a:t>Replace the current cast iron brake rotors with a lighter, lower-cost grey cast iron (GCI) alloy, specifically targeting a reduction in material density without compromising thermal performance.</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2500000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250,000,000,000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AI-GEN-02</a:t>
                      </a:r>
                    </a:p>
                  </a:txBody>
                  <a:tcPr/>
                </a:tc>
                <a:tc>
                  <a:txBody>
                    <a:bodyPr wrap="square" lIns="50800" rIns="50800" tIns="25400" bIns="25400"/>
                    <a:lstStyle/>
                    <a:p>
                      <a:pPr>
                        <a:defRPr sz="800">
                          <a:solidFill>
                            <a:srgbClr val="333333"/>
                          </a:solidFill>
                          <a:latin typeface="Calibri"/>
                        </a:defRPr>
                      </a:pPr>
                      <a:r>
                        <a:t>Optimize the caliper piston bore diameter and material for the front brake calipers to reduce the overall mass of the caliper assembly while maintaining required clamping force.</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1800000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180,000,000,000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AI-GEN-03</a:t>
                      </a:r>
                    </a:p>
                  </a:txBody>
                  <a:tcPr/>
                </a:tc>
                <a:tc>
                  <a:txBody>
                    <a:bodyPr wrap="square" lIns="50800" rIns="50800" tIns="25400" bIns="25400"/>
                    <a:lstStyle/>
                    <a:p>
                      <a:pPr>
                        <a:defRPr sz="800">
                          <a:solidFill>
                            <a:srgbClr val="333333"/>
                          </a:solidFill>
                          <a:latin typeface="Calibri"/>
                        </a:defRPr>
                      </a:pPr>
                      <a:r>
                        <a:t>Reduce the thickness of the brake dust shield (gauge) for all four wheels, ensuring sufficient clearance and protection from road debris without impacting thermal management.</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1200000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120,000,000,000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AI-GEN-05</a:t>
                      </a:r>
                    </a:p>
                  </a:txBody>
                  <a:tcPr/>
                </a:tc>
                <a:tc>
                  <a:txBody>
                    <a:bodyPr wrap="square" lIns="50800" rIns="50800" tIns="25400" bIns="25400"/>
                    <a:lstStyle/>
                    <a:p>
                      <a:pPr>
                        <a:defRPr sz="800">
                          <a:solidFill>
                            <a:srgbClr val="333333"/>
                          </a:solidFill>
                          <a:latin typeface="Calibri"/>
                        </a:defRPr>
                      </a:pPr>
                      <a:r>
                        <a:t>Simplify the brake caliper mounting bracket design by reducing the number of machining operations and consolidating features, while ensuring structural integrity.</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1500000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150,000,000,000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AI-GEN-06</a:t>
                      </a:r>
                    </a:p>
                  </a:txBody>
                  <a:tcPr/>
                </a:tc>
                <a:tc>
                  <a:txBody>
                    <a:bodyPr wrap="square" lIns="50800" rIns="50800" tIns="25400" bIns="25400"/>
                    <a:lstStyle/>
                    <a:p>
                      <a:pPr>
                        <a:defRPr sz="800">
                          <a:solidFill>
                            <a:srgbClr val="333333"/>
                          </a:solidFill>
                          <a:latin typeface="Calibri"/>
                        </a:defRPr>
                      </a:pPr>
                      <a:r>
                        <a:t>Reduce the wall thickness of the brake rotor hat section, where possible, without compromising its structural integrity or heat dissipation to the hub.</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100,000,000,000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AI-GEN-09</a:t>
                      </a:r>
                    </a:p>
                  </a:txBody>
                  <a:tcPr/>
                </a:tc>
                <a:tc>
                  <a:txBody>
                    <a:bodyPr wrap="square" lIns="50800" rIns="50800" tIns="25400" bIns="25400"/>
                    <a:lstStyle/>
                    <a:p>
                      <a:pPr>
                        <a:defRPr sz="800">
                          <a:solidFill>
                            <a:srgbClr val="333333"/>
                          </a:solidFill>
                          <a:latin typeface="Calibri"/>
                        </a:defRPr>
                      </a:pPr>
                      <a:r>
                        <a:t>Reduce the gauge of the brake caliper housing material, if possible, through enhanced casting techniques or material composition, without compromising structural integrity.</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1600000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160,000,000,000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AI-GEN-12</a:t>
                      </a:r>
                    </a:p>
                  </a:txBody>
                  <a:tcPr/>
                </a:tc>
                <a:tc>
                  <a:txBody>
                    <a:bodyPr wrap="square" lIns="50800" rIns="50800" tIns="25400" bIns="25400"/>
                    <a:lstStyle/>
                    <a:p>
                      <a:pPr>
                        <a:defRPr sz="800">
                          <a:solidFill>
                            <a:srgbClr val="333333"/>
                          </a:solidFill>
                          <a:latin typeface="Calibri"/>
                        </a:defRPr>
                      </a:pPr>
                      <a:r>
                        <a:t>Optimize the design of the brake rotor ventilation vanes for improved cooling efficiency, potentially allowing for a slight reduction in overall rotor mass without sacrificing thermal performance.</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1500000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150,000,000,000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AI-GEN-04</a:t>
                      </a:r>
                    </a:p>
                  </a:txBody>
                  <a:tcPr/>
                </a:tc>
                <a:tc>
                  <a:txBody>
                    <a:bodyPr wrap="square" lIns="50800" rIns="50800" tIns="25400" bIns="25400"/>
                    <a:lstStyle/>
                    <a:p>
                      <a:pPr>
                        <a:defRPr sz="800">
                          <a:solidFill>
                            <a:srgbClr val="333333"/>
                          </a:solidFill>
                          <a:latin typeface="Calibri"/>
                        </a:defRPr>
                      </a:pPr>
                      <a:r>
                        <a:t>Investigate the use of a lower-cost friction material for brake pads that meets or exceeds current performance while maintaining a competitive price point.</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3000000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300,000,000,000</a:t>
                      </a:r>
                    </a:p>
                  </a:txBody>
                  <a:tcPr/>
                </a:tc>
                <a:tc>
                  <a:txBody>
                    <a:bodyPr wrap="square" lIns="50800" rIns="50800" tIns="25400" bIns="25400"/>
                    <a:lstStyle/>
                    <a:p>
                      <a:pPr>
                        <a:defRPr sz="800">
                          <a:solidFill>
                            <a:srgbClr val="333333"/>
                          </a:solidFill>
                          <a:latin typeface="Calibri"/>
                        </a:defRPr>
                      </a:pPr>
                      <a:r>
                        <a:t>Needs Human Review</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Value Engineering for MG Hector Brake Rotor: Focus on Material Optimization and Design Simplification. The study will analyze the current brake rotor material (likely cast iron) and explore alternative, cost-effective materials with comparable thermal mass and friction characteristics. Simultaneously, it will investigate design simplifications to reduce machining time and material waste without compromising performance or regulatory compliance. This includes exploring vented rotor designs that optimize thermal dissipation while potentially reducing material usage compared to solid rotors of equivalent performance. The focus on 'dust shield gauge' from the component focus list will be integrated by assessing if lighter gauge materials can be used without compromising dust protection and durability.</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Research Paper</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Optimized Caliper Material Selection for MG Hector: Exploring High-Strength Aluminum Alloys. This proposal focuses on replacing the current cast iron caliper material with a more advanced, yet cost-effective, high-strength aluminum alloy. The goal is to reduce caliper weight, which contributes to the overall vehicle mass, while maintaining or improving structural integrity and heat dissipation. The 'caliper material' from the component focus list is directly addressed. This initiative will also investigate manufacturing processes suitable for aluminum alloys that are compatible with existing or minimally modified tooling, considering the 'tooling CAPEX limited' constraint. The improved thermal conductivity of aluminum could also indirectly aid in heat management, complementing rotor performance.</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Research Paper</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Enhanced Dust Shield Design for Improved Durability and Cost-Effectiveness on MG Hector. This proposal addresses the 'dust shield gauge' from the component focus list by investigating the use of advanced polymer composites or thinner, high-strength steel alloys for the dust shield. The aim is to reduce material usage and weight while ensuring effective protection against road debris and brake dust, which can impact performance and longevity. The study will focus on designs that optimize airflow for cooling while preventing contaminant ingress. This approach is aligned with cost reduction and value engineering principles, considering the limited tooling CAPEX by exploring designs that can be manufactured using existing stamping or molding processes.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Research Paper</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Industry Trend: Advanced Friction Material Optimization for Extended Brake Life. While a full research paper on novel friction materials might have high R&amp;D and validation costs, the industry trend towards advanced friction compounds (e.g., semi-metallic or low-metallic formulations) offers a pathway for cost reduction through extended service life. For the MG Hector, this would involve selecting off-the-shelf, proven friction materials that offer improved wear resistance and fade resistance compared to standard options, without significantly increasing initial cost. The focus is on achieving a lower Total Cost of Ownership (TCO) by reducing the frequency of brake pad replacements. This indirectly addresses 'friction coeff' and 'fade resistance' from component physics.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Industry Trend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bl>
          </a:graphicData>
        </a:graphic>
      </p:graphicFrame>
      <p:sp>
        <p:nvSpPr>
          <p:cNvPr id="3" name="TextBox 2"/>
          <p:cNvSpPr txBox="1"/>
          <p:nvPr/>
        </p:nvSpPr>
        <p:spPr>
          <a:xfrm>
            <a:off x="365760" y="45720"/>
            <a:ext cx="11460175" cy="320040"/>
          </a:xfrm>
          <a:prstGeom prst="rect">
            <a:avLst/>
          </a:prstGeom>
          <a:noFill/>
        </p:spPr>
        <p:txBody>
          <a:bodyPr wrap="square">
            <a:spAutoFit/>
          </a:bodyPr>
          <a:lstStyle/>
          <a:p>
            <a:pPr>
              <a:defRPr sz="1800" b="1">
                <a:solidFill>
                  <a:srgbClr val="003366"/>
                </a:solidFill>
              </a:defRPr>
            </a:pPr>
            <a:r>
              <a:t>Summary of ideas generated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 Redesign the current Brake Pedal Mounting Bracket used in MGI to a similar bracket used in KIA.</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Redesign the current Brake Pedal Mounting Bracket used in MGI to a similar bracket used in KIA.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113</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3.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designthecu_1770098013017.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#2: The Brake Booster Plate in MGI could be integrated into the Dashboard BIW of the vehicle as done in KIA</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The Brake Booster Plate in MGI could be integrated into the Dashboard BIW of the vehicle as done in KIA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47</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1.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TheBrakeBoost_1770098013338.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#3: Remove the black paint coating on the Brake Pedal Mounting Bracket within MGI</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Remove the black paint coating on the Brake Pedal Mounting Bracket within MGI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115</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2.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movetheblac_1770098013601.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#4: 1. Reduce the overall wall thickness of the Brake Dust Cover Plates present on all four wheel hubs of the vehicles from 1mm to 0.8mm</a:t>
            </a:r>
            <a:br/>
            <a:r>
              <a:t>2. Reduce the paint coating thickness on each side of all four plates from 56 microns to 27.8 microns</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1. Reduce the overall wall thickness of the Brake Dust Cover Plates present on all four wheel hubs of the vehicles from 1mm to 0.8mm</a:t>
            </a:r>
            <a:br>
              <a:rPr sz="1000" b="0" i="0">
                <a:latin typeface="Calibri"/>
              </a:rPr>
            </a:br>
            <a:r>
              <a:rPr sz="1000" b="0" i="0">
                <a:latin typeface="Calibri"/>
              </a:rPr>
              <a:t>2. Reduce the paint coating thickness on each side of all four plates from 56 microns to 27.8 microns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1mm to 0.8mm</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57</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5.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1Reducetheo_1770098013894.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#5: Remove the black paint coating from the Brake Caliper Mounting Brackets on all four brake assemblies of MGI, following the procedure used for the front brake caliper mounting brackets in KIA.</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Remove the black paint coating from the Brake Caliper Mounting Brackets on all four brake assemblies of MGI, following the procedure used for the front brake caliper mounting brackets in KIA.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102</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2.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movetheblac_1770098014025.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#6: Replace the current cast iron brake rotors with a lighter, lower-cost grey cast iron (GCI) alloy, specifically targeting a reduction in material density without compromising thermal performance.</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Replace the current cast iron brake rotors with a lighter, lower-cost grey cast iron (GCI) alloy, specifically targeting a reduction in material density without compromising thermal performance.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Replace the current cast iron brake rotors with a lighter, lower-cost grey cast iron (GCI) alloy, sp</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2500000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2.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placethecur_1770098014239.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#7: Optimize the caliper piston bore diameter and material for the front brake calipers to reduce the overall mass of the caliper assembly while maintaining required clamping force.</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Optimize the caliper piston bore diameter and material for the front brake calipers to reduce the overall mass of the caliper assembly while maintaining required clamping force.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Optimize the caliper piston bore diameter and material for the front brake calipers to reduce the ov</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1800000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3.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Optimizetheca_1770098014487.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#8: Reduce the thickness of the brake dust shield (gauge) for all four wheels, ensuring sufficient clearance and protection from road debris without impacting thermal management.</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Reduce the thickness of the brake dust shield (gauge) for all four wheels, ensuring sufficient clearance and protection from road debris without impacting thermal management.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1200000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5.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ducethethic_1770098014696.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#9: Simplify the brake caliper mounting bracket design by reducing the number of machining operations and consolidating features, while ensuring structural integrity.</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Simplify the brake caliper mounting bracket design by reducing the number of machining operations and consolidating features, while ensuring structural integrity.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1500000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4.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Simplifythebr_1770098014964.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#10: Reduce the wall thickness of the brake rotor hat section, where possible, without compromising its structural integrity or heat dissipation to the hub.</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Reduce the wall thickness of the brake rotor hat section, where possible, without compromising its structural integrity or heat dissipation to the hub.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1000000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6.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ducethewall_1770098015141.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#11: Reduce the gauge of the brake caliper housing material, if possible, through enhanced casting techniques or material composition, without compromising structural integrity.</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Reduce the gauge of the brake caliper housing material, if possible, through enhanced casting techniques or material composition, without compromising structural integrity.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Reduce the gauge of the brake caliper housing material, if possible, through enhanced casting techni</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1600000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11.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ducethegaug_1770098015728.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#12: Optimize the design of the brake rotor ventilation vanes for improved cooling efficiency, potentially allowing for a slight reduction in overall rotor mass without sacrificing thermal performance.</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Optimize the design of the brake rotor ventilation vanes for improved cooling efficiency, potentially allowing for a slight reduction in overall rotor mass without sacrificing thermal performance.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1500000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sp>
        <p:nvSpPr>
          <p:cNvPr id="20" name="Rectangle 19"/>
          <p:cNvSpPr/>
          <p:nvPr/>
        </p:nvSpPr>
        <p:spPr>
          <a:xfrm>
            <a:off x="6035040" y="1143000"/>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sp>
        <p:nvSpPr>
          <p:cNvPr id="22" name="Rectangle 21"/>
          <p:cNvSpPr/>
          <p:nvPr/>
        </p:nvSpPr>
        <p:spPr>
          <a:xfrm>
            <a:off x="6035040" y="3909059"/>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#13: Investigate the use of a lower-cost friction material for brake pads that meets or exceeds current performance while maintaining a competitive price point.</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Investigate the use of a lower-cost friction material for brake pads that meets or exceeds current performance while maintaining a competitive price point.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Investigate the use of a lower-cost friction material for brake pads that meets or exceeds current p</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3000000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sp>
        <p:nvSpPr>
          <p:cNvPr id="20" name="Rectangle 19"/>
          <p:cNvSpPr/>
          <p:nvPr/>
        </p:nvSpPr>
        <p:spPr>
          <a:xfrm>
            <a:off x="6035040" y="1143000"/>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sp>
        <p:nvSpPr>
          <p:cNvPr id="22" name="Rectangle 21"/>
          <p:cNvSpPr/>
          <p:nvPr/>
        </p:nvSpPr>
        <p:spPr>
          <a:xfrm>
            <a:off x="6035040" y="3909059"/>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#14: Value Engineering for MG Hector Brake Rotor: Focus on Material Optimization and Design Simplification. The study will analyze the current brake rotor material (likely cast iron) and explore alternative, cost-effective materials with comparable thermal mass and friction characteristics. Simultaneously, it will investigate design simplifications to reduce machining time and material waste without compromising performance or regulatory compliance. This includes exploring vented rotor designs that optimize thermal dissipation while potentially reducing material usage compared to solid rotors of equivalent performance. The focus on 'dust shield gauge' from the component focus list will be integrated by assessing if lighter gauge materials can be used without compromising dust protection and durability.</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Value Engineering for MG Hector Brake Rotor: Focus on Material Optimization and Design Simplification. The study will analyze the current brake rotor material (likely cast iron) and explore alternative, cost-effective materials with comparable thermal mass and friction characteristics. Simultaneously, it will investigate design simplifications to reduce machining time and material waste without compromising performance or regulatory compliance. This includes explorin...</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Value Engineering for MG Hector Brake Rotor: Focus on Material Optimization and Design Simplificatio</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9.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ValueEngineeri_1770098023992.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#15: Optimized Caliper Material Selection for MG Hector: Exploring High-Strength Aluminum Alloys. This proposal focuses on replacing the current cast iron caliper material with a more advanced, yet cost-effective, high-strength aluminum alloy. The goal is to reduce caliper weight, which contributes to the overall vehicle mass, while maintaining or improving structural integrity and heat dissipation. The 'caliper material' from the component focus list is directly addressed. This initiative will also investigate manufacturing processes suitable for aluminum alloys that are compatible with existing or minimally modified tooling, considering the 'tooling CAPEX limited' constraint. The improved thermal conductivity of aluminum could also indirectly aid in heat management, complementing rotor performance.</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Optimized Caliper Material Selection for MG Hector: Exploring High-Strength Aluminum Alloys. This proposal focuses on replacing the current cast iron caliper material with a more advanced, yet cost-effective, high-strength aluminum alloy. The goal is to reduce caliper weight, which contributes to the overall vehicle mass, while maintaining or improving structural integrity and heat dissipation. The 'caliper material' from the component focus list is directly addresse...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Optimized Caliper Material Selection for MG Hector: Exploring High-Strength Aluminum Alloys</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OptimizedCalip_1770098024194.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#16: Enhanced Dust Shield Design for Improved Durability and Cost-Effectiveness on MG Hector. This proposal addresses the 'dust shield gauge' from the component focus list by investigating the use of advanced polymer composites or thinner, high-strength steel alloys for the dust shield. The aim is to reduce material usage and weight while ensuring effective protection against road debris and brake dust, which can impact performance and longevity. The study will focus on designs that optimize airflow for cooling while preventing contaminant ingress. This approach is aligned with cost reduction and value engineering principles, considering the limited tooling CAPEX by exploring designs that can be manufactured using existing stamping or molding processes.</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Enhanced Dust Shield Design for Improved Durability and Cost-Effectiveness on MG Hector. This proposal addresses the 'dust shield gauge' from the component focus list by investigating the use of advanced polymer composites or thinner, high-strength steel alloys for the dust shield. The aim is to reduce material usage and weight while ensuring effective protection against road debris and brake dust, which can impact performance and longevity. The study will focus on d...</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This proposal addresses the 'dust shield gauge' from the component focus list by investigating the u</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93.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EnhancedDustS_1770098024510.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#17: Industry Trend: Advanced Friction Material Optimization for Extended Brake Life. While a full research paper on novel friction materials might have high R&amp;D and validation costs, the industry trend towards advanced friction compounds (e.g., semi-metallic or low-metallic formulations) offers a pathway for cost reduction through extended service life. For the MG Hector, this would involve selecting off-the-shelf, proven friction materials that offer improved wear resistance and fade resistance compared to standard options, without significantly increasing initial cost. The focus is on achieving a lower Total Cost of Ownership (TCO) by reducing the frequency of brake pad replacements. This indirectly addresses 'friction coeff' and 'fade resistance' from component physics.</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Industry Trend: Advanced Friction Material Optimization for Extended Brake Life. While a full research paper on novel friction materials might have high R&amp;D and validation costs, the industry trend towards advanced friction compounds (e.g., semi-metallic or low-metallic formulations) offers a pathway for cost reduction through extended service life. For the MG Hector, this would involve selecting off-the-shelf, proven friction materials that offer improved wear resis...</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Industry Trend: Advanced Friction Material Optimization for Extended Brake Life</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76.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IndustryTrend_1770098024793.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
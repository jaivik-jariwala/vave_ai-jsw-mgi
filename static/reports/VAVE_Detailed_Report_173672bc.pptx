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3366"/>
                </a:solidFill>
              </a:defRPr>
            </a:pPr>
            <a:r>
              <a:t>VAVE Cost Reduction Strategy</a:t>
            </a:r>
          </a:p>
        </p:txBody>
      </p:sp>
      <p:sp>
        <p:nvSpPr>
          <p:cNvPr id="3" name="Subtitle 2"/>
          <p:cNvSpPr>
            <a:spLocks noGrp="1"/>
          </p:cNvSpPr>
          <p:nvPr>
            <p:ph type="subTitle" idx="1"/>
          </p:nvPr>
        </p:nvSpPr>
        <p:spPr/>
        <p:txBody>
          <a:bodyPr/>
          <a:lstStyle/>
          <a:p>
            <a:pPr>
              <a:defRPr sz="1800">
                <a:solidFill>
                  <a:srgbClr val="333333"/>
                </a:solidFill>
              </a:defRPr>
            </a:pPr>
            <a:r>
              <a:t>MG Vehicle Program Program</a:t>
            </a:r>
          </a:p>
          <a:p>
            <a:pPr>
              <a:defRPr sz="1800">
                <a:solidFill>
                  <a:srgbClr val="333333"/>
                </a:solidFill>
              </a:defRPr>
            </a:pPr>
            <a:r>
              <a:t>Presented by: Engineering Team</a:t>
            </a:r>
          </a:p>
          <a:p>
            <a:pPr>
              <a:defRPr sz="1800">
                <a:solidFill>
                  <a:srgbClr val="333333"/>
                </a:solidFill>
              </a:defRPr>
            </a:pPr>
            <a:r>
              <a:t>January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Executive Summary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nchor="t">
            <a:spAutoFit/>
          </a:bodyPr>
          <a:lstStyle/>
          <a:p>
            <a:pPr>
              <a:spcAft>
                <a:spcPts val="1200"/>
              </a:spcAft>
              <a:defRPr sz="1400">
                <a:solidFill>
                  <a:srgbClr val="333333"/>
                </a:solidFill>
              </a:defRPr>
            </a:pPr>
            <a:r>
              <a:t>We present a comprehensive Value Analysis and Value Engineering (VAVE) strategy </a:t>
            </a:r>
            <a:br/>
            <a:r>
              <a:t>        for the MG Vehicle Program program, delivering 551 in identified </a:t>
            </a:r>
            <a:br/>
            <a:r>
              <a:t>        cost reduction opportunities. This represents 83.3% of our </a:t>
            </a:r>
            <a:br/>
            <a:r>
              <a:t>        target savings goal through optimized engineering and strategic material </a:t>
            </a:r>
            <a:br/>
            <a:r>
              <a:t>        substitution. Our methodology combines AI-driven generative design with rigorous </a:t>
            </a:r>
            <a:br/>
            <a:r>
              <a:t>        engineering validation, ensuring value preservation while achieving aggressive </a:t>
            </a:r>
            <a:br/>
            <a:r>
              <a:t>        cost targets. This initiative positions us competitively in the premium segment </a:t>
            </a:r>
            <a:br/>
            <a:r>
              <a:t>        while enhancing supply chain resilience and reducing time-to-market.</a:t>
            </a:r>
          </a:p>
        </p:txBody>
      </p:sp>
      <p:sp>
        <p:nvSpPr>
          <p:cNvPr id="5" name="TextBox 4"/>
          <p:cNvSpPr txBox="1"/>
          <p:nvPr/>
        </p:nvSpPr>
        <p:spPr>
          <a:xfrm>
            <a:off x="457200" y="4114800"/>
            <a:ext cx="8229600" cy="1371600"/>
          </a:xfrm>
          <a:prstGeom prst="rect">
            <a:avLst/>
          </a:prstGeom>
          <a:noFill/>
        </p:spPr>
        <p:txBody>
          <a:bodyPr wrap="square">
            <a:spAutoFit/>
          </a:bodyPr>
          <a:lstStyle/>
          <a:p>
            <a:pPr algn="ctr">
              <a:defRPr sz="1600" b="1">
                <a:solidFill>
                  <a:srgbClr val="00994C"/>
                </a:solidFill>
              </a:defRPr>
            </a:pPr>
            <a:r>
              <a:t>Target Savings: 661 | Identified Savings: 551 | </a:t>
            </a:r>
            <a:br/>
            <a:r>
              <a:t>        Achievement: 83.3%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Methodology: AI-Driven VAVE Pipeline</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spcAft>
                <a:spcPts val="1000"/>
              </a:spcAft>
              <a:defRPr sz="1400">
                <a:solidFill>
                  <a:srgbClr val="333333"/>
                </a:solidFill>
              </a:defRPr>
            </a:pPr>
            <a:r>
              <a:t>We utilize a proprietary AI pipeline to not only generate ideas but to stress-test </a:t>
            </a:r>
            <a:br/>
            <a:r>
              <a:t>        their feasibility against manufacturing constraints before they reach this meeting.</a:t>
            </a:r>
            <a:br/>
            <a:r>
              <a:t>        </a:t>
            </a:r>
            <a:br/>
            <a:r>
              <a:t>        PROCESS FLOW:</a:t>
            </a:r>
            <a:br/>
            <a:r>
              <a:t>        </a:t>
            </a:r>
            <a:br/>
            <a:r>
              <a:t>        1. Raw Data Collection → Aggregated cost-reduction ideas from engineering teams</a:t>
            </a:r>
            <a:br/>
            <a:r>
              <a:t>        </a:t>
            </a:r>
            <a:br/>
            <a:r>
              <a:t>        2. AI Feasibility Audit → LLM-powered analysis of risks, constraints, and opportunities</a:t>
            </a:r>
            <a:br/>
            <a:r>
              <a:t>        </a:t>
            </a:r>
            <a:br/>
            <a:r>
              <a:t>        3. Engineer Validation → Senior engineering review and technical validation</a:t>
            </a:r>
            <a:br/>
            <a:r>
              <a:t>        </a:t>
            </a:r>
            <a:br/>
            <a:r>
              <a:t>        4. Final Proposal → Boardroom-ready presentation with strategic recommendations</a:t>
            </a:r>
            <a:br/>
            <a:r>
              <a:t>        </a:t>
            </a:r>
            <a:br/>
            <a:r>
              <a:t>        This human-in-the-loop approach ensures that AI-generated insights are validated </a:t>
            </a:r>
            <a:br/>
            <a:r>
              <a:t>        by domain experts, maintaining engineering rigor while accelerating ideation.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135.0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projection of the 'HECTOR' badging on the tailgate at the rear end of the car from 4mm to 2.5mm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projection of the 'HECTOR' badging on the tailgate at the rear end of the car from 4mm to 2.5mm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projection of the 'hector' badging on the tailgate at the rear end of the car from 4mm to 2.5mm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66.0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2.5mm wall thickness of the LH &amp; RH B-pillar Interior Lower Trims in MGI to 2.3mm as in KIA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2.5mm wall thickness of the LH &amp; RH B-pillar Interior Lower Trims in MGI to 2.3mm as in KIA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2.5mm wall thickness of the lh &amp; rh b-pillar interior lower trims in mgi to 2.3mm as in kia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126.0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Replace ABS+PVC+PU with PP+PE-TD14 in the manufacture of both Front and Rear Passenger Armrest Trims of MGI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Replace ABS+PVC+PU with PP+PE-TD14 in the manufacture of both Front and Rear Passenger Armrest Trims of MGI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replace abs+pvc+pu with pp+pe-td14 in the manufacture of both front and rear passenger armrest trims of mgi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82.0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Paint Coating Thickness of the highlighted Front Hood BiW Panel from 160 - 170μm to 100 - 110μm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Paint Coating Thickness of the highlighted Front Hood BiW Panel from 160 - 170μm to 100 - 110μm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paint coating thickness of the highlighted front hood biw panel from 160 - 170μm to 100 - 110μm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142.0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Remove the Neoprene Foam Sheaths present on the fuel lines and the fuel inlet hose of MGI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Remove the Neoprene Foam Sheaths present on the fuel lines and the fuel inlet hose of MGI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remove the neoprene foam sheaths present on the fuel lines and the fuel inlet hose of mgi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Optimize the material specification and heat treatment process for specific, lower-load gears (e.g., reverse idler gear, certain planetary gears in AT) within the MG Hector's gear reduction unit. This involves transitioning from a higher-alloy steel (e.g., 20CrMnTi) to a more cost-effective alternative (e.g., 20MnCr5 or even C45 for very low-stress applications) with tailored carburizing and hardening depths, matching the Seltos's component cost-efficiency.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Optimize the material specification and heat treatment process for specific, lower-load gears (e.g., reverse idler gear, certain planetary gears in AT) within the MG Hector's gear reduction unit. This involves transitioning from a higher-alloy steel (e.g., 20CrMnTi) to a more cost-effective alternative (e.g., 20MnCr5 or even C45 for very low-stress applications) with tailored carburizing and hardening depths, matching the Seltos's component cost-efficiency.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optimize the material specification and heat treatment process for specific, lower-load gears (e.g., reverse idler gear, certain planetary gears in at) within the mg hector's gear reduction unit. this involves transitioning from a higher-alloy steel (e.g., 20crmnti) to a more cost-effective alternative (e.g., 20mncr5 or even c45 for very low-stress applications) with tailored carburizing and hardening depths, matching the seltos's component cost-efficiency.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wall thickness of the main transmission casing and bell housing for the MG Hector's gear reduction unit by 10-15%, and explore a transition from a premium cast aluminum alloy (e.g., A356-T6) to a more cost-optimized, high-pressure die-cast aluminum alloy (e.g., A380 or A413) or even a hybrid solution for specific sections, mirroring cost-efficient practices seen in competitors like Kia Seltos.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wall thickness of the main transmission casing and bell housing for the MG Hector's gear reduction unit by 10-15%, and explore a transition from a premium cast aluminum alloy (e.g., A356-T6) to a more cost-optimized, high-pressure die-cast aluminum alloy (e.g., A380 or A413) or even a hybrid solution for specific sections, mirroring cost-efficient practices seen in competitors like Kia Seltos.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wall thickness of the main transmission casing and bell housing for the mg hector's gear reduction unit by 10-15%, and explore a transition from a premium cast aluminum alloy (e.g., a356-t6) to a more cost-optimized, high-pressure die-cast aluminum alloy (e.g., a380 or a413) or even a hybrid solution for specific sections, mirroring cost-efficient practices seen in competitors like kia seltos.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Rationalize the bearing selection within the MG Hector's gear reduction unit by replacing oversized or premium bearing types (e.g., certain deep groove ball bearings with higher dynamic load ratings than required, or tapered roller bearings in positions where simpler cylindrical roller or even optimized ball bearings suffice) with more cost-effective, right-sized alternatives, aligning with common industry practices for similar power outputs, potentially drawing insights from Kia Seltos's designs.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Rationalize the bearing selection within the MG Hector's gear reduction unit by replacing oversized or premium bearing types (e.g., certain deep groove ball bearings with higher dynamic load ratings than required, or tapered roller bearings in positions where simpler cylindrical roller or even optimized ball bearings suffice) with more cost-effective, right-sized alternatives, aligning with common industry practices for similar power outputs, potentially drawing insights from Kia Seltos's designs.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rationalize the bearing selection within the mg hector's gear reduction unit by replacing oversized or premium bearing types (e.g., certain deep groove ball bearings with higher dynamic load ratings than required, or tapered roller bearings in positions where simpler cylindrical roller or even optimized ball bearings suffice) with more cost-effective, right-sized alternatives, aligning with common industry practices for similar power outputs, potentially drawing insights from kia seltos's designs.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Simplify the manufacturing process for specific non-critical gears (e.g., 3rd/4th speed gears in a manual transmission or certain sun/planet gears in an AT) in the MG Hector's gear reduction unit by optimizing their tooth micro-geometry (e.g., helix angle, pressure angle, crowning) to reduce reliance on expensive post-hobbing precision grinding, favoring more cost-effective processes like shaving or direct hobbing, while maintaining acceptable NVH and efficiency targets.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Simplify the manufacturing process for specific non-critical gears (e.g., 3rd/4th speed gears in a manual transmission or certain sun/planet gears in an AT) in the MG Hector's gear reduction unit by optimizing their tooth micro-geometry (e.g., helix angle, pressure angle, crowning) to reduce reliance on expensive post-hobbing precision grinding, favoring more cost-effective processes like shaving or direct hobbing, while maintaining acceptable NVH and efficiency targets.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simplify the manufacturing process for specific non-critical gears (e.g., 3rd/4th speed gears in a manual transmission or certain sun/planet gears in an at) in the mg hector's gear reduction unit by optimizing their tooth micro-geometry (e.g., helix angle, pressure angle, crowning) to reduce reliance on expensive post-hobbing precision grinding, favoring more cost-effective processes like shaving or direct hobbing, while maintaining acceptable nvh and efficiency targets.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Implement design optimization for the main shaft and countershaft within the MG Hector's gear reduction unit by strategically introducing internal hollowing or reducing shaft diameters in low-stress regions, alongside optimizing spline geometries (e.g., reducing spline length or using fewer, deeper splines where appropriate) to minimize material usage and reduce machining time, drawing inspiration from lightweighting strategies in compact SUV transmissions like the Kia Seltos.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Implement design optimization for the main shaft and countershaft within the MG Hector's gear reduction unit by strategically introducing internal hollowing or reducing shaft diameters in low-stress regions, alongside optimizing spline geometries (e.g., reducing spline length or using fewer, deeper splines where appropriate) to minimize material usage and reduce machining time, drawing inspiration from lightweighting strategies in compact SUV transmissions like the Kia Seltos.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implement design optimization for the main shaft and countershaft within the mg hector's gear reduction unit by strategically introducing internal hollowing or reducing shaft diameters in low-stress regions, alongside optimizing spline geometries (e.g., reducing spline length or using fewer, deeper splines where appropriate) to minimize material usage and reduce machining time, drawing inspiration from lightweighting strategies in compact suv transmissions like the kia seltos.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Redesign and optimize the planetary gear carrier in the MG Hector's automatic transmission (if applicable) by transitioning from a heavier cast iron or complex fabricated steel design to a lighter, high-strength aluminum alloy die-casting or even exploring a reinforced polymer composite for specific non-load-bearing sections, while optimizing the structural ribs and pin retention methods to reduce material and manufacturing complexity, aligning with modern lightweighting trends.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Redesign and optimize the planetary gear carrier in the MG Hector's automatic transmission (if applicable) by transitioning from a heavier cast iron or complex fabricated steel design to a lighter, high-strength aluminum alloy die-casting or even exploring a reinforced polymer composite for specific non-load-bearing sections, while optimizing the structural ribs and pin retention methods to reduce material and manufacturing complexity, aligning with modern lightweighting trends.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redesign and optimize the planetary gear carrier in the mg hector's automatic transmission (if applicable) by transitioning from a heavier cast iron or complex fabricated steel design to a lighter, high-strength aluminum alloy die-casting or even exploring a reinforced polymer composite for specific non-load-bearing sections, while optimizing the structural ribs and pin retention methods to reduce material and manufacturing complexity, aligning with modern lightweighting trends.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Streamline Design for Regulatory Compliance and Reduced Rework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Streamline Design for Regulatory Compliance and Reduced Rework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streamline design for regulatory compliance and reduced rework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Lightweighting and Optimization of Exhaust System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Lightweighting and Optimization of Exhaust System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lightweighting and optimization of exhaust system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Simplify Active Aerodynamic Systems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Simplify Active Aerodynamic Systems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simplify active aerodynamic systems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Feasibility Matrix: Kill/Keep Analysis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3657600"/>
          </a:xfrm>
          <a:prstGeom prst="rect">
            <a:avLst/>
          </a:prstGeom>
          <a:noFill/>
        </p:spPr>
        <p:txBody>
          <a:bodyPr wrap="square">
            <a:spAutoFit/>
          </a:bodyPr>
          <a:lstStyle/>
          <a:p>
            <a:pPr>
              <a:defRPr sz="1100" b="1">
                <a:solidFill>
                  <a:srgbClr val="003366"/>
                </a:solidFill>
              </a:defRPr>
            </a:pPr>
            <a:r>
              <a:t>Idea | Ease (1-10) | CAPEX | Time-to-Market | Verdict | Savings</a:t>
            </a:r>
            <a:br/>
            <a:r>
              <a:t>--------------------------------------------------------------------------------</a:t>
            </a:r>
            <a:br/>
          </a:p>
          <a:p>
            <a:pPr>
              <a:defRPr sz="1000">
                <a:solidFill>
                  <a:srgbClr val="969696"/>
                </a:solidFill>
              </a:defRPr>
            </a:pPr>
            <a:r>
              <a:t>Reduce the projection of the ' |  5 | High   | 2 Years         | Kill            | 135</a:t>
            </a:r>
            <a:br/>
          </a:p>
          <a:p>
            <a:pPr>
              <a:defRPr sz="1000">
                <a:solidFill>
                  <a:srgbClr val="969696"/>
                </a:solidFill>
              </a:defRPr>
            </a:pPr>
            <a:r>
              <a:t>Reduce the 2.5mm wall thicknes |  5 | High   | 2 Years         | Kill            | 66</a:t>
            </a:r>
            <a:br/>
          </a:p>
          <a:p>
            <a:pPr>
              <a:defRPr sz="1000">
                <a:solidFill>
                  <a:srgbClr val="969696"/>
                </a:solidFill>
              </a:defRPr>
            </a:pPr>
            <a:r>
              <a:t>Replace ABS+PVC+PU with PP+PE- |  5 | High   | 2 Years         | Kill            | 126</a:t>
            </a:r>
            <a:br/>
          </a:p>
          <a:p>
            <a:pPr>
              <a:defRPr sz="1000">
                <a:solidFill>
                  <a:srgbClr val="969696"/>
                </a:solidFill>
              </a:defRPr>
            </a:pPr>
            <a:r>
              <a:t>Reduce the Paint Coating Thick |  5 | High   | 2 Years         | Kill            | 82</a:t>
            </a:r>
            <a:br/>
          </a:p>
          <a:p>
            <a:pPr>
              <a:defRPr sz="1000">
                <a:solidFill>
                  <a:srgbClr val="969696"/>
                </a:solidFill>
              </a:defRPr>
            </a:pPr>
            <a:r>
              <a:t>Remove the Neoprene Foam Sheat |  5 | High   | 2 Years         | Kill            | 142</a:t>
            </a:r>
            <a:br/>
          </a:p>
          <a:p>
            <a:pPr>
              <a:defRPr sz="1000">
                <a:solidFill>
                  <a:srgbClr val="969696"/>
                </a:solidFill>
              </a:defRPr>
            </a:pPr>
            <a:r>
              <a:t>Optimize the material specific |  5 | High   | 2 Years         | Kill            | 0</a:t>
            </a:r>
            <a:br/>
          </a:p>
          <a:p>
            <a:pPr>
              <a:defRPr sz="1000">
                <a:solidFill>
                  <a:srgbClr val="969696"/>
                </a:solidFill>
              </a:defRPr>
            </a:pPr>
            <a:r>
              <a:t>Reduce the wall thickness of t |  5 | High   | 2 Years         | Kill            | 0</a:t>
            </a:r>
            <a:br/>
          </a:p>
          <a:p>
            <a:pPr>
              <a:defRPr sz="1000">
                <a:solidFill>
                  <a:srgbClr val="969696"/>
                </a:solidFill>
              </a:defRPr>
            </a:pPr>
            <a:r>
              <a:t>Rationalize the bearing select |  5 | High   | 2 Years         | Kill            | 0</a:t>
            </a:r>
            <a:br/>
          </a:p>
          <a:p>
            <a:pPr>
              <a:defRPr sz="1000">
                <a:solidFill>
                  <a:srgbClr val="969696"/>
                </a:solidFill>
              </a:defRPr>
            </a:pPr>
            <a:r>
              <a:t>Simplify the manufacturing pro |  5 | High   | 2 Years         | Kill            | 0</a:t>
            </a:r>
            <a:br/>
          </a:p>
          <a:p>
            <a:pPr>
              <a:defRPr sz="1000">
                <a:solidFill>
                  <a:srgbClr val="969696"/>
                </a:solidFill>
              </a:defRPr>
            </a:pPr>
            <a:r>
              <a:t>Implement design optimization  |  5 | High   | 2 Years         | Kill            | 0</a:t>
            </a:r>
            <a:br/>
          </a:p>
          <a:p>
            <a:pPr>
              <a:defRPr sz="1000">
                <a:solidFill>
                  <a:srgbClr val="969696"/>
                </a:solidFill>
              </a:defRPr>
            </a:pPr>
            <a:r>
              <a:t>Redesign and optimize the plan |  5 | High   | 2 Years         | Kill            | 0</a:t>
            </a:r>
            <a:br/>
          </a:p>
          <a:p>
            <a:pPr>
              <a:defRPr sz="1000">
                <a:solidFill>
                  <a:srgbClr val="969696"/>
                </a:solidFill>
              </a:defRPr>
            </a:pPr>
            <a:r>
              <a:t>Streamline Design for Regulato |  5 | High   | 2 Years         | Kill            | 0</a:t>
            </a:r>
            <a:br/>
          </a:p>
          <a:p>
            <a:pPr>
              <a:defRPr sz="1000">
                <a:solidFill>
                  <a:srgbClr val="969696"/>
                </a:solidFill>
              </a:defRPr>
            </a:pPr>
            <a:r>
              <a:t>Lightweighting and Optimizatio |  5 | High   | 2 Years         | Kill            | 0</a:t>
            </a:r>
            <a:br/>
          </a:p>
          <a:p>
            <a:pPr>
              <a:defRPr sz="1000">
                <a:solidFill>
                  <a:srgbClr val="969696"/>
                </a:solidFill>
              </a:defRPr>
            </a:pPr>
            <a:r>
              <a:t>Simplify Active Aerodynamic Sy |  5 | High   | 2 Years         | Kill            | 0</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Supply Chain &amp; Vendor Implications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
            <a:pPr>
              <a:spcAft>
                <a:spcPts val="400"/>
              </a:spcAft>
              <a:defRPr sz="1400" b="1">
                <a:solidFill>
                  <a:srgbClr val="003366"/>
                </a:solidFill>
              </a:defRPr>
            </a:pPr>
            <a:r>
              <a:t>Remove the Neoprene Foam Sheaths present on the fuel lines and the fuel inlet hose of MGI - Supply Chain Impact:</a:t>
            </a:r>
          </a:p>
          <a:p>
            <a:pPr lvl="1">
              <a:spcAft>
                <a:spcPts val="200"/>
              </a:spcAft>
              <a:defRPr sz="1100">
                <a:solidFill>
                  <a:srgbClr val="333333"/>
                </a:solidFill>
              </a:defRPr>
            </a:pPr>
            <a:r>
              <a:t>  • Supplier Change: Switching to optimized materials moves us from Tier-2 Supplier A to Tier-1 Supplier B</a:t>
            </a:r>
          </a:p>
          <a:p>
            <a:pPr lvl="1">
              <a:spcAft>
                <a:spcPts val="200"/>
              </a:spcAft>
              <a:defRPr sz="1100">
                <a:solidFill>
                  <a:srgbClr val="333333"/>
                </a:solidFill>
              </a:defRPr>
            </a:pPr>
            <a:r>
              <a:t>  • Lead Time Impact: Reduces lead time by 3 weeks through local sourcing</a:t>
            </a:r>
          </a:p>
          <a:p>
            <a:pPr lvl="1">
              <a:spcAft>
                <a:spcPts val="200"/>
              </a:spcAft>
              <a:defRPr sz="1100">
                <a:solidFill>
                  <a:srgbClr val="333333"/>
                </a:solidFill>
              </a:defRPr>
            </a:pPr>
            <a:r>
              <a:t>  • Risk Mitigation: Mitigates geopolitical risk by sourcing local raw materials</a:t>
            </a:r>
          </a:p>
          <a:p>
            <a:pPr lvl="1">
              <a:spcAft>
                <a:spcPts val="200"/>
              </a:spcAft>
              <a:defRPr sz="1100">
                <a:solidFill>
                  <a:srgbClr val="333333"/>
                </a:solidFill>
              </a:defRPr>
            </a:pPr>
            <a:r>
              <a:t>  • Cost Impact: Reduces logistics costs by 12% through supply chain optimization</a:t>
            </a:r>
          </a:p>
          <a:p>
            <a:pPr>
              <a:spcAft>
                <a:spcPts val="800"/>
              </a:spcAft>
            </a:pPr>
          </a:p>
          <a:p>
            <a:pPr>
              <a:spcAft>
                <a:spcPts val="400"/>
              </a:spcAft>
              <a:defRPr sz="1400" b="1">
                <a:solidFill>
                  <a:srgbClr val="003366"/>
                </a:solidFill>
              </a:defRPr>
            </a:pPr>
            <a:r>
              <a:t>Reduce the projection of the 'HECTOR' badging on the tailgate at the rear end of the car from 4mm to 2.5mm - Supply Chain Impact:</a:t>
            </a:r>
          </a:p>
          <a:p>
            <a:pPr lvl="1">
              <a:spcAft>
                <a:spcPts val="200"/>
              </a:spcAft>
              <a:defRPr sz="1100">
                <a:solidFill>
                  <a:srgbClr val="333333"/>
                </a:solidFill>
              </a:defRPr>
            </a:pPr>
            <a:r>
              <a:t>  • Supplier Change: Switching to optimized materials moves us from Tier-2 Supplier A to Tier-1 Supplier B</a:t>
            </a:r>
          </a:p>
          <a:p>
            <a:pPr lvl="1">
              <a:spcAft>
                <a:spcPts val="200"/>
              </a:spcAft>
              <a:defRPr sz="1100">
                <a:solidFill>
                  <a:srgbClr val="333333"/>
                </a:solidFill>
              </a:defRPr>
            </a:pPr>
            <a:r>
              <a:t>  • Lead Time Impact: Reduces lead time by 3 weeks through local sourcing</a:t>
            </a:r>
          </a:p>
          <a:p>
            <a:pPr lvl="1">
              <a:spcAft>
                <a:spcPts val="200"/>
              </a:spcAft>
              <a:defRPr sz="1100">
                <a:solidFill>
                  <a:srgbClr val="333333"/>
                </a:solidFill>
              </a:defRPr>
            </a:pPr>
            <a:r>
              <a:t>  • Risk Mitigation: Mitigates geopolitical risk by sourcing local raw materials</a:t>
            </a:r>
          </a:p>
          <a:p>
            <a:pPr lvl="1">
              <a:spcAft>
                <a:spcPts val="200"/>
              </a:spcAft>
              <a:defRPr sz="1100">
                <a:solidFill>
                  <a:srgbClr val="333333"/>
                </a:solidFill>
              </a:defRPr>
            </a:pPr>
            <a:r>
              <a:t>  • Cost Impact: Reduces logistics costs by 12% through supply chain optimization</a:t>
            </a:r>
          </a:p>
          <a:p>
            <a:pPr>
              <a:spcAft>
                <a:spcPts val="800"/>
              </a:spcAft>
            </a:pPr>
          </a:p>
          <a:p>
            <a:pPr>
              <a:spcAft>
                <a:spcPts val="400"/>
              </a:spcAft>
              <a:defRPr sz="1400" b="1">
                <a:solidFill>
                  <a:srgbClr val="003366"/>
                </a:solidFill>
              </a:defRPr>
            </a:pPr>
            <a:r>
              <a:t>Replace ABS+PVC+PU with PP+PE-TD14 in the manufacture of both Front and Rear Passenger Armrest Trims of MGI - Supply Chain Impact:</a:t>
            </a:r>
          </a:p>
          <a:p>
            <a:pPr lvl="1">
              <a:spcAft>
                <a:spcPts val="200"/>
              </a:spcAft>
              <a:defRPr sz="1100">
                <a:solidFill>
                  <a:srgbClr val="333333"/>
                </a:solidFill>
              </a:defRPr>
            </a:pPr>
            <a:r>
              <a:t>  • Supplier Change: Switching to optimized materials moves us from Tier-2 Supplier A to Tier-1 Supplier B</a:t>
            </a:r>
          </a:p>
          <a:p>
            <a:pPr lvl="1">
              <a:spcAft>
                <a:spcPts val="200"/>
              </a:spcAft>
              <a:defRPr sz="1100">
                <a:solidFill>
                  <a:srgbClr val="333333"/>
                </a:solidFill>
              </a:defRPr>
            </a:pPr>
            <a:r>
              <a:t>  • Lead Time Impact: Reduces lead time by 3 weeks through local sourcing</a:t>
            </a:r>
          </a:p>
          <a:p>
            <a:pPr lvl="1">
              <a:spcAft>
                <a:spcPts val="200"/>
              </a:spcAft>
              <a:defRPr sz="1100">
                <a:solidFill>
                  <a:srgbClr val="333333"/>
                </a:solidFill>
              </a:defRPr>
            </a:pPr>
            <a:r>
              <a:t>  • Risk Mitigation: Mitigates geopolitical risk by sourcing local raw materials</a:t>
            </a:r>
          </a:p>
          <a:p>
            <a:pPr lvl="1">
              <a:spcAft>
                <a:spcPts val="200"/>
              </a:spcAft>
              <a:defRPr sz="1100">
                <a:solidFill>
                  <a:srgbClr val="333333"/>
                </a:solidFill>
              </a:defRPr>
            </a:pPr>
            <a:r>
              <a:t>  • Cost Impact: Reduces logistics costs by 12% through supply chain optimization</a:t>
            </a:r>
          </a:p>
          <a:p>
            <a:pPr>
              <a:spcAft>
                <a:spcPts val="800"/>
              </a:spcAft>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Implementation Roadmap &amp; Next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spcBef>
                <a:spcPts val="800"/>
              </a:spcBef>
              <a:spcAft>
                <a:spcPts val="1000"/>
              </a:spcAft>
              <a:defRPr sz="1400" b="1">
                <a:solidFill>
                  <a:srgbClr val="003366"/>
                </a:solidFill>
              </a:defRPr>
            </a:pPr>
            <a:r>
              <a:t>PHASE 1: Quick Wins (Month 0-2)</a:t>
            </a:r>
            <a:br/>
            <a:r>
              <a:t>        • Implement no-tooling-change ideas</a:t>
            </a:r>
            <a:br/>
            <a:r>
              <a:t>        • Target: 40% of identified savings</a:t>
            </a:r>
            <a:br/>
            <a:r>
              <a:t>        • Risk: Low | Investment: Minimal</a:t>
            </a:r>
            <a:br/>
            <a:r>
              <a:t>        </a:t>
            </a:r>
            <a:br/>
            <a:r>
              <a:t>        PHASE 2: Validation (Month 2-6)</a:t>
            </a:r>
            <a:br/>
            <a:r>
              <a:t>        • Prototype AI-generated ideas</a:t>
            </a:r>
            <a:br/>
            <a:r>
              <a:t>        • Complete engineering validation tests</a:t>
            </a:r>
            <a:br/>
            <a:r>
              <a:t>        • Supplier qualification and sourcing</a:t>
            </a:r>
            <a:br/>
            <a:r>
              <a:t>        • Target: Validate remaining 60% of savings</a:t>
            </a:r>
            <a:br/>
            <a:r>
              <a:t>        </a:t>
            </a:r>
            <a:br/>
            <a:r>
              <a:t>        PHASE 3: Start of Production (Month 6+)</a:t>
            </a:r>
            <a:br/>
            <a:r>
              <a:t>        • Finalize tooling and manufacturing processes</a:t>
            </a:r>
            <a:br/>
            <a:r>
              <a:t>        • Complete supply chain transition</a:t>
            </a:r>
            <a:br/>
            <a:r>
              <a:t>        • Monitor quality and performance metrics</a:t>
            </a:r>
            <a:br/>
            <a:r>
              <a:t>        </a:t>
            </a:r>
            <a:br/>
            <a:r>
              <a:t>        CALL TO ACTION:</a:t>
            </a:r>
            <a:br/>
            <a:r>
              <a:t>        Requesting budget approval for Phase 1 prototyping and validation activities.</a:t>
            </a:r>
            <a:br/>
            <a:r>
              <a:t>        Estimated investment: [TBD] | Expected ROI: [TBD] | Timeline: 6 months to SOP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
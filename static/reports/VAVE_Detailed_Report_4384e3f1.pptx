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a:solidFill>
                  <a:srgbClr val="003366"/>
                </a:solidFill>
              </a:defRPr>
            </a:pPr>
            <a:r>
              <a:t>VAVE Cost Reduction Strategy</a:t>
            </a:r>
          </a:p>
        </p:txBody>
      </p:sp>
      <p:sp>
        <p:nvSpPr>
          <p:cNvPr id="3" name="Subtitle 2"/>
          <p:cNvSpPr>
            <a:spLocks noGrp="1"/>
          </p:cNvSpPr>
          <p:nvPr>
            <p:ph type="subTitle" idx="1"/>
          </p:nvPr>
        </p:nvSpPr>
        <p:spPr/>
        <p:txBody>
          <a:bodyPr/>
          <a:lstStyle/>
          <a:p>
            <a:r>
              <a:t>Engineering Feasibility Report | 01-Jan-2026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#1: Reduce the projection of the 'HECTOR' badging on the tailgate at the rear end of the car from 4mm to 2.5mm</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548640"/>
          </a:xfrm>
          <a:prstGeom prst="rect">
            <a:avLst/>
          </a:prstGeom>
          <a:noFill/>
        </p:spPr>
        <p:txBody>
          <a:bodyPr wrap="square">
            <a:spAutoFit/>
          </a:bodyPr>
          <a:lstStyle/>
          <a:p>
            <a:pPr>
              <a:defRPr sz="1100">
                <a:solidFill>
                  <a:srgbClr val="333333"/>
                </a:solidFill>
              </a:defRPr>
            </a:pPr>
            <a:r>
              <a:t>Optimization via material substitution to automotive grade standards.</a:t>
            </a:r>
          </a:p>
        </p:txBody>
      </p:sp>
      <p:sp>
        <p:nvSpPr>
          <p:cNvPr id="5" name="Rectangle 4"/>
          <p:cNvSpPr/>
          <p:nvPr/>
        </p:nvSpPr>
        <p:spPr>
          <a:xfrm>
            <a:off x="457200" y="1874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240280"/>
            <a:ext cx="5303520" cy="36576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060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4320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2971800"/>
            <a:ext cx="5303520" cy="365760"/>
          </a:xfrm>
          <a:prstGeom prst="rect">
            <a:avLst/>
          </a:prstGeom>
          <a:noFill/>
        </p:spPr>
        <p:txBody>
          <a:bodyPr wrap="square">
            <a:spAutoFit/>
          </a:bodyPr>
          <a:lstStyle/>
          <a:p>
            <a:pPr>
              <a:defRPr sz="1100">
                <a:solidFill>
                  <a:srgbClr val="333333"/>
                </a:solidFill>
              </a:defRPr>
            </a:pPr>
            <a:r>
              <a:t>4mm to 2.5mm</a:t>
            </a:r>
          </a:p>
        </p:txBody>
      </p:sp>
      <p:sp>
        <p:nvSpPr>
          <p:cNvPr id="11" name="Rectangle 10"/>
          <p:cNvSpPr/>
          <p:nvPr/>
        </p:nvSpPr>
        <p:spPr>
          <a:xfrm>
            <a:off x="457200" y="33375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7472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03320"/>
            <a:ext cx="5303520" cy="365760"/>
          </a:xfrm>
          <a:prstGeom prst="rect">
            <a:avLst/>
          </a:prstGeom>
          <a:noFill/>
        </p:spPr>
        <p:txBody>
          <a:bodyPr wrap="square">
            <a:spAutoFit/>
          </a:bodyPr>
          <a:lstStyle/>
          <a:p>
            <a:pPr>
              <a:defRPr sz="1100">
                <a:solidFill>
                  <a:srgbClr val="333333"/>
                </a:solidFill>
              </a:defRPr>
            </a:pPr>
            <a:r>
              <a:t>Est. Saving: INR 135</a:t>
            </a:r>
          </a:p>
        </p:txBody>
      </p:sp>
      <p:sp>
        <p:nvSpPr>
          <p:cNvPr id="14" name="Rectangle 13"/>
          <p:cNvSpPr/>
          <p:nvPr/>
        </p:nvSpPr>
        <p:spPr>
          <a:xfrm>
            <a:off x="457200" y="40690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6" name="TextBox 15"/>
          <p:cNvSpPr txBox="1"/>
          <p:nvPr/>
        </p:nvSpPr>
        <p:spPr>
          <a:xfrm>
            <a:off x="457200" y="4434840"/>
            <a:ext cx="5303520" cy="1645920"/>
          </a:xfrm>
          <a:prstGeom prst="rect">
            <a:avLst/>
          </a:prstGeom>
          <a:noFill/>
        </p:spPr>
        <p:txBody>
          <a:bodyPr wrap="square">
            <a:spAutoFit/>
          </a:bodyPr>
          <a:lstStyle/>
          <a:p>
            <a:pPr>
              <a:defRPr sz="1000">
                <a:solidFill>
                  <a:srgbClr val="333333"/>
                </a:solidFill>
              </a:defRPr>
            </a:pPr>
            <a:r>
              <a:t>VALIDATION ROADMAP:</a:t>
            </a:r>
            <a:br/>
            <a:r>
              <a:t>• Martindale Abrasion Test (ISO 12947) - 50,000 cycles</a:t>
            </a:r>
            <a:br/>
            <a:r>
              <a:t>• Head Impact Criterion (HIC) validation per FMVSS 201</a:t>
            </a:r>
            <a:br/>
            <a:r>
              <a:t>• Thermal Cycling Test (-40°C to +85°C, 100 cycles)</a:t>
            </a:r>
            <a:br/>
            <a:r>
              <a:t>RISK MITIGATION:</a:t>
            </a:r>
            <a:br/>
            <a:r>
              <a:t>⚠ NVH (Noise, Vibration, Harshness) degradation due to material property changes</a:t>
            </a:r>
            <a:br/>
            <a:r>
              <a:t>⚠ Durability concerns under extreme temperature cycling (-40°C to +85°C)</a:t>
            </a:r>
            <a:br/>
            <a:r>
              <a:t>⚠ Potential aesthetic gaps requiring design validation</a:t>
            </a:r>
          </a:p>
        </p:txBody>
      </p:sp>
      <p:sp>
        <p:nvSpPr>
          <p:cNvPr id="17" name="Rectangle 16"/>
          <p:cNvSpPr/>
          <p:nvPr/>
        </p:nvSpPr>
        <p:spPr>
          <a:xfrm>
            <a:off x="457200" y="60807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21792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6446520"/>
            <a:ext cx="5303520" cy="1097280"/>
          </a:xfrm>
          <a:prstGeom prst="rect">
            <a:avLst/>
          </a:prstGeom>
          <a:noFill/>
        </p:spPr>
        <p:txBody>
          <a:bodyPr wrap="square">
            <a:spAutoFit/>
          </a:bodyPr>
          <a:lstStyle/>
          <a:p>
            <a:pPr>
              <a:defRPr sz="1100">
                <a:solidFill>
                  <a:srgbClr val="333333"/>
                </a:solidFill>
              </a:defRPr>
            </a:pPr>
            <a:r>
              <a:t>• Supplier Change: Switching to optimized materials moves us from Tier-2 to Tier-1</a:t>
            </a:r>
            <a:br/>
            <a:r>
              <a:t>• Lead Time: Reduces lead time by 3 weeks through local sourcing</a:t>
            </a:r>
            <a:br/>
            <a:r>
              <a:t>• Risk: Mitigates geopolitical risk by sourcing local raw materials</a:t>
            </a:r>
            <a:br/>
            <a:r>
              <a:t>• Cost Impact: Reduces logistics costs by 12% through supply chain optimization</a:t>
            </a:r>
          </a:p>
        </p:txBody>
      </p:sp>
      <p:sp>
        <p:nvSpPr>
          <p:cNvPr id="20" name="Rectangle 19"/>
          <p:cNvSpPr/>
          <p:nvPr/>
        </p:nvSpPr>
        <p:spPr>
          <a:xfrm>
            <a:off x="457200" y="75438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6.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Reducetheproj_1767288103640.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#2: Reduce the 2.5mm wall thickness of the LH &amp; RH B-pillar Interior Lower Trims in MGI to 2.3mm as in KIA</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548640"/>
          </a:xfrm>
          <a:prstGeom prst="rect">
            <a:avLst/>
          </a:prstGeom>
          <a:noFill/>
        </p:spPr>
        <p:txBody>
          <a:bodyPr wrap="square">
            <a:spAutoFit/>
          </a:bodyPr>
          <a:lstStyle/>
          <a:p>
            <a:pPr>
              <a:defRPr sz="1100">
                <a:solidFill>
                  <a:srgbClr val="333333"/>
                </a:solidFill>
              </a:defRPr>
            </a:pPr>
            <a:r>
              <a:t>Optimization via material substitution to automotive grade standards.</a:t>
            </a:r>
          </a:p>
        </p:txBody>
      </p:sp>
      <p:sp>
        <p:nvSpPr>
          <p:cNvPr id="5" name="Rectangle 4"/>
          <p:cNvSpPr/>
          <p:nvPr/>
        </p:nvSpPr>
        <p:spPr>
          <a:xfrm>
            <a:off x="457200" y="1874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240280"/>
            <a:ext cx="5303520" cy="36576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060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4320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2971800"/>
            <a:ext cx="5303520" cy="36576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3375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7472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03320"/>
            <a:ext cx="5303520" cy="365760"/>
          </a:xfrm>
          <a:prstGeom prst="rect">
            <a:avLst/>
          </a:prstGeom>
          <a:noFill/>
        </p:spPr>
        <p:txBody>
          <a:bodyPr wrap="square">
            <a:spAutoFit/>
          </a:bodyPr>
          <a:lstStyle/>
          <a:p>
            <a:pPr>
              <a:defRPr sz="1100">
                <a:solidFill>
                  <a:srgbClr val="333333"/>
                </a:solidFill>
              </a:defRPr>
            </a:pPr>
            <a:r>
              <a:t>Est. Saving: INR 66</a:t>
            </a:r>
          </a:p>
        </p:txBody>
      </p:sp>
      <p:sp>
        <p:nvSpPr>
          <p:cNvPr id="14" name="Rectangle 13"/>
          <p:cNvSpPr/>
          <p:nvPr/>
        </p:nvSpPr>
        <p:spPr>
          <a:xfrm>
            <a:off x="457200" y="40690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6" name="TextBox 15"/>
          <p:cNvSpPr txBox="1"/>
          <p:nvPr/>
        </p:nvSpPr>
        <p:spPr>
          <a:xfrm>
            <a:off x="457200" y="4434840"/>
            <a:ext cx="5303520" cy="1645920"/>
          </a:xfrm>
          <a:prstGeom prst="rect">
            <a:avLst/>
          </a:prstGeom>
          <a:noFill/>
        </p:spPr>
        <p:txBody>
          <a:bodyPr wrap="square">
            <a:spAutoFit/>
          </a:bodyPr>
          <a:lstStyle/>
          <a:p>
            <a:pPr>
              <a:defRPr sz="1000">
                <a:solidFill>
                  <a:srgbClr val="333333"/>
                </a:solidFill>
              </a:defRPr>
            </a:pPr>
            <a:r>
              <a:t>VALIDATION ROADMAP:</a:t>
            </a:r>
            <a:br/>
            <a:r>
              <a:t>• Martindale Abrasion Test (ISO 12947) - 50,000 cycles</a:t>
            </a:r>
            <a:br/>
            <a:r>
              <a:t>• Head Impact Criterion (HIC) validation per FMVSS 201</a:t>
            </a:r>
            <a:br/>
            <a:r>
              <a:t>• Thermal Cycling Test (-40°C to +85°C, 100 cycles)</a:t>
            </a:r>
            <a:br/>
            <a:r>
              <a:t>RISK MITIGATION:</a:t>
            </a:r>
            <a:br/>
            <a:r>
              <a:t>⚠ NVH (Noise, Vibration, Harshness) degradation due to material property changes</a:t>
            </a:r>
            <a:br/>
            <a:r>
              <a:t>⚠ Durability concerns under extreme temperature cycling (-40°C to +85°C)</a:t>
            </a:r>
            <a:br/>
            <a:r>
              <a:t>⚠ Potential aesthetic gaps requiring design validation</a:t>
            </a:r>
          </a:p>
        </p:txBody>
      </p:sp>
      <p:sp>
        <p:nvSpPr>
          <p:cNvPr id="17" name="Rectangle 16"/>
          <p:cNvSpPr/>
          <p:nvPr/>
        </p:nvSpPr>
        <p:spPr>
          <a:xfrm>
            <a:off x="457200" y="60807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21792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6446520"/>
            <a:ext cx="5303520" cy="1097280"/>
          </a:xfrm>
          <a:prstGeom prst="rect">
            <a:avLst/>
          </a:prstGeom>
          <a:noFill/>
        </p:spPr>
        <p:txBody>
          <a:bodyPr wrap="square">
            <a:spAutoFit/>
          </a:bodyPr>
          <a:lstStyle/>
          <a:p>
            <a:pPr>
              <a:defRPr sz="1100">
                <a:solidFill>
                  <a:srgbClr val="333333"/>
                </a:solidFill>
              </a:defRPr>
            </a:pPr>
            <a:r>
              <a:t>• Supplier Change: Switching to optimized materials moves us from Tier-2 to Tier-1</a:t>
            </a:r>
            <a:br/>
            <a:r>
              <a:t>• Lead Time: Reduces lead time by 3 weeks through local sourcing</a:t>
            </a:r>
            <a:br/>
            <a:r>
              <a:t>• Risk: Mitigates geopolitical risk by sourcing local raw materials</a:t>
            </a:r>
            <a:br/>
            <a:r>
              <a:t>• Cost Impact: Reduces logistics costs by 12% through supply chain optimization</a:t>
            </a:r>
          </a:p>
        </p:txBody>
      </p:sp>
      <p:sp>
        <p:nvSpPr>
          <p:cNvPr id="20" name="Rectangle 19"/>
          <p:cNvSpPr/>
          <p:nvPr/>
        </p:nvSpPr>
        <p:spPr>
          <a:xfrm>
            <a:off x="457200" y="75438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178.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Reducethe25m_1767288103943.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#3: Replace ABS+PVC+PU with PP+PE-TD14 in the manufacture of both Front and Rear Passenger Armrest Trims of MGI</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548640"/>
          </a:xfrm>
          <a:prstGeom prst="rect">
            <a:avLst/>
          </a:prstGeom>
          <a:noFill/>
        </p:spPr>
        <p:txBody>
          <a:bodyPr wrap="square">
            <a:spAutoFit/>
          </a:bodyPr>
          <a:lstStyle/>
          <a:p>
            <a:pPr>
              <a:defRPr sz="1100">
                <a:solidFill>
                  <a:srgbClr val="333333"/>
                </a:solidFill>
              </a:defRPr>
            </a:pPr>
            <a:r>
              <a:t>Optimization via material substitution to automotive grade standards.</a:t>
            </a:r>
          </a:p>
        </p:txBody>
      </p:sp>
      <p:sp>
        <p:nvSpPr>
          <p:cNvPr id="5" name="Rectangle 4"/>
          <p:cNvSpPr/>
          <p:nvPr/>
        </p:nvSpPr>
        <p:spPr>
          <a:xfrm>
            <a:off x="457200" y="1874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240280"/>
            <a:ext cx="5303520" cy="365760"/>
          </a:xfrm>
          <a:prstGeom prst="rect">
            <a:avLst/>
          </a:prstGeom>
          <a:noFill/>
        </p:spPr>
        <p:txBody>
          <a:bodyPr wrap="square">
            <a:spAutoFit/>
          </a:bodyPr>
          <a:lstStyle/>
          <a:p>
            <a:pPr>
              <a:defRPr sz="1100">
                <a:solidFill>
                  <a:srgbClr val="333333"/>
                </a:solidFill>
              </a:defRPr>
            </a:pPr>
            <a:r>
              <a:t>Replace ABS+PVC+PU with PP+PE-TD14 in the manufacture of both Front and Rear Pas</a:t>
            </a:r>
          </a:p>
        </p:txBody>
      </p:sp>
      <p:sp>
        <p:nvSpPr>
          <p:cNvPr id="8" name="Rectangle 7"/>
          <p:cNvSpPr/>
          <p:nvPr/>
        </p:nvSpPr>
        <p:spPr>
          <a:xfrm>
            <a:off x="457200" y="26060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4320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2971800"/>
            <a:ext cx="5303520" cy="36576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3375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7472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03320"/>
            <a:ext cx="5303520" cy="365760"/>
          </a:xfrm>
          <a:prstGeom prst="rect">
            <a:avLst/>
          </a:prstGeom>
          <a:noFill/>
        </p:spPr>
        <p:txBody>
          <a:bodyPr wrap="square">
            <a:spAutoFit/>
          </a:bodyPr>
          <a:lstStyle/>
          <a:p>
            <a:pPr>
              <a:defRPr sz="1100">
                <a:solidFill>
                  <a:srgbClr val="333333"/>
                </a:solidFill>
              </a:defRPr>
            </a:pPr>
            <a:r>
              <a:t>Est. Saving: INR 126</a:t>
            </a:r>
          </a:p>
        </p:txBody>
      </p:sp>
      <p:sp>
        <p:nvSpPr>
          <p:cNvPr id="14" name="Rectangle 13"/>
          <p:cNvSpPr/>
          <p:nvPr/>
        </p:nvSpPr>
        <p:spPr>
          <a:xfrm>
            <a:off x="457200" y="40690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6" name="TextBox 15"/>
          <p:cNvSpPr txBox="1"/>
          <p:nvPr/>
        </p:nvSpPr>
        <p:spPr>
          <a:xfrm>
            <a:off x="457200" y="4434840"/>
            <a:ext cx="5303520" cy="1645920"/>
          </a:xfrm>
          <a:prstGeom prst="rect">
            <a:avLst/>
          </a:prstGeom>
          <a:noFill/>
        </p:spPr>
        <p:txBody>
          <a:bodyPr wrap="square">
            <a:spAutoFit/>
          </a:bodyPr>
          <a:lstStyle/>
          <a:p>
            <a:pPr>
              <a:defRPr sz="1000">
                <a:solidFill>
                  <a:srgbClr val="333333"/>
                </a:solidFill>
              </a:defRPr>
            </a:pPr>
            <a:r>
              <a:t>VALIDATION ROADMAP:</a:t>
            </a:r>
            <a:br/>
            <a:r>
              <a:t>• Martindale Abrasion Test (ISO 12947) - 50,000 cycles</a:t>
            </a:r>
            <a:br/>
            <a:r>
              <a:t>• Head Impact Criterion (HIC) validation per FMVSS 201</a:t>
            </a:r>
            <a:br/>
            <a:r>
              <a:t>• Thermal Cycling Test (-40°C to +85°C, 100 cycles)</a:t>
            </a:r>
            <a:br/>
            <a:r>
              <a:t>RISK MITIGATION:</a:t>
            </a:r>
            <a:br/>
            <a:r>
              <a:t>⚠ NVH (Noise, Vibration, Harshness) degradation due to material property changes</a:t>
            </a:r>
            <a:br/>
            <a:r>
              <a:t>⚠ Durability concerns under extreme temperature cycling (-40°C to +85°C)</a:t>
            </a:r>
            <a:br/>
            <a:r>
              <a:t>⚠ Potential aesthetic gaps requiring design validation</a:t>
            </a:r>
          </a:p>
        </p:txBody>
      </p:sp>
      <p:sp>
        <p:nvSpPr>
          <p:cNvPr id="17" name="Rectangle 16"/>
          <p:cNvSpPr/>
          <p:nvPr/>
        </p:nvSpPr>
        <p:spPr>
          <a:xfrm>
            <a:off x="457200" y="60807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21792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6446520"/>
            <a:ext cx="5303520" cy="1097280"/>
          </a:xfrm>
          <a:prstGeom prst="rect">
            <a:avLst/>
          </a:prstGeom>
          <a:noFill/>
        </p:spPr>
        <p:txBody>
          <a:bodyPr wrap="square">
            <a:spAutoFit/>
          </a:bodyPr>
          <a:lstStyle/>
          <a:p>
            <a:pPr>
              <a:defRPr sz="1100">
                <a:solidFill>
                  <a:srgbClr val="333333"/>
                </a:solidFill>
              </a:defRPr>
            </a:pPr>
            <a:r>
              <a:t>• Supplier Change: Switching to optimized materials moves us from Tier-2 to Tier-1</a:t>
            </a:r>
            <a:br/>
            <a:r>
              <a:t>• Lead Time: Reduces lead time by 3 weeks through local sourcing</a:t>
            </a:r>
            <a:br/>
            <a:r>
              <a:t>• Risk: Mitigates geopolitical risk by sourcing local raw materials</a:t>
            </a:r>
            <a:br/>
            <a:r>
              <a:t>• Cost Impact: Reduces logistics costs by 12% through supply chain optimization</a:t>
            </a:r>
          </a:p>
        </p:txBody>
      </p:sp>
      <p:sp>
        <p:nvSpPr>
          <p:cNvPr id="20" name="Rectangle 19"/>
          <p:cNvSpPr/>
          <p:nvPr/>
        </p:nvSpPr>
        <p:spPr>
          <a:xfrm>
            <a:off x="457200" y="75438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65.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ReplaceABSPVC_1767288104217.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#4: Reduce the Paint Coating Thickness of the highlighted Front Hood BiW Panel from 160 - 170μm to 100 - 110μm</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548640"/>
          </a:xfrm>
          <a:prstGeom prst="rect">
            <a:avLst/>
          </a:prstGeom>
          <a:noFill/>
        </p:spPr>
        <p:txBody>
          <a:bodyPr wrap="square">
            <a:spAutoFit/>
          </a:bodyPr>
          <a:lstStyle/>
          <a:p>
            <a:pPr>
              <a:defRPr sz="1100">
                <a:solidFill>
                  <a:srgbClr val="333333"/>
                </a:solidFill>
              </a:defRPr>
            </a:pPr>
            <a:r>
              <a:t>Optimization via material substitution to automotive grade standards.</a:t>
            </a:r>
          </a:p>
        </p:txBody>
      </p:sp>
      <p:sp>
        <p:nvSpPr>
          <p:cNvPr id="5" name="Rectangle 4"/>
          <p:cNvSpPr/>
          <p:nvPr/>
        </p:nvSpPr>
        <p:spPr>
          <a:xfrm>
            <a:off x="457200" y="1874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240280"/>
            <a:ext cx="5303520" cy="36576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060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4320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2971800"/>
            <a:ext cx="5303520" cy="365760"/>
          </a:xfrm>
          <a:prstGeom prst="rect">
            <a:avLst/>
          </a:prstGeom>
          <a:noFill/>
        </p:spPr>
        <p:txBody>
          <a:bodyPr wrap="square">
            <a:spAutoFit/>
          </a:bodyPr>
          <a:lstStyle/>
          <a:p>
            <a:pPr>
              <a:defRPr sz="1100">
                <a:solidFill>
                  <a:srgbClr val="333333"/>
                </a:solidFill>
              </a:defRPr>
            </a:pPr>
            <a:r>
              <a:t>170μm to 100 - 110μm</a:t>
            </a:r>
          </a:p>
        </p:txBody>
      </p:sp>
      <p:sp>
        <p:nvSpPr>
          <p:cNvPr id="11" name="Rectangle 10"/>
          <p:cNvSpPr/>
          <p:nvPr/>
        </p:nvSpPr>
        <p:spPr>
          <a:xfrm>
            <a:off x="457200" y="33375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7472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03320"/>
            <a:ext cx="5303520" cy="365760"/>
          </a:xfrm>
          <a:prstGeom prst="rect">
            <a:avLst/>
          </a:prstGeom>
          <a:noFill/>
        </p:spPr>
        <p:txBody>
          <a:bodyPr wrap="square">
            <a:spAutoFit/>
          </a:bodyPr>
          <a:lstStyle/>
          <a:p>
            <a:pPr>
              <a:defRPr sz="1100">
                <a:solidFill>
                  <a:srgbClr val="333333"/>
                </a:solidFill>
              </a:defRPr>
            </a:pPr>
            <a:r>
              <a:t>Est. Saving: INR 82</a:t>
            </a:r>
          </a:p>
        </p:txBody>
      </p:sp>
      <p:sp>
        <p:nvSpPr>
          <p:cNvPr id="14" name="Rectangle 13"/>
          <p:cNvSpPr/>
          <p:nvPr/>
        </p:nvSpPr>
        <p:spPr>
          <a:xfrm>
            <a:off x="457200" y="40690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6" name="TextBox 15"/>
          <p:cNvSpPr txBox="1"/>
          <p:nvPr/>
        </p:nvSpPr>
        <p:spPr>
          <a:xfrm>
            <a:off x="457200" y="4434840"/>
            <a:ext cx="5303520" cy="1645920"/>
          </a:xfrm>
          <a:prstGeom prst="rect">
            <a:avLst/>
          </a:prstGeom>
          <a:noFill/>
        </p:spPr>
        <p:txBody>
          <a:bodyPr wrap="square">
            <a:spAutoFit/>
          </a:bodyPr>
          <a:lstStyle/>
          <a:p>
            <a:pPr>
              <a:defRPr sz="1000">
                <a:solidFill>
                  <a:srgbClr val="333333"/>
                </a:solidFill>
              </a:defRPr>
            </a:pPr>
            <a:r>
              <a:t>VALIDATION ROADMAP:</a:t>
            </a:r>
            <a:br/>
            <a:r>
              <a:t>• Martindale Abrasion Test (ISO 12947) - 50,000 cycles</a:t>
            </a:r>
            <a:br/>
            <a:r>
              <a:t>• Head Impact Criterion (HIC) validation per FMVSS 201</a:t>
            </a:r>
            <a:br/>
            <a:r>
              <a:t>• Thermal Cycling Test (-40°C to +85°C, 100 cycles)</a:t>
            </a:r>
            <a:br/>
            <a:r>
              <a:t>RISK MITIGATION:</a:t>
            </a:r>
            <a:br/>
            <a:r>
              <a:t>⚠ NVH (Noise, Vibration, Harshness) degradation due to material property changes</a:t>
            </a:r>
            <a:br/>
            <a:r>
              <a:t>⚠ Durability concerns under extreme temperature cycling (-40°C to +85°C)</a:t>
            </a:r>
            <a:br/>
            <a:r>
              <a:t>⚠ Potential aesthetic gaps requiring design validation</a:t>
            </a:r>
          </a:p>
        </p:txBody>
      </p:sp>
      <p:sp>
        <p:nvSpPr>
          <p:cNvPr id="17" name="Rectangle 16"/>
          <p:cNvSpPr/>
          <p:nvPr/>
        </p:nvSpPr>
        <p:spPr>
          <a:xfrm>
            <a:off x="457200" y="60807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21792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6446520"/>
            <a:ext cx="5303520" cy="1097280"/>
          </a:xfrm>
          <a:prstGeom prst="rect">
            <a:avLst/>
          </a:prstGeom>
          <a:noFill/>
        </p:spPr>
        <p:txBody>
          <a:bodyPr wrap="square">
            <a:spAutoFit/>
          </a:bodyPr>
          <a:lstStyle/>
          <a:p>
            <a:pPr>
              <a:defRPr sz="1100">
                <a:solidFill>
                  <a:srgbClr val="333333"/>
                </a:solidFill>
              </a:defRPr>
            </a:pPr>
            <a:r>
              <a:t>• Supplier Change: Switching to optimized materials moves us from Tier-2 to Tier-1</a:t>
            </a:r>
            <a:br/>
            <a:r>
              <a:t>• Lead Time: Reduces lead time by 3 weeks through local sourcing</a:t>
            </a:r>
            <a:br/>
            <a:r>
              <a:t>• Risk: Mitigates geopolitical risk by sourcing local raw materials</a:t>
            </a:r>
            <a:br/>
            <a:r>
              <a:t>• Cost Impact: Reduces logistics costs by 12% through supply chain optimization</a:t>
            </a:r>
          </a:p>
        </p:txBody>
      </p:sp>
      <p:sp>
        <p:nvSpPr>
          <p:cNvPr id="20" name="Rectangle 19"/>
          <p:cNvSpPr/>
          <p:nvPr/>
        </p:nvSpPr>
        <p:spPr>
          <a:xfrm>
            <a:off x="457200" y="75438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37.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ReducethePain_1767288104484.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#5: Remove the Neoprene Foam Sheaths present on the fuel lines and the fuel inlet hose of MGI</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548640"/>
          </a:xfrm>
          <a:prstGeom prst="rect">
            <a:avLst/>
          </a:prstGeom>
          <a:noFill/>
        </p:spPr>
        <p:txBody>
          <a:bodyPr wrap="square">
            <a:spAutoFit/>
          </a:bodyPr>
          <a:lstStyle/>
          <a:p>
            <a:pPr>
              <a:defRPr sz="1100">
                <a:solidFill>
                  <a:srgbClr val="333333"/>
                </a:solidFill>
              </a:defRPr>
            </a:pPr>
            <a:r>
              <a:t>Optimization via material substitution to automotive grade standards.</a:t>
            </a:r>
          </a:p>
        </p:txBody>
      </p:sp>
      <p:sp>
        <p:nvSpPr>
          <p:cNvPr id="5" name="Rectangle 4"/>
          <p:cNvSpPr/>
          <p:nvPr/>
        </p:nvSpPr>
        <p:spPr>
          <a:xfrm>
            <a:off x="457200" y="1874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240280"/>
            <a:ext cx="5303520" cy="36576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060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4320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2971800"/>
            <a:ext cx="5303520" cy="36576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3375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7472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03320"/>
            <a:ext cx="5303520" cy="365760"/>
          </a:xfrm>
          <a:prstGeom prst="rect">
            <a:avLst/>
          </a:prstGeom>
          <a:noFill/>
        </p:spPr>
        <p:txBody>
          <a:bodyPr wrap="square">
            <a:spAutoFit/>
          </a:bodyPr>
          <a:lstStyle/>
          <a:p>
            <a:pPr>
              <a:defRPr sz="1100">
                <a:solidFill>
                  <a:srgbClr val="333333"/>
                </a:solidFill>
              </a:defRPr>
            </a:pPr>
            <a:r>
              <a:t>Est. Saving: INR 142</a:t>
            </a:r>
          </a:p>
        </p:txBody>
      </p:sp>
      <p:sp>
        <p:nvSpPr>
          <p:cNvPr id="14" name="Rectangle 13"/>
          <p:cNvSpPr/>
          <p:nvPr/>
        </p:nvSpPr>
        <p:spPr>
          <a:xfrm>
            <a:off x="457200" y="40690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6" name="TextBox 15"/>
          <p:cNvSpPr txBox="1"/>
          <p:nvPr/>
        </p:nvSpPr>
        <p:spPr>
          <a:xfrm>
            <a:off x="457200" y="4434840"/>
            <a:ext cx="5303520" cy="1645920"/>
          </a:xfrm>
          <a:prstGeom prst="rect">
            <a:avLst/>
          </a:prstGeom>
          <a:noFill/>
        </p:spPr>
        <p:txBody>
          <a:bodyPr wrap="square">
            <a:spAutoFit/>
          </a:bodyPr>
          <a:lstStyle/>
          <a:p>
            <a:pPr>
              <a:defRPr sz="1000">
                <a:solidFill>
                  <a:srgbClr val="333333"/>
                </a:solidFill>
              </a:defRPr>
            </a:pPr>
            <a:r>
              <a:t>VALIDATION ROADMAP:</a:t>
            </a:r>
            <a:br/>
            <a:r>
              <a:t>• Martindale Abrasion Test (ISO 12947) - 50,000 cycles</a:t>
            </a:r>
            <a:br/>
            <a:r>
              <a:t>• Head Impact Criterion (HIC) validation per FMVSS 201</a:t>
            </a:r>
            <a:br/>
            <a:r>
              <a:t>• Thermal Cycling Test (-40°C to +85°C, 100 cycles)</a:t>
            </a:r>
            <a:br/>
            <a:r>
              <a:t>RISK MITIGATION:</a:t>
            </a:r>
            <a:br/>
            <a:r>
              <a:t>⚠ NVH (Noise, Vibration, Harshness) degradation due to material property changes</a:t>
            </a:r>
            <a:br/>
            <a:r>
              <a:t>⚠ Durability concerns under extreme temperature cycling (-40°C to +85°C)</a:t>
            </a:r>
            <a:br/>
            <a:r>
              <a:t>⚠ Potential aesthetic gaps requiring design validation</a:t>
            </a:r>
          </a:p>
        </p:txBody>
      </p:sp>
      <p:sp>
        <p:nvSpPr>
          <p:cNvPr id="17" name="Rectangle 16"/>
          <p:cNvSpPr/>
          <p:nvPr/>
        </p:nvSpPr>
        <p:spPr>
          <a:xfrm>
            <a:off x="457200" y="60807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21792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6446520"/>
            <a:ext cx="5303520" cy="1097280"/>
          </a:xfrm>
          <a:prstGeom prst="rect">
            <a:avLst/>
          </a:prstGeom>
          <a:noFill/>
        </p:spPr>
        <p:txBody>
          <a:bodyPr wrap="square">
            <a:spAutoFit/>
          </a:bodyPr>
          <a:lstStyle/>
          <a:p>
            <a:pPr>
              <a:defRPr sz="1100">
                <a:solidFill>
                  <a:srgbClr val="333333"/>
                </a:solidFill>
              </a:defRPr>
            </a:pPr>
            <a:r>
              <a:t>• Supplier Change: Switching to optimized materials moves us from Tier-2 to Tier-1</a:t>
            </a:r>
            <a:br/>
            <a:r>
              <a:t>• Lead Time: Reduces lead time by 3 weeks through local sourcing</a:t>
            </a:r>
            <a:br/>
            <a:r>
              <a:t>• Risk: Mitigates geopolitical risk by sourcing local raw materials</a:t>
            </a:r>
            <a:br/>
            <a:r>
              <a:t>• Cost Impact: Reduces logistics costs by 12% through supply chain optimization</a:t>
            </a:r>
          </a:p>
        </p:txBody>
      </p:sp>
      <p:sp>
        <p:nvSpPr>
          <p:cNvPr id="20" name="Rectangle 19"/>
          <p:cNvSpPr/>
          <p:nvPr/>
        </p:nvSpPr>
        <p:spPr>
          <a:xfrm>
            <a:off x="457200" y="75438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128.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RemovetheNeop_1767288104740.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#6: Re-evaluate and down-spec steel alloy grade for lower-stressed gears (e.g., 5th/6th gear, reverse gear) in the transmission, moving from a high-nickel chromium alloy to a more common chromium-manganese steel like 20MnCr5, leveraging optimized heat treatment processes.</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548640"/>
          </a:xfrm>
          <a:prstGeom prst="rect">
            <a:avLst/>
          </a:prstGeom>
          <a:noFill/>
        </p:spPr>
        <p:txBody>
          <a:bodyPr wrap="square">
            <a:spAutoFit/>
          </a:bodyPr>
          <a:lstStyle/>
          <a:p>
            <a:pPr>
              <a:defRPr sz="1100">
                <a:solidFill>
                  <a:srgbClr val="333333"/>
                </a:solidFill>
              </a:defRPr>
            </a:pPr>
            <a:r>
              <a:t>Optimization via material substitution to automotive grade standards.</a:t>
            </a:r>
          </a:p>
        </p:txBody>
      </p:sp>
      <p:sp>
        <p:nvSpPr>
          <p:cNvPr id="5" name="Rectangle 4"/>
          <p:cNvSpPr/>
          <p:nvPr/>
        </p:nvSpPr>
        <p:spPr>
          <a:xfrm>
            <a:off x="457200" y="1874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240280"/>
            <a:ext cx="5303520" cy="365760"/>
          </a:xfrm>
          <a:prstGeom prst="rect">
            <a:avLst/>
          </a:prstGeom>
          <a:noFill/>
        </p:spPr>
        <p:txBody>
          <a:bodyPr wrap="square">
            <a:spAutoFit/>
          </a:bodyPr>
          <a:lstStyle/>
          <a:p>
            <a:pPr>
              <a:defRPr sz="1100">
                <a:solidFill>
                  <a:srgbClr val="333333"/>
                </a:solidFill>
              </a:defRPr>
            </a:pPr>
            <a:r>
              <a:t>Re-evaluate and down-spec steel alloy grade for lower-stressed gears (e</a:t>
            </a:r>
          </a:p>
        </p:txBody>
      </p:sp>
      <p:sp>
        <p:nvSpPr>
          <p:cNvPr id="8" name="Rectangle 7"/>
          <p:cNvSpPr/>
          <p:nvPr/>
        </p:nvSpPr>
        <p:spPr>
          <a:xfrm>
            <a:off x="457200" y="26060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4320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2971800"/>
            <a:ext cx="5303520" cy="36576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3375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7472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03320"/>
            <a:ext cx="5303520" cy="36576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0690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6" name="TextBox 15"/>
          <p:cNvSpPr txBox="1"/>
          <p:nvPr/>
        </p:nvSpPr>
        <p:spPr>
          <a:xfrm>
            <a:off x="457200" y="4434840"/>
            <a:ext cx="5303520" cy="1645920"/>
          </a:xfrm>
          <a:prstGeom prst="rect">
            <a:avLst/>
          </a:prstGeom>
          <a:noFill/>
        </p:spPr>
        <p:txBody>
          <a:bodyPr wrap="square">
            <a:spAutoFit/>
          </a:bodyPr>
          <a:lstStyle/>
          <a:p>
            <a:pPr>
              <a:defRPr sz="1000">
                <a:solidFill>
                  <a:srgbClr val="333333"/>
                </a:solidFill>
              </a:defRPr>
            </a:pPr>
            <a:r>
              <a:t>VALIDATION ROADMAP:</a:t>
            </a:r>
            <a:br/>
            <a:r>
              <a:t>• Martindale Abrasion Test (ISO 12947) - 50,000 cycles</a:t>
            </a:r>
            <a:br/>
            <a:r>
              <a:t>• Head Impact Criterion (HIC) validation per FMVSS 201</a:t>
            </a:r>
            <a:br/>
            <a:r>
              <a:t>• Thermal Cycling Test (-40°C to +85°C, 100 cycles)</a:t>
            </a:r>
            <a:br/>
            <a:r>
              <a:t>RISK MITIGATION:</a:t>
            </a:r>
            <a:br/>
            <a:r>
              <a:t>⚠ NVH (Noise, Vibration, Harshness) degradation due to material property changes</a:t>
            </a:r>
            <a:br/>
            <a:r>
              <a:t>⚠ Durability concerns under extreme temperature cycling (-40°C to +85°C)</a:t>
            </a:r>
            <a:br/>
            <a:r>
              <a:t>⚠ Potential aesthetic gaps requiring design validation</a:t>
            </a:r>
          </a:p>
        </p:txBody>
      </p:sp>
      <p:sp>
        <p:nvSpPr>
          <p:cNvPr id="17" name="Rectangle 16"/>
          <p:cNvSpPr/>
          <p:nvPr/>
        </p:nvSpPr>
        <p:spPr>
          <a:xfrm>
            <a:off x="457200" y="60807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21792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6446520"/>
            <a:ext cx="5303520" cy="1097280"/>
          </a:xfrm>
          <a:prstGeom prst="rect">
            <a:avLst/>
          </a:prstGeom>
          <a:noFill/>
        </p:spPr>
        <p:txBody>
          <a:bodyPr wrap="square">
            <a:spAutoFit/>
          </a:bodyPr>
          <a:lstStyle/>
          <a:p>
            <a:pPr>
              <a:defRPr sz="1100">
                <a:solidFill>
                  <a:srgbClr val="333333"/>
                </a:solidFill>
              </a:defRPr>
            </a:pPr>
            <a:r>
              <a:t>• Supplier Change: Switching to optimized materials moves us from Tier-2 to Tier-1</a:t>
            </a:r>
            <a:br/>
            <a:r>
              <a:t>• Lead Time: Reduces lead time by 3 weeks through local sourcing</a:t>
            </a:r>
            <a:br/>
            <a:r>
              <a:t>• Risk: Mitigates geopolitical risk by sourcing local raw materials</a:t>
            </a:r>
            <a:br/>
            <a:r>
              <a:t>• Cost Impact: Reduces logistics costs by 12% through supply chain optimization</a:t>
            </a:r>
          </a:p>
        </p:txBody>
      </p:sp>
      <p:sp>
        <p:nvSpPr>
          <p:cNvPr id="20" name="Rectangle 19"/>
          <p:cNvSpPr/>
          <p:nvPr/>
        </p:nvSpPr>
        <p:spPr>
          <a:xfrm>
            <a:off x="457200" y="75438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22.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Reevaluateand_1767288104932.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#7: Optimize the face width of the 3rd and 4th speed gears within the transmission by 5-8%, through detailed tooth profile optimization (e.g., helix angle adjustment, pressure angle revision) and advanced manufacturing precision, reducing material volume per gear.</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548640"/>
          </a:xfrm>
          <a:prstGeom prst="rect">
            <a:avLst/>
          </a:prstGeom>
          <a:noFill/>
        </p:spPr>
        <p:txBody>
          <a:bodyPr wrap="square">
            <a:spAutoFit/>
          </a:bodyPr>
          <a:lstStyle/>
          <a:p>
            <a:pPr>
              <a:defRPr sz="1100">
                <a:solidFill>
                  <a:srgbClr val="333333"/>
                </a:solidFill>
              </a:defRPr>
            </a:pPr>
            <a:r>
              <a:t>Optimization via material substitution to automotive grade standards.</a:t>
            </a:r>
          </a:p>
        </p:txBody>
      </p:sp>
      <p:sp>
        <p:nvSpPr>
          <p:cNvPr id="5" name="Rectangle 4"/>
          <p:cNvSpPr/>
          <p:nvPr/>
        </p:nvSpPr>
        <p:spPr>
          <a:xfrm>
            <a:off x="457200" y="1874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240280"/>
            <a:ext cx="5303520" cy="365760"/>
          </a:xfrm>
          <a:prstGeom prst="rect">
            <a:avLst/>
          </a:prstGeom>
          <a:noFill/>
        </p:spPr>
        <p:txBody>
          <a:bodyPr wrap="square">
            <a:spAutoFit/>
          </a:bodyPr>
          <a:lstStyle/>
          <a:p>
            <a:pPr>
              <a:defRPr sz="1100">
                <a:solidFill>
                  <a:srgbClr val="333333"/>
                </a:solidFill>
              </a:defRPr>
            </a:pPr>
            <a:r>
              <a:t>, helix angle adjustment, pressure angle revision) and advanced manufacturing pr</a:t>
            </a:r>
          </a:p>
        </p:txBody>
      </p:sp>
      <p:sp>
        <p:nvSpPr>
          <p:cNvPr id="8" name="Rectangle 7"/>
          <p:cNvSpPr/>
          <p:nvPr/>
        </p:nvSpPr>
        <p:spPr>
          <a:xfrm>
            <a:off x="457200" y="26060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4320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2971800"/>
            <a:ext cx="5303520" cy="36576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3375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7472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03320"/>
            <a:ext cx="5303520" cy="36576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0690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6" name="TextBox 15"/>
          <p:cNvSpPr txBox="1"/>
          <p:nvPr/>
        </p:nvSpPr>
        <p:spPr>
          <a:xfrm>
            <a:off x="457200" y="4434840"/>
            <a:ext cx="5303520" cy="1645920"/>
          </a:xfrm>
          <a:prstGeom prst="rect">
            <a:avLst/>
          </a:prstGeom>
          <a:noFill/>
        </p:spPr>
        <p:txBody>
          <a:bodyPr wrap="square">
            <a:spAutoFit/>
          </a:bodyPr>
          <a:lstStyle/>
          <a:p>
            <a:pPr>
              <a:defRPr sz="1000">
                <a:solidFill>
                  <a:srgbClr val="333333"/>
                </a:solidFill>
              </a:defRPr>
            </a:pPr>
            <a:r>
              <a:t>VALIDATION ROADMAP:</a:t>
            </a:r>
            <a:br/>
            <a:r>
              <a:t>• Martindale Abrasion Test (ISO 12947) - 50,000 cycles</a:t>
            </a:r>
            <a:br/>
            <a:r>
              <a:t>• Head Impact Criterion (HIC) validation per FMVSS 201</a:t>
            </a:r>
            <a:br/>
            <a:r>
              <a:t>• Thermal Cycling Test (-40°C to +85°C, 100 cycles)</a:t>
            </a:r>
            <a:br/>
            <a:r>
              <a:t>RISK MITIGATION:</a:t>
            </a:r>
            <a:br/>
            <a:r>
              <a:t>⚠ NVH (Noise, Vibration, Harshness) degradation due to material property changes</a:t>
            </a:r>
            <a:br/>
            <a:r>
              <a:t>⚠ Durability concerns under extreme temperature cycling (-40°C to +85°C)</a:t>
            </a:r>
            <a:br/>
            <a:r>
              <a:t>⚠ Potential aesthetic gaps requiring design validation</a:t>
            </a:r>
          </a:p>
        </p:txBody>
      </p:sp>
      <p:sp>
        <p:nvSpPr>
          <p:cNvPr id="17" name="Rectangle 16"/>
          <p:cNvSpPr/>
          <p:nvPr/>
        </p:nvSpPr>
        <p:spPr>
          <a:xfrm>
            <a:off x="457200" y="60807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21792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6446520"/>
            <a:ext cx="5303520" cy="1097280"/>
          </a:xfrm>
          <a:prstGeom prst="rect">
            <a:avLst/>
          </a:prstGeom>
          <a:noFill/>
        </p:spPr>
        <p:txBody>
          <a:bodyPr wrap="square">
            <a:spAutoFit/>
          </a:bodyPr>
          <a:lstStyle/>
          <a:p>
            <a:pPr>
              <a:defRPr sz="1100">
                <a:solidFill>
                  <a:srgbClr val="333333"/>
                </a:solidFill>
              </a:defRPr>
            </a:pPr>
            <a:r>
              <a:t>• Supplier Change: Switching to optimized materials moves us from Tier-2 to Tier-1</a:t>
            </a:r>
            <a:br/>
            <a:r>
              <a:t>• Lead Time: Reduces lead time by 3 weeks through local sourcing</a:t>
            </a:r>
            <a:br/>
            <a:r>
              <a:t>• Risk: Mitigates geopolitical risk by sourcing local raw materials</a:t>
            </a:r>
            <a:br/>
            <a:r>
              <a:t>• Cost Impact: Reduces logistics costs by 12% through supply chain optimization</a:t>
            </a:r>
          </a:p>
        </p:txBody>
      </p:sp>
      <p:sp>
        <p:nvSpPr>
          <p:cNvPr id="20" name="Rectangle 19"/>
          <p:cNvSpPr/>
          <p:nvPr/>
        </p:nvSpPr>
        <p:spPr>
          <a:xfrm>
            <a:off x="457200" y="75438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8.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Optimizethefa_1767288105067.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#8: Reduce the nominal wall thickness of the die-cast aluminum transmission housing by 1.0-1.5mm in non-critical load path areas, coupled with a topological optimization approach to redistribute material and reinforce critical mounting points and bearing seats.</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548640"/>
          </a:xfrm>
          <a:prstGeom prst="rect">
            <a:avLst/>
          </a:prstGeom>
          <a:noFill/>
        </p:spPr>
        <p:txBody>
          <a:bodyPr wrap="square">
            <a:spAutoFit/>
          </a:bodyPr>
          <a:lstStyle/>
          <a:p>
            <a:pPr>
              <a:defRPr sz="1100">
                <a:solidFill>
                  <a:srgbClr val="333333"/>
                </a:solidFill>
              </a:defRPr>
            </a:pPr>
            <a:r>
              <a:t>Optimization via material substitution to automotive grade standards.</a:t>
            </a:r>
          </a:p>
        </p:txBody>
      </p:sp>
      <p:sp>
        <p:nvSpPr>
          <p:cNvPr id="5" name="Rectangle 4"/>
          <p:cNvSpPr/>
          <p:nvPr/>
        </p:nvSpPr>
        <p:spPr>
          <a:xfrm>
            <a:off x="457200" y="1874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240280"/>
            <a:ext cx="5303520" cy="365760"/>
          </a:xfrm>
          <a:prstGeom prst="rect">
            <a:avLst/>
          </a:prstGeom>
          <a:noFill/>
        </p:spPr>
        <p:txBody>
          <a:bodyPr wrap="square">
            <a:spAutoFit/>
          </a:bodyPr>
          <a:lstStyle/>
          <a:p>
            <a:pPr>
              <a:defRPr sz="1100">
                <a:solidFill>
                  <a:srgbClr val="333333"/>
                </a:solidFill>
              </a:defRPr>
            </a:pPr>
            <a:r>
              <a:t>Reduce the nominal wall thickness of the die-cast aluminum transmission housing</a:t>
            </a:r>
          </a:p>
        </p:txBody>
      </p:sp>
      <p:sp>
        <p:nvSpPr>
          <p:cNvPr id="8" name="Rectangle 7"/>
          <p:cNvSpPr/>
          <p:nvPr/>
        </p:nvSpPr>
        <p:spPr>
          <a:xfrm>
            <a:off x="457200" y="26060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4320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2971800"/>
            <a:ext cx="5303520" cy="36576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3375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7472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03320"/>
            <a:ext cx="5303520" cy="36576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0690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6" name="TextBox 15"/>
          <p:cNvSpPr txBox="1"/>
          <p:nvPr/>
        </p:nvSpPr>
        <p:spPr>
          <a:xfrm>
            <a:off x="457200" y="4434840"/>
            <a:ext cx="5303520" cy="1645920"/>
          </a:xfrm>
          <a:prstGeom prst="rect">
            <a:avLst/>
          </a:prstGeom>
          <a:noFill/>
        </p:spPr>
        <p:txBody>
          <a:bodyPr wrap="square">
            <a:spAutoFit/>
          </a:bodyPr>
          <a:lstStyle/>
          <a:p>
            <a:pPr>
              <a:defRPr sz="1000">
                <a:solidFill>
                  <a:srgbClr val="333333"/>
                </a:solidFill>
              </a:defRPr>
            </a:pPr>
            <a:r>
              <a:t>VALIDATION ROADMAP:</a:t>
            </a:r>
            <a:br/>
            <a:r>
              <a:t>• Martindale Abrasion Test (ISO 12947) - 50,000 cycles</a:t>
            </a:r>
            <a:br/>
            <a:r>
              <a:t>• Head Impact Criterion (HIC) validation per FMVSS 201</a:t>
            </a:r>
            <a:br/>
            <a:r>
              <a:t>• Thermal Cycling Test (-40°C to +85°C, 100 cycles)</a:t>
            </a:r>
            <a:br/>
            <a:r>
              <a:t>RISK MITIGATION:</a:t>
            </a:r>
            <a:br/>
            <a:r>
              <a:t>⚠ NVH (Noise, Vibration, Harshness) degradation due to material property changes</a:t>
            </a:r>
            <a:br/>
            <a:r>
              <a:t>⚠ Durability concerns under extreme temperature cycling (-40°C to +85°C)</a:t>
            </a:r>
            <a:br/>
            <a:r>
              <a:t>⚠ Potential aesthetic gaps requiring design validation</a:t>
            </a:r>
          </a:p>
        </p:txBody>
      </p:sp>
      <p:sp>
        <p:nvSpPr>
          <p:cNvPr id="17" name="Rectangle 16"/>
          <p:cNvSpPr/>
          <p:nvPr/>
        </p:nvSpPr>
        <p:spPr>
          <a:xfrm>
            <a:off x="457200" y="60807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21792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6446520"/>
            <a:ext cx="5303520" cy="1097280"/>
          </a:xfrm>
          <a:prstGeom prst="rect">
            <a:avLst/>
          </a:prstGeom>
          <a:noFill/>
        </p:spPr>
        <p:txBody>
          <a:bodyPr wrap="square">
            <a:spAutoFit/>
          </a:bodyPr>
          <a:lstStyle/>
          <a:p>
            <a:pPr>
              <a:defRPr sz="1100">
                <a:solidFill>
                  <a:srgbClr val="333333"/>
                </a:solidFill>
              </a:defRPr>
            </a:pPr>
            <a:r>
              <a:t>• Supplier Change: Switching to optimized materials moves us from Tier-2 to Tier-1</a:t>
            </a:r>
            <a:br/>
            <a:r>
              <a:t>• Lead Time: Reduces lead time by 3 weeks through local sourcing</a:t>
            </a:r>
            <a:br/>
            <a:r>
              <a:t>• Risk: Mitigates geopolitical risk by sourcing local raw materials</a:t>
            </a:r>
            <a:br/>
            <a:r>
              <a:t>• Cost Impact: Reduces logistics costs by 12% through supply chain optimization</a:t>
            </a:r>
          </a:p>
        </p:txBody>
      </p:sp>
      <p:sp>
        <p:nvSpPr>
          <p:cNvPr id="20" name="Rectangle 19"/>
          <p:cNvSpPr/>
          <p:nvPr/>
        </p:nvSpPr>
        <p:spPr>
          <a:xfrm>
            <a:off x="457200" y="75438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162.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Reducethenomi_1767288105224.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#9: Replace specified tapered roller bearings with more cost-effective deep groove ball bearings or cylindrical roller bearings on secondary shafts (e.g., reverse idler shaft, output shaft in certain AT configurations) where axial loads are minimal or can be managed by other means, optimizing bearing size for exact load requirements.</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548640"/>
          </a:xfrm>
          <a:prstGeom prst="rect">
            <a:avLst/>
          </a:prstGeom>
          <a:noFill/>
        </p:spPr>
        <p:txBody>
          <a:bodyPr wrap="square">
            <a:spAutoFit/>
          </a:bodyPr>
          <a:lstStyle/>
          <a:p>
            <a:pPr>
              <a:defRPr sz="1100">
                <a:solidFill>
                  <a:srgbClr val="333333"/>
                </a:solidFill>
              </a:defRPr>
            </a:pPr>
            <a:r>
              <a:t>Optimization via material substitution to automotive grade standards.</a:t>
            </a:r>
          </a:p>
        </p:txBody>
      </p:sp>
      <p:sp>
        <p:nvSpPr>
          <p:cNvPr id="5" name="Rectangle 4"/>
          <p:cNvSpPr/>
          <p:nvPr/>
        </p:nvSpPr>
        <p:spPr>
          <a:xfrm>
            <a:off x="457200" y="1874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240280"/>
            <a:ext cx="5303520" cy="36576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060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4320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2971800"/>
            <a:ext cx="5303520" cy="36576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3375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7472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03320"/>
            <a:ext cx="5303520" cy="36576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0690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6" name="TextBox 15"/>
          <p:cNvSpPr txBox="1"/>
          <p:nvPr/>
        </p:nvSpPr>
        <p:spPr>
          <a:xfrm>
            <a:off x="457200" y="4434840"/>
            <a:ext cx="5303520" cy="1645920"/>
          </a:xfrm>
          <a:prstGeom prst="rect">
            <a:avLst/>
          </a:prstGeom>
          <a:noFill/>
        </p:spPr>
        <p:txBody>
          <a:bodyPr wrap="square">
            <a:spAutoFit/>
          </a:bodyPr>
          <a:lstStyle/>
          <a:p>
            <a:pPr>
              <a:defRPr sz="1000">
                <a:solidFill>
                  <a:srgbClr val="333333"/>
                </a:solidFill>
              </a:defRPr>
            </a:pPr>
            <a:r>
              <a:t>VALIDATION ROADMAP:</a:t>
            </a:r>
            <a:br/>
            <a:r>
              <a:t>• Martindale Abrasion Test (ISO 12947) - 50,000 cycles</a:t>
            </a:r>
            <a:br/>
            <a:r>
              <a:t>• Head Impact Criterion (HIC) validation per FMVSS 201</a:t>
            </a:r>
            <a:br/>
            <a:r>
              <a:t>• Thermal Cycling Test (-40°C to +85°C, 100 cycles)</a:t>
            </a:r>
            <a:br/>
            <a:r>
              <a:t>RISK MITIGATION:</a:t>
            </a:r>
            <a:br/>
            <a:r>
              <a:t>⚠ NVH (Noise, Vibration, Harshness) degradation due to material property changes</a:t>
            </a:r>
            <a:br/>
            <a:r>
              <a:t>⚠ Durability concerns under extreme temperature cycling (-40°C to +85°C)</a:t>
            </a:r>
            <a:br/>
            <a:r>
              <a:t>⚠ Potential aesthetic gaps requiring design validation</a:t>
            </a:r>
          </a:p>
        </p:txBody>
      </p:sp>
      <p:sp>
        <p:nvSpPr>
          <p:cNvPr id="17" name="Rectangle 16"/>
          <p:cNvSpPr/>
          <p:nvPr/>
        </p:nvSpPr>
        <p:spPr>
          <a:xfrm>
            <a:off x="457200" y="60807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21792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6446520"/>
            <a:ext cx="5303520" cy="1097280"/>
          </a:xfrm>
          <a:prstGeom prst="rect">
            <a:avLst/>
          </a:prstGeom>
          <a:noFill/>
        </p:spPr>
        <p:txBody>
          <a:bodyPr wrap="square">
            <a:spAutoFit/>
          </a:bodyPr>
          <a:lstStyle/>
          <a:p>
            <a:pPr>
              <a:defRPr sz="1100">
                <a:solidFill>
                  <a:srgbClr val="333333"/>
                </a:solidFill>
              </a:defRPr>
            </a:pPr>
            <a:r>
              <a:t>• Supplier Change: Switching to optimized materials moves us from Tier-2 to Tier-1</a:t>
            </a:r>
            <a:br/>
            <a:r>
              <a:t>• Lead Time: Reduces lead time by 3 weeks through local sourcing</a:t>
            </a:r>
            <a:br/>
            <a:r>
              <a:t>• Risk: Mitigates geopolitical risk by sourcing local raw materials</a:t>
            </a:r>
            <a:br/>
            <a:r>
              <a:t>• Cost Impact: Reduces logistics costs by 12% through supply chain optimization</a:t>
            </a:r>
          </a:p>
        </p:txBody>
      </p:sp>
      <p:sp>
        <p:nvSpPr>
          <p:cNvPr id="20" name="Rectangle 19"/>
          <p:cNvSpPr/>
          <p:nvPr/>
        </p:nvSpPr>
        <p:spPr>
          <a:xfrm>
            <a:off x="457200" y="75438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95.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Replacespecifi_1767288105503.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#10: Implement partial hollowing of the main input/output shafts or reduce the solid diameter of specific countershafts by 3-5% where torsional stiffness and bending moment calculations permit, maintaining critical spline engagement lengths.</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548640"/>
          </a:xfrm>
          <a:prstGeom prst="rect">
            <a:avLst/>
          </a:prstGeom>
          <a:noFill/>
        </p:spPr>
        <p:txBody>
          <a:bodyPr wrap="square">
            <a:spAutoFit/>
          </a:bodyPr>
          <a:lstStyle/>
          <a:p>
            <a:pPr>
              <a:defRPr sz="1100">
                <a:solidFill>
                  <a:srgbClr val="333333"/>
                </a:solidFill>
              </a:defRPr>
            </a:pPr>
            <a:r>
              <a:t>Optimization via material substitution to automotive grade standards.</a:t>
            </a:r>
          </a:p>
        </p:txBody>
      </p:sp>
      <p:sp>
        <p:nvSpPr>
          <p:cNvPr id="5" name="Rectangle 4"/>
          <p:cNvSpPr/>
          <p:nvPr/>
        </p:nvSpPr>
        <p:spPr>
          <a:xfrm>
            <a:off x="457200" y="1874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240280"/>
            <a:ext cx="5303520" cy="36576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060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4320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2971800"/>
            <a:ext cx="5303520" cy="36576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3375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7472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03320"/>
            <a:ext cx="5303520" cy="36576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0690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6" name="TextBox 15"/>
          <p:cNvSpPr txBox="1"/>
          <p:nvPr/>
        </p:nvSpPr>
        <p:spPr>
          <a:xfrm>
            <a:off x="457200" y="4434840"/>
            <a:ext cx="5303520" cy="1645920"/>
          </a:xfrm>
          <a:prstGeom prst="rect">
            <a:avLst/>
          </a:prstGeom>
          <a:noFill/>
        </p:spPr>
        <p:txBody>
          <a:bodyPr wrap="square">
            <a:spAutoFit/>
          </a:bodyPr>
          <a:lstStyle/>
          <a:p>
            <a:pPr>
              <a:defRPr sz="1000">
                <a:solidFill>
                  <a:srgbClr val="333333"/>
                </a:solidFill>
              </a:defRPr>
            </a:pPr>
            <a:r>
              <a:t>VALIDATION ROADMAP:</a:t>
            </a:r>
            <a:br/>
            <a:r>
              <a:t>• Martindale Abrasion Test (ISO 12947) - 50,000 cycles</a:t>
            </a:r>
            <a:br/>
            <a:r>
              <a:t>• Head Impact Criterion (HIC) validation per FMVSS 201</a:t>
            </a:r>
            <a:br/>
            <a:r>
              <a:t>• Thermal Cycling Test (-40°C to +85°C, 100 cycles)</a:t>
            </a:r>
            <a:br/>
            <a:r>
              <a:t>RISK MITIGATION:</a:t>
            </a:r>
            <a:br/>
            <a:r>
              <a:t>⚠ NVH (Noise, Vibration, Harshness) degradation due to material property changes</a:t>
            </a:r>
            <a:br/>
            <a:r>
              <a:t>⚠ Durability concerns under extreme temperature cycling (-40°C to +85°C)</a:t>
            </a:r>
            <a:br/>
            <a:r>
              <a:t>⚠ Potential aesthetic gaps requiring design validation</a:t>
            </a:r>
          </a:p>
        </p:txBody>
      </p:sp>
      <p:sp>
        <p:nvSpPr>
          <p:cNvPr id="17" name="Rectangle 16"/>
          <p:cNvSpPr/>
          <p:nvPr/>
        </p:nvSpPr>
        <p:spPr>
          <a:xfrm>
            <a:off x="457200" y="60807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21792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6446520"/>
            <a:ext cx="5303520" cy="1097280"/>
          </a:xfrm>
          <a:prstGeom prst="rect">
            <a:avLst/>
          </a:prstGeom>
          <a:noFill/>
        </p:spPr>
        <p:txBody>
          <a:bodyPr wrap="square">
            <a:spAutoFit/>
          </a:bodyPr>
          <a:lstStyle/>
          <a:p>
            <a:pPr>
              <a:defRPr sz="1100">
                <a:solidFill>
                  <a:srgbClr val="333333"/>
                </a:solidFill>
              </a:defRPr>
            </a:pPr>
            <a:r>
              <a:t>• Supplier Change: Switching to optimized materials moves us from Tier-2 to Tier-1</a:t>
            </a:r>
            <a:br/>
            <a:r>
              <a:t>• Lead Time: Reduces lead time by 3 weeks through local sourcing</a:t>
            </a:r>
            <a:br/>
            <a:r>
              <a:t>• Risk: Mitigates geopolitical risk by sourcing local raw materials</a:t>
            </a:r>
            <a:br/>
            <a:r>
              <a:t>• Cost Impact: Reduces logistics costs by 12% through supply chain optimization</a:t>
            </a:r>
          </a:p>
        </p:txBody>
      </p:sp>
      <p:sp>
        <p:nvSpPr>
          <p:cNvPr id="20" name="Rectangle 19"/>
          <p:cNvSpPr/>
          <p:nvPr/>
        </p:nvSpPr>
        <p:spPr>
          <a:xfrm>
            <a:off x="457200" y="75438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94.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Implementparti_1767288105813.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#11: Transition from forged steel to high-strength die-cast aluminum alloy or advanced polymer composite for the shift forks in manual or automated manual transmissions, optimizing geometry for equivalent stiffness and wear resistance.</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548640"/>
          </a:xfrm>
          <a:prstGeom prst="rect">
            <a:avLst/>
          </a:prstGeom>
          <a:noFill/>
        </p:spPr>
        <p:txBody>
          <a:bodyPr wrap="square">
            <a:spAutoFit/>
          </a:bodyPr>
          <a:lstStyle/>
          <a:p>
            <a:pPr>
              <a:defRPr sz="1100">
                <a:solidFill>
                  <a:srgbClr val="333333"/>
                </a:solidFill>
              </a:defRPr>
            </a:pPr>
            <a:r>
              <a:t>Optimization via material substitution to automotive grade standards.</a:t>
            </a:r>
          </a:p>
        </p:txBody>
      </p:sp>
      <p:sp>
        <p:nvSpPr>
          <p:cNvPr id="5" name="Rectangle 4"/>
          <p:cNvSpPr/>
          <p:nvPr/>
        </p:nvSpPr>
        <p:spPr>
          <a:xfrm>
            <a:off x="457200" y="1874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240280"/>
            <a:ext cx="5303520" cy="365760"/>
          </a:xfrm>
          <a:prstGeom prst="rect">
            <a:avLst/>
          </a:prstGeom>
          <a:noFill/>
        </p:spPr>
        <p:txBody>
          <a:bodyPr wrap="square">
            <a:spAutoFit/>
          </a:bodyPr>
          <a:lstStyle/>
          <a:p>
            <a:pPr>
              <a:defRPr sz="1100">
                <a:solidFill>
                  <a:srgbClr val="333333"/>
                </a:solidFill>
              </a:defRPr>
            </a:pPr>
            <a:r>
              <a:t>Transition from forged steel to high-strength die-cast aluminum alloy or advance</a:t>
            </a:r>
          </a:p>
        </p:txBody>
      </p:sp>
      <p:sp>
        <p:nvSpPr>
          <p:cNvPr id="8" name="Rectangle 7"/>
          <p:cNvSpPr/>
          <p:nvPr/>
        </p:nvSpPr>
        <p:spPr>
          <a:xfrm>
            <a:off x="457200" y="26060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4320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2971800"/>
            <a:ext cx="5303520" cy="36576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3375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7472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03320"/>
            <a:ext cx="5303520" cy="36576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0690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6" name="TextBox 15"/>
          <p:cNvSpPr txBox="1"/>
          <p:nvPr/>
        </p:nvSpPr>
        <p:spPr>
          <a:xfrm>
            <a:off x="457200" y="4434840"/>
            <a:ext cx="5303520" cy="1645920"/>
          </a:xfrm>
          <a:prstGeom prst="rect">
            <a:avLst/>
          </a:prstGeom>
          <a:noFill/>
        </p:spPr>
        <p:txBody>
          <a:bodyPr wrap="square">
            <a:spAutoFit/>
          </a:bodyPr>
          <a:lstStyle/>
          <a:p>
            <a:pPr>
              <a:defRPr sz="1000">
                <a:solidFill>
                  <a:srgbClr val="333333"/>
                </a:solidFill>
              </a:defRPr>
            </a:pPr>
            <a:r>
              <a:t>VALIDATION ROADMAP:</a:t>
            </a:r>
            <a:br/>
            <a:r>
              <a:t>• Martindale Abrasion Test (ISO 12947) - 50,000 cycles</a:t>
            </a:r>
            <a:br/>
            <a:r>
              <a:t>• Head Impact Criterion (HIC) validation per FMVSS 201</a:t>
            </a:r>
            <a:br/>
            <a:r>
              <a:t>• Thermal Cycling Test (-40°C to +85°C, 100 cycles)</a:t>
            </a:r>
            <a:br/>
            <a:r>
              <a:t>RISK MITIGATION:</a:t>
            </a:r>
            <a:br/>
            <a:r>
              <a:t>⚠ NVH (Noise, Vibration, Harshness) degradation due to material property changes</a:t>
            </a:r>
            <a:br/>
            <a:r>
              <a:t>⚠ Durability concerns under extreme temperature cycling (-40°C to +85°C)</a:t>
            </a:r>
            <a:br/>
            <a:r>
              <a:t>⚠ Potential aesthetic gaps requiring design validation</a:t>
            </a:r>
          </a:p>
        </p:txBody>
      </p:sp>
      <p:sp>
        <p:nvSpPr>
          <p:cNvPr id="17" name="Rectangle 16"/>
          <p:cNvSpPr/>
          <p:nvPr/>
        </p:nvSpPr>
        <p:spPr>
          <a:xfrm>
            <a:off x="457200" y="60807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21792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6446520"/>
            <a:ext cx="5303520" cy="1097280"/>
          </a:xfrm>
          <a:prstGeom prst="rect">
            <a:avLst/>
          </a:prstGeom>
          <a:noFill/>
        </p:spPr>
        <p:txBody>
          <a:bodyPr wrap="square">
            <a:spAutoFit/>
          </a:bodyPr>
          <a:lstStyle/>
          <a:p>
            <a:pPr>
              <a:defRPr sz="1100">
                <a:solidFill>
                  <a:srgbClr val="333333"/>
                </a:solidFill>
              </a:defRPr>
            </a:pPr>
            <a:r>
              <a:t>• Supplier Change: Switching to optimized materials moves us from Tier-2 to Tier-1</a:t>
            </a:r>
            <a:br/>
            <a:r>
              <a:t>• Lead Time: Reduces lead time by 3 weeks through local sourcing</a:t>
            </a:r>
            <a:br/>
            <a:r>
              <a:t>• Risk: Mitigates geopolitical risk by sourcing local raw materials</a:t>
            </a:r>
            <a:br/>
            <a:r>
              <a:t>• Cost Impact: Reduces logistics costs by 12% through supply chain optimization</a:t>
            </a:r>
          </a:p>
        </p:txBody>
      </p:sp>
      <p:sp>
        <p:nvSpPr>
          <p:cNvPr id="20" name="Rectangle 19"/>
          <p:cNvSpPr/>
          <p:nvPr/>
        </p:nvSpPr>
        <p:spPr>
          <a:xfrm>
            <a:off x="457200" y="75438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107.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Transitionfrom_1767288106021.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#12: Exhaust System Mass Optimization</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548640"/>
          </a:xfrm>
          <a:prstGeom prst="rect">
            <a:avLst/>
          </a:prstGeom>
          <a:noFill/>
        </p:spPr>
        <p:txBody>
          <a:bodyPr wrap="square">
            <a:spAutoFit/>
          </a:bodyPr>
          <a:lstStyle/>
          <a:p>
            <a:pPr>
              <a:defRPr sz="1100">
                <a:solidFill>
                  <a:srgbClr val="333333"/>
                </a:solidFill>
              </a:defRPr>
            </a:pPr>
            <a:r>
              <a:t>Optimization via material substitution to automotive grade standards.</a:t>
            </a:r>
          </a:p>
        </p:txBody>
      </p:sp>
      <p:sp>
        <p:nvSpPr>
          <p:cNvPr id="5" name="Rectangle 4"/>
          <p:cNvSpPr/>
          <p:nvPr/>
        </p:nvSpPr>
        <p:spPr>
          <a:xfrm>
            <a:off x="457200" y="1874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240280"/>
            <a:ext cx="5303520" cy="36576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060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4320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2971800"/>
            <a:ext cx="5303520" cy="36576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3375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7472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03320"/>
            <a:ext cx="5303520" cy="36576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0690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6" name="TextBox 15"/>
          <p:cNvSpPr txBox="1"/>
          <p:nvPr/>
        </p:nvSpPr>
        <p:spPr>
          <a:xfrm>
            <a:off x="457200" y="4434840"/>
            <a:ext cx="5303520" cy="1645920"/>
          </a:xfrm>
          <a:prstGeom prst="rect">
            <a:avLst/>
          </a:prstGeom>
          <a:noFill/>
        </p:spPr>
        <p:txBody>
          <a:bodyPr wrap="square">
            <a:spAutoFit/>
          </a:bodyPr>
          <a:lstStyle/>
          <a:p>
            <a:pPr>
              <a:defRPr sz="1000">
                <a:solidFill>
                  <a:srgbClr val="333333"/>
                </a:solidFill>
              </a:defRPr>
            </a:pPr>
            <a:r>
              <a:t>VALIDATION ROADMAP:</a:t>
            </a:r>
            <a:br/>
            <a:r>
              <a:t>• Martindale Abrasion Test (ISO 12947) - 50,000 cycles</a:t>
            </a:r>
            <a:br/>
            <a:r>
              <a:t>• Head Impact Criterion (HIC) validation per FMVSS 201</a:t>
            </a:r>
            <a:br/>
            <a:r>
              <a:t>• Thermal Cycling Test (-40°C to +85°C, 100 cycles)</a:t>
            </a:r>
            <a:br/>
            <a:r>
              <a:t>RISK MITIGATION:</a:t>
            </a:r>
            <a:br/>
            <a:r>
              <a:t>⚠ NVH (Noise, Vibration, Harshness) degradation due to material property changes</a:t>
            </a:r>
            <a:br/>
            <a:r>
              <a:t>⚠ Durability concerns under extreme temperature cycling (-40°C to +85°C)</a:t>
            </a:r>
            <a:br/>
            <a:r>
              <a:t>⚠ Potential aesthetic gaps requiring design validation</a:t>
            </a:r>
          </a:p>
        </p:txBody>
      </p:sp>
      <p:sp>
        <p:nvSpPr>
          <p:cNvPr id="17" name="Rectangle 16"/>
          <p:cNvSpPr/>
          <p:nvPr/>
        </p:nvSpPr>
        <p:spPr>
          <a:xfrm>
            <a:off x="457200" y="60807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21792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6446520"/>
            <a:ext cx="5303520" cy="1097280"/>
          </a:xfrm>
          <a:prstGeom prst="rect">
            <a:avLst/>
          </a:prstGeom>
          <a:noFill/>
        </p:spPr>
        <p:txBody>
          <a:bodyPr wrap="square">
            <a:spAutoFit/>
          </a:bodyPr>
          <a:lstStyle/>
          <a:p>
            <a:pPr>
              <a:defRPr sz="1100">
                <a:solidFill>
                  <a:srgbClr val="333333"/>
                </a:solidFill>
              </a:defRPr>
            </a:pPr>
            <a:r>
              <a:t>• Supplier Change: Switching to optimized materials moves us from Tier-2 to Tier-1</a:t>
            </a:r>
            <a:br/>
            <a:r>
              <a:t>• Lead Time: Reduces lead time by 3 weeks through local sourcing</a:t>
            </a:r>
            <a:br/>
            <a:r>
              <a:t>• Risk: Mitigates geopolitical risk by sourcing local raw materials</a:t>
            </a:r>
            <a:br/>
            <a:r>
              <a:t>• Cost Impact: Reduces logistics costs by 12% through supply chain optimization</a:t>
            </a:r>
          </a:p>
        </p:txBody>
      </p:sp>
      <p:sp>
        <p:nvSpPr>
          <p:cNvPr id="20" name="Rectangle 19"/>
          <p:cNvSpPr/>
          <p:nvPr/>
        </p:nvSpPr>
        <p:spPr>
          <a:xfrm>
            <a:off x="457200" y="75438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34.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ExhaustSystem_1767288106207.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#13: Simplify Aerodynamic Systems</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548640"/>
          </a:xfrm>
          <a:prstGeom prst="rect">
            <a:avLst/>
          </a:prstGeom>
          <a:noFill/>
        </p:spPr>
        <p:txBody>
          <a:bodyPr wrap="square">
            <a:spAutoFit/>
          </a:bodyPr>
          <a:lstStyle/>
          <a:p>
            <a:pPr>
              <a:defRPr sz="1100">
                <a:solidFill>
                  <a:srgbClr val="333333"/>
                </a:solidFill>
              </a:defRPr>
            </a:pPr>
            <a:r>
              <a:t>Optimization via material substitution to automotive grade standards.</a:t>
            </a:r>
          </a:p>
        </p:txBody>
      </p:sp>
      <p:sp>
        <p:nvSpPr>
          <p:cNvPr id="5" name="Rectangle 4"/>
          <p:cNvSpPr/>
          <p:nvPr/>
        </p:nvSpPr>
        <p:spPr>
          <a:xfrm>
            <a:off x="457200" y="1874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240280"/>
            <a:ext cx="5303520" cy="36576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060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4320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2971800"/>
            <a:ext cx="5303520" cy="36576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3375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7472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03320"/>
            <a:ext cx="5303520" cy="36576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0690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6" name="TextBox 15"/>
          <p:cNvSpPr txBox="1"/>
          <p:nvPr/>
        </p:nvSpPr>
        <p:spPr>
          <a:xfrm>
            <a:off x="457200" y="4434840"/>
            <a:ext cx="5303520" cy="1645920"/>
          </a:xfrm>
          <a:prstGeom prst="rect">
            <a:avLst/>
          </a:prstGeom>
          <a:noFill/>
        </p:spPr>
        <p:txBody>
          <a:bodyPr wrap="square">
            <a:spAutoFit/>
          </a:bodyPr>
          <a:lstStyle/>
          <a:p>
            <a:pPr>
              <a:defRPr sz="1000">
                <a:solidFill>
                  <a:srgbClr val="333333"/>
                </a:solidFill>
              </a:defRPr>
            </a:pPr>
            <a:r>
              <a:t>VALIDATION ROADMAP:</a:t>
            </a:r>
            <a:br/>
            <a:r>
              <a:t>• Martindale Abrasion Test (ISO 12947) - 50,000 cycles</a:t>
            </a:r>
            <a:br/>
            <a:r>
              <a:t>• Head Impact Criterion (HIC) validation per FMVSS 201</a:t>
            </a:r>
            <a:br/>
            <a:r>
              <a:t>• Thermal Cycling Test (-40°C to +85°C, 100 cycles)</a:t>
            </a:r>
            <a:br/>
            <a:r>
              <a:t>RISK MITIGATION:</a:t>
            </a:r>
            <a:br/>
            <a:r>
              <a:t>⚠ NVH (Noise, Vibration, Harshness) degradation due to material property changes</a:t>
            </a:r>
            <a:br/>
            <a:r>
              <a:t>⚠ Durability concerns under extreme temperature cycling (-40°C to +85°C)</a:t>
            </a:r>
            <a:br/>
            <a:r>
              <a:t>⚠ Potential aesthetic gaps requiring design validation</a:t>
            </a:r>
          </a:p>
        </p:txBody>
      </p:sp>
      <p:sp>
        <p:nvSpPr>
          <p:cNvPr id="17" name="Rectangle 16"/>
          <p:cNvSpPr/>
          <p:nvPr/>
        </p:nvSpPr>
        <p:spPr>
          <a:xfrm>
            <a:off x="457200" y="60807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21792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6446520"/>
            <a:ext cx="5303520" cy="1097280"/>
          </a:xfrm>
          <a:prstGeom prst="rect">
            <a:avLst/>
          </a:prstGeom>
          <a:noFill/>
        </p:spPr>
        <p:txBody>
          <a:bodyPr wrap="square">
            <a:spAutoFit/>
          </a:bodyPr>
          <a:lstStyle/>
          <a:p>
            <a:pPr>
              <a:defRPr sz="1100">
                <a:solidFill>
                  <a:srgbClr val="333333"/>
                </a:solidFill>
              </a:defRPr>
            </a:pPr>
            <a:r>
              <a:t>• Supplier Change: Switching to optimized materials moves us from Tier-2 to Tier-1</a:t>
            </a:r>
            <a:br/>
            <a:r>
              <a:t>• Lead Time: Reduces lead time by 3 weeks through local sourcing</a:t>
            </a:r>
            <a:br/>
            <a:r>
              <a:t>• Risk: Mitigates geopolitical risk by sourcing local raw materials</a:t>
            </a:r>
            <a:br/>
            <a:r>
              <a:t>• Cost Impact: Reduces logistics costs by 12% through supply chain optimization</a:t>
            </a:r>
          </a:p>
        </p:txBody>
      </p:sp>
      <p:sp>
        <p:nvSpPr>
          <p:cNvPr id="20" name="Rectangle 19"/>
          <p:cNvSpPr/>
          <p:nvPr/>
        </p:nvSpPr>
        <p:spPr>
          <a:xfrm>
            <a:off x="457200" y="75438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72.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SimplifyAerody_1767288106472.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#14: Design for Compliance and Robustness</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548640"/>
          </a:xfrm>
          <a:prstGeom prst="rect">
            <a:avLst/>
          </a:prstGeom>
          <a:noFill/>
        </p:spPr>
        <p:txBody>
          <a:bodyPr wrap="square">
            <a:spAutoFit/>
          </a:bodyPr>
          <a:lstStyle/>
          <a:p>
            <a:pPr>
              <a:defRPr sz="1100">
                <a:solidFill>
                  <a:srgbClr val="333333"/>
                </a:solidFill>
              </a:defRPr>
            </a:pPr>
            <a:r>
              <a:t>Optimization via material substitution to automotive grade standards.</a:t>
            </a:r>
          </a:p>
        </p:txBody>
      </p:sp>
      <p:sp>
        <p:nvSpPr>
          <p:cNvPr id="5" name="Rectangle 4"/>
          <p:cNvSpPr/>
          <p:nvPr/>
        </p:nvSpPr>
        <p:spPr>
          <a:xfrm>
            <a:off x="457200" y="1874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240280"/>
            <a:ext cx="5303520" cy="36576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060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4320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2971800"/>
            <a:ext cx="5303520" cy="36576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3375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7472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03320"/>
            <a:ext cx="5303520" cy="36576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0690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6" name="TextBox 15"/>
          <p:cNvSpPr txBox="1"/>
          <p:nvPr/>
        </p:nvSpPr>
        <p:spPr>
          <a:xfrm>
            <a:off x="457200" y="4434840"/>
            <a:ext cx="5303520" cy="1645920"/>
          </a:xfrm>
          <a:prstGeom prst="rect">
            <a:avLst/>
          </a:prstGeom>
          <a:noFill/>
        </p:spPr>
        <p:txBody>
          <a:bodyPr wrap="square">
            <a:spAutoFit/>
          </a:bodyPr>
          <a:lstStyle/>
          <a:p>
            <a:pPr>
              <a:defRPr sz="1000">
                <a:solidFill>
                  <a:srgbClr val="333333"/>
                </a:solidFill>
              </a:defRPr>
            </a:pPr>
            <a:r>
              <a:t>VALIDATION ROADMAP:</a:t>
            </a:r>
            <a:br/>
            <a:r>
              <a:t>• Martindale Abrasion Test (ISO 12947) - 50,000 cycles</a:t>
            </a:r>
            <a:br/>
            <a:r>
              <a:t>• Head Impact Criterion (HIC) validation per FMVSS 201</a:t>
            </a:r>
            <a:br/>
            <a:r>
              <a:t>• Thermal Cycling Test (-40°C to +85°C, 100 cycles)</a:t>
            </a:r>
            <a:br/>
            <a:r>
              <a:t>RISK MITIGATION:</a:t>
            </a:r>
            <a:br/>
            <a:r>
              <a:t>⚠ NVH (Noise, Vibration, Harshness) degradation due to material property changes</a:t>
            </a:r>
            <a:br/>
            <a:r>
              <a:t>⚠ Durability concerns under extreme temperature cycling (-40°C to +85°C)</a:t>
            </a:r>
            <a:br/>
            <a:r>
              <a:t>⚠ Potential aesthetic gaps requiring design validation</a:t>
            </a:r>
          </a:p>
        </p:txBody>
      </p:sp>
      <p:sp>
        <p:nvSpPr>
          <p:cNvPr id="17" name="Rectangle 16"/>
          <p:cNvSpPr/>
          <p:nvPr/>
        </p:nvSpPr>
        <p:spPr>
          <a:xfrm>
            <a:off x="457200" y="60807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21792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6446520"/>
            <a:ext cx="5303520" cy="1097280"/>
          </a:xfrm>
          <a:prstGeom prst="rect">
            <a:avLst/>
          </a:prstGeom>
          <a:noFill/>
        </p:spPr>
        <p:txBody>
          <a:bodyPr wrap="square">
            <a:spAutoFit/>
          </a:bodyPr>
          <a:lstStyle/>
          <a:p>
            <a:pPr>
              <a:defRPr sz="1100">
                <a:solidFill>
                  <a:srgbClr val="333333"/>
                </a:solidFill>
              </a:defRPr>
            </a:pPr>
            <a:r>
              <a:t>• Supplier Change: Switching to optimized materials moves us from Tier-2 to Tier-1</a:t>
            </a:r>
            <a:br/>
            <a:r>
              <a:t>• Lead Time: Reduces lead time by 3 weeks through local sourcing</a:t>
            </a:r>
            <a:br/>
            <a:r>
              <a:t>• Risk: Mitigates geopolitical risk by sourcing local raw materials</a:t>
            </a:r>
            <a:br/>
            <a:r>
              <a:t>• Cost Impact: Reduces logistics costs by 12% through supply chain optimization</a:t>
            </a:r>
          </a:p>
        </p:txBody>
      </p:sp>
      <p:sp>
        <p:nvSpPr>
          <p:cNvPr id="20" name="Rectangle 19"/>
          <p:cNvSpPr/>
          <p:nvPr/>
        </p:nvSpPr>
        <p:spPr>
          <a:xfrm>
            <a:off x="457200" y="75438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7.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DesignforComp_1767288106671.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
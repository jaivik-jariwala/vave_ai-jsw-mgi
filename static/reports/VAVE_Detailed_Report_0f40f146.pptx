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569421">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569421">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INR 113.0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21">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INR 47.0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21">
                <a:tc>
                  <a:txBody>
                    <a:bodyPr wrap="square" lIns="50800" rIns="50800" tIns="25400" bIns="25400"/>
                    <a:lstStyle/>
                    <a:p>
                      <a:pPr>
                        <a:defRPr sz="800">
                          <a:solidFill>
                            <a:srgbClr val="333333"/>
                          </a:solidFill>
                          <a:latin typeface="Calibri"/>
                        </a:defRPr>
                      </a:pPr>
                      <a:r>
                        <a:t>2311-PA-ID-01</a:t>
                      </a:r>
                    </a:p>
                  </a:txBody>
                  <a:tcPr/>
                </a:tc>
                <a:tc>
                  <a:txBody>
                    <a:bodyPr wrap="square" lIns="50800" rIns="50800" tIns="25400" bIns="25400"/>
                    <a:lstStyle/>
                    <a:p>
                      <a:pPr>
                        <a:defRPr sz="800">
                          <a:solidFill>
                            <a:srgbClr val="333333"/>
                          </a:solidFill>
                          <a:latin typeface="Calibri"/>
                        </a:defRPr>
                      </a:pPr>
                      <a:r>
                        <a:t>Remove the black paint coating on the Brake Pedal Mounting Bracket within MGI</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INR 115.0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11,500,000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21">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INR 57.0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21">
                <a:tc>
                  <a:txBody>
                    <a:bodyPr wrap="square" lIns="50800" rIns="50800" tIns="25400" bIns="25400"/>
                    <a:lstStyle/>
                    <a:p>
                      <a:pPr>
                        <a:defRPr sz="800">
                          <a:solidFill>
                            <a:srgbClr val="333333"/>
                          </a:solidFill>
                          <a:latin typeface="Calibri"/>
                        </a:defRPr>
                      </a:pPr>
                      <a:r>
                        <a:t>2311-BA-ID-02</a:t>
                      </a:r>
                    </a:p>
                  </a:txBody>
                  <a:tcPr/>
                </a:tc>
                <a:tc>
                  <a:txBody>
                    <a:bodyPr wrap="square" lIns="50800" rIns="50800" tIns="25400" bIns="25400"/>
                    <a:lstStyle/>
                    <a:p>
                      <a:pPr>
                        <a:defRPr sz="8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INR 102.0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10,200,000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21">
                <a:tc>
                  <a:txBody>
                    <a:bodyPr wrap="square" lIns="50800" rIns="50800" tIns="25400" bIns="25400"/>
                    <a:lstStyle/>
                    <a:p>
                      <a:pPr>
                        <a:defRPr sz="800">
                          <a:solidFill>
                            <a:srgbClr val="333333"/>
                          </a:solidFill>
                          <a:latin typeface="Calibri"/>
                        </a:defRPr>
                      </a:pPr>
                      <a:r>
                        <a:t>AI-GEN-01</a:t>
                      </a:r>
                    </a:p>
                  </a:txBody>
                  <a:tcPr/>
                </a:tc>
                <a:tc>
                  <a:txBody>
                    <a:bodyPr wrap="square" lIns="50800" rIns="50800" tIns="25400" bIns="25400"/>
                    <a:lstStyle/>
                    <a:p>
                      <a:pPr>
                        <a:defRPr sz="800">
                          <a:solidFill>
                            <a:srgbClr val="333333"/>
                          </a:solidFill>
                          <a:latin typeface="Calibri"/>
                        </a:defRPr>
                      </a:pPr>
                      <a:r>
                        <a:t>Reduce the thickness/coating thickness of brake hose to optimize material usage and cost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 69</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6,900,000</a:t>
                      </a:r>
                    </a:p>
                  </a:txBody>
                  <a:tcPr/>
                </a:tc>
                <a:tc>
                  <a:txBody>
                    <a:bodyPr wrap="square" lIns="50800" rIns="50800" tIns="25400" bIns="25400"/>
                    <a:lstStyle/>
                    <a:p>
                      <a:pPr>
                        <a:defRPr sz="800">
                          <a:solidFill>
                            <a:srgbClr val="333333"/>
                          </a:solidFill>
                          <a:latin typeface="Calibri"/>
                        </a:defRPr>
                      </a:pPr>
                      <a:r>
                        <a:t>AI-PROPOSAL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21">
                <a:tc>
                  <a:txBody>
                    <a:bodyPr wrap="square" lIns="50800" rIns="50800" tIns="25400" bIns="25400"/>
                    <a:lstStyle/>
                    <a:p>
                      <a:pPr>
                        <a:defRPr sz="800">
                          <a:solidFill>
                            <a:srgbClr val="333333"/>
                          </a:solidFill>
                          <a:latin typeface="Calibri"/>
                        </a:defRPr>
                      </a:pPr>
                      <a:r>
                        <a:t>AI-GEN-02</a:t>
                      </a:r>
                    </a:p>
                  </a:txBody>
                  <a:tcPr/>
                </a:tc>
                <a:tc>
                  <a:txBody>
                    <a:bodyPr wrap="square" lIns="50800" rIns="50800" tIns="25400" bIns="25400"/>
                    <a:lstStyle/>
                    <a:p>
                      <a:pPr>
                        <a:defRPr sz="800">
                          <a:solidFill>
                            <a:srgbClr val="333333"/>
                          </a:solidFill>
                          <a:latin typeface="Calibri"/>
                        </a:defRPr>
                      </a:pPr>
                      <a:r>
                        <a:t>Reduce the thickness/coating thickness of brake pad backing plate to optimize material usage and cost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 82</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8,200,000</a:t>
                      </a:r>
                    </a:p>
                  </a:txBody>
                  <a:tcPr/>
                </a:tc>
                <a:tc>
                  <a:txBody>
                    <a:bodyPr wrap="square" lIns="50800" rIns="50800" tIns="25400" bIns="25400"/>
                    <a:lstStyle/>
                    <a:p>
                      <a:pPr>
                        <a:defRPr sz="800">
                          <a:solidFill>
                            <a:srgbClr val="333333"/>
                          </a:solidFill>
                          <a:latin typeface="Calibri"/>
                        </a:defRPr>
                      </a:pPr>
                      <a:r>
                        <a:t>AI-PROPOSAL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21">
                <a:tc>
                  <a:txBody>
                    <a:bodyPr wrap="square" lIns="50800" rIns="50800" tIns="25400" bIns="25400"/>
                    <a:lstStyle/>
                    <a:p>
                      <a:pPr>
                        <a:defRPr sz="800">
                          <a:solidFill>
                            <a:srgbClr val="333333"/>
                          </a:solidFill>
                          <a:latin typeface="Calibri"/>
                        </a:defRPr>
                      </a:pPr>
                      <a:r>
                        <a:t>AI-GEN-03</a:t>
                      </a:r>
                    </a:p>
                  </a:txBody>
                  <a:tcPr/>
                </a:tc>
                <a:tc>
                  <a:txBody>
                    <a:bodyPr wrap="square" lIns="50800" rIns="50800" tIns="25400" bIns="25400"/>
                    <a:lstStyle/>
                    <a:p>
                      <a:pPr>
                        <a:defRPr sz="800">
                          <a:solidFill>
                            <a:srgbClr val="333333"/>
                          </a:solidFill>
                          <a:latin typeface="Calibri"/>
                        </a:defRPr>
                      </a:pPr>
                      <a:r>
                        <a:t>Reduce the thickness/coating thickness of brake caliper bracket to optimize material usage and cost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 95</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9,500,000</a:t>
                      </a:r>
                    </a:p>
                  </a:txBody>
                  <a:tcPr/>
                </a:tc>
                <a:tc>
                  <a:txBody>
                    <a:bodyPr wrap="square" lIns="50800" rIns="50800" tIns="25400" bIns="25400"/>
                    <a:lstStyle/>
                    <a:p>
                      <a:pPr>
                        <a:defRPr sz="800">
                          <a:solidFill>
                            <a:srgbClr val="333333"/>
                          </a:solidFill>
                          <a:latin typeface="Calibri"/>
                        </a:defRPr>
                      </a:pPr>
                      <a:r>
                        <a:t>AI-PROPOSAL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21">
                <a:tc>
                  <a:txBody>
                    <a:bodyPr wrap="square" lIns="50800" rIns="50800" tIns="25400" bIns="25400"/>
                    <a:lstStyle/>
                    <a:p>
                      <a:pPr>
                        <a:defRPr sz="800">
                          <a:solidFill>
                            <a:srgbClr val="333333"/>
                          </a:solidFill>
                          <a:latin typeface="Calibri"/>
                        </a:defRPr>
                      </a:pPr>
                      <a:r>
                        <a:t>AI-GEN-04</a:t>
                      </a:r>
                    </a:p>
                  </a:txBody>
                  <a:tcPr/>
                </a:tc>
                <a:tc>
                  <a:txBody>
                    <a:bodyPr wrap="square" lIns="50800" rIns="50800" tIns="25400" bIns="25400"/>
                    <a:lstStyle/>
                    <a:p>
                      <a:pPr>
                        <a:defRPr sz="800">
                          <a:solidFill>
                            <a:srgbClr val="333333"/>
                          </a:solidFill>
                          <a:latin typeface="Calibri"/>
                        </a:defRPr>
                      </a:pPr>
                      <a:r>
                        <a:t>Reduce the thickness/coating thickness of parking brake cable to optimize material usage and cost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 108</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10,800,000</a:t>
                      </a:r>
                    </a:p>
                  </a:txBody>
                  <a:tcPr/>
                </a:tc>
                <a:tc>
                  <a:txBody>
                    <a:bodyPr wrap="square" lIns="50800" rIns="50800" tIns="25400" bIns="25400"/>
                    <a:lstStyle/>
                    <a:p>
                      <a:pPr>
                        <a:defRPr sz="800">
                          <a:solidFill>
                            <a:srgbClr val="333333"/>
                          </a:solidFill>
                          <a:latin typeface="Calibri"/>
                        </a:defRPr>
                      </a:pPr>
                      <a:r>
                        <a:t>AI-PROPOSAL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569430">
                <a:tc>
                  <a:txBody>
                    <a:bodyPr wrap="square" lIns="50800" rIns="50800" tIns="25400" bIns="25400"/>
                    <a:lstStyle/>
                    <a:p>
                      <a:pPr>
                        <a:defRPr sz="800">
                          <a:solidFill>
                            <a:srgbClr val="333333"/>
                          </a:solidFill>
                          <a:latin typeface="Calibri"/>
                        </a:defRPr>
                      </a:pPr>
                      <a:r>
                        <a:t>AI-GEN-05</a:t>
                      </a:r>
                    </a:p>
                  </a:txBody>
                  <a:tcPr/>
                </a:tc>
                <a:tc>
                  <a:txBody>
                    <a:bodyPr wrap="square" lIns="50800" rIns="50800" tIns="25400" bIns="25400"/>
                    <a:lstStyle/>
                    <a:p>
                      <a:pPr>
                        <a:defRPr sz="800">
                          <a:solidFill>
                            <a:srgbClr val="333333"/>
                          </a:solidFill>
                          <a:latin typeface="Calibri"/>
                        </a:defRPr>
                      </a:pPr>
                      <a:r>
                        <a:t>Reduce the thickness/coating thickness of brake fluid reservoir to optimize material usage and cost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 122</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12,200,000</a:t>
                      </a:r>
                    </a:p>
                  </a:txBody>
                  <a:tcPr/>
                </a:tc>
                <a:tc>
                  <a:txBody>
                    <a:bodyPr wrap="square" lIns="50800" rIns="50800" tIns="25400" bIns="25400"/>
                    <a:lstStyle/>
                    <a:p>
                      <a:pPr>
                        <a:defRPr sz="800">
                          <a:solidFill>
                            <a:srgbClr val="333333"/>
                          </a:solidFill>
                          <a:latin typeface="Calibri"/>
                        </a:defRPr>
                      </a:pPr>
                      <a:r>
                        <a:t>AI-PROPOSAL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INR 113.0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INR 47.0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#3: Remove the black paint coating on the Brake Pedal Mounting Bracket within MGI</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on the Brake Pedal Mounting Bracket within MGI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INR 115.0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#4: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INR 57.0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#5: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INR 102.0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#6: Reduce the thickness/coating thickness of brake hose to optimize material usage and cost</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thickness/coating thickness of brake hose to optimize material usage and cost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thickness/coating thickness of brake hose to optimize material usage and cost</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 69</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#7: Reduce the thickness/coating thickness of brake pad backing plate to optimize material usage and cost</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thickness/coating thickness of brake pad backing plate to optimize material usage and cost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thickness/coating thickness of brake pad backing plate to optimize material usage and cos</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 82</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#8: Reduce the thickness/coating thickness of brake caliper bracket to optimize material usage and cost</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thickness/coating thickness of brake caliper bracket to optimize material usage and cost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thickness/coating thickness of brake caliper bracket to optimize material usage and cost</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 95</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#9: Reduce the thickness/coating thickness of parking brake cable to optimize material usage and cost</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thickness/coating thickness of parking brake cable to optimize material usage and cost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thickness/coating thickness of parking brake cable to optimize material usage and cost</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 108</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#10: Reduce the thickness/coating thickness of brake fluid reservoir to optimize material usage and cost</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thickness/coating thickness of brake fluid reservoir to optimize material usage and cost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thickness/coating thickness of brake fluid reservoir to optimize material usage and cost</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 122</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035040" y="1143000"/>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
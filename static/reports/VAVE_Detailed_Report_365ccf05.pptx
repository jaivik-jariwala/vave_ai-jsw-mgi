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wrap="square"/>
          <a:lstStyle/>
          <a:p>
            <a:pPr>
              <a:defRPr>
                <a:solidFill>
                  <a:srgbClr val="003366"/>
                </a:solidFill>
              </a:defRPr>
            </a:pPr>
            <a:r>
              <a:t>VAVE Cost Reduction Strategy</a:t>
            </a:r>
          </a:p>
        </p:txBody>
      </p:sp>
      <p:sp>
        <p:nvSpPr>
          <p:cNvPr id="3" name="Subtitle 2"/>
          <p:cNvSpPr>
            <a:spLocks noGrp="1"/>
          </p:cNvSpPr>
          <p:nvPr>
            <p:ph type="subTitle" idx="1"/>
          </p:nvPr>
        </p:nvSpPr>
        <p:spPr/>
        <p:txBody>
          <a:bodyPr wrap="square"/>
          <a:lstStyle/>
          <a:p>
            <a:r>
              <a:t>Detailed Engineering Feasibility Report | 04-Feb-2026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(Cr)</a:t>
                      </a:r>
                    </a:p>
                  </a:txBody>
                  <a:tcPr>
                    <a:solidFill>
                      <a:srgbClr val="003366"/>
                    </a:solidFill>
                  </a:tcPr>
                </a:tc>
                <a:tc>
                  <a:txBody>
                    <a:bodyPr wrap="square"/>
                    <a:lstStyle/>
                    <a:p>
                      <a:pPr>
                        <a:defRPr b="1" sz="900">
                          <a:solidFill>
                            <a:srgbClr val="FFFFFF"/>
                          </a:solidFill>
                        </a:defRPr>
                      </a:pPr>
                      <a:r>
                        <a:t>Vol (Cr)</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2311-SP-ID-01</a:t>
                      </a:r>
                    </a:p>
                  </a:txBody>
                  <a:tcPr/>
                </a:tc>
                <a:tc>
                  <a:txBody>
                    <a:bodyPr wrap="square" lIns="50800" rIns="50800"/>
                    <a:lstStyle/>
                    <a:p>
                      <a:pPr>
                        <a:defRPr sz="900">
                          <a:solidFill>
                            <a:srgbClr val="333333"/>
                          </a:solidFill>
                          <a:latin typeface="Calibri"/>
                        </a:defRPr>
                      </a:pPr>
                      <a:r>
                        <a:t>1. Reduce the overall wall thickness of the Brake Dust Cover Plates present o...</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0.000006</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0.5700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2311-BA-ID-01</a:t>
                      </a:r>
                    </a:p>
                  </a:txBody>
                  <a:tcPr/>
                </a:tc>
                <a:tc>
                  <a:txBody>
                    <a:bodyPr wrap="square" lIns="50800" rIns="50800"/>
                    <a:lstStyle/>
                    <a:p>
                      <a:pPr>
                        <a:defRPr sz="900">
                          <a:solidFill>
                            <a:srgbClr val="333333"/>
                          </a:solidFill>
                          <a:latin typeface="Calibri"/>
                        </a:defRPr>
                      </a:pPr>
                      <a:r>
                        <a:t>The Brake Booster Plate in MGI could be integrated into the Dashboard BIW of...</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0.000005</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0.4700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2311-BA-ID-02</a:t>
                      </a:r>
                    </a:p>
                  </a:txBody>
                  <a:tcPr/>
                </a:tc>
                <a:tc>
                  <a:txBody>
                    <a:bodyPr wrap="square" lIns="50800" rIns="50800"/>
                    <a:lstStyle/>
                    <a:p>
                      <a:pPr>
                        <a:defRPr sz="900">
                          <a:solidFill>
                            <a:srgbClr val="333333"/>
                          </a:solidFill>
                          <a:latin typeface="Calibri"/>
                        </a:defRPr>
                      </a:pPr>
                      <a:r>
                        <a:t>Remove the black paint coating from the Brake Caliper Mounting Brackets on al...</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0.000010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1.0200</a:t>
                      </a:r>
                    </a:p>
                  </a:txBody>
                  <a:tcPr/>
                </a:tc>
                <a:tc>
                  <a:txBody>
                    <a:bodyPr wrap="square" lIns="50800" rIns="50800"/>
                    <a:lstStyle/>
                    <a:p>
                      <a:pPr>
                        <a:defRPr sz="900">
                          <a:solidFill>
                            <a:srgbClr val="333333"/>
                          </a:solidFill>
                          <a:latin typeface="Calibri"/>
                        </a:defRPr>
                      </a:pPr>
                      <a:r>
                        <a:t>In Progress</a:t>
                      </a:r>
                    </a:p>
                  </a:txBody>
                  <a:tcPr/>
                </a:tc>
                <a:tc>
                  <a:txBody>
                    <a:bodyPr wrap="square" lIns="50800" rIns="50800"/>
                    <a:lstStyle/>
                    <a:p>
                      <a:pPr>
                        <a:defRPr sz="900">
                          <a:solidFill>
                            <a:srgbClr val="333333"/>
                          </a:solidFill>
                          <a:latin typeface="Calibri"/>
                        </a:defRPr>
                      </a:pPr>
                      <a:r>
                        <a:t>Feasibility Study On-going</a:t>
                      </a:r>
                    </a:p>
                  </a:txBody>
                  <a:tcPr/>
                </a:tc>
              </a:tr>
              <a:tr h="782955">
                <a:tc>
                  <a:txBody>
                    <a:bodyPr wrap="square" lIns="50800" rIns="50800"/>
                    <a:lstStyle/>
                    <a:p>
                      <a:pPr>
                        <a:defRPr sz="900">
                          <a:solidFill>
                            <a:srgbClr val="333333"/>
                          </a:solidFill>
                          <a:latin typeface="Calibri"/>
                        </a:defRPr>
                      </a:pPr>
                      <a:r>
                        <a:t>2311-PA-ID-02</a:t>
                      </a:r>
                    </a:p>
                  </a:txBody>
                  <a:tcPr/>
                </a:tc>
                <a:tc>
                  <a:txBody>
                    <a:bodyPr wrap="square" lIns="50800" rIns="50800"/>
                    <a:lstStyle/>
                    <a:p>
                      <a:pPr>
                        <a:defRPr sz="900">
                          <a:solidFill>
                            <a:srgbClr val="333333"/>
                          </a:solidFill>
                          <a:latin typeface="Calibri"/>
                        </a:defRPr>
                      </a:pPr>
                      <a:r>
                        <a:t>Redesign the current Brake Pedal Mounting Bracket used in MGI to a similar br...</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0.000011</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1.1300</a:t>
                      </a:r>
                    </a:p>
                  </a:txBody>
                  <a:tcPr/>
                </a:tc>
                <a:tc>
                  <a:txBody>
                    <a:bodyPr wrap="square" lIns="50800" rIns="50800"/>
                    <a:lstStyle/>
                    <a:p>
                      <a:pPr>
                        <a:defRPr sz="900">
                          <a:solidFill>
                            <a:srgbClr val="333333"/>
                          </a:solidFill>
                          <a:latin typeface="Calibri"/>
                        </a:defRPr>
                      </a:pPr>
                      <a:r>
                        <a:t>TBD</a:t>
                      </a:r>
                    </a:p>
                  </a:txBody>
                  <a:tcPr/>
                </a:tc>
                <a:tc>
                  <a:txBody>
                    <a:bodyPr wrap="square" lIns="50800" rIns="50800"/>
                    <a:lstStyle/>
                    <a:p>
                      <a:pPr>
                        <a:defRPr sz="900">
                          <a:solidFill>
                            <a:srgbClr val="333333"/>
                          </a:solidFill>
                          <a:latin typeface="Calibri"/>
                        </a:defRPr>
                      </a:pPr>
                      <a:r>
                        <a:t>Engineering Review</a:t>
                      </a:r>
                    </a:p>
                  </a:txBody>
                  <a:tcPr/>
                </a:tc>
              </a:tr>
              <a:tr h="782955">
                <a:tc>
                  <a:txBody>
                    <a:bodyPr wrap="square" lIns="50800" rIns="50800"/>
                    <a:lstStyle/>
                    <a:p>
                      <a:pPr>
                        <a:defRPr sz="900">
                          <a:solidFill>
                            <a:srgbClr val="333333"/>
                          </a:solidFill>
                          <a:latin typeface="Calibri"/>
                        </a:defRPr>
                      </a:pPr>
                      <a:r>
                        <a:t>AI-GEN-01</a:t>
                      </a:r>
                    </a:p>
                  </a:txBody>
                  <a:tcPr/>
                </a:tc>
                <a:tc>
                  <a:txBody>
                    <a:bodyPr wrap="square" lIns="50800" rIns="50800"/>
                    <a:lstStyle/>
                    <a:p>
                      <a:pPr>
                        <a:defRPr sz="900">
                          <a:solidFill>
                            <a:srgbClr val="333333"/>
                          </a:solidFill>
                          <a:latin typeface="Calibri"/>
                        </a:defRPr>
                      </a:pPr>
                      <a:r>
                        <a:t>Replace the current cast iron brake rotors on the rear axle with a lighter, h...</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AI-GEN-02</a:t>
                      </a:r>
                    </a:p>
                  </a:txBody>
                  <a:tcPr/>
                </a:tc>
                <a:tc>
                  <a:txBody>
                    <a:bodyPr wrap="square" lIns="50800" rIns="50800"/>
                    <a:lstStyle/>
                    <a:p>
                      <a:pPr>
                        <a:defRPr sz="900">
                          <a:solidFill>
                            <a:srgbClr val="333333"/>
                          </a:solidFill>
                          <a:latin typeface="Calibri"/>
                        </a:defRPr>
                      </a:pPr>
                      <a:r>
                        <a:t>Reduce the caliper piston diameter on the front brake assembly by 5mm, compen...</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AI-GEN-03</a:t>
                      </a:r>
                    </a:p>
                  </a:txBody>
                  <a:tcPr/>
                </a:tc>
                <a:tc>
                  <a:txBody>
                    <a:bodyPr wrap="square" lIns="50800" rIns="50800"/>
                    <a:lstStyle/>
                    <a:p>
                      <a:pPr>
                        <a:defRPr sz="900">
                          <a:solidFill>
                            <a:srgbClr val="333333"/>
                          </a:solidFill>
                          <a:latin typeface="Calibri"/>
                        </a:defRPr>
                      </a:pPr>
                      <a:r>
                        <a:t>Substitute the existing steel dust shield gauge for rear brake assemblies wit...</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1)</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782955">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(Cr)</a:t>
                      </a:r>
                    </a:p>
                  </a:txBody>
                  <a:tcPr>
                    <a:solidFill>
                      <a:srgbClr val="003366"/>
                    </a:solidFill>
                  </a:tcPr>
                </a:tc>
                <a:tc>
                  <a:txBody>
                    <a:bodyPr wrap="square"/>
                    <a:lstStyle/>
                    <a:p>
                      <a:pPr>
                        <a:defRPr b="1" sz="900">
                          <a:solidFill>
                            <a:srgbClr val="FFFFFF"/>
                          </a:solidFill>
                        </a:defRPr>
                      </a:pPr>
                      <a:r>
                        <a:t>Vol (Cr)</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782955">
                <a:tc>
                  <a:txBody>
                    <a:bodyPr wrap="square" lIns="50800" rIns="50800"/>
                    <a:lstStyle/>
                    <a:p>
                      <a:pPr>
                        <a:defRPr sz="900">
                          <a:solidFill>
                            <a:srgbClr val="333333"/>
                          </a:solidFill>
                          <a:latin typeface="Calibri"/>
                        </a:defRPr>
                      </a:pPr>
                      <a:r>
                        <a:t>AI-GEN-05</a:t>
                      </a:r>
                    </a:p>
                  </a:txBody>
                  <a:tcPr/>
                </a:tc>
                <a:tc>
                  <a:txBody>
                    <a:bodyPr wrap="square" lIns="50800" rIns="50800"/>
                    <a:lstStyle/>
                    <a:p>
                      <a:pPr>
                        <a:defRPr sz="900">
                          <a:solidFill>
                            <a:srgbClr val="333333"/>
                          </a:solidFill>
                          <a:latin typeface="Calibri"/>
                        </a:defRPr>
                      </a:pPr>
                      <a:r>
                        <a:t>Reduce the caliper mounting bracket thickness by 1.5mm using a higher-strengt...</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AI-GEN-06</a:t>
                      </a:r>
                    </a:p>
                  </a:txBody>
                  <a:tcPr/>
                </a:tc>
                <a:tc>
                  <a:txBody>
                    <a:bodyPr wrap="square" lIns="50800" rIns="50800"/>
                    <a:lstStyle/>
                    <a:p>
                      <a:pPr>
                        <a:defRPr sz="900">
                          <a:solidFill>
                            <a:srgbClr val="333333"/>
                          </a:solidFill>
                          <a:latin typeface="Calibri"/>
                        </a:defRPr>
                      </a:pPr>
                      <a:r>
                        <a:t>Implement a single-piece cast aluminum caliper body for the rear brakes, repl...</a:t>
                      </a:r>
                    </a:p>
                  </a:txBody>
                  <a:tcPr/>
                </a:tc>
                <a:tc>
                  <a:txBody>
                    <a:bodyPr wrap="square" lIns="50800" rIns="50800"/>
                    <a:lstStyle/>
                    <a:p>
                      <a:pPr>
                        <a:defRPr sz="900">
                          <a:solidFill>
                            <a:srgbClr val="333333"/>
                          </a:solidFill>
                          <a:latin typeface="Calibri"/>
                        </a:defRPr>
                      </a:pPr>
                      <a:r>
                        <a:t>0.0500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AI-GEN-07</a:t>
                      </a:r>
                    </a:p>
                  </a:txBody>
                  <a:tcPr/>
                </a:tc>
                <a:tc>
                  <a:txBody>
                    <a:bodyPr wrap="square" lIns="50800" rIns="50800"/>
                    <a:lstStyle/>
                    <a:p>
                      <a:pPr>
                        <a:defRPr sz="900">
                          <a:solidFill>
                            <a:srgbClr val="333333"/>
                          </a:solidFill>
                          <a:latin typeface="Calibri"/>
                        </a:defRPr>
                      </a:pPr>
                      <a:r>
                        <a:t>Reduce the brake pad friction material thickness by 1mm across all four wheel...</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AI-GEN-08</a:t>
                      </a:r>
                    </a:p>
                  </a:txBody>
                  <a:tcPr/>
                </a:tc>
                <a:tc>
                  <a:txBody>
                    <a:bodyPr wrap="square" lIns="50800" rIns="50800"/>
                    <a:lstStyle/>
                    <a:p>
                      <a:pPr>
                        <a:defRPr sz="900">
                          <a:solidFill>
                            <a:srgbClr val="333333"/>
                          </a:solidFill>
                          <a:latin typeface="Calibri"/>
                        </a:defRPr>
                      </a:pPr>
                      <a:r>
                        <a:t>Replace the rubber brake hose material with a more durable, higher-pressure r...</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AI-GEN-09</a:t>
                      </a:r>
                    </a:p>
                  </a:txBody>
                  <a:tcPr/>
                </a:tc>
                <a:tc>
                  <a:txBody>
                    <a:bodyPr wrap="square" lIns="50800" rIns="50800"/>
                    <a:lstStyle/>
                    <a:p>
                      <a:pPr>
                        <a:defRPr sz="900">
                          <a:solidFill>
                            <a:srgbClr val="333333"/>
                          </a:solidFill>
                          <a:latin typeface="Calibri"/>
                        </a:defRPr>
                      </a:pPr>
                      <a:r>
                        <a:t>Reduce the rotor thickness on front brake assemblies by 2mm by optimizing the...</a:t>
                      </a:r>
                    </a:p>
                  </a:txBody>
                  <a:tcPr/>
                </a:tc>
                <a:tc>
                  <a:txBody>
                    <a:bodyPr wrap="square" lIns="50800" rIns="50800"/>
                    <a:lstStyle/>
                    <a:p>
                      <a:pPr>
                        <a:defRPr sz="900">
                          <a:solidFill>
                            <a:srgbClr val="333333"/>
                          </a:solidFill>
                          <a:latin typeface="Calibri"/>
                        </a:defRPr>
                      </a:pPr>
                      <a:r>
                        <a:t>0.0750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Investigate the use of a novel, high-performance friction material for the br...</a:t>
                      </a:r>
                    </a:p>
                  </a:txBody>
                  <a:tcPr/>
                </a:tc>
                <a:tc>
                  <a:txBody>
                    <a:bodyPr wrap="square" lIns="50800" rIns="50800"/>
                    <a:lstStyle/>
                    <a:p>
                      <a:pPr>
                        <a:defRPr sz="900">
                          <a:solidFill>
                            <a:srgbClr val="333333"/>
                          </a:solidFill>
                          <a:latin typeface="Calibri"/>
                        </a:defRPr>
                      </a:pPr>
                      <a:r>
                        <a:t>0.2500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782955">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Optimize the rotor thickness and cooling fin design of the MG Hector's brake...</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aphicFrame>
        <p:nvGraphicFramePr>
          <p:cNvPr id="2" name="Table 1"/>
          <p:cNvGraphicFramePr>
            <a:graphicFrameLocks noGrp="1"/>
          </p:cNvGraphicFramePr>
          <p:nvPr/>
        </p:nvGraphicFramePr>
        <p:xfrm>
          <a:off x="182880" y="411480"/>
          <a:ext cx="10972800" cy="6263640"/>
        </p:xfrm>
        <a:graphic>
          <a:graphicData uri="http://schemas.openxmlformats.org/drawingml/2006/table">
            <a:tbl>
              <a:tblPr firstRow="1" bandRow="1">
                <a:tableStyleId>{5C22544A-7EE6-4342-B048-85BDC9FD1C3A}</a:tableStyleId>
              </a:tblPr>
              <a:tblGrid>
                <a:gridCol w="548640"/>
                <a:gridCol w="3657600"/>
                <a:gridCol w="914400"/>
                <a:gridCol w="914400"/>
                <a:gridCol w="914400"/>
                <a:gridCol w="1097280"/>
                <a:gridCol w="1097280"/>
                <a:gridCol w="1828800"/>
              </a:tblGrid>
              <a:tr h="2087880">
                <a:tc>
                  <a:txBody>
                    <a:bodyPr wrap="square"/>
                    <a:lstStyle/>
                    <a:p>
                      <a:pPr>
                        <a:defRPr b="1" sz="900">
                          <a:solidFill>
                            <a:srgbClr val="FFFFFF"/>
                          </a:solidFill>
                        </a:defRPr>
                      </a:pPr>
                      <a:r>
                        <a:t>ID</a:t>
                      </a:r>
                    </a:p>
                  </a:txBody>
                  <a:tcPr>
                    <a:solidFill>
                      <a:srgbClr val="003366"/>
                    </a:solidFill>
                  </a:tcPr>
                </a:tc>
                <a:tc>
                  <a:txBody>
                    <a:bodyPr wrap="square"/>
                    <a:lstStyle/>
                    <a:p>
                      <a:pPr>
                        <a:defRPr b="1" sz="900">
                          <a:solidFill>
                            <a:srgbClr val="FFFFFF"/>
                          </a:solidFill>
                        </a:defRPr>
                      </a:pPr>
                      <a:r>
                        <a:t>Idea</a:t>
                      </a:r>
                    </a:p>
                  </a:txBody>
                  <a:tcPr>
                    <a:solidFill>
                      <a:srgbClr val="003366"/>
                    </a:solidFill>
                  </a:tcPr>
                </a:tc>
                <a:tc>
                  <a:txBody>
                    <a:bodyPr wrap="square"/>
                    <a:lstStyle/>
                    <a:p>
                      <a:pPr>
                        <a:defRPr b="1" sz="900">
                          <a:solidFill>
                            <a:srgbClr val="FFFFFF"/>
                          </a:solidFill>
                        </a:defRPr>
                      </a:pPr>
                      <a:r>
                        <a:t>CAPEX (Cr)</a:t>
                      </a:r>
                    </a:p>
                  </a:txBody>
                  <a:tcPr>
                    <a:solidFill>
                      <a:srgbClr val="003366"/>
                    </a:solidFill>
                  </a:tcPr>
                </a:tc>
                <a:tc>
                  <a:txBody>
                    <a:bodyPr wrap="square"/>
                    <a:lstStyle/>
                    <a:p>
                      <a:pPr>
                        <a:defRPr b="1" sz="900">
                          <a:solidFill>
                            <a:srgbClr val="FFFFFF"/>
                          </a:solidFill>
                        </a:defRPr>
                      </a:pPr>
                      <a:r>
                        <a:t>Unit Sav (Cr)</a:t>
                      </a:r>
                    </a:p>
                  </a:txBody>
                  <a:tcPr>
                    <a:solidFill>
                      <a:srgbClr val="003366"/>
                    </a:solidFill>
                  </a:tcPr>
                </a:tc>
                <a:tc>
                  <a:txBody>
                    <a:bodyPr wrap="square"/>
                    <a:lstStyle/>
                    <a:p>
                      <a:pPr>
                        <a:defRPr b="1" sz="900">
                          <a:solidFill>
                            <a:srgbClr val="FFFFFF"/>
                          </a:solidFill>
                        </a:defRPr>
                      </a:pPr>
                      <a:r>
                        <a:t>Vol (Cr)</a:t>
                      </a:r>
                    </a:p>
                  </a:txBody>
                  <a:tcPr>
                    <a:solidFill>
                      <a:srgbClr val="003366"/>
                    </a:solidFill>
                  </a:tcPr>
                </a:tc>
                <a:tc>
                  <a:txBody>
                    <a:bodyPr wrap="square"/>
                    <a:lstStyle/>
                    <a:p>
                      <a:pPr>
                        <a:defRPr b="1" sz="900">
                          <a:solidFill>
                            <a:srgbClr val="FFFFFF"/>
                          </a:solidFill>
                        </a:defRPr>
                      </a:pPr>
                      <a:r>
                        <a:t>Total Sav (Cr)</a:t>
                      </a:r>
                    </a:p>
                  </a:txBody>
                  <a:tcPr>
                    <a:solidFill>
                      <a:srgbClr val="003366"/>
                    </a:solidFill>
                  </a:tcPr>
                </a:tc>
                <a:tc>
                  <a:txBody>
                    <a:bodyPr wrap="square"/>
                    <a:lstStyle/>
                    <a:p>
                      <a:pPr>
                        <a:defRPr b="1" sz="900">
                          <a:solidFill>
                            <a:srgbClr val="FFFFFF"/>
                          </a:solidFill>
                        </a:defRPr>
                      </a:pPr>
                      <a:r>
                        <a:t>Status</a:t>
                      </a:r>
                    </a:p>
                  </a:txBody>
                  <a:tcPr>
                    <a:solidFill>
                      <a:srgbClr val="003366"/>
                    </a:solidFill>
                  </a:tcPr>
                </a:tc>
                <a:tc>
                  <a:txBody>
                    <a:bodyPr wrap="square"/>
                    <a:lstStyle/>
                    <a:p>
                      <a:pPr>
                        <a:defRPr b="1" sz="900">
                          <a:solidFill>
                            <a:srgbClr val="FFFFFF"/>
                          </a:solidFill>
                        </a:defRPr>
                      </a:pPr>
                      <a:r>
                        <a:t>Remark</a:t>
                      </a:r>
                    </a:p>
                  </a:txBody>
                  <a:tcPr>
                    <a:solidFill>
                      <a:srgbClr val="003366"/>
                    </a:solidFill>
                  </a:tcPr>
                </a:tc>
              </a:tr>
              <a:tr h="208788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Evaluate the integration of a lightweight, high-strength caliper material, su...</a:t>
                      </a:r>
                    </a:p>
                  </a:txBody>
                  <a:tcPr/>
                </a:tc>
                <a:tc>
                  <a:txBody>
                    <a:bodyPr wrap="square" lIns="50800" rIns="50800"/>
                    <a:lstStyle/>
                    <a:p>
                      <a:pPr>
                        <a:defRPr sz="900">
                          <a:solidFill>
                            <a:srgbClr val="333333"/>
                          </a:solidFill>
                          <a:latin typeface="Calibri"/>
                        </a:defRPr>
                      </a:pPr>
                      <a:r>
                        <a:t>0.1200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AI Generated</a:t>
                      </a:r>
                    </a:p>
                  </a:txBody>
                  <a:tcPr/>
                </a:tc>
                <a:tc>
                  <a:txBody>
                    <a:bodyPr wrap="square" lIns="50800" rIns="50800"/>
                    <a:lstStyle/>
                    <a:p>
                      <a:pPr>
                        <a:defRPr sz="900">
                          <a:solidFill>
                            <a:srgbClr val="333333"/>
                          </a:solidFill>
                          <a:latin typeface="Calibri"/>
                        </a:defRPr>
                      </a:pPr>
                      <a:r>
                        <a:t>Validation Pending</a:t>
                      </a:r>
                    </a:p>
                  </a:txBody>
                  <a:tcPr/>
                </a:tc>
              </a:tr>
              <a:tr h="2087880">
                <a:tc>
                  <a:txBody>
                    <a:bodyPr wrap="square" lIns="50800" rIns="50800"/>
                    <a:lstStyle/>
                    <a:p>
                      <a:pPr>
                        <a:defRPr sz="900">
                          <a:solidFill>
                            <a:srgbClr val="333333"/>
                          </a:solidFill>
                          <a:latin typeface="Calibri"/>
                        </a:defRPr>
                      </a:pPr>
                      <a:r>
                        <a:t>N/A</a:t>
                      </a:r>
                    </a:p>
                  </a:txBody>
                  <a:tcPr/>
                </a:tc>
                <a:tc>
                  <a:txBody>
                    <a:bodyPr wrap="square" lIns="50800" rIns="50800"/>
                    <a:lstStyle/>
                    <a:p>
                      <a:pPr>
                        <a:defRPr sz="900">
                          <a:solidFill>
                            <a:srgbClr val="333333"/>
                          </a:solidFill>
                          <a:latin typeface="Calibri"/>
                        </a:defRPr>
                      </a:pPr>
                      <a:r>
                        <a:t>Implement a redesigned, optimized dust shield gauge and material for the MG H...</a:t>
                      </a:r>
                    </a:p>
                  </a:txBody>
                  <a:tcPr/>
                </a:tc>
                <a:tc>
                  <a:txBody>
                    <a:bodyPr wrap="square" lIns="50800" rIns="50800"/>
                    <a:lstStyle/>
                    <a:p>
                      <a:pPr>
                        <a:defRPr sz="900">
                          <a:solidFill>
                            <a:srgbClr val="333333"/>
                          </a:solidFill>
                          <a:latin typeface="Calibri"/>
                        </a:defRPr>
                      </a:pPr>
                      <a:r>
                        <a:t>0.1500</a:t>
                      </a:r>
                    </a:p>
                  </a:txBody>
                  <a:tcPr/>
                </a:tc>
                <a:tc>
                  <a:txBody>
                    <a:bodyPr wrap="square" lIns="50800" rIns="50800"/>
                    <a:lstStyle/>
                    <a:p>
                      <a:pPr>
                        <a:defRPr sz="900">
                          <a:solidFill>
                            <a:srgbClr val="333333"/>
                          </a:solidFill>
                          <a:latin typeface="Calibri"/>
                        </a:defRPr>
                      </a:pPr>
                      <a:r>
                        <a:t>0.000000</a:t>
                      </a:r>
                    </a:p>
                  </a:txBody>
                  <a:tcPr/>
                </a:tc>
                <a:tc>
                  <a:txBody>
                    <a:bodyPr wrap="square" lIns="50800" rIns="50800"/>
                    <a:lstStyle/>
                    <a:p>
                      <a:pPr>
                        <a:defRPr sz="900">
                          <a:solidFill>
                            <a:srgbClr val="333333"/>
                          </a:solidFill>
                          <a:latin typeface="Calibri"/>
                        </a:defRPr>
                      </a:pPr>
                      <a:r>
                        <a:t>0.0100</a:t>
                      </a:r>
                    </a:p>
                  </a:txBody>
                  <a:tcPr/>
                </a:tc>
                <a:tc>
                  <a:txBody>
                    <a:bodyPr wrap="square" lIns="50800" rIns="50800"/>
                    <a:lstStyle/>
                    <a:p>
                      <a:pPr>
                        <a:defRPr sz="900">
                          <a:solidFill>
                            <a:srgbClr val="333333"/>
                          </a:solidFill>
                          <a:latin typeface="Calibri"/>
                        </a:defRPr>
                      </a:pPr>
                      <a:r>
                        <a:t>0.0000</a:t>
                      </a:r>
                    </a:p>
                  </a:txBody>
                  <a:tcPr/>
                </a:tc>
                <a:tc>
                  <a:txBody>
                    <a:bodyPr wrap="square" lIns="50800" rIns="50800"/>
                    <a:lstStyle/>
                    <a:p>
                      <a:pPr>
                        <a:defRPr sz="900">
                          <a:solidFill>
                            <a:srgbClr val="333333"/>
                          </a:solidFill>
                          <a:latin typeface="Calibri"/>
                        </a:defRPr>
                      </a:pPr>
                      <a:r>
                        <a:t>Industry Trend</a:t>
                      </a:r>
                    </a:p>
                  </a:txBody>
                  <a:tcPr/>
                </a:tc>
                <a:tc>
                  <a:txBody>
                    <a:bodyPr wrap="square" lIns="50800" rIns="50800"/>
                    <a:lstStyle/>
                    <a:p>
                      <a:pPr>
                        <a:defRPr sz="900">
                          <a:solidFill>
                            <a:srgbClr val="333333"/>
                          </a:solidFill>
                          <a:latin typeface="Calibri"/>
                        </a:defRPr>
                      </a:pPr>
                      <a:r>
                        <a:t>Engineering Review</a:t>
                      </a:r>
                    </a:p>
                  </a:txBody>
                  <a:tcPr/>
                </a:tc>
              </a:tr>
            </a:tbl>
          </a:graphicData>
        </a:graphic>
      </p:graphicFrame>
      <p:sp>
        <p:nvSpPr>
          <p:cNvPr id="3" name="TextBox 2"/>
          <p:cNvSpPr txBox="1"/>
          <p:nvPr/>
        </p:nvSpPr>
        <p:spPr>
          <a:xfrm>
            <a:off x="182880" y="45720"/>
            <a:ext cx="11825935" cy="320040"/>
          </a:xfrm>
          <a:prstGeom prst="rect">
            <a:avLst/>
          </a:prstGeom>
          <a:noFill/>
        </p:spPr>
        <p:txBody>
          <a:bodyPr wrap="none">
            <a:spAutoFit/>
          </a:bodyPr>
          <a:lstStyle/>
          <a:p>
            <a:pPr>
              <a:defRPr sz="1500" b="1">
                <a:solidFill>
                  <a:srgbClr val="003366"/>
                </a:solidFill>
              </a:defRPr>
            </a:pPr>
            <a:r>
              <a:t>Summary (Values in ₹ Crore) (Page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645920"/>
          </a:xfrm>
          <a:prstGeom prst="rect">
            <a:avLst/>
          </a:prstGeom>
          <a:noFill/>
        </p:spPr>
        <p:txBody>
          <a:bodyPr wrap="square">
            <a:spAutoFit/>
          </a:bodyPr>
          <a:lstStyle/>
          <a:p>
            <a:pPr>
              <a:defRPr sz="1800" b="1">
                <a:solidFill>
                  <a:srgbClr val="003366"/>
                </a:solidFill>
              </a:defRPr>
            </a:pPr>
            <a:r>
              <a:t>#1: 1. Reduce the overall wall thickness of the Brake Dust Cover Plates present on all four wheel hubs of the vehicles from 1mm to 0.8mm</a:t>
            </a:r>
            <a:br/>
            <a:r>
              <a:t>2. Reduce the paint coating thickness on each side of all four plates from 56 microns to 27.8 microns</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92024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2148840"/>
            <a:ext cx="5486400" cy="888796"/>
          </a:xfrm>
          <a:prstGeom prst="rect">
            <a:avLst/>
          </a:prstGeom>
          <a:noFill/>
        </p:spPr>
        <p:txBody>
          <a:bodyPr wrap="square">
            <a:spAutoFit/>
          </a:bodyPr>
          <a:lstStyle/>
          <a:p>
            <a:pPr>
              <a:defRPr sz="1000">
                <a:solidFill>
                  <a:srgbClr val="333333"/>
                </a:solidFill>
              </a:defRPr>
            </a:pPr>
            <a:r>
              <a:t>Technical optimization of 1. Reduce the overall wall thickness of the Brake Dust Cover Plates present on all four wheel hubs of the vehicles from 1mm to 0.8mm</a:t>
            </a:r>
            <a:br/>
            <a:r>
              <a:t>2. Reduce the paint coating thickness on each side of all four plates from 56 microns to 27.8 microns focusing on material efficiency and process consolidation to reduce cycle time.</a:t>
            </a:r>
          </a:p>
        </p:txBody>
      </p:sp>
      <p:sp>
        <p:nvSpPr>
          <p:cNvPr id="6" name="Rectangle 5"/>
          <p:cNvSpPr/>
          <p:nvPr/>
        </p:nvSpPr>
        <p:spPr>
          <a:xfrm>
            <a:off x="274320" y="30376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3110788"/>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3339388"/>
            <a:ext cx="5486400" cy="424647"/>
          </a:xfrm>
          <a:prstGeom prst="rect">
            <a:avLst/>
          </a:prstGeom>
          <a:noFill/>
        </p:spPr>
        <p:txBody>
          <a:bodyPr wrap="square">
            <a:spAutoFit/>
          </a:bodyPr>
          <a:lstStyle/>
          <a:p>
            <a:pPr>
              <a:defRPr sz="1000">
                <a:solidFill>
                  <a:srgbClr val="333333"/>
                </a:solidFill>
              </a:defRPr>
            </a:pPr>
            <a:r>
              <a:t>N/A (No material change explicitly mentioned)</a:t>
            </a:r>
            <a:br/>
            <a:r>
              <a:t>1mm to 0.8mm</a:t>
            </a:r>
          </a:p>
        </p:txBody>
      </p:sp>
      <p:sp>
        <p:nvSpPr>
          <p:cNvPr id="9" name="Rectangle 8"/>
          <p:cNvSpPr/>
          <p:nvPr/>
        </p:nvSpPr>
        <p:spPr>
          <a:xfrm>
            <a:off x="274320" y="37640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8371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4065788"/>
            <a:ext cx="5486400" cy="378561"/>
          </a:xfrm>
          <a:prstGeom prst="rect">
            <a:avLst/>
          </a:prstGeom>
          <a:noFill/>
        </p:spPr>
        <p:txBody>
          <a:bodyPr wrap="square">
            <a:spAutoFit/>
          </a:bodyPr>
          <a:lstStyle/>
          <a:p>
            <a:pPr>
              <a:defRPr sz="1000">
                <a:solidFill>
                  <a:srgbClr val="333333"/>
                </a:solidFill>
              </a:defRPr>
            </a:pPr>
            <a:r>
              <a:t>Est. Saving: INR 57</a:t>
            </a:r>
            <a:br/>
            <a:r>
              <a:t>CAPEX: TBD</a:t>
            </a:r>
          </a:p>
        </p:txBody>
      </p:sp>
      <p:sp>
        <p:nvSpPr>
          <p:cNvPr id="12" name="Rectangle 11"/>
          <p:cNvSpPr/>
          <p:nvPr/>
        </p:nvSpPr>
        <p:spPr>
          <a:xfrm>
            <a:off x="274320" y="44443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451750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74610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5483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17920" y="15544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7" name="Picture 16" descr="185.jpg"/>
          <p:cNvPicPr>
            <a:picLocks noChangeAspect="1"/>
          </p:cNvPicPr>
          <p:nvPr/>
        </p:nvPicPr>
        <p:blipFill>
          <a:blip r:embed="rId2"/>
          <a:stretch>
            <a:fillRect/>
          </a:stretch>
        </p:blipFill>
        <p:spPr>
          <a:xfrm>
            <a:off x="6217920" y="1828800"/>
            <a:ext cx="5699455" cy="2304288"/>
          </a:xfrm>
          <a:prstGeom prst="rect">
            <a:avLst/>
          </a:prstGeom>
          <a:ln w="12700">
            <a:solidFill>
              <a:srgbClr val="C8C8C8"/>
            </a:solidFill>
          </a:ln>
        </p:spPr>
      </p:pic>
      <p:sp>
        <p:nvSpPr>
          <p:cNvPr id="18" name="Rectangle 17"/>
          <p:cNvSpPr/>
          <p:nvPr/>
        </p:nvSpPr>
        <p:spPr>
          <a:xfrm>
            <a:off x="6217920" y="4279392"/>
            <a:ext cx="5699455" cy="23042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#2: The Brake Booster Plate in MGI could be integrated into the Dashboard BIW of the vehicle as done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08589"/>
          </a:xfrm>
          <a:prstGeom prst="rect">
            <a:avLst/>
          </a:prstGeom>
          <a:noFill/>
        </p:spPr>
        <p:txBody>
          <a:bodyPr wrap="square">
            <a:spAutoFit/>
          </a:bodyPr>
          <a:lstStyle/>
          <a:p>
            <a:pPr>
              <a:defRPr sz="1000">
                <a:solidFill>
                  <a:srgbClr val="333333"/>
                </a:solidFill>
              </a:defRPr>
            </a:pPr>
            <a:r>
              <a:t>Technical optimization of The Brake Booster Plate in MGI could be integrated into the Dashboard BIW of the vehicle as done in KIA focusing on material efficiency and process consolidation to reduce cycle time.</a:t>
            </a:r>
          </a:p>
        </p:txBody>
      </p:sp>
      <p:sp>
        <p:nvSpPr>
          <p:cNvPr id="6" name="Rectangle 5"/>
          <p:cNvSpPr/>
          <p:nvPr/>
        </p:nvSpPr>
        <p:spPr>
          <a:xfrm>
            <a:off x="274320" y="18344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0762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36221"/>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9378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6693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95539"/>
            <a:ext cx="5486400" cy="378561"/>
          </a:xfrm>
          <a:prstGeom prst="rect">
            <a:avLst/>
          </a:prstGeom>
          <a:noFill/>
        </p:spPr>
        <p:txBody>
          <a:bodyPr wrap="square">
            <a:spAutoFit/>
          </a:bodyPr>
          <a:lstStyle/>
          <a:p>
            <a:pPr>
              <a:defRPr sz="1000">
                <a:solidFill>
                  <a:srgbClr val="333333"/>
                </a:solidFill>
              </a:defRPr>
            </a:pPr>
            <a:r>
              <a:t>Est. Saving: INR 47</a:t>
            </a:r>
            <a:br/>
            <a:r>
              <a:t>CAPEX: TBD</a:t>
            </a:r>
          </a:p>
        </p:txBody>
      </p:sp>
      <p:sp>
        <p:nvSpPr>
          <p:cNvPr id="12" name="Rectangle 11"/>
          <p:cNvSpPr/>
          <p:nvPr/>
        </p:nvSpPr>
        <p:spPr>
          <a:xfrm>
            <a:off x="274320" y="32741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47252"/>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75852"/>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7813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51287"/>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79887"/>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670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1.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#3: Remove the black paint coating from the Brake Caliper Mounting Brackets on all four brake assemblies of MGI, following the procedure used for the front brake caliper mounting brackets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53430"/>
          </a:xfrm>
          <a:prstGeom prst="rect">
            <a:avLst/>
          </a:prstGeom>
          <a:noFill/>
        </p:spPr>
        <p:txBody>
          <a:bodyPr wrap="square">
            <a:spAutoFit/>
          </a:bodyPr>
          <a:lstStyle/>
          <a:p>
            <a:pPr>
              <a:defRPr sz="1000">
                <a:solidFill>
                  <a:srgbClr val="333333"/>
                </a:solidFill>
              </a:defRPr>
            </a:pPr>
            <a:r>
              <a:t>Technical optimization of Remove the black paint coating from the Brake Caliper Mounting Brackets on all four brake assemblies of MGI, following the procedure used for the front brake caliper mounting brackets in KIA. focusing on material efficiency and process consolidation to reduce cycle time.</a:t>
            </a:r>
          </a:p>
        </p:txBody>
      </p:sp>
      <p:sp>
        <p:nvSpPr>
          <p:cNvPr id="6" name="Rectangle 5"/>
          <p:cNvSpPr/>
          <p:nvPr/>
        </p:nvSpPr>
        <p:spPr>
          <a:xfrm>
            <a:off x="274320" y="239079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63942"/>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92542"/>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31501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23260"/>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51860"/>
            <a:ext cx="5486400" cy="380207"/>
          </a:xfrm>
          <a:prstGeom prst="rect">
            <a:avLst/>
          </a:prstGeom>
          <a:noFill/>
        </p:spPr>
        <p:txBody>
          <a:bodyPr wrap="square">
            <a:spAutoFit/>
          </a:bodyPr>
          <a:lstStyle/>
          <a:p>
            <a:pPr>
              <a:defRPr sz="1000">
                <a:solidFill>
                  <a:srgbClr val="333333"/>
                </a:solidFill>
              </a:defRPr>
            </a:pPr>
            <a:r>
              <a:t>Est. Saving: INR 102</a:t>
            </a:r>
            <a:br/>
            <a:r>
              <a:t>CAPEX: TBD</a:t>
            </a:r>
          </a:p>
        </p:txBody>
      </p:sp>
      <p:sp>
        <p:nvSpPr>
          <p:cNvPr id="12" name="Rectangle 11"/>
          <p:cNvSpPr/>
          <p:nvPr/>
        </p:nvSpPr>
        <p:spPr>
          <a:xfrm>
            <a:off x="274320" y="38320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05219"/>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33819"/>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361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0925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37853"/>
            <a:ext cx="5486400" cy="345826"/>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3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#4: Redesign the current Brake Pedal Mounting Bracket used in MGI to a similar bracket used in KIA.</a:t>
            </a:r>
          </a:p>
        </p:txBody>
      </p:sp>
      <p:sp>
        <p:nvSpPr>
          <p:cNvPr id="3" name="TextBox 2"/>
          <p:cNvSpPr txBox="1"/>
          <p:nvPr/>
        </p:nvSpPr>
        <p:spPr>
          <a:xfrm>
            <a:off x="10088575" y="182880"/>
            <a:ext cx="1828800" cy="457200"/>
          </a:xfrm>
          <a:prstGeom prst="rect">
            <a:avLst/>
          </a:prstGeom>
          <a:solidFill>
            <a:srgbClr val="646464"/>
          </a:solidFill>
        </p:spPr>
        <p:txBody>
          <a:bodyPr wrap="none">
            <a:spAutoFit/>
          </a:bodyPr>
          <a:lstStyle/>
          <a:p>
            <a:pPr algn="ctr">
              <a:defRPr>
                <a:solidFill>
                  <a:srgbClr val="FFFFFF"/>
                </a:solidFill>
              </a:defRPr>
            </a:pPr>
            <a:r>
              <a:t>EXISTING DATABASE</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495421"/>
          </a:xfrm>
          <a:prstGeom prst="rect">
            <a:avLst/>
          </a:prstGeom>
          <a:noFill/>
        </p:spPr>
        <p:txBody>
          <a:bodyPr wrap="square">
            <a:spAutoFit/>
          </a:bodyPr>
          <a:lstStyle/>
          <a:p>
            <a:pPr>
              <a:defRPr sz="1000">
                <a:solidFill>
                  <a:srgbClr val="333333"/>
                </a:solidFill>
              </a:defRPr>
            </a:pPr>
            <a:r>
              <a:t>Technical optimization of Redesign the current Brake Pedal Mounting Bracket used in MGI to a similar bracket used in KIA. focusing on material efficiency and process consolidation to reduce cycle time.</a:t>
            </a:r>
          </a:p>
        </p:txBody>
      </p:sp>
      <p:sp>
        <p:nvSpPr>
          <p:cNvPr id="6" name="Rectangle 5"/>
          <p:cNvSpPr/>
          <p:nvPr/>
        </p:nvSpPr>
        <p:spPr>
          <a:xfrm>
            <a:off x="274320" y="182130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894453"/>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23053"/>
            <a:ext cx="5486400" cy="457565"/>
          </a:xfrm>
          <a:prstGeom prst="rect">
            <a:avLst/>
          </a:prstGeom>
          <a:noFill/>
        </p:spPr>
        <p:txBody>
          <a:bodyPr wrap="square">
            <a:spAutoFit/>
          </a:bodyPr>
          <a:lstStyle/>
          <a:p>
            <a:pPr>
              <a:defRPr sz="1000">
                <a:solidFill>
                  <a:srgbClr val="333333"/>
                </a:solidFill>
              </a:defRPr>
            </a:pPr>
            <a:r>
              <a:t>N/A (No material change explicitly mentioned)</a:t>
            </a:r>
            <a:br/>
            <a:r>
              <a:t>N/A (Maintains current envelope)</a:t>
            </a:r>
          </a:p>
        </p:txBody>
      </p:sp>
      <p:sp>
        <p:nvSpPr>
          <p:cNvPr id="9" name="Rectangle 8"/>
          <p:cNvSpPr/>
          <p:nvPr/>
        </p:nvSpPr>
        <p:spPr>
          <a:xfrm>
            <a:off x="274320" y="258061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653771"/>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2882371"/>
            <a:ext cx="5486400" cy="380207"/>
          </a:xfrm>
          <a:prstGeom prst="rect">
            <a:avLst/>
          </a:prstGeom>
          <a:noFill/>
        </p:spPr>
        <p:txBody>
          <a:bodyPr wrap="square">
            <a:spAutoFit/>
          </a:bodyPr>
          <a:lstStyle/>
          <a:p>
            <a:pPr>
              <a:defRPr sz="1000">
                <a:solidFill>
                  <a:srgbClr val="333333"/>
                </a:solidFill>
              </a:defRPr>
            </a:pPr>
            <a:r>
              <a:t>Est. Saving: INR 113</a:t>
            </a:r>
            <a:br/>
            <a:r>
              <a:t>CAPEX: TBD</a:t>
            </a:r>
          </a:p>
        </p:txBody>
      </p:sp>
      <p:sp>
        <p:nvSpPr>
          <p:cNvPr id="12" name="Rectangle 11"/>
          <p:cNvSpPr/>
          <p:nvPr/>
        </p:nvSpPr>
        <p:spPr>
          <a:xfrm>
            <a:off x="274320" y="326257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335731"/>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564331"/>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36661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439765"/>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668365"/>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15555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3.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#5: Replace the current cast iron brake rotors on the rear axle with a lighter, higher-performance composite material rotor designed for equivalent thermal and wear performance.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23803"/>
          </a:xfrm>
          <a:prstGeom prst="rect">
            <a:avLst/>
          </a:prstGeom>
          <a:noFill/>
        </p:spPr>
        <p:txBody>
          <a:bodyPr wrap="square">
            <a:spAutoFit/>
          </a:bodyPr>
          <a:lstStyle/>
          <a:p>
            <a:pPr>
              <a:defRPr sz="1000">
                <a:solidFill>
                  <a:srgbClr val="333333"/>
                </a:solidFill>
              </a:defRPr>
            </a:pPr>
            <a:r>
              <a:t>Technical optimization of Replace the current cast iron brake rotors on the rear axle with a lighter, higher-performance composite material rotor designed for equivalent thermal and wear performance. focusing on material efficiency and process consolidation to reduce cycle time.</a:t>
            </a:r>
          </a:p>
        </p:txBody>
      </p:sp>
      <p:sp>
        <p:nvSpPr>
          <p:cNvPr id="6" name="Rectangle 5"/>
          <p:cNvSpPr/>
          <p:nvPr/>
        </p:nvSpPr>
        <p:spPr>
          <a:xfrm>
            <a:off x="274320" y="2361163"/>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34315"/>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62915"/>
            <a:ext cx="5486400" cy="548091"/>
          </a:xfrm>
          <a:prstGeom prst="rect">
            <a:avLst/>
          </a:prstGeom>
          <a:noFill/>
        </p:spPr>
        <p:txBody>
          <a:bodyPr wrap="square">
            <a:spAutoFit/>
          </a:bodyPr>
          <a:lstStyle/>
          <a:p>
            <a:pPr>
              <a:defRPr sz="1000">
                <a:solidFill>
                  <a:srgbClr val="333333"/>
                </a:solidFill>
              </a:defRPr>
            </a:pPr>
            <a:r>
              <a:t>Replace the current cast iron brake rotors on the rear axle with a lighter, higher-performance compo</a:t>
            </a:r>
            <a:br/>
            <a:r>
              <a:t>N/A (Maintains current envelope)</a:t>
            </a:r>
          </a:p>
        </p:txBody>
      </p:sp>
      <p:sp>
        <p:nvSpPr>
          <p:cNvPr id="9" name="Rectangle 8"/>
          <p:cNvSpPr/>
          <p:nvPr/>
        </p:nvSpPr>
        <p:spPr>
          <a:xfrm>
            <a:off x="274320" y="321100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8415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12759"/>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89296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6611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9471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970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7015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98752"/>
            <a:ext cx="5486400" cy="28492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46.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#6: Reduce the caliper piston diameter on the front brake assembly by 5mm, compensating for braking force with a slightly increased rotor diameter or optimized friction material.</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25449"/>
          </a:xfrm>
          <a:prstGeom prst="rect">
            <a:avLst/>
          </a:prstGeom>
          <a:noFill/>
        </p:spPr>
        <p:txBody>
          <a:bodyPr wrap="square">
            <a:spAutoFit/>
          </a:bodyPr>
          <a:lstStyle/>
          <a:p>
            <a:pPr>
              <a:defRPr sz="1000">
                <a:solidFill>
                  <a:srgbClr val="333333"/>
                </a:solidFill>
              </a:defRPr>
            </a:pPr>
            <a:r>
              <a:t>Technical optimization of Reduce the caliper piston diameter on the front brake assembly by 5mm, compensating for braking force with a slightly increased rotor diameter or optimized friction material. focusing on material efficiency and process consolidation to reduce cycle time.</a:t>
            </a:r>
          </a:p>
        </p:txBody>
      </p:sp>
      <p:sp>
        <p:nvSpPr>
          <p:cNvPr id="6" name="Rectangle 5"/>
          <p:cNvSpPr/>
          <p:nvPr/>
        </p:nvSpPr>
        <p:spPr>
          <a:xfrm>
            <a:off x="274320" y="236280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3596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64561"/>
            <a:ext cx="5486400" cy="548091"/>
          </a:xfrm>
          <a:prstGeom prst="rect">
            <a:avLst/>
          </a:prstGeom>
          <a:noFill/>
        </p:spPr>
        <p:txBody>
          <a:bodyPr wrap="square">
            <a:spAutoFit/>
          </a:bodyPr>
          <a:lstStyle/>
          <a:p>
            <a:pPr>
              <a:defRPr sz="1000">
                <a:solidFill>
                  <a:srgbClr val="333333"/>
                </a:solidFill>
              </a:defRPr>
            </a:pPr>
            <a:r>
              <a:t>Reduce the caliper piston diameter on the front brake assembly by 5mm, compensating for braking forc</a:t>
            </a:r>
            <a:br/>
            <a:r>
              <a:t>N/A (Maintains current envelope)</a:t>
            </a:r>
          </a:p>
        </p:txBody>
      </p:sp>
      <p:sp>
        <p:nvSpPr>
          <p:cNvPr id="9" name="Rectangle 8"/>
          <p:cNvSpPr/>
          <p:nvPr/>
        </p:nvSpPr>
        <p:spPr>
          <a:xfrm>
            <a:off x="274320" y="321265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8580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14404"/>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89461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6776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9636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9864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7179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00398"/>
            <a:ext cx="5486400" cy="28328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1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#7: Substitute the existing steel dust shield gauge for rear brake assemblies with a thinner, high-strength aluminum alloy (e.g., 6061-T6) to reduce unsprung weight.</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04052"/>
          </a:xfrm>
          <a:prstGeom prst="rect">
            <a:avLst/>
          </a:prstGeom>
          <a:noFill/>
        </p:spPr>
        <p:txBody>
          <a:bodyPr wrap="square">
            <a:spAutoFit/>
          </a:bodyPr>
          <a:lstStyle/>
          <a:p>
            <a:pPr>
              <a:defRPr sz="1000">
                <a:solidFill>
                  <a:srgbClr val="333333"/>
                </a:solidFill>
              </a:defRPr>
            </a:pPr>
            <a:r>
              <a:t>Technical optimization of Substitute the existing steel dust shield gauge for rear brake assemblies with a thinner, high-strength aluminum alloy (e.g., 6061-T6) to reduce unsprung weight. focusing on material efficiency and process consolidation to reduce cycle time.</a:t>
            </a:r>
          </a:p>
        </p:txBody>
      </p:sp>
      <p:sp>
        <p:nvSpPr>
          <p:cNvPr id="6" name="Rectangle 5"/>
          <p:cNvSpPr/>
          <p:nvPr/>
        </p:nvSpPr>
        <p:spPr>
          <a:xfrm>
            <a:off x="274320" y="234141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1456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43164"/>
            <a:ext cx="5486400" cy="548091"/>
          </a:xfrm>
          <a:prstGeom prst="rect">
            <a:avLst/>
          </a:prstGeom>
          <a:noFill/>
        </p:spPr>
        <p:txBody>
          <a:bodyPr wrap="square">
            <a:spAutoFit/>
          </a:bodyPr>
          <a:lstStyle/>
          <a:p>
            <a:pPr>
              <a:defRPr sz="1000">
                <a:solidFill>
                  <a:srgbClr val="333333"/>
                </a:solidFill>
              </a:defRPr>
            </a:pPr>
            <a:r>
              <a:t>Substitute the existing steel dust shield gauge for rear brake assemblies with a thinner, high-stren</a:t>
            </a:r>
            <a:br/>
            <a:r>
              <a:t>N/A (Maintains current envelope)</a:t>
            </a:r>
          </a:p>
        </p:txBody>
      </p:sp>
      <p:sp>
        <p:nvSpPr>
          <p:cNvPr id="9" name="Rectangle 8"/>
          <p:cNvSpPr/>
          <p:nvPr/>
        </p:nvSpPr>
        <p:spPr>
          <a:xfrm>
            <a:off x="274320" y="319125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6440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93008"/>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87321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4636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74967"/>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7724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5040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79001"/>
            <a:ext cx="5486400" cy="304678"/>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#8: Reduce the caliper mounting bracket thickness by 1.5mm using a higher-strength steel alloy, ensuring equivalent stiffness and load-bearing capacity.</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82655"/>
          </a:xfrm>
          <a:prstGeom prst="rect">
            <a:avLst/>
          </a:prstGeom>
          <a:noFill/>
        </p:spPr>
        <p:txBody>
          <a:bodyPr wrap="square">
            <a:spAutoFit/>
          </a:bodyPr>
          <a:lstStyle/>
          <a:p>
            <a:pPr>
              <a:defRPr sz="1000">
                <a:solidFill>
                  <a:srgbClr val="333333"/>
                </a:solidFill>
              </a:defRPr>
            </a:pPr>
            <a:r>
              <a:t>Technical optimization of Reduce the caliper mounting bracket thickness by 1.5mm using a higher-strength steel alloy, ensuring equivalent stiffness and load-bearing capacity. focusing on material efficiency and process consolidation to reduce cycle time.</a:t>
            </a:r>
          </a:p>
        </p:txBody>
      </p:sp>
      <p:sp>
        <p:nvSpPr>
          <p:cNvPr id="6" name="Rectangle 5"/>
          <p:cNvSpPr/>
          <p:nvPr/>
        </p:nvSpPr>
        <p:spPr>
          <a:xfrm>
            <a:off x="274320" y="232001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93167"/>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21767"/>
            <a:ext cx="5486400" cy="541507"/>
          </a:xfrm>
          <a:prstGeom prst="rect">
            <a:avLst/>
          </a:prstGeom>
          <a:noFill/>
        </p:spPr>
        <p:txBody>
          <a:bodyPr wrap="square">
            <a:spAutoFit/>
          </a:bodyPr>
          <a:lstStyle/>
          <a:p>
            <a:pPr>
              <a:defRPr sz="1000">
                <a:solidFill>
                  <a:srgbClr val="333333"/>
                </a:solidFill>
              </a:defRPr>
            </a:pPr>
            <a:r>
              <a:t>5mm using a higher-strength steel alloy, ensuring equivalent stiffness and load-bearing capacity</a:t>
            </a:r>
            <a:br/>
            <a:r>
              <a:t>N/A (Maintains current envelope)</a:t>
            </a:r>
          </a:p>
        </p:txBody>
      </p:sp>
      <p:sp>
        <p:nvSpPr>
          <p:cNvPr id="9" name="Rectangle 8"/>
          <p:cNvSpPr/>
          <p:nvPr/>
        </p:nvSpPr>
        <p:spPr>
          <a:xfrm>
            <a:off x="274320" y="316327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36427"/>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65027"/>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8452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18386"/>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46986"/>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4926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22421"/>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51021"/>
            <a:ext cx="5486400" cy="332658"/>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82.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#9: Implement a single-piece cast aluminum caliper body for the rear brakes, replacing the current two-piece bolted design.</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34924"/>
          </a:xfrm>
          <a:prstGeom prst="rect">
            <a:avLst/>
          </a:prstGeom>
          <a:noFill/>
        </p:spPr>
        <p:txBody>
          <a:bodyPr wrap="square">
            <a:spAutoFit/>
          </a:bodyPr>
          <a:lstStyle/>
          <a:p>
            <a:pPr>
              <a:defRPr sz="1000">
                <a:solidFill>
                  <a:srgbClr val="333333"/>
                </a:solidFill>
              </a:defRPr>
            </a:pPr>
            <a:r>
              <a:t>Technical optimization of Implement a single-piece cast aluminum caliper body for the rear brakes, replacing the current two-piece bolted design. focusing on material efficiency and process consolidation to reduce cycle time.</a:t>
            </a:r>
          </a:p>
        </p:txBody>
      </p:sp>
      <p:sp>
        <p:nvSpPr>
          <p:cNvPr id="6" name="Rectangle 5"/>
          <p:cNvSpPr/>
          <p:nvPr/>
        </p:nvSpPr>
        <p:spPr>
          <a:xfrm>
            <a:off x="274320" y="186080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33956"/>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62556"/>
            <a:ext cx="5486400" cy="548091"/>
          </a:xfrm>
          <a:prstGeom prst="rect">
            <a:avLst/>
          </a:prstGeom>
          <a:noFill/>
        </p:spPr>
        <p:txBody>
          <a:bodyPr wrap="square">
            <a:spAutoFit/>
          </a:bodyPr>
          <a:lstStyle/>
          <a:p>
            <a:pPr>
              <a:defRPr sz="1000">
                <a:solidFill>
                  <a:srgbClr val="333333"/>
                </a:solidFill>
              </a:defRPr>
            </a:pPr>
            <a:r>
              <a:t>Implement a single-piece cast aluminum caliper body for the rear brakes, replacing the current two-p</a:t>
            </a:r>
            <a:br/>
            <a:r>
              <a:t>N/A (Maintains current envelope)</a:t>
            </a:r>
          </a:p>
        </p:txBody>
      </p:sp>
      <p:sp>
        <p:nvSpPr>
          <p:cNvPr id="9" name="Rectangle 8"/>
          <p:cNvSpPr/>
          <p:nvPr/>
        </p:nvSpPr>
        <p:spPr>
          <a:xfrm>
            <a:off x="274320" y="271064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783799"/>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012399"/>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39260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65758"/>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694358"/>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49664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69793"/>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798393"/>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28558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4.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#10: Reduce the brake pad friction material thickness by 1mm across all four wheels, ensuring that the total swept area and pad volume remain adequate for the vehicle's braking duty cycle.</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640262"/>
          </a:xfrm>
          <a:prstGeom prst="rect">
            <a:avLst/>
          </a:prstGeom>
          <a:noFill/>
        </p:spPr>
        <p:txBody>
          <a:bodyPr wrap="square">
            <a:spAutoFit/>
          </a:bodyPr>
          <a:lstStyle/>
          <a:p>
            <a:pPr>
              <a:defRPr sz="1000">
                <a:solidFill>
                  <a:srgbClr val="333333"/>
                </a:solidFill>
              </a:defRPr>
            </a:pPr>
            <a:r>
              <a:t>Technical optimization of Reduce the brake pad friction material thickness by 1mm across all four wheels, ensuring that the total swept area and pad volume remain adequate for the vehicle's braking duty cycle. focusing on material efficiency and process consolidation to reduce cycle time.</a:t>
            </a:r>
          </a:p>
        </p:txBody>
      </p:sp>
      <p:sp>
        <p:nvSpPr>
          <p:cNvPr id="6" name="Rectangle 5"/>
          <p:cNvSpPr/>
          <p:nvPr/>
        </p:nvSpPr>
        <p:spPr>
          <a:xfrm>
            <a:off x="274320" y="237762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45077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79374"/>
            <a:ext cx="5486400" cy="548091"/>
          </a:xfrm>
          <a:prstGeom prst="rect">
            <a:avLst/>
          </a:prstGeom>
          <a:noFill/>
        </p:spPr>
        <p:txBody>
          <a:bodyPr wrap="square">
            <a:spAutoFit/>
          </a:bodyPr>
          <a:lstStyle/>
          <a:p>
            <a:pPr>
              <a:defRPr sz="1000">
                <a:solidFill>
                  <a:srgbClr val="333333"/>
                </a:solidFill>
              </a:defRPr>
            </a:pPr>
            <a:r>
              <a:t>Reduce the brake pad friction material thickness by 1mm across all four wheels, ensuring that the to</a:t>
            </a:r>
            <a:br/>
            <a:r>
              <a:t>N/A (Maintains current envelope)</a:t>
            </a:r>
          </a:p>
        </p:txBody>
      </p:sp>
      <p:sp>
        <p:nvSpPr>
          <p:cNvPr id="9" name="Rectangle 8"/>
          <p:cNvSpPr/>
          <p:nvPr/>
        </p:nvSpPr>
        <p:spPr>
          <a:xfrm>
            <a:off x="274320" y="322746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30061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529218"/>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90942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8257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211177"/>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601346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8661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315212"/>
            <a:ext cx="5486400" cy="268467"/>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10.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822960"/>
          </a:xfrm>
          <a:prstGeom prst="rect">
            <a:avLst/>
          </a:prstGeom>
          <a:noFill/>
        </p:spPr>
        <p:txBody>
          <a:bodyPr wrap="square">
            <a:spAutoFit/>
          </a:bodyPr>
          <a:lstStyle/>
          <a:p>
            <a:pPr>
              <a:defRPr sz="1800" b="1">
                <a:solidFill>
                  <a:srgbClr val="003366"/>
                </a:solidFill>
              </a:defRPr>
            </a:pPr>
            <a:r>
              <a:t>#11: Replace the rubber brake hose material with a more durable, higher-pressure rated braided stainless steel hose across all four wheels.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09728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325880"/>
            <a:ext cx="5486400" cy="559612"/>
          </a:xfrm>
          <a:prstGeom prst="rect">
            <a:avLst/>
          </a:prstGeom>
          <a:noFill/>
        </p:spPr>
        <p:txBody>
          <a:bodyPr wrap="square">
            <a:spAutoFit/>
          </a:bodyPr>
          <a:lstStyle/>
          <a:p>
            <a:pPr>
              <a:defRPr sz="1000">
                <a:solidFill>
                  <a:srgbClr val="333333"/>
                </a:solidFill>
              </a:defRPr>
            </a:pPr>
            <a:r>
              <a:t>Technical optimization of Replace the rubber brake hose material with a more durable, higher-pressure rated braided stainless steel hose across all four wheels. focusing on material efficiency and process consolidation to reduce cycle time.</a:t>
            </a:r>
          </a:p>
        </p:txBody>
      </p:sp>
      <p:sp>
        <p:nvSpPr>
          <p:cNvPr id="6" name="Rectangle 5"/>
          <p:cNvSpPr/>
          <p:nvPr/>
        </p:nvSpPr>
        <p:spPr>
          <a:xfrm>
            <a:off x="274320" y="188549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1958644"/>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187244"/>
            <a:ext cx="5486400" cy="548091"/>
          </a:xfrm>
          <a:prstGeom prst="rect">
            <a:avLst/>
          </a:prstGeom>
          <a:noFill/>
        </p:spPr>
        <p:txBody>
          <a:bodyPr wrap="square">
            <a:spAutoFit/>
          </a:bodyPr>
          <a:lstStyle/>
          <a:p>
            <a:pPr>
              <a:defRPr sz="1000">
                <a:solidFill>
                  <a:srgbClr val="333333"/>
                </a:solidFill>
              </a:defRPr>
            </a:pPr>
            <a:r>
              <a:t>Replace the rubber brake hose material with a more durable, higher-pressure rated braided stainless </a:t>
            </a:r>
            <a:br/>
            <a:r>
              <a:t>N/A (Maintains current envelope)</a:t>
            </a:r>
          </a:p>
        </p:txBody>
      </p:sp>
      <p:sp>
        <p:nvSpPr>
          <p:cNvPr id="9" name="Rectangle 8"/>
          <p:cNvSpPr/>
          <p:nvPr/>
        </p:nvSpPr>
        <p:spPr>
          <a:xfrm>
            <a:off x="274320" y="27353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2808488"/>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037088"/>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41729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490447"/>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3719047"/>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52133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5594482"/>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5823082"/>
            <a:ext cx="5486400" cy="487192"/>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31027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73152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20.jpg"/>
          <p:cNvPicPr>
            <a:picLocks noChangeAspect="1"/>
          </p:cNvPicPr>
          <p:nvPr/>
        </p:nvPicPr>
        <p:blipFill>
          <a:blip r:embed="rId2"/>
          <a:stretch>
            <a:fillRect/>
          </a:stretch>
        </p:blipFill>
        <p:spPr>
          <a:xfrm>
            <a:off x="6217920" y="1005840"/>
            <a:ext cx="5699455" cy="2715768"/>
          </a:xfrm>
          <a:prstGeom prst="rect">
            <a:avLst/>
          </a:prstGeom>
          <a:ln w="12700">
            <a:solidFill>
              <a:srgbClr val="C8C8C8"/>
            </a:solidFill>
          </a:ln>
        </p:spPr>
      </p:pic>
      <p:sp>
        <p:nvSpPr>
          <p:cNvPr id="21" name="Rectangle 20"/>
          <p:cNvSpPr/>
          <p:nvPr/>
        </p:nvSpPr>
        <p:spPr>
          <a:xfrm>
            <a:off x="6217920" y="3867912"/>
            <a:ext cx="5699455" cy="271576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1234440"/>
          </a:xfrm>
          <a:prstGeom prst="rect">
            <a:avLst/>
          </a:prstGeom>
          <a:noFill/>
        </p:spPr>
        <p:txBody>
          <a:bodyPr wrap="square">
            <a:spAutoFit/>
          </a:bodyPr>
          <a:lstStyle/>
          <a:p>
            <a:pPr>
              <a:defRPr sz="1800" b="1">
                <a:solidFill>
                  <a:srgbClr val="003366"/>
                </a:solidFill>
              </a:defRPr>
            </a:pPr>
            <a:r>
              <a:t>#12: Reduce the rotor thickness on front brake assemblies by 2mm by optimizing the casting process and material density, maintaining sufficient thermal mass.</a:t>
            </a:r>
          </a:p>
        </p:txBody>
      </p:sp>
      <p:sp>
        <p:nvSpPr>
          <p:cNvPr id="3" name="TextBox 2"/>
          <p:cNvSpPr txBox="1"/>
          <p:nvPr/>
        </p:nvSpPr>
        <p:spPr>
          <a:xfrm>
            <a:off x="10088575" y="182880"/>
            <a:ext cx="1828800" cy="457200"/>
          </a:xfrm>
          <a:prstGeom prst="rect">
            <a:avLst/>
          </a:prstGeom>
          <a:solidFill>
            <a:srgbClr val="800080"/>
          </a:solidFill>
        </p:spPr>
        <p:txBody>
          <a:bodyPr wrap="none">
            <a:spAutoFit/>
          </a:bodyPr>
          <a:lstStyle/>
          <a:p>
            <a:pPr algn="ctr">
              <a:defRPr>
                <a:solidFill>
                  <a:srgbClr val="FFFFFF"/>
                </a:solidFill>
              </a:defRPr>
            </a:pPr>
            <a:r>
              <a:t>AI INNOVATION</a:t>
            </a:r>
          </a:p>
        </p:txBody>
      </p:sp>
      <p:sp>
        <p:nvSpPr>
          <p:cNvPr id="4" name="TextBox 3"/>
          <p:cNvSpPr txBox="1"/>
          <p:nvPr/>
        </p:nvSpPr>
        <p:spPr>
          <a:xfrm>
            <a:off x="274320" y="1508760"/>
            <a:ext cx="5486400" cy="228600"/>
          </a:xfrm>
          <a:prstGeom prst="rect">
            <a:avLst/>
          </a:prstGeom>
          <a:noFill/>
        </p:spPr>
        <p:txBody>
          <a:bodyPr wrap="none">
            <a:spAutoFit/>
          </a:bodyPr>
          <a:lstStyle/>
          <a:p>
            <a:pPr>
              <a:defRPr b="1" sz="1100">
                <a:solidFill>
                  <a:srgbClr val="FF6400"/>
                </a:solidFill>
              </a:defRPr>
            </a:pPr>
            <a:r>
              <a:t>TECHNICAL ENGINEERING VIEW</a:t>
            </a:r>
          </a:p>
        </p:txBody>
      </p:sp>
      <p:sp>
        <p:nvSpPr>
          <p:cNvPr id="5" name="TextBox 4"/>
          <p:cNvSpPr txBox="1"/>
          <p:nvPr/>
        </p:nvSpPr>
        <p:spPr>
          <a:xfrm>
            <a:off x="274320" y="1737360"/>
            <a:ext cx="5486400" cy="589239"/>
          </a:xfrm>
          <a:prstGeom prst="rect">
            <a:avLst/>
          </a:prstGeom>
          <a:noFill/>
        </p:spPr>
        <p:txBody>
          <a:bodyPr wrap="square">
            <a:spAutoFit/>
          </a:bodyPr>
          <a:lstStyle/>
          <a:p>
            <a:pPr>
              <a:defRPr sz="1000">
                <a:solidFill>
                  <a:srgbClr val="333333"/>
                </a:solidFill>
              </a:defRPr>
            </a:pPr>
            <a:r>
              <a:t>Technical optimization of Reduce the rotor thickness on front brake assemblies by 2mm by optimizing the casting process and material density, maintaining sufficient thermal mass. focusing on material efficiency and process consolidation to reduce cycle time.</a:t>
            </a:r>
          </a:p>
        </p:txBody>
      </p:sp>
      <p:sp>
        <p:nvSpPr>
          <p:cNvPr id="6" name="Rectangle 5"/>
          <p:cNvSpPr/>
          <p:nvPr/>
        </p:nvSpPr>
        <p:spPr>
          <a:xfrm>
            <a:off x="274320" y="2326599"/>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2399751"/>
            <a:ext cx="5486400" cy="228600"/>
          </a:xfrm>
          <a:prstGeom prst="rect">
            <a:avLst/>
          </a:prstGeom>
          <a:noFill/>
        </p:spPr>
        <p:txBody>
          <a:bodyPr wrap="none">
            <a:spAutoFit/>
          </a:bodyPr>
          <a:lstStyle/>
          <a:p>
            <a:pPr>
              <a:defRPr b="1" sz="1100">
                <a:solidFill>
                  <a:srgbClr val="FF6400"/>
                </a:solidFill>
              </a:defRPr>
            </a:pPr>
            <a:r>
              <a:t>MATERIAL &amp; DIMENSION SWAP</a:t>
            </a:r>
          </a:p>
        </p:txBody>
      </p:sp>
      <p:sp>
        <p:nvSpPr>
          <p:cNvPr id="8" name="TextBox 7"/>
          <p:cNvSpPr txBox="1"/>
          <p:nvPr/>
        </p:nvSpPr>
        <p:spPr>
          <a:xfrm>
            <a:off x="274320" y="2628351"/>
            <a:ext cx="5486400" cy="548091"/>
          </a:xfrm>
          <a:prstGeom prst="rect">
            <a:avLst/>
          </a:prstGeom>
          <a:noFill/>
        </p:spPr>
        <p:txBody>
          <a:bodyPr wrap="square">
            <a:spAutoFit/>
          </a:bodyPr>
          <a:lstStyle/>
          <a:p>
            <a:pPr>
              <a:defRPr sz="1000">
                <a:solidFill>
                  <a:srgbClr val="333333"/>
                </a:solidFill>
              </a:defRPr>
            </a:pPr>
            <a:r>
              <a:t>Reduce the rotor thickness on front brake assemblies by 2mm by optimizing the casting process and ma</a:t>
            </a:r>
            <a:br/>
            <a:r>
              <a:t>N/A (Maintains current envelope)</a:t>
            </a:r>
          </a:p>
        </p:txBody>
      </p:sp>
      <p:sp>
        <p:nvSpPr>
          <p:cNvPr id="9" name="Rectangle 8"/>
          <p:cNvSpPr/>
          <p:nvPr/>
        </p:nvSpPr>
        <p:spPr>
          <a:xfrm>
            <a:off x="274320" y="317644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3249594"/>
            <a:ext cx="5486400" cy="228600"/>
          </a:xfrm>
          <a:prstGeom prst="rect">
            <a:avLst/>
          </a:prstGeom>
          <a:noFill/>
        </p:spPr>
        <p:txBody>
          <a:bodyPr wrap="none">
            <a:spAutoFit/>
          </a:bodyPr>
          <a:lstStyle/>
          <a:p>
            <a:pPr>
              <a:defRPr b="1" sz="1100">
                <a:solidFill>
                  <a:srgbClr val="FF6400"/>
                </a:solidFill>
              </a:defRPr>
            </a:pPr>
            <a:r>
              <a:t>FINANCIAL IMPACT</a:t>
            </a:r>
          </a:p>
        </p:txBody>
      </p:sp>
      <p:sp>
        <p:nvSpPr>
          <p:cNvPr id="11" name="TextBox 10"/>
          <p:cNvSpPr txBox="1"/>
          <p:nvPr/>
        </p:nvSpPr>
        <p:spPr>
          <a:xfrm>
            <a:off x="274320" y="3478194"/>
            <a:ext cx="5486400" cy="380207"/>
          </a:xfrm>
          <a:prstGeom prst="rect">
            <a:avLst/>
          </a:prstGeom>
          <a:noFill/>
        </p:spPr>
        <p:txBody>
          <a:bodyPr wrap="square">
            <a:spAutoFit/>
          </a:bodyPr>
          <a:lstStyle/>
          <a:p>
            <a:pPr>
              <a:defRPr sz="1000">
                <a:solidFill>
                  <a:srgbClr val="333333"/>
                </a:solidFill>
              </a:defRPr>
            </a:pPr>
            <a:r>
              <a:t>Est. Saving: INR TBD</a:t>
            </a:r>
            <a:br/>
            <a:r>
              <a:t>CAPEX: TBD</a:t>
            </a:r>
          </a:p>
        </p:txBody>
      </p:sp>
      <p:sp>
        <p:nvSpPr>
          <p:cNvPr id="12" name="Rectangle 11"/>
          <p:cNvSpPr/>
          <p:nvPr/>
        </p:nvSpPr>
        <p:spPr>
          <a:xfrm>
            <a:off x="274320" y="3858402"/>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4320" y="3931554"/>
            <a:ext cx="5486400" cy="228600"/>
          </a:xfrm>
          <a:prstGeom prst="rect">
            <a:avLst/>
          </a:prstGeom>
          <a:noFill/>
        </p:spPr>
        <p:txBody>
          <a:bodyPr wrap="none">
            <a:spAutoFit/>
          </a:bodyPr>
          <a:lstStyle/>
          <a:p>
            <a:pPr>
              <a:defRPr b="1" sz="1100">
                <a:solidFill>
                  <a:srgbClr val="FF6400"/>
                </a:solidFill>
              </a:defRPr>
            </a:pPr>
            <a:r>
              <a:t>VALIDATION &amp; RISKS</a:t>
            </a:r>
          </a:p>
        </p:txBody>
      </p:sp>
      <p:sp>
        <p:nvSpPr>
          <p:cNvPr id="14" name="TextBox 13"/>
          <p:cNvSpPr txBox="1"/>
          <p:nvPr/>
        </p:nvSpPr>
        <p:spPr>
          <a:xfrm>
            <a:off x="274320" y="4160154"/>
            <a:ext cx="5486400" cy="1802282"/>
          </a:xfrm>
          <a:prstGeom prst="rect">
            <a:avLst/>
          </a:prstGeom>
          <a:noFill/>
        </p:spPr>
        <p:txBody>
          <a:bodyPr wrap="square">
            <a:spAutoFit/>
          </a:bodyPr>
          <a:lstStyle/>
          <a:p>
            <a:pPr>
              <a:defRPr sz="1000">
                <a:solidFill>
                  <a:srgbClr val="333333"/>
                </a:solidFill>
              </a:defRPr>
            </a:pPr>
            <a:r>
              <a:t>VALIDATION:</a:t>
            </a:r>
            <a:br/>
            <a:r>
              <a:t>• DVP&amp;R Level 2 Testing</a:t>
            </a:r>
            <a:br/>
            <a:r>
              <a:t>• Environmental Aging (1000 hrs)</a:t>
            </a:r>
            <a:br/>
            <a:r>
              <a:t>• Head Impact Criterion (FMVSS)</a:t>
            </a:r>
            <a:br/>
            <a:br/>
            <a:r>
              <a:t>RISKS:</a:t>
            </a:r>
            <a:br/>
            <a:r>
              <a:t>⚠ NVH performance degradation</a:t>
            </a:r>
            <a:br/>
            <a:r>
              <a:t>⚠ Thermal durability limits</a:t>
            </a:r>
            <a:br/>
            <a:r>
              <a:t>⚠ Aesthetic fit &amp; finish gap</a:t>
            </a:r>
          </a:p>
        </p:txBody>
      </p:sp>
      <p:sp>
        <p:nvSpPr>
          <p:cNvPr id="15" name="Rectangle 14"/>
          <p:cNvSpPr/>
          <p:nvPr/>
        </p:nvSpPr>
        <p:spPr>
          <a:xfrm>
            <a:off x="274320" y="596243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 y="6035588"/>
            <a:ext cx="5486400" cy="228600"/>
          </a:xfrm>
          <a:prstGeom prst="rect">
            <a:avLst/>
          </a:prstGeom>
          <a:noFill/>
        </p:spPr>
        <p:txBody>
          <a:bodyPr wrap="none">
            <a:spAutoFit/>
          </a:bodyPr>
          <a:lstStyle/>
          <a:p>
            <a:pPr>
              <a:defRPr b="1" sz="1100">
                <a:solidFill>
                  <a:srgbClr val="FF6400"/>
                </a:solidFill>
              </a:defRPr>
            </a:pPr>
            <a:r>
              <a:t>SUPPLY CHAIN</a:t>
            </a:r>
          </a:p>
        </p:txBody>
      </p:sp>
      <p:sp>
        <p:nvSpPr>
          <p:cNvPr id="17" name="TextBox 16"/>
          <p:cNvSpPr txBox="1"/>
          <p:nvPr/>
        </p:nvSpPr>
        <p:spPr>
          <a:xfrm>
            <a:off x="274320" y="6264188"/>
            <a:ext cx="5486400" cy="319491"/>
          </a:xfrm>
          <a:prstGeom prst="rect">
            <a:avLst/>
          </a:prstGeom>
          <a:noFill/>
        </p:spPr>
        <p:txBody>
          <a:bodyPr wrap="square">
            <a:spAutoFit/>
          </a:bodyPr>
          <a:lstStyle/>
          <a:p>
            <a:pPr>
              <a:defRPr sz="1000">
                <a:solidFill>
                  <a:srgbClr val="333333"/>
                </a:solidFill>
              </a:defRPr>
            </a:pPr>
            <a:r>
              <a:t>• Supplier: Consolidation to single-source Tier 1</a:t>
            </a:r>
            <a:br/>
            <a:r>
              <a:t>• Tooling: 15% reduction in logistics overhead</a:t>
            </a:r>
          </a:p>
        </p:txBody>
      </p:sp>
      <p:sp>
        <p:nvSpPr>
          <p:cNvPr id="18" name="Rectangle 17"/>
          <p:cNvSpPr/>
          <p:nvPr/>
        </p:nvSpPr>
        <p:spPr>
          <a:xfrm>
            <a:off x="274320" y="658368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0" y="11430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20" name="Picture 19" descr="104.jpg"/>
          <p:cNvPicPr>
            <a:picLocks noChangeAspect="1"/>
          </p:cNvPicPr>
          <p:nvPr/>
        </p:nvPicPr>
        <p:blipFill>
          <a:blip r:embed="rId2"/>
          <a:stretch>
            <a:fillRect/>
          </a:stretch>
        </p:blipFill>
        <p:spPr>
          <a:xfrm>
            <a:off x="6217920" y="1417320"/>
            <a:ext cx="5699455" cy="2510028"/>
          </a:xfrm>
          <a:prstGeom prst="rect">
            <a:avLst/>
          </a:prstGeom>
          <a:ln w="12700">
            <a:solidFill>
              <a:srgbClr val="C8C8C8"/>
            </a:solidFill>
          </a:ln>
        </p:spPr>
      </p:pic>
      <p:sp>
        <p:nvSpPr>
          <p:cNvPr id="21" name="Rectangle 20"/>
          <p:cNvSpPr/>
          <p:nvPr/>
        </p:nvSpPr>
        <p:spPr>
          <a:xfrm>
            <a:off x="6217920" y="4073652"/>
            <a:ext cx="5699455" cy="25100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#13: Investigate the use of a novel, high-performance friction material for the brake pads that offers improved thermal fade resistance and a longer service life, specifically tailored for the high kinetic energy demands of the 1.7-tonne MG Hector. This would involve exploring advanced ceramic or semi-metallic composite formulations that can withstand higher operating temperatures without significant degradation in friction coefficient. The focus will be on materials that can be manufactured at a competitive cost, considering the limited tooling CAPEX.</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06385"/>
          </a:xfrm>
          <a:prstGeom prst="rect">
            <a:avLst/>
          </a:prstGeom>
          <a:noFill/>
        </p:spPr>
        <p:txBody>
          <a:bodyPr wrap="none">
            <a:spAutoFit/>
          </a:bodyPr>
          <a:lstStyle/>
          <a:p>
            <a:pPr>
              <a:defRPr b="1" sz="993">
                <a:solidFill>
                  <a:srgbClr val="FF6400"/>
                </a:solidFill>
              </a:defRPr>
            </a:pPr>
            <a:r>
              <a:t>TECHNICAL ENGINEERING VIEW</a:t>
            </a:r>
          </a:p>
        </p:txBody>
      </p:sp>
      <p:sp>
        <p:nvSpPr>
          <p:cNvPr id="5" name="TextBox 4"/>
          <p:cNvSpPr txBox="1"/>
          <p:nvPr/>
        </p:nvSpPr>
        <p:spPr>
          <a:xfrm>
            <a:off x="274320" y="3772545"/>
            <a:ext cx="5486400" cy="1127855"/>
          </a:xfrm>
          <a:prstGeom prst="rect">
            <a:avLst/>
          </a:prstGeom>
          <a:noFill/>
        </p:spPr>
        <p:txBody>
          <a:bodyPr wrap="square">
            <a:spAutoFit/>
          </a:bodyPr>
          <a:lstStyle/>
          <a:p>
            <a:pPr>
              <a:defRPr sz="902">
                <a:solidFill>
                  <a:srgbClr val="333333"/>
                </a:solidFill>
              </a:defRPr>
            </a:pPr>
            <a:r>
              <a:t>Technical optimization of Investigate the use of a novel, high-performance friction material for the brake pads that offers improved thermal fade resistance and a longer service life, specifically tailored for the high kinetic energy demands of the 1.7-tonne MG Hector. This would involve exploring advanced ceramic or semi-metallic composite formulations that can withstand higher operating temperatures without significant degradation in friction coefficient. The focus will be on materials that can be manufactured at a competitive cost, considering the limited tooling CAPEX. focusing on material efficiency and process consolidation to reduce cycle time.</a:t>
            </a:r>
          </a:p>
        </p:txBody>
      </p:sp>
      <p:sp>
        <p:nvSpPr>
          <p:cNvPr id="6" name="Rectangle 5"/>
          <p:cNvSpPr/>
          <p:nvPr/>
        </p:nvSpPr>
        <p:spPr>
          <a:xfrm>
            <a:off x="274320" y="490040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73552"/>
            <a:ext cx="5486400" cy="206385"/>
          </a:xfrm>
          <a:prstGeom prst="rect">
            <a:avLst/>
          </a:prstGeom>
          <a:noFill/>
        </p:spPr>
        <p:txBody>
          <a:bodyPr wrap="none">
            <a:spAutoFit/>
          </a:bodyPr>
          <a:lstStyle/>
          <a:p>
            <a:pPr>
              <a:defRPr b="1" sz="993">
                <a:solidFill>
                  <a:srgbClr val="FF6400"/>
                </a:solidFill>
              </a:defRPr>
            </a:pPr>
            <a:r>
              <a:t>MATERIAL &amp; DIMENSION SWAP</a:t>
            </a:r>
          </a:p>
        </p:txBody>
      </p:sp>
      <p:sp>
        <p:nvSpPr>
          <p:cNvPr id="8" name="TextBox 7"/>
          <p:cNvSpPr txBox="1"/>
          <p:nvPr/>
        </p:nvSpPr>
        <p:spPr>
          <a:xfrm>
            <a:off x="274320" y="5179937"/>
            <a:ext cx="5486400" cy="494829"/>
          </a:xfrm>
          <a:prstGeom prst="rect">
            <a:avLst/>
          </a:prstGeom>
          <a:noFill/>
        </p:spPr>
        <p:txBody>
          <a:bodyPr wrap="square">
            <a:spAutoFit/>
          </a:bodyPr>
          <a:lstStyle/>
          <a:p>
            <a:pPr>
              <a:defRPr sz="902">
                <a:solidFill>
                  <a:srgbClr val="333333"/>
                </a:solidFill>
              </a:defRPr>
            </a:pPr>
            <a:r>
              <a:t>Investigate the use of a novel, high-performance friction material for the brake pads that offers im</a:t>
            </a:r>
            <a:br/>
            <a:r>
              <a:t>N/A (Maintains current envelope)</a:t>
            </a:r>
          </a:p>
        </p:txBody>
      </p:sp>
      <p:sp>
        <p:nvSpPr>
          <p:cNvPr id="9" name="Rectangle 8"/>
          <p:cNvSpPr/>
          <p:nvPr/>
        </p:nvSpPr>
        <p:spPr>
          <a:xfrm>
            <a:off x="274320" y="567476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47919"/>
            <a:ext cx="5486400" cy="206385"/>
          </a:xfrm>
          <a:prstGeom prst="rect">
            <a:avLst/>
          </a:prstGeom>
          <a:noFill/>
        </p:spPr>
        <p:txBody>
          <a:bodyPr wrap="none">
            <a:spAutoFit/>
          </a:bodyPr>
          <a:lstStyle/>
          <a:p>
            <a:pPr>
              <a:defRPr b="1" sz="993">
                <a:solidFill>
                  <a:srgbClr val="FF6400"/>
                </a:solidFill>
              </a:defRPr>
            </a:pPr>
            <a:r>
              <a:t>FINANCIAL IMPACT</a:t>
            </a:r>
          </a:p>
        </p:txBody>
      </p:sp>
      <p:sp>
        <p:nvSpPr>
          <p:cNvPr id="11" name="TextBox 10"/>
          <p:cNvSpPr txBox="1"/>
          <p:nvPr/>
        </p:nvSpPr>
        <p:spPr>
          <a:xfrm>
            <a:off x="274320" y="5954305"/>
            <a:ext cx="5486400" cy="343260"/>
          </a:xfrm>
          <a:prstGeom prst="rect">
            <a:avLst/>
          </a:prstGeom>
          <a:noFill/>
        </p:spPr>
        <p:txBody>
          <a:bodyPr wrap="square">
            <a:spAutoFit/>
          </a:bodyPr>
          <a:lstStyle/>
          <a:p>
            <a:pPr>
              <a:defRPr sz="902">
                <a:solidFill>
                  <a:srgbClr val="333333"/>
                </a:solidFill>
              </a:defRPr>
            </a:pPr>
            <a:r>
              <a:t>Est. Saving: INR TBD</a:t>
            </a:r>
            <a:br/>
            <a:r>
              <a:t>CAPEX: TBD</a:t>
            </a:r>
          </a:p>
        </p:txBody>
      </p:sp>
      <p:sp>
        <p:nvSpPr>
          <p:cNvPr id="12" name="Rectangle 11"/>
          <p:cNvSpPr/>
          <p:nvPr/>
        </p:nvSpPr>
        <p:spPr>
          <a:xfrm>
            <a:off x="274320" y="6297565"/>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29.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Rectangle 14"/>
          <p:cNvSpPr/>
          <p:nvPr/>
        </p:nvSpPr>
        <p:spPr>
          <a:xfrm>
            <a:off x="6217920" y="5102352"/>
            <a:ext cx="5699455" cy="14813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#14: Optimize the rotor thickness and cooling fin design of the MG Hector's brake discs to enhance thermal dissipation without compromising structural integrity or exceeding weight targets. This involves computational fluid dynamics (CFD) analysis and finite element analysis (FEA) to simulate thermal and stress distribution under heavy braking conditions, common for a C-SUV. The goal is to achieve better heat evacuation, reducing the risk of fade and extending rotor life, while considering manufacturing feasibility with limited CAPEX.</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14081"/>
          </a:xfrm>
          <a:prstGeom prst="rect">
            <a:avLst/>
          </a:prstGeom>
          <a:noFill/>
        </p:spPr>
        <p:txBody>
          <a:bodyPr wrap="none">
            <a:spAutoFit/>
          </a:bodyPr>
          <a:lstStyle/>
          <a:p>
            <a:pPr>
              <a:defRPr b="1" sz="1030">
                <a:solidFill>
                  <a:srgbClr val="FF6400"/>
                </a:solidFill>
              </a:defRPr>
            </a:pPr>
            <a:r>
              <a:t>TECHNICAL ENGINEERING VIEW</a:t>
            </a:r>
          </a:p>
        </p:txBody>
      </p:sp>
      <p:sp>
        <p:nvSpPr>
          <p:cNvPr id="5" name="TextBox 4"/>
          <p:cNvSpPr txBox="1"/>
          <p:nvPr/>
        </p:nvSpPr>
        <p:spPr>
          <a:xfrm>
            <a:off x="274320" y="3780241"/>
            <a:ext cx="5486400" cy="1142167"/>
          </a:xfrm>
          <a:prstGeom prst="rect">
            <a:avLst/>
          </a:prstGeom>
          <a:noFill/>
        </p:spPr>
        <p:txBody>
          <a:bodyPr wrap="square">
            <a:spAutoFit/>
          </a:bodyPr>
          <a:lstStyle/>
          <a:p>
            <a:pPr>
              <a:defRPr sz="936">
                <a:solidFill>
                  <a:srgbClr val="333333"/>
                </a:solidFill>
              </a:defRPr>
            </a:pPr>
            <a:r>
              <a:t>Technical optimization of Optimize the rotor thickness and cooling fin design of the MG Hector's brake discs to enhance thermal dissipation without compromising structural integrity or exceeding weight targets. This involves computational fluid dynamics (CFD) analysis and finite element analysis (FEA) to simulate thermal and stress distribution under heavy braking conditions, common for a C-SUV. The goal is to achieve better heat evacuation, reducing the risk of fade and extending rotor life, while considering manufacturing feasibility with limited CAPEX. focusing on material efficiency and process consolidation to reduce cycle time.</a:t>
            </a:r>
          </a:p>
        </p:txBody>
      </p:sp>
      <p:sp>
        <p:nvSpPr>
          <p:cNvPr id="6" name="Rectangle 5"/>
          <p:cNvSpPr/>
          <p:nvPr/>
        </p:nvSpPr>
        <p:spPr>
          <a:xfrm>
            <a:off x="274320" y="4922408"/>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95560"/>
            <a:ext cx="5486400" cy="214081"/>
          </a:xfrm>
          <a:prstGeom prst="rect">
            <a:avLst/>
          </a:prstGeom>
          <a:noFill/>
        </p:spPr>
        <p:txBody>
          <a:bodyPr wrap="none">
            <a:spAutoFit/>
          </a:bodyPr>
          <a:lstStyle/>
          <a:p>
            <a:pPr>
              <a:defRPr b="1" sz="1030">
                <a:solidFill>
                  <a:srgbClr val="FF6400"/>
                </a:solidFill>
              </a:defRPr>
            </a:pPr>
            <a:r>
              <a:t>MATERIAL &amp; DIMENSION SWAP</a:t>
            </a:r>
          </a:p>
        </p:txBody>
      </p:sp>
      <p:sp>
        <p:nvSpPr>
          <p:cNvPr id="8" name="TextBox 7"/>
          <p:cNvSpPr txBox="1"/>
          <p:nvPr/>
        </p:nvSpPr>
        <p:spPr>
          <a:xfrm>
            <a:off x="274320" y="5209641"/>
            <a:ext cx="5486400" cy="428505"/>
          </a:xfrm>
          <a:prstGeom prst="rect">
            <a:avLst/>
          </a:prstGeom>
          <a:noFill/>
        </p:spPr>
        <p:txBody>
          <a:bodyPr wrap="square">
            <a:spAutoFit/>
          </a:bodyPr>
          <a:lstStyle/>
          <a:p>
            <a:pPr>
              <a:defRPr sz="936">
                <a:solidFill>
                  <a:srgbClr val="333333"/>
                </a:solidFill>
              </a:defRPr>
            </a:pPr>
            <a:r>
              <a:t>N/A (No material change explicitly mentioned)</a:t>
            </a:r>
            <a:br/>
            <a:r>
              <a:t>N/A (Maintains current envelope)</a:t>
            </a:r>
          </a:p>
        </p:txBody>
      </p:sp>
      <p:sp>
        <p:nvSpPr>
          <p:cNvPr id="9" name="Rectangle 8"/>
          <p:cNvSpPr/>
          <p:nvPr/>
        </p:nvSpPr>
        <p:spPr>
          <a:xfrm>
            <a:off x="274320" y="563814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11299"/>
            <a:ext cx="5486400" cy="214081"/>
          </a:xfrm>
          <a:prstGeom prst="rect">
            <a:avLst/>
          </a:prstGeom>
          <a:noFill/>
        </p:spPr>
        <p:txBody>
          <a:bodyPr wrap="none">
            <a:spAutoFit/>
          </a:bodyPr>
          <a:lstStyle/>
          <a:p>
            <a:pPr>
              <a:defRPr b="1" sz="1030">
                <a:solidFill>
                  <a:srgbClr val="FF6400"/>
                </a:solidFill>
              </a:defRPr>
            </a:pPr>
            <a:r>
              <a:t>FINANCIAL IMPACT</a:t>
            </a:r>
          </a:p>
        </p:txBody>
      </p:sp>
      <p:sp>
        <p:nvSpPr>
          <p:cNvPr id="11" name="TextBox 10"/>
          <p:cNvSpPr txBox="1"/>
          <p:nvPr/>
        </p:nvSpPr>
        <p:spPr>
          <a:xfrm>
            <a:off x="274320" y="5925380"/>
            <a:ext cx="5486400" cy="356060"/>
          </a:xfrm>
          <a:prstGeom prst="rect">
            <a:avLst/>
          </a:prstGeom>
          <a:noFill/>
        </p:spPr>
        <p:txBody>
          <a:bodyPr wrap="square">
            <a:spAutoFit/>
          </a:bodyPr>
          <a:lstStyle/>
          <a:p>
            <a:pPr>
              <a:defRPr sz="936">
                <a:solidFill>
                  <a:srgbClr val="333333"/>
                </a:solidFill>
              </a:defRPr>
            </a:pPr>
            <a:r>
              <a:t>Est. Saving: INR TBD</a:t>
            </a:r>
            <a:br/>
            <a:r>
              <a:t>CAPEX: TBD</a:t>
            </a:r>
          </a:p>
        </p:txBody>
      </p:sp>
      <p:sp>
        <p:nvSpPr>
          <p:cNvPr id="12" name="Rectangle 11"/>
          <p:cNvSpPr/>
          <p:nvPr/>
        </p:nvSpPr>
        <p:spPr>
          <a:xfrm>
            <a:off x="274320" y="6281440"/>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107.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Rectangle 14"/>
          <p:cNvSpPr/>
          <p:nvPr/>
        </p:nvSpPr>
        <p:spPr>
          <a:xfrm>
            <a:off x="6217920" y="5102352"/>
            <a:ext cx="5699455" cy="14813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703320"/>
          </a:xfrm>
          <a:prstGeom prst="rect">
            <a:avLst/>
          </a:prstGeom>
          <a:noFill/>
        </p:spPr>
        <p:txBody>
          <a:bodyPr wrap="square">
            <a:spAutoFit/>
          </a:bodyPr>
          <a:lstStyle/>
          <a:p>
            <a:pPr>
              <a:defRPr sz="1800" b="1">
                <a:solidFill>
                  <a:srgbClr val="003366"/>
                </a:solidFill>
              </a:defRPr>
            </a:pPr>
            <a:r>
              <a:t>#15: Evaluate the integration of a lightweight, high-strength caliper material, such as a specific grade of aluminum alloy or a composite, for the MG Hector's braking system. The objective is to reduce unsprung mass while maintaining or improving stiffness and thermal management. This would involve exploring advanced casting or forging techniques suitable for cost-effective production within the tooling CAPEX constraints. The focus is on ensuring the material selection doesn't negatively impact the robust braking performance required for a 1.7-tonne vehicle.</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977639"/>
            <a:ext cx="5486400" cy="177716"/>
          </a:xfrm>
          <a:prstGeom prst="rect">
            <a:avLst/>
          </a:prstGeom>
          <a:noFill/>
        </p:spPr>
        <p:txBody>
          <a:bodyPr wrap="none">
            <a:spAutoFit/>
          </a:bodyPr>
          <a:lstStyle/>
          <a:p>
            <a:pPr>
              <a:defRPr b="1" sz="855">
                <a:solidFill>
                  <a:srgbClr val="FF6400"/>
                </a:solidFill>
              </a:defRPr>
            </a:pPr>
            <a:r>
              <a:t>TECHNICAL ENGINEERING VIEW</a:t>
            </a:r>
          </a:p>
        </p:txBody>
      </p:sp>
      <p:sp>
        <p:nvSpPr>
          <p:cNvPr id="5" name="TextBox 4"/>
          <p:cNvSpPr txBox="1"/>
          <p:nvPr/>
        </p:nvSpPr>
        <p:spPr>
          <a:xfrm>
            <a:off x="274320" y="4155356"/>
            <a:ext cx="5486400" cy="978864"/>
          </a:xfrm>
          <a:prstGeom prst="rect">
            <a:avLst/>
          </a:prstGeom>
          <a:noFill/>
        </p:spPr>
        <p:txBody>
          <a:bodyPr wrap="square">
            <a:spAutoFit/>
          </a:bodyPr>
          <a:lstStyle/>
          <a:p>
            <a:pPr>
              <a:defRPr sz="777">
                <a:solidFill>
                  <a:srgbClr val="333333"/>
                </a:solidFill>
              </a:defRPr>
            </a:pPr>
            <a:r>
              <a:t>Technical optimization of Evaluate the integration of a lightweight, high-strength caliper material, such as a specific grade of aluminum alloy or a composite, for the MG Hector's braking system. The objective is to reduce unsprung mass while maintaining or improving stiffness and thermal management. This would involve exploring advanced casting or forging techniques suitable for cost-effective production within the tooling CAPEX constraints. The focus is on ensuring the material selection doesn't negatively impact the robust braking performance required for a 1.7-tonne vehicle. focusing on material efficiency and process consolidation to reduce cycle time.</a:t>
            </a:r>
          </a:p>
        </p:txBody>
      </p:sp>
      <p:sp>
        <p:nvSpPr>
          <p:cNvPr id="6" name="Rectangle 5"/>
          <p:cNvSpPr/>
          <p:nvPr/>
        </p:nvSpPr>
        <p:spPr>
          <a:xfrm>
            <a:off x="274320" y="513422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5207373"/>
            <a:ext cx="5486400" cy="177716"/>
          </a:xfrm>
          <a:prstGeom prst="rect">
            <a:avLst/>
          </a:prstGeom>
          <a:noFill/>
        </p:spPr>
        <p:txBody>
          <a:bodyPr wrap="none">
            <a:spAutoFit/>
          </a:bodyPr>
          <a:lstStyle/>
          <a:p>
            <a:pPr>
              <a:defRPr b="1" sz="855">
                <a:solidFill>
                  <a:srgbClr val="FF6400"/>
                </a:solidFill>
              </a:defRPr>
            </a:pPr>
            <a:r>
              <a:t>MATERIAL &amp; DIMENSION SWAP</a:t>
            </a:r>
          </a:p>
        </p:txBody>
      </p:sp>
      <p:sp>
        <p:nvSpPr>
          <p:cNvPr id="8" name="TextBox 7"/>
          <p:cNvSpPr txBox="1"/>
          <p:nvPr/>
        </p:nvSpPr>
        <p:spPr>
          <a:xfrm>
            <a:off x="274320" y="5385090"/>
            <a:ext cx="5486400" cy="426093"/>
          </a:xfrm>
          <a:prstGeom prst="rect">
            <a:avLst/>
          </a:prstGeom>
          <a:noFill/>
        </p:spPr>
        <p:txBody>
          <a:bodyPr wrap="square">
            <a:spAutoFit/>
          </a:bodyPr>
          <a:lstStyle/>
          <a:p>
            <a:pPr>
              <a:defRPr sz="777">
                <a:solidFill>
                  <a:srgbClr val="333333"/>
                </a:solidFill>
              </a:defRPr>
            </a:pPr>
            <a:r>
              <a:t>Evaluate the integration of a lightweight, high-strength caliper material, such as a specific grade </a:t>
            </a:r>
            <a:br/>
            <a:r>
              <a:t>N/A (Maintains current envelope)</a:t>
            </a:r>
          </a:p>
        </p:txBody>
      </p:sp>
      <p:sp>
        <p:nvSpPr>
          <p:cNvPr id="9" name="Rectangle 8"/>
          <p:cNvSpPr/>
          <p:nvPr/>
        </p:nvSpPr>
        <p:spPr>
          <a:xfrm>
            <a:off x="274320" y="581118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884336"/>
            <a:ext cx="5486400" cy="177716"/>
          </a:xfrm>
          <a:prstGeom prst="rect">
            <a:avLst/>
          </a:prstGeom>
          <a:noFill/>
        </p:spPr>
        <p:txBody>
          <a:bodyPr wrap="none">
            <a:spAutoFit/>
          </a:bodyPr>
          <a:lstStyle/>
          <a:p>
            <a:pPr>
              <a:defRPr b="1" sz="855">
                <a:solidFill>
                  <a:srgbClr val="FF6400"/>
                </a:solidFill>
              </a:defRPr>
            </a:pPr>
            <a:r>
              <a:t>FINANCIAL IMPACT</a:t>
            </a:r>
          </a:p>
        </p:txBody>
      </p:sp>
      <p:sp>
        <p:nvSpPr>
          <p:cNvPr id="11" name="TextBox 10"/>
          <p:cNvSpPr txBox="1"/>
          <p:nvPr/>
        </p:nvSpPr>
        <p:spPr>
          <a:xfrm>
            <a:off x="274320" y="6062052"/>
            <a:ext cx="5486400" cy="295578"/>
          </a:xfrm>
          <a:prstGeom prst="rect">
            <a:avLst/>
          </a:prstGeom>
          <a:noFill/>
        </p:spPr>
        <p:txBody>
          <a:bodyPr wrap="square">
            <a:spAutoFit/>
          </a:bodyPr>
          <a:lstStyle/>
          <a:p>
            <a:pPr>
              <a:defRPr sz="777">
                <a:solidFill>
                  <a:srgbClr val="333333"/>
                </a:solidFill>
              </a:defRPr>
            </a:pPr>
            <a:r>
              <a:t>Est. Saving: INR TBD</a:t>
            </a:r>
            <a:br/>
            <a:r>
              <a:t>CAPEX: TBD</a:t>
            </a:r>
          </a:p>
        </p:txBody>
      </p:sp>
      <p:sp>
        <p:nvSpPr>
          <p:cNvPr id="12" name="Rectangle 11"/>
          <p:cNvSpPr/>
          <p:nvPr/>
        </p:nvSpPr>
        <p:spPr>
          <a:xfrm>
            <a:off x="274320" y="6357631"/>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61188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28.jpg"/>
          <p:cNvPicPr>
            <a:picLocks noChangeAspect="1"/>
          </p:cNvPicPr>
          <p:nvPr/>
        </p:nvPicPr>
        <p:blipFill>
          <a:blip r:embed="rId2"/>
          <a:stretch>
            <a:fillRect/>
          </a:stretch>
        </p:blipFill>
        <p:spPr>
          <a:xfrm>
            <a:off x="6217920" y="3886200"/>
            <a:ext cx="5699455" cy="1275588"/>
          </a:xfrm>
          <a:prstGeom prst="rect">
            <a:avLst/>
          </a:prstGeom>
          <a:ln w="12700">
            <a:solidFill>
              <a:srgbClr val="C8C8C8"/>
            </a:solidFill>
          </a:ln>
        </p:spPr>
      </p:pic>
      <p:sp>
        <p:nvSpPr>
          <p:cNvPr id="15" name="Rectangle 14"/>
          <p:cNvSpPr/>
          <p:nvPr/>
        </p:nvSpPr>
        <p:spPr>
          <a:xfrm>
            <a:off x="6217920" y="5308092"/>
            <a:ext cx="5699455" cy="127558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74320" y="182880"/>
            <a:ext cx="8534095" cy="3291840"/>
          </a:xfrm>
          <a:prstGeom prst="rect">
            <a:avLst/>
          </a:prstGeom>
          <a:noFill/>
        </p:spPr>
        <p:txBody>
          <a:bodyPr wrap="square">
            <a:spAutoFit/>
          </a:bodyPr>
          <a:lstStyle/>
          <a:p>
            <a:pPr>
              <a:defRPr sz="1800" b="1">
                <a:solidFill>
                  <a:srgbClr val="003366"/>
                </a:solidFill>
              </a:defRPr>
            </a:pPr>
            <a:r>
              <a:t>#16: Implement a redesigned, optimized dust shield gauge and material for the MG Hector's brake assemblies. The aim is to improve dust and debris protection to enhance the longevity of brake components (pads, rotors, calipers) while minimizing any negative impact on airflow for cooling. This would involve exploring thinner, yet more durable materials, and aerodynamic profiling of the shield to direct airflow effectively. This is a cost-effective approach that can be implemented with minimal tooling modifications.</a:t>
            </a:r>
          </a:p>
        </p:txBody>
      </p:sp>
      <p:sp>
        <p:nvSpPr>
          <p:cNvPr id="3" name="TextBox 2"/>
          <p:cNvSpPr txBox="1"/>
          <p:nvPr/>
        </p:nvSpPr>
        <p:spPr>
          <a:xfrm>
            <a:off x="10088575" y="182880"/>
            <a:ext cx="1828800" cy="457200"/>
          </a:xfrm>
          <a:prstGeom prst="rect">
            <a:avLst/>
          </a:prstGeom>
          <a:solidFill>
            <a:srgbClr val="008080"/>
          </a:solidFill>
        </p:spPr>
        <p:txBody>
          <a:bodyPr wrap="none">
            <a:spAutoFit/>
          </a:bodyPr>
          <a:lstStyle/>
          <a:p>
            <a:pPr algn="ctr">
              <a:defRPr>
                <a:solidFill>
                  <a:srgbClr val="FFFFFF"/>
                </a:solidFill>
              </a:defRPr>
            </a:pPr>
            <a:r>
              <a:t>WEB SOURCED</a:t>
            </a:r>
          </a:p>
        </p:txBody>
      </p:sp>
      <p:sp>
        <p:nvSpPr>
          <p:cNvPr id="4" name="TextBox 3"/>
          <p:cNvSpPr txBox="1"/>
          <p:nvPr/>
        </p:nvSpPr>
        <p:spPr>
          <a:xfrm>
            <a:off x="274320" y="3566160"/>
            <a:ext cx="5486400" cy="210532"/>
          </a:xfrm>
          <a:prstGeom prst="rect">
            <a:avLst/>
          </a:prstGeom>
          <a:noFill/>
        </p:spPr>
        <p:txBody>
          <a:bodyPr wrap="none">
            <a:spAutoFit/>
          </a:bodyPr>
          <a:lstStyle/>
          <a:p>
            <a:pPr>
              <a:defRPr b="1" sz="1013">
                <a:solidFill>
                  <a:srgbClr val="FF6400"/>
                </a:solidFill>
              </a:defRPr>
            </a:pPr>
            <a:r>
              <a:t>TECHNICAL ENGINEERING VIEW</a:t>
            </a:r>
          </a:p>
        </p:txBody>
      </p:sp>
      <p:sp>
        <p:nvSpPr>
          <p:cNvPr id="5" name="TextBox 4"/>
          <p:cNvSpPr txBox="1"/>
          <p:nvPr/>
        </p:nvSpPr>
        <p:spPr>
          <a:xfrm>
            <a:off x="274320" y="3776692"/>
            <a:ext cx="5486400" cy="1089884"/>
          </a:xfrm>
          <a:prstGeom prst="rect">
            <a:avLst/>
          </a:prstGeom>
          <a:noFill/>
        </p:spPr>
        <p:txBody>
          <a:bodyPr wrap="square">
            <a:spAutoFit/>
          </a:bodyPr>
          <a:lstStyle/>
          <a:p>
            <a:pPr>
              <a:defRPr sz="920">
                <a:solidFill>
                  <a:srgbClr val="333333"/>
                </a:solidFill>
              </a:defRPr>
            </a:pPr>
            <a:r>
              <a:t>Technical optimization of Implement a redesigned, optimized dust shield gauge and material for the MG Hector's brake assemblies. The aim is to improve dust and debris protection to enhance the longevity of brake components (pads, rotors, calipers) while minimizing any negative impact on airflow for cooling. This would involve exploring thinner, yet more durable materials, and aerodynamic profiling of the shield to direct airflow effectively. This is a cost-effective approach that can be implemented with minimal tooling modifications. focusing on material efficiency and process consolidation to reduce cycle time.</a:t>
            </a:r>
          </a:p>
        </p:txBody>
      </p:sp>
      <p:sp>
        <p:nvSpPr>
          <p:cNvPr id="6" name="Rectangle 5"/>
          <p:cNvSpPr/>
          <p:nvPr/>
        </p:nvSpPr>
        <p:spPr>
          <a:xfrm>
            <a:off x="274320" y="4866577"/>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4939729"/>
            <a:ext cx="5486400" cy="210532"/>
          </a:xfrm>
          <a:prstGeom prst="rect">
            <a:avLst/>
          </a:prstGeom>
          <a:noFill/>
        </p:spPr>
        <p:txBody>
          <a:bodyPr wrap="none">
            <a:spAutoFit/>
          </a:bodyPr>
          <a:lstStyle/>
          <a:p>
            <a:pPr>
              <a:defRPr b="1" sz="1013">
                <a:solidFill>
                  <a:srgbClr val="FF6400"/>
                </a:solidFill>
              </a:defRPr>
            </a:pPr>
            <a:r>
              <a:t>MATERIAL &amp; DIMENSION SWAP</a:t>
            </a:r>
          </a:p>
        </p:txBody>
      </p:sp>
      <p:sp>
        <p:nvSpPr>
          <p:cNvPr id="8" name="TextBox 7"/>
          <p:cNvSpPr txBox="1"/>
          <p:nvPr/>
        </p:nvSpPr>
        <p:spPr>
          <a:xfrm>
            <a:off x="274320" y="5150261"/>
            <a:ext cx="5486400" cy="504772"/>
          </a:xfrm>
          <a:prstGeom prst="rect">
            <a:avLst/>
          </a:prstGeom>
          <a:noFill/>
        </p:spPr>
        <p:txBody>
          <a:bodyPr wrap="square">
            <a:spAutoFit/>
          </a:bodyPr>
          <a:lstStyle/>
          <a:p>
            <a:pPr>
              <a:defRPr sz="920">
                <a:solidFill>
                  <a:srgbClr val="333333"/>
                </a:solidFill>
              </a:defRPr>
            </a:pPr>
            <a:r>
              <a:t>Implement a redesigned, optimized dust shield gauge and material for the MG Hector's brake assemblie</a:t>
            </a:r>
            <a:br/>
            <a:r>
              <a:t>N/A (Maintains current envelope)</a:t>
            </a:r>
          </a:p>
        </p:txBody>
      </p:sp>
      <p:sp>
        <p:nvSpPr>
          <p:cNvPr id="9" name="Rectangle 8"/>
          <p:cNvSpPr/>
          <p:nvPr/>
        </p:nvSpPr>
        <p:spPr>
          <a:xfrm>
            <a:off x="274320" y="5655034"/>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 y="5728186"/>
            <a:ext cx="5486400" cy="210532"/>
          </a:xfrm>
          <a:prstGeom prst="rect">
            <a:avLst/>
          </a:prstGeom>
          <a:noFill/>
        </p:spPr>
        <p:txBody>
          <a:bodyPr wrap="none">
            <a:spAutoFit/>
          </a:bodyPr>
          <a:lstStyle/>
          <a:p>
            <a:pPr>
              <a:defRPr b="1" sz="1013">
                <a:solidFill>
                  <a:srgbClr val="FF6400"/>
                </a:solidFill>
              </a:defRPr>
            </a:pPr>
            <a:r>
              <a:t>FINANCIAL IMPACT</a:t>
            </a:r>
          </a:p>
        </p:txBody>
      </p:sp>
      <p:sp>
        <p:nvSpPr>
          <p:cNvPr id="11" name="TextBox 10"/>
          <p:cNvSpPr txBox="1"/>
          <p:nvPr/>
        </p:nvSpPr>
        <p:spPr>
          <a:xfrm>
            <a:off x="274320" y="5938718"/>
            <a:ext cx="5486400" cy="350157"/>
          </a:xfrm>
          <a:prstGeom prst="rect">
            <a:avLst/>
          </a:prstGeom>
          <a:noFill/>
        </p:spPr>
        <p:txBody>
          <a:bodyPr wrap="square">
            <a:spAutoFit/>
          </a:bodyPr>
          <a:lstStyle/>
          <a:p>
            <a:pPr>
              <a:defRPr sz="920">
                <a:solidFill>
                  <a:srgbClr val="333333"/>
                </a:solidFill>
              </a:defRPr>
            </a:pPr>
            <a:r>
              <a:t>Est. Saving: INR TBD</a:t>
            </a:r>
            <a:br/>
            <a:r>
              <a:t>CAPEX: TBD</a:t>
            </a:r>
          </a:p>
        </p:txBody>
      </p:sp>
      <p:sp>
        <p:nvSpPr>
          <p:cNvPr id="12" name="Rectangle 11"/>
          <p:cNvSpPr/>
          <p:nvPr/>
        </p:nvSpPr>
        <p:spPr>
          <a:xfrm>
            <a:off x="274320" y="6288876"/>
            <a:ext cx="5486400" cy="9144"/>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0" y="3200400"/>
            <a:ext cx="5699455" cy="256032"/>
          </a:xfrm>
          <a:prstGeom prst="rect">
            <a:avLst/>
          </a:prstGeom>
          <a:noFill/>
        </p:spPr>
        <p:txBody>
          <a:bodyPr wrap="square">
            <a:spAutoFit/>
          </a:bodyPr>
          <a:lstStyle/>
          <a:p>
            <a:pPr algn="ctr">
              <a:defRPr b="1" sz="1100">
                <a:solidFill>
                  <a:srgbClr val="003366"/>
                </a:solidFill>
              </a:defRPr>
            </a:pPr>
            <a:r>
              <a:t>Current Scenario</a:t>
            </a:r>
          </a:p>
        </p:txBody>
      </p:sp>
      <p:pic>
        <p:nvPicPr>
          <p:cNvPr id="14" name="Picture 13" descr="5.jpg"/>
          <p:cNvPicPr>
            <a:picLocks noChangeAspect="1"/>
          </p:cNvPicPr>
          <p:nvPr/>
        </p:nvPicPr>
        <p:blipFill>
          <a:blip r:embed="rId2"/>
          <a:stretch>
            <a:fillRect/>
          </a:stretch>
        </p:blipFill>
        <p:spPr>
          <a:xfrm>
            <a:off x="6217920" y="3474720"/>
            <a:ext cx="5699455" cy="1481328"/>
          </a:xfrm>
          <a:prstGeom prst="rect">
            <a:avLst/>
          </a:prstGeom>
          <a:ln w="12700">
            <a:solidFill>
              <a:srgbClr val="C8C8C8"/>
            </a:solidFill>
          </a:ln>
        </p:spPr>
      </p:pic>
      <p:sp>
        <p:nvSpPr>
          <p:cNvPr id="15" name="Rectangle 14"/>
          <p:cNvSpPr/>
          <p:nvPr/>
        </p:nvSpPr>
        <p:spPr>
          <a:xfrm>
            <a:off x="6217920" y="5102352"/>
            <a:ext cx="5699455" cy="1481328"/>
          </a:xfrm>
          <a:prstGeom prst="rect">
            <a:avLst/>
          </a:prstGeom>
          <a:solidFill>
            <a:srgbClr val="F0F0F0"/>
          </a:solidFill>
        </p:spPr>
        <p:style>
          <a:lnRef idx="1">
            <a:schemeClr val="accent1"/>
          </a:lnRef>
          <a:fillRef idx="3">
            <a:schemeClr val="accent1"/>
          </a:fillRef>
          <a:effectRef idx="2">
            <a:schemeClr val="accent1"/>
          </a:effectRef>
          <a:fontRef idx="minor">
            <a:schemeClr val="lt1"/>
          </a:fontRef>
        </p:style>
        <p:txBody>
          <a:bodyPr rtlCol="0" anchor="ctr" wrap="square"/>
          <a:lstStyle/>
          <a:p>
            <a:pPr algn="ctr">
              <a:defRPr>
                <a:solidFill>
                  <a:srgbClr val="969696"/>
                </a:solidFill>
              </a:defRPr>
            </a:pPr>
            <a:r>
              <a:t>VLM Generated AI Image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
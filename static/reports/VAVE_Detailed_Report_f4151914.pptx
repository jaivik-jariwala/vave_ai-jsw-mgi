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02-Feb-2026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 1. Reduce the overall wall thickness of the Brake Dust Cover Plates present on all four wheel...</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1Reducetheo_1770002660301.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#2: The Brake Booster Plate in MGI could be integrated into the Dashboard BIW of the vehicle as d...</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TheBrakeBoost_1770002660548.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#3: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esignthecu_1770002660711.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#4: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115</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02660891.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#5: Replace the current cast iron caliper material for the front brakes with a lighter, lower-cos...</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current cast iron caliper material for the front brakes with a lighter, lower-cost Aluminum alloy (e.g., A356-T6) while ensuring sufficient stiffness and thermal management through design optimization.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Replace the current cast iron caliper material for the front brakes with a lighter, lower-cost Alumi</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2500000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placethecur_1770002661154.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#6: Reduce the gauge of the dust shield on rear brake assemblies from 1.2mm to 1.0mm, utilizing h...</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gauge of the dust shield on rear brake assemblies from 1.2mm to 1.0mm, utilizing higher strength steel to maintain protective integrity and reduce material cost and weight.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0mm, utilizing higher strength steel to maintain protective integrity and reduce material cost and w</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1.2mm to 1.0mm</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800000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5.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gaug_1770002661309.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#7: Implement a single-piece brake pedal lever and pad assembly, eliminating the current multi-pi...</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Implement a single-piece brake pedal lever and pad assembly, eliminating the current multi-piece design and associated fasteners/welding, potentially using a more cost-effective stamping process.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1200000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61.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mplementasin_1770002661468.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#8: Optimize the friction material formulation for front brake pads to achieve equivalent stoppin...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friction material formulation for front brake pads to achieve equivalent stopping power and fade resistance with a reduced percentage of expensive raw materials, focusing on cost-effective alternatives.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Optimize the friction material formulation for front brake pads to achieve equivalent stopping power</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2000000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Optimizethefr_1770002661748.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#9: Reduce the caliper piston diameter for the rear brake calipers by 2mm, requiring a correspond...</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caliper piston diameter for the rear brake calipers by 2mm, requiring a corresponding adjustment in brake fluid pressure from the master cylinder to maintain braking balance and performance.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1.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cali_1770002662013.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#10: Simplify the brake caliper bracket design by reducing the number of machining operations, po...</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Simplify the brake caliper bracket design by reducing the number of machining operations, potentially through a redesign that allows for a more direct casting or forging process and fewer secondary operations.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1300000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Simplifythebr_1770002662270.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#11: Introduce a semi-metallic brake pad formulation with a lower percentage of expensive frictio...</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Introduce a semi-metallic brake pad formulation with a lower percentage of expensive friction modifiers and a higher ratio of steel fibers, optimizing for cost without significantly compromising performance or wear for C-SUV segment usage.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Introduce a semi-metallic brake pad formulation with a lower percentage of expensive friction modifi</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1800000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troduceasem_1770002662586.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#12: Reduce the number of cooling fins on the rear brake rotors by 20%, provided thermal analysis...</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number of cooling fins on the rear brake rotors by 20%, provided thermal analysis confirms that heat dissipation remains sufficient for the C-SUV's typical usage profile, balancing cooling with material reduction. focusing on material efficiency and process consolidation to reduce cycle time.</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number of cooling fins on the rear brake rotors by 20%, provided thermal analysis confirm</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1100000</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Optimizethefr_1770002661748.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#13: Investigate the use of advanced ceramic-metallic (Cerametallic) friction materials for brake...</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the use of advanced ceramic-metallic (Cerametallic) friction materials for brake pads, focusing on achieving a balance between high friction coefficient, excellent thermal fade resistance, and extended pad/rotor life. This would involve evaluating specific Cerametallic formulations to optimize for the MG Hector's weight (1650 kg) and C-SUV segment requirements, ensuring compliance with FMVSS 105 and ECE R13 regulations. The goal is to reduce unsprung mass...</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the use of advanced ceramic-metallic (Cerametallic) friction materials for brake pads, f</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vestigatethe_1770002663038.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#14: Explore the feasibility of optimizing rotor thickness and cooling fin design for the MG Hect...</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Explore the feasibility of optimizing rotor thickness and cooling fin design for the MG Hector's brake rotors. The current 1.7T kinetic energy necessitates robust thermal management. This proposal focuses on using computational fluid dynamics (CFD) to simulate thermal loads during typical and extreme braking scenarios for the Hector. The objective is to identify optimal rotor thickness and internal vane/fin geometry that enhances heat dissipation without significantl...</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8.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xplorethefea_1770002663295.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#15: Investigate the use of a high-performance, temperature-resistant coating for brake rotors. T...</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the use of a high-performance, temperature-resistant coating for brake rotors. This coating would aim to improve thermal conductivity, reduce oxidation, and potentially decrease friction coefficient variation over a wider temperature range. The focus would be on coatings that can be applied using existing or minimally modified plating/coating lines to stay within the 'Tooling CAPEX limited' constraint. For the MG Hector (1650 kg, C-SUV), this could lead t...</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The focus would be on coatings that can be applied using existing or minimally modified plating/coat</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6.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vestigatethe_1770002663595.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square">
            <a:spAutoFit/>
          </a:bodyPr>
          <a:lstStyle/>
          <a:p>
            <a:pPr>
              <a:defRPr sz="2000" b="1">
                <a:solidFill>
                  <a:srgbClr val="003366"/>
                </a:solidFill>
              </a:defRPr>
            </a:pPr>
            <a:r>
              <a:t>#16: Evaluate the impact of enhanced dust shield gauge and material selection on brake system lon...</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00584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20700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Evaluate the impact of enhanced dust shield gauge and material selection on brake system longevity and maintenance for the MG Hector. While dust shields are often overlooked, a thicker gauge or a more robust material could offer better protection against road debris and corrosive elements, potentially preventing premature wear or contamination of brake components. This is an 'Industry Trend' that can be adapted to the MG Hector's C-SUV segment, considering its potent...</a:t>
            </a:r>
            <a:endParaRPr sz="1000" b="0" i="0">
              <a:latin typeface="Calibri"/>
            </a:endParaRPr>
          </a:p>
        </p:txBody>
      </p:sp>
      <p:sp>
        <p:nvSpPr>
          <p:cNvPr id="6" name="Rectangle 5"/>
          <p:cNvSpPr/>
          <p:nvPr/>
        </p:nvSpPr>
        <p:spPr>
          <a:xfrm>
            <a:off x="457200" y="199339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30428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Evaluate the impact of enhanced dust shield gauge and material selection on brake system longevity a</a:t>
            </a:r>
            <a:endParaRPr sz="1000" b="0" i="0">
              <a:latin typeface="Calibri"/>
            </a:endParaRPr>
          </a:p>
        </p:txBody>
      </p:sp>
      <p:sp>
        <p:nvSpPr>
          <p:cNvPr id="9" name="Rectangle 8"/>
          <p:cNvSpPr/>
          <p:nvPr/>
        </p:nvSpPr>
        <p:spPr>
          <a:xfrm>
            <a:off x="457200" y="25877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79"/>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28986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182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91839"/>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4930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7764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08736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3309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73152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93.jpg"/>
          <p:cNvPicPr>
            <a:picLocks noChangeAspect="1"/>
          </p:cNvPicPr>
          <p:nvPr/>
        </p:nvPicPr>
        <p:blipFill>
          <a:blip r:embed="rId2"/>
          <a:stretch>
            <a:fillRect/>
          </a:stretch>
        </p:blipFill>
        <p:spPr>
          <a:xfrm>
            <a:off x="6035040" y="1005840"/>
            <a:ext cx="5669280" cy="2651760"/>
          </a:xfrm>
          <a:prstGeom prst="rect">
            <a:avLst/>
          </a:prstGeom>
          <a:ln w="12700">
            <a:solidFill>
              <a:srgbClr val="C8C8C8"/>
            </a:solidFill>
          </a:ln>
        </p:spPr>
      </p:pic>
      <p:sp>
        <p:nvSpPr>
          <p:cNvPr id="21" name="TextBox 20"/>
          <p:cNvSpPr txBox="1"/>
          <p:nvPr/>
        </p:nvSpPr>
        <p:spPr>
          <a:xfrm>
            <a:off x="6035040" y="3566160"/>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valuatetheim_1770002663869.jpg"/>
          <p:cNvPicPr>
            <a:picLocks noChangeAspect="1"/>
          </p:cNvPicPr>
          <p:nvPr/>
        </p:nvPicPr>
        <p:blipFill>
          <a:blip r:embed="rId3"/>
          <a:stretch>
            <a:fillRect/>
          </a:stretch>
        </p:blipFill>
        <p:spPr>
          <a:xfrm>
            <a:off x="6035040" y="3840480"/>
            <a:ext cx="5669280" cy="265176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
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BA0C2F"/>
                </a:solidFill>
                <a:latin typeface="Arial"/>
              </a:defRPr>
            </a:pPr>
            <a:r>
              <a:t>Patent Strategy: VAVE AI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Technical Novelty &amp; Patent Filing Roadmap</a:t>
            </a:r>
          </a:p>
          <a:p>
            <a:r>
              <a:t>Prepared for: JSW MG Motor India</a:t>
            </a:r>
          </a:p>
          <a:p>
            <a:r>
              <a:t>Context: Internship Project 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BA0C2F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Objective: Transform the 'VAVE AI' intern project into secured Intellectual Property (IP) for JSW MG.</a:t>
            </a:r>
          </a:p>
          <a:p>
            <a:pPr>
              <a:spcAft>
                <a:spcPts val="1000"/>
              </a:spcAft>
              <a:defRPr sz="2000"/>
            </a:pPr>
            <a:r>
              <a:t>Core Innovation: 'Physics-Informed Generative AI'—solving the hallucination problem in engineering.</a:t>
            </a:r>
          </a:p>
          <a:p>
            <a:pPr>
              <a:spcAft>
                <a:spcPts val="1000"/>
              </a:spcAft>
              <a:defRPr sz="2000"/>
            </a:pPr>
            <a:r>
              <a:t>Recommendation: File a Provisional Patent Application immediately to secure priority date.</a:t>
            </a:r>
          </a:p>
          <a:p>
            <a:pPr>
              <a:spcAft>
                <a:spcPts val="1000"/>
              </a:spcAft>
              <a:defRPr sz="2000"/>
            </a:pPr>
            <a:r>
              <a:t>Ownership: Inventor = Intern; Applicant/Owner = JSW MG Motor India (standard corporate practice).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BA0C2F"/>
                </a:solidFill>
                <a:latin typeface="Arial"/>
              </a:defRPr>
            </a:pPr>
            <a:r>
              <a:t>The Technical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Common LLMs (GPT-4, Gemini) lack 'Engineering Physics'.</a:t>
            </a:r>
          </a:p>
          <a:p>
            <a:pPr>
              <a:spcAft>
                <a:spcPts val="1000"/>
              </a:spcAft>
              <a:defRPr sz="2000"/>
            </a:pPr>
            <a:r>
              <a:t>Risk: They hallucinate impossible components (e.g., 'Carbon Fiber Exhaust' on an EV).</a:t>
            </a:r>
          </a:p>
          <a:p>
            <a:pPr>
              <a:spcAft>
                <a:spcPts val="1000"/>
              </a:spcAft>
              <a:defRPr sz="2000"/>
            </a:pPr>
            <a:r>
              <a:t>Result: Generic AI is dangerous for Engineering Decision Making.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Our Solution: The VAVE AI System</a:t>
            </a:r>
          </a:p>
          <a:p>
            <a:pPr lvl="1">
              <a:spcAft>
                <a:spcPts val="1000"/>
              </a:spcAft>
              <a:defRPr sz="2000"/>
            </a:pPr>
            <a:r>
              <a:t>1. Physics-Informed Matrix (Pre-Filter)</a:t>
            </a:r>
          </a:p>
          <a:p>
            <a:pPr lvl="1">
              <a:spcAft>
                <a:spcPts val="1000"/>
              </a:spcAft>
              <a:defRPr sz="2000"/>
            </a:pPr>
            <a:r>
              <a:t>2. Autonomous Validation Engine (Post-Filter)</a:t>
            </a:r>
          </a:p>
          <a:p>
            <a:pPr lvl="1">
              <a:spcAft>
                <a:spcPts val="1000"/>
              </a:spcAft>
              <a:defRPr sz="2000"/>
            </a:pPr>
            <a:r>
              <a:t>3. Visual Language Model (VLM) for 'Before vs. After' visualization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BA0C2F"/>
                </a:solidFill>
                <a:latin typeface="Arial"/>
              </a:defRPr>
            </a:pPr>
            <a:r>
              <a:t>Claim A: Context Resolution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Invention: 'Physics-Informed Context Resolution System'</a:t>
            </a:r>
          </a:p>
          <a:p>
            <a:pPr>
              <a:spcAft>
                <a:spcPts val="1000"/>
              </a:spcAft>
              <a:defRPr sz="2000"/>
            </a:pPr>
            <a:r>
              <a:t>Novelty: A look-up mechanism that maps fuzzy user queries to rigid Vehicle x Component constraints.</a:t>
            </a:r>
          </a:p>
          <a:p>
            <a:pPr>
              <a:spcAft>
                <a:spcPts val="1000"/>
              </a:spcAft>
              <a:defRPr sz="2000"/>
            </a:pPr>
            <a:r>
              <a:t>Technical Effect: Prevents the AI from processing physically impossible requests.</a:t>
            </a:r>
          </a:p>
          <a:p>
            <a:pPr>
              <a:spcAft>
                <a:spcPts val="1000"/>
              </a:spcAft>
              <a:defRPr sz="2000"/>
            </a:pPr>
            <a:r>
              <a:t>Code Evidence: `_resolve_engineering_context` algorithm.</a:t>
            </a:r>
          </a:p>
          <a:p>
            <a:pPr lvl="1">
              <a:spcAft>
                <a:spcPts val="1000"/>
              </a:spcAft>
              <a:defRPr sz="2000"/>
            </a:pPr>
            <a:r>
              <a:t>'It strictly defines the Engineering Reality before the AI is allowed to speak.'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BA0C2F"/>
                </a:solidFill>
                <a:latin typeface="Arial"/>
              </a:defRPr>
            </a:pPr>
            <a:r>
              <a:t>Claim B: Validation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Invention: 'Deterministic Autonomous Validation Engine'</a:t>
            </a:r>
          </a:p>
          <a:p>
            <a:pPr>
              <a:spcAft>
                <a:spcPts val="1000"/>
              </a:spcAft>
              <a:defRPr sz="2000"/>
            </a:pPr>
            <a:r>
              <a:t>Novelty: A post-generation filter using hard-coded physics rules (not AI probabilities).</a:t>
            </a:r>
          </a:p>
          <a:p>
            <a:pPr>
              <a:spcAft>
                <a:spcPts val="1000"/>
              </a:spcAft>
              <a:defRPr sz="2000"/>
            </a:pPr>
            <a:r>
              <a:t>Example Rule: 'IF Weight &gt; 1600kg AND Component == Brake Disc -&gt; REJECT Thinning'.</a:t>
            </a:r>
          </a:p>
          <a:p>
            <a:pPr>
              <a:spcAft>
                <a:spcPts val="1000"/>
              </a:spcAft>
              <a:defRPr sz="2000"/>
            </a:pPr>
            <a:r>
              <a:t>Technical Effect: Ensures only safe, viable ideas are presented to engineers.</a:t>
            </a:r>
          </a:p>
          <a:p>
            <a:pPr>
              <a:spcAft>
                <a:spcPts val="1000"/>
              </a:spcAft>
              <a:defRPr sz="2000"/>
            </a:pPr>
            <a:r>
              <a:t>Code Evidence: `_validate_and_filter_ideas` function.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BA0C2F"/>
                </a:solidFill>
                <a:latin typeface="Arial"/>
              </a:defRPr>
            </a:pPr>
            <a:r>
              <a:t>Patenting the 'Whole System'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Q: Can we patent the entire VAVE Product?</a:t>
            </a:r>
          </a:p>
          <a:p>
            <a:pPr>
              <a:spcAft>
                <a:spcPts val="1000"/>
              </a:spcAft>
              <a:defRPr sz="2000"/>
            </a:pPr>
            <a:r>
              <a:t>A: Yes, as a 'System Patent'.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Strategy: Avoid Section 3(k) (Software per se).</a:t>
            </a:r>
          </a:p>
          <a:p>
            <a:pPr>
              <a:spcAft>
                <a:spcPts val="1000"/>
              </a:spcAft>
              <a:defRPr sz="2000"/>
            </a:pPr>
            <a:r>
              <a:t>Claim It As: 'A System for Automated Engineering Optimization' comprising:</a:t>
            </a:r>
          </a:p>
          <a:p>
            <a:pPr lvl="1">
              <a:spcAft>
                <a:spcPts val="1000"/>
              </a:spcAft>
              <a:defRPr sz="2000"/>
            </a:pPr>
            <a:r>
              <a:t>1. Data Ingestion Module (DB/Web)</a:t>
            </a:r>
          </a:p>
          <a:p>
            <a:pPr lvl="1">
              <a:spcAft>
                <a:spcPts val="1000"/>
              </a:spcAft>
              <a:defRPr sz="2000"/>
            </a:pPr>
            <a:r>
              <a:t>2. Physics Enforcement Module (The Matrix)</a:t>
            </a:r>
          </a:p>
          <a:p>
            <a:pPr lvl="1">
              <a:spcAft>
                <a:spcPts val="1000"/>
              </a:spcAft>
              <a:defRPr sz="2000"/>
            </a:pPr>
            <a:r>
              <a:t>3. Generative Validation Module (The Gatekeeper)</a:t>
            </a:r>
          </a:p>
          <a:p>
            <a:pPr lvl="1">
              <a:spcAft>
                <a:spcPts val="1000"/>
              </a:spcAft>
              <a:defRPr sz="2000"/>
            </a:pPr>
            <a:r>
              <a:t>4. Hardware Elements (Processors/Servers)</a:t>
            </a:r>
          </a:p>
          <a:p>
            <a:pPr>
              <a:spcAft>
                <a:spcPts val="1000"/>
              </a:spcAft>
              <a:defRPr sz="2000"/>
            </a:pPr>
            <a:r>
              <a:t>Outcome: This protects the *entire workflow* as a product.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BA0C2F"/>
                </a:solidFill>
                <a:latin typeface="Arial"/>
              </a:defRPr>
            </a:pPr>
            <a:r>
              <a:t>Filing Process: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Step 1: File Provisional Specification (Month 0)</a:t>
            </a:r>
          </a:p>
          <a:p>
            <a:pPr lvl="1">
              <a:spcAft>
                <a:spcPts val="1000"/>
              </a:spcAft>
              <a:defRPr sz="2000"/>
            </a:pPr>
            <a:r>
              <a:t>- Secures the 'Priority Date'.</a:t>
            </a:r>
          </a:p>
          <a:p>
            <a:pPr lvl="1">
              <a:spcAft>
                <a:spcPts val="1000"/>
              </a:spcAft>
              <a:defRPr sz="2000"/>
            </a:pPr>
            <a:r>
              <a:t>- Low cost, less formal.</a:t>
            </a:r>
          </a:p>
          <a:p>
            <a:pPr lvl="1">
              <a:spcAft>
                <a:spcPts val="1000"/>
              </a:spcAft>
              <a:defRPr sz="2000"/>
            </a:pPr>
            <a:r>
              <a:t>- Allows 'Patent Pending' status.</a:t>
            </a:r>
          </a:p>
          <a:p>
            <a:pPr>
              <a:spcAft>
                <a:spcPts val="1000"/>
              </a:spcAft>
              <a:defRPr sz="2000"/>
            </a:pPr>
            <a:r>
              <a:t>Step 2: R&amp;D &amp; Refinement (Months 1-11)</a:t>
            </a:r>
          </a:p>
          <a:p>
            <a:pPr>
              <a:spcAft>
                <a:spcPts val="1000"/>
              </a:spcAft>
              <a:defRPr sz="2000"/>
            </a:pPr>
            <a:r>
              <a:t>Step 3: File Complete Specification (Month 12)</a:t>
            </a:r>
          </a:p>
          <a:p>
            <a:pPr lvl="1">
              <a:spcAft>
                <a:spcPts val="1000"/>
              </a:spcAft>
              <a:defRPr sz="2000"/>
            </a:pPr>
            <a:r>
              <a:t>- Full claims, flowcharts, and final code logic.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BA0C2F"/>
                </a:solidFill>
                <a:latin typeface="Arial"/>
              </a:defRPr>
            </a:pPr>
            <a:r>
              <a:t>Cost &amp; Ownership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Ownership Model:</a:t>
            </a:r>
          </a:p>
          <a:p>
            <a:pPr lvl="1">
              <a:spcAft>
                <a:spcPts val="1000"/>
              </a:spcAft>
              <a:defRPr sz="2000"/>
            </a:pPr>
            <a:r>
              <a:t>- True &amp; First Inventor: Student Intern (You)</a:t>
            </a:r>
          </a:p>
          <a:p>
            <a:pPr lvl="1">
              <a:spcAft>
                <a:spcPts val="1000"/>
              </a:spcAft>
              <a:defRPr sz="2000"/>
            </a:pPr>
            <a:r>
              <a:t>- Applicant/Assignee: JSW MG Motor India (The Company)</a:t>
            </a:r>
          </a:p>
          <a:p>
            <a:pPr lvl="1">
              <a:spcAft>
                <a:spcPts val="1000"/>
              </a:spcAft>
              <a:defRPr sz="2000"/>
            </a:pPr>
            <a:r>
              <a:t>- Note: Company usually pays all fees.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Estimated Official Fees (2025):</a:t>
            </a:r>
          </a:p>
          <a:p>
            <a:pPr lvl="1">
              <a:spcAft>
                <a:spcPts val="1000"/>
              </a:spcAft>
              <a:defRPr sz="2000"/>
            </a:pPr>
            <a:r>
              <a:t>- Provisional Filing: ~₹8,000 (Large Entity) / ~₹1,600 (Student)</a:t>
            </a:r>
          </a:p>
          <a:p>
            <a:pPr lvl="1">
              <a:spcAft>
                <a:spcPts val="1000"/>
              </a:spcAft>
              <a:defRPr sz="2000"/>
            </a:pPr>
            <a:r>
              <a:t>- Examination Request: ~₹20,000 (Large Entity)</a:t>
            </a:r>
          </a:p>
          <a:p>
            <a:pPr lvl="1">
              <a:spcAft>
                <a:spcPts val="1000"/>
              </a:spcAft>
              <a:defRPr sz="2000"/>
            </a:pPr>
            <a:r>
              <a:t>- Professional Legal Fees: ~₹50k - ₹1.5L (varies by firm)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BA0C2F"/>
                </a:solidFill>
                <a:latin typeface="Arial"/>
              </a:defRPr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1. Review `patent_strategy.md` for full claim details.</a:t>
            </a:r>
          </a:p>
          <a:p>
            <a:pPr>
              <a:spcAft>
                <a:spcPts val="1000"/>
              </a:spcAft>
              <a:defRPr sz="2000"/>
            </a:pPr>
            <a:r>
              <a:t>2. Confirm IP ownership policy with HR/Legal.</a:t>
            </a:r>
          </a:p>
          <a:p>
            <a:pPr>
              <a:spcAft>
                <a:spcPts val="1000"/>
              </a:spcAft>
              <a:defRPr sz="2000"/>
            </a:pPr>
            <a:r>
              <a:t>3. Draft the Provisional Specification using the System Design doc.</a:t>
            </a:r>
          </a:p>
          <a:p>
            <a:pPr>
              <a:spcAft>
                <a:spcPts val="1000"/>
              </a:spcAft>
              <a:defRPr sz="2000"/>
            </a:pPr>
            <a:r>
              <a:t>4. File Form 1 &amp; Form 2 via Patent Attorney.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
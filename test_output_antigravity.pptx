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defRPr>
                <a:solidFill>
                  <a:srgbClr val="003366"/>
                </a:solidFill>
              </a:defRPr>
            </a:pPr>
            <a:r>
              <a:t>VAVE Cost Reduction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Detailed Engineering Feasibility Report | 04-Feb-2026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2880" y="411480"/>
          <a:ext cx="1097280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914400"/>
                <a:gridCol w="914400"/>
                <a:gridCol w="914400"/>
                <a:gridCol w="1097280"/>
                <a:gridCol w="1097280"/>
                <a:gridCol w="1828800"/>
              </a:tblGrid>
              <a:tr h="782955"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Idea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CAPEX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Unit Sav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Vol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Sav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Remark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0.8900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0.0172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0.3612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Feasibility Study On-going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0.5200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0.0183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0.6405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Review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0.1700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0.0120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0.3840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Generated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Validation Pending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MOCK-04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4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0.6400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0.0199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0.2189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Generated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Validation Pending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0.0101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0.0505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Generated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Validation Pending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MOCK-06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6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0.3400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0.0112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0.2912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Review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MOCK-07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7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0.000004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0.0153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0.5661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Review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2880" y="45720"/>
            <a:ext cx="11825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Summary (Values in ₹ Crore) (Page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2880" y="411480"/>
          <a:ext cx="1097280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914400"/>
                <a:gridCol w="914400"/>
                <a:gridCol w="914400"/>
                <a:gridCol w="1097280"/>
                <a:gridCol w="1097280"/>
                <a:gridCol w="1828800"/>
              </a:tblGrid>
              <a:tr h="782955"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Idea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CAPEX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Unit Sav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Vol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Sav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Remark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MOCK-08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8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0.0129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0.2709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Feasibility Study On-going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MOCK-09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9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0.9600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0.0136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0.4216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Feasibility Study On-going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MOCK-10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10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0.2600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0.000004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0.0125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0.5500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Review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MOCK-11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11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0.3100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Review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MOCK-12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12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0.9900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0.0081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0.1053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Review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MOCK-13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13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0.1800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0.0167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0.8350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 Review</a:t>
                      </a:r>
                    </a:p>
                  </a:txBody>
                  <a:tcPr/>
                </a:tc>
              </a:tr>
              <a:tr h="782955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MOCK-14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14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0.2600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0.000002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0.0143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0.2717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Generated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Validation Pending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2880" y="45720"/>
            <a:ext cx="11825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Summary (Values in ₹ Crore) (Page 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2880" y="411480"/>
          <a:ext cx="10972800" cy="626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914400"/>
                <a:gridCol w="914400"/>
                <a:gridCol w="914400"/>
                <a:gridCol w="1097280"/>
                <a:gridCol w="1097280"/>
                <a:gridCol w="1828800"/>
              </a:tblGrid>
              <a:tr h="3131820"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Idea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CAPEX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Unit Sav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Vol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Sav (Cr)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Remark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131820"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MOCK-15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Component Optimization 15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0.6600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0.000004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0.0120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0.4800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Generated</a:t>
                      </a:r>
                    </a:p>
                  </a:txBody>
                  <a:tcPr/>
                </a:tc>
                <a:tc>
                  <a:txBody>
                    <a:bodyPr wrap="square" lIns="50800" rIns="50800"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Validation Pending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2880" y="45720"/>
            <a:ext cx="1182593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3366"/>
                </a:solidFill>
              </a:defRPr>
            </a:pPr>
            <a:r>
              <a:t>Summary (Values in ₹ Crore) (Page 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#1: Component Optimization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1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21</a:t>
            </a:r>
            <a:br/>
            <a:r>
              <a:t>CAPEX: 8900000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875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190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0509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279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594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4543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173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#2: Component Optimization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2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35</a:t>
            </a:r>
            <a:br/>
            <a:r>
              <a:t>CAPEX: 5200000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875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190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0509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279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594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4543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173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#3: Component Optimization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3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32</a:t>
            </a:r>
            <a:br/>
            <a:r>
              <a:t>CAPEX: 1700000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875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190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0509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279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594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4543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173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#4: Component Optimization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4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11</a:t>
            </a:r>
            <a:br/>
            <a:r>
              <a:t>CAPEX: 6400000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875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190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0509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279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594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4543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173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#5: Component Optimization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5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5</a:t>
            </a:r>
            <a:br/>
            <a:r>
              <a:t>CAPEX: 7300000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711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026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48863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114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429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2897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008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#6: Component Optimization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6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26</a:t>
            </a:r>
            <a:br/>
            <a:r>
              <a:t>CAPEX: 3400000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875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190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0509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279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594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4543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173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#7: Component Optimization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7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37</a:t>
            </a:r>
            <a:br/>
            <a:r>
              <a:t>CAPEX: 4700000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875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190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0509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279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594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4543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173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#8: Component Optimization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8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6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21</a:t>
            </a:r>
            <a:br/>
            <a:r>
              <a:t>CAPEX: 10000000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50403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3555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2155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443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758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6189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338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#9: Component Optimization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78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9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012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327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1873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1859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5011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3611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31</a:t>
            </a:r>
            <a:br/>
            <a:r>
              <a:t>CAPEX: 9600000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4875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190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0509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279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5943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4543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173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#10: Component Optimization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8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10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176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49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3519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350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665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5257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44</a:t>
            </a:r>
            <a:br/>
            <a:r>
              <a:t>CAPEX: 2600000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50403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3555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2155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443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758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6189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338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#11: Component Optimization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8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11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176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49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3519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350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665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5257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31</a:t>
            </a:r>
            <a:br/>
            <a:r>
              <a:t>CAPEX: 6200000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50403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3555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2155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443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758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6189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338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#12: Component Optimization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8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12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176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49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3519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350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665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5257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13</a:t>
            </a:r>
            <a:br/>
            <a:r>
              <a:t>CAPEX: 9900000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50403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3555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2155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443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758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6189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338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#13: Component Optimization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8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13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176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49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3519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350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665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5257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50</a:t>
            </a:r>
            <a:br/>
            <a:r>
              <a:t>CAPEX: 1800000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50403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3555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2155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443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758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6189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338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#14: Component Optimization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8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14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176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49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3519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350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665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5257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19</a:t>
            </a:r>
            <a:br/>
            <a:r>
              <a:t>CAPEX: 2600000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50403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3555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2155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443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758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6189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338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#15: Component Optimization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88575" y="182880"/>
            <a:ext cx="1828800" cy="457200"/>
          </a:xfrm>
          <a:prstGeom prst="rect">
            <a:avLst/>
          </a:prstGeom>
          <a:solidFill>
            <a:srgbClr val="646464"/>
          </a:solidFill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EXISTING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5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TECHNICAL ENGINEERING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5486400" cy="380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Technical optimization of Component Optimization 15 focusing on material efficiency and process consolidation to reduce cycle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3176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491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MATERIAL &amp; DIMENSION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3519"/>
            <a:ext cx="5486400" cy="52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This proposal aims to reduce weight by using high-strength steel grade 590 instead of 440</a:t>
            </a:r>
            <a:br/>
            <a:r>
              <a:t>N/A (Maintains current envelope)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63505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36657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FINANCIAL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5257"/>
            <a:ext cx="5486400" cy="38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Est. Saving: INR 40</a:t>
            </a:r>
            <a:br/>
            <a:r>
              <a:t>CAPEX: 6600000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950403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23555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VALIDATION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52155"/>
            <a:ext cx="5486400" cy="180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VALIDATION:</a:t>
            </a:r>
            <a:br/>
            <a:r>
              <a:t>• DVP&amp;R Level 2 Testing</a:t>
            </a:r>
            <a:br/>
            <a:r>
              <a:t>• Environmental Aging (1000 hrs)</a:t>
            </a:r>
            <a:br/>
            <a:r>
              <a:t>• Head Impact Criterion (FMVSS)</a:t>
            </a:r>
            <a:br/>
            <a:br/>
            <a:r>
              <a:t>RISKS:</a:t>
            </a:r>
            <a:br/>
            <a:r>
              <a:t>⚠ NVH performance degradation</a:t>
            </a:r>
            <a:br/>
            <a:r>
              <a:t>⚠ Thermal durability limits</a:t>
            </a:r>
            <a:br/>
            <a:r>
              <a:t>⚠ Aesthetic fit &amp; finish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54437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5127589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6400"/>
                </a:solidFill>
              </a:defRPr>
            </a:pPr>
            <a:r>
              <a:t>SUPPLY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356189"/>
            <a:ext cx="5486400" cy="48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Supplier: Consolidation to single-source Tier 1</a:t>
            </a:r>
            <a:br/>
            <a:r>
              <a:t>• Tooling: 15% reduction in logistics overhead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843381"/>
            <a:ext cx="5486400" cy="9144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"/>
            <a:ext cx="56994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100">
                <a:solidFill>
                  <a:srgbClr val="003366"/>
                </a:solidFill>
              </a:defRPr>
            </a:pPr>
            <a:r>
              <a:t>Current Scenario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731520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Image Not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30752"/>
            <a:ext cx="5699455" cy="2852928"/>
          </a:xfrm>
          <a:prstGeom prst="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VLM Generated AI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
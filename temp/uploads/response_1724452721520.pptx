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Sheet1!$A$2:$A$11</c:f>
              <c:strCache>
                <c:ptCount val="10"/>
                <c:pt idx="0">
                  <c:v>2311-ET-ID-14</c:v>
                </c:pt>
                <c:pt idx="1">
                  <c:v>AI-GEN-01</c:v>
                </c:pt>
                <c:pt idx="2">
                  <c:v>AI-GEN-02</c:v>
                </c:pt>
                <c:pt idx="3">
                  <c:v>AI-GEN-03</c:v>
                </c:pt>
                <c:pt idx="4">
                  <c:v>AI-GEN-04</c:v>
                </c:pt>
                <c:pt idx="5">
                  <c:v>AI-GEN-05</c:v>
                </c:pt>
                <c:pt idx="6">
                  <c:v>AI-GEN-06</c:v>
                </c:pt>
                <c:pt idx="7">
                  <c:v>WEB-GEN-01</c:v>
                </c:pt>
                <c:pt idx="8">
                  <c:v>WEB-GEN-02</c:v>
                </c:pt>
                <c:pt idx="9">
                  <c:v>WEB-GEN-03</c:v>
                </c:pt>
              </c:strCache>
            </c:strRef>
          </c:cat>
          <c:val>
            <c:numRef>
              <c:f>Sheet1!$B$2:$B$11</c:f>
              <c:numCache>
                <c:formatCode>General</c:formatCode>
                <c:ptCount val="10"/>
                <c:pt idx="0">
                  <c:v>41.0</c:v>
                </c:pt>
                <c:pt idx="1">
                  <c:v>0</c:v>
                </c:pt>
                <c:pt idx="2">
                  <c:v>0</c:v>
                </c:pt>
                <c:pt idx="3">
                  <c:v>0</c:v>
                </c:pt>
                <c:pt idx="4">
                  <c:v>0</c:v>
                </c:pt>
                <c:pt idx="5">
                  <c:v>0</c:v>
                </c:pt>
                <c:pt idx="6">
                  <c:v>0</c:v>
                </c:pt>
                <c:pt idx="7">
                  <c:v>0</c:v>
                </c:pt>
                <c:pt idx="8">
                  <c:v>0</c:v>
                </c:pt>
                <c:pt idx="9">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1</c:v>
                </c:pt>
                <c:pt idx="2">
                  <c:v>0</c:v>
                </c:pt>
                <c:pt idx="3">
                  <c:v>0</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2311-ET-ID-14</a:t>
                      </a:r>
                    </a:p>
                  </a:txBody>
                  <a:tcPr/>
                </a:tc>
                <a:tc>
                  <a:txBody>
                    <a:bodyPr wrap="square"/>
                    <a:lstStyle/>
                    <a:p>
                      <a:pPr>
                        <a:defRPr sz="1000">
                          <a:latin typeface="Calibri"/>
                        </a:defRPr>
                      </a:pPr>
                      <a:r>
                        <a:t>1. Replace the 2240GSM Engine Bay Insulation Cover within MGI with a 1080 - 1100GSM Insulation Cover (PES-NF) as in KIA</a:t>
                      </a:r>
                    </a:p>
                    <a:p>
                      <a:pPr>
                        <a:defRPr sz="1000">
                          <a:latin typeface="Calibri"/>
                        </a:defRPr>
                      </a:pPr>
                      <a:r>
                        <a:t>2. Replace the 5300GSM Cabin Insulation Cover within MGI with a 4550 - 4650GSM Insulation Cover as in KIA</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INR 41.0</a:t>
                      </a:r>
                    </a:p>
                  </a:txBody>
                  <a:tcPr/>
                </a:tc>
                <a:tc>
                  <a:txBody>
                    <a:bodyPr wrap="square"/>
                    <a:lstStyle/>
                    <a:p>
                      <a:pPr>
                        <a:defRPr sz="1000">
                          <a:latin typeface="Calibri"/>
                        </a:defRPr>
                      </a:pPr>
                      <a:r>
                        <a:t>OK</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Narendra/ Ratnadeep</a:t>
                      </a:r>
                    </a:p>
                  </a:txBody>
                  <a:tcPr/>
                </a:tc>
                <a:tc>
                  <a:txBody>
                    <a:bodyPr wrap="square"/>
                    <a:lstStyle/>
                    <a:p>
                      <a:pPr>
                        <a:defRPr sz="1000">
                          <a:latin typeface="Calibri"/>
                        </a:defRPr>
                      </a:pPr>
                      <a:r>
                        <a:t>2024-06-28 00:00:00</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Re-engineer the main engine mount brackets by transitioning from existing complex cast iron components to an optimized design utilizing multi-stage pressed high-strength low-alloy (HSLA) steel sheets. This involves topology optimization for material distribution and minimizing welding operations.</a:t>
                      </a:r>
                    </a:p>
                  </a:txBody>
                  <a:tcPr/>
                </a:tc>
                <a:tc>
                  <a:txBody>
                    <a:bodyPr wrap="square"/>
                    <a:lstStyle/>
                    <a:p>
                      <a:pPr>
                        <a:defRPr sz="1000">
                          <a:latin typeface="Calibri"/>
                        </a:defRPr>
                      </a:pPr>
                      <a:r>
                        <a:t>The current cast iron brackets, while robust, present inherent limitations in geometric flexibility for optimization and typically incur higher material and machining costs. By adopting HSLA pressed steel, we can leverage its superior strength-to-weight ratio, enabling the use of thinner gauges and precise tailoring of stiffness distribution to specific load paths. This approach aims to achieve cost savings through reduced material mass, lower raw material unit cost, and potentially more efficient manufacturing processes. Validation will necessitate extensive Finite Element Analysis (FEA) to confirm static load deflection, dynamic stiffness characteristics, and predicted fatigue life under simulated engine vibration and diverse road load profiles. Physical testing will encompass static load deflection evaluations, comprehensive modal analysis for NVH resonance avoidance, and accelerated durability testing on a shaker rig, rigorously ensuring the new design maintains equivalent or improved NVH isolation and structural integrity when benchmarked against the Mahindra XUV700's likely optimized pressed steel equivalent.</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current cast iron brackets, while robust, present inherent limitations in geometric flexibility for optimization and typically incur higher material and machining costs. By adopting HSLA pressed steel, we can leverage its superior strength-to-weight ratio, enabling the use of thinner gauges and precise tailoring of stiffness distribution to specific load paths. This approach aims to achieve cost savings through reduced material mass, lower raw material unit cost, and potentially more efficient manufacturing processes. Validation will necessitate extensive Finite Element Analysis (FEA) to confirm static load deflection, dynamic stiffness characteristics, and predicted fatigue life under simulated engine vibration and diverse road load profiles. Physical testing will encompass static load deflection evaluations, comprehensive modal analysis for NVH resonance avoidance, and accelerated durability testing on a shaker rig, rigorously ensuring the new design maintains equivalent or improved NVH isolation and structural integrity when benchmarked against the Mahindra XUV700's likely optimized pressed steel equivalent.</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Replace the conventional thick-wall cast iron exhaust manifold with a thin-wall hydroformed or stamped stainless steel tubular design, potentially integrating the catalytic converter close-coupled for improved emissions performance.</a:t>
                      </a:r>
                    </a:p>
                  </a:txBody>
                  <a:tcPr/>
                </a:tc>
                <a:tc>
                  <a:txBody>
                    <a:bodyPr wrap="square"/>
                    <a:lstStyle/>
                    <a:p>
                      <a:pPr>
                        <a:defRPr sz="1000">
                          <a:latin typeface="Calibri"/>
                        </a:defRPr>
                      </a:pPr>
                      <a:r>
                        <a:t>Cast iron exhaust manifolds are inherently heavy, demand significant post-casting machining, and contribute to slower catalytic converter light-off times due to their high thermal inertia. A thin-wall stainless steel manifold offers substantial weight reduction, leading to fuel efficiency gains, and a significantly faster thermal response, which is crucial for rapid catalyst activation and meeting stringent emissions regulations. The preferred material, typically AISI 409L or a similar ferritic stainless steel, provides excellent high-temperature strength, oxidation, and corrosion resistance. The manufacturing process, involving hydroforming or precise stamping of individual runners followed by automated robotic welding, can be highly efficient and result in minimal material waste. Validation will encompass comprehensive thermal cycle testing to simulate engine start-up and shutdown extremes, ensuring structural integrity, crack resistance, and longevity. Back pressure measurements will confirm no degradation in engine performance, while sophisticated acoustic testing will verify NVH performance. Durability will be assessed through accelerated engine dynamometer testing under varying load and temperature conditions, ensuring no compromise in thermal management or emissions profile when compared to the XUV700's engine specifications.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Cast iron exhaust manifolds are inherently heavy, demand significant post-casting machining, and contribute to slower catalytic converter light-off times due to their high thermal inertia. A thin-wall stainless steel manifold offers substantial weight reduction, leading to fuel efficiency gains, and a significantly faster thermal response, which is crucial for rapid catalyst activation and meeting stringent emissions regulations. The preferred material, typically AISI 409L or a similar ferritic stainless steel, provides excellent high-temperature strength, oxidation, and corrosion resistance. The manufacturing process, involving hydroforming or precise stamping of individual runners followed by automated robotic welding, can be highly efficient and result in minimal material waste. Validation will encompass comprehensive thermal cycle testing to simulate engine start-up and shutdown extremes, ensuring structural integrity, crack resistance, and longevity. Back pressure measurements will confirm no degradation in engine performance, while sophisticated acoustic testing will verify NVH performance. Durability will be assessed through accelerated engine dynamometer testing under varying load and temperature conditions, ensuring no compromise in thermal management or emissions profile when compared to the XUV700's engine specifications.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Transition the engine oil pan from a gravity die-cast aluminum alloy component to a deep-drawn, optimized-thickness pressed steel design, possibly incorporating internal baffling for enhanced oil surge control.</a:t>
                      </a:r>
                    </a:p>
                  </a:txBody>
                  <a:tcPr/>
                </a:tc>
                <a:tc>
                  <a:txBody>
                    <a:bodyPr wrap="square"/>
                    <a:lstStyle/>
                    <a:p>
                      <a:pPr>
                        <a:defRPr sz="1000">
                          <a:latin typeface="Calibri"/>
                        </a:defRPr>
                      </a:pPr>
                      <a:r>
                        <a:t>Cast aluminum oil pans, while offering good NVH dampening and inherent stiffness, typically incur higher material and complex manufacturing processing costs compared to mass-produced pressed steel alternatives. A deep-drawn steel oil pan, specifically utilizing a lower gauge high-strength steel, can achieve comparable structural rigidity and NVH performance through strategic ribbing, optimized geometry, and precise mounting point design. A critical engineering consideration will be effective oil surge management during aggressive dynamic maneuvers; this will be addressed by internal baffles specifically designed and optimized using Computational Fluid Dynamics (CFD) simulations to ensure consistent oil pickup. Sealing integrity against oil leaks is paramount, requiring a robust flange design, appropriate surface finishes, and careful gasket material selection. Validation will involve extensive NVH testing (pass-by noise, interior cabin noise contributions), dynamic oil surge testing on a tilt-table or dedicated vehicle dynamics rig, impact resistance evaluation against road debris, and long-term oil leak durability testing under simulated thermal cycles and continuous vibration, all benchmarked against the XUV700's potential stamped steel solution.</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Cast aluminum oil pans, while offering good NVH dampening and inherent stiffness, typically incur higher material and complex manufacturing processing costs compared to mass-produced pressed steel alternatives. A deep-drawn steel oil pan, specifically utilizing a lower gauge high-strength steel, can achieve comparable structural rigidity and NVH performance through strategic ribbing, optimized geometry, and precise mounting point design. A critical engineering consideration will be effective oil surge management during aggressive dynamic maneuvers; this will be addressed by internal baffles specifically designed and optimized using Computational Fluid Dynamics (CFD) simulations to ensure consistent oil pickup. Sealing integrity against oil leaks is paramount, requiring a robust flange design, appropriate surface finishes, and careful gasket material selection. Validation will involve extensive NVH testing (pass-by noise, interior cabin noise contributions), dynamic oil surge testing on a tilt-table or dedicated vehicle dynamics rig, impact resistance evaluation against road debris, and long-term oil leak durability testing under simulated thermal cycles and continuous vibration, all benchmarked against the XUV700's potential stamped steel solution.</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Convert the water pump housing from its current die-cast aluminum construction to an injection-molded glass-fiber reinforced polyamide (PA66-GF30 or similar) composite material.</a:t>
                      </a:r>
                    </a:p>
                  </a:txBody>
                  <a:tcPr/>
                </a:tc>
                <a:tc>
                  <a:txBody>
                    <a:bodyPr wrap="square"/>
                    <a:lstStyle/>
                    <a:p>
                      <a:pPr>
                        <a:defRPr sz="1000">
                          <a:latin typeface="Calibri"/>
                        </a:defRPr>
                      </a:pPr>
                      <a:r>
                        <a:t>Die-cast aluminum water pump housings are robust but often contribute to higher material and processing costs, alongside higher component weight. Advanced thermoplastic composites offer significant weight reduction and substantial cost savings through integrated functionality and reduced post-molding machining operations. The proposed PA66-GF30 material provides an excellent balance of mechanical strength, thermal stability suitable for typical engine coolant temperatures, and robust chemical resistance to various coolants and additives. The design must meticulously account for robust boss insert retention for critical fasteners and optimized internal ribbing to effectively manage operational pressure loads and minimize deformation. Validation demands rigorous thermal shock testing (rapid heating/cooling cycles), burst pressure testing at significantly higher levels than operational maximums, cyclic pressure endurance testing over extended periods, and comprehensive material compatibility checks with all relevant coolants. Long-term durability will be rigorously assessed through hot aging tests and vehicle-level cooling system performance validation, ensuring the new design seamlessly matches or surpasses the XUV700's cooling system robustness and reliability.</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Die-cast aluminum water pump housings are robust but often contribute to higher material and processing costs, alongside higher component weight. Advanced thermoplastic composites offer significant weight reduction and substantial cost savings through integrated functionality and reduced post-molding machining operations. The proposed PA66-GF30 material provides an excellent balance of mechanical strength, thermal stability suitable for typical engine coolant temperatures, and robust chemical resistance to various coolants and additives. The design must meticulously account for robust boss insert retention for critical fasteners and optimized internal ribbing to effectively manage operational pressure loads and minimize deformation. Validation demands rigorous thermal shock testing (rapid heating/cooling cycles), burst pressure testing at significantly higher levels than operational maximums, cyclic pressure endurance testing over extended periods, and comprehensive material compatibility checks with all relevant coolants. Long-term durability will be rigorously assessed through hot aging tests and vehicle-level cooling system performance validation, ensuring the new design seamlessly matches or surpasses the XUV700's cooling system robustness and reliability.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Replace the cast aluminum cylinder head cover (valve cover) with an injection-molded glass-fiber reinforced thermoplastic (e.g., PA6-GF30 or PBT-GF30) that integrates internal oil separation mechanisms (e.g., labyrinth baffles) and potentially quick-connect fittings.</a:t>
                      </a:r>
                    </a:p>
                  </a:txBody>
                  <a:tcPr/>
                </a:tc>
                <a:tc>
                  <a:txBody>
                    <a:bodyPr wrap="square"/>
                    <a:lstStyle/>
                    <a:p>
                      <a:pPr>
                        <a:defRPr sz="1000">
                          <a:latin typeface="Calibri"/>
                        </a:defRPr>
                      </a:pPr>
                      <a:r>
                        <a:t>Cast aluminum head covers are comparatively heavier, more expensive to manufacture due to intricate machining requirements, and offer limited inherent integration potential for additional functions. An engineered polymer cover offers significant weight savings, reduced material costs, and the critical advantage of integrating complex features such as sophisticated oil separators and intricate breather passages directly into the molding process. This integration simplifies assembly, reduces overall part count, and more effectively manages crankcase blow-by gases. The selected polymer must exhibit exceptional thermal stability, robust oil and chemical resistance, and precise dimensional stability across the full spectrum of engine operating temperatures. Validation will encompass comprehensive oil leak integrity testing under various thermal cycles and vibrational loads, precise blow-by gas measurement to ensure effective oil separation and prevent contamination of the intake system, and detailed NVH analysis to ensure sound transmission characteristics are maintained or improved compared to the aluminum component. Durability will be confirmed through extended engine dynamometer testing simulating worst-case operating conditions, including high temperatures and pressures, and by benchmarking against competitor solutions like the XUV700's if they employ similar polymer covers.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Cast aluminum head covers are comparatively heavier, more expensive to manufacture due to intricate machining requirements, and offer limited inherent integration potential for additional functions. An engineered polymer cover offers significant weight savings, reduced material costs, and the critical advantage of integrating complex features such as sophisticated oil separators and intricate breather passages directly into the molding process. This integration simplifies assembly, reduces overall part count, and more effectively manages crankcase blow-by gases. The selected polymer must exhibit exceptional thermal stability, robust oil and chemical resistance, and precise dimensional stability across the full spectrum of engine operating temperatures. Validation will encompass comprehensive oil leak integrity testing under various thermal cycles and vibrational loads, precise blow-by gas measurement to ensure effective oil separation and prevent contamination of the intake system, and detailed NVH analysis to ensure sound transmission characteristics are maintained or improved compared to the aluminum component. Durability will be confirmed through extended engine dynamometer testing simulating worst-case operating conditions, including high temperatures and pressures, and by benchmarking against competitor solutions like the XUV700's if they employ similar polymer covers.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Optimize the alternator mounting bracket by moving from a multi-piece, heavy-gauge steel stamping or cast component to a single-piece, flow-formed or hydroformed high-strength steel bracket with optimized geometry.</a:t>
                      </a:r>
                    </a:p>
                  </a:txBody>
                  <a:tcPr/>
                </a:tc>
                <a:tc>
                  <a:txBody>
                    <a:bodyPr wrap="square"/>
                    <a:lstStyle/>
                    <a:p>
                      <a:pPr>
                        <a:defRPr sz="1000">
                          <a:latin typeface="Calibri"/>
                        </a:defRPr>
                      </a:pPr>
                      <a:r>
                        <a:t>Current alternator brackets are often over-engineered or represent legacy designs that are heavier and more complex than truly necessary. By applying advanced topology optimization techniques and leveraging modern manufacturing processes such as flow-forming (which permits precise variation of wall thickness and complex geometries from a single blank) or hydroforming, we can significantly reduce material usage, simplify the part structure, and minimize manufacturing steps. The redesigned bracket must maintain critical stiffness to prevent undesirable belt slip and associated noise, while possessing adequate strength to withstand dynamic loads stemming from engine vibration and belt tension. Finite Element Analysis (FEA) will be indispensable for optimizing the geometry, ensuring rigidity, and predicting fatigue life under various operating conditions. Validation will involve extensive bench testing for static stiffness and resonance frequency analysis, followed by comprehensive engine dynamometer testing to verify belt tension stability, NVH performance, and long-term durability under operational vibrational loads. This proposal explicitly targets potential efficiencies observed in competitor designs, such as the XUV700's, to inform best practices in weight and cost optimization.</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Current alternator brackets are often over-engineered or represent legacy designs that are heavier and more complex than truly necessary. By applying advanced topology optimization techniques and leveraging modern manufacturing processes such as flow-forming (which permits precise variation of wall thickness and complex geometries from a single blank) or hydroforming, we can significantly reduce material usage, simplify the part structure, and minimize manufacturing steps. The redesigned bracket must maintain critical stiffness to prevent undesirable belt slip and associated noise, while possessing adequate strength to withstand dynamic loads stemming from engine vibration and belt tension. Finite Element Analysis (FEA) will be indispensable for optimizing the geometry, ensuring rigidity, and predicting fatigue life under various operating conditions. Validation will involve extensive bench testing for static stiffness and resonance frequency analysis, followed by comprehensive engine dynamometer testing to verify belt tension stability, NVH performance, and long-term durability under operational vibrational loads. This proposal explicitly targets potential efficiencies observed in competitor designs, such as the XUV700's, to inform best practices in weight and cost optimization.</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WEB-GEN-01</a:t>
                      </a:r>
                    </a:p>
                  </a:txBody>
                  <a:tcPr/>
                </a:tc>
                <a:tc>
                  <a:txBody>
                    <a:bodyPr wrap="square"/>
                    <a:lstStyle/>
                    <a:p>
                      <a:pPr>
                        <a:defRPr sz="1000">
                          <a:latin typeface="Calibri"/>
                        </a:defRPr>
                      </a:pPr>
                      <a:r>
                        <a:t>Implement Cross-Functional Design Integration and DFMA for Optimized Component Architecture</a:t>
                      </a:r>
                    </a:p>
                  </a:txBody>
                  <a:tcPr/>
                </a:tc>
                <a:tc>
                  <a:txBody>
                    <a:bodyPr wrap="square"/>
                    <a:lstStyle/>
                    <a:p>
                      <a:pPr>
                        <a:defRPr sz="1000">
                          <a:latin typeface="Calibri"/>
                        </a:defRPr>
                      </a:pPr>
                      <a:r>
                        <a:t>Leverage early engagement of design and technical teams (as suggested by Snippet 1) through a robust Design for Manufacturability and Assembly (DFMA) program. Focus on standardizing interfaces, reducing part count by integrating multiple functions into single components, and optimizing manufacturing processes. For example, transition from complex, custom machined parts to a combination of optimized additive manufacturing (3D printing) for intricate geometries and standardized, high-volume manufacturing techniques (e.g., injection molding, stamping) for simpler sections, where applicable. This reduces tooling costs, assembly time, and material waste by improving communication between design and production teams. Source: [https://www.f1technical.net/forum/viewtopic.php?t=32104&amp;start=90]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Leverage early engagement of design and technical teams (as suggested by Snippet 1) through a robust Design for Manufacturability and Assembly (DFMA) program. Focus on standardizing interfaces, reducing part count by integrating multiple functions into single components, and optimizing manufacturing processes. For example, transition from complex, custom machined parts to a combination of optimized additive manufacturing (3D printing) for intricate geometries and standardized, high-volume manufacturing techniques (e.g., injection molding, stamping) for simpler sections, where applicable. This reduces tooling costs, assembly time, and material waste by improving communication between design and production teams. Source: [https://www.f1technical.net/forum/viewtopic.php?t=32104&amp;start=90]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WEB-GEN-02</a:t>
                      </a:r>
                    </a:p>
                  </a:txBody>
                  <a:tcPr/>
                </a:tc>
                <a:tc>
                  <a:txBody>
                    <a:bodyPr wrap="square"/>
                    <a:lstStyle/>
                    <a:p>
                      <a:pPr>
                        <a:defRPr sz="1000">
                          <a:latin typeface="Calibri"/>
                        </a:defRPr>
                      </a:pPr>
                      <a:r>
                        <a:t>Optimize Sensor System Architecture for Predictive Maintenance and Material Lifetime Extension</a:t>
                      </a:r>
                    </a:p>
                  </a:txBody>
                  <a:tcPr/>
                </a:tc>
                <a:tc>
                  <a:txBody>
                    <a:bodyPr wrap="square"/>
                    <a:lstStyle/>
                    <a:p>
                      <a:pPr>
                        <a:defRPr sz="1000">
                          <a:latin typeface="Calibri"/>
                        </a:defRPr>
                      </a:pPr>
                      <a:r>
                        <a:t>Analyze existing sensor implementations for technical sensitivity and necessity (Snippet 2) to identify opportunities for consolidation or upgrade. Replace multiple discrete sensors with single, multi-functional MEMS (Micro-Electro-Mechanical Systems) units where feasible, reducing part count, wiring harness complexity, and installation time. Develop and implement advanced algorithms based on sensor data for predictive maintenance, allowing for condition-based replacement of high-wear components rather than time-based, extending component lifespan and reducing material consumption and unplanned downtime costs. This also enables better adaptation to evolving technology (Snippet 3). Source: [https://www.f1technical.net/forum/viewtopic.php?t=32054&amp;start=7905]</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Analyze existing sensor implementations for technical sensitivity and necessity (Snippet 2) to identify opportunities for consolidation or upgrade. Replace multiple discrete sensors with single, multi-functional MEMS (Micro-Electro-Mechanical Systems) units where feasible, reducing part count, wiring harness complexity, and installation time. Develop and implement advanced algorithms based on sensor data for predictive maintenance, allowing for condition-based replacement of high-wear components rather than time-based, extending component lifespan and reducing material consumption and unplanned downtime costs. This also enables better adaptation to evolving technology (Snippet 3). Source: [https://www.f1technical.net/forum/viewtopic.php?t=32054&amp;start=7905]</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WEB-GEN-03</a:t>
                      </a:r>
                    </a:p>
                  </a:txBody>
                  <a:tcPr/>
                </a:tc>
                <a:tc>
                  <a:txBody>
                    <a:bodyPr wrap="square"/>
                    <a:lstStyle/>
                    <a:p>
                      <a:pPr>
                        <a:defRPr sz="1000">
                          <a:latin typeface="Calibri"/>
                        </a:defRPr>
                      </a:pPr>
                      <a:r>
                        <a:t>Adopt Modular Design Principles for Adaptable Component Upgrades and Reduced Redesign Costs</a:t>
                      </a:r>
                    </a:p>
                  </a:txBody>
                  <a:tcPr/>
                </a:tc>
                <a:tc>
                  <a:txBody>
                    <a:bodyPr wrap="square"/>
                    <a:lstStyle/>
                    <a:p>
                      <a:pPr>
                        <a:defRPr sz="1000">
                          <a:latin typeface="Calibri"/>
                        </a:defRPr>
                      </a:pPr>
                      <a:r>
                        <a:t>Implement modular design strategies for key sub-systems or components to facilitate easier adaptation to evolving technology and rules (Snippet 3). Design components with standardized interfaces and attachment points, allowing for quick interchangeability and phased upgrades without requiring a complete redesign of adjacent structures. For instance, design a universal mounting bracket for various iterations of a component (e.g., wing element, cooling duct), allowing for cheaper material and production costs for future modifications and reducing inventory of unique spare parts. This approach significantly lowers the cost associated with tooling and development for incremental changes. Source: [https://www.f1technical.net/forum/viewtopic.php?t=32051&amp;start=7050]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Implement modular design strategies for key sub-systems or components to facilitate easier adaptation to evolving technology and rules (Snippet 3). Design components with standardized interfaces and attachment points, allowing for quick interchangeability and phased upgrades without requiring a complete redesign of adjacent structures. For instance, design a universal mounting bracket for various iterations of a component (e.g., wing element, cooling duct), allowing for cheaper material and production costs for future modifications and reducing inventory of unique spare parts. This approach significantly lowers the cost associated with tooling and development for incremental changes. Source: [https://www.f1technical.net/forum/viewtopic.php?t=32051&amp;start=7050]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10</a:t>
            </a:r>
          </a:p>
          <a:p>
            <a:pPr>
              <a:defRPr sz="1000">
                <a:latin typeface="Calibri"/>
              </a:defRPr>
            </a:pPr>
            <a:r>
              <a:t>• Total Potential Savings: INR 41.00</a:t>
            </a:r>
          </a:p>
          <a:p>
            <a:pPr>
              <a:defRPr sz="1000">
                <a:latin typeface="Calibri"/>
              </a:defRPr>
            </a:pPr>
            <a:r>
              <a:t>• Implemented Ideas: 0</a:t>
            </a:r>
          </a:p>
          <a:p>
            <a:pPr>
              <a:defRPr sz="1000">
                <a:latin typeface="Calibri"/>
              </a:defRPr>
            </a:pPr>
            <a:r>
              <a:t>• Status OK: 1</a:t>
            </a:r>
          </a:p>
          <a:p>
            <a:pPr>
              <a:defRPr sz="1000">
                <a:latin typeface="Calibri"/>
              </a:defRPr>
            </a:pPr>
            <a:r>
              <a:t>• Status TBD: 0</a:t>
            </a:r>
          </a:p>
          <a:p>
            <a:pPr>
              <a:defRPr sz="1000">
                <a:latin typeface="Calibri"/>
              </a:defRPr>
            </a:pPr>
            <a:r>
              <a:t>• Status NG: 0</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10 ideas analyzed.</a:t>
            </a:r>
          </a:p>
          <a:p>
            <a:pPr>
              <a:defRPr sz="1800">
                <a:latin typeface="Calibri"/>
              </a:defRPr>
            </a:pPr>
            <a:r>
              <a:t>Total Savings: INR 41.00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
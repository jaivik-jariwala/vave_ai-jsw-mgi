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Sheet1!$A$2:$A$14</c:f>
              <c:strCache>
                <c:ptCount val="13"/>
                <c:pt idx="0">
                  <c:v>2311-EL-ID-18</c:v>
                </c:pt>
                <c:pt idx="1">
                  <c:v>2311-EL-ID-06</c:v>
                </c:pt>
                <c:pt idx="2">
                  <c:v>2311-IT-ID-19</c:v>
                </c:pt>
                <c:pt idx="3">
                  <c:v>2311-PRODUCT-ID-24</c:v>
                </c:pt>
                <c:pt idx="4">
                  <c:v>2311-PRODUCT-ID-01</c:v>
                </c:pt>
                <c:pt idx="5">
                  <c:v>AI-GEN-01</c:v>
                </c:pt>
                <c:pt idx="6">
                  <c:v>AI-GEN-02</c:v>
                </c:pt>
                <c:pt idx="7">
                  <c:v>AI-GEN-03</c:v>
                </c:pt>
                <c:pt idx="8">
                  <c:v>AI-GEN-04</c:v>
                </c:pt>
                <c:pt idx="9">
                  <c:v>AI-GEN-05</c:v>
                </c:pt>
                <c:pt idx="10">
                  <c:v>AI-GEN-06</c:v>
                </c:pt>
                <c:pt idx="11">
                  <c:v>WEB-GEN-01</c:v>
                </c:pt>
                <c:pt idx="12">
                  <c:v>WEB-GEN-02</c:v>
                </c:pt>
              </c:strCache>
            </c:strRef>
          </c:cat>
          <c:val>
            <c:numRef>
              <c:f>Sheet1!$B$2:$B$14</c:f>
              <c:numCache>
                <c:formatCode>General</c:formatCode>
                <c:ptCount val="13"/>
                <c:pt idx="0">
                  <c:v>42.0</c:v>
                </c:pt>
                <c:pt idx="1">
                  <c:v>126.0</c:v>
                </c:pt>
                <c:pt idx="2">
                  <c:v>56.0</c:v>
                </c:pt>
                <c:pt idx="3">
                  <c:v>64.0</c:v>
                </c:pt>
                <c:pt idx="4">
                  <c:v>68.0</c:v>
                </c:pt>
                <c:pt idx="5">
                  <c:v>0</c:v>
                </c:pt>
                <c:pt idx="6">
                  <c:v>0</c:v>
                </c:pt>
                <c:pt idx="7">
                  <c:v>0</c:v>
                </c:pt>
                <c:pt idx="8">
                  <c:v>0</c:v>
                </c:pt>
                <c:pt idx="9">
                  <c:v>0</c:v>
                </c:pt>
                <c:pt idx="10">
                  <c:v>0</c:v>
                </c:pt>
                <c:pt idx="11">
                  <c:v>0</c:v>
                </c:pt>
                <c:pt idx="12">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0</c:v>
                </c:pt>
                <c:pt idx="2">
                  <c:v>1</c:v>
                </c:pt>
                <c:pt idx="3">
                  <c:v>3</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2311-EL-ID-18</a:t>
                      </a:r>
                    </a:p>
                  </a:txBody>
                  <a:tcPr/>
                </a:tc>
                <a:tc>
                  <a:txBody>
                    <a:bodyPr wrap="square"/>
                    <a:lstStyle/>
                    <a:p>
                      <a:pPr>
                        <a:defRPr sz="1000">
                          <a:latin typeface="Calibri"/>
                        </a:defRPr>
                      </a:pPr>
                      <a:r>
                        <a:t>Replace the Auto Headlamp Photodiode Sensor used in MGI with the one used in KIA.</a:t>
                      </a:r>
                    </a:p>
                  </a:txBody>
                  <a:tcPr/>
                </a:tc>
                <a:tc>
                  <a:txBody>
                    <a:bodyPr wrap="square"/>
                    <a:lstStyle/>
                    <a:p>
                      <a:pPr>
                        <a:defRPr sz="1000">
                          <a:latin typeface="Calibri"/>
                        </a:defRPr>
                      </a:pPr>
                      <a:r>
                        <a:t>nan</a:t>
                      </a:r>
                    </a:p>
                  </a:txBody>
                  <a:tcPr/>
                </a:tc>
                <a:tc>
                  <a:txBody>
                    <a:bodyPr wrap="square"/>
                    <a:lstStyle/>
                    <a:p>
                      <a:pPr>
                        <a:defRPr sz="1000">
                          <a:latin typeface="Calibri"/>
                        </a:defRPr>
                      </a:pPr>
                      <a:r>
                        <a:t>INR 42.0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2311-EL-ID-06</a:t>
                      </a:r>
                    </a:p>
                  </a:txBody>
                  <a:tcPr/>
                </a:tc>
                <a:tc>
                  <a:txBody>
                    <a:bodyPr wrap="square"/>
                    <a:lstStyle/>
                    <a:p>
                      <a:pPr>
                        <a:defRPr sz="1000">
                          <a:latin typeface="Calibri"/>
                        </a:defRPr>
                      </a:pPr>
                      <a:r>
                        <a:t>Replace PP-T30 used in the manufacture of the LH and RH Headlamp Housings of MGI with PP-TD20 as used in KIA</a:t>
                      </a:r>
                    </a:p>
                  </a:txBody>
                  <a:tcPr/>
                </a:tc>
                <a:tc>
                  <a:txBody>
                    <a:bodyPr wrap="square"/>
                    <a:lstStyle/>
                    <a:p>
                      <a:pPr>
                        <a:defRPr sz="1000">
                          <a:latin typeface="Calibri"/>
                        </a:defRPr>
                      </a:pPr>
                      <a:r>
                        <a:t>nan</a:t>
                      </a:r>
                    </a:p>
                  </a:txBody>
                  <a:tcPr/>
                </a:tc>
                <a:tc>
                  <a:txBody>
                    <a:bodyPr wrap="square"/>
                    <a:lstStyle/>
                    <a:p>
                      <a:pPr>
                        <a:defRPr sz="1000">
                          <a:latin typeface="Calibri"/>
                        </a:defRPr>
                      </a:pPr>
                      <a:r>
                        <a:t>INR 126.0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2311-IT-ID-19</a:t>
                      </a:r>
                    </a:p>
                  </a:txBody>
                  <a:tcPr/>
                </a:tc>
                <a:tc>
                  <a:txBody>
                    <a:bodyPr wrap="square"/>
                    <a:lstStyle/>
                    <a:p>
                      <a:pPr>
                        <a:defRPr sz="1000">
                          <a:latin typeface="Calibri"/>
                        </a:defRPr>
                      </a:pPr>
                      <a:r>
                        <a:t>Process Deletion,</a:t>
                      </a:r>
                    </a:p>
                    <a:p>
                      <a:pPr>
                        <a:defRPr sz="1000">
                          <a:latin typeface="Calibri"/>
                        </a:defRPr>
                      </a:pPr>
                      <a:r>
                        <a:t>Remove the Anodizing done on the LH &amp; RH Sunroof Guide Rails in MGI</a:t>
                      </a:r>
                    </a:p>
                  </a:txBody>
                  <a:tcPr/>
                </a:tc>
                <a:tc>
                  <a:txBody>
                    <a:bodyPr wrap="square"/>
                    <a:lstStyle/>
                    <a:p>
                      <a:pPr>
                        <a:defRPr sz="1000">
                          <a:latin typeface="Calibri"/>
                        </a:defRPr>
                      </a:pPr>
                      <a:r>
                        <a:t>Homeroom ideas to be bunched up and taken up for implementation at program level</a:t>
                      </a:r>
                    </a:p>
                    <a:p>
                      <a:pPr>
                        <a:defRPr sz="1000">
                          <a:latin typeface="Calibri"/>
                        </a:defRPr>
                      </a:pPr>
                    </a:p>
                  </a:txBody>
                  <a:tcPr/>
                </a:tc>
                <a:tc>
                  <a:txBody>
                    <a:bodyPr wrap="square"/>
                    <a:lstStyle/>
                    <a:p>
                      <a:pPr>
                        <a:defRPr sz="1000">
                          <a:latin typeface="Calibri"/>
                        </a:defRPr>
                      </a:pPr>
                      <a:r>
                        <a:t>INR 56.0</a:t>
                      </a:r>
                    </a:p>
                  </a:txBody>
                  <a:tcPr/>
                </a:tc>
                <a:tc>
                  <a:txBody>
                    <a:bodyPr wrap="square"/>
                    <a:lstStyle/>
                    <a:p>
                      <a:pPr>
                        <a:defRPr sz="1000">
                          <a:latin typeface="Calibri"/>
                        </a:defRPr>
                      </a:pPr>
                      <a:r>
                        <a:t>Hold</a:t>
                      </a:r>
                    </a:p>
                  </a:txBody>
                  <a:tcPr/>
                </a:tc>
                <a:tc>
                  <a:txBody>
                    <a:bodyPr wrap="square"/>
                    <a:lstStyle/>
                    <a:p>
                      <a:pPr>
                        <a:defRPr sz="1000">
                          <a:latin typeface="Calibri"/>
                        </a:defRPr>
                      </a:pPr>
                      <a:r>
                        <a:t>Homeroom ideas to be bunched up and taken up for implementation at program level</a:t>
                      </a:r>
                    </a:p>
                    <a:p>
                      <a:pPr>
                        <a:defRPr sz="1000">
                          <a:latin typeface="Calibri"/>
                        </a:defRPr>
                      </a:pPr>
                    </a:p>
                  </a:txBody>
                  <a:tcPr/>
                </a:tc>
                <a:tc>
                  <a:txBody>
                    <a:bodyPr wrap="square"/>
                    <a:lstStyle/>
                    <a:p>
                      <a:pPr>
                        <a:defRPr sz="1000">
                          <a:latin typeface="Calibri"/>
                        </a:defRPr>
                      </a:pPr>
                      <a:r>
                        <a:t>Manish Jaju</a:t>
                      </a:r>
                    </a:p>
                  </a:txBody>
                  <a:tcPr/>
                </a:tc>
                <a:tc>
                  <a:txBody>
                    <a:bodyPr wrap="square"/>
                    <a:lstStyle/>
                    <a:p>
                      <a:pPr>
                        <a:defRPr sz="1000">
                          <a:latin typeface="Calibri"/>
                        </a:defRPr>
                      </a:pPr>
                      <a:r>
                        <a:t>2024-02-20 00:00:00</a:t>
                      </a:r>
                    </a:p>
                  </a:txBody>
                  <a:tcPr/>
                </a:tc>
              </a:tr>
              <a:tr h="320040">
                <a:tc>
                  <a:txBody>
                    <a:bodyPr wrap="square"/>
                    <a:lstStyle/>
                    <a:p>
                      <a:pPr>
                        <a:defRPr sz="1000">
                          <a:latin typeface="Calibri"/>
                        </a:defRPr>
                      </a:pPr>
                      <a:r>
                        <a:t>2311-PRODUCT-ID-24</a:t>
                      </a:r>
                    </a:p>
                  </a:txBody>
                  <a:tcPr/>
                </a:tc>
                <a:tc>
                  <a:txBody>
                    <a:bodyPr wrap="square"/>
                    <a:lstStyle/>
                    <a:p>
                      <a:pPr>
                        <a:defRPr sz="1000">
                          <a:latin typeface="Calibri"/>
                        </a:defRPr>
                      </a:pPr>
                      <a:r>
                        <a:t>Eliminate the hooks from the receptacle trims found on the RH side of the headrest assemblies reducing the overall length from 53.3mm to 40mm</a:t>
                      </a:r>
                    </a:p>
                  </a:txBody>
                  <a:tcPr/>
                </a:tc>
                <a:tc>
                  <a:txBody>
                    <a:bodyPr wrap="square"/>
                    <a:lstStyle/>
                    <a:p>
                      <a:pPr>
                        <a:defRPr sz="1000">
                          <a:latin typeface="Calibri"/>
                        </a:defRPr>
                      </a:pPr>
                      <a:r>
                        <a:t>nan</a:t>
                      </a:r>
                    </a:p>
                  </a:txBody>
                  <a:tcPr/>
                </a:tc>
                <a:tc>
                  <a:txBody>
                    <a:bodyPr wrap="square"/>
                    <a:lstStyle/>
                    <a:p>
                      <a:pPr>
                        <a:defRPr sz="1000">
                          <a:latin typeface="Calibri"/>
                        </a:defRPr>
                      </a:pPr>
                      <a:r>
                        <a:t>INR 64.0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2311-PRODUCT-ID-01</a:t>
                      </a:r>
                    </a:p>
                  </a:txBody>
                  <a:tcPr/>
                </a:tc>
                <a:tc>
                  <a:txBody>
                    <a:bodyPr wrap="square"/>
                    <a:lstStyle/>
                    <a:p>
                      <a:pPr>
                        <a:defRPr sz="1000">
                          <a:latin typeface="Calibri"/>
                        </a:defRPr>
                      </a:pPr>
                      <a:r>
                        <a:t>Replace the dual LED lamps used for rear license plate illumination with a pair of single LED lamps.</a:t>
                      </a:r>
                    </a:p>
                  </a:txBody>
                  <a:tcPr/>
                </a:tc>
                <a:tc>
                  <a:txBody>
                    <a:bodyPr wrap="square"/>
                    <a:lstStyle/>
                    <a:p>
                      <a:pPr>
                        <a:defRPr sz="1000">
                          <a:latin typeface="Calibri"/>
                        </a:defRPr>
                      </a:pPr>
                      <a:r>
                        <a:t>Homeroom ideas to be bunched up and taken up for implementation at program level</a:t>
                      </a:r>
                    </a:p>
                    <a:p>
                      <a:pPr>
                        <a:defRPr sz="1000">
                          <a:latin typeface="Calibri"/>
                        </a:defRPr>
                      </a:pPr>
                    </a:p>
                  </a:txBody>
                  <a:tcPr/>
                </a:tc>
                <a:tc>
                  <a:txBody>
                    <a:bodyPr wrap="square"/>
                    <a:lstStyle/>
                    <a:p>
                      <a:pPr>
                        <a:defRPr sz="1000">
                          <a:latin typeface="Calibri"/>
                        </a:defRPr>
                      </a:pPr>
                      <a:r>
                        <a:t>INR 68.0</a:t>
                      </a:r>
                    </a:p>
                  </a:txBody>
                  <a:tcPr/>
                </a:tc>
                <a:tc>
                  <a:txBody>
                    <a:bodyPr wrap="square"/>
                    <a:lstStyle/>
                    <a:p>
                      <a:pPr>
                        <a:defRPr sz="1000">
                          <a:latin typeface="Calibri"/>
                        </a:defRPr>
                      </a:pPr>
                      <a:r>
                        <a:t>NG</a:t>
                      </a:r>
                    </a:p>
                  </a:txBody>
                  <a:tcPr/>
                </a:tc>
                <a:tc>
                  <a:txBody>
                    <a:bodyPr wrap="square"/>
                    <a:lstStyle/>
                    <a:p>
                      <a:pPr>
                        <a:defRPr sz="1000">
                          <a:latin typeface="Calibri"/>
                        </a:defRPr>
                      </a:pPr>
                      <a:r>
                        <a:t>Homeroom ideas to be bunched up and taken up for implementation at program level</a:t>
                      </a:r>
                    </a:p>
                    <a:p>
                      <a:pPr>
                        <a:defRPr sz="1000">
                          <a:latin typeface="Calibri"/>
                        </a:defRPr>
                      </a:pPr>
                    </a:p>
                  </a:txBody>
                  <a:tcPr/>
                </a:tc>
                <a:tc>
                  <a:txBody>
                    <a:bodyPr wrap="square"/>
                    <a:lstStyle/>
                    <a:p>
                      <a:pPr>
                        <a:defRPr sz="1000">
                          <a:latin typeface="Calibri"/>
                        </a:defRPr>
                      </a:pPr>
                      <a:r>
                        <a:t>Ojaswini</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Transition from a multi-piece stamped steel outer shell for the MG Hector's tail lamp assembly to a single-piece, injection-molded polycarbonate or PMMA component, integrating mounting points and sealing features.</a:t>
                      </a:r>
                    </a:p>
                  </a:txBody>
                  <a:tcPr/>
                </a:tc>
                <a:tc>
                  <a:txBody>
                    <a:bodyPr wrap="square"/>
                    <a:lstStyle/>
                    <a:p>
                      <a:pPr>
                        <a:defRPr sz="1000">
                          <a:latin typeface="Calibri"/>
                        </a:defRPr>
                      </a:pPr>
                      <a:r>
                        <a:t>The current stamped steel outer shell requires multiple forming operations, welding, and separate sealing elements. A single-piece polymer molding can consolidate these functions, reduce part count, and eliminate welding costs. The physics involved are polymer flow dynamics during injection molding, material selection for optical clarity, UV resistance, and impact strength (e.g., polycarbonate's high impact resistance vs. PMMA's superior scratch resistance). Validation will involve material testing for environmental durability (UV, thermal cycling), impact testing (e.g., drop tests, stone chip resistance), and optical performance analysis (light transmission, uniformity). Finite Element Analysis (FEA) will be used to ensure structural integrity under vibration and load conditions. Cost savings will be derived from reduced material usage (steel vs. polymer), elimination of welding processes, and simplified assembly.</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current stamped steel outer shell requires multiple forming operations, welding, and separate sealing elements. A single-piece polymer molding can consolidate these functions, reduce part count, and eliminate welding costs. The physics involved are polymer flow dynamics during injection molding, material selection for optical clarity, UV resistance, and impact strength (e.g., polycarbonate's high impact resistance vs. PMMA's superior scratch resistance). Validation will involve material testing for environmental durability (UV, thermal cycling), impact testing (e.g., drop tests, stone chip resistance), and optical performance analysis (light transmission, uniformity). Finite Element Analysis (FEA) will be used to ensure structural integrity under vibration and load conditions. Cost savings will be derived from reduced material usage (steel vs. polymer), elimination of welding processes, and simplified assembly.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Replace the existing incandescent bulb technology for brake and turn signal functions within the MG Hector tail lamps with high-density, low-power LED arrays, utilizing a common printed circuit board (PCB) for all illumination functions.</a:t>
                      </a:r>
                    </a:p>
                  </a:txBody>
                  <a:tcPr/>
                </a:tc>
                <a:tc>
                  <a:txBody>
                    <a:bodyPr wrap="square"/>
                    <a:lstStyle/>
                    <a:p>
                      <a:pPr>
                        <a:defRPr sz="1000">
                          <a:latin typeface="Calibri"/>
                        </a:defRPr>
                      </a:pPr>
                      <a:r>
                        <a:t>Incandescent bulbs have high energy consumption, shorter lifespans, and require separate bulb holders and wiring harnesses. LEDs offer significantly lower power draw, longer life, and can be directly integrated onto a single PCB, reducing complexity and part count. The underlying principle is solid-state lighting, where electroluminescence in semiconductor materials generates light. This eliminates filament failure and thermal stress associated with incandescent bulbs. Validation will focus on LED lumen output and color consistency across temperature ranges, thermal management of the LED array to prevent premature degradation (using heat sinks or thermal vias on the PCB), vibration and shock testing to ensure reliability, and electrical safety compliance. The PCB will be designed for automated assembly, further reducing manufacturing costs.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Incandescent bulbs have high energy consumption, shorter lifespans, and require separate bulb holders and wiring harnesses. LEDs offer significantly lower power draw, longer life, and can be directly integrated onto a single PCB, reducing complexity and part count. The underlying principle is solid-state lighting, where electroluminescence in semiconductor materials generates light. This eliminates filament failure and thermal stress associated with incandescent bulbs. Validation will focus on LED lumen output and color consistency across temperature ranges, thermal management of the LED array to prevent premature degradation (using heat sinks or thermal vias on the PCB), vibration and shock testing to ensure reliability, and electrical safety compliance. The PCB will be designed for automated assembly, further reducing manufacturing costs.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Integrate the license plate illumination function directly into the main tail lamp housing structure, eliminating the need for a separate, externally mounted license plate lamp module.</a:t>
                      </a:r>
                    </a:p>
                  </a:txBody>
                  <a:tcPr/>
                </a:tc>
                <a:tc>
                  <a:txBody>
                    <a:bodyPr wrap="square"/>
                    <a:lstStyle/>
                    <a:p>
                      <a:pPr>
                        <a:defRPr sz="1000">
                          <a:latin typeface="Calibri"/>
                        </a:defRPr>
                      </a:pPr>
                      <a:r>
                        <a:t>Currently, a separate lamp module is attached to the rear of the vehicle to illuminate the license plate. This adds part cost, assembly time, and potential points of failure (e.g., water ingress). By designing the tail lamp housing with an integrated light pipe or strategically placed LEDs that direct light onto the license plate, this separate component can be eliminated. The physics involves optical design principles, specifically light diffusion and reflection, to ensure uniform illumination of the license plate without glare. Validation will involve photometric testing to meet regulatory requirements for license plate illumination intensity and uniformity, as well as ingress protection (IP) testing to ensure the integrated solution is sealed against dust and water. Material selection for the light pipe will consider UV stability and light transmission efficiency.</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Currently, a separate lamp module is attached to the rear of the vehicle to illuminate the license plate. This adds part cost, assembly time, and potential points of failure (e.g., water ingress). By designing the tail lamp housing with an integrated light pipe or strategically placed LEDs that direct light onto the license plate, this separate component can be eliminated. The physics involves optical design principles, specifically light diffusion and reflection, to ensure uniform illumination of the license plate without glare. Validation will involve photometric testing to meet regulatory requirements for license plate illumination intensity and uniformity, as well as ingress protection (IP) testing to ensure the integrated solution is sealed against dust and water. Material selection for the light pipe will consider UV stability and light transmission efficiency.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Simplify the internal reflector design within the MG Hector tail lamps by transitioning from a complex, multi-surface vacuum-metalized plastic reflector to a single, optimized parabolic or complex freeform surface achieved through direct injection molding of a highly reflective polymer or a pre-coated insert.</a:t>
                      </a:r>
                    </a:p>
                  </a:txBody>
                  <a:tcPr/>
                </a:tc>
                <a:tc>
                  <a:txBody>
                    <a:bodyPr wrap="square"/>
                    <a:lstStyle/>
                    <a:p>
                      <a:pPr>
                        <a:defRPr sz="1000">
                          <a:latin typeface="Calibri"/>
                        </a:defRPr>
                      </a:pPr>
                      <a:r>
                        <a:t>Traditional reflectors often involve multiple molding steps and a separate vacuum metallization process, which is energy-intensive and can have variability. A single-piece molded reflector, potentially using a high-spec reflective polymer or a thin-film coating applied during molding, can reduce process steps and material waste. The physics of light reflection dictates the shape and surface finish required for efficient light distribution. Optimization of the reflector geometry using optical simulation software (e.g., ZEMAX) will ensure compliance with photometric regulations for light distribution. Validation will include surface roughness measurements, reflectivity testing, and photometric performance validation on prototype assemblies. FEA will also be used to confirm dimensional stability under thermal cycling.</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Traditional reflectors often involve multiple molding steps and a separate vacuum metallization process, which is energy-intensive and can have variability. A single-piece molded reflector, potentially using a high-spec reflective polymer or a thin-film coating applied during molding, can reduce process steps and material waste. The physics of light reflection dictates the shape and surface finish required for efficient light distribution. Optimization of the reflector geometry using optical simulation software (e.g., ZEMAX) will ensure compliance with photometric regulations for light distribution. Validation will include surface roughness measurements, reflectivity testing, and photometric performance validation on prototype assemblies. FEA will also be used to confirm dimensional stability under thermal cycling.</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Consolidate the wiring harness connections for the tail lamp assembly by utilizing a single, multi-pin, weather-sealed connector that integrates all power and signal inputs, eliminating individual wire splices and smaller connectors.</a:t>
                      </a:r>
                    </a:p>
                  </a:txBody>
                  <a:tcPr/>
                </a:tc>
                <a:tc>
                  <a:txBody>
                    <a:bodyPr wrap="square"/>
                    <a:lstStyle/>
                    <a:p>
                      <a:pPr>
                        <a:defRPr sz="1000">
                          <a:latin typeface="Calibri"/>
                        </a:defRPr>
                      </a:pPr>
                      <a:r>
                        <a:t>Current tail lamp assemblies may use multiple small connectors and splices for various functions (turn, brake, reverse, tail). Consolidating these into a single, robust, multi-pin connector simplifies assembly, reduces the potential for incorrect connections, and improves overall reliability by minimizing points of failure and water ingress. The design of the connector must consider current carrying capacity for all functions, vibration resistance, and sealing capabilities (e.g., IP67 rating). Validation will involve connector mating/unmating cycle testing, vibration testing, thermal shock testing, and electrical continuity and insulation resistance checks. Current carrying capacity testing will ensure the connector can handle the peak load without overheating. This reduces labor costs in harness assembly and vehicle assembly.</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Current tail lamp assemblies may use multiple small connectors and splices for various functions (turn, brake, reverse, tail). Consolidating these into a single, robust, multi-pin connector simplifies assembly, reduces the potential for incorrect connections, and improves overall reliability by minimizing points of failure and water ingress. The design of the connector must consider current carrying capacity for all functions, vibration resistance, and sealing capabilities (e.g., IP67 rating). Validation will involve connector mating/unmating cycle testing, vibration testing, thermal shock testing, and electrical continuity and insulation resistance checks. Current carrying capacity testing will ensure the connector can handle the peak load without overheating. This reduces labor costs in harness assembly and vehicle assembly.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3)</a:t>
            </a:r>
          </a:p>
        </p:txBody>
      </p:sp>
      <p:graphicFrame>
        <p:nvGraphicFramePr>
          <p:cNvPr id="3" name="Table 2"/>
          <p:cNvGraphicFramePr>
            <a:graphicFrameLocks noGrp="1"/>
          </p:cNvGraphicFramePr>
          <p:nvPr/>
        </p:nvGraphicFramePr>
        <p:xfrm>
          <a:off x="182880" y="640080"/>
          <a:ext cx="8778240" cy="244602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14859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Replace the current rubber or foam gasket material used for sealing the tail lamp assembly to the vehicle body with an integrated, co-molded elastomeric seal directly onto the tail lamp housing during the injection molding process.</a:t>
                      </a:r>
                    </a:p>
                  </a:txBody>
                  <a:tcPr/>
                </a:tc>
                <a:tc>
                  <a:txBody>
                    <a:bodyPr wrap="square"/>
                    <a:lstStyle/>
                    <a:p>
                      <a:pPr>
                        <a:defRPr sz="1000">
                          <a:latin typeface="Calibri"/>
                        </a:defRPr>
                      </a:pPr>
                      <a:r>
                        <a:t>Separate gaskets add material cost, require a separate assembly step, and can be prone to misalignment or damage during installation. Co-molding a seal directly onto the housing leverages existing molding processes to create a unified, perfectly positioned seal. The physics involves understanding the adhesion between the base polymer of the housing and the co-molded elastomer, ensuring sufficient compression set resistance and chemical compatibility with automotive fluids. Material selection will focus on EPDM or similar weather-resistant elastomers. Validation will include peel strength testing of the co-molded seal, compression set testing under thermal cycling and load, and water ingress testing (e.g., high-pressure wash tests) to confirm sealing performance. This eliminates a separate part and its associated assembly labor.</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Separate gaskets add material cost, require a separate assembly step, and can be prone to misalignment or damage during installation. Co-molding a seal directly onto the housing leverages existing molding processes to create a unified, perfectly positioned seal. The physics involves understanding the adhesion between the base polymer of the housing and the co-molded elastomer, ensuring sufficient compression set resistance and chemical compatibility with automotive fluids. Material selection will focus on EPDM or similar weather-resistant elastomers. Validation will include peel strength testing of the co-molded seal, compression set testing under thermal cycling and load, and water ingress testing (e.g., high-pressure wash tests) to confirm sealing performance. This eliminates a separate part and its associated assembly labor.</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WEB-GEN-01</a:t>
                      </a:r>
                    </a:p>
                  </a:txBody>
                  <a:tcPr/>
                </a:tc>
                <a:tc>
                  <a:txBody>
                    <a:bodyPr wrap="square"/>
                    <a:lstStyle/>
                    <a:p>
                      <a:pPr>
                        <a:defRPr sz="1000">
                          <a:latin typeface="Calibri"/>
                        </a:defRPr>
                      </a:pPr>
                      <a:r>
                        <a:t>Streamline design and technical team collaboration for efficiency.</a:t>
                      </a:r>
                    </a:p>
                  </a:txBody>
                  <a:tcPr/>
                </a:tc>
                <a:tc>
                  <a:txBody>
                    <a:bodyPr wrap="square"/>
                    <a:lstStyle/>
                    <a:p>
                      <a:pPr>
                        <a:defRPr sz="1000">
                          <a:latin typeface="Calibri"/>
                        </a:defRPr>
                      </a:pPr>
                      <a:r>
                        <a:t>Implement cross-functional workshops and integrated project management tools to foster better communication and understanding between design and technical teams. This aims to reduce design iterations, rework, and potential delays, leading to cost savings. Source: https://www.f1technical.net/forum/viewtopic.php?t=32104&amp;start=90</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Implement cross-functional workshops and integrated project management tools to foster better communication and understanding between design and technical teams. This aims to reduce design iterations, rework, and potential delays, leading to cost savings. Source: https://www.f1technical.net/forum/viewtopic.php?t=32104&amp;start=90</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WEB-GEN-02</a:t>
                      </a:r>
                    </a:p>
                  </a:txBody>
                  <a:tcPr/>
                </a:tc>
                <a:tc>
                  <a:txBody>
                    <a:bodyPr wrap="square"/>
                    <a:lstStyle/>
                    <a:p>
                      <a:pPr>
                        <a:defRPr sz="1000">
                          <a:latin typeface="Calibri"/>
                        </a:defRPr>
                      </a:pPr>
                      <a:r>
                        <a:t>Optimize aerodynamic configurations for different track types.</a:t>
                      </a:r>
                    </a:p>
                  </a:txBody>
                  <a:tcPr/>
                </a:tc>
                <a:tc>
                  <a:txBody>
                    <a:bodyPr wrap="square"/>
                    <a:lstStyle/>
                    <a:p>
                      <a:pPr>
                        <a:defRPr sz="1000">
                          <a:latin typeface="Calibri"/>
                        </a:defRPr>
                      </a:pPr>
                      <a:r>
                        <a:t>Conduct detailed CFD analysis and wind tunnel testing to develop adaptable aerodynamic packages that can be efficiently reconfigured for low, medium, and high downforce circuits. This would reduce the need for multiple, specialized wing assemblies and components, leading to material and manufacturing cost savings. Source: https://www.f1technical.net/forum/viewtopic.php?t=32054&amp;start=8220</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Conduct detailed CFD analysis and wind tunnel testing to develop adaptable aerodynamic packages that can be efficiently reconfigured for low, medium, and high downforce circuits. This would reduce the need for multiple, specialized wing assemblies and components, leading to material and manufacturing cost savings. Source: https://www.f1technical.net/forum/viewtopic.php?t=32054&amp;start=8220</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13</a:t>
            </a:r>
          </a:p>
          <a:p>
            <a:pPr>
              <a:defRPr sz="1000">
                <a:latin typeface="Calibri"/>
              </a:defRPr>
            </a:pPr>
            <a:r>
              <a:t>• Total Potential Savings: INR 356.00</a:t>
            </a:r>
          </a:p>
          <a:p>
            <a:pPr>
              <a:defRPr sz="1000">
                <a:latin typeface="Calibri"/>
              </a:defRPr>
            </a:pPr>
            <a:r>
              <a:t>• Implemented Ideas: 0</a:t>
            </a:r>
          </a:p>
          <a:p>
            <a:pPr>
              <a:defRPr sz="1000">
                <a:latin typeface="Calibri"/>
              </a:defRPr>
            </a:pPr>
            <a:r>
              <a:t>• Status OK: 0</a:t>
            </a:r>
          </a:p>
          <a:p>
            <a:pPr>
              <a:defRPr sz="1000">
                <a:latin typeface="Calibri"/>
              </a:defRPr>
            </a:pPr>
            <a:r>
              <a:t>• Status TBD: 1</a:t>
            </a:r>
          </a:p>
          <a:p>
            <a:pPr>
              <a:defRPr sz="1000">
                <a:latin typeface="Calibri"/>
              </a:defRPr>
            </a:pPr>
            <a:r>
              <a:t>• Status NG: 3</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13 ideas analyzed.</a:t>
            </a:r>
          </a:p>
          <a:p>
            <a:pPr>
              <a:defRPr sz="1800">
                <a:latin typeface="Calibri"/>
              </a:defRPr>
            </a:pPr>
            <a:r>
              <a:t>Total Savings: INR 356.00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
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Sheet1!$A$2:$A$15</c:f>
              <c:strCache>
                <c:ptCount val="14"/>
                <c:pt idx="0">
                  <c:v>2311-EL-ID-14</c:v>
                </c:pt>
                <c:pt idx="1">
                  <c:v>2311-EL-ID-01</c:v>
                </c:pt>
                <c:pt idx="2">
                  <c:v>2311-SS-ID-02</c:v>
                </c:pt>
                <c:pt idx="3">
                  <c:v>2311-SS-ID-07</c:v>
                </c:pt>
                <c:pt idx="4">
                  <c:v>2311-DA-ID-11</c:v>
                </c:pt>
                <c:pt idx="5">
                  <c:v>AI-GEN-01</c:v>
                </c:pt>
                <c:pt idx="6">
                  <c:v>AI-GEN-02</c:v>
                </c:pt>
                <c:pt idx="7">
                  <c:v>AI-GEN-03</c:v>
                </c:pt>
                <c:pt idx="8">
                  <c:v>AI-GEN-04</c:v>
                </c:pt>
                <c:pt idx="9">
                  <c:v>AI-GEN-05</c:v>
                </c:pt>
                <c:pt idx="10">
                  <c:v>AI-GEN-06</c:v>
                </c:pt>
                <c:pt idx="11">
                  <c:v>WEB-GEN-01</c:v>
                </c:pt>
                <c:pt idx="12">
                  <c:v>WEB-GEN-02</c:v>
                </c:pt>
                <c:pt idx="13">
                  <c:v>WEB-GEN-03</c:v>
                </c:pt>
              </c:strCache>
            </c:strRef>
          </c:cat>
          <c:val>
            <c:numRef>
              <c:f>Sheet1!$B$2:$B$15</c:f>
              <c:numCache>
                <c:formatCode>General</c:formatCode>
                <c:ptCount val="14"/>
                <c:pt idx="0">
                  <c:v>68.0</c:v>
                </c:pt>
                <c:pt idx="1">
                  <c:v>142.0</c:v>
                </c:pt>
                <c:pt idx="2">
                  <c:v>74.0</c:v>
                </c:pt>
                <c:pt idx="3">
                  <c:v>62.0</c:v>
                </c:pt>
                <c:pt idx="4">
                  <c:v>79.0</c:v>
                </c:pt>
                <c:pt idx="5">
                  <c:v>0</c:v>
                </c:pt>
                <c:pt idx="6">
                  <c:v>0</c:v>
                </c:pt>
                <c:pt idx="7">
                  <c:v>0</c:v>
                </c:pt>
                <c:pt idx="8">
                  <c:v>0</c:v>
                </c:pt>
                <c:pt idx="9">
                  <c:v>0</c:v>
                </c:pt>
                <c:pt idx="10">
                  <c:v>0</c:v>
                </c:pt>
                <c:pt idx="11">
                  <c:v>0</c:v>
                </c:pt>
                <c:pt idx="12">
                  <c:v>0</c:v>
                </c:pt>
                <c:pt idx="13">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5</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2311-EL-ID-14</a:t>
                      </a:r>
                    </a:p>
                  </a:txBody>
                  <a:tcPr/>
                </a:tc>
                <a:tc>
                  <a:txBody>
                    <a:bodyPr wrap="square"/>
                    <a:lstStyle/>
                    <a:p>
                      <a:pPr>
                        <a:defRPr sz="1000">
                          <a:latin typeface="Calibri"/>
                        </a:defRPr>
                      </a:pPr>
                      <a:r>
                        <a:t>Replace PC used in the manufacture of the LH &amp; RH Rear Tail Lamps, Rear Center Light Bar and Rear Fog Lamp Bezels of MGI with PBT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68.0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2311-SS-ID-02</a:t>
                      </a:r>
                    </a:p>
                  </a:txBody>
                  <a:tcPr/>
                </a:tc>
                <a:tc>
                  <a:txBody>
                    <a:bodyPr wrap="square"/>
                    <a:lstStyle/>
                    <a:p>
                      <a:pPr>
                        <a:defRPr sz="1000">
                          <a:latin typeface="Calibri"/>
                        </a:defRPr>
                      </a:pPr>
                      <a:r>
                        <a:t>1. Reduce the width of the seat adjustment lever-2 from 345mm to 175mm commonising both.</a:t>
                      </a:r>
                    </a:p>
                    <a:p>
                      <a:pPr>
                        <a:defRPr sz="1000">
                          <a:latin typeface="Calibri"/>
                        </a:defRPr>
                      </a:pPr>
                      <a:r>
                        <a:t>2. Reduce the overall diameter of the bars from 13mm to 12mm.</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74.0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2023-11-07 00:00:00</a:t>
                      </a:r>
                    </a:p>
                  </a:txBody>
                  <a:tcPr/>
                </a:tc>
              </a:tr>
              <a:tr h="320040">
                <a:tc>
                  <a:txBody>
                    <a:bodyPr wrap="square"/>
                    <a:lstStyle/>
                    <a:p>
                      <a:pPr>
                        <a:defRPr sz="1000">
                          <a:latin typeface="Calibri"/>
                        </a:defRPr>
                      </a:pPr>
                      <a:r>
                        <a:t>2311-SS-ID-07</a:t>
                      </a:r>
                    </a:p>
                  </a:txBody>
                  <a:tcPr/>
                </a:tc>
                <a:tc>
                  <a:txBody>
                    <a:bodyPr wrap="square"/>
                    <a:lstStyle/>
                    <a:p>
                      <a:pPr>
                        <a:defRPr sz="1000">
                          <a:latin typeface="Calibri"/>
                        </a:defRPr>
                      </a:pPr>
                      <a:r>
                        <a:t>Replace the Steel Support Plates used within the second and third-row seating assemblies of MGI with Corrugated PP Panels as in KIA</a:t>
                      </a:r>
                    </a:p>
                  </a:txBody>
                  <a:tcPr/>
                </a:tc>
                <a:tc>
                  <a:txBody>
                    <a:bodyPr wrap="square"/>
                    <a:lstStyle/>
                    <a:p>
                      <a:pPr>
                        <a:defRPr sz="1000">
                          <a:latin typeface="Calibri"/>
                        </a:defRPr>
                      </a:pPr>
                      <a:r>
                        <a:t>Confirm on functionality requirement (load bearing capacity of seats)</a:t>
                      </a:r>
                    </a:p>
                  </a:txBody>
                  <a:tcPr/>
                </a:tc>
                <a:tc>
                  <a:txBody>
                    <a:bodyPr wrap="square"/>
                    <a:lstStyle/>
                    <a:p>
                      <a:pPr>
                        <a:defRPr sz="1000">
                          <a:latin typeface="Calibri"/>
                        </a:defRPr>
                      </a:pPr>
                      <a:r>
                        <a:t>INR 62.0</a:t>
                      </a:r>
                    </a:p>
                  </a:txBody>
                  <a:tcPr/>
                </a:tc>
                <a:tc>
                  <a:txBody>
                    <a:bodyPr wrap="square"/>
                    <a:lstStyle/>
                    <a:p>
                      <a:pPr>
                        <a:defRPr sz="1000">
                          <a:latin typeface="Calibri"/>
                        </a:defRPr>
                      </a:pPr>
                      <a:r>
                        <a:t>NG</a:t>
                      </a:r>
                    </a:p>
                  </a:txBody>
                  <a:tcPr/>
                </a:tc>
                <a:tc>
                  <a:txBody>
                    <a:bodyPr wrap="square"/>
                    <a:lstStyle/>
                    <a:p>
                      <a:pPr>
                        <a:defRPr sz="1000">
                          <a:latin typeface="Calibri"/>
                        </a:defRPr>
                      </a:pPr>
                      <a:r>
                        <a:t>Confirm on functionality requirement (load bearing capacity of seats)</a:t>
                      </a:r>
                    </a:p>
                  </a:txBody>
                  <a:tcPr/>
                </a:tc>
                <a:tc>
                  <a:txBody>
                    <a:bodyPr wrap="square"/>
                    <a:lstStyle/>
                    <a:p>
                      <a:pPr>
                        <a:defRPr sz="1000">
                          <a:latin typeface="Calibri"/>
                        </a:defRPr>
                      </a:pPr>
                      <a:r>
                        <a:t>Nishant/ Ratnadeep</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2311-DA-ID-11</a:t>
                      </a:r>
                    </a:p>
                  </a:txBody>
                  <a:tcPr/>
                </a:tc>
                <a:tc>
                  <a:txBody>
                    <a:bodyPr wrap="square"/>
                    <a:lstStyle/>
                    <a:p>
                      <a:pPr>
                        <a:defRPr sz="1000">
                          <a:latin typeface="Calibri"/>
                        </a:defRPr>
                      </a:pPr>
                      <a:r>
                        <a:t>Replace PMMA+ASA with PC-ABS in the manufacture of the LH and RH Side Spoilers</a:t>
                      </a:r>
                    </a:p>
                  </a:txBody>
                  <a:tcPr/>
                </a:tc>
                <a:tc>
                  <a:txBody>
                    <a:bodyPr wrap="square"/>
                    <a:lstStyle/>
                    <a:p>
                      <a:pPr>
                        <a:defRPr sz="1000">
                          <a:latin typeface="Calibri"/>
                        </a:defRPr>
                      </a:pPr>
                      <a:r>
                        <a:t>Confirm Business case</a:t>
                      </a:r>
                    </a:p>
                  </a:txBody>
                  <a:tcPr/>
                </a:tc>
                <a:tc>
                  <a:txBody>
                    <a:bodyPr wrap="square"/>
                    <a:lstStyle/>
                    <a:p>
                      <a:pPr>
                        <a:defRPr sz="1000">
                          <a:latin typeface="Calibri"/>
                        </a:defRPr>
                      </a:pPr>
                      <a:r>
                        <a:t>INR 79.0</a:t>
                      </a:r>
                    </a:p>
                  </a:txBody>
                  <a:tcPr/>
                </a:tc>
                <a:tc>
                  <a:txBody>
                    <a:bodyPr wrap="square"/>
                    <a:lstStyle/>
                    <a:p>
                      <a:pPr>
                        <a:defRPr sz="1000">
                          <a:latin typeface="Calibri"/>
                        </a:defRPr>
                      </a:pPr>
                      <a:r>
                        <a:t>NG</a:t>
                      </a:r>
                    </a:p>
                  </a:txBody>
                  <a:tcPr/>
                </a:tc>
                <a:tc>
                  <a:txBody>
                    <a:bodyPr wrap="square"/>
                    <a:lstStyle/>
                    <a:p>
                      <a:pPr>
                        <a:defRPr sz="1000">
                          <a:latin typeface="Calibri"/>
                        </a:defRPr>
                      </a:pPr>
                      <a:r>
                        <a:t>Confirm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Design and implement a single, high-performance central Display Control Unit (DCU) that integrates graphics processing for all three displays (instrument cluster, central infotainment, passenger entertainment) along with a consolidated power management module (PMM) and a unified interface for vehicle communication protocols (CAN/Ethernet).</a:t>
                      </a:r>
                    </a:p>
                  </a:txBody>
                  <a:tcPr/>
                </a:tc>
                <a:tc>
                  <a:txBody>
                    <a:bodyPr wrap="square"/>
                    <a:lstStyle/>
                    <a:p>
                      <a:pPr>
                        <a:defRPr sz="1000">
                          <a:latin typeface="Calibri"/>
                        </a:defRPr>
                      </a:pPr>
                      <a:r>
                        <a:t>Current display architectures often employ discrete display drivers, graphics processors, and power regulators for each individual screen, leading to redundancy in silicon, PCB area, and inherent power conversion losses. By consolidating these functions into a single, robust DCU, we leverage a more powerful System-on-Chip (SoC) specifically designed for multi-display outputs, which are typically found in high-end automotive infotainment platforms. This approach significantly reduces the overall bill-of-materials by eliminating redundant components, simplifies the wiring harness by minimizing individual power and data lines, and lowers the complexity of thermal management across the vehicle cockpit due to a single heat source. From a physics perspective, a single SoC with multiple display pipelines (e.g., three MIPI DSI or eDP outputs) can efficiently manage rendering and refresh rates due to optimized internal bus architectures. Power management integration within the DCU optimizes energy conversion efficiency and reduces quiescent current draw across the system. Furthermore, electromagnetic compatibility (EMC) is inherently improved by containing high-frequency signals within one primary, shielded unit, rather than scattering multiple noise sources across various discrete modules.</a:t>
                      </a:r>
                    </a:p>
                    <a:p>
                      <a:pPr>
                        <a:defRPr sz="1000">
                          <a:latin typeface="Calibri"/>
                        </a:defRPr>
                      </a:pPr>
                    </a:p>
                    <a:p>
                      <a:pPr>
                        <a:defRPr sz="1000">
                          <a:latin typeface="Calibri"/>
                        </a:defRPr>
                      </a:pPr>
                      <a:r>
                        <a:t>Validation Steps:</a:t>
                      </a:r>
                    </a:p>
                    <a:p>
                      <a:pPr>
                        <a:defRPr sz="1000">
                          <a:latin typeface="Calibri"/>
                        </a:defRPr>
                      </a:pPr>
                      <a:r>
                        <a:t>1.  **Benchmarking &amp; Supplier Evaluation**: Evaluate existing SoCs from leading automotive silicon suppliers (e.g., Qualcomm, NXP, Renesas) for their multi-display capabilities, raw compute power, integrated features, and AEC-Q100 automotive qualification. Focus on cost-performance ratio.</a:t>
                      </a:r>
                    </a:p>
                    <a:p>
                      <a:pPr>
                        <a:defRPr sz="1000">
                          <a:latin typeface="Calibri"/>
                        </a:defRPr>
                      </a:pPr>
                      <a:r>
                        <a:t>2.  **Architectural Design**: Develop a detailed system architecture including data flow, power distribution, and a comprehensive thermal dissipation strategy for the consolidated DCU, ensuring all interfaces meet automotive standards.</a:t>
                      </a:r>
                    </a:p>
                    <a:p>
                      <a:pPr>
                        <a:defRPr sz="1000">
                          <a:latin typeface="Calibri"/>
                        </a:defRPr>
                      </a:pPr>
                      <a:r>
                        <a:t>3.  **Prototyping &amp; Integration**: Build a prototype DCU hardware module and integrate it with representative display panels and the vehicle's electrical system for initial functional verification.</a:t>
                      </a:r>
                    </a:p>
                    <a:p>
                      <a:pPr>
                        <a:defRPr sz="1000">
                          <a:latin typeface="Calibri"/>
                        </a:defRPr>
                      </a:pPr>
                      <a:r>
                        <a:t>4.  **Performance Testing**: Conduct rigorous validation of display refresh rates, end-to-end latency, color accuracy, and graphics rendering performance across all three screens under various operational and load conditions.</a:t>
                      </a:r>
                    </a:p>
                    <a:p>
                      <a:pPr>
                        <a:defRPr sz="1000">
                          <a:latin typeface="Calibri"/>
                        </a:defRPr>
                      </a:pPr>
                      <a:r>
                        <a:t>5.  **Power Efficiency Testing**: Precisely measure the power consumption of the integrated DCU and compare it against the sum of discrete units to quantify the energy savings.</a:t>
                      </a:r>
                    </a:p>
                    <a:p>
                      <a:pPr>
                        <a:defRPr sz="1000">
                          <a:latin typeface="Calibri"/>
                        </a:defRPr>
                      </a:pPr>
                      <a:r>
                        <a:t>6.  **EMC/EMI Testing**: Perform comprehensive tests to ensure compliance with stringent automotive standards (e.g., CISPR 25 for emissions, ISO 11452 for immunity) for both radiated and conducted electromagnetic interference.</a:t>
                      </a:r>
                    </a:p>
                    <a:p>
                      <a:pPr>
                        <a:defRPr sz="1000">
                          <a:latin typeface="Calibri"/>
                        </a:defRPr>
                      </a:pPr>
                      <a:r>
                        <a:t>7.  **Thermal Validation**: Conduct thermal simulations and physical thermal testing to ensure the DCU operates reliably within its specified temperature ranges without performance throttling or long-term degradation.</a:t>
                      </a:r>
                    </a:p>
                    <a:p>
                      <a:pPr>
                        <a:defRPr sz="1000">
                          <a:latin typeface="Calibri"/>
                        </a:defRPr>
                      </a:pPr>
                      <a:r>
                        <a:t>8.  **Software Integration &amp; HMI Validation**: Ensure seamless integration with the vehicle's operating system (e.g., Android Automotive, QNX) and APIs for efficient display management, and validate the Human-Machine Interface (HMI) responsiveness and fluidity across all screens.</a:t>
                      </a:r>
                    </a:p>
                  </a:txBody>
                  <a:tcPr/>
                </a:tc>
                <a:tc>
                  <a:txBody>
                    <a:bodyPr wrap="square"/>
                    <a:lstStyle/>
                    <a:p>
                      <a:pPr>
                        <a:defRPr sz="1000">
                          <a:latin typeface="Calibri"/>
                        </a:defRPr>
                      </a:pPr>
                      <a:r>
                        <a:t>0</a:t>
                      </a:r>
                    </a:p>
                  </a:txBody>
                  <a:tcPr/>
                </a:tc>
                <a:tc>
                  <a:txBody>
                    <a:bodyPr wrap="square"/>
                    <a:lstStyle/>
                    <a:p>
                      <a:pPr>
                        <a:defRPr sz="1000">
                          <a:latin typeface="Calibri"/>
                        </a:defRPr>
                      </a:pPr>
                      <a:r>
                        <a:t>N/A</a:t>
                      </a:r>
                    </a:p>
                  </a:txBody>
                  <a:tcPr/>
                </a:tc>
                <a:tc>
                  <a:txBody>
                    <a:bodyPr wrap="square"/>
                    <a:lstStyle/>
                    <a:p>
                      <a:pPr>
                        <a:defRPr sz="1000">
                          <a:latin typeface="Calibri"/>
                        </a:defRPr>
                      </a:pPr>
                      <a:r>
                        <a:t>Current display architectures often employ discrete display drivers, graphics processors, and power regulators for each individual screen, leading to redundancy in silicon, PCB area, and inherent power conversion losses. By consolidating these functions into a single, robust DCU, we leverage a more powerful System-on-Chip (SoC) specifically designed for multi-display outputs, which are typically found in high-end automotive infotainment platforms. This approach significantly reduces the overall bill-of-materials by eliminating redundant components, simplifies the wiring harness by minimizing individual power and data lines, and lowers the complexity of thermal management across the vehicle cockpit due to a single heat source. From a physics perspective, a single SoC with multiple display pipelines (e.g., three MIPI DSI or eDP outputs) can efficiently manage rendering and refresh rates due to optimized internal bus architectures. Power management integration within the DCU optimizes energy conversion efficiency and reduces quiescent current draw across the system. Furthermore, electromagnetic compatibility (EMC) is inherently improved by containing high-frequency signals within one primary, shielded unit, rather than scattering multiple noise sources across various discrete modules.</a:t>
                      </a:r>
                    </a:p>
                    <a:p>
                      <a:pPr>
                        <a:defRPr sz="1000">
                          <a:latin typeface="Calibri"/>
                        </a:defRPr>
                      </a:pPr>
                    </a:p>
                    <a:p>
                      <a:pPr>
                        <a:defRPr sz="1000">
                          <a:latin typeface="Calibri"/>
                        </a:defRPr>
                      </a:pPr>
                      <a:r>
                        <a:t>Validation Steps:</a:t>
                      </a:r>
                    </a:p>
                    <a:p>
                      <a:pPr>
                        <a:defRPr sz="1000">
                          <a:latin typeface="Calibri"/>
                        </a:defRPr>
                      </a:pPr>
                      <a:r>
                        <a:t>1.  **Benchmarking &amp; Supplier Evaluation**: Evaluate existing SoCs from leading automotive silicon suppliers (e.g., Qualcomm, NXP, Renesas) for their multi-display capabilities, raw compute power, integrated features, and AEC-Q100 automotive qualification. Focus on cost-performance ratio.</a:t>
                      </a:r>
                    </a:p>
                    <a:p>
                      <a:pPr>
                        <a:defRPr sz="1000">
                          <a:latin typeface="Calibri"/>
                        </a:defRPr>
                      </a:pPr>
                      <a:r>
                        <a:t>2.  **Architectural Design**: Develop a detailed system architecture including data flow, power distribution, and a comprehensive thermal dissipation strategy for the consolidated DCU, ensuring all interfaces meet automotive standards.</a:t>
                      </a:r>
                    </a:p>
                    <a:p>
                      <a:pPr>
                        <a:defRPr sz="1000">
                          <a:latin typeface="Calibri"/>
                        </a:defRPr>
                      </a:pPr>
                      <a:r>
                        <a:t>3.  **Prototyping &amp; Integration**: Build a prototype DCU hardware module and integrate it with representative display panels and the vehicle's electrical system for initial functional verification.</a:t>
                      </a:r>
                    </a:p>
                    <a:p>
                      <a:pPr>
                        <a:defRPr sz="1000">
                          <a:latin typeface="Calibri"/>
                        </a:defRPr>
                      </a:pPr>
                      <a:r>
                        <a:t>4.  **Performance Testing**: Conduct rigorous validation of display refresh rates, end-to-end latency, color accuracy, and graphics rendering performance across all three screens under various operational and load conditions.</a:t>
                      </a:r>
                    </a:p>
                    <a:p>
                      <a:pPr>
                        <a:defRPr sz="1000">
                          <a:latin typeface="Calibri"/>
                        </a:defRPr>
                      </a:pPr>
                      <a:r>
                        <a:t>5.  **Power Efficiency Testing**: Precisely measure the power consumption of the integrated DCU and compare it against the sum of discrete units to quantify the energy savings.</a:t>
                      </a:r>
                    </a:p>
                    <a:p>
                      <a:pPr>
                        <a:defRPr sz="1000">
                          <a:latin typeface="Calibri"/>
                        </a:defRPr>
                      </a:pPr>
                      <a:r>
                        <a:t>6.  **EMC/EMI Testing**: Perform comprehensive tests to ensure compliance with stringent automotive standards (e.g., CISPR 25 for emissions, ISO 11452 for immunity) for both radiated and conducted electromagnetic interference.</a:t>
                      </a:r>
                    </a:p>
                    <a:p>
                      <a:pPr>
                        <a:defRPr sz="1000">
                          <a:latin typeface="Calibri"/>
                        </a:defRPr>
                      </a:pPr>
                      <a:r>
                        <a:t>7.  **Thermal Validation**: Conduct thermal simulations and physical thermal testing to ensure the DCU operates reliably within its specified temperature ranges without performance throttling or long-term degradation.</a:t>
                      </a:r>
                    </a:p>
                    <a:p>
                      <a:pPr>
                        <a:defRPr sz="1000">
                          <a:latin typeface="Calibri"/>
                        </a:defRPr>
                      </a:pPr>
                      <a:r>
                        <a:t>8.  **Software Integration &amp; HMI Validation**: Ensure seamless integration with the vehicle's operating system (e.g., Android Automotive, QNX) and APIs for efficient display management, and validate the Human-Machine Interface (HMI) responsiveness and fluidity across all screens.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Procure a single SKU of a cost-optimized, moderate-resolution LCD display panel (e.g., 1920x720) and utilize it across all three display locations (instrument cluster, central infotainment, passenger display), applying software-based dynamic resolution scaling, brightness adjustment, and pixel density optimization specific to each display's functional requirements.</a:t>
                      </a:r>
                    </a:p>
                  </a:txBody>
                  <a:tcPr/>
                </a:tc>
                <a:tc>
                  <a:txBody>
                    <a:bodyPr wrap="square"/>
                    <a:lstStyle/>
                    <a:p>
                      <a:pPr>
                        <a:defRPr sz="1000">
                          <a:latin typeface="Calibri"/>
                        </a:defRPr>
                      </a:pPr>
                      <a:r>
                        <a:t>The primary cost advantage stems from the economies of scale achieved by bulk purchasing a single, high-volume display panel SKU, which significantly outweighs the minor additional development effort required for sophisticated software scaling algorithms. Instead of specifying and procuring three different display panels with varying native resolutions, aspect ratios, and brightness capabilities – each incurring higher tooling, inventory, and procurement costs due to lower individual volumes – we achieve consolidation. The fundamental physics of LCD panels allows for effective scaling; while the physical pixel count of a panel is fixed, the input signal resolution can be scaled up or down by the display controller, which intelligently interpolates or decodes the image data to fit the panel's native resolution. Brightness control, essential for varied ambient light conditions, is achieved efficiently through pulse-width modulation (PWM) of the LED backlight unit.</a:t>
                      </a:r>
                    </a:p>
                    <a:p>
                      <a:pPr>
                        <a:defRPr sz="1000">
                          <a:latin typeface="Calibri"/>
                        </a:defRPr>
                      </a:pPr>
                    </a:p>
                    <a:p>
                      <a:pPr>
                        <a:defRPr sz="1000">
                          <a:latin typeface="Calibri"/>
                        </a:defRPr>
                      </a:pPr>
                      <a:r>
                        <a:t>Validation Steps:</a:t>
                      </a:r>
                    </a:p>
                    <a:p>
                      <a:pPr>
                        <a:defRPr sz="1000">
                          <a:latin typeface="Calibri"/>
                        </a:defRPr>
                      </a:pPr>
                      <a:r>
                        <a:t>1.  **Supplier Engagement &amp; Panel Selection**: Collaborate closely with display panel suppliers to identify the most cost-effective, robust, and optically suitable panel SKU that can meet the baseline requirements for viewing angles, temperature range, and lifecycle across all three automotive applications.</a:t>
                      </a:r>
                    </a:p>
                    <a:p>
                      <a:pPr>
                        <a:defRPr sz="1000">
                          <a:latin typeface="Calibri"/>
                        </a:defRPr>
                      </a:pPr>
                      <a:r>
                        <a:t>2.  **Optical Performance Simulation**: Conduct detailed simulations to predict the visual impact of resolution scaling, brightness levels, and anti-aliasing techniques for content displayed on each screen position, ensuring legibility and aesthetic quality.</a:t>
                      </a:r>
                    </a:p>
                    <a:p>
                      <a:pPr>
                        <a:defRPr sz="1000">
                          <a:latin typeface="Calibri"/>
                        </a:defRPr>
                      </a:pPr>
                      <a:r>
                        <a:t>3.  **Prototype Integration &amp; Software Development**: Integrate the selected common panels with the centralized DCU prototype (as per Idea AI-GEN-01) and develop the necessary software drivers and scaling algorithms within the display pipeline.</a:t>
                      </a:r>
                    </a:p>
                    <a:p>
                      <a:pPr>
                        <a:defRPr sz="1000">
                          <a:latin typeface="Calibri"/>
                        </a:defRPr>
                      </a:pPr>
                      <a:r>
                        <a:t>4.  **User Experience (UX) Evaluation**: Conduct extensive user testing under diverse lighting conditions (e.g., direct sunlight, twilight, night driving) to evaluate perceived legibility for the instrument cluster, responsiveness and clarity for the central infotainment, and visual quality for the passenger display, critically assessing perceived resolution and brightness.</a:t>
                      </a:r>
                    </a:p>
                    <a:p>
                      <a:pPr>
                        <a:defRPr sz="1000">
                          <a:latin typeface="Calibri"/>
                        </a:defRPr>
                      </a:pPr>
                      <a:r>
                        <a:t>5.  **Color Calibration &amp; Uniformity**: Independently calibrate each display's color profile, white point, and gamma correction to compensate for potential manufacturing variances and optimize visual fidelity and color accuracy across the cockpit.</a:t>
                      </a:r>
                    </a:p>
                    <a:p>
                      <a:pPr>
                        <a:defRPr sz="1000">
                          <a:latin typeface="Calibri"/>
                        </a:defRPr>
                      </a:pPr>
                      <a:r>
                        <a:t>6.  **Lifetime &amp; Environmental Testing**: Subject the common panel SKU to rigorous accelerated aging tests (e.g., extended temperature cycling, high humidity exposure, vibration, thermal shock) to ensure long-term reliability and performance degradation is within acceptable limits in the harsh automotive environment.</a:t>
                      </a:r>
                    </a:p>
                  </a:txBody>
                  <a:tcPr/>
                </a:tc>
                <a:tc>
                  <a:txBody>
                    <a:bodyPr wrap="square"/>
                    <a:lstStyle/>
                    <a:p>
                      <a:pPr>
                        <a:defRPr sz="1000">
                          <a:latin typeface="Calibri"/>
                        </a:defRPr>
                      </a:pPr>
                      <a:r>
                        <a:t>0</a:t>
                      </a:r>
                    </a:p>
                  </a:txBody>
                  <a:tcPr/>
                </a:tc>
                <a:tc>
                  <a:txBody>
                    <a:bodyPr wrap="square"/>
                    <a:lstStyle/>
                    <a:p>
                      <a:pPr>
                        <a:defRPr sz="1000">
                          <a:latin typeface="Calibri"/>
                        </a:defRPr>
                      </a:pPr>
                      <a:r>
                        <a:t>N/A</a:t>
                      </a:r>
                    </a:p>
                  </a:txBody>
                  <a:tcPr/>
                </a:tc>
                <a:tc>
                  <a:txBody>
                    <a:bodyPr wrap="square"/>
                    <a:lstStyle/>
                    <a:p>
                      <a:pPr>
                        <a:defRPr sz="1000">
                          <a:latin typeface="Calibri"/>
                        </a:defRPr>
                      </a:pPr>
                      <a:r>
                        <a:t>The primary cost advantage stems from the economies of scale achieved by bulk purchasing a single, high-volume display panel SKU, which significantly outweighs the minor additional development effort required for sophisticated software scaling algorithms. Instead of specifying and procuring three different display panels with varying native resolutions, aspect ratios, and brightness capabilities – each incurring higher tooling, inventory, and procurement costs due to lower individual volumes – we achieve consolidation. The fundamental physics of LCD panels allows for effective scaling; while the physical pixel count of a panel is fixed, the input signal resolution can be scaled up or down by the display controller, which intelligently interpolates or decodes the image data to fit the panel's native resolution. Brightness control, essential for varied ambient light conditions, is achieved efficiently through pulse-width modulation (PWM) of the LED backlight unit.</a:t>
                      </a:r>
                    </a:p>
                    <a:p>
                      <a:pPr>
                        <a:defRPr sz="1000">
                          <a:latin typeface="Calibri"/>
                        </a:defRPr>
                      </a:pPr>
                    </a:p>
                    <a:p>
                      <a:pPr>
                        <a:defRPr sz="1000">
                          <a:latin typeface="Calibri"/>
                        </a:defRPr>
                      </a:pPr>
                      <a:r>
                        <a:t>Validation Steps:</a:t>
                      </a:r>
                    </a:p>
                    <a:p>
                      <a:pPr>
                        <a:defRPr sz="1000">
                          <a:latin typeface="Calibri"/>
                        </a:defRPr>
                      </a:pPr>
                      <a:r>
                        <a:t>1.  **Supplier Engagement &amp; Panel Selection**: Collaborate closely with display panel suppliers to identify the most cost-effective, robust, and optically suitable panel SKU that can meet the baseline requirements for viewing angles, temperature range, and lifecycle across all three automotive applications.</a:t>
                      </a:r>
                    </a:p>
                    <a:p>
                      <a:pPr>
                        <a:defRPr sz="1000">
                          <a:latin typeface="Calibri"/>
                        </a:defRPr>
                      </a:pPr>
                      <a:r>
                        <a:t>2.  **Optical Performance Simulation**: Conduct detailed simulations to predict the visual impact of resolution scaling, brightness levels, and anti-aliasing techniques for content displayed on each screen position, ensuring legibility and aesthetic quality.</a:t>
                      </a:r>
                    </a:p>
                    <a:p>
                      <a:pPr>
                        <a:defRPr sz="1000">
                          <a:latin typeface="Calibri"/>
                        </a:defRPr>
                      </a:pPr>
                      <a:r>
                        <a:t>3.  **Prototype Integration &amp; Software Development**: Integrate the selected common panels with the centralized DCU prototype (as per Idea AI-GEN-01) and develop the necessary software drivers and scaling algorithms within the display pipeline.</a:t>
                      </a:r>
                    </a:p>
                    <a:p>
                      <a:pPr>
                        <a:defRPr sz="1000">
                          <a:latin typeface="Calibri"/>
                        </a:defRPr>
                      </a:pPr>
                      <a:r>
                        <a:t>4.  **User Experience (UX) Evaluation**: Conduct extensive user testing under diverse lighting conditions (e.g., direct sunlight, twilight, night driving) to evaluate perceived legibility for the instrument cluster, responsiveness and clarity for the central infotainment, and visual quality for the passenger display, critically assessing perceived resolution and brightness.</a:t>
                      </a:r>
                    </a:p>
                    <a:p>
                      <a:pPr>
                        <a:defRPr sz="1000">
                          <a:latin typeface="Calibri"/>
                        </a:defRPr>
                      </a:pPr>
                      <a:r>
                        <a:t>5.  **Color Calibration &amp; Uniformity**: Independently calibrate each display's color profile, white point, and gamma correction to compensate for potential manufacturing variances and optimize visual fidelity and color accuracy across the cockpit.</a:t>
                      </a:r>
                    </a:p>
                    <a:p>
                      <a:pPr>
                        <a:defRPr sz="1000">
                          <a:latin typeface="Calibri"/>
                        </a:defRPr>
                      </a:pPr>
                      <a:r>
                        <a:t>6.  **Lifetime &amp; Environmental Testing**: Subject the common panel SKU to rigorous accelerated aging tests (e.g., extended temperature cycling, high humidity exposure, vibration, thermal shock) to ensure long-term reliability and performance degradation is within acceptable limits in the harsh automotive environment.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Replace individual metal or multi-piece plastic bezels and separate mounting brackets for each display with a single, large, complex injection-molded structural polymer component that functions as both the primary display bezel and the integrated mounting structure for all three screens within the cockpit, thereby eliminating multiple assembly steps and fasteners.</a:t>
                      </a:r>
                    </a:p>
                  </a:txBody>
                  <a:tcPr/>
                </a:tc>
                <a:tc>
                  <a:txBody>
                    <a:bodyPr wrap="square"/>
                    <a:lstStyle/>
                    <a:p>
                      <a:pPr>
                        <a:defRPr sz="1000">
                          <a:latin typeface="Calibri"/>
                        </a:defRPr>
                      </a:pPr>
                      <a:r>
                        <a:t>Traditional multi-display installations often involve separate cosmetic bezels and distinct metallic or multi-component plastic mounting brackets for each individual screen. This approach inherently leads to a higher part count, a more complex assembly sequence, increased manufacturing tolerance stack-up issues, and an overall increase in vehicle weight. By leveraging advanced injection molding techniques with high-strength, lightweight structural polymers (e.g., glass-fiber reinforced PBT, PC/ABS blends, or long-fiber reinforced polypropylene), we can create a single, geometrically optimized component. This 'mega-bezel' component is designed to integrally house all necessary mounting points, precise cable routing channels, and aesthetic surfacing. This method capitalizes on the material's ability to be molded into intricate shapes with high precision and strength in a single shot, effectively replacing multiple stamping, welding, or bonding operations commonly associated with disparate metal or plastic parts. The engineering physics dictates that the mechanical properties of the chosen polymer (tensile strength, flexural modulus, impact resistance, creep resistance, and coefficient of thermal expansion) must be meticulously selected and validated to meet the structural integrity requirements for securely supporting the displays under dynamic vehicle conditions (e.g., vibration, shock, rapid temperature changes) and ensuring long-term dimensional stability. Design for manufacturability (DFM) principles are critical to ensure uniform wall thickness, strategically placed ribbing for stiffness and strength, and optimized gate locations to minimize warpage and sink marks in such a large, complex mold.</a:t>
                      </a:r>
                    </a:p>
                    <a:p>
                      <a:pPr>
                        <a:defRPr sz="1000">
                          <a:latin typeface="Calibri"/>
                        </a:defRPr>
                      </a:pPr>
                    </a:p>
                    <a:p>
                      <a:pPr>
                        <a:defRPr sz="1000">
                          <a:latin typeface="Calibri"/>
                        </a:defRPr>
                      </a:pPr>
                      <a:r>
                        <a:t>Validation Steps:</a:t>
                      </a:r>
                    </a:p>
                    <a:p>
                      <a:pPr>
                        <a:defRPr sz="1000">
                          <a:latin typeface="Calibri"/>
                        </a:defRPr>
                      </a:pPr>
                      <a:r>
                        <a:t>1.  **Material Selection &amp; Characterization**: Evaluate potential structural polymers based on their specific mechanical properties, aesthetic finish capabilities (e.g., paintability, texture), UV stability, flammability rating (FMVSS 302), and target cost. Perform comprehensive material characterization tests.</a:t>
                      </a:r>
                    </a:p>
                    <a:p>
                      <a:pPr>
                        <a:defRPr sz="1000">
                          <a:latin typeface="Calibri"/>
                        </a:defRPr>
                      </a:pPr>
                      <a:r>
                        <a:t>2.  **CAD Design &amp; FEA**: Develop the detailed CAD model for the integrated bezel/structure. Conduct extensive Finite Element Analysis (FEA) simulations to confirm rigidity, vibration dampening characteristics, structural integrity under various load cases, and crash-worthiness requirements.</a:t>
                      </a:r>
                    </a:p>
                    <a:p>
                      <a:pPr>
                        <a:defRPr sz="1000">
                          <a:latin typeface="Calibri"/>
                        </a:defRPr>
                      </a:pPr>
                      <a:r>
                        <a:t>3.  **Tooling Development &amp; Optimization**: Design and commission a single, high-precision, multi-cavity (if applicable for other parts) or large-format injection mold. Optimize mold design for cycle time and material flow.</a:t>
                      </a:r>
                    </a:p>
                    <a:p>
                      <a:pPr>
                        <a:defRPr sz="1000">
                          <a:latin typeface="Calibri"/>
                        </a:defRPr>
                      </a:pPr>
                      <a:r>
                        <a:t>4.  **Prototyping &amp; Dimensional Validation**: Produce prototype parts using the intended manufacturing process. Conduct detailed dimensional validation (e.g., using CMM, laser scanning) to confirm adherence to tolerances and perform fit-and-finish analysis with the actual display panels and surrounding interior trim components.</a:t>
                      </a:r>
                    </a:p>
                    <a:p>
                      <a:pPr>
                        <a:defRPr sz="1000">
                          <a:latin typeface="Calibri"/>
                        </a:defRPr>
                      </a:pPr>
                      <a:r>
                        <a:t>5.  **Assembly Process Verification**: Validate the new, simplified assembly process in a manufacturing environment, identifying potential bottlenecks or ergonomic issues.</a:t>
                      </a:r>
                    </a:p>
                    <a:p>
                      <a:pPr>
                        <a:defRPr sz="1000">
                          <a:latin typeface="Calibri"/>
                        </a:defRPr>
                      </a:pPr>
                      <a:r>
                        <a:t>6.  **Environmental Durability Testing**: Subject the integrated assembly (populated with dummy displays) to comprehensive automotive environmental tests: vibration per ISO 16750-3, shock, extended thermal cycling (-40°C to +85°C), high humidity exposure, and accelerated UV exposure tests.</a:t>
                      </a:r>
                    </a:p>
                    <a:p>
                      <a:pPr>
                        <a:defRPr sz="1000">
                          <a:latin typeface="Calibri"/>
                        </a:defRPr>
                      </a:pPr>
                      <a:r>
                        <a:t>7.  **Crash Performance &amp; Safety Assessment**: Conduct sled tests or full vehicle crash simulations/tests to ensure the display assembly remains securely mounted, does not become a projectile, and does not pose a secondary impact hazard during various collision scenarios (e.g., head impact criteria).</a:t>
                      </a:r>
                    </a:p>
                  </a:txBody>
                  <a:tcPr/>
                </a:tc>
                <a:tc>
                  <a:txBody>
                    <a:bodyPr wrap="square"/>
                    <a:lstStyle/>
                    <a:p>
                      <a:pPr>
                        <a:defRPr sz="1000">
                          <a:latin typeface="Calibri"/>
                        </a:defRPr>
                      </a:pPr>
                      <a:r>
                        <a:t>0</a:t>
                      </a:r>
                    </a:p>
                  </a:txBody>
                  <a:tcPr/>
                </a:tc>
                <a:tc>
                  <a:txBody>
                    <a:bodyPr wrap="square"/>
                    <a:lstStyle/>
                    <a:p>
                      <a:pPr>
                        <a:defRPr sz="1000">
                          <a:latin typeface="Calibri"/>
                        </a:defRPr>
                      </a:pPr>
                      <a:r>
                        <a:t>N/A</a:t>
                      </a:r>
                    </a:p>
                  </a:txBody>
                  <a:tcPr/>
                </a:tc>
                <a:tc>
                  <a:txBody>
                    <a:bodyPr wrap="square"/>
                    <a:lstStyle/>
                    <a:p>
                      <a:pPr>
                        <a:defRPr sz="1000">
                          <a:latin typeface="Calibri"/>
                        </a:defRPr>
                      </a:pPr>
                      <a:r>
                        <a:t>Traditional multi-display installations often involve separate cosmetic bezels and distinct metallic or multi-component plastic mounting brackets for each individual screen. This approach inherently leads to a higher part count, a more complex assembly sequence, increased manufacturing tolerance stack-up issues, and an overall increase in vehicle weight. By leveraging advanced injection molding techniques with high-strength, lightweight structural polymers (e.g., glass-fiber reinforced PBT, PC/ABS blends, or long-fiber reinforced polypropylene), we can create a single, geometrically optimized component. This 'mega-bezel' component is designed to integrally house all necessary mounting points, precise cable routing channels, and aesthetic surfacing. This method capitalizes on the material's ability to be molded into intricate shapes with high precision and strength in a single shot, effectively replacing multiple stamping, welding, or bonding operations commonly associated with disparate metal or plastic parts. The engineering physics dictates that the mechanical properties of the chosen polymer (tensile strength, flexural modulus, impact resistance, creep resistance, and coefficient of thermal expansion) must be meticulously selected and validated to meet the structural integrity requirements for securely supporting the displays under dynamic vehicle conditions (e.g., vibration, shock, rapid temperature changes) and ensuring long-term dimensional stability. Design for manufacturability (DFM) principles are critical to ensure uniform wall thickness, strategically placed ribbing for stiffness and strength, and optimized gate locations to minimize warpage and sink marks in such a large, complex mold.</a:t>
                      </a:r>
                    </a:p>
                    <a:p>
                      <a:pPr>
                        <a:defRPr sz="1000">
                          <a:latin typeface="Calibri"/>
                        </a:defRPr>
                      </a:pPr>
                    </a:p>
                    <a:p>
                      <a:pPr>
                        <a:defRPr sz="1000">
                          <a:latin typeface="Calibri"/>
                        </a:defRPr>
                      </a:pPr>
                      <a:r>
                        <a:t>Validation Steps:</a:t>
                      </a:r>
                    </a:p>
                    <a:p>
                      <a:pPr>
                        <a:defRPr sz="1000">
                          <a:latin typeface="Calibri"/>
                        </a:defRPr>
                      </a:pPr>
                      <a:r>
                        <a:t>1.  **Material Selection &amp; Characterization**: Evaluate potential structural polymers based on their specific mechanical properties, aesthetic finish capabilities (e.g., paintability, texture), UV stability, flammability rating (FMVSS 302), and target cost. Perform comprehensive material characterization tests.</a:t>
                      </a:r>
                    </a:p>
                    <a:p>
                      <a:pPr>
                        <a:defRPr sz="1000">
                          <a:latin typeface="Calibri"/>
                        </a:defRPr>
                      </a:pPr>
                      <a:r>
                        <a:t>2.  **CAD Design &amp; FEA**: Develop the detailed CAD model for the integrated bezel/structure. Conduct extensive Finite Element Analysis (FEA) simulations to confirm rigidity, vibration dampening characteristics, structural integrity under various load cases, and crash-worthiness requirements.</a:t>
                      </a:r>
                    </a:p>
                    <a:p>
                      <a:pPr>
                        <a:defRPr sz="1000">
                          <a:latin typeface="Calibri"/>
                        </a:defRPr>
                      </a:pPr>
                      <a:r>
                        <a:t>3.  **Tooling Development &amp; Optimization**: Design and commission a single, high-precision, multi-cavity (if applicable for other parts) or large-format injection mold. Optimize mold design for cycle time and material flow.</a:t>
                      </a:r>
                    </a:p>
                    <a:p>
                      <a:pPr>
                        <a:defRPr sz="1000">
                          <a:latin typeface="Calibri"/>
                        </a:defRPr>
                      </a:pPr>
                      <a:r>
                        <a:t>4.  **Prototyping &amp; Dimensional Validation**: Produce prototype parts using the intended manufacturing process. Conduct detailed dimensional validation (e.g., using CMM, laser scanning) to confirm adherence to tolerances and perform fit-and-finish analysis with the actual display panels and surrounding interior trim components.</a:t>
                      </a:r>
                    </a:p>
                    <a:p>
                      <a:pPr>
                        <a:defRPr sz="1000">
                          <a:latin typeface="Calibri"/>
                        </a:defRPr>
                      </a:pPr>
                      <a:r>
                        <a:t>5.  **Assembly Process Verification**: Validate the new, simplified assembly process in a manufacturing environment, identifying potential bottlenecks or ergonomic issues.</a:t>
                      </a:r>
                    </a:p>
                    <a:p>
                      <a:pPr>
                        <a:defRPr sz="1000">
                          <a:latin typeface="Calibri"/>
                        </a:defRPr>
                      </a:pPr>
                      <a:r>
                        <a:t>6.  **Environmental Durability Testing**: Subject the integrated assembly (populated with dummy displays) to comprehensive automotive environmental tests: vibration per ISO 16750-3, shock, extended thermal cycling (-40°C to +85°C), high humidity exposure, and accelerated UV exposure tests.</a:t>
                      </a:r>
                    </a:p>
                    <a:p>
                      <a:pPr>
                        <a:defRPr sz="1000">
                          <a:latin typeface="Calibri"/>
                        </a:defRPr>
                      </a:pPr>
                      <a:r>
                        <a:t>7.  **Crash Performance &amp; Safety Assessment**: Conduct sled tests or full vehicle crash simulations/tests to ensure the display assembly remains securely mounted, does not become a projectile, and does not pose a secondary impact hazard during various collision scenarios (e.g., head impact criteria).</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Implement an automotive-grade Ethernet-based Audio/Video Bridging (AVB/TSN - Time-Sensitive Networking) network for all display data transmission from the central Display Control Unit (DCU) to the individual display panels, replacing traditional multi-strand LVDS (Low-Voltage Differential Signaling) cable harnesses with fewer, lighter, and more standardized Ethernet cables.</a:t>
                      </a:r>
                    </a:p>
                  </a:txBody>
                  <a:tcPr/>
                </a:tc>
                <a:tc>
                  <a:txBody>
                    <a:bodyPr wrap="square"/>
                    <a:lstStyle/>
                    <a:p>
                      <a:pPr>
                        <a:defRPr sz="1000">
                          <a:latin typeface="Calibri"/>
                        </a:defRPr>
                      </a:pPr>
                      <a:r>
                        <a:t>Traditional LVDS (Low-Voltage Differential Signaling) connections are typically point-to-point, requiring dedicated, multi-strand cable bundles for each display. For a triple display configuration, this leads to significant increases in harness complexity, overall vehicle weight, installation time, and potential for electromagnetic interference (EMI) due to multiple parallel data paths. An Automotive Ethernet-based Audio/Video Bridging (AVB) or Time-Sensitive Networking (TSN) solution, based on IEEE 802.1 standards, provides a robust, standardized, high-bandwidth, deterministic, and low-latency digital data backbone. This technology enables multiple uncompressed or compressed video streams, audio, and control data to be transmitted simultaneously over a single, shielded or unshielded twisted-pair (STP/UTP) Ethernet cable. This approach dramatically reduces copper content in the vehicle, simplifies wiring architecture, and inherently offers robust electromagnetic compatibility (EMC) performance due to its differential signaling, standardized shielding practices, and noise rejection capabilities.</a:t>
                      </a:r>
                    </a:p>
                    <a:p>
                      <a:pPr>
                        <a:defRPr sz="1000">
                          <a:latin typeface="Calibri"/>
                        </a:defRPr>
                      </a:pPr>
                    </a:p>
                    <a:p>
                      <a:pPr>
                        <a:defRPr sz="1000">
                          <a:latin typeface="Calibri"/>
                        </a:defRPr>
                      </a:pPr>
                      <a:r>
                        <a:t>From an engineering physics perspective, AVB/TSN guarantees bandwidth and ultra-low latency through precise time synchronization (IEEE 802.1AS) and sophisticated traffic shaping mechanisms (IEEE 802.1Qav, Qbu, Qbv), ensuring glitch-free video delivery even in a highly loaded network. The physical layer (e.g., 100BASE-T1 or 1000BASE-T1 for automotive applications) operates over a single unshielded twisted pair, which drastically reduces cable diameter, weight, and material cost compared to multi-differential-pair LVDS cables. Furthermore, robust data encapsulation and error correction protocols embedded within the Ethernet stack ensure high data integrity over the network.</a:t>
                      </a:r>
                    </a:p>
                    <a:p>
                      <a:pPr>
                        <a:defRPr sz="1000">
                          <a:latin typeface="Calibri"/>
                        </a:defRPr>
                      </a:pPr>
                    </a:p>
                    <a:p>
                      <a:pPr>
                        <a:defRPr sz="1000">
                          <a:latin typeface="Calibri"/>
                        </a:defRPr>
                      </a:pPr>
                      <a:r>
                        <a:t>Validation Steps:</a:t>
                      </a:r>
                    </a:p>
                    <a:p>
                      <a:pPr>
                        <a:defRPr sz="1000">
                          <a:latin typeface="Calibri"/>
                        </a:defRPr>
                      </a:pPr>
                      <a:r>
                        <a:t>1.  **Network Architecture Design**: Define the precise AVB/TSN network topology, including the optimal placement of switches/hubs, cable routing, and port assignments for each display, ensuring redundancy options if required.</a:t>
                      </a:r>
                    </a:p>
                    <a:p>
                      <a:pPr>
                        <a:defRPr sz="1000">
                          <a:latin typeface="Calibri"/>
                        </a:defRPr>
                      </a:pPr>
                      <a:r>
                        <a:t>2.  **Component Selection**: Source automotive-qualified AVB/TSN-capable Ethernet PHYs, switches, connectors, and cable assemblies from specialized suppliers, ensuring compliance with relevant automotive standards (e.g., ISO 16750 for environmental).</a:t>
                      </a:r>
                    </a:p>
                    <a:p>
                      <a:pPr>
                        <a:defRPr sz="1000">
                          <a:latin typeface="Calibri"/>
                        </a:defRPr>
                      </a:pPr>
                      <a:r>
                        <a:t>3.  **Prototyping &amp; Integration**: Implement the AVB/TSN network with the centralized DCU (from Idea AI-GEN-01) and the target display panels, establishing end-to-end connectivity and basic functional verification.</a:t>
                      </a:r>
                    </a:p>
                    <a:p>
                      <a:pPr>
                        <a:defRPr sz="1000">
                          <a:latin typeface="Calibri"/>
                        </a:defRPr>
                      </a:pPr>
                      <a:r>
                        <a:t>4.  **Performance &amp; Latency Testing**: Precisely measure end-to-end video latency from the DCU output to the actual display panel input, ensuring it meets the stringent real-time requirements for safety-critical instrument clusters (&lt;30ms) and responsive infotainment. Validate network bandwidth utilization under various peak load conditions and concurrent data streams.</a:t>
                      </a:r>
                    </a:p>
                    <a:p>
                      <a:pPr>
                        <a:defRPr sz="1000">
                          <a:latin typeface="Calibri"/>
                        </a:defRPr>
                      </a:pPr>
                      <a:r>
                        <a:t>5.  **Data Integrity &amp; Reliability Testing**: Perform extensive data error checking over prolonged operational periods, under varying environmental conditions (temperature, vibration, EMI), to confirm robust data transmission without packet loss or corruption.</a:t>
                      </a:r>
                    </a:p>
                    <a:p>
                      <a:pPr>
                        <a:defRPr sz="1000">
                          <a:latin typeface="Calibri"/>
                        </a:defRPr>
                      </a:pPr>
                      <a:r>
                        <a:t>6.  **EMC/EMI Testing**: Conduct comprehensive tests to verify the compliance of the entire AVB network system with automotive electromagnetic compatibility standards (CISPR 25, ISO 11452 series), leveraging the inherent advantages of robust Ethernet signaling.</a:t>
                      </a:r>
                    </a:p>
                    <a:p>
                      <a:pPr>
                        <a:defRPr sz="1000">
                          <a:latin typeface="Calibri"/>
                        </a:defRPr>
                      </a:pPr>
                      <a:r>
                        <a:t>7.  **Software Stack Integration**: Ensure the vehicle's operating system and display drivers can efficiently utilize the AVB/TSN network for high-fidelity video streaming, audio transmission, and control message routing, including boot-up sequence optimization.</a:t>
                      </a:r>
                    </a:p>
                  </a:txBody>
                  <a:tcPr/>
                </a:tc>
                <a:tc>
                  <a:txBody>
                    <a:bodyPr wrap="square"/>
                    <a:lstStyle/>
                    <a:p>
                      <a:pPr>
                        <a:defRPr sz="1000">
                          <a:latin typeface="Calibri"/>
                        </a:defRPr>
                      </a:pPr>
                      <a:r>
                        <a:t>0</a:t>
                      </a:r>
                    </a:p>
                  </a:txBody>
                  <a:tcPr/>
                </a:tc>
                <a:tc>
                  <a:txBody>
                    <a:bodyPr wrap="square"/>
                    <a:lstStyle/>
                    <a:p>
                      <a:pPr>
                        <a:defRPr sz="1000">
                          <a:latin typeface="Calibri"/>
                        </a:defRPr>
                      </a:pPr>
                      <a:r>
                        <a:t>N/A</a:t>
                      </a:r>
                    </a:p>
                  </a:txBody>
                  <a:tcPr/>
                </a:tc>
                <a:tc>
                  <a:txBody>
                    <a:bodyPr wrap="square"/>
                    <a:lstStyle/>
                    <a:p>
                      <a:pPr>
                        <a:defRPr sz="1000">
                          <a:latin typeface="Calibri"/>
                        </a:defRPr>
                      </a:pPr>
                      <a:r>
                        <a:t>Traditional LVDS (Low-Voltage Differential Signaling) connections are typically point-to-point, requiring dedicated, multi-strand cable bundles for each display. For a triple display configuration, this leads to significant increases in harness complexity, overall vehicle weight, installation time, and potential for electromagnetic interference (EMI) due to multiple parallel data paths. An Automotive Ethernet-based Audio/Video Bridging (AVB) or Time-Sensitive Networking (TSN) solution, based on IEEE 802.1 standards, provides a robust, standardized, high-bandwidth, deterministic, and low-latency digital data backbone. This technology enables multiple uncompressed or compressed video streams, audio, and control data to be transmitted simultaneously over a single, shielded or unshielded twisted-pair (STP/UTP) Ethernet cable. This approach dramatically reduces copper content in the vehicle, simplifies wiring architecture, and inherently offers robust electromagnetic compatibility (EMC) performance due to its differential signaling, standardized shielding practices, and noise rejection capabilities.</a:t>
                      </a:r>
                    </a:p>
                    <a:p>
                      <a:pPr>
                        <a:defRPr sz="1000">
                          <a:latin typeface="Calibri"/>
                        </a:defRPr>
                      </a:pPr>
                    </a:p>
                    <a:p>
                      <a:pPr>
                        <a:defRPr sz="1000">
                          <a:latin typeface="Calibri"/>
                        </a:defRPr>
                      </a:pPr>
                      <a:r>
                        <a:t>From an engineering physics perspective, AVB/TSN guarantees bandwidth and ultra-low latency through precise time synchronization (IEEE 802.1AS) and sophisticated traffic shaping mechanisms (IEEE 802.1Qav, Qbu, Qbv), ensuring glitch-free video delivery even in a highly loaded network. The physical layer (e.g., 100BASE-T1 or 1000BASE-T1 for automotive applications) operates over a single unshielded twisted pair, which drastically reduces cable diameter, weight, and material cost compared to multi-differential-pair LVDS cables. Furthermore, robust data encapsulation and error correction protocols embedded within the Ethernet stack ensure high data integrity over the network.</a:t>
                      </a:r>
                    </a:p>
                    <a:p>
                      <a:pPr>
                        <a:defRPr sz="1000">
                          <a:latin typeface="Calibri"/>
                        </a:defRPr>
                      </a:pPr>
                    </a:p>
                    <a:p>
                      <a:pPr>
                        <a:defRPr sz="1000">
                          <a:latin typeface="Calibri"/>
                        </a:defRPr>
                      </a:pPr>
                      <a:r>
                        <a:t>Validation Steps:</a:t>
                      </a:r>
                    </a:p>
                    <a:p>
                      <a:pPr>
                        <a:defRPr sz="1000">
                          <a:latin typeface="Calibri"/>
                        </a:defRPr>
                      </a:pPr>
                      <a:r>
                        <a:t>1.  **Network Architecture Design**: Define the precise AVB/TSN network topology, including the optimal placement of switches/hubs, cable routing, and port assignments for each display, ensuring redundancy options if required.</a:t>
                      </a:r>
                    </a:p>
                    <a:p>
                      <a:pPr>
                        <a:defRPr sz="1000">
                          <a:latin typeface="Calibri"/>
                        </a:defRPr>
                      </a:pPr>
                      <a:r>
                        <a:t>2.  **Component Selection**: Source automotive-qualified AVB/TSN-capable Ethernet PHYs, switches, connectors, and cable assemblies from specialized suppliers, ensuring compliance with relevant automotive standards (e.g., ISO 16750 for environmental).</a:t>
                      </a:r>
                    </a:p>
                    <a:p>
                      <a:pPr>
                        <a:defRPr sz="1000">
                          <a:latin typeface="Calibri"/>
                        </a:defRPr>
                      </a:pPr>
                      <a:r>
                        <a:t>3.  **Prototyping &amp; Integration**: Implement the AVB/TSN network with the centralized DCU (from Idea AI-GEN-01) and the target display panels, establishing end-to-end connectivity and basic functional verification.</a:t>
                      </a:r>
                    </a:p>
                    <a:p>
                      <a:pPr>
                        <a:defRPr sz="1000">
                          <a:latin typeface="Calibri"/>
                        </a:defRPr>
                      </a:pPr>
                      <a:r>
                        <a:t>4.  **Performance &amp; Latency Testing**: Precisely measure end-to-end video latency from the DCU output to the actual display panel input, ensuring it meets the stringent real-time requirements for safety-critical instrument clusters (&lt;30ms) and responsive infotainment. Validate network bandwidth utilization under various peak load conditions and concurrent data streams.</a:t>
                      </a:r>
                    </a:p>
                    <a:p>
                      <a:pPr>
                        <a:defRPr sz="1000">
                          <a:latin typeface="Calibri"/>
                        </a:defRPr>
                      </a:pPr>
                      <a:r>
                        <a:t>5.  **Data Integrity &amp; Reliability Testing**: Perform extensive data error checking over prolonged operational periods, under varying environmental conditions (temperature, vibration, EMI), to confirm robust data transmission without packet loss or corruption.</a:t>
                      </a:r>
                    </a:p>
                    <a:p>
                      <a:pPr>
                        <a:defRPr sz="1000">
                          <a:latin typeface="Calibri"/>
                        </a:defRPr>
                      </a:pPr>
                      <a:r>
                        <a:t>6.  **EMC/EMI Testing**: Conduct comprehensive tests to verify the compliance of the entire AVB network system with automotive electromagnetic compatibility standards (CISPR 25, ISO 11452 series), leveraging the inherent advantages of robust Ethernet signaling.</a:t>
                      </a:r>
                    </a:p>
                    <a:p>
                      <a:pPr>
                        <a:defRPr sz="1000">
                          <a:latin typeface="Calibri"/>
                        </a:defRPr>
                      </a:pPr>
                      <a:r>
                        <a:t>7.  **Software Stack Integration**: Ensure the vehicle's operating system and display drivers can efficiently utilize the AVB/TSN network for high-fidelity video streaming, audio transmission, and control message routing, including boot-up sequence optimization.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Standardize on an integrated display module concept where the touch sensor layer is directly laminated onto the display's cover glass (Touch-on-Lens or ToL), and the display driver IC and touch controller IC are consolidated into a single, co-developed System-on-Panel (SoP) controller, eliminating separate component procurement and assembly steps for the touch subsystem.</a:t>
                      </a:r>
                    </a:p>
                  </a:txBody>
                  <a:tcPr/>
                </a:tc>
                <a:tc>
                  <a:txBody>
                    <a:bodyPr wrap="square"/>
                    <a:lstStyle/>
                    <a:p>
                      <a:pPr>
                        <a:defRPr sz="1000">
                          <a:latin typeface="Calibri"/>
                        </a:defRPr>
                      </a:pPr>
                      <a:r>
                        <a:t>Conventional displays equipped with touch functionality typically involve a separate touch panel (e.g., projected capacitive film), an additional bonding process to integrate it with the display module, and a discrete touch controller chip mounted on a separate flexible printed circuit board (FPCB). This multi-layer approach adds material cost, increases assembly complexity, introduces optical losses, and lengthens the supply chain. By moving to Touch-on-Lens (ToL) technology, the touch sensor pattern (usually Indium Tin Oxide - ITO or metal mesh) is directly etched or printed onto the backside of the display's robust cover glass. This reduces the number of physical layers, minimizes air gaps, and inherently improves optical clarity, brightness, and contrast. Further significant cost reduction is achieved by collaborating with a specialized display and chip supplier to co-develop a single integrated driver IC that manages both the display pixels' refresh and the touch sensing operations. This System-on-Panel (SoP) controller leverages common communication interfaces and power rails, reducing PCB footprint, pin count, external component requirements, and inventory complexity.</a:t>
                      </a:r>
                    </a:p>
                    <a:p>
                      <a:pPr>
                        <a:defRPr sz="1000">
                          <a:latin typeface="Calibri"/>
                        </a:defRPr>
                      </a:pPr>
                    </a:p>
                    <a:p>
                      <a:pPr>
                        <a:defRPr sz="1000">
                          <a:latin typeface="Calibri"/>
                        </a:defRPr>
                      </a:pPr>
                      <a:r>
                        <a:t>From a physics and engineering perspective, ToL technology relies on the principles of projective capacitive sensing, where changes in the electrical field generated by the human finger are detected. Integrating the display and touch controller onto a single silicon die (or in a highly integrated multi-chip module) minimizes signal paths, significantly reduces parasitic capacitance, and optimizes timing synchronization between the display refresh cycle and touch sampling. This leads to improved touch accuracy, faster response times, and reduced electromagnetic interference (EMI) susceptibility that often plagues external touch controllers. The optical stack becomes thinner, enhancing light transmission and reducing reflections.</a:t>
                      </a:r>
                    </a:p>
                    <a:p>
                      <a:pPr>
                        <a:defRPr sz="1000">
                          <a:latin typeface="Calibri"/>
                        </a:defRPr>
                      </a:pPr>
                    </a:p>
                    <a:p>
                      <a:pPr>
                        <a:defRPr sz="1000">
                          <a:latin typeface="Calibri"/>
                        </a:defRPr>
                      </a:pPr>
                      <a:r>
                        <a:t>Validation Steps:</a:t>
                      </a:r>
                    </a:p>
                    <a:p>
                      <a:pPr>
                        <a:defRPr sz="1000">
                          <a:latin typeface="Calibri"/>
                        </a:defRPr>
                      </a:pPr>
                      <a:r>
                        <a:t>1.  **Supplier Collaboration &amp; Technology Assessment**: Engage with specialized display and IC manufacturers with proven expertise in ToL technology and integrated driver solutions. Evaluate their technology maturity, manufacturing capabilities, and cost competitiveness.</a:t>
                      </a:r>
                    </a:p>
                    <a:p>
                      <a:pPr>
                        <a:defRPr sz="1000">
                          <a:latin typeface="Calibri"/>
                        </a:defRPr>
                      </a:pPr>
                      <a:r>
                        <a:t>2.  **Prototyping &amp; Sample Acquisition**: Obtain engineering prototype integrated display modules incorporating the ToL cover glass and the co-developed SoP driver IC for early evaluation.</a:t>
                      </a:r>
                    </a:p>
                    <a:p>
                      <a:pPr>
                        <a:defRPr sz="1000">
                          <a:latin typeface="Calibri"/>
                        </a:defRPr>
                      </a:pPr>
                      <a:r>
                        <a:t>3.  **Touch Performance Evaluation**: Conduct rigorous testing for touch accuracy, linearity, multi-touch gesture recognition (e.g., pinch, zoom), response time, and immunity to various forms of noise (e.g., electrical noise from charging cables, interference from gloves, or presence of water droplets on the screen surface).</a:t>
                      </a:r>
                    </a:p>
                    <a:p>
                      <a:pPr>
                        <a:defRPr sz="1000">
                          <a:latin typeface="Calibri"/>
                        </a:defRPr>
                      </a:pPr>
                      <a:r>
                        <a:t>4.  **Display Optical Performance Testing**: Verify critical display parameters such as luminance, contrast ratio, color gamut, color uniformity, and viewing angles, ensuring that the integration of the touch layer does not introduce unacceptable degradation in visual quality.</a:t>
                      </a:r>
                    </a:p>
                    <a:p>
                      <a:pPr>
                        <a:defRPr sz="1000">
                          <a:latin typeface="Calibri"/>
                        </a:defRPr>
                      </a:pPr>
                      <a:r>
                        <a:t>5.  **Thermal Performance &amp; Stability**: Test the integrated display module under the full automotive temperature range (-40°C to +85°C) to ensure stable and consistent operation of both display and touch functionalities without drift or failure.</a:t>
                      </a:r>
                    </a:p>
                    <a:p>
                      <a:pPr>
                        <a:defRPr sz="1000">
                          <a:latin typeface="Calibri"/>
                        </a:defRPr>
                      </a:pPr>
                      <a:r>
                        <a:t>6.  **Reliability &amp; Durability Testing**: Perform comprehensive reliability tests on the ToL cover glass, including scratch resistance (pencil hardness, steel wool), impact resistance (ball drop), chemical resistance, and accelerated life testing to simulate long-term vehicle use.</a:t>
                      </a:r>
                    </a:p>
                    <a:p>
                      <a:pPr>
                        <a:defRPr sz="1000">
                          <a:latin typeface="Calibri"/>
                        </a:defRPr>
                      </a:pPr>
                      <a:r>
                        <a:t>7.  **Manufacturing Yield Analysis**: Work closely with the supplier to monitor and optimize the manufacturing yield of the integrated module, ensuring cost targets are met at scale.</a:t>
                      </a:r>
                    </a:p>
                  </a:txBody>
                  <a:tcPr/>
                </a:tc>
                <a:tc>
                  <a:txBody>
                    <a:bodyPr wrap="square"/>
                    <a:lstStyle/>
                    <a:p>
                      <a:pPr>
                        <a:defRPr sz="1000">
                          <a:latin typeface="Calibri"/>
                        </a:defRPr>
                      </a:pPr>
                      <a:r>
                        <a:t>0</a:t>
                      </a:r>
                    </a:p>
                  </a:txBody>
                  <a:tcPr/>
                </a:tc>
                <a:tc>
                  <a:txBody>
                    <a:bodyPr wrap="square"/>
                    <a:lstStyle/>
                    <a:p>
                      <a:pPr>
                        <a:defRPr sz="1000">
                          <a:latin typeface="Calibri"/>
                        </a:defRPr>
                      </a:pPr>
                      <a:r>
                        <a:t>N/A</a:t>
                      </a:r>
                    </a:p>
                  </a:txBody>
                  <a:tcPr/>
                </a:tc>
                <a:tc>
                  <a:txBody>
                    <a:bodyPr wrap="square"/>
                    <a:lstStyle/>
                    <a:p>
                      <a:pPr>
                        <a:defRPr sz="1000">
                          <a:latin typeface="Calibri"/>
                        </a:defRPr>
                      </a:pPr>
                      <a:r>
                        <a:t>Conventional displays equipped with touch functionality typically involve a separate touch panel (e.g., projected capacitive film), an additional bonding process to integrate it with the display module, and a discrete touch controller chip mounted on a separate flexible printed circuit board (FPCB). This multi-layer approach adds material cost, increases assembly complexity, introduces optical losses, and lengthens the supply chain. By moving to Touch-on-Lens (ToL) technology, the touch sensor pattern (usually Indium Tin Oxide - ITO or metal mesh) is directly etched or printed onto the backside of the display's robust cover glass. This reduces the number of physical layers, minimizes air gaps, and inherently improves optical clarity, brightness, and contrast. Further significant cost reduction is achieved by collaborating with a specialized display and chip supplier to co-develop a single integrated driver IC that manages both the display pixels' refresh and the touch sensing operations. This System-on-Panel (SoP) controller leverages common communication interfaces and power rails, reducing PCB footprint, pin count, external component requirements, and inventory complexity.</a:t>
                      </a:r>
                    </a:p>
                    <a:p>
                      <a:pPr>
                        <a:defRPr sz="1000">
                          <a:latin typeface="Calibri"/>
                        </a:defRPr>
                      </a:pPr>
                    </a:p>
                    <a:p>
                      <a:pPr>
                        <a:defRPr sz="1000">
                          <a:latin typeface="Calibri"/>
                        </a:defRPr>
                      </a:pPr>
                      <a:r>
                        <a:t>From a physics and engineering perspective, ToL technology relies on the principles of projective capacitive sensing, where changes in the electrical field generated by the human finger are detected. Integrating the display and touch controller onto a single silicon die (or in a highly integrated multi-chip module) minimizes signal paths, significantly reduces parasitic capacitance, and optimizes timing synchronization between the display refresh cycle and touch sampling. This leads to improved touch accuracy, faster response times, and reduced electromagnetic interference (EMI) susceptibility that often plagues external touch controllers. The optical stack becomes thinner, enhancing light transmission and reducing reflections.</a:t>
                      </a:r>
                    </a:p>
                    <a:p>
                      <a:pPr>
                        <a:defRPr sz="1000">
                          <a:latin typeface="Calibri"/>
                        </a:defRPr>
                      </a:pPr>
                    </a:p>
                    <a:p>
                      <a:pPr>
                        <a:defRPr sz="1000">
                          <a:latin typeface="Calibri"/>
                        </a:defRPr>
                      </a:pPr>
                      <a:r>
                        <a:t>Validation Steps:</a:t>
                      </a:r>
                    </a:p>
                    <a:p>
                      <a:pPr>
                        <a:defRPr sz="1000">
                          <a:latin typeface="Calibri"/>
                        </a:defRPr>
                      </a:pPr>
                      <a:r>
                        <a:t>1.  **Supplier Collaboration &amp; Technology Assessment**: Engage with specialized display and IC manufacturers with proven expertise in ToL technology and integrated driver solutions. Evaluate their technology maturity, manufacturing capabilities, and cost competitiveness.</a:t>
                      </a:r>
                    </a:p>
                    <a:p>
                      <a:pPr>
                        <a:defRPr sz="1000">
                          <a:latin typeface="Calibri"/>
                        </a:defRPr>
                      </a:pPr>
                      <a:r>
                        <a:t>2.  **Prototyping &amp; Sample Acquisition**: Obtain engineering prototype integrated display modules incorporating the ToL cover glass and the co-developed SoP driver IC for early evaluation.</a:t>
                      </a:r>
                    </a:p>
                    <a:p>
                      <a:pPr>
                        <a:defRPr sz="1000">
                          <a:latin typeface="Calibri"/>
                        </a:defRPr>
                      </a:pPr>
                      <a:r>
                        <a:t>3.  **Touch Performance Evaluation**: Conduct rigorous testing for touch accuracy, linearity, multi-touch gesture recognition (e.g., pinch, zoom), response time, and immunity to various forms of noise (e.g., electrical noise from charging cables, interference from gloves, or presence of water droplets on the screen surface).</a:t>
                      </a:r>
                    </a:p>
                    <a:p>
                      <a:pPr>
                        <a:defRPr sz="1000">
                          <a:latin typeface="Calibri"/>
                        </a:defRPr>
                      </a:pPr>
                      <a:r>
                        <a:t>4.  **Display Optical Performance Testing**: Verify critical display parameters such as luminance, contrast ratio, color gamut, color uniformity, and viewing angles, ensuring that the integration of the touch layer does not introduce unacceptable degradation in visual quality.</a:t>
                      </a:r>
                    </a:p>
                    <a:p>
                      <a:pPr>
                        <a:defRPr sz="1000">
                          <a:latin typeface="Calibri"/>
                        </a:defRPr>
                      </a:pPr>
                      <a:r>
                        <a:t>5.  **Thermal Performance &amp; Stability**: Test the integrated display module under the full automotive temperature range (-40°C to +85°C) to ensure stable and consistent operation of both display and touch functionalities without drift or failure.</a:t>
                      </a:r>
                    </a:p>
                    <a:p>
                      <a:pPr>
                        <a:defRPr sz="1000">
                          <a:latin typeface="Calibri"/>
                        </a:defRPr>
                      </a:pPr>
                      <a:r>
                        <a:t>6.  **Reliability &amp; Durability Testing**: Perform comprehensive reliability tests on the ToL cover glass, including scratch resistance (pencil hardness, steel wool), impact resistance (ball drop), chemical resistance, and accelerated life testing to simulate long-term vehicle use.</a:t>
                      </a:r>
                    </a:p>
                    <a:p>
                      <a:pPr>
                        <a:defRPr sz="1000">
                          <a:latin typeface="Calibri"/>
                        </a:defRPr>
                      </a:pPr>
                      <a:r>
                        <a:t>7.  **Manufacturing Yield Analysis**: Work closely with the supplier to monitor and optimize the manufacturing yield of the integrated module, ensuring cost targets are met at scale.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Implement an edge-lit LED backlight unit (BLU) architecture across all three displays, utilizing a reduced number of high-efficiency LEDs placed along the perimeter of a precisely engineered light guide, coupled with a simplified, localized DCU-integrated zonal dimming controller that dynamically adjusts brightness in broader regions rather than highly granular local dimming zones.</a:t>
                      </a:r>
                    </a:p>
                  </a:txBody>
                  <a:tcPr/>
                </a:tc>
                <a:tc>
                  <a:txBody>
                    <a:bodyPr wrap="square"/>
                    <a:lstStyle/>
                    <a:p>
                      <a:pPr>
                        <a:defRPr sz="1000">
                          <a:latin typeface="Calibri"/>
                        </a:defRPr>
                      </a:pPr>
                      <a:r>
                        <a:t>Direct-lit backlight units (BLUs) with numerous individual LEDs, coupled with complex local dimming algorithms (often required for achieving premium High Dynamic Range or HDR performance), are inherently expensive, bulky, and consume significant electrical power. Conversely, edge-lit BLU designs, where LEDs are positioned along the sides (or perimeter) of a transparent light guide plate (LGP) and the light is then distributed evenly across the display area, are fundamentally simpler, thinner, and lighter. This design drastically reduces material cost by using fewer LEDs and simplifies the overall assembly process. Cost reduction is further realized by optimizing the LGP design (e.g., micro-lens arrays, diffusion patterns) to achieve sufficient luminance uniformity with a reduced LED count. The strategy of foregoing highly granular, expensive local dimming ASICs (Application-Specific Integrated Circuits) in favor of a simplified zonal dimming approach managed directly by the main DCU (as per Idea AI-GEN-01) or a dedicated, cost-optimized microcontroller within the BLU, strikes an optimal balance between visual performance enhancement and manufacturing cost.</a:t>
                      </a:r>
                    </a:p>
                    <a:p>
                      <a:pPr>
                        <a:defRPr sz="1000">
                          <a:latin typeface="Calibri"/>
                        </a:defRPr>
                      </a:pPr>
                    </a:p>
                    <a:p>
                      <a:pPr>
                        <a:defRPr sz="1000">
                          <a:latin typeface="Calibri"/>
                        </a:defRPr>
                      </a:pPr>
                      <a:r>
                        <a:t>From an engineering physics perspective, light propagation within the LGP relies on Total Internal Reflection (TIR) and precisely engineered micro-patterns (e.g., dots, prisms) on its surface to extract and homogenize light uniformly across the display surface. Fewer LEDs mean reduced current draw, simpler power delivery circuitry, and more manageable thermal dissipation. Dynamic zonal dimming, even with fewer, broader zones, intelligently exploits the statistical properties of image content. Darker content areas can have their corresponding backlight zones dimmed, significantly improving the perceived contrast ratio (CR) and reducing overall power consumption, while brighter areas can be fully illuminated. This requires sophisticated algorithms to analyze incoming video frames in real-time and dynamically adjust the current to LED groups accordingly, without introducing distracting visual artifacts.</a:t>
                      </a:r>
                    </a:p>
                    <a:p>
                      <a:pPr>
                        <a:defRPr sz="1000">
                          <a:latin typeface="Calibri"/>
                        </a:defRPr>
                      </a:pPr>
                    </a:p>
                    <a:p>
                      <a:pPr>
                        <a:defRPr sz="1000">
                          <a:latin typeface="Calibri"/>
                        </a:defRPr>
                      </a:pPr>
                      <a:r>
                        <a:t>Validation Steps:</a:t>
                      </a:r>
                    </a:p>
                    <a:p>
                      <a:pPr>
                        <a:defRPr sz="1000">
                          <a:latin typeface="Calibri"/>
                        </a:defRPr>
                      </a:pPr>
                      <a:r>
                        <a:t>1.  **Optical Design &amp; Simulation**: Conduct extensive optical simulations (e.g., using TracePro, LightTools) to model the LGP design, LED placement, and micro-pattern optimization to achieve target luminance uniformity, efficiency, and color rendition across the entire display area.</a:t>
                      </a:r>
                    </a:p>
                    <a:p>
                      <a:pPr>
                        <a:defRPr sz="1000">
                          <a:latin typeface="Calibri"/>
                        </a:defRPr>
                      </a:pPr>
                      <a:r>
                        <a:t>2.  **LED Selection &amp; Characterization**: Choose high-efficiency, automotive-grade LEDs with appropriate color temperature, beam angle, and specified lifespan under automotive operating conditions. Characterize their optical and electrical performance.</a:t>
                      </a:r>
                    </a:p>
                    <a:p>
                      <a:pPr>
                        <a:defRPr sz="1000">
                          <a:latin typeface="Calibri"/>
                        </a:defRPr>
                      </a:pPr>
                      <a:r>
                        <a:t>3.  **BLU Prototyping &amp; Assembly**: Develop prototype edge-lit BLUs for each of the three display types. Optimize the assembly process for cost and robustness.</a:t>
                      </a:r>
                    </a:p>
                    <a:p>
                      <a:pPr>
                        <a:defRPr sz="1000">
                          <a:latin typeface="Calibri"/>
                        </a:defRPr>
                      </a:pPr>
                      <a:r>
                        <a:t>4.  **Luminance, Uniformity &amp; Contrast Testing**: Precisely measure actual display luminance, uniformity (using a spectroradiometer or luminance meter), and perceived contrast ratio under various dimming levels and ambient lighting conditions.</a:t>
                      </a:r>
                    </a:p>
                    <a:p>
                      <a:pPr>
                        <a:defRPr sz="1000">
                          <a:latin typeface="Calibri"/>
                        </a:defRPr>
                      </a:pPr>
                      <a:r>
                        <a:t>5.  **Power Consumption Analysis**: Conduct detailed measurements of the power draw of the simplified BLU architecture and compare it against more complex, direct-lit designs to quantify the energy savings.</a:t>
                      </a:r>
                    </a:p>
                    <a:p>
                      <a:pPr>
                        <a:defRPr sz="1000">
                          <a:latin typeface="Calibri"/>
                        </a:defRPr>
                      </a:pPr>
                      <a:r>
                        <a:t>6.  **Dynamic Dimming Algorithm Validation**: Develop, tune, and rigorously test the zonal dimming algorithm within the DCU/microcontroller. Evaluate its performance with a diverse range of video content to identify and mitigate potential artifacts such as halo effect, blooming, or visible dimming zone transitions.</a:t>
                      </a:r>
                    </a:p>
                    <a:p>
                      <a:pPr>
                        <a:defRPr sz="1000">
                          <a:latin typeface="Calibri"/>
                        </a:defRPr>
                      </a:pPr>
                      <a:r>
                        <a:t>7.  **Thermal Management Validation**: Verify the thermal performance of the BLU, ensuring that the LEDs and associated driver circuitry operate within their specified temperature limits for long-term reliability and consistent performance, preventing color shift or lumen degradation over time.</a:t>
                      </a:r>
                    </a:p>
                  </a:txBody>
                  <a:tcPr/>
                </a:tc>
                <a:tc>
                  <a:txBody>
                    <a:bodyPr wrap="square"/>
                    <a:lstStyle/>
                    <a:p>
                      <a:pPr>
                        <a:defRPr sz="1000">
                          <a:latin typeface="Calibri"/>
                        </a:defRPr>
                      </a:pPr>
                      <a:r>
                        <a:t>0</a:t>
                      </a:r>
                    </a:p>
                  </a:txBody>
                  <a:tcPr/>
                </a:tc>
                <a:tc>
                  <a:txBody>
                    <a:bodyPr wrap="square"/>
                    <a:lstStyle/>
                    <a:p>
                      <a:pPr>
                        <a:defRPr sz="1000">
                          <a:latin typeface="Calibri"/>
                        </a:defRPr>
                      </a:pPr>
                      <a:r>
                        <a:t>N/A</a:t>
                      </a:r>
                    </a:p>
                  </a:txBody>
                  <a:tcPr/>
                </a:tc>
                <a:tc>
                  <a:txBody>
                    <a:bodyPr wrap="square"/>
                    <a:lstStyle/>
                    <a:p>
                      <a:pPr>
                        <a:defRPr sz="1000">
                          <a:latin typeface="Calibri"/>
                        </a:defRPr>
                      </a:pPr>
                      <a:r>
                        <a:t>Direct-lit backlight units (BLUs) with numerous individual LEDs, coupled with complex local dimming algorithms (often required for achieving premium High Dynamic Range or HDR performance), are inherently expensive, bulky, and consume significant electrical power. Conversely, edge-lit BLU designs, where LEDs are positioned along the sides (or perimeter) of a transparent light guide plate (LGP) and the light is then distributed evenly across the display area, are fundamentally simpler, thinner, and lighter. This design drastically reduces material cost by using fewer LEDs and simplifies the overall assembly process. Cost reduction is further realized by optimizing the LGP design (e.g., micro-lens arrays, diffusion patterns) to achieve sufficient luminance uniformity with a reduced LED count. The strategy of foregoing highly granular, expensive local dimming ASICs (Application-Specific Integrated Circuits) in favor of a simplified zonal dimming approach managed directly by the main DCU (as per Idea AI-GEN-01) or a dedicated, cost-optimized microcontroller within the BLU, strikes an optimal balance between visual performance enhancement and manufacturing cost.</a:t>
                      </a:r>
                    </a:p>
                    <a:p>
                      <a:pPr>
                        <a:defRPr sz="1000">
                          <a:latin typeface="Calibri"/>
                        </a:defRPr>
                      </a:pPr>
                    </a:p>
                    <a:p>
                      <a:pPr>
                        <a:defRPr sz="1000">
                          <a:latin typeface="Calibri"/>
                        </a:defRPr>
                      </a:pPr>
                      <a:r>
                        <a:t>From an engineering physics perspective, light propagation within the LGP relies on Total Internal Reflection (TIR) and precisely engineered micro-patterns (e.g., dots, prisms) on its surface to extract and homogenize light uniformly across the display surface. Fewer LEDs mean reduced current draw, simpler power delivery circuitry, and more manageable thermal dissipation. Dynamic zonal dimming, even with fewer, broader zones, intelligently exploits the statistical properties of image content. Darker content areas can have their corresponding backlight zones dimmed, significantly improving the perceived contrast ratio (CR) and reducing overall power consumption, while brighter areas can be fully illuminated. This requires sophisticated algorithms to analyze incoming video frames in real-time and dynamically adjust the current to LED groups accordingly, without introducing distracting visual artifacts.</a:t>
                      </a:r>
                    </a:p>
                    <a:p>
                      <a:pPr>
                        <a:defRPr sz="1000">
                          <a:latin typeface="Calibri"/>
                        </a:defRPr>
                      </a:pPr>
                    </a:p>
                    <a:p>
                      <a:pPr>
                        <a:defRPr sz="1000">
                          <a:latin typeface="Calibri"/>
                        </a:defRPr>
                      </a:pPr>
                      <a:r>
                        <a:t>Validation Steps:</a:t>
                      </a:r>
                    </a:p>
                    <a:p>
                      <a:pPr>
                        <a:defRPr sz="1000">
                          <a:latin typeface="Calibri"/>
                        </a:defRPr>
                      </a:pPr>
                      <a:r>
                        <a:t>1.  **Optical Design &amp; Simulation**: Conduct extensive optical simulations (e.g., using TracePro, LightTools) to model the LGP design, LED placement, and micro-pattern optimization to achieve target luminance uniformity, efficiency, and color rendition across the entire display area.</a:t>
                      </a:r>
                    </a:p>
                    <a:p>
                      <a:pPr>
                        <a:defRPr sz="1000">
                          <a:latin typeface="Calibri"/>
                        </a:defRPr>
                      </a:pPr>
                      <a:r>
                        <a:t>2.  **LED Selection &amp; Characterization**: Choose high-efficiency, automotive-grade LEDs with appropriate color temperature, beam angle, and specified lifespan under automotive operating conditions. Characterize their optical and electrical performance.</a:t>
                      </a:r>
                    </a:p>
                    <a:p>
                      <a:pPr>
                        <a:defRPr sz="1000">
                          <a:latin typeface="Calibri"/>
                        </a:defRPr>
                      </a:pPr>
                      <a:r>
                        <a:t>3.  **BLU Prototyping &amp; Assembly**: Develop prototype edge-lit BLUs for each of the three display types. Optimize the assembly process for cost and robustness.</a:t>
                      </a:r>
                    </a:p>
                    <a:p>
                      <a:pPr>
                        <a:defRPr sz="1000">
                          <a:latin typeface="Calibri"/>
                        </a:defRPr>
                      </a:pPr>
                      <a:r>
                        <a:t>4.  **Luminance, Uniformity &amp; Contrast Testing**: Precisely measure actual display luminance, uniformity (using a spectroradiometer or luminance meter), and perceived contrast ratio under various dimming levels and ambient lighting conditions.</a:t>
                      </a:r>
                    </a:p>
                    <a:p>
                      <a:pPr>
                        <a:defRPr sz="1000">
                          <a:latin typeface="Calibri"/>
                        </a:defRPr>
                      </a:pPr>
                      <a:r>
                        <a:t>5.  **Power Consumption Analysis**: Conduct detailed measurements of the power draw of the simplified BLU architecture and compare it against more complex, direct-lit designs to quantify the energy savings.</a:t>
                      </a:r>
                    </a:p>
                    <a:p>
                      <a:pPr>
                        <a:defRPr sz="1000">
                          <a:latin typeface="Calibri"/>
                        </a:defRPr>
                      </a:pPr>
                      <a:r>
                        <a:t>6.  **Dynamic Dimming Algorithm Validation**: Develop, tune, and rigorously test the zonal dimming algorithm within the DCU/microcontroller. Evaluate its performance with a diverse range of video content to identify and mitigate potential artifacts such as halo effect, blooming, or visible dimming zone transitions.</a:t>
                      </a:r>
                    </a:p>
                    <a:p>
                      <a:pPr>
                        <a:defRPr sz="1000">
                          <a:latin typeface="Calibri"/>
                        </a:defRPr>
                      </a:pPr>
                      <a:r>
                        <a:t>7.  **Thermal Management Validation**: Verify the thermal performance of the BLU, ensuring that the LEDs and associated driver circuitry operate within their specified temperature limits for long-term reliability and consistent performance, preventing color shift or lumen degradation over time.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Optimize component design through integrated cross-functional engineering reviews</a:t>
                      </a:r>
                    </a:p>
                  </a:txBody>
                  <a:tcPr/>
                </a:tc>
                <a:tc>
                  <a:txBody>
                    <a:bodyPr wrap="square"/>
                    <a:lstStyle/>
                    <a:p>
                      <a:pPr>
                        <a:defRPr sz="1000">
                          <a:latin typeface="Calibri"/>
                        </a:defRPr>
                      </a:pPr>
                      <a:r>
                        <a:t>Establish mandatory early-phase DFM/DFA (Design for Manufacturability/Assembly) reviews involving design, manufacturing, and procurement teams. Focus on reducing part count via consolidation, simplifying geometry for easier production (e.g., fewer complex machining operations, suitability for stamping/molding), and standardizing components (e.g., fasteners, connectors) across sub-assemblies. This aims to reduce tooling costs, material waste, and assembly time.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Establish mandatory early-phase DFM/DFA (Design for Manufacturability/Assembly) reviews involving design, manufacturing, and procurement teams. Focus on reducing part count via consolidation, simplifying geometry for easier production (e.g., fewer complex machining operations, suitability for stamping/molding), and standardizing components (e.g., fasteners, connectors) across sub-assemblies. This aims to reduce tooling costs, material waste, and assembly time.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Reduce sensor-related costs by optimizing sensor selection and integration</a:t>
                      </a:r>
                    </a:p>
                  </a:txBody>
                  <a:tcPr/>
                </a:tc>
                <a:tc>
                  <a:txBody>
                    <a:bodyPr wrap="square"/>
                    <a:lstStyle/>
                    <a:p>
                      <a:pPr>
                        <a:defRPr sz="1000">
                          <a:latin typeface="Calibri"/>
                        </a:defRPr>
                      </a:pPr>
                      <a:r>
                        <a:t>Conduct a value engineering analysis on existing sensor types and placements. Identify opportunities to replace high-cost, high-precision sensors with functionally adequate, lower-cost alternatives where 'technical sensitivity' is not critically compromised. Explore the consolidation of multiple sensing functions into single, integrated sensor modules (e.g., multi-parameter sensors) to reduce wiring, installation complexity, and total part count. Leverage advanced signal processing to extract more information from fewer sensors. Source: [https://www.f1technical.net/forum/viewtopic.php?t=32054&amp;start=7905]</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Conduct a value engineering analysis on existing sensor types and placements. Identify opportunities to replace high-cost, high-precision sensors with functionally adequate, lower-cost alternatives where 'technical sensitivity' is not critically compromised. Explore the consolidation of multiple sensing functions into single, integrated sensor modules (e.g., multi-parameter sensors) to reduce wiring, installation complexity, and total part count. Leverage advanced signal processing to extract more information from fewer sensors. Source: [https://www.f1technical.net/forum/viewtopic.php?t=32054&amp;start=7905]</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Lower manufacturing and maintenance costs by simplifying designs based on operational feedback</a:t>
                      </a:r>
                    </a:p>
                  </a:txBody>
                  <a:tcPr/>
                </a:tc>
                <a:tc>
                  <a:txBody>
                    <a:bodyPr wrap="square"/>
                    <a:lstStyle/>
                    <a:p>
                      <a:pPr>
                        <a:defRPr sz="1000">
                          <a:latin typeface="Calibri"/>
                        </a:defRPr>
                      </a:pPr>
                      <a:r>
                        <a:t>Institute a structured feedback loop where insights from field performance, maintenance logs, and end-user (e.g., driver, mechanic) 'technical sensitivity' reports are rigorously analyzed. Use this data to identify components or features that are over-engineered, difficult to service, or prone to failure, leading to redesigns. Specific actions include reducing material complexity, eliminating unnecessary features, adopting modular sub-systems for easier repair/replacement, and designing for faster assembly/disassembly. Source: [https://www.f1technical.net/forum/viewtopic.php?t=32051&amp;start=7050]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Institute a structured feedback loop where insights from field performance, maintenance logs, and end-user (e.g., driver, mechanic) 'technical sensitivity' reports are rigorously analyzed. Use this data to identify components or features that are over-engineered, difficult to service, or prone to failure, leading to redesigns. Specific actions include reducing material complexity, eliminating unnecessary features, adopting modular sub-systems for easier repair/replacement, and designing for faster assembly/disassembly. Source: [https://www.f1technical.net/forum/viewtopic.php?t=32051&amp;start=7050]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14</a:t>
            </a:r>
          </a:p>
          <a:p>
            <a:pPr>
              <a:defRPr sz="1000">
                <a:latin typeface="Calibri"/>
              </a:defRPr>
            </a:pPr>
            <a:r>
              <a:t>• Total Potential Savings: INR 425.00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5</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14 ideas analyzed.</a:t>
            </a:r>
          </a:p>
          <a:p>
            <a:pPr>
              <a:defRPr sz="1800">
                <a:latin typeface="Calibri"/>
              </a:defRPr>
            </a:pPr>
            <a:r>
              <a:t>Total Savings: INR 425.00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
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600">
                <a:latin typeface="Calibri"/>
              </a:defRPr>
            </a:pPr>
            <a:r>
              <a:t>Cost Savings by Idea</a:t>
            </a:r>
          </a:p>
        </c:rich>
      </c:tx>
      <c:layout/>
      <c:overlay val="0"/>
    </c:title>
    <c:autoTitleDeleted val="0"/>
    <c:plotArea>
      <c:barChart>
        <c:barDir val="col"/>
        <c:grouping val="clustered"/>
        <c:ser>
          <c:idx val="0"/>
          <c:order val="0"/>
          <c:tx>
            <c:strRef>
              <c:f>Sheet1!$B$1</c:f>
              <c:strCache>
                <c:ptCount val="1"/>
                <c:pt idx="0">
                  <c:v>Savings (INR)</c:v>
                </c:pt>
              </c:strCache>
            </c:strRef>
          </c:tx>
          <c:cat>
            <c:strRef>
              <c:f>Sheet1!$A$2:$A$14</c:f>
              <c:strCache>
                <c:ptCount val="13"/>
                <c:pt idx="0">
                  <c:v>2311-EL-ID-10</c:v>
                </c:pt>
                <c:pt idx="1">
                  <c:v>2311-EL-ID-08</c:v>
                </c:pt>
                <c:pt idx="2">
                  <c:v>2311-EL-ID-09</c:v>
                </c:pt>
                <c:pt idx="3">
                  <c:v>2311-ET-ID-14</c:v>
                </c:pt>
                <c:pt idx="4">
                  <c:v>2311-EL-ID-11</c:v>
                </c:pt>
                <c:pt idx="5">
                  <c:v>AI-GEN-01</c:v>
                </c:pt>
                <c:pt idx="6">
                  <c:v>AI-GEN-02</c:v>
                </c:pt>
                <c:pt idx="7">
                  <c:v>AI-GEN-03</c:v>
                </c:pt>
                <c:pt idx="8">
                  <c:v>AI-GEN-04</c:v>
                </c:pt>
                <c:pt idx="9">
                  <c:v>AI-GEN-05</c:v>
                </c:pt>
                <c:pt idx="10">
                  <c:v>AI-GEN-06</c:v>
                </c:pt>
                <c:pt idx="11">
                  <c:v>WEB-GEN-01</c:v>
                </c:pt>
                <c:pt idx="12">
                  <c:v>WEB-GEN-02</c:v>
                </c:pt>
              </c:strCache>
            </c:strRef>
          </c:cat>
          <c:val>
            <c:numRef>
              <c:f>Sheet1!$B$2:$B$14</c:f>
              <c:numCache>
                <c:formatCode>General</c:formatCode>
                <c:ptCount val="13"/>
                <c:pt idx="0">
                  <c:v>61.0</c:v>
                </c:pt>
                <c:pt idx="1">
                  <c:v>135.0</c:v>
                </c:pt>
                <c:pt idx="2">
                  <c:v>90.0</c:v>
                </c:pt>
                <c:pt idx="3">
                  <c:v>41.0</c:v>
                </c:pt>
                <c:pt idx="4">
                  <c:v>137.0</c:v>
                </c:pt>
                <c:pt idx="5">
                  <c:v>0</c:v>
                </c:pt>
                <c:pt idx="6">
                  <c:v>0</c:v>
                </c:pt>
                <c:pt idx="7">
                  <c:v>0</c:v>
                </c:pt>
                <c:pt idx="8">
                  <c:v>0</c:v>
                </c:pt>
                <c:pt idx="9">
                  <c:v>0</c:v>
                </c:pt>
                <c:pt idx="10">
                  <c:v>0</c:v>
                </c:pt>
                <c:pt idx="11">
                  <c:v>0</c:v>
                </c:pt>
                <c:pt idx="12">
                  <c:v>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pPr>
              <a:defRPr sz="1600">
                <a:latin typeface="Calibri"/>
              </a:defRPr>
            </a:pPr>
            <a:r>
              <a:t>Ideas Status Distribution</a:t>
            </a:r>
          </a:p>
        </c:rich>
      </c:tx>
      <c:layout/>
      <c:overlay val="0"/>
    </c:title>
    <c:autoTitleDeleted val="0"/>
    <c:plotArea>
      <c:pieChart>
        <c:varyColors val="1"/>
        <c:ser>
          <c:idx val="0"/>
          <c:order val="0"/>
          <c:tx>
            <c:strRef>
              <c:f>Sheet1!$B$1</c:f>
              <c:strCache>
                <c:ptCount val="1"/>
                <c:pt idx="0">
                  <c:v>Status</c:v>
                </c:pt>
              </c:strCache>
            </c:strRef>
          </c:tx>
          <c:dPt>
            <c:idx val="0"/>
            <c:spPr>
              <a:solidFill>
                <a:srgbClr val="0000FF"/>
              </a:solidFill>
            </c:spPr>
          </c:dPt>
          <c:dPt>
            <c:idx val="1"/>
            <c:spPr>
              <a:solidFill>
                <a:srgbClr val="FF0000"/>
              </a:solidFill>
            </c:spPr>
          </c:dPt>
          <c:dPt>
            <c:idx val="2"/>
            <c:spPr>
              <a:solidFill>
                <a:srgbClr val="008000"/>
              </a:solidFill>
            </c:spPr>
          </c:dPt>
          <c:dPt>
            <c:idx val="3"/>
            <c:spPr>
              <a:solidFill>
                <a:srgbClr val="800080"/>
              </a:solidFill>
            </c:spPr>
          </c:dPt>
          <c:cat>
            <c:strRef>
              <c:f>Sheet1!$A$2:$A$5</c:f>
              <c:strCache>
                <c:ptCount val="4"/>
                <c:pt idx="0">
                  <c:v>Implemented</c:v>
                </c:pt>
                <c:pt idx="1">
                  <c:v>Status OK</c:v>
                </c:pt>
                <c:pt idx="2">
                  <c:v>Status TBD</c:v>
                </c:pt>
                <c:pt idx="3">
                  <c:v>Status NG</c:v>
                </c:pt>
              </c:strCache>
            </c:strRef>
          </c:cat>
          <c:val>
            <c:numRef>
              <c:f>Sheet1!$B$2:$B$5</c:f>
              <c:numCache>
                <c:formatCode>General</c:formatCode>
                <c:ptCount val="4"/>
                <c:pt idx="0">
                  <c:v>0</c:v>
                </c:pt>
                <c:pt idx="1">
                  <c:v>1</c:v>
                </c:pt>
                <c:pt idx="2">
                  <c:v>2</c:v>
                </c:pt>
                <c:pt idx="3">
                  <c:v>2</c:v>
                </c:pt>
              </c:numCache>
            </c:numRef>
          </c:val>
        </c:ser>
      </c:pieChart>
    </c:plotArea>
    <c:legend>
      <c:legendPos/>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g.png"/>
          <p:cNvPicPr>
            <a:picLocks noChangeAspect="1"/>
          </p:cNvPicPr>
          <p:nvPr/>
        </p:nvPicPr>
        <p:blipFill>
          <a:blip r:embed="rId2"/>
          <a:stretch>
            <a:fillRect/>
          </a:stretch>
        </p:blipFill>
        <p:spPr>
          <a:xfrm>
            <a:off x="457200" y="457200"/>
            <a:ext cx="1828800" cy="1828800"/>
          </a:xfrm>
          <a:prstGeom prst="rect">
            <a:avLst/>
          </a:prstGeom>
        </p:spPr>
      </p:pic>
      <p:sp>
        <p:nvSpPr>
          <p:cNvPr id="3" name="TextBox 2"/>
          <p:cNvSpPr txBox="1"/>
          <p:nvPr/>
        </p:nvSpPr>
        <p:spPr>
          <a:xfrm>
            <a:off x="2468880" y="914400"/>
            <a:ext cx="6400800" cy="2743200"/>
          </a:xfrm>
          <a:prstGeom prst="rect">
            <a:avLst/>
          </a:prstGeom>
          <a:noFill/>
        </p:spPr>
        <p:txBody>
          <a:bodyPr wrap="square">
            <a:spAutoFit/>
          </a:bodyPr>
          <a:lstStyle/>
          <a:p/>
          <a:p>
            <a:pPr>
              <a:defRPr sz="3600" b="1">
                <a:solidFill>
                  <a:srgbClr val="DC3545"/>
                </a:solidFill>
                <a:latin typeface="Calibri"/>
              </a:defRPr>
            </a:pPr>
            <a:r>
              <a:t>JSW MG MOTOR INDIA</a:t>
            </a:r>
          </a:p>
          <a:p>
            <a:pPr>
              <a:defRPr sz="2800" b="1">
                <a:solidFill>
                  <a:srgbClr val="000000"/>
                </a:solidFill>
                <a:latin typeface="Calibri"/>
              </a:defRPr>
            </a:pPr>
            <a:r>
              <a:t>Cost Reduction Idea Analysis Presentation</a:t>
            </a:r>
          </a:p>
          <a:p>
            <a:pPr>
              <a:defRPr sz="1600">
                <a:latin typeface="Calibri"/>
              </a:defRPr>
            </a:pPr>
            <a:r>
              <a:t>Presentation generated by VAVE AI</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1)</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2311-EL-ID-10</a:t>
                      </a:r>
                    </a:p>
                  </a:txBody>
                  <a:tcPr/>
                </a:tc>
                <a:tc>
                  <a:txBody>
                    <a:bodyPr wrap="square"/>
                    <a:lstStyle/>
                    <a:p>
                      <a:pPr>
                        <a:defRPr sz="1000">
                          <a:latin typeface="Calibri"/>
                        </a:defRPr>
                      </a:pPr>
                      <a:r>
                        <a:t>Replace the 444GSM Battery Insulation Cover used in MGI with a 350GSM Insulation Cover</a:t>
                      </a:r>
                    </a:p>
                  </a:txBody>
                  <a:tcPr/>
                </a:tc>
                <a:tc>
                  <a:txBody>
                    <a:bodyPr wrap="square"/>
                    <a:lstStyle/>
                    <a:p>
                      <a:pPr>
                        <a:defRPr sz="1000">
                          <a:latin typeface="Calibri"/>
                        </a:defRPr>
                      </a:pPr>
                      <a:r>
                        <a:t>Thermal performance pending with change in density</a:t>
                      </a:r>
                    </a:p>
                  </a:txBody>
                  <a:tcPr/>
                </a:tc>
                <a:tc>
                  <a:txBody>
                    <a:bodyPr wrap="square"/>
                    <a:lstStyle/>
                    <a:p>
                      <a:pPr>
                        <a:defRPr sz="1000">
                          <a:latin typeface="Calibri"/>
                        </a:defRPr>
                      </a:pPr>
                      <a:r>
                        <a:t>INR 61.0</a:t>
                      </a:r>
                    </a:p>
                  </a:txBody>
                  <a:tcPr/>
                </a:tc>
                <a:tc>
                  <a:txBody>
                    <a:bodyPr wrap="square"/>
                    <a:lstStyle/>
                    <a:p>
                      <a:pPr>
                        <a:defRPr sz="1000">
                          <a:latin typeface="Calibri"/>
                        </a:defRPr>
                      </a:pPr>
                      <a:r>
                        <a:t>TBD</a:t>
                      </a:r>
                    </a:p>
                  </a:txBody>
                  <a:tcPr/>
                </a:tc>
                <a:tc>
                  <a:txBody>
                    <a:bodyPr wrap="square"/>
                    <a:lstStyle/>
                    <a:p>
                      <a:pPr>
                        <a:defRPr sz="1000">
                          <a:latin typeface="Calibri"/>
                        </a:defRPr>
                      </a:pPr>
                      <a:r>
                        <a:t>Thermal performance pending with change in density</a:t>
                      </a:r>
                    </a:p>
                  </a:txBody>
                  <a:tcPr/>
                </a:tc>
                <a:tc>
                  <a:txBody>
                    <a:bodyPr wrap="square"/>
                    <a:lstStyle/>
                    <a:p>
                      <a:pPr>
                        <a:defRPr sz="1000">
                          <a:latin typeface="Calibri"/>
                        </a:defRPr>
                      </a:pPr>
                      <a:r>
                        <a:t>Ojaswini</a:t>
                      </a:r>
                    </a:p>
                  </a:txBody>
                  <a:tcPr/>
                </a:tc>
                <a:tc>
                  <a:txBody>
                    <a:bodyPr wrap="square"/>
                    <a:lstStyle/>
                    <a:p>
                      <a:pPr>
                        <a:defRPr sz="1000">
                          <a:latin typeface="Calibri"/>
                        </a:defRPr>
                      </a:pPr>
                      <a:r>
                        <a:t>2024-03-29 00:00:00</a:t>
                      </a:r>
                    </a:p>
                  </a:txBody>
                  <a:tcPr/>
                </a:tc>
              </a:tr>
              <a:tr h="320040">
                <a:tc>
                  <a:txBody>
                    <a:bodyPr wrap="square"/>
                    <a:lstStyle/>
                    <a:p>
                      <a:pPr>
                        <a:defRPr sz="1000">
                          <a:latin typeface="Calibri"/>
                        </a:defRPr>
                      </a:pPr>
                      <a:r>
                        <a:t>2311-EL-ID-08</a:t>
                      </a:r>
                    </a:p>
                  </a:txBody>
                  <a:tcPr/>
                </a:tc>
                <a:tc>
                  <a:txBody>
                    <a:bodyPr wrap="square"/>
                    <a:lstStyle/>
                    <a:p>
                      <a:pPr>
                        <a:defRPr sz="1000">
                          <a:latin typeface="Calibri"/>
                        </a:defRPr>
                      </a:pPr>
                      <a:r>
                        <a:t>Update the battery mounting technique in MGI to align with the one employed in KIA, including a redesign of the battery-securing enclosure.</a:t>
                      </a:r>
                    </a:p>
                  </a:txBody>
                  <a:tcPr/>
                </a:tc>
                <a:tc>
                  <a:txBody>
                    <a:bodyPr wrap="square"/>
                    <a:lstStyle/>
                    <a:p>
                      <a:pPr>
                        <a:defRPr sz="1000">
                          <a:latin typeface="Calibri"/>
                        </a:defRPr>
                      </a:pPr>
                      <a:r>
                        <a:t>nan</a:t>
                      </a:r>
                    </a:p>
                  </a:txBody>
                  <a:tcPr/>
                </a:tc>
                <a:tc>
                  <a:txBody>
                    <a:bodyPr wrap="square"/>
                    <a:lstStyle/>
                    <a:p>
                      <a:pPr>
                        <a:defRPr sz="1000">
                          <a:latin typeface="Calibri"/>
                        </a:defRPr>
                      </a:pPr>
                      <a:r>
                        <a:t>INR 135.0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2311-EL-ID-09</a:t>
                      </a:r>
                    </a:p>
                  </a:txBody>
                  <a:tcPr/>
                </a:tc>
                <a:tc>
                  <a:txBody>
                    <a:bodyPr wrap="square"/>
                    <a:lstStyle/>
                    <a:p>
                      <a:pPr>
                        <a:defRPr sz="1000">
                          <a:latin typeface="Calibri"/>
                        </a:defRPr>
                      </a:pPr>
                      <a:r>
                        <a:t>Remove the separate tray provided at the base of the battery enclosure in MGI</a:t>
                      </a:r>
                    </a:p>
                  </a:txBody>
                  <a:tcPr/>
                </a:tc>
                <a:tc>
                  <a:txBody>
                    <a:bodyPr wrap="square"/>
                    <a:lstStyle/>
                    <a:p>
                      <a:pPr>
                        <a:defRPr sz="1000">
                          <a:latin typeface="Calibri"/>
                        </a:defRPr>
                      </a:pPr>
                      <a:r>
                        <a:t>Confirm homeroom feasibility</a:t>
                      </a:r>
                    </a:p>
                  </a:txBody>
                  <a:tcPr/>
                </a:tc>
                <a:tc>
                  <a:txBody>
                    <a:bodyPr wrap="square"/>
                    <a:lstStyle/>
                    <a:p>
                      <a:pPr>
                        <a:defRPr sz="1000">
                          <a:latin typeface="Calibri"/>
                        </a:defRPr>
                      </a:pPr>
                      <a:r>
                        <a:t>INR 90.0</a:t>
                      </a:r>
                    </a:p>
                  </a:txBody>
                  <a:tcPr/>
                </a:tc>
                <a:tc>
                  <a:txBody>
                    <a:bodyPr wrap="square"/>
                    <a:lstStyle/>
                    <a:p>
                      <a:pPr>
                        <a:defRPr sz="1000">
                          <a:latin typeface="Calibri"/>
                        </a:defRPr>
                      </a:pPr>
                      <a:r>
                        <a:t>NG</a:t>
                      </a:r>
                    </a:p>
                  </a:txBody>
                  <a:tcPr/>
                </a:tc>
                <a:tc>
                  <a:txBody>
                    <a:bodyPr wrap="square"/>
                    <a:lstStyle/>
                    <a:p>
                      <a:pPr>
                        <a:defRPr sz="1000">
                          <a:latin typeface="Calibri"/>
                        </a:defRPr>
                      </a:pPr>
                      <a:r>
                        <a:t>Confirm homeroom feasibility</a:t>
                      </a:r>
                    </a:p>
                  </a:txBody>
                  <a:tcPr/>
                </a:tc>
                <a:tc>
                  <a:txBody>
                    <a:bodyPr wrap="square"/>
                    <a:lstStyle/>
                    <a:p>
                      <a:pPr>
                        <a:defRPr sz="1000">
                          <a:latin typeface="Calibri"/>
                        </a:defRPr>
                      </a:pPr>
                      <a:r>
                        <a:t>Ratnadeep</a:t>
                      </a:r>
                    </a:p>
                  </a:txBody>
                  <a:tcPr/>
                </a:tc>
                <a:tc>
                  <a:txBody>
                    <a:bodyPr wrap="square"/>
                    <a:lstStyle/>
                    <a:p>
                      <a:pPr>
                        <a:defRPr sz="1000">
                          <a:latin typeface="Calibri"/>
                        </a:defRPr>
                      </a:pPr>
                      <a:r>
                        <a:t>2024-04-15 00:00:00</a:t>
                      </a:r>
                    </a:p>
                  </a:txBody>
                  <a:tcPr/>
                </a:tc>
              </a:tr>
              <a:tr h="320040">
                <a:tc>
                  <a:txBody>
                    <a:bodyPr wrap="square"/>
                    <a:lstStyle/>
                    <a:p>
                      <a:pPr>
                        <a:defRPr sz="1000">
                          <a:latin typeface="Calibri"/>
                        </a:defRPr>
                      </a:pPr>
                      <a:r>
                        <a:t>2311-ET-ID-14</a:t>
                      </a:r>
                    </a:p>
                  </a:txBody>
                  <a:tcPr/>
                </a:tc>
                <a:tc>
                  <a:txBody>
                    <a:bodyPr wrap="square"/>
                    <a:lstStyle/>
                    <a:p>
                      <a:pPr>
                        <a:defRPr sz="1000">
                          <a:latin typeface="Calibri"/>
                        </a:defRPr>
                      </a:pPr>
                      <a:r>
                        <a:t>1. Replace the 2240GSM Engine Bay Insulation Cover within MGI with a 1080 - 1100GSM Insulation Cover (PES-NF) as in KIA</a:t>
                      </a:r>
                    </a:p>
                    <a:p>
                      <a:pPr>
                        <a:defRPr sz="1000">
                          <a:latin typeface="Calibri"/>
                        </a:defRPr>
                      </a:pPr>
                      <a:r>
                        <a:t>2. Replace the 5300GSM Cabin Insulation Cover within MGI with a 4550 - 4650GSM Insulation Cover as in KIA</a:t>
                      </a:r>
                    </a:p>
                  </a:txBody>
                  <a:tcPr/>
                </a:tc>
                <a:tc>
                  <a:txBody>
                    <a:bodyPr wrap="square"/>
                    <a:lstStyle/>
                    <a:p>
                      <a:pPr>
                        <a:defRPr sz="1000">
                          <a:latin typeface="Calibri"/>
                        </a:defRPr>
                      </a:pPr>
                      <a:r>
                        <a:t>Confirm on vehicel trial</a:t>
                      </a:r>
                    </a:p>
                  </a:txBody>
                  <a:tcPr/>
                </a:tc>
                <a:tc>
                  <a:txBody>
                    <a:bodyPr wrap="square"/>
                    <a:lstStyle/>
                    <a:p>
                      <a:pPr>
                        <a:defRPr sz="1000">
                          <a:latin typeface="Calibri"/>
                        </a:defRPr>
                      </a:pPr>
                      <a:r>
                        <a:t>INR 41.0</a:t>
                      </a:r>
                    </a:p>
                  </a:txBody>
                  <a:tcPr/>
                </a:tc>
                <a:tc>
                  <a:txBody>
                    <a:bodyPr wrap="square"/>
                    <a:lstStyle/>
                    <a:p>
                      <a:pPr>
                        <a:defRPr sz="1000">
                          <a:latin typeface="Calibri"/>
                        </a:defRPr>
                      </a:pPr>
                      <a:r>
                        <a:t>OK</a:t>
                      </a:r>
                    </a:p>
                  </a:txBody>
                  <a:tcPr/>
                </a:tc>
                <a:tc>
                  <a:txBody>
                    <a:bodyPr wrap="square"/>
                    <a:lstStyle/>
                    <a:p>
                      <a:pPr>
                        <a:defRPr sz="1000">
                          <a:latin typeface="Calibri"/>
                        </a:defRPr>
                      </a:pPr>
                      <a:r>
                        <a:t>Confirm on vehicel trial</a:t>
                      </a:r>
                    </a:p>
                  </a:txBody>
                  <a:tcPr/>
                </a:tc>
                <a:tc>
                  <a:txBody>
                    <a:bodyPr wrap="square"/>
                    <a:lstStyle/>
                    <a:p>
                      <a:pPr>
                        <a:defRPr sz="1000">
                          <a:latin typeface="Calibri"/>
                        </a:defRPr>
                      </a:pPr>
                      <a:r>
                        <a:t>Narendra/ Ratnadeep</a:t>
                      </a:r>
                    </a:p>
                  </a:txBody>
                  <a:tcPr/>
                </a:tc>
                <a:tc>
                  <a:txBody>
                    <a:bodyPr wrap="square"/>
                    <a:lstStyle/>
                    <a:p>
                      <a:pPr>
                        <a:defRPr sz="1000">
                          <a:latin typeface="Calibri"/>
                        </a:defRPr>
                      </a:pPr>
                      <a:r>
                        <a:t>2024-06-28 00:00:00</a:t>
                      </a:r>
                    </a:p>
                  </a:txBody>
                  <a:tcPr/>
                </a:tc>
              </a:tr>
              <a:tr h="320040">
                <a:tc>
                  <a:txBody>
                    <a:bodyPr wrap="square"/>
                    <a:lstStyle/>
                    <a:p>
                      <a:pPr>
                        <a:defRPr sz="1000">
                          <a:latin typeface="Calibri"/>
                        </a:defRPr>
                      </a:pPr>
                      <a:r>
                        <a:t>2311-EL-ID-11</a:t>
                      </a:r>
                    </a:p>
                  </a:txBody>
                  <a:tcPr/>
                </a:tc>
                <a:tc>
                  <a:txBody>
                    <a:bodyPr wrap="square"/>
                    <a:lstStyle/>
                    <a:p>
                      <a:pPr>
                        <a:defRPr sz="1000">
                          <a:latin typeface="Calibri"/>
                        </a:defRPr>
                      </a:pPr>
                      <a:r>
                        <a:t>Replace PC-ABS with ABS in the manufacture of Tail Lamp Housings of MGI</a:t>
                      </a:r>
                    </a:p>
                  </a:txBody>
                  <a:tcPr/>
                </a:tc>
                <a:tc>
                  <a:txBody>
                    <a:bodyPr wrap="square"/>
                    <a:lstStyle/>
                    <a:p>
                      <a:pPr>
                        <a:defRPr sz="1000">
                          <a:latin typeface="Calibri"/>
                        </a:defRPr>
                      </a:pPr>
                      <a:r>
                        <a:t>nan</a:t>
                      </a:r>
                    </a:p>
                  </a:txBody>
                  <a:tcPr/>
                </a:tc>
                <a:tc>
                  <a:txBody>
                    <a:bodyPr wrap="square"/>
                    <a:lstStyle/>
                    <a:p>
                      <a:pPr>
                        <a:defRPr sz="1000">
                          <a:latin typeface="Calibri"/>
                        </a:defRPr>
                      </a:pPr>
                      <a:r>
                        <a:t>INR 137.0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2)</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AI-GEN-01</a:t>
                      </a:r>
                    </a:p>
                  </a:txBody>
                  <a:tcPr/>
                </a:tc>
                <a:tc>
                  <a:txBody>
                    <a:bodyPr wrap="square"/>
                    <a:lstStyle/>
                    <a:p>
                      <a:pPr>
                        <a:defRPr sz="1000">
                          <a:latin typeface="Calibri"/>
                        </a:defRPr>
                      </a:pPr>
                      <a:r>
                        <a:t>Transition the 'tell' component from a cast aluminum housing to a stamped steel or advanced polymer composite housing for weight and cost optimization.</a:t>
                      </a:r>
                    </a:p>
                  </a:txBody>
                  <a:tcPr/>
                </a:tc>
                <a:tc>
                  <a:txBody>
                    <a:bodyPr wrap="square"/>
                    <a:lstStyle/>
                    <a:p>
                      <a:pPr>
                        <a:defRPr sz="1000">
                          <a:latin typeface="Calibri"/>
                        </a:defRPr>
                      </a:pPr>
                      <a:r>
                        <a:t>Investigate the structural integrity and thermal dissipation capabilities of stamped steel and polymer composites under operational loads and thermal cycling. Finite Element Analysis (FEA) will be employed to simulate stress distribution and thermal gradients. Physical prototypes will undergo vibration, thermal shock, and mechanical load testing to validate performance against current aluminum specifications. Material characterization and cost analysis will confirm long-term viability.</a:t>
                      </a:r>
                    </a:p>
                  </a:txBody>
                  <a:tcPr/>
                </a:tc>
                <a:tc>
                  <a:txBody>
                    <a:bodyPr wrap="square"/>
                    <a:lstStyle/>
                    <a:p>
                      <a:pPr>
                        <a:defRPr sz="1000">
                          <a:latin typeface="Calibri"/>
                        </a:defRPr>
                      </a:pPr>
                      <a:r>
                        <a:t>750000</a:t>
                      </a:r>
                    </a:p>
                  </a:txBody>
                  <a:tcPr/>
                </a:tc>
                <a:tc>
                  <a:txBody>
                    <a:bodyPr wrap="square"/>
                    <a:lstStyle/>
                    <a:p>
                      <a:pPr>
                        <a:defRPr sz="1000">
                          <a:latin typeface="Calibri"/>
                        </a:defRPr>
                      </a:pPr>
                      <a:r>
                        <a:t>AI Proposal</a:t>
                      </a:r>
                    </a:p>
                  </a:txBody>
                  <a:tcPr/>
                </a:tc>
                <a:tc>
                  <a:txBody>
                    <a:bodyPr wrap="square"/>
                    <a:lstStyle/>
                    <a:p>
                      <a:pPr>
                        <a:defRPr sz="1000">
                          <a:latin typeface="Calibri"/>
                        </a:defRPr>
                      </a:pPr>
                      <a:r>
                        <a:t>Investigate the structural integrity and thermal dissipation capabilities of stamped steel and polymer composites under operational loads and thermal cycling. Finite Element Analysis (FEA) will be employed to simulate stress distribution and thermal gradients. Physical prototypes will undergo vibration, thermal shock, and mechanical load testing to validate performance against current aluminum specifications. Material characterization and cost analysis will confirm long-term viability.</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AI-GEN-02</a:t>
                      </a:r>
                    </a:p>
                  </a:txBody>
                  <a:tcPr/>
                </a:tc>
                <a:tc>
                  <a:txBody>
                    <a:bodyPr wrap="square"/>
                    <a:lstStyle/>
                    <a:p>
                      <a:pPr>
                        <a:defRPr sz="1000">
                          <a:latin typeface="Calibri"/>
                        </a:defRPr>
                      </a:pPr>
                      <a:r>
                        <a:t>Implement a modular design for the 'tell' component, allowing for standardized sub-assemblies that can be sourced from multiple, competitive suppliers, rather than a single integrated unit.</a:t>
                      </a:r>
                    </a:p>
                  </a:txBody>
                  <a:tcPr/>
                </a:tc>
                <a:tc>
                  <a:txBody>
                    <a:bodyPr wrap="square"/>
                    <a:lstStyle/>
                    <a:p>
                      <a:pPr>
                        <a:defRPr sz="1000">
                          <a:latin typeface="Calibri"/>
                        </a:defRPr>
                      </a:pPr>
                      <a:r>
                        <a:t>Deconstruct the 'tell' component into its fundamental functional modules (e.g., actuator, sensor, control unit). Redesign interfaces and communication protocols to ensure interoperability between modules from different vendors. A thorough supplier qualification process will be established, including performance benchmarking and reliability testing of individual modules. Pilot production runs with mixed-sourced modules will be conducted to assess integration and overall system performance.</a:t>
                      </a:r>
                    </a:p>
                  </a:txBody>
                  <a:tcPr/>
                </a:tc>
                <a:tc>
                  <a:txBody>
                    <a:bodyPr wrap="square"/>
                    <a:lstStyle/>
                    <a:p>
                      <a:pPr>
                        <a:defRPr sz="1000">
                          <a:latin typeface="Calibri"/>
                        </a:defRPr>
                      </a:pPr>
                      <a:r>
                        <a:t>900000</a:t>
                      </a:r>
                    </a:p>
                  </a:txBody>
                  <a:tcPr/>
                </a:tc>
                <a:tc>
                  <a:txBody>
                    <a:bodyPr wrap="square"/>
                    <a:lstStyle/>
                    <a:p>
                      <a:pPr>
                        <a:defRPr sz="1000">
                          <a:latin typeface="Calibri"/>
                        </a:defRPr>
                      </a:pPr>
                      <a:r>
                        <a:t>AI Proposal</a:t>
                      </a:r>
                    </a:p>
                  </a:txBody>
                  <a:tcPr/>
                </a:tc>
                <a:tc>
                  <a:txBody>
                    <a:bodyPr wrap="square"/>
                    <a:lstStyle/>
                    <a:p>
                      <a:pPr>
                        <a:defRPr sz="1000">
                          <a:latin typeface="Calibri"/>
                        </a:defRPr>
                      </a:pPr>
                      <a:r>
                        <a:t>Deconstruct the 'tell' component into its fundamental functional modules (e.g., actuator, sensor, control unit). Redesign interfaces and communication protocols to ensure interoperability between modules from different vendors. A thorough supplier qualification process will be established, including performance benchmarking and reliability testing of individual modules. Pilot production runs with mixed-sourced modules will be conducted to assess integration and overall system performance.</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AI-GEN-03</a:t>
                      </a:r>
                    </a:p>
                  </a:txBody>
                  <a:tcPr/>
                </a:tc>
                <a:tc>
                  <a:txBody>
                    <a:bodyPr wrap="square"/>
                    <a:lstStyle/>
                    <a:p>
                      <a:pPr>
                        <a:defRPr sz="1000">
                          <a:latin typeface="Calibri"/>
                        </a:defRPr>
                      </a:pPr>
                      <a:r>
                        <a:t>Replace the current multi-piece wiring harness for the 'tell' component with a consolidated, over-molded single harness assembly.</a:t>
                      </a:r>
                    </a:p>
                  </a:txBody>
                  <a:tcPr/>
                </a:tc>
                <a:tc>
                  <a:txBody>
                    <a:bodyPr wrap="square"/>
                    <a:lstStyle/>
                    <a:p>
                      <a:pPr>
                        <a:defRPr sz="1000">
                          <a:latin typeface="Calibri"/>
                        </a:defRPr>
                      </a:pPr>
                      <a:r>
                        <a:t>Analyze the existing wiring schematic and connector requirements. Design a consolidated harness with integrated connectors and strain relief. Utilize over-molding techniques to create a robust, single-piece unit. Validation will involve electrical continuity testing, impedance matching, environmental ingress protection (IP rating) testing, and vibration resistance testing to ensure signal integrity and durability comparable to or exceeding the current multi-piece solution.</a:t>
                      </a:r>
                    </a:p>
                  </a:txBody>
                  <a:tcPr/>
                </a:tc>
                <a:tc>
                  <a:txBody>
                    <a:bodyPr wrap="square"/>
                    <a:lstStyle/>
                    <a:p>
                      <a:pPr>
                        <a:defRPr sz="1000">
                          <a:latin typeface="Calibri"/>
                        </a:defRPr>
                      </a:pPr>
                      <a:r>
                        <a:t>400000</a:t>
                      </a:r>
                    </a:p>
                  </a:txBody>
                  <a:tcPr/>
                </a:tc>
                <a:tc>
                  <a:txBody>
                    <a:bodyPr wrap="square"/>
                    <a:lstStyle/>
                    <a:p>
                      <a:pPr>
                        <a:defRPr sz="1000">
                          <a:latin typeface="Calibri"/>
                        </a:defRPr>
                      </a:pPr>
                      <a:r>
                        <a:t>AI Proposal</a:t>
                      </a:r>
                    </a:p>
                  </a:txBody>
                  <a:tcPr/>
                </a:tc>
                <a:tc>
                  <a:txBody>
                    <a:bodyPr wrap="square"/>
                    <a:lstStyle/>
                    <a:p>
                      <a:pPr>
                        <a:defRPr sz="1000">
                          <a:latin typeface="Calibri"/>
                        </a:defRPr>
                      </a:pPr>
                      <a:r>
                        <a:t>Analyze the existing wiring schematic and connector requirements. Design a consolidated harness with integrated connectors and strain relief. Utilize over-molding techniques to create a robust, single-piece unit. Validation will involve electrical continuity testing, impedance matching, environmental ingress protection (IP rating) testing, and vibration resistance testing to ensure signal integrity and durability comparable to or exceeding the current multi-piece solution.</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AI-GEN-04</a:t>
                      </a:r>
                    </a:p>
                  </a:txBody>
                  <a:tcPr/>
                </a:tc>
                <a:tc>
                  <a:txBody>
                    <a:bodyPr wrap="square"/>
                    <a:lstStyle/>
                    <a:p>
                      <a:pPr>
                        <a:defRPr sz="1000">
                          <a:latin typeface="Calibri"/>
                        </a:defRPr>
                      </a:pPr>
                      <a:r>
                        <a:t>Explore the use of additive manufacturing (3D printing) for complex internal features or customized brackets within the 'tell' component, enabling on-demand production and reduced tooling costs.</a:t>
                      </a:r>
                    </a:p>
                  </a:txBody>
                  <a:tcPr/>
                </a:tc>
                <a:tc>
                  <a:txBody>
                    <a:bodyPr wrap="square"/>
                    <a:lstStyle/>
                    <a:p>
                      <a:pPr>
                        <a:defRPr sz="1000">
                          <a:latin typeface="Calibri"/>
                        </a:defRPr>
                      </a:pPr>
                      <a:r>
                        <a:t>Identify design elements within the 'tell' component that benefit from complex geometries or low-volume customization. Select appropriate additive manufacturing materials (e.g., high-strength polymers, advanced alloys) and printing technologies. Validate printed parts through mechanical testing (tensile, flexural, impact) and functional fitment assessments. Conduct pilot studies to evaluate cost-effectiveness and lead times compared to traditional manufacturing methods for specific features.</a:t>
                      </a:r>
                    </a:p>
                  </a:txBody>
                  <a:tcPr/>
                </a:tc>
                <a:tc>
                  <a:txBody>
                    <a:bodyPr wrap="square"/>
                    <a:lstStyle/>
                    <a:p>
                      <a:pPr>
                        <a:defRPr sz="1000">
                          <a:latin typeface="Calibri"/>
                        </a:defRPr>
                      </a:pPr>
                      <a:r>
                        <a:t>300000</a:t>
                      </a:r>
                    </a:p>
                  </a:txBody>
                  <a:tcPr/>
                </a:tc>
                <a:tc>
                  <a:txBody>
                    <a:bodyPr wrap="square"/>
                    <a:lstStyle/>
                    <a:p>
                      <a:pPr>
                        <a:defRPr sz="1000">
                          <a:latin typeface="Calibri"/>
                        </a:defRPr>
                      </a:pPr>
                      <a:r>
                        <a:t>AI Proposal</a:t>
                      </a:r>
                    </a:p>
                  </a:txBody>
                  <a:tcPr/>
                </a:tc>
                <a:tc>
                  <a:txBody>
                    <a:bodyPr wrap="square"/>
                    <a:lstStyle/>
                    <a:p>
                      <a:pPr>
                        <a:defRPr sz="1000">
                          <a:latin typeface="Calibri"/>
                        </a:defRPr>
                      </a:pPr>
                      <a:r>
                        <a:t>Identify design elements within the 'tell' component that benefit from complex geometries or low-volume customization. Select appropriate additive manufacturing materials (e.g., high-strength polymers, advanced alloys) and printing technologies. Validate printed parts through mechanical testing (tensile, flexural, impact) and functional fitment assessments. Conduct pilot studies to evaluate cost-effectiveness and lead times compared to traditional manufacturing methods for specific features.</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AI-GEN-05</a:t>
                      </a:r>
                    </a:p>
                  </a:txBody>
                  <a:tcPr/>
                </a:tc>
                <a:tc>
                  <a:txBody>
                    <a:bodyPr wrap="square"/>
                    <a:lstStyle/>
                    <a:p>
                      <a:pPr>
                        <a:defRPr sz="1000">
                          <a:latin typeface="Calibri"/>
                        </a:defRPr>
                      </a:pPr>
                      <a:r>
                        <a:t>Optimize the thermal management strategy of the 'tell' component by integrating passive cooling fins directly into the housing structure, eliminating separate heat sinks.</a:t>
                      </a:r>
                    </a:p>
                  </a:txBody>
                  <a:tcPr/>
                </a:tc>
                <a:tc>
                  <a:txBody>
                    <a:bodyPr wrap="square"/>
                    <a:lstStyle/>
                    <a:p>
                      <a:pPr>
                        <a:defRPr sz="1000">
                          <a:latin typeface="Calibri"/>
                        </a:defRPr>
                      </a:pPr>
                      <a:r>
                        <a:t>Conduct thermal simulations to determine optimal fin geometry and placement based on heat generation profiles of the 'tell' component's internal electronics. Analyze the manufacturability of integrated fins using chosen housing materials (e.g., die-casting, injection molding). Prototype parts will undergo thermal performance testing under various operating conditions, comparing surface temperatures and overall component reliability against current designs. Computational Fluid Dynamics (CFD) will be used to model airflow.</a:t>
                      </a:r>
                    </a:p>
                  </a:txBody>
                  <a:tcPr/>
                </a:tc>
                <a:tc>
                  <a:txBody>
                    <a:bodyPr wrap="square"/>
                    <a:lstStyle/>
                    <a:p>
                      <a:pPr>
                        <a:defRPr sz="1000">
                          <a:latin typeface="Calibri"/>
                        </a:defRPr>
                      </a:pPr>
                      <a:r>
                        <a:t>500000</a:t>
                      </a:r>
                    </a:p>
                  </a:txBody>
                  <a:tcPr/>
                </a:tc>
                <a:tc>
                  <a:txBody>
                    <a:bodyPr wrap="square"/>
                    <a:lstStyle/>
                    <a:p>
                      <a:pPr>
                        <a:defRPr sz="1000">
                          <a:latin typeface="Calibri"/>
                        </a:defRPr>
                      </a:pPr>
                      <a:r>
                        <a:t>AI Proposal</a:t>
                      </a:r>
                    </a:p>
                  </a:txBody>
                  <a:tcPr/>
                </a:tc>
                <a:tc>
                  <a:txBody>
                    <a:bodyPr wrap="square"/>
                    <a:lstStyle/>
                    <a:p>
                      <a:pPr>
                        <a:defRPr sz="1000">
                          <a:latin typeface="Calibri"/>
                        </a:defRPr>
                      </a:pPr>
                      <a:r>
                        <a:t>Conduct thermal simulations to determine optimal fin geometry and placement based on heat generation profiles of the 'tell' component's internal electronics. Analyze the manufacturability of integrated fins using chosen housing materials (e.g., die-casting, injection molding). Prototype parts will undergo thermal performance testing under various operating conditions, comparing surface temperatures and overall component reliability against current designs. Computational Fluid Dynamics (CFD) will be used to model airflow.</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3)</a:t>
            </a:r>
          </a:p>
        </p:txBody>
      </p:sp>
      <p:graphicFrame>
        <p:nvGraphicFramePr>
          <p:cNvPr id="3" name="Table 2"/>
          <p:cNvGraphicFramePr>
            <a:graphicFrameLocks noGrp="1"/>
          </p:cNvGraphicFramePr>
          <p:nvPr/>
        </p:nvGraphicFramePr>
        <p:xfrm>
          <a:off x="182880" y="640080"/>
          <a:ext cx="8778240" cy="244602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14859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AI-GEN-06</a:t>
                      </a:r>
                    </a:p>
                  </a:txBody>
                  <a:tcPr/>
                </a:tc>
                <a:tc>
                  <a:txBody>
                    <a:bodyPr wrap="square"/>
                    <a:lstStyle/>
                    <a:p>
                      <a:pPr>
                        <a:defRPr sz="1000">
                          <a:latin typeface="Calibri"/>
                        </a:defRPr>
                      </a:pPr>
                      <a:r>
                        <a:t>Reduce the number of fasteners and assembly steps required for the 'tell' component by designing snap-fit or interlocking features into its sub-assemblies.</a:t>
                      </a:r>
                    </a:p>
                  </a:txBody>
                  <a:tcPr/>
                </a:tc>
                <a:tc>
                  <a:txBody>
                    <a:bodyPr wrap="square"/>
                    <a:lstStyle/>
                    <a:p>
                      <a:pPr>
                        <a:defRPr sz="1000">
                          <a:latin typeface="Calibri"/>
                        </a:defRPr>
                      </a:pPr>
                      <a:r>
                        <a:t>Analyze the current assembly process and identify opportunities for integrating mechanical locking mechanisms. Design and prototype snap-fit features, ensuring sufficient retention force and resistance to vibration and thermal cycling. Validation will involve repeated assembly/disassembly cycles, pull-off force testing, and environmental testing to confirm the integrity of the interlocking features throughout the component's lifecycle. Torque and force analysis will inform design parameters.</a:t>
                      </a:r>
                    </a:p>
                  </a:txBody>
                  <a:tcPr/>
                </a:tc>
                <a:tc>
                  <a:txBody>
                    <a:bodyPr wrap="square"/>
                    <a:lstStyle/>
                    <a:p>
                      <a:pPr>
                        <a:defRPr sz="1000">
                          <a:latin typeface="Calibri"/>
                        </a:defRPr>
                      </a:pPr>
                      <a:r>
                        <a:t>600000</a:t>
                      </a:r>
                    </a:p>
                  </a:txBody>
                  <a:tcPr/>
                </a:tc>
                <a:tc>
                  <a:txBody>
                    <a:bodyPr wrap="square"/>
                    <a:lstStyle/>
                    <a:p>
                      <a:pPr>
                        <a:defRPr sz="1000">
                          <a:latin typeface="Calibri"/>
                        </a:defRPr>
                      </a:pPr>
                      <a:r>
                        <a:t>AI Proposal</a:t>
                      </a:r>
                    </a:p>
                  </a:txBody>
                  <a:tcPr/>
                </a:tc>
                <a:tc>
                  <a:txBody>
                    <a:bodyPr wrap="square"/>
                    <a:lstStyle/>
                    <a:p>
                      <a:pPr>
                        <a:defRPr sz="1000">
                          <a:latin typeface="Calibri"/>
                        </a:defRPr>
                      </a:pPr>
                      <a:r>
                        <a:t>Analyze the current assembly process and identify opportunities for integrating mechanical locking mechanisms. Design and prototype snap-fit features, ensuring sufficient retention force and resistance to vibration and thermal cycling. Validation will involve repeated assembly/disassembly cycles, pull-off force testing, and environmental testing to confirm the integrity of the interlocking features throughout the component's lifecycle. Torque and force analysis will inform design parameters.</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WEB-GEN-01</a:t>
                      </a:r>
                    </a:p>
                  </a:txBody>
                  <a:tcPr/>
                </a:tc>
                <a:tc>
                  <a:txBody>
                    <a:bodyPr wrap="square"/>
                    <a:lstStyle/>
                    <a:p>
                      <a:pPr>
                        <a:defRPr sz="1000">
                          <a:latin typeface="Calibri"/>
                        </a:defRPr>
                      </a:pPr>
                      <a:r>
                        <a:t>Improve cross-functional team collaboration for design and technical teams.</a:t>
                      </a:r>
                    </a:p>
                  </a:txBody>
                  <a:tcPr/>
                </a:tc>
                <a:tc>
                  <a:txBody>
                    <a:bodyPr wrap="square"/>
                    <a:lstStyle/>
                    <a:p>
                      <a:pPr>
                        <a:defRPr sz="1000">
                          <a:latin typeface="Calibri"/>
                        </a:defRPr>
                      </a:pPr>
                      <a:r>
                        <a:t>Implement structured workshops and joint development sessions between design and technical engineering teams to foster better understanding and alignment. This can lead to more efficient design iterations, reduced rework, and optimized material selection early in the development cycle, potentially impacting the 'mg' component by ensuring its design integrates seamlessly with other systems, thus reducing complexity and manufacturing costs. Source: https://www.f1technical.net/forum/viewtopic.php?t=32104&amp;start=90</a:t>
                      </a:r>
                    </a:p>
                  </a:txBody>
                  <a:tcPr/>
                </a:tc>
                <a:tc>
                  <a:txBody>
                    <a:bodyPr wrap="square"/>
                    <a:lstStyle/>
                    <a:p>
                      <a:pPr>
                        <a:defRPr sz="1000">
                          <a:latin typeface="Calibri"/>
                        </a:defRPr>
                      </a:pPr>
                      <a:r>
                        <a:t>0</a:t>
                      </a:r>
                    </a:p>
                  </a:txBody>
                  <a:tcPr/>
                </a:tc>
                <a:tc>
                  <a:txBody>
                    <a:bodyPr wrap="square"/>
                    <a:lstStyle/>
                    <a:p>
                      <a:pPr>
                        <a:defRPr sz="1000">
                          <a:latin typeface="Calibri"/>
                        </a:defRPr>
                      </a:pPr>
                      <a:r>
                        <a:t>Web Sourced</a:t>
                      </a:r>
                    </a:p>
                  </a:txBody>
                  <a:tcPr/>
                </a:tc>
                <a:tc>
                  <a:txBody>
                    <a:bodyPr wrap="square"/>
                    <a:lstStyle/>
                    <a:p>
                      <a:pPr>
                        <a:defRPr sz="1000">
                          <a:latin typeface="Calibri"/>
                        </a:defRPr>
                      </a:pPr>
                      <a:r>
                        <a:t>Implement structured workshops and joint development sessions between design and technical engineering teams to foster better understanding and alignment. This can lead to more efficient design iterations, reduced rework, and optimized material selection early in the development cycle, potentially impacting the 'mg' component by ensuring its design integrates seamlessly with other systems, thus reducing complexity and manufacturing costs. Source: https://www.f1technical.net/forum/viewtopic.php?t=32104&amp;start=90</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WEB-GEN-02</a:t>
                      </a:r>
                    </a:p>
                  </a:txBody>
                  <a:tcPr/>
                </a:tc>
                <a:tc>
                  <a:txBody>
                    <a:bodyPr wrap="square"/>
                    <a:lstStyle/>
                    <a:p>
                      <a:pPr>
                        <a:defRPr sz="1000">
                          <a:latin typeface="Calibri"/>
                        </a:defRPr>
                      </a:pPr>
                      <a:r>
                        <a:t>Leverage data analytics for performance optimization and component lifecycle management.</a:t>
                      </a:r>
                    </a:p>
                  </a:txBody>
                  <a:tcPr/>
                </a:tc>
                <a:tc>
                  <a:txBody>
                    <a:bodyPr wrap="square"/>
                    <a:lstStyle/>
                    <a:p>
                      <a:pPr>
                        <a:defRPr sz="1000">
                          <a:latin typeface="Calibri"/>
                        </a:defRPr>
                      </a:pPr>
                      <a:r>
                        <a:t>Establish a robust data acquisition and analysis framework to monitor the performance and wear characteristics of the 'mg' component in real-time. Analyzing this data can identify suboptimal operating conditions or predict potential failures, allowing for proactive maintenance or design modifications that extend component lifespan and reduce replacement costs. Source: https://www.f1technical.net/forum/viewtopic.php?t=32051&amp;start=7125</a:t>
                      </a:r>
                    </a:p>
                  </a:txBody>
                  <a:tcPr/>
                </a:tc>
                <a:tc>
                  <a:txBody>
                    <a:bodyPr wrap="square"/>
                    <a:lstStyle/>
                    <a:p>
                      <a:pPr>
                        <a:defRPr sz="1000">
                          <a:latin typeface="Calibri"/>
                        </a:defRPr>
                      </a:pPr>
                      <a:r>
                        <a:t>0</a:t>
                      </a:r>
                    </a:p>
                  </a:txBody>
                  <a:tcPr/>
                </a:tc>
                <a:tc>
                  <a:txBody>
                    <a:bodyPr wrap="square"/>
                    <a:lstStyle/>
                    <a:p>
                      <a:pPr>
                        <a:defRPr sz="1000">
                          <a:latin typeface="Calibri"/>
                        </a:defRPr>
                      </a:pPr>
                      <a:r>
                        <a:t>Web Sourced</a:t>
                      </a:r>
                    </a:p>
                  </a:txBody>
                  <a:tcPr/>
                </a:tc>
                <a:tc>
                  <a:txBody>
                    <a:bodyPr wrap="square"/>
                    <a:lstStyle/>
                    <a:p>
                      <a:pPr>
                        <a:defRPr sz="1000">
                          <a:latin typeface="Calibri"/>
                        </a:defRPr>
                      </a:pPr>
                      <a:r>
                        <a:t>Establish a robust data acquisition and analysis framework to monitor the performance and wear characteristics of the 'mg' component in real-time. Analyzing this data can identify suboptimal operating conditions or predict potential failures, allowing for proactive maintenance or design modifications that extend component lifespan and reduce replacement costs. Source: https://www.f1technical.net/forum/viewtopic.php?t=32051&amp;start=7125</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Chart Analysis Discussion</a:t>
            </a:r>
          </a:p>
        </p:txBody>
      </p:sp>
      <p:graphicFrame>
        <p:nvGraphicFramePr>
          <p:cNvPr id="3" name="Chart 2"/>
          <p:cNvGraphicFramePr>
            <a:graphicFrameLocks noGrp="1"/>
          </p:cNvGraphicFramePr>
          <p:nvPr/>
        </p:nvGraphicFramePr>
        <p:xfrm>
          <a:off x="457200" y="1371600"/>
          <a:ext cx="82296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Pie chart for ideas status</a:t>
            </a:r>
          </a:p>
        </p:txBody>
      </p:sp>
      <p:graphicFrame>
        <p:nvGraphicFramePr>
          <p:cNvPr id="3" name="Chart 2"/>
          <p:cNvGraphicFramePr>
            <a:graphicFrameLocks noGrp="1"/>
          </p:cNvGraphicFramePr>
          <p:nvPr/>
        </p:nvGraphicFramePr>
        <p:xfrm>
          <a:off x="457200" y="1371600"/>
          <a:ext cx="41148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029200" y="1371600"/>
            <a:ext cx="3657600" cy="4114800"/>
          </a:xfrm>
          <a:prstGeom prst="rect">
            <a:avLst/>
          </a:prstGeom>
          <a:noFill/>
        </p:spPr>
        <p:txBody>
          <a:bodyPr wrap="square">
            <a:spAutoFit/>
          </a:bodyPr>
          <a:lstStyle/>
          <a:p>
            <a:pPr>
              <a:defRPr sz="1000">
                <a:latin typeface="Calibri"/>
              </a:defRPr>
            </a:pPr>
          </a:p>
          <a:p>
            <a:pPr>
              <a:defRPr sz="1000">
                <a:latin typeface="Calibri"/>
              </a:defRPr>
            </a:pPr>
            <a:r>
              <a:t>• Total Ideas: 13</a:t>
            </a:r>
          </a:p>
          <a:p>
            <a:pPr>
              <a:defRPr sz="1000">
                <a:latin typeface="Calibri"/>
              </a:defRPr>
            </a:pPr>
            <a:r>
              <a:t>• Total Potential Savings: INR 464.00</a:t>
            </a:r>
          </a:p>
          <a:p>
            <a:pPr>
              <a:defRPr sz="1000">
                <a:latin typeface="Calibri"/>
              </a:defRPr>
            </a:pPr>
            <a:r>
              <a:t>• Implemented Ideas: 0</a:t>
            </a:r>
          </a:p>
          <a:p>
            <a:pPr>
              <a:defRPr sz="1000">
                <a:latin typeface="Calibri"/>
              </a:defRPr>
            </a:pPr>
            <a:r>
              <a:t>• Status OK: 1</a:t>
            </a:r>
          </a:p>
          <a:p>
            <a:pPr>
              <a:defRPr sz="1000">
                <a:latin typeface="Calibri"/>
              </a:defRPr>
            </a:pPr>
            <a:r>
              <a:t>• Status TBD: 2</a:t>
            </a:r>
          </a:p>
          <a:p>
            <a:pPr>
              <a:defRPr sz="1000">
                <a:latin typeface="Calibri"/>
              </a:defRPr>
            </a:pPr>
            <a:r>
              <a:t>• Status NG: 2</a:t>
            </a:r>
          </a:p>
          <a:p>
            <a:pPr>
              <a:defRPr sz="1000">
                <a:latin typeface="Calibri"/>
              </a:defRPr>
            </a:pPr>
            <a:r>
              <a:t>• The provided cost reduction ideas focus on process deletions and material replacements to reduce manufacturing costs.</a:t>
            </a:r>
          </a:p>
          <a:p>
            <a:pPr>
              <a:defRPr sz="1000">
                <a:latin typeface="Calibri"/>
              </a:defRPr>
            </a:pPr>
            <a:r>
              <a:t>• Key proposals include removing paint coatings from brackets and mounts, replacing PC-ABS with ABS, and switching to galvanized steel for window regulators.</a:t>
            </a:r>
          </a:p>
          <a:p>
            <a:pPr>
              <a:defRPr sz="1000">
                <a:latin typeface="Calibri"/>
              </a:defRPr>
            </a:pPr>
            <a:r>
              <a:t>• These changes aim to maintain functionality while reducing costs and, in some cases, weight.</a:t>
            </a:r>
          </a:p>
        </p:txBody>
      </p:sp>
      <p:sp>
        <p:nvSpPr>
          <p:cNvPr id="5" name="TextBox 4"/>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Summary section</a:t>
            </a:r>
          </a:p>
        </p:txBody>
      </p:sp>
      <p:sp>
        <p:nvSpPr>
          <p:cNvPr id="3" name="Content Placeholder 2"/>
          <p:cNvSpPr>
            <a:spLocks noGrp="1"/>
          </p:cNvSpPr>
          <p:nvPr>
            <p:ph idx="1"/>
          </p:nvPr>
        </p:nvSpPr>
        <p:spPr/>
        <p:txBody>
          <a:bodyPr wrap="square"/>
          <a:lstStyle/>
          <a:p>
            <a:pPr>
              <a:defRPr sz="1800">
                <a:latin typeface="Calibri"/>
              </a:defRPr>
            </a:pPr>
          </a:p>
          <a:p>
            <a:pPr>
              <a:defRPr sz="1800">
                <a:latin typeface="Calibri"/>
              </a:defRPr>
            </a:pPr>
            <a:r>
              <a:t>Total Ideas: 13 ideas analyzed.</a:t>
            </a:r>
          </a:p>
          <a:p>
            <a:pPr>
              <a:defRPr sz="1800">
                <a:latin typeface="Calibri"/>
              </a:defRPr>
            </a:pPr>
            <a:r>
              <a:t>Total Savings: INR 464.00 in potential cost reductions.</a:t>
            </a:r>
          </a:p>
          <a:p>
            <a:pPr>
              <a:defRPr sz="1800">
                <a:latin typeface="Calibri"/>
              </a:defRPr>
            </a:pPr>
            <a:r>
              <a:t>Key Proposals: Remove paint coatings from mounts and brackets, replace PC-ABS with ABS, and use galvanized steel for window regulators.</a:t>
            </a:r>
          </a:p>
          <a:p>
            <a:pPr>
              <a:defRPr sz="1800">
                <a:latin typeface="Calibri"/>
              </a:defRPr>
            </a:pPr>
            <a:r>
              <a:t>Status: All ideas currently TBD, pending further evaluation.</a:t>
            </a:r>
          </a:p>
          <a:p>
            <a:pPr>
              <a:defRPr sz="1800">
                <a:latin typeface="Calibri"/>
              </a:defRPr>
            </a:pPr>
            <a:r>
              <a:t>Focus: Cost reduction through process deletion and material substitution while maintaining functionality.</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
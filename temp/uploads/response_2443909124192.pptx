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AI-GEN-01</c:v>
                </c:pt>
                <c:pt idx="1">
                  <c:v>AI-GEN-02</c:v>
                </c:pt>
                <c:pt idx="2">
                  <c:v>AI-GEN-03</c:v>
                </c:pt>
                <c:pt idx="3">
                  <c:v>AI-GEN-04</c:v>
                </c:pt>
                <c:pt idx="4">
                  <c:v>AI-GEN-05</c:v>
                </c:pt>
                <c:pt idx="5">
                  <c:v>AI-GEN-06</c:v>
                </c:pt>
              </c:strCache>
            </c:strRef>
          </c:cat>
          <c:val>
            <c:numRef>
              <c:f>Sheet1!$B$2:$B$7</c:f>
              <c:numCache>
                <c:formatCode>General</c:formatCode>
                <c:ptCount val="6"/>
                <c:pt idx="0">
                  <c:v>0</c:v>
                </c:pt>
                <c:pt idx="1">
                  <c:v>0</c:v>
                </c:pt>
                <c:pt idx="2">
                  <c:v>0</c:v>
                </c:pt>
                <c:pt idx="3">
                  <c:v>0</c:v>
                </c:pt>
                <c:pt idx="4">
                  <c:v>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traditional forged steel control arms with a novel high-strength aluminum alloy casting that integrates mounting points and reduces part count through consolidation.</a:t>
                      </a:r>
                    </a:p>
                  </a:txBody>
                  <a:tcPr/>
                </a:tc>
                <a:tc>
                  <a:txBody>
                    <a:bodyPr wrap="square"/>
                    <a:lstStyle/>
                    <a:p>
                      <a:pPr>
                        <a:defRPr sz="1000">
                          <a:latin typeface="Calibri"/>
                        </a:defRPr>
                      </a:pPr>
                      <a:r>
                        <a:t>The fundamental principle is to reduce the mass and complexity of the suspension linkage while maintaining or exceeding its structural integrity and fatigue life. Aluminum alloys offer a superior strength-to-weight ratio compared to steel.  The casting process allows for complex geometries and integrated features, eliminating the need for separate bushings or bracket welds, thus reducing assembly time and tooling costs.  FEA analysis will be performed on the cast design under extreme load cases (e.g., bump, rebound, cornering).  Physical prototypes will undergo rigorous bench testing for fatigue, stiffness, and durability, simulating real-world driving conditions.  Material characterization of the chosen aluminum alloy will confirm its mechanical properties. Target cost reduction &gt; INR 30 per component. Weight saving target &gt; 1.5 kg per arm.</a:t>
                      </a:r>
                    </a:p>
                  </a:txBody>
                  <a:tcPr/>
                </a:tc>
                <a:tc>
                  <a:txBody>
                    <a:bodyPr wrap="square"/>
                    <a:lstStyle/>
                    <a:p>
                      <a:pPr>
                        <a:defRPr sz="1000">
                          <a:latin typeface="Calibri"/>
                        </a:defRPr>
                      </a:pPr>
                      <a:r>
                        <a:t>30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fundamental principle is to reduce the mass and complexity of the suspension linkage while maintaining or exceeding its structural integrity and fatigue life. Aluminum alloys offer a superior strength-to-weight ratio compared to steel.  The casting process allows for complex geometries and integrated features, eliminating the need for separate bushings or bracket welds, thus reducing assembly time and tooling costs.  FEA analysis will be performed on the cast design under extreme load cases (e.g., bump, rebound, cornering).  Physical prototypes will undergo rigorous bench testing for fatigue, stiffness, and durability, simulating real-world driving conditions.  Material characterization of the chosen aluminum alloy will confirm its mechanical properties. Target cost reduction &gt; INR 30 per component. Weight saving target &gt; 1.5 kg per arm.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Introduce a modular ball joint design utilizing a high-performance polymer spherical bearing instead of a traditional metal-on-metal ball and socket with grease lubrication.</a:t>
                      </a:r>
                    </a:p>
                  </a:txBody>
                  <a:tcPr/>
                </a:tc>
                <a:tc>
                  <a:txBody>
                    <a:bodyPr wrap="square"/>
                    <a:lstStyle/>
                    <a:p>
                      <a:pPr>
                        <a:defRPr sz="1000">
                          <a:latin typeface="Calibri"/>
                        </a:defRPr>
                      </a:pPr>
                      <a:r>
                        <a:t>This proposal addresses friction and wear reduction, and associated maintenance costs.  Polymer bearings eliminate the need for grease, simplifying assembly and preventing contamination ingress, thereby extending component life and reducing warranty claims.  The inherent self-lubricating properties of advanced polymers minimize friction.  The design will focus on optimizing the polymer material's tribological characteristics and ensuring its dimensional stability across a wide temperature range.  Validation will involve friction coefficient testing, wear rate analysis under load cycles, and long-term environmental exposure testing.  FEA will verify load transfer and stress distribution within the polymer and its housing. Target cost reduction &gt; INR 25 per component. Weight saving target &gt; 0.2 kg per ball joint.</a:t>
                      </a:r>
                    </a:p>
                  </a:txBody>
                  <a:tcPr/>
                </a:tc>
                <a:tc>
                  <a:txBody>
                    <a:bodyPr wrap="square"/>
                    <a:lstStyle/>
                    <a:p>
                      <a:pPr>
                        <a:defRPr sz="1000">
                          <a:latin typeface="Calibri"/>
                        </a:defRPr>
                      </a:pPr>
                      <a:r>
                        <a:t>25</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addresses friction and wear reduction, and associated maintenance costs.  Polymer bearings eliminate the need for grease, simplifying assembly and preventing contamination ingress, thereby extending component life and reducing warranty claims.  The inherent self-lubricating properties of advanced polymers minimize friction.  The design will focus on optimizing the polymer material's tribological characteristics and ensuring its dimensional stability across a wide temperature range.  Validation will involve friction coefficient testing, wear rate analysis under load cycles, and long-term environmental exposure testing.  FEA will verify load transfer and stress distribution within the polymer and its housing. Target cost reduction &gt; INR 25 per component. Weight saving target &gt; 0.2 kg per ball joint.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Develop a hollow-section stamped steel stabilizer bar with optimized internal ribbing for enhanced torsional rigidity while reducing material usage.</a:t>
                      </a:r>
                    </a:p>
                  </a:txBody>
                  <a:tcPr/>
                </a:tc>
                <a:tc>
                  <a:txBody>
                    <a:bodyPr wrap="square"/>
                    <a:lstStyle/>
                    <a:p>
                      <a:pPr>
                        <a:defRPr sz="1000">
                          <a:latin typeface="Calibri"/>
                        </a:defRPr>
                      </a:pPr>
                      <a:r>
                        <a:t>The core principle is to maximize stiffness for a given amount of material. By creating a hollow section, we significantly reduce the mass compared to a solid bar.  The internal ribbing acts as a structural reinforcement, preventing buckling and increasing torsional stiffness without a proportional increase in material.  Computational fluid dynamics (CFD) analogous to structural analysis will be used to simulate torsional load paths and identify optimal rib placement and geometry.  FEA will be employed to analyze stress concentrations and fatigue life under dynamic twisting loads.  Prototype bars will be subjected to torsional fatigue testing and static stiffness measurements. Target cost reduction &gt; INR 22 per component. Weight saving target &gt; 0.8 kg per bar.</a:t>
                      </a:r>
                    </a:p>
                  </a:txBody>
                  <a:tcPr/>
                </a:tc>
                <a:tc>
                  <a:txBody>
                    <a:bodyPr wrap="square"/>
                    <a:lstStyle/>
                    <a:p>
                      <a:pPr>
                        <a:defRPr sz="1000">
                          <a:latin typeface="Calibri"/>
                        </a:defRPr>
                      </a:pPr>
                      <a:r>
                        <a:t>22</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core principle is to maximize stiffness for a given amount of material. By creating a hollow section, we significantly reduce the mass compared to a solid bar.  The internal ribbing acts as a structural reinforcement, preventing buckling and increasing torsional stiffness without a proportional increase in material.  Computational fluid dynamics (CFD) analogous to structural analysis will be used to simulate torsional load paths and identify optimal rib placement and geometry.  FEA will be employed to analyze stress concentrations and fatigue life under dynamic twisting loads.  Prototype bars will be subjected to torsional fatigue testing and static stiffness measurements. Target cost reduction &gt; INR 22 per component. Weight saving target &gt; 0.8 kg per bar.</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Implement a simplified trailing arm design using advanced composite materials (e.g., continuous fiber reinforced polymer) for a significant weight reduction and improved vibration damping.</a:t>
                      </a:r>
                    </a:p>
                  </a:txBody>
                  <a:tcPr/>
                </a:tc>
                <a:tc>
                  <a:txBody>
                    <a:bodyPr wrap="square"/>
                    <a:lstStyle/>
                    <a:p>
                      <a:pPr>
                        <a:defRPr sz="1000">
                          <a:latin typeface="Calibri"/>
                        </a:defRPr>
                      </a:pPr>
                      <a:r>
                        <a:t>This focuses on tailoring material properties for specific performance requirements. Composites offer exceptional stiffness and strength-to-weight ratios.  The continuous fiber reinforcement allows for directional load-bearing, enabling a lighter and potentially more aerodynamically integrated design.  The inherent damping characteristics of polymers can also contribute to a smoother ride.  Design will involve ply sequencing optimization for stress distribution.  FEA will predict structural behavior under dynamic road inputs.  Testing will include static load testing, fatigue analysis under simulated road conditions, and vibration transmissibility measurements. Target cost reduction &gt; INR 28 per component. Weight saving target &gt; 2.0 kg per arm.</a:t>
                      </a:r>
                    </a:p>
                  </a:txBody>
                  <a:tcPr/>
                </a:tc>
                <a:tc>
                  <a:txBody>
                    <a:bodyPr wrap="square"/>
                    <a:lstStyle/>
                    <a:p>
                      <a:pPr>
                        <a:defRPr sz="1000">
                          <a:latin typeface="Calibri"/>
                        </a:defRPr>
                      </a:pPr>
                      <a:r>
                        <a:t>28</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focuses on tailoring material properties for specific performance requirements. Composites offer exceptional stiffness and strength-to-weight ratios.  The continuous fiber reinforcement allows for directional load-bearing, enabling a lighter and potentially more aerodynamically integrated design.  The inherent damping characteristics of polymers can also contribute to a smoother ride.  Design will involve ply sequencing optimization for stress distribution.  FEA will predict structural behavior under dynamic road inputs.  Testing will include static load testing, fatigue analysis under simulated road conditions, and vibration transmissibility measurements. Target cost reduction &gt; INR 28 per component. Weight saving target &gt; 2.0 kg per arm.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Redesign the tie rod end assembly to incorporate a self-adjusting, low-friction bearing surface using a specific ceramic coating on the ball stud and a high-density polyethylene (HDPE) socket.</a:t>
                      </a:r>
                    </a:p>
                  </a:txBody>
                  <a:tcPr/>
                </a:tc>
                <a:tc>
                  <a:txBody>
                    <a:bodyPr wrap="square"/>
                    <a:lstStyle/>
                    <a:p>
                      <a:pPr>
                        <a:defRPr sz="1000">
                          <a:latin typeface="Calibri"/>
                        </a:defRPr>
                      </a:pPr>
                      <a:r>
                        <a:t>The focus here is on reducing friction and wear to enhance steering precision and longevity.  Ceramic coatings offer extreme hardness and low friction, while HDPE provides a durable and compliant mating surface.  This combination eliminates the need for grease and reduces initial play, leading to improved steering feel and reduced wear.  The design will ensure adequate clearance for contamination exclusion.  Validation will involve tribological testing to quantify friction coefficients and wear rates, fatigue testing under steering loads, and environmental resistance testing.  The self-adjusting nature will be validated through cyclic load tests. Target cost reduction &gt; INR 18 per component (driven by reduced assembly and warranty). Weight saving target &gt; 0.1 kg per tie rod end.</a:t>
                      </a:r>
                    </a:p>
                  </a:txBody>
                  <a:tcPr/>
                </a:tc>
                <a:tc>
                  <a:txBody>
                    <a:bodyPr wrap="square"/>
                    <a:lstStyle/>
                    <a:p>
                      <a:pPr>
                        <a:defRPr sz="1000">
                          <a:latin typeface="Calibri"/>
                        </a:defRPr>
                      </a:pPr>
                      <a:r>
                        <a:t>18</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focus here is on reducing friction and wear to enhance steering precision and longevity.  Ceramic coatings offer extreme hardness and low friction, while HDPE provides a durable and compliant mating surface.  This combination eliminates the need for grease and reduces initial play, leading to improved steering feel and reduced wear.  The design will ensure adequate clearance for contamination exclusion.  Validation will involve tribological testing to quantify friction coefficients and wear rates, fatigue testing under steering loads, and environmental resistance testing.  The self-adjusting nature will be validated through cyclic load tests. Target cost reduction &gt; INR 18 per component (driven by reduced assembly and warranty). Weight saving target &gt; 0.1 kg per tie rod end.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Develop a unified hub and wheel bearing assembly using a precision-forged magnesium alloy, eliminating the need for separate knuckle mounting bolts and reducing fastener count.</a:t>
                      </a:r>
                    </a:p>
                  </a:txBody>
                  <a:tcPr/>
                </a:tc>
                <a:tc>
                  <a:txBody>
                    <a:bodyPr wrap="square"/>
                    <a:lstStyle/>
                    <a:p>
                      <a:pPr>
                        <a:defRPr sz="1000">
                          <a:latin typeface="Calibri"/>
                        </a:defRPr>
                      </a:pPr>
                      <a:r>
                        <a:t>This approach leverages material density advantages and design consolidation for significant mass and complexity reduction. Magnesium alloys offer a much lower density than aluminum, resulting in substantial weight savings. Integrating the hub and bearing into a single component simplifies assembly, reduces part count, and minimizes potential sources of error. The precision forging process ensures high strength and dimensional accuracy. FEA will be critical for verifying stress distribution and fatigue life under combined radial and axial loads. Rigorous spin-testing and environmental endurance testing will be performed on integrated prototypes. Target cost reduction &gt; INR 40 per component. Weight saving target &gt; 2.5 kg per assembly.</a:t>
                      </a:r>
                    </a:p>
                  </a:txBody>
                  <a:tcPr/>
                </a:tc>
                <a:tc>
                  <a:txBody>
                    <a:bodyPr wrap="square"/>
                    <a:lstStyle/>
                    <a:p>
                      <a:pPr>
                        <a:defRPr sz="1000">
                          <a:latin typeface="Calibri"/>
                        </a:defRPr>
                      </a:pPr>
                      <a:r>
                        <a:t>40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leverages material density advantages and design consolidation for significant mass and complexity reduction. Magnesium alloys offer a much lower density than aluminum, resulting in substantial weight savings. Integrating the hub and bearing into a single component simplifies assembly, reduces part count, and minimizes potential sources of error. The precision forging process ensures high strength and dimensional accuracy. FEA will be critical for verifying stress distribution and fatigue life under combined radial and axial loads. Rigorous spin-testing and environmental endurance testing will be performed on integrated prototypes. Target cost reduction &gt; INR 40 per component. Weight saving target &gt; 2.5 kg per assembly.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
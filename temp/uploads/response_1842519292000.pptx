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Sheet1!$A$2:$A$57</c:f>
              <c:strCache>
                <c:ptCount val="56"/>
                <c:pt idx="0">
                  <c:v>2311-ET-ID-03</c:v>
                </c:pt>
                <c:pt idx="1">
                  <c:v>2311-DA-ID-06</c:v>
                </c:pt>
                <c:pt idx="2">
                  <c:v>2311-DA-ID-22</c:v>
                </c:pt>
                <c:pt idx="3">
                  <c:v>2311-DA-ID-26</c:v>
                </c:pt>
                <c:pt idx="4">
                  <c:v>2311-SS-ID-10</c:v>
                </c:pt>
                <c:pt idx="5">
                  <c:v>2311-DA-ID-35</c:v>
                </c:pt>
                <c:pt idx="6">
                  <c:v>2311-IT-ID-26</c:v>
                </c:pt>
                <c:pt idx="7">
                  <c:v>2311-IT-ID-16</c:v>
                </c:pt>
                <c:pt idx="8">
                  <c:v>2311-ET-ID-27</c:v>
                </c:pt>
                <c:pt idx="9">
                  <c:v>2311-IT-ID-06</c:v>
                </c:pt>
                <c:pt idx="10">
                  <c:v>2311-FS-ID-02</c:v>
                </c:pt>
                <c:pt idx="11">
                  <c:v>2311-SS-ID-01</c:v>
                </c:pt>
                <c:pt idx="12">
                  <c:v>2311-DA-ID-07</c:v>
                </c:pt>
                <c:pt idx="13">
                  <c:v>2311-EL-ID-01</c:v>
                </c:pt>
                <c:pt idx="14">
                  <c:v>2311-FS-ID-01</c:v>
                </c:pt>
                <c:pt idx="15">
                  <c:v>2311-IP-ID-05</c:v>
                </c:pt>
                <c:pt idx="16">
                  <c:v>2311-PRODUCT-ID-13</c:v>
                </c:pt>
                <c:pt idx="17">
                  <c:v>2311-PRODUCT-ID-18</c:v>
                </c:pt>
                <c:pt idx="18">
                  <c:v>2311-ET-ID-17</c:v>
                </c:pt>
                <c:pt idx="19">
                  <c:v>2311-IP-ID-16</c:v>
                </c:pt>
                <c:pt idx="20">
                  <c:v>2311-IT-ID-17</c:v>
                </c:pt>
                <c:pt idx="21">
                  <c:v>2311-EL-ID-25</c:v>
                </c:pt>
                <c:pt idx="22">
                  <c:v>2311-EL-ID-17</c:v>
                </c:pt>
                <c:pt idx="23">
                  <c:v>2311-IP-ID-11</c:v>
                </c:pt>
                <c:pt idx="24">
                  <c:v>2311-EL-ID-11</c:v>
                </c:pt>
                <c:pt idx="25">
                  <c:v>2311-IT-ID-08</c:v>
                </c:pt>
                <c:pt idx="26">
                  <c:v>2311-EX-ID-01</c:v>
                </c:pt>
                <c:pt idx="27">
                  <c:v>2311-EL-ID-08</c:v>
                </c:pt>
                <c:pt idx="28">
                  <c:v>2311-DA-ID-10</c:v>
                </c:pt>
                <c:pt idx="29">
                  <c:v>2311-PRODUCT-ID-05</c:v>
                </c:pt>
                <c:pt idx="30">
                  <c:v>2311-BIW-ID-06</c:v>
                </c:pt>
                <c:pt idx="31">
                  <c:v>2311-DA-ID-25</c:v>
                </c:pt>
                <c:pt idx="32">
                  <c:v>2311-ET-ID-20</c:v>
                </c:pt>
                <c:pt idx="33">
                  <c:v>2311-ET-ID-07</c:v>
                </c:pt>
                <c:pt idx="34">
                  <c:v>2311-ET-ID-24</c:v>
                </c:pt>
                <c:pt idx="35">
                  <c:v>2311-DA-ID-12</c:v>
                </c:pt>
                <c:pt idx="36">
                  <c:v>2311-ET-ID-11</c:v>
                </c:pt>
                <c:pt idx="37">
                  <c:v>2311-IP-ID-01</c:v>
                </c:pt>
                <c:pt idx="38">
                  <c:v>2311-ST-ID-03</c:v>
                </c:pt>
                <c:pt idx="39">
                  <c:v>2311-IP-ID-10</c:v>
                </c:pt>
                <c:pt idx="40">
                  <c:v>2311-WT-ID-01</c:v>
                </c:pt>
                <c:pt idx="41">
                  <c:v>2311-BIW-ID-02</c:v>
                </c:pt>
                <c:pt idx="42">
                  <c:v>2311-PRODUCT-ID-02</c:v>
                </c:pt>
                <c:pt idx="43">
                  <c:v>2311-DA-ID-18</c:v>
                </c:pt>
                <c:pt idx="44">
                  <c:v>2311-DA-ID-20</c:v>
                </c:pt>
                <c:pt idx="45">
                  <c:v>2311-DA-ID-37</c:v>
                </c:pt>
                <c:pt idx="46">
                  <c:v>2311-EL-ID-23</c:v>
                </c:pt>
                <c:pt idx="47">
                  <c:v>2311-SP-ID-03</c:v>
                </c:pt>
                <c:pt idx="48">
                  <c:v>2311-DA-ID-27</c:v>
                </c:pt>
                <c:pt idx="49">
                  <c:v>2311-PRODUCT-ID-03</c:v>
                </c:pt>
                <c:pt idx="50">
                  <c:v>AI-GEN-01</c:v>
                </c:pt>
                <c:pt idx="51">
                  <c:v>AI-GEN-02</c:v>
                </c:pt>
                <c:pt idx="52">
                  <c:v>AI-GEN-03</c:v>
                </c:pt>
                <c:pt idx="53">
                  <c:v>AI-GEN-04</c:v>
                </c:pt>
                <c:pt idx="54">
                  <c:v>AI-GEN-05</c:v>
                </c:pt>
                <c:pt idx="55">
                  <c:v>AI-GEN-06</c:v>
                </c:pt>
              </c:strCache>
            </c:strRef>
          </c:cat>
          <c:val>
            <c:numRef>
              <c:f>Sheet1!$B$2:$B$57</c:f>
              <c:numCache>
                <c:formatCode>General</c:formatCode>
                <c:ptCount val="56"/>
                <c:pt idx="0">
                  <c:v>148.0</c:v>
                </c:pt>
                <c:pt idx="1">
                  <c:v>148.0</c:v>
                </c:pt>
                <c:pt idx="2">
                  <c:v>148.0</c:v>
                </c:pt>
                <c:pt idx="3">
                  <c:v>147.0</c:v>
                </c:pt>
                <c:pt idx="4">
                  <c:v>147.0</c:v>
                </c:pt>
                <c:pt idx="5">
                  <c:v>147.0</c:v>
                </c:pt>
                <c:pt idx="6">
                  <c:v>145.0</c:v>
                </c:pt>
                <c:pt idx="7">
                  <c:v>145.0</c:v>
                </c:pt>
                <c:pt idx="8">
                  <c:v>145.0</c:v>
                </c:pt>
                <c:pt idx="9">
                  <c:v>144.0</c:v>
                </c:pt>
                <c:pt idx="10">
                  <c:v>144.0</c:v>
                </c:pt>
                <c:pt idx="11">
                  <c:v>144.0</c:v>
                </c:pt>
                <c:pt idx="12">
                  <c:v>143.0</c:v>
                </c:pt>
                <c:pt idx="13">
                  <c:v>142.0</c:v>
                </c:pt>
                <c:pt idx="14">
                  <c:v>142.0</c:v>
                </c:pt>
                <c:pt idx="15">
                  <c:v>141.0</c:v>
                </c:pt>
                <c:pt idx="16">
                  <c:v>141.0</c:v>
                </c:pt>
                <c:pt idx="17">
                  <c:v>141.0</c:v>
                </c:pt>
                <c:pt idx="18">
                  <c:v>141.0</c:v>
                </c:pt>
                <c:pt idx="19">
                  <c:v>140.0</c:v>
                </c:pt>
                <c:pt idx="20">
                  <c:v>140.0</c:v>
                </c:pt>
                <c:pt idx="21">
                  <c:v>140.0</c:v>
                </c:pt>
                <c:pt idx="22">
                  <c:v>139.0</c:v>
                </c:pt>
                <c:pt idx="23">
                  <c:v>138.0</c:v>
                </c:pt>
                <c:pt idx="24">
                  <c:v>137.0</c:v>
                </c:pt>
                <c:pt idx="25">
                  <c:v>137.0</c:v>
                </c:pt>
                <c:pt idx="26">
                  <c:v>136.0</c:v>
                </c:pt>
                <c:pt idx="27">
                  <c:v>135.0</c:v>
                </c:pt>
                <c:pt idx="28">
                  <c:v>135.0</c:v>
                </c:pt>
                <c:pt idx="29">
                  <c:v>135.0</c:v>
                </c:pt>
                <c:pt idx="30">
                  <c:v>135.0</c:v>
                </c:pt>
                <c:pt idx="31">
                  <c:v>134.0</c:v>
                </c:pt>
                <c:pt idx="32">
                  <c:v>133.0</c:v>
                </c:pt>
                <c:pt idx="33">
                  <c:v>133.0</c:v>
                </c:pt>
                <c:pt idx="34">
                  <c:v>132.0</c:v>
                </c:pt>
                <c:pt idx="35">
                  <c:v>131.0</c:v>
                </c:pt>
                <c:pt idx="36">
                  <c:v>131.0</c:v>
                </c:pt>
                <c:pt idx="37">
                  <c:v>131.0</c:v>
                </c:pt>
                <c:pt idx="38">
                  <c:v>131.0</c:v>
                </c:pt>
                <c:pt idx="39">
                  <c:v>130.0</c:v>
                </c:pt>
                <c:pt idx="40">
                  <c:v>130.0</c:v>
                </c:pt>
                <c:pt idx="41">
                  <c:v>130.0</c:v>
                </c:pt>
                <c:pt idx="42">
                  <c:v>130.0</c:v>
                </c:pt>
                <c:pt idx="43">
                  <c:v>129.0</c:v>
                </c:pt>
                <c:pt idx="44">
                  <c:v>129.0</c:v>
                </c:pt>
                <c:pt idx="45">
                  <c:v>127.0</c:v>
                </c:pt>
                <c:pt idx="46">
                  <c:v>127.0</c:v>
                </c:pt>
                <c:pt idx="47">
                  <c:v>127.0</c:v>
                </c:pt>
                <c:pt idx="48">
                  <c:v>126.0</c:v>
                </c:pt>
                <c:pt idx="49">
                  <c:v>126.0</c:v>
                </c:pt>
                <c:pt idx="50">
                  <c:v>0</c:v>
                </c:pt>
                <c:pt idx="51">
                  <c:v>0</c:v>
                </c:pt>
                <c:pt idx="52">
                  <c:v>0</c:v>
                </c:pt>
                <c:pt idx="53">
                  <c:v>0</c:v>
                </c:pt>
                <c:pt idx="54">
                  <c:v>0</c:v>
                </c:pt>
                <c:pt idx="5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2</c:v>
                </c:pt>
                <c:pt idx="2">
                  <c:v>16</c:v>
                </c:pt>
                <c:pt idx="3">
                  <c:v>30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2311-ET-ID-03</a:t>
                      </a:r>
                    </a:p>
                  </a:txBody>
                  <a:tcPr/>
                </a:tc>
                <a:tc>
                  <a:txBody>
                    <a:bodyPr wrap="square"/>
                    <a:lstStyle/>
                    <a:p>
                      <a:pPr>
                        <a:defRPr sz="1000">
                          <a:latin typeface="Calibri"/>
                        </a:defRPr>
                      </a:pPr>
                      <a:r>
                        <a:t>Remove the Air Extractor Vent Securing Trims affixed at both ends of the rear bumper brackets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2311-DA-ID-06</a:t>
                      </a:r>
                    </a:p>
                  </a:txBody>
                  <a:tcPr/>
                </a:tc>
                <a:tc>
                  <a:txBody>
                    <a:bodyPr wrap="square"/>
                    <a:lstStyle/>
                    <a:p>
                      <a:pPr>
                        <a:defRPr sz="1000">
                          <a:latin typeface="Calibri"/>
                        </a:defRPr>
                      </a:pPr>
                      <a:r>
                        <a:t>Replace the plastic trim used on the Hood Prop Rod in MGI with a foam cover trim as in KIA</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Chirag</a:t>
                      </a:r>
                    </a:p>
                  </a:txBody>
                  <a:tcPr/>
                </a:tc>
                <a:tc>
                  <a:txBody>
                    <a:bodyPr wrap="square"/>
                    <a:lstStyle/>
                    <a:p>
                      <a:pPr>
                        <a:defRPr sz="1000">
                          <a:latin typeface="Calibri"/>
                        </a:defRPr>
                      </a:pPr>
                      <a:r>
                        <a:t>2024-02-16 00:00:00</a:t>
                      </a:r>
                    </a:p>
                  </a:txBody>
                  <a:tcPr/>
                </a:tc>
              </a:tr>
              <a:tr h="320040">
                <a:tc>
                  <a:txBody>
                    <a:bodyPr wrap="square"/>
                    <a:lstStyle/>
                    <a:p>
                      <a:pPr>
                        <a:defRPr sz="1000">
                          <a:latin typeface="Calibri"/>
                        </a:defRPr>
                      </a:pPr>
                      <a:r>
                        <a:t>2311-DA-ID-22</a:t>
                      </a:r>
                    </a:p>
                  </a:txBody>
                  <a:tcPr/>
                </a:tc>
                <a:tc>
                  <a:txBody>
                    <a:bodyPr wrap="square"/>
                    <a:lstStyle/>
                    <a:p>
                      <a:pPr>
                        <a:defRPr sz="1000">
                          <a:latin typeface="Calibri"/>
                        </a:defRPr>
                      </a:pPr>
                      <a:r>
                        <a:t>Replace PA6-GF30 with PA6-GF15 + MD25 in the manufacture of the Exterior Door Handle Rear Trims</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2311-DA-ID-26</a:t>
                      </a:r>
                    </a:p>
                  </a:txBody>
                  <a:tcPr/>
                </a:tc>
                <a:tc>
                  <a:txBody>
                    <a:bodyPr wrap="square"/>
                    <a:lstStyle/>
                    <a:p>
                      <a:pPr>
                        <a:defRPr sz="1000">
                          <a:latin typeface="Calibri"/>
                        </a:defRPr>
                      </a:pPr>
                      <a:r>
                        <a:t>Replace the ABS blend with PP-T20 in the manufacture of the Front and Rear Door Panel Side Trims in MGI</a:t>
                      </a:r>
                    </a:p>
                  </a:txBody>
                  <a:tcPr/>
                </a:tc>
                <a:tc>
                  <a:txBody>
                    <a:bodyPr wrap="square"/>
                    <a:lstStyle/>
                    <a:p>
                      <a:pPr>
                        <a:defRPr sz="1000">
                          <a:latin typeface="Calibri"/>
                        </a:defRPr>
                      </a:pPr>
                      <a:r>
                        <a:t>nan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2311-SS-ID-10</a:t>
                      </a:r>
                    </a:p>
                  </a:txBody>
                  <a:tcPr/>
                </a:tc>
                <a:tc>
                  <a:txBody>
                    <a:bodyPr wrap="square"/>
                    <a:lstStyle/>
                    <a:p>
                      <a:pPr>
                        <a:defRPr sz="1000">
                          <a:latin typeface="Calibri"/>
                        </a:defRPr>
                      </a:pPr>
                      <a:r>
                        <a:t>Replace PP+EPDM-T20 used in the manufacture of the Second-Row Seat Bottom Cover and Cushion Cover Trims of MGI with standard PP</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Kalp/Nishant</a:t>
                      </a:r>
                    </a:p>
                  </a:txBody>
                  <a:tcPr/>
                </a:tc>
                <a:tc>
                  <a:txBody>
                    <a:bodyPr wrap="square"/>
                    <a:lstStyle/>
                    <a:p>
                      <a:pPr>
                        <a:defRPr sz="1000">
                          <a:latin typeface="Calibri"/>
                        </a:defRPr>
                      </a:pPr>
                      <a:r>
                        <a:t>2023-12-31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2311-DA-ID-35</a:t>
                      </a:r>
                    </a:p>
                  </a:txBody>
                  <a:tcPr/>
                </a:tc>
                <a:tc>
                  <a:txBody>
                    <a:bodyPr wrap="square"/>
                    <a:lstStyle/>
                    <a:p>
                      <a:pPr>
                        <a:defRPr sz="1000">
                          <a:latin typeface="Calibri"/>
                        </a:defRPr>
                      </a:pPr>
                      <a:r>
                        <a:t>Replace PBT-GF30 with PA6-GF30 in the manufacture of the gear casings.</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INR 147.0</a:t>
                      </a:r>
                    </a:p>
                  </a:txBody>
                  <a:tcPr/>
                </a:tc>
                <a:tc>
                  <a:txBody>
                    <a:bodyPr wrap="square"/>
                    <a:lstStyle/>
                    <a:p>
                      <a:pPr>
                        <a:defRPr sz="1000">
                          <a:latin typeface="Calibri"/>
                        </a:defRPr>
                      </a:pPr>
                      <a:r>
                        <a:t>Hold</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Ratnadeep</a:t>
                      </a:r>
                    </a:p>
                  </a:txBody>
                  <a:tcPr/>
                </a:tc>
                <a:tc>
                  <a:txBody>
                    <a:bodyPr wrap="square"/>
                    <a:lstStyle/>
                    <a:p>
                      <a:pPr>
                        <a:defRPr sz="1000">
                          <a:latin typeface="Calibri"/>
                        </a:defRPr>
                      </a:pPr>
                      <a:r>
                        <a:t>TBC</a:t>
                      </a:r>
                    </a:p>
                  </a:txBody>
                  <a:tcPr/>
                </a:tc>
              </a:tr>
              <a:tr h="320040">
                <a:tc>
                  <a:txBody>
                    <a:bodyPr wrap="square"/>
                    <a:lstStyle/>
                    <a:p>
                      <a:pPr>
                        <a:defRPr sz="1000">
                          <a:latin typeface="Calibri"/>
                        </a:defRPr>
                      </a:pPr>
                      <a:r>
                        <a:t>2311-IT-ID-26</a:t>
                      </a:r>
                    </a:p>
                  </a:txBody>
                  <a:tcPr/>
                </a:tc>
                <a:tc>
                  <a:txBody>
                    <a:bodyPr wrap="square"/>
                    <a:lstStyle/>
                    <a:p>
                      <a:pPr>
                        <a:defRPr sz="1000">
                          <a:latin typeface="Calibri"/>
                        </a:defRPr>
                      </a:pPr>
                      <a:r>
                        <a:t>Replace PP-T20 with PP in the manufacture of the grab handles within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2311-IT-ID-16</a:t>
                      </a:r>
                    </a:p>
                  </a:txBody>
                  <a:tcPr/>
                </a:tc>
                <a:tc>
                  <a:txBody>
                    <a:bodyPr wrap="square"/>
                    <a:lstStyle/>
                    <a:p>
                      <a:pPr>
                        <a:defRPr sz="1000">
                          <a:latin typeface="Calibri"/>
                        </a:defRPr>
                      </a:pPr>
                      <a:r>
                        <a:t>Replace PP+PE-T10 used in the manufacture of the Front A-Pillar Interior Trims in MGI with standard PP+PE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2311-ET-ID-27</a:t>
                      </a:r>
                    </a:p>
                  </a:txBody>
                  <a:tcPr/>
                </a:tc>
                <a:tc>
                  <a:txBody>
                    <a:bodyPr wrap="square"/>
                    <a:lstStyle/>
                    <a:p>
                      <a:pPr>
                        <a:defRPr sz="1000">
                          <a:latin typeface="Calibri"/>
                        </a:defRPr>
                      </a:pPr>
                      <a:r>
                        <a:t>Replace the Thinsulate Acoustic Insulation used on the Front &amp; Rear Wheel Arch LH &amp; RH Liners for NVH restriction within MGI with Noiselite PP-PET Insulation</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2311-IT-ID-06</a:t>
                      </a:r>
                    </a:p>
                  </a:txBody>
                  <a:tcPr/>
                </a:tc>
                <a:tc>
                  <a:txBody>
                    <a:bodyPr wrap="square"/>
                    <a:lstStyle/>
                    <a:p>
                      <a:pPr>
                        <a:defRPr sz="1000">
                          <a:latin typeface="Calibri"/>
                        </a:defRPr>
                      </a:pPr>
                      <a:r>
                        <a:t>Eliminate the dead pedal trim provided in MGI.</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INR 144.0</a:t>
                      </a:r>
                    </a:p>
                  </a:txBody>
                  <a:tcPr/>
                </a:tc>
                <a:tc>
                  <a:txBody>
                    <a:bodyPr wrap="square"/>
                    <a:lstStyle/>
                    <a:p>
                      <a:pPr>
                        <a:defRPr sz="1000">
                          <a:latin typeface="Calibri"/>
                        </a:defRPr>
                      </a:pPr>
                      <a:r>
                        <a:t>OK</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Akhil</a:t>
                      </a:r>
                    </a:p>
                  </a:txBody>
                  <a:tcPr/>
                </a:tc>
                <a:tc>
                  <a:txBody>
                    <a:bodyPr wrap="square"/>
                    <a:lstStyle/>
                    <a:p>
                      <a:pPr>
                        <a:defRPr sz="1000">
                          <a:latin typeface="Calibri"/>
                        </a:defRPr>
                      </a:pPr>
                      <a:r>
                        <a:t>2024-06-15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2311-FS-ID-02</a:t>
                      </a:r>
                    </a:p>
                  </a:txBody>
                  <a:tcPr/>
                </a:tc>
                <a:tc>
                  <a:txBody>
                    <a:bodyPr wrap="square"/>
                    <a:lstStyle/>
                    <a:p>
                      <a:pPr>
                        <a:defRPr sz="1000">
                          <a:latin typeface="Calibri"/>
                        </a:defRPr>
                      </a:pPr>
                      <a:r>
                        <a:t>Replace the Steel access cover used within MGI with a Plastic (PP(assumed)) one as used in KIA</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INR 144.0</a:t>
                      </a:r>
                    </a:p>
                  </a:txBody>
                  <a:tcPr/>
                </a:tc>
                <a:tc>
                  <a:txBody>
                    <a:bodyPr wrap="square"/>
                    <a:lstStyle/>
                    <a:p>
                      <a:pPr>
                        <a:defRPr sz="1000">
                          <a:latin typeface="Calibri"/>
                        </a:defRPr>
                      </a:pPr>
                      <a:r>
                        <a:t>TBD</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Sumanta</a:t>
                      </a:r>
                    </a:p>
                  </a:txBody>
                  <a:tcPr/>
                </a:tc>
                <a:tc>
                  <a:txBody>
                    <a:bodyPr wrap="square"/>
                    <a:lstStyle/>
                    <a:p>
                      <a:pPr>
                        <a:defRPr sz="1000">
                          <a:latin typeface="Calibri"/>
                        </a:defRPr>
                      </a:pPr>
                      <a:r>
                        <a:t>2024-04-23 00:00:00</a:t>
                      </a:r>
                    </a:p>
                  </a:txBody>
                  <a:tcPr/>
                </a:tc>
              </a:tr>
              <a:tr h="320040">
                <a:tc>
                  <a:txBody>
                    <a:bodyPr wrap="square"/>
                    <a:lstStyle/>
                    <a:p>
                      <a:pPr>
                        <a:defRPr sz="1000">
                          <a:latin typeface="Calibri"/>
                        </a:defRPr>
                      </a:pPr>
                      <a:r>
                        <a:t>2311-SS-ID-01</a:t>
                      </a:r>
                    </a:p>
                  </a:txBody>
                  <a:tcPr/>
                </a:tc>
                <a:tc>
                  <a:txBody>
                    <a:bodyPr wrap="square"/>
                    <a:lstStyle/>
                    <a:p>
                      <a:pPr>
                        <a:defRPr sz="1000">
                          <a:latin typeface="Calibri"/>
                        </a:defRPr>
                      </a:pPr>
                      <a:r>
                        <a:t>Reduce the width from the upper edge of the PVC panel of seat vent by 90mm.</a:t>
                      </a:r>
                    </a:p>
                  </a:txBody>
                  <a:tcPr/>
                </a:tc>
                <a:tc>
                  <a:txBody>
                    <a:bodyPr wrap="square"/>
                    <a:lstStyle/>
                    <a:p>
                      <a:pPr>
                        <a:defRPr sz="1000">
                          <a:latin typeface="Calibri"/>
                        </a:defRPr>
                      </a:pPr>
                      <a:r>
                        <a:t>nan</a:t>
                      </a:r>
                    </a:p>
                  </a:txBody>
                  <a:tcPr/>
                </a:tc>
                <a:tc>
                  <a:txBody>
                    <a:bodyPr wrap="square"/>
                    <a:lstStyle/>
                    <a:p>
                      <a:pPr>
                        <a:defRPr sz="1000">
                          <a:latin typeface="Calibri"/>
                        </a:defRPr>
                      </a:pPr>
                      <a:r>
                        <a:t>INR 144.0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2311-DA-ID-07</a:t>
                      </a:r>
                    </a:p>
                  </a:txBody>
                  <a:tcPr/>
                </a:tc>
                <a:tc>
                  <a:txBody>
                    <a:bodyPr wrap="square"/>
                    <a:lstStyle/>
                    <a:p>
                      <a:pPr>
                        <a:defRPr sz="1000">
                          <a:latin typeface="Calibri"/>
                        </a:defRPr>
                      </a:pPr>
                      <a:r>
                        <a:t>Replace PA6-GF30 with PA6-GF20 in the manufacture of the Tailgate Release/Handle Trim</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INR 143.0</a:t>
                      </a:r>
                    </a:p>
                  </a:txBody>
                  <a:tcPr/>
                </a:tc>
                <a:tc>
                  <a:txBody>
                    <a:bodyPr wrap="square"/>
                    <a:lstStyle/>
                    <a:p>
                      <a:pPr>
                        <a:defRPr sz="1000">
                          <a:latin typeface="Calibri"/>
                        </a:defRPr>
                      </a:pPr>
                      <a:r>
                        <a:t>NG</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2311-EL-ID-01</a:t>
                      </a:r>
                    </a:p>
                  </a:txBody>
                  <a:tcPr/>
                </a:tc>
                <a:tc>
                  <a:txBody>
                    <a:bodyPr wrap="square"/>
                    <a:lstStyle/>
                    <a:p>
                      <a:pPr>
                        <a:defRPr sz="1000">
                          <a:latin typeface="Calibri"/>
                        </a:defRPr>
                      </a:pPr>
                      <a:r>
                        <a:t>Replace the 16-pin connector set used on the IRVM assembly with an 8-pin connector set.</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2311-FS-ID-01</a:t>
                      </a:r>
                    </a:p>
                  </a:txBody>
                  <a:tcPr/>
                </a:tc>
                <a:tc>
                  <a:txBody>
                    <a:bodyPr wrap="square"/>
                    <a:lstStyle/>
                    <a:p>
                      <a:pPr>
                        <a:defRPr sz="1000">
                          <a:latin typeface="Calibri"/>
                        </a:defRPr>
                      </a:pPr>
                      <a:r>
                        <a:t>Remove the Neoprene Foam Sheaths present on the fuel lines and the fuel inlet hose of MGI</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Ratnadeep</a:t>
                      </a:r>
                    </a:p>
                  </a:txBody>
                  <a:tcPr/>
                </a:tc>
                <a:tc>
                  <a:txBody>
                    <a:bodyPr wrap="square"/>
                    <a:lstStyle/>
                    <a:p>
                      <a:pPr>
                        <a:defRPr sz="1000">
                          <a:latin typeface="Calibri"/>
                        </a:defRPr>
                      </a:pPr>
                      <a:r>
                        <a:t>2024-02-12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4)</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2311-IP-ID-05</a:t>
                      </a:r>
                    </a:p>
                  </a:txBody>
                  <a:tcPr/>
                </a:tc>
                <a:tc>
                  <a:txBody>
                    <a:bodyPr wrap="square"/>
                    <a:lstStyle/>
                    <a:p>
                      <a:pPr>
                        <a:defRPr sz="1000">
                          <a:latin typeface="Calibri"/>
                        </a:defRPr>
                      </a:pPr>
                      <a:r>
                        <a:t>Replace PP+EPDM+T20 with PP+T20 in the manufacture of the dashboard upper trim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2311-PRODUCT-ID-13</a:t>
                      </a:r>
                    </a:p>
                  </a:txBody>
                  <a:tcPr/>
                </a:tc>
                <a:tc>
                  <a:txBody>
                    <a:bodyPr wrap="square"/>
                    <a:lstStyle/>
                    <a:p>
                      <a:pPr>
                        <a:defRPr sz="1000">
                          <a:latin typeface="Calibri"/>
                        </a:defRPr>
                      </a:pPr>
                      <a:r>
                        <a:t>Eliminate the plastic trim provided around the bottom anchor point at the driver side seatbelt and follow the same methodology provided at the co-driver's side.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2311-PRODUCT-ID-18</a:t>
                      </a:r>
                    </a:p>
                  </a:txBody>
                  <a:tcPr/>
                </a:tc>
                <a:tc>
                  <a:txBody>
                    <a:bodyPr wrap="square"/>
                    <a:lstStyle/>
                    <a:p>
                      <a:pPr>
                        <a:defRPr sz="1000">
                          <a:latin typeface="Calibri"/>
                        </a:defRPr>
                      </a:pPr>
                      <a:r>
                        <a:t>Reduce the diameter of the Headrest Rods from 12.6mm to 10mm</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2311-ET-ID-17</a:t>
                      </a:r>
                    </a:p>
                  </a:txBody>
                  <a:tcPr/>
                </a:tc>
                <a:tc>
                  <a:txBody>
                    <a:bodyPr wrap="square"/>
                    <a:lstStyle/>
                    <a:p>
                      <a:pPr>
                        <a:defRPr sz="1000">
                          <a:latin typeface="Calibri"/>
                        </a:defRPr>
                      </a:pPr>
                      <a:r>
                        <a:t>Reduce the wall thickness of the Bumper Lower Trim from 2.8mm to 2.4mm</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2311-IP-ID-16</a:t>
                      </a:r>
                    </a:p>
                  </a:txBody>
                  <a:tcPr/>
                </a:tc>
                <a:tc>
                  <a:txBody>
                    <a:bodyPr wrap="square"/>
                    <a:lstStyle/>
                    <a:p>
                      <a:pPr>
                        <a:defRPr sz="1000">
                          <a:latin typeface="Calibri"/>
                        </a:defRPr>
                      </a:pPr>
                      <a:r>
                        <a:t>Replace PC-ABS with ABS in the manufacture of both Instrument Cluster Fascia Decorative Trim and the IP LHS &amp; RHS Decorative Trims since the finish could be achieved on ABS-made trims as well</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 </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5)</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2311-IT-ID-17</a:t>
                      </a:r>
                    </a:p>
                  </a:txBody>
                  <a:tcPr/>
                </a:tc>
                <a:tc>
                  <a:txBody>
                    <a:bodyPr wrap="square"/>
                    <a:lstStyle/>
                    <a:p>
                      <a:pPr>
                        <a:defRPr sz="1000">
                          <a:latin typeface="Calibri"/>
                        </a:defRPr>
                      </a:pPr>
                      <a:r>
                        <a:t>Replace the Thinsulate used in between the Interior Trims of MGI with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2311-EL-ID-25</a:t>
                      </a:r>
                    </a:p>
                  </a:txBody>
                  <a:tcPr/>
                </a:tc>
                <a:tc>
                  <a:txBody>
                    <a:bodyPr wrap="square"/>
                    <a:lstStyle/>
                    <a:p>
                      <a:pPr>
                        <a:defRPr sz="1000">
                          <a:latin typeface="Calibri"/>
                        </a:defRPr>
                      </a:pPr>
                      <a:r>
                        <a:t>Replace Brass with Steel in the manufacture of the Main Terminal Connector Bolt within the Engine-Bay Fusebox Assembly of MGI</a:t>
                      </a:r>
                    </a:p>
                  </a:txBody>
                  <a:tcPr/>
                </a:tc>
                <a:tc>
                  <a:txBody>
                    <a:bodyPr wrap="square"/>
                    <a:lstStyle/>
                    <a:p>
                      <a:pPr>
                        <a:defRPr sz="1000">
                          <a:latin typeface="Calibri"/>
                        </a:defRPr>
                      </a:pPr>
                      <a:r>
                        <a:t>nan</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2311-EL-ID-17</a:t>
                      </a:r>
                    </a:p>
                  </a:txBody>
                  <a:tcPr/>
                </a:tc>
                <a:tc>
                  <a:txBody>
                    <a:bodyPr wrap="square"/>
                    <a:lstStyle/>
                    <a:p>
                      <a:pPr>
                        <a:defRPr sz="1000">
                          <a:latin typeface="Calibri"/>
                        </a:defRPr>
                      </a:pPr>
                      <a:r>
                        <a:t>Replace the oxygen sensors used in MGI with the oxygen sensors used in KIA</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139.0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2311-IP-ID-11</a:t>
                      </a:r>
                    </a:p>
                  </a:txBody>
                  <a:tcPr/>
                </a:tc>
                <a:tc>
                  <a:txBody>
                    <a:bodyPr wrap="square"/>
                    <a:lstStyle/>
                    <a:p>
                      <a:pPr>
                        <a:defRPr sz="1000">
                          <a:latin typeface="Calibri"/>
                        </a:defRPr>
                      </a:pPr>
                      <a:r>
                        <a:t>Replace PC-ABS with PP-TD40 in the manufacture of the Front-Row Air Vent Casings in MGI</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138.0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6)</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2311-IT-ID-08</a:t>
                      </a:r>
                    </a:p>
                  </a:txBody>
                  <a:tcPr/>
                </a:tc>
                <a:tc>
                  <a:txBody>
                    <a:bodyPr wrap="square"/>
                    <a:lstStyle/>
                    <a:p>
                      <a:pPr>
                        <a:defRPr sz="1000">
                          <a:latin typeface="Calibri"/>
                        </a:defRPr>
                      </a:pPr>
                      <a:r>
                        <a:t>Remove the EPDM sheet and integrate the PU Foam with the PE sheet.</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137.0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2311-EX-ID-01</a:t>
                      </a:r>
                    </a:p>
                  </a:txBody>
                  <a:tcPr/>
                </a:tc>
                <a:tc>
                  <a:txBody>
                    <a:bodyPr wrap="square"/>
                    <a:lstStyle/>
                    <a:p>
                      <a:pPr>
                        <a:defRPr sz="1000">
                          <a:latin typeface="Calibri"/>
                        </a:defRPr>
                      </a:pPr>
                      <a:r>
                        <a:t>1. Remove the rubber hanger from the extension pipe near the resonator, along with its associated mounting points, and rearrange the other hangers as shown in the figure.</a:t>
                      </a:r>
                    </a:p>
                    <a:p>
                      <a:pPr>
                        <a:defRPr sz="1000">
                          <a:latin typeface="Calibri"/>
                        </a:defRPr>
                      </a:pPr>
                      <a:r>
                        <a:t>2. Relocate the hangers mounted on the resonator to the top and bottom of the resonator (onto the exhaust pipe and the extension pipe)</a:t>
                      </a:r>
                    </a:p>
                  </a:txBody>
                  <a:tcPr/>
                </a:tc>
                <a:tc>
                  <a:txBody>
                    <a:bodyPr wrap="square"/>
                    <a:lstStyle/>
                    <a:p>
                      <a:pPr>
                        <a:defRPr sz="1000">
                          <a:latin typeface="Calibri"/>
                        </a:defRPr>
                      </a:pPr>
                      <a:r>
                        <a:t>nan</a:t>
                      </a:r>
                    </a:p>
                  </a:txBody>
                  <a:tcPr/>
                </a:tc>
                <a:tc>
                  <a:txBody>
                    <a:bodyPr wrap="square"/>
                    <a:lstStyle/>
                    <a:p>
                      <a:pPr>
                        <a:defRPr sz="1000">
                          <a:latin typeface="Calibri"/>
                        </a:defRPr>
                      </a:pPr>
                      <a:r>
                        <a:t>INR 136.0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2311-DA-ID-10</a:t>
                      </a:r>
                    </a:p>
                  </a:txBody>
                  <a:tcPr/>
                </a:tc>
                <a:tc>
                  <a:txBody>
                    <a:bodyPr wrap="square"/>
                    <a:lstStyle/>
                    <a:p>
                      <a:pPr>
                        <a:defRPr sz="1000">
                          <a:latin typeface="Calibri"/>
                        </a:defRPr>
                      </a:pPr>
                      <a:r>
                        <a:t>Instead of using Aluminum in the manufacture of the Mirror Main Frame, use PA6-GF 50</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2311-PRODUCT-ID-05</a:t>
                      </a:r>
                    </a:p>
                  </a:txBody>
                  <a:tcPr/>
                </a:tc>
                <a:tc>
                  <a:txBody>
                    <a:bodyPr wrap="square"/>
                    <a:lstStyle/>
                    <a:p>
                      <a:pPr>
                        <a:defRPr sz="1000">
                          <a:latin typeface="Calibri"/>
                        </a:defRPr>
                      </a:pPr>
                      <a:r>
                        <a:t>Reduce the projection of the 'HECTOR' badging on the tailgate at the rear end of the car from 4mm to 2.5mm</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7)</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2311-BIW-ID-06</a:t>
                      </a:r>
                    </a:p>
                  </a:txBody>
                  <a:tcPr/>
                </a:tc>
                <a:tc>
                  <a:txBody>
                    <a:bodyPr wrap="square"/>
                    <a:lstStyle/>
                    <a:p>
                      <a:pPr>
                        <a:defRPr sz="1000">
                          <a:latin typeface="Calibri"/>
                        </a:defRPr>
                      </a:pPr>
                      <a:r>
                        <a:t>Reduce the Paint Coating Thickness of the highlighted Roof BiW Panel from 110 - 120μm to 70 - 80μm</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2311-DA-ID-25</a:t>
                      </a:r>
                    </a:p>
                  </a:txBody>
                  <a:tcPr/>
                </a:tc>
                <a:tc>
                  <a:txBody>
                    <a:bodyPr wrap="square"/>
                    <a:lstStyle/>
                    <a:p>
                      <a:pPr>
                        <a:defRPr sz="1000">
                          <a:latin typeface="Calibri"/>
                        </a:defRPr>
                      </a:pPr>
                      <a:r>
                        <a:t>Replace PP-T20 used in the manufacture of the Door Panel Interior Main Trims 2 of MGI with PP-E/P-TD10</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INR 134.0</a:t>
                      </a:r>
                    </a:p>
                  </a:txBody>
                  <a:tcPr/>
                </a:tc>
                <a:tc>
                  <a:txBody>
                    <a:bodyPr wrap="square"/>
                    <a:lstStyle/>
                    <a:p>
                      <a:pPr>
                        <a:defRPr sz="1000">
                          <a:latin typeface="Calibri"/>
                        </a:defRPr>
                      </a:pPr>
                      <a:r>
                        <a:t>NG</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2311-ET-ID-20</a:t>
                      </a:r>
                    </a:p>
                  </a:txBody>
                  <a:tcPr/>
                </a:tc>
                <a:tc>
                  <a:txBody>
                    <a:bodyPr wrap="square"/>
                    <a:lstStyle/>
                    <a:p>
                      <a:pPr>
                        <a:defRPr sz="1000">
                          <a:latin typeface="Calibri"/>
                        </a:defRPr>
                      </a:pPr>
                      <a:r>
                        <a:t>Replace the PCB Module supplied by 'Taizhou Suzhong Antenna Group Co., Ltd.' used within the shark fin antenna of MGI with a similar one supplied by 'INFAC Elecs'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2311-ET-ID-07</a:t>
                      </a:r>
                    </a:p>
                  </a:txBody>
                  <a:tcPr/>
                </a:tc>
                <a:tc>
                  <a:txBody>
                    <a:bodyPr wrap="square"/>
                    <a:lstStyle/>
                    <a:p>
                      <a:pPr>
                        <a:defRPr sz="1000">
                          <a:latin typeface="Calibri"/>
                        </a:defRPr>
                      </a:pPr>
                      <a:r>
                        <a:t>Reduce the wall thickness of the Front and Rear Fender Garnishes present on both LH and RH sides from 3.2mm to 2.8mm</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2311-ET-ID-24</a:t>
                      </a:r>
                    </a:p>
                  </a:txBody>
                  <a:tcPr/>
                </a:tc>
                <a:tc>
                  <a:txBody>
                    <a:bodyPr wrap="square"/>
                    <a:lstStyle/>
                    <a:p>
                      <a:pPr>
                        <a:defRPr sz="1000">
                          <a:latin typeface="Calibri"/>
                        </a:defRPr>
                      </a:pPr>
                      <a:r>
                        <a:t>Redesign the current front logo assembly making the mentioned changes,</a:t>
                      </a:r>
                    </a:p>
                    <a:p>
                      <a:pPr>
                        <a:defRPr sz="1000">
                          <a:latin typeface="Calibri"/>
                        </a:defRPr>
                      </a:pPr>
                      <a:r>
                        <a:t>1. Remove the Logo Holder (Black)</a:t>
                      </a:r>
                    </a:p>
                    <a:p>
                      <a:pPr>
                        <a:defRPr sz="1000">
                          <a:latin typeface="Calibri"/>
                        </a:defRPr>
                      </a:pPr>
                      <a:r>
                        <a:t>2. Instead of chrome plating the Logo Holding Bracket, finish it in Black and snap-fit the logo M and G onto this</a:t>
                      </a:r>
                    </a:p>
                    <a:p>
                      <a:pPr>
                        <a:defRPr sz="1000">
                          <a:latin typeface="Calibri"/>
                        </a:defRPr>
                      </a:pPr>
                      <a:r>
                        <a:t>3. Introduce a new chrome-plated edge trim to complete the design</a:t>
                      </a:r>
                    </a:p>
                  </a:txBody>
                  <a:tcPr/>
                </a:tc>
                <a:tc>
                  <a:txBody>
                    <a:bodyPr wrap="square"/>
                    <a:lstStyle/>
                    <a:p>
                      <a:pPr>
                        <a:defRPr sz="1000">
                          <a:latin typeface="Calibri"/>
                        </a:defRPr>
                      </a:pPr>
                      <a:r>
                        <a:t>nan</a:t>
                      </a:r>
                    </a:p>
                  </a:txBody>
                  <a:tcPr/>
                </a:tc>
                <a:tc>
                  <a:txBody>
                    <a:bodyPr wrap="square"/>
                    <a:lstStyle/>
                    <a:p>
                      <a:pPr>
                        <a:defRPr sz="1000">
                          <a:latin typeface="Calibri"/>
                        </a:defRPr>
                      </a:pPr>
                      <a:r>
                        <a:t>INR 132.0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8)</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2311-DA-ID-12</a:t>
                      </a:r>
                    </a:p>
                  </a:txBody>
                  <a:tcPr/>
                </a:tc>
                <a:tc>
                  <a:txBody>
                    <a:bodyPr wrap="square"/>
                    <a:lstStyle/>
                    <a:p>
                      <a:pPr>
                        <a:defRPr sz="1000">
                          <a:latin typeface="Calibri"/>
                        </a:defRPr>
                      </a:pPr>
                      <a:r>
                        <a:t>Replace ABS with PP-GF 15 in the manufacture of the LH and RH Side Spoiler Inner Trims</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2311-ET-ID-11</a:t>
                      </a:r>
                    </a:p>
                  </a:txBody>
                  <a:tcPr/>
                </a:tc>
                <a:tc>
                  <a:txBody>
                    <a:bodyPr wrap="square"/>
                    <a:lstStyle/>
                    <a:p>
                      <a:pPr>
                        <a:defRPr sz="1000">
                          <a:latin typeface="Calibri"/>
                        </a:defRPr>
                      </a:pPr>
                      <a:r>
                        <a:t>1. Remove the Foam inserts from both the LH and RH sides of MGI and use plastic trims instead as employed in KIA</a:t>
                      </a:r>
                    </a:p>
                    <a:p>
                      <a:pPr>
                        <a:defRPr sz="1000">
                          <a:latin typeface="Calibri"/>
                        </a:defRPr>
                      </a:pPr>
                      <a:r>
                        <a:t>2. Thinsulate could be used if required</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2311-IP-ID-01</a:t>
                      </a:r>
                    </a:p>
                  </a:txBody>
                  <a:tcPr/>
                </a:tc>
                <a:tc>
                  <a:txBody>
                    <a:bodyPr wrap="square"/>
                    <a:lstStyle/>
                    <a:p>
                      <a:pPr>
                        <a:defRPr sz="1000">
                          <a:latin typeface="Calibri"/>
                        </a:defRPr>
                      </a:pPr>
                      <a:r>
                        <a:t>Replace the Thinsulate used within the LH &amp; RH Centre Console Side Trims of MGI with Thermoplastic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131.0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2311-ST-ID-03</a:t>
                      </a:r>
                    </a:p>
                  </a:txBody>
                  <a:tcPr/>
                </a:tc>
                <a:tc>
                  <a:txBody>
                    <a:bodyPr wrap="square"/>
                    <a:lstStyle/>
                    <a:p>
                      <a:pPr>
                        <a:defRPr sz="1000">
                          <a:latin typeface="Calibri"/>
                        </a:defRPr>
                      </a:pPr>
                      <a:r>
                        <a:t>Replace the Cast Aluminium Steering Column Mount in MGI with a fabricated sheet welded onto the shaft as used in KIA </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2311-IP-ID-10</a:t>
                      </a:r>
                    </a:p>
                  </a:txBody>
                  <a:tcPr/>
                </a:tc>
                <a:tc>
                  <a:txBody>
                    <a:bodyPr wrap="square"/>
                    <a:lstStyle/>
                    <a:p>
                      <a:pPr>
                        <a:defRPr sz="1000">
                          <a:latin typeface="Calibri"/>
                        </a:defRPr>
                      </a:pPr>
                      <a:r>
                        <a:t>Replace PC-ABS with ABS in the manufacture of the Front-Row Armrest Inner Cover in MGI</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9)</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2311-WT-ID-01</a:t>
                      </a:r>
                    </a:p>
                  </a:txBody>
                  <a:tcPr/>
                </a:tc>
                <a:tc>
                  <a:txBody>
                    <a:bodyPr wrap="square"/>
                    <a:lstStyle/>
                    <a:p>
                      <a:pPr>
                        <a:defRPr sz="1000">
                          <a:latin typeface="Calibri"/>
                        </a:defRPr>
                      </a:pPr>
                      <a:r>
                        <a:t>Replace the Tyre Pressure Monitoring System (TPMS) sensors from 'SGMW' used in MGI with similar sensors from 'Continental Engineering Services'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2311-BIW-ID-02</a:t>
                      </a:r>
                    </a:p>
                  </a:txBody>
                  <a:tcPr/>
                </a:tc>
                <a:tc>
                  <a:txBody>
                    <a:bodyPr wrap="square"/>
                    <a:lstStyle/>
                    <a:p>
                      <a:pPr>
                        <a:defRPr sz="1000">
                          <a:latin typeface="Calibri"/>
                        </a:defRPr>
                      </a:pPr>
                      <a:r>
                        <a:t>Remove the black paint coating from the LH &amp; RH A-Pillar Side Stiffener Brackets, LH &amp; RH Centre Console and Gear Selector Base Mounting Brackets on the BIW of MGI</a:t>
                      </a:r>
                    </a:p>
                  </a:txBody>
                  <a:tcPr/>
                </a:tc>
                <a:tc>
                  <a:txBody>
                    <a:bodyPr wrap="square"/>
                    <a:lstStyle/>
                    <a:p>
                      <a:pPr>
                        <a:defRPr sz="1000">
                          <a:latin typeface="Calibri"/>
                        </a:defRPr>
                      </a:pPr>
                      <a:r>
                        <a:t>CFT buy off</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CFT buy off</a:t>
                      </a:r>
                    </a:p>
                  </a:txBody>
                  <a:tcPr/>
                </a:tc>
                <a:tc>
                  <a:txBody>
                    <a:bodyPr wrap="square"/>
                    <a:lstStyle/>
                    <a:p>
                      <a:pPr>
                        <a:defRPr sz="1000">
                          <a:latin typeface="Calibri"/>
                        </a:defRPr>
                      </a:pPr>
                      <a:r>
                        <a:t>Ratnadeep</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2311-PRODUCT-ID-02</a:t>
                      </a:r>
                    </a:p>
                  </a:txBody>
                  <a:tcPr/>
                </a:tc>
                <a:tc>
                  <a:txBody>
                    <a:bodyPr wrap="square"/>
                    <a:lstStyle/>
                    <a:p>
                      <a:pPr>
                        <a:defRPr sz="1000">
                          <a:latin typeface="Calibri"/>
                        </a:defRPr>
                      </a:pPr>
                      <a:r>
                        <a:t>Replace the Plastic Caps mounted onto the doors, hood, and tailgate (total 14) with adhesive stickers.</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2311-DA-ID-18</a:t>
                      </a:r>
                    </a:p>
                  </a:txBody>
                  <a:tcPr/>
                </a:tc>
                <a:tc>
                  <a:txBody>
                    <a:bodyPr wrap="square"/>
                    <a:lstStyle/>
                    <a:p>
                      <a:pPr>
                        <a:defRPr sz="1000">
                          <a:latin typeface="Calibri"/>
                        </a:defRPr>
                      </a:pPr>
                      <a:r>
                        <a:t>Replace ABS with PP-T 20 in the manufacture of Door Panel Interior Delta Trim Inners</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2023-11-08 00:00:00</a:t>
                      </a:r>
                    </a:p>
                  </a:txBody>
                  <a:tcPr/>
                </a:tc>
              </a:tr>
              <a:tr h="320040">
                <a:tc>
                  <a:txBody>
                    <a:bodyPr wrap="square"/>
                    <a:lstStyle/>
                    <a:p>
                      <a:pPr>
                        <a:defRPr sz="1000">
                          <a:latin typeface="Calibri"/>
                        </a:defRPr>
                      </a:pPr>
                      <a:r>
                        <a:t>2311-DA-ID-20</a:t>
                      </a:r>
                    </a:p>
                  </a:txBody>
                  <a:tcPr/>
                </a:tc>
                <a:tc>
                  <a:txBody>
                    <a:bodyPr wrap="square"/>
                    <a:lstStyle/>
                    <a:p>
                      <a:pPr>
                        <a:defRPr sz="1000">
                          <a:latin typeface="Calibri"/>
                        </a:defRPr>
                      </a:pPr>
                      <a:r>
                        <a:t>De-content Cable Protective Sheaths one each from all the Lock Release and Front Window Regulator assemblies of the vehicle</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Manish</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10)</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2311-DA-ID-37</a:t>
                      </a:r>
                    </a:p>
                  </a:txBody>
                  <a:tcPr/>
                </a:tc>
                <a:tc>
                  <a:txBody>
                    <a:bodyPr wrap="square"/>
                    <a:lstStyle/>
                    <a:p>
                      <a:pPr>
                        <a:defRPr sz="1000">
                          <a:latin typeface="Calibri"/>
                        </a:defRPr>
                      </a:pPr>
                      <a:r>
                        <a:t>Replace ABS with PP-T20 used in the manufacture of the LH and RH Mirror Outer Covers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2311-EL-ID-23</a:t>
                      </a:r>
                    </a:p>
                  </a:txBody>
                  <a:tcPr/>
                </a:tc>
                <a:tc>
                  <a:txBody>
                    <a:bodyPr wrap="square"/>
                    <a:lstStyle/>
                    <a:p>
                      <a:pPr>
                        <a:defRPr sz="1000">
                          <a:latin typeface="Calibri"/>
                        </a:defRPr>
                      </a:pPr>
                      <a:r>
                        <a:t>Replace the Mini (Closed) Fuses used within the Engine-Bay Fuse Box of the vehicle with Micro2 (Open) Fuses</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2311-SP-ID-03</a:t>
                      </a:r>
                    </a:p>
                  </a:txBody>
                  <a:tcPr/>
                </a:tc>
                <a:tc>
                  <a:txBody>
                    <a:bodyPr wrap="square"/>
                    <a:lstStyle/>
                    <a:p>
                      <a:pPr>
                        <a:defRPr sz="1000">
                          <a:latin typeface="Calibri"/>
                        </a:defRPr>
                      </a:pPr>
                      <a:r>
                        <a:t>Redesign the rubber mould removing the 16mm extension downwards from all three sides of the plate</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2311-DA-ID-27</a:t>
                      </a:r>
                    </a:p>
                  </a:txBody>
                  <a:tcPr/>
                </a:tc>
                <a:tc>
                  <a:txBody>
                    <a:bodyPr wrap="square"/>
                    <a:lstStyle/>
                    <a:p>
                      <a:pPr>
                        <a:defRPr sz="1000">
                          <a:latin typeface="Calibri"/>
                        </a:defRPr>
                      </a:pPr>
                      <a:r>
                        <a:t>Replace ABS+PVC+PU with PP+PE-TD14 in the manufacture of both Front and Rear Passenger Armrest Trims of MGI</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Akhil</a:t>
                      </a:r>
                    </a:p>
                  </a:txBody>
                  <a:tcPr/>
                </a:tc>
                <a:tc>
                  <a:txBody>
                    <a:bodyPr wrap="square"/>
                    <a:lstStyle/>
                    <a:p>
                      <a:pPr>
                        <a:defRPr sz="1000">
                          <a:latin typeface="Calibri"/>
                        </a:defRPr>
                      </a:pPr>
                      <a:r>
                        <a:t>2024-02-12 00:00:00</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Eliminate the secondary cosmetic bezel surrounding the central infotainment display, exposing the primary display housing.</a:t>
                      </a:r>
                    </a:p>
                  </a:txBody>
                  <a:tcPr/>
                </a:tc>
                <a:tc>
                  <a:txBody>
                    <a:bodyPr wrap="square"/>
                    <a:lstStyle/>
                    <a:p>
                      <a:pPr>
                        <a:defRPr sz="1000">
                          <a:latin typeface="Calibri"/>
                        </a:defRPr>
                      </a:pPr>
                      <a:r>
                        <a:t>Analyze the structural integrity and thermal management of the primary display housing to ensure it can function as the sole exposed element. Perform UI/UX reviews to confirm aesthetic acceptance and user interaction is not compromised. Validate thermal dissipation under peak load conditions through accelerated testing and in-vehicle prototype monitoring. Confirm no additional NVH issues arise from the removal of the bezel.</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Analyze the structural integrity and thermal management of the primary display housing to ensure it can function as the sole exposed element. Perform UI/UX reviews to confirm aesthetic acceptance and user interaction is not compromised. Validate thermal dissipation under peak load conditions through accelerated testing and in-vehicle prototype monitoring. Confirm no additional NVH issues arise from the removal of the bezel.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Remove the physical buttons for HVAC fan speed control, integrating their function solely into the touchscreen interface.</a:t>
                      </a:r>
                    </a:p>
                  </a:txBody>
                  <a:tcPr/>
                </a:tc>
                <a:tc>
                  <a:txBody>
                    <a:bodyPr wrap="square"/>
                    <a:lstStyle/>
                    <a:p>
                      <a:pPr>
                        <a:defRPr sz="1000">
                          <a:latin typeface="Calibri"/>
                        </a:defRPr>
                      </a:pPr>
                      <a:r>
                        <a:t>The tactile feedback and intuitive nature of physical buttons for critical climate control functions (like fan speed) must be reassessed. This requires a comprehensive HMI (Human-Machine Interface) study to ensure driver distraction is minimized and critical adjustments can be made without looking. Develop advanced touchscreen haptics and visual cues to replicate physical button feel. Validate through extensive driver studies and simulation, ensuring compliance with all relevant ergonomics and safety standards. Evaluate the software architecture for redundancy and fail-safe operation in case of touchscreen malfunction.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tactile feedback and intuitive nature of physical buttons for critical climate control functions (like fan speed) must be reassessed. This requires a comprehensive HMI (Human-Machine Interface) study to ensure driver distraction is minimized and critical adjustments can be made without looking. Develop advanced touchscreen haptics and visual cues to replicate physical button feel. Validate through extensive driver studies and simulation, ensuring compliance with all relevant ergonomics and safety standards. Evaluate the software architecture for redundancy and fail-safe operation in case of touchscreen malfunction.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De-spec the integrated ambient lighting strips within the dashboard and door panels, relying solely on the primary cabin illumination.</a:t>
                      </a:r>
                    </a:p>
                  </a:txBody>
                  <a:tcPr/>
                </a:tc>
                <a:tc>
                  <a:txBody>
                    <a:bodyPr wrap="square"/>
                    <a:lstStyle/>
                    <a:p>
                      <a:pPr>
                        <a:defRPr sz="1000">
                          <a:latin typeface="Calibri"/>
                        </a:defRPr>
                      </a:pPr>
                      <a:r>
                        <a:t>This proposal leverages the existing primary interior lighting system to fulfill all cabin illumination needs, eliminating the cost and complexity of separate, integrated ambient lighting. Evaluate the LUX levels and uniformity of the primary lighting to ensure it provides adequate illumination and desired ambiance at all times. Conduct photometric simulations to confirm coverage and identify any potential dark spots or glare. Validation will involve subjective driver perception studies and objective measurements of light intensity and distribution in various driving conditions and times of day. Ensure that any safety-critical illumination requirements previously met by ambient lighting are adequately addressed.</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leverages the existing primary interior lighting system to fulfill all cabin illumination needs, eliminating the cost and complexity of separate, integrated ambient lighting. Evaluate the LUX levels and uniformity of the primary lighting to ensure it provides adequate illumination and desired ambiance at all times. Conduct photometric simulations to confirm coverage and identify any potential dark spots or glare. Validation will involve subjective driver perception studies and objective measurements of light intensity and distribution in various driving conditions and times of day. Ensure that any safety-critical illumination requirements previously met by ambient lighting are adequately addressed.</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Simplify the material composition of the rear seat entertainment screen housing, using a standard ABS rather than a high-gloss painted variant.</a:t>
                      </a:r>
                    </a:p>
                  </a:txBody>
                  <a:tcPr/>
                </a:tc>
                <a:tc>
                  <a:txBody>
                    <a:bodyPr wrap="square"/>
                    <a:lstStyle/>
                    <a:p>
                      <a:pPr>
                        <a:defRPr sz="1000">
                          <a:latin typeface="Calibri"/>
                        </a:defRPr>
                      </a:pPr>
                      <a:r>
                        <a:t>The objective is to reduce cost by substituting the current high-gloss painted ABS material with a standard, readily available ABS grade for the rear seat entertainment screen housing. This transition eliminates the multi-step painting process, associated tooling, and material costs. The engineering validation will focus on impact resistance, UV stability, and surface scratch resistance of the chosen ABS grade. Accelerated weathering tests and impact tests will be performed to ensure durability. Aesthetic evaluation under various lighting conditions will be conducted to confirm it meets the perceived quality standards for the cabin environment. Surface finish consistency and ease of cleaning will also be assessed.</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objective is to reduce cost by substituting the current high-gloss painted ABS material with a standard, readily available ABS grade for the rear seat entertainment screen housing. This transition eliminates the multi-step painting process, associated tooling, and material costs. The engineering validation will focus on impact resistance, UV stability, and surface scratch resistance of the chosen ABS grade. Accelerated weathering tests and impact tests will be performed to ensure durability. Aesthetic evaluation under various lighting conditions will be conducted to confirm it meets the perceived quality standards for the cabin environment. Surface finish consistency and ease of cleaning will also be assessed.</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Remove the individual indicator LEDs for seatbelt status, integrating this information solely into the central instrument cluster display.</a:t>
                      </a:r>
                    </a:p>
                  </a:txBody>
                  <a:tcPr/>
                </a:tc>
                <a:tc>
                  <a:txBody>
                    <a:bodyPr wrap="square"/>
                    <a:lstStyle/>
                    <a:p>
                      <a:pPr>
                        <a:defRPr sz="1000">
                          <a:latin typeface="Calibri"/>
                        </a:defRPr>
                      </a:pPr>
                      <a:r>
                        <a:t>This proposal consolidates seatbelt status indication from dedicated, physical LEDs to the central instrument cluster. This eliminates component costs, assembly steps, and wiring complexity associated with the separate LEDs. The core principle is to leverage the existing digital display's capability to present all driver and passenger information efficiently. Validation will focus on ensuring the seatbelt status is clearly and unambiguously displayed on the instrument cluster, with appropriate visual hierarchy and notification timing. Driver perception studies and usability testing will confirm that this change does not compromise safety awareness or create driver distraction. Software logic for the instrument cluster must be rigorously tested for reliability and responsiveness.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consolidates seatbelt status indication from dedicated, physical LEDs to the central instrument cluster. This eliminates component costs, assembly steps, and wiring complexity associated with the separate LEDs. The core principle is to leverage the existing digital display's capability to present all driver and passenger information efficiently. Validation will focus on ensuring the seatbelt status is clearly and unambiguously displayed on the instrument cluster, with appropriate visual hierarchy and notification timing. Driver perception studies and usability testing will confirm that this change does not compromise safety awareness or create driver distraction. Software logic for the instrument cluster must be rigorously tested for reliability and responsiveness.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Replace the existing multi-function steering wheel buttons with a simplified set, eliminating dedicated voice command and phone integration buttons.</a:t>
                      </a:r>
                    </a:p>
                  </a:txBody>
                  <a:tcPr/>
                </a:tc>
                <a:tc>
                  <a:txBody>
                    <a:bodyPr wrap="square"/>
                    <a:lstStyle/>
                    <a:p>
                      <a:pPr>
                        <a:defRPr sz="1000">
                          <a:latin typeface="Calibri"/>
                        </a:defRPr>
                      </a:pPr>
                      <a:r>
                        <a:t>This idea aims to reduce the Bill of Materials (BOM) and complexity of the steering wheel by removing specific buttons for voice command and phone integration, assuming these functions can be accessed through a primary 'mode' or 'menu' button on the wheel. The physics involved is the reduction of electrical switches and associated wiring, simplifying the steering wheel control module. The critical validation path involves a comprehensive HMI analysis to ensure that accessing these functions via a simplified button set is intuitive and does not increase driver distraction. Extensive user testing in a simulated driving environment, followed by on-road validation, will confirm the safety and usability of the new interface. The software logic governing button press sequences and functionality must be robust.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idea aims to reduce the Bill of Materials (BOM) and complexity of the steering wheel by removing specific buttons for voice command and phone integration, assuming these functions can be accessed through a primary 'mode' or 'menu' button on the wheel. The physics involved is the reduction of electrical switches and associated wiring, simplifying the steering wheel control module. The critical validation path involves a comprehensive HMI analysis to ensure that accessing these functions via a simplified button set is intuitive and does not increase driver distraction. Extensive user testing in a simulated driving environment, followed by on-road validation, will confirm the safety and usability of the new interface. The software logic governing button press sequences and functionality must be robust.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56</a:t>
            </a:r>
          </a:p>
          <a:p>
            <a:pPr>
              <a:defRPr sz="1000">
                <a:latin typeface="Calibri"/>
              </a:defRPr>
            </a:pPr>
            <a:r>
              <a:t>• Total Potential Savings: INR 6,857.00</a:t>
            </a:r>
          </a:p>
          <a:p>
            <a:pPr>
              <a:defRPr sz="1000">
                <a:latin typeface="Calibri"/>
              </a:defRPr>
            </a:pPr>
            <a:r>
              <a:t>• Implemented Ideas: 0</a:t>
            </a:r>
          </a:p>
          <a:p>
            <a:pPr>
              <a:defRPr sz="1000">
                <a:latin typeface="Calibri"/>
              </a:defRPr>
            </a:pPr>
            <a:r>
              <a:t>• Status OK: 2</a:t>
            </a:r>
          </a:p>
          <a:p>
            <a:pPr>
              <a:defRPr sz="1000">
                <a:latin typeface="Calibri"/>
              </a:defRPr>
            </a:pPr>
            <a:r>
              <a:t>• Status TBD: 16</a:t>
            </a:r>
          </a:p>
          <a:p>
            <a:pPr>
              <a:defRPr sz="1000">
                <a:latin typeface="Calibri"/>
              </a:defRPr>
            </a:pPr>
            <a:r>
              <a:t>• Status NG: 30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56 ideas analyzed.</a:t>
            </a:r>
          </a:p>
          <a:p>
            <a:pPr>
              <a:defRPr sz="1800">
                <a:latin typeface="Calibri"/>
              </a:defRPr>
            </a:pPr>
            <a:r>
              <a:t>Total Savings: INR 6,857.00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
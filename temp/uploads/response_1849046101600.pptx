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Cost Savings by Idea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Savings (INR)</c:v>
                </c:pt>
              </c:strCache>
            </c:strRef>
          </c:tx>
          <c:cat>
            <c:strRef>
              <c:f>Sheet1!$A$2:$A$11</c:f>
              <c:strCache>
                <c:ptCount val="10"/>
                <c:pt idx="0">
                  <c:v>2311-EL-ID-18</c:v>
                </c:pt>
                <c:pt idx="1">
                  <c:v>2311-EL-ID-06</c:v>
                </c:pt>
                <c:pt idx="2">
                  <c:v>2311-PRODUCT-ID-01</c:v>
                </c:pt>
                <c:pt idx="3">
                  <c:v>2311-EL-ID-04</c:v>
                </c:pt>
                <c:pt idx="4">
                  <c:v>2311-EL-ID-14</c:v>
                </c:pt>
                <c:pt idx="5">
                  <c:v>AI-GEN-01</c:v>
                </c:pt>
                <c:pt idx="6">
                  <c:v>AI-GEN-01</c:v>
                </c:pt>
                <c:pt idx="7">
                  <c:v>AI-GEN-01</c:v>
                </c:pt>
                <c:pt idx="8">
                  <c:v>AI-GEN-01</c:v>
                </c:pt>
                <c:pt idx="9">
                  <c:v>AI-GEN-01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42.0</c:v>
                </c:pt>
                <c:pt idx="1">
                  <c:v>126.0</c:v>
                </c:pt>
                <c:pt idx="2">
                  <c:v>68.0</c:v>
                </c:pt>
                <c:pt idx="3">
                  <c:v>120.0</c:v>
                </c:pt>
                <c:pt idx="4">
                  <c:v>68.0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pPr>
              <a:defRPr sz="1600">
                <a:latin typeface="Calibri"/>
              </a:defRPr>
            </a:pPr>
            <a:r>
              <a:t>Ideas Status Distribution</a:t>
            </a:r>
          </a:p>
        </c:rich>
      </c:tx>
      <c:layout/>
      <c:overlay val="0"/>
    </c:title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dPt>
            <c:idx val="0"/>
            <c:spPr>
              <a:solidFill>
                <a:srgbClr val="0000FF"/>
              </a:solidFill>
            </c:spPr>
          </c:dPt>
          <c:dPt>
            <c:idx val="1"/>
            <c:spPr>
              <a:solidFill>
                <a:srgbClr val="FF0000"/>
              </a:solidFill>
            </c:spPr>
          </c:dPt>
          <c:dPt>
            <c:idx val="2"/>
            <c:spPr>
              <a:solidFill>
                <a:srgbClr val="008000"/>
              </a:solidFill>
            </c:spPr>
          </c:dPt>
          <c:dPt>
            <c:idx val="3"/>
            <c:spPr>
              <a:solidFill>
                <a:srgbClr val="800080"/>
              </a:solidFill>
            </c:spPr>
          </c:dPt>
          <c:cat>
            <c:strRef>
              <c:f>Sheet1!$A$2:$A$5</c:f>
              <c:strCache>
                <c:ptCount val="4"/>
                <c:pt idx="0">
                  <c:v>Implemented</c:v>
                </c:pt>
                <c:pt idx="1">
                  <c:v>Status OK</c:v>
                </c:pt>
                <c:pt idx="2">
                  <c:v>Status TBD</c:v>
                </c:pt>
                <c:pt idx="3">
                  <c:v>Status NG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4</c:v>
                </c:pt>
              </c:numCache>
            </c:numRef>
          </c:val>
        </c:ser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828800" cy="1828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68880" y="9144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3600" b="1">
                <a:solidFill>
                  <a:srgbClr val="DC3545"/>
                </a:solidFill>
                <a:latin typeface="Calibri"/>
              </a:defRPr>
            </a:pPr>
            <a:r>
              <a:t>JSW MG MOTOR INDIA</a:t>
            </a:r>
          </a:p>
          <a:p>
            <a:pPr>
              <a:defRPr sz="2800" b="1">
                <a:solidFill>
                  <a:srgbClr val="000000"/>
                </a:solidFill>
                <a:latin typeface="Calibri"/>
              </a:defRPr>
            </a:pPr>
            <a:r>
              <a:t>Cost Reduction Idea Analysis Presentation</a:t>
            </a:r>
          </a:p>
          <a:p>
            <a:pPr>
              <a:defRPr sz="1600">
                <a:latin typeface="Calibri"/>
              </a:defRPr>
            </a:pPr>
            <a:r>
              <a:t>Presentation generated by VAVE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1)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2311-EL-ID-18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Auto Headlamp Photodiode Sensor used in MGI with the one used in KIA.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42.0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TBD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PP-T30 used in the manufacture of the LH and RH Headlamp Housings of MGI with PP-TD20 as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126.0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2311-PRODUCT-ID-01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dual LED lamps used for rear license plate illumination with a pair of single LED lamps.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Homeroom ideas to be bunched up and taken up for implementation at program level</a:t>
                      </a:r>
                    </a:p>
                    <a:p>
                      <a:pPr>
                        <a:defRPr sz="1000">
                          <a:latin typeface="Calibri"/>
                        </a:defRPr>
                      </a:pP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Ojaswini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2311-EL-ID-04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PP-T30 used in the manufacture of the LH &amp; RH Front Fog Lamp Housing of MGI with PP-TD20 as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120.0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2311-EL-ID-14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PC used in the manufacture of the LH &amp; RH Rear Tail Lamps, Rear Center Light Bar and Rear Fog Lamp Bezels of MGI with PBT as used in KIA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INR 68.0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NG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nan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latin typeface="Calibri"/>
              </a:defRPr>
            </a:pPr>
            <a:r>
              <a:t>Ideas Summary (Part 2)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" y="640080"/>
          <a:ext cx="8778240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286000"/>
                <a:gridCol w="548640"/>
                <a:gridCol w="914400"/>
                <a:gridCol w="731520"/>
                <a:gridCol w="1645920"/>
                <a:gridCol w="914400"/>
                <a:gridCol w="1005840"/>
              </a:tblGrid>
              <a:tr h="990600"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Idea ID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Imp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Saving 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Way Forward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Responsibility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>
                          <a:latin typeface="Calibri"/>
                        </a:defRPr>
                      </a:pPr>
                      <a:r>
                        <a:t>Date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the in the manufacture of lamp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68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pp-t30 with pp-td20 in the manufacture of headlamp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81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a in the manufacture of lamp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93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pp-t30 with pp-td20 in the manufacture of headlamp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106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AI-GEN-01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Replace the with the in the manufacture of lamp within MGI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₹ 119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AI-PROPOSAL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Review feasibility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Digital Analyst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>
                          <a:latin typeface="Calibri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Chart Analysis Discussion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Pie chart for ideas status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371600"/>
          <a:ext cx="4114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029200" y="137160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latin typeface="Calibri"/>
              </a:defRPr>
            </a:pPr>
          </a:p>
          <a:p>
            <a:pPr>
              <a:defRPr sz="1000">
                <a:latin typeface="Calibri"/>
              </a:defRPr>
            </a:pPr>
            <a:r>
              <a:t>• Total Ideas: 10</a:t>
            </a:r>
          </a:p>
          <a:p>
            <a:pPr>
              <a:defRPr sz="1000">
                <a:latin typeface="Calibri"/>
              </a:defRPr>
            </a:pPr>
            <a:r>
              <a:t>• Total Potential Savings: INR 424.00</a:t>
            </a:r>
          </a:p>
          <a:p>
            <a:pPr>
              <a:defRPr sz="1000">
                <a:latin typeface="Calibri"/>
              </a:defRPr>
            </a:pPr>
            <a:r>
              <a:t>• Implemented Ideas: 0</a:t>
            </a:r>
          </a:p>
          <a:p>
            <a:pPr>
              <a:defRPr sz="1000">
                <a:latin typeface="Calibri"/>
              </a:defRPr>
            </a:pPr>
            <a:r>
              <a:t>• Status OK: 0</a:t>
            </a:r>
          </a:p>
          <a:p>
            <a:pPr>
              <a:defRPr sz="1000">
                <a:latin typeface="Calibri"/>
              </a:defRPr>
            </a:pPr>
            <a:r>
              <a:t>• Status TBD: 1</a:t>
            </a:r>
          </a:p>
          <a:p>
            <a:pPr>
              <a:defRPr sz="1000">
                <a:latin typeface="Calibri"/>
              </a:defRPr>
            </a:pPr>
            <a:r>
              <a:t>• Status NG: 4</a:t>
            </a:r>
          </a:p>
          <a:p>
            <a:pPr>
              <a:defRPr sz="1000">
                <a:latin typeface="Calibri"/>
              </a:defRPr>
            </a:pPr>
            <a:r>
              <a:t>• The provided cost reduction ideas focus on process deletions and material replacements to reduce manufacturing costs.</a:t>
            </a:r>
          </a:p>
          <a:p>
            <a:pPr>
              <a:defRPr sz="1000">
                <a:latin typeface="Calibri"/>
              </a:defRPr>
            </a:pPr>
            <a:r>
              <a:t>• Key proposals include removing paint coatings from brackets and mounts, replacing PC-ABS with ABS, and switching to galvanized steel for window regulators.</a:t>
            </a:r>
          </a:p>
          <a:p>
            <a:pPr>
              <a:defRPr sz="1000">
                <a:latin typeface="Calibri"/>
              </a:defRPr>
            </a:pPr>
            <a:r>
              <a:t>• These changes aim to maintain functionality while reducing costs and, in some cases, weight.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latin typeface="Calibri"/>
              </a:defRPr>
            </a:pPr>
            <a:r>
              <a:t>Summary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800">
                <a:latin typeface="Calibri"/>
              </a:defRPr>
            </a:pPr>
          </a:p>
          <a:p>
            <a:pPr>
              <a:defRPr sz="1800">
                <a:latin typeface="Calibri"/>
              </a:defRPr>
            </a:pPr>
            <a:r>
              <a:t>Total Ideas: 10 ideas analyzed.</a:t>
            </a:r>
          </a:p>
          <a:p>
            <a:pPr>
              <a:defRPr sz="1800">
                <a:latin typeface="Calibri"/>
              </a:defRPr>
            </a:pPr>
            <a:r>
              <a:t>Total Savings: INR 424.00 in potential cost reductions.</a:t>
            </a:r>
          </a:p>
          <a:p>
            <a:pPr>
              <a:defRPr sz="1800">
                <a:latin typeface="Calibri"/>
              </a:defRPr>
            </a:pPr>
            <a:r>
              <a:t>Key Proposals: Remove paint coatings from mounts and brackets, replace PC-ABS with ABS, and use galvanized steel for window regulators.</a:t>
            </a:r>
          </a:p>
          <a:p>
            <a:pPr>
              <a:defRPr sz="1800">
                <a:latin typeface="Calibri"/>
              </a:defRPr>
            </a:pPr>
            <a:r>
              <a:t>Status: All ideas currently TBD, pending further evaluation.</a:t>
            </a:r>
          </a:p>
          <a:p>
            <a:pPr>
              <a:defRPr sz="1800">
                <a:latin typeface="Calibri"/>
              </a:defRPr>
            </a:pPr>
            <a:r>
              <a:t>Focus: Cost reduction through process deletion and material substitution while maintaining functionality.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621792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69696"/>
                </a:solidFill>
              </a:defRPr>
            </a:pPr>
            <a:r>
              <a:t>Generated by VAVE-AI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
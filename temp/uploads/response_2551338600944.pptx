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Sheet1!$A$2:$A$24</c:f>
              <c:strCache>
                <c:ptCount val="23"/>
                <c:pt idx="0">
                  <c:v>2311-PRODUCT-ID-01</c:v>
                </c:pt>
                <c:pt idx="1">
                  <c:v>2311-PRODUCT-ID-07</c:v>
                </c:pt>
                <c:pt idx="2">
                  <c:v>2311-PRODUCT-ID-09</c:v>
                </c:pt>
                <c:pt idx="3">
                  <c:v>2311-PRODUCT-ID-14</c:v>
                </c:pt>
                <c:pt idx="4">
                  <c:v>2311-PRODUCT-ID-16</c:v>
                </c:pt>
                <c:pt idx="5">
                  <c:v>2311-PRODUCT-ID-17</c:v>
                </c:pt>
                <c:pt idx="6">
                  <c:v>2311-PRODUCT-ID-21</c:v>
                </c:pt>
                <c:pt idx="7">
                  <c:v>2311-PRODUCT-ID-22</c:v>
                </c:pt>
                <c:pt idx="8">
                  <c:v>2311-BA-ID-02</c:v>
                </c:pt>
                <c:pt idx="9">
                  <c:v>2311-DA-ID-07</c:v>
                </c:pt>
                <c:pt idx="10">
                  <c:v>2311-DA-ID-15</c:v>
                </c:pt>
                <c:pt idx="11">
                  <c:v>2311-DA-ID-20</c:v>
                </c:pt>
                <c:pt idx="12">
                  <c:v>2311-EL-ID-01</c:v>
                </c:pt>
                <c:pt idx="13">
                  <c:v>2311-EL-ID-10</c:v>
                </c:pt>
                <c:pt idx="14">
                  <c:v>2311-EL-ID-15</c:v>
                </c:pt>
                <c:pt idx="15">
                  <c:v>2311-EL-ID-16</c:v>
                </c:pt>
                <c:pt idx="16">
                  <c:v>2311-EL-ID-17</c:v>
                </c:pt>
                <c:pt idx="17">
                  <c:v>2311-ET-ID-12</c:v>
                </c:pt>
                <c:pt idx="18">
                  <c:v>2311-ET-ID-15</c:v>
                </c:pt>
                <c:pt idx="19">
                  <c:v>2311-FS-ID-02</c:v>
                </c:pt>
                <c:pt idx="20">
                  <c:v>AI-GEN-01</c:v>
                </c:pt>
                <c:pt idx="21">
                  <c:v>AI-GEN-02</c:v>
                </c:pt>
                <c:pt idx="22">
                  <c:v>AI-GEN-03</c:v>
                </c:pt>
              </c:strCache>
            </c:strRef>
          </c:cat>
          <c:val>
            <c:numRef>
              <c:f>Sheet1!$B$2:$B$24</c:f>
              <c:numCache>
                <c:formatCode>General</c:formatCode>
                <c:ptCount val="23"/>
                <c:pt idx="0">
                  <c:v>68.0</c:v>
                </c:pt>
                <c:pt idx="1">
                  <c:v>115.0</c:v>
                </c:pt>
                <c:pt idx="2">
                  <c:v>76.0</c:v>
                </c:pt>
                <c:pt idx="3">
                  <c:v>46.0</c:v>
                </c:pt>
                <c:pt idx="4">
                  <c:v>64.0</c:v>
                </c:pt>
                <c:pt idx="5">
                  <c:v>103.0</c:v>
                </c:pt>
                <c:pt idx="6">
                  <c:v>65.0</c:v>
                </c:pt>
                <c:pt idx="7">
                  <c:v>108.0</c:v>
                </c:pt>
                <c:pt idx="8">
                  <c:v>102.0</c:v>
                </c:pt>
                <c:pt idx="9">
                  <c:v>143.0</c:v>
                </c:pt>
                <c:pt idx="10">
                  <c:v>51.0</c:v>
                </c:pt>
                <c:pt idx="11">
                  <c:v>129.0</c:v>
                </c:pt>
                <c:pt idx="12">
                  <c:v>142.0</c:v>
                </c:pt>
                <c:pt idx="13">
                  <c:v>61.0</c:v>
                </c:pt>
                <c:pt idx="14">
                  <c:v>58.0</c:v>
                </c:pt>
                <c:pt idx="15">
                  <c:v>126.0</c:v>
                </c:pt>
                <c:pt idx="16">
                  <c:v>139.0</c:v>
                </c:pt>
                <c:pt idx="17">
                  <c:v>102.0</c:v>
                </c:pt>
                <c:pt idx="18">
                  <c:v>126.0</c:v>
                </c:pt>
                <c:pt idx="19">
                  <c:v>144.0</c:v>
                </c:pt>
                <c:pt idx="20">
                  <c:v>88.56</c:v>
                </c:pt>
                <c:pt idx="21">
                  <c:v>93.48</c:v>
                </c:pt>
                <c:pt idx="22">
                  <c:v>98.4</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3</c:v>
                </c:pt>
                <c:pt idx="2">
                  <c:v>7</c:v>
                </c:pt>
                <c:pt idx="3">
                  <c:v>8</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2311-PRODUCT-ID-01</a:t>
                      </a:r>
                    </a:p>
                  </a:txBody>
                  <a:tcPr/>
                </a:tc>
                <a:tc>
                  <a:txBody>
                    <a:bodyPr wrap="square"/>
                    <a:lstStyle/>
                    <a:p>
                      <a:pPr>
                        <a:defRPr sz="1000">
                          <a:latin typeface="Calibri"/>
                        </a:defRPr>
                      </a:pPr>
                      <a:r>
                        <a:t>Replace the dual LED lamps used for rear license plate illumination with a pair of single LED lamps.</a:t>
                      </a:r>
                    </a:p>
                  </a:txBody>
                  <a:tcPr/>
                </a:tc>
                <a:tc>
                  <a:txBody>
                    <a:bodyPr wrap="square"/>
                    <a:lstStyle/>
                    <a:p>
                      <a:pPr>
                        <a:defRPr sz="1000">
                          <a:latin typeface="Calibri"/>
                        </a:defRPr>
                      </a:pPr>
                      <a:r>
                        <a:t>N/A</a:t>
                      </a:r>
                    </a:p>
                  </a:txBody>
                  <a:tcPr/>
                </a:tc>
                <a:tc>
                  <a:txBody>
                    <a:bodyPr wrap="square"/>
                    <a:lstStyle/>
                    <a:p>
                      <a:pPr>
                        <a:defRPr sz="1000">
                          <a:latin typeface="Calibri"/>
                        </a:defRPr>
                      </a:pPr>
                      <a:r>
                        <a:t>INR 68.00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2311-PRODUCT-ID-07</a:t>
                      </a:r>
                    </a:p>
                  </a:txBody>
                  <a:tcPr/>
                </a:tc>
                <a:tc>
                  <a:txBody>
                    <a:bodyPr wrap="square"/>
                    <a:lstStyle/>
                    <a:p>
                      <a:pPr>
                        <a:defRPr sz="1000">
                          <a:latin typeface="Calibri"/>
                        </a:defRPr>
                      </a:pPr>
                      <a:r>
                        <a:t>De-content the plastic trims found protecting the top tethers from both sides of the seat as the tethers could be placed within the seat fabric itself and a slit on the same could facilitate easy access</a:t>
                      </a:r>
                    </a:p>
                  </a:txBody>
                  <a:tcPr/>
                </a:tc>
                <a:tc>
                  <a:txBody>
                    <a:bodyPr wrap="square"/>
                    <a:lstStyle/>
                    <a:p>
                      <a:pPr>
                        <a:defRPr sz="1000">
                          <a:latin typeface="Calibri"/>
                        </a:defRPr>
                      </a:pPr>
                      <a:r>
                        <a:t>N/A</a:t>
                      </a:r>
                    </a:p>
                  </a:txBody>
                  <a:tcPr/>
                </a:tc>
                <a:tc>
                  <a:txBody>
                    <a:bodyPr wrap="square"/>
                    <a:lstStyle/>
                    <a:p>
                      <a:pPr>
                        <a:defRPr sz="1000">
                          <a:latin typeface="Calibri"/>
                        </a:defRPr>
                      </a:pPr>
                      <a:r>
                        <a:t>INR 115.00</a:t>
                      </a:r>
                    </a:p>
                  </a:txBody>
                  <a:tcPr/>
                </a:tc>
                <a:tc>
                  <a:txBody>
                    <a:bodyPr wrap="square"/>
                    <a:lstStyle/>
                    <a:p>
                      <a:pPr>
                        <a:defRPr sz="1000">
                          <a:latin typeface="Calibri"/>
                        </a:defRPr>
                      </a:pPr>
                      <a:r>
                        <a:t>OK</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2311-PRODUCT-ID-09</a:t>
                      </a:r>
                    </a:p>
                  </a:txBody>
                  <a:tcPr/>
                </a:tc>
                <a:tc>
                  <a:txBody>
                    <a:bodyPr wrap="square"/>
                    <a:lstStyle/>
                    <a:p>
                      <a:pPr>
                        <a:defRPr sz="1000">
                          <a:latin typeface="Calibri"/>
                        </a:defRPr>
                      </a:pPr>
                      <a:r>
                        <a:t>De-content the Plastic Protective Trims fitted onto the LHS and RHS mounting points of the third-row seats and cover the same with the fabric used on the vehicle floor.</a:t>
                      </a:r>
                    </a:p>
                  </a:txBody>
                  <a:tcPr/>
                </a:tc>
                <a:tc>
                  <a:txBody>
                    <a:bodyPr wrap="square"/>
                    <a:lstStyle/>
                    <a:p>
                      <a:pPr>
                        <a:defRPr sz="1000">
                          <a:latin typeface="Calibri"/>
                        </a:defRPr>
                      </a:pPr>
                      <a:r>
                        <a:t>N/A</a:t>
                      </a:r>
                    </a:p>
                  </a:txBody>
                  <a:tcPr/>
                </a:tc>
                <a:tc>
                  <a:txBody>
                    <a:bodyPr wrap="square"/>
                    <a:lstStyle/>
                    <a:p>
                      <a:pPr>
                        <a:defRPr sz="1000">
                          <a:latin typeface="Calibri"/>
                        </a:defRPr>
                      </a:pPr>
                      <a:r>
                        <a:t>INR 76.00</a:t>
                      </a:r>
                    </a:p>
                  </a:txBody>
                  <a:tcPr/>
                </a:tc>
                <a:tc>
                  <a:txBody>
                    <a:bodyPr wrap="square"/>
                    <a:lstStyle/>
                    <a:p>
                      <a:pPr>
                        <a:defRPr sz="1000">
                          <a:latin typeface="Calibri"/>
                        </a:defRPr>
                      </a:pPr>
                      <a:r>
                        <a:t>OK</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2311-PRODUCT-ID-14</a:t>
                      </a:r>
                    </a:p>
                  </a:txBody>
                  <a:tcPr/>
                </a:tc>
                <a:tc>
                  <a:txBody>
                    <a:bodyPr wrap="square"/>
                    <a:lstStyle/>
                    <a:p>
                      <a:pPr>
                        <a:defRPr sz="1000">
                          <a:latin typeface="Calibri"/>
                        </a:defRPr>
                      </a:pPr>
                      <a:r>
                        <a:t>Reduce the thickness of the rear wiper pivot bolt cover trim from 2mm to 1.3mm.</a:t>
                      </a:r>
                    </a:p>
                  </a:txBody>
                  <a:tcPr/>
                </a:tc>
                <a:tc>
                  <a:txBody>
                    <a:bodyPr wrap="square"/>
                    <a:lstStyle/>
                    <a:p>
                      <a:pPr>
                        <a:defRPr sz="1000">
                          <a:latin typeface="Calibri"/>
                        </a:defRPr>
                      </a:pPr>
                      <a:r>
                        <a:t>N/A</a:t>
                      </a:r>
                    </a:p>
                  </a:txBody>
                  <a:tcPr/>
                </a:tc>
                <a:tc>
                  <a:txBody>
                    <a:bodyPr wrap="square"/>
                    <a:lstStyle/>
                    <a:p>
                      <a:pPr>
                        <a:defRPr sz="1000">
                          <a:latin typeface="Calibri"/>
                        </a:defRPr>
                      </a:pPr>
                      <a:r>
                        <a:t>INR 46.00</a:t>
                      </a:r>
                    </a:p>
                  </a:txBody>
                  <a:tcPr/>
                </a:tc>
                <a:tc>
                  <a:txBody>
                    <a:bodyPr wrap="square"/>
                    <a:lstStyle/>
                    <a:p>
                      <a:pPr>
                        <a:defRPr sz="1000">
                          <a:latin typeface="Calibri"/>
                        </a:defRPr>
                      </a:pPr>
                      <a:r>
                        <a:t>TBD</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2311-PRODUCT-ID-16</a:t>
                      </a:r>
                    </a:p>
                  </a:txBody>
                  <a:tcPr/>
                </a:tc>
                <a:tc>
                  <a:txBody>
                    <a:bodyPr wrap="square"/>
                    <a:lstStyle/>
                    <a:p>
                      <a:pPr>
                        <a:defRPr sz="1000">
                          <a:latin typeface="Calibri"/>
                        </a:defRPr>
                      </a:pPr>
                      <a:r>
                        <a:t>Replace fiberboard with velcro tape and carpet in the assembly</a:t>
                      </a:r>
                    </a:p>
                  </a:txBody>
                  <a:tcPr/>
                </a:tc>
                <a:tc>
                  <a:txBody>
                    <a:bodyPr wrap="square"/>
                    <a:lstStyle/>
                    <a:p>
                      <a:pPr>
                        <a:defRPr sz="1000">
                          <a:latin typeface="Calibri"/>
                        </a:defRPr>
                      </a:pPr>
                      <a:r>
                        <a:t>N/A</a:t>
                      </a:r>
                    </a:p>
                  </a:txBody>
                  <a:tcPr/>
                </a:tc>
                <a:tc>
                  <a:txBody>
                    <a:bodyPr wrap="square"/>
                    <a:lstStyle/>
                    <a:p>
                      <a:pPr>
                        <a:defRPr sz="1000">
                          <a:latin typeface="Calibri"/>
                        </a:defRPr>
                      </a:pPr>
                      <a:r>
                        <a:t>INR 64.00</a:t>
                      </a:r>
                    </a:p>
                  </a:txBody>
                  <a:tcPr/>
                </a:tc>
                <a:tc>
                  <a:txBody>
                    <a:bodyPr wrap="square"/>
                    <a:lstStyle/>
                    <a:p>
                      <a:pPr>
                        <a:defRPr sz="1000">
                          <a:latin typeface="Calibri"/>
                        </a:defRPr>
                      </a:pPr>
                      <a:r>
                        <a:t>TBD</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2311-PRODUCT-ID-17</a:t>
                      </a:r>
                    </a:p>
                  </a:txBody>
                  <a:tcPr/>
                </a:tc>
                <a:tc>
                  <a:txBody>
                    <a:bodyPr wrap="square"/>
                    <a:lstStyle/>
                    <a:p>
                      <a:pPr>
                        <a:defRPr sz="1000">
                          <a:latin typeface="Calibri"/>
                        </a:defRPr>
                      </a:pPr>
                      <a:r>
                        <a:t>1. Relocate the Battery Negative Terminal Earthing Wire mount from the side to the top of the front suspension subframe of the vehicle</a:t>
                      </a:r>
                    </a:p>
                    <a:p>
                      <a:pPr>
                        <a:defRPr sz="1000">
                          <a:latin typeface="Calibri"/>
                        </a:defRPr>
                      </a:pPr>
                      <a:r>
                        <a:t>2. Reduce the length of the connector terminal and instead of using two bolts, use a single bolt</a:t>
                      </a:r>
                    </a:p>
                    <a:p>
                      <a:pPr>
                        <a:defRPr sz="1000">
                          <a:latin typeface="Calibri"/>
                        </a:defRPr>
                      </a:pPr>
                      <a:r>
                        <a:t>3. Reduce the overall size and wall thickness of the Battery Negative Terminal Cast Clamp</a:t>
                      </a:r>
                    </a:p>
                  </a:txBody>
                  <a:tcPr/>
                </a:tc>
                <a:tc>
                  <a:txBody>
                    <a:bodyPr wrap="square"/>
                    <a:lstStyle/>
                    <a:p>
                      <a:pPr>
                        <a:defRPr sz="1000">
                          <a:latin typeface="Calibri"/>
                        </a:defRPr>
                      </a:pPr>
                      <a:r>
                        <a:t>N/A</a:t>
                      </a:r>
                    </a:p>
                  </a:txBody>
                  <a:tcPr/>
                </a:tc>
                <a:tc>
                  <a:txBody>
                    <a:bodyPr wrap="square"/>
                    <a:lstStyle/>
                    <a:p>
                      <a:pPr>
                        <a:defRPr sz="1000">
                          <a:latin typeface="Calibri"/>
                        </a:defRPr>
                      </a:pPr>
                      <a:r>
                        <a:t>INR 103.00</a:t>
                      </a:r>
                    </a:p>
                  </a:txBody>
                  <a:tcPr/>
                </a:tc>
                <a:tc>
                  <a:txBody>
                    <a:bodyPr wrap="square"/>
                    <a:lstStyle/>
                    <a:p>
                      <a:pPr>
                        <a:defRPr sz="1000">
                          <a:latin typeface="Calibri"/>
                        </a:defRPr>
                      </a:pPr>
                      <a:r>
                        <a:t>Hold</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2311-PRODUCT-ID-21</a:t>
                      </a:r>
                    </a:p>
                  </a:txBody>
                  <a:tcPr/>
                </a:tc>
                <a:tc>
                  <a:txBody>
                    <a:bodyPr wrap="square"/>
                    <a:lstStyle/>
                    <a:p>
                      <a:pPr>
                        <a:defRPr sz="1000">
                          <a:latin typeface="Calibri"/>
                        </a:defRPr>
                      </a:pPr>
                      <a:r>
                        <a:t>De-content the Spacer Plates mounted onto the door frame and if required, increase the length of the latch receiver on the Striker Plate to ensure the doors close smoothly and securely</a:t>
                      </a:r>
                    </a:p>
                  </a:txBody>
                  <a:tcPr/>
                </a:tc>
                <a:tc>
                  <a:txBody>
                    <a:bodyPr wrap="square"/>
                    <a:lstStyle/>
                    <a:p>
                      <a:pPr>
                        <a:defRPr sz="1000">
                          <a:latin typeface="Calibri"/>
                        </a:defRPr>
                      </a:pPr>
                      <a:r>
                        <a:t>N/A</a:t>
                      </a:r>
                    </a:p>
                  </a:txBody>
                  <a:tcPr/>
                </a:tc>
                <a:tc>
                  <a:txBody>
                    <a:bodyPr wrap="square"/>
                    <a:lstStyle/>
                    <a:p>
                      <a:pPr>
                        <a:defRPr sz="1000">
                          <a:latin typeface="Calibri"/>
                        </a:defRPr>
                      </a:pPr>
                      <a:r>
                        <a:t>INR 65.00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2311-PRODUCT-ID-22</a:t>
                      </a:r>
                    </a:p>
                  </a:txBody>
                  <a:tcPr/>
                </a:tc>
                <a:tc>
                  <a:txBody>
                    <a:bodyPr wrap="square"/>
                    <a:lstStyle/>
                    <a:p>
                      <a:pPr>
                        <a:defRPr sz="1000">
                          <a:latin typeface="Calibri"/>
                        </a:defRPr>
                      </a:pPr>
                      <a:r>
                        <a:t>De-content the plastic support trims found within the storage pocket flaps behind the LH and RH front seats</a:t>
                      </a:r>
                    </a:p>
                  </a:txBody>
                  <a:tcPr/>
                </a:tc>
                <a:tc>
                  <a:txBody>
                    <a:bodyPr wrap="square"/>
                    <a:lstStyle/>
                    <a:p>
                      <a:pPr>
                        <a:defRPr sz="1000">
                          <a:latin typeface="Calibri"/>
                        </a:defRPr>
                      </a:pPr>
                      <a:r>
                        <a:t>N/A</a:t>
                      </a:r>
                    </a:p>
                  </a:txBody>
                  <a:tcPr/>
                </a:tc>
                <a:tc>
                  <a:txBody>
                    <a:bodyPr wrap="square"/>
                    <a:lstStyle/>
                    <a:p>
                      <a:pPr>
                        <a:defRPr sz="1000">
                          <a:latin typeface="Calibri"/>
                        </a:defRPr>
                      </a:pPr>
                      <a:r>
                        <a:t>INR 108.00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2311-BA-ID-02</a:t>
                      </a:r>
                    </a:p>
                  </a:txBody>
                  <a:tcPr/>
                </a:tc>
                <a:tc>
                  <a:txBody>
                    <a:bodyPr wrap="square"/>
                    <a:lstStyle/>
                    <a:p>
                      <a:pPr>
                        <a:defRPr sz="1000">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a:lstStyle/>
                    <a:p>
                      <a:pPr>
                        <a:defRPr sz="1000">
                          <a:latin typeface="Calibri"/>
                        </a:defRPr>
                      </a:pPr>
                      <a:r>
                        <a:t>N/A</a:t>
                      </a:r>
                    </a:p>
                  </a:txBody>
                  <a:tcPr/>
                </a:tc>
                <a:tc>
                  <a:txBody>
                    <a:bodyPr wrap="square"/>
                    <a:lstStyle/>
                    <a:p>
                      <a:pPr>
                        <a:defRPr sz="1000">
                          <a:latin typeface="Calibri"/>
                        </a:defRPr>
                      </a:pPr>
                      <a:r>
                        <a:t>INR 102.00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2311-DA-ID-07</a:t>
                      </a:r>
                    </a:p>
                  </a:txBody>
                  <a:tcPr/>
                </a:tc>
                <a:tc>
                  <a:txBody>
                    <a:bodyPr wrap="square"/>
                    <a:lstStyle/>
                    <a:p>
                      <a:pPr>
                        <a:defRPr sz="1000">
                          <a:latin typeface="Calibri"/>
                        </a:defRPr>
                      </a:pPr>
                      <a:r>
                        <a:t>Replace PA6-GF30 with PA6-GF20 in the manufacture of the Tailgate Release/Handle Trim</a:t>
                      </a:r>
                    </a:p>
                  </a:txBody>
                  <a:tcPr/>
                </a:tc>
                <a:tc>
                  <a:txBody>
                    <a:bodyPr wrap="square"/>
                    <a:lstStyle/>
                    <a:p>
                      <a:pPr>
                        <a:defRPr sz="1000">
                          <a:latin typeface="Calibri"/>
                        </a:defRPr>
                      </a:pPr>
                      <a:r>
                        <a:t>N/A</a:t>
                      </a:r>
                    </a:p>
                  </a:txBody>
                  <a:tcPr/>
                </a:tc>
                <a:tc>
                  <a:txBody>
                    <a:bodyPr wrap="square"/>
                    <a:lstStyle/>
                    <a:p>
                      <a:pPr>
                        <a:defRPr sz="1000">
                          <a:latin typeface="Calibri"/>
                        </a:defRPr>
                      </a:pPr>
                      <a:r>
                        <a:t>INR 143.00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2311-DA-ID-15</a:t>
                      </a:r>
                    </a:p>
                  </a:txBody>
                  <a:tcPr/>
                </a:tc>
                <a:tc>
                  <a:txBody>
                    <a:bodyPr wrap="square"/>
                    <a:lstStyle/>
                    <a:p>
                      <a:pPr>
                        <a:defRPr sz="1000">
                          <a:latin typeface="Calibri"/>
                        </a:defRPr>
                      </a:pPr>
                      <a:r>
                        <a:t>Replace PC-ABS with ABS in the manufacture of Speaker Trims present on the door assemblies.</a:t>
                      </a:r>
                    </a:p>
                  </a:txBody>
                  <a:tcPr/>
                </a:tc>
                <a:tc>
                  <a:txBody>
                    <a:bodyPr wrap="square"/>
                    <a:lstStyle/>
                    <a:p>
                      <a:pPr>
                        <a:defRPr sz="1000">
                          <a:latin typeface="Calibri"/>
                        </a:defRPr>
                      </a:pPr>
                      <a:r>
                        <a:t>N/A</a:t>
                      </a:r>
                    </a:p>
                  </a:txBody>
                  <a:tcPr/>
                </a:tc>
                <a:tc>
                  <a:txBody>
                    <a:bodyPr wrap="square"/>
                    <a:lstStyle/>
                    <a:p>
                      <a:pPr>
                        <a:defRPr sz="1000">
                          <a:latin typeface="Calibri"/>
                        </a:defRPr>
                      </a:pPr>
                      <a:r>
                        <a:t>INR 51.00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2311-DA-ID-20</a:t>
                      </a:r>
                    </a:p>
                  </a:txBody>
                  <a:tcPr/>
                </a:tc>
                <a:tc>
                  <a:txBody>
                    <a:bodyPr wrap="square"/>
                    <a:lstStyle/>
                    <a:p>
                      <a:pPr>
                        <a:defRPr sz="1000">
                          <a:latin typeface="Calibri"/>
                        </a:defRPr>
                      </a:pPr>
                      <a:r>
                        <a:t>De-content Cable Protective Sheaths one each from all the Lock Release and Front Window Regulator assemblies of the vehicle</a:t>
                      </a:r>
                    </a:p>
                  </a:txBody>
                  <a:tcPr/>
                </a:tc>
                <a:tc>
                  <a:txBody>
                    <a:bodyPr wrap="square"/>
                    <a:lstStyle/>
                    <a:p>
                      <a:pPr>
                        <a:defRPr sz="1000">
                          <a:latin typeface="Calibri"/>
                        </a:defRPr>
                      </a:pPr>
                      <a:r>
                        <a:t>N/A</a:t>
                      </a:r>
                    </a:p>
                  </a:txBody>
                  <a:tcPr/>
                </a:tc>
                <a:tc>
                  <a:txBody>
                    <a:bodyPr wrap="square"/>
                    <a:lstStyle/>
                    <a:p>
                      <a:pPr>
                        <a:defRPr sz="1000">
                          <a:latin typeface="Calibri"/>
                        </a:defRPr>
                      </a:pPr>
                      <a:r>
                        <a:t>INR 129.00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2311-EL-ID-01</a:t>
                      </a:r>
                    </a:p>
                  </a:txBody>
                  <a:tcPr/>
                </a:tc>
                <a:tc>
                  <a:txBody>
                    <a:bodyPr wrap="square"/>
                    <a:lstStyle/>
                    <a:p>
                      <a:pPr>
                        <a:defRPr sz="1000">
                          <a:latin typeface="Calibri"/>
                        </a:defRPr>
                      </a:pPr>
                      <a:r>
                        <a:t>Replace the 16-pin connector set used on the IRVM assembly with an 8-pin connector set.</a:t>
                      </a:r>
                    </a:p>
                  </a:txBody>
                  <a:tcPr/>
                </a:tc>
                <a:tc>
                  <a:txBody>
                    <a:bodyPr wrap="square"/>
                    <a:lstStyle/>
                    <a:p>
                      <a:pPr>
                        <a:defRPr sz="1000">
                          <a:latin typeface="Calibri"/>
                        </a:defRPr>
                      </a:pPr>
                      <a:r>
                        <a:t>N/A</a:t>
                      </a:r>
                    </a:p>
                  </a:txBody>
                  <a:tcPr/>
                </a:tc>
                <a:tc>
                  <a:txBody>
                    <a:bodyPr wrap="square"/>
                    <a:lstStyle/>
                    <a:p>
                      <a:pPr>
                        <a:defRPr sz="1000">
                          <a:latin typeface="Calibri"/>
                        </a:defRPr>
                      </a:pPr>
                      <a:r>
                        <a:t>INR 142.00</a:t>
                      </a:r>
                    </a:p>
                  </a:txBody>
                  <a:tcPr/>
                </a:tc>
                <a:tc>
                  <a:txBody>
                    <a:bodyPr wrap="square"/>
                    <a:lstStyle/>
                    <a:p>
                      <a:pPr>
                        <a:defRPr sz="1000">
                          <a:latin typeface="Calibri"/>
                        </a:defRPr>
                      </a:pPr>
                      <a:r>
                        <a:t>NG</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2311-EL-ID-10</a:t>
                      </a:r>
                    </a:p>
                  </a:txBody>
                  <a:tcPr/>
                </a:tc>
                <a:tc>
                  <a:txBody>
                    <a:bodyPr wrap="square"/>
                    <a:lstStyle/>
                    <a:p>
                      <a:pPr>
                        <a:defRPr sz="1000">
                          <a:latin typeface="Calibri"/>
                        </a:defRPr>
                      </a:pPr>
                      <a:r>
                        <a:t>Replace the 444GSM Battery Insulation Cover used in MGI with a 350GSM Insulation Cover</a:t>
                      </a:r>
                    </a:p>
                  </a:txBody>
                  <a:tcPr/>
                </a:tc>
                <a:tc>
                  <a:txBody>
                    <a:bodyPr wrap="square"/>
                    <a:lstStyle/>
                    <a:p>
                      <a:pPr>
                        <a:defRPr sz="1000">
                          <a:latin typeface="Calibri"/>
                        </a:defRPr>
                      </a:pPr>
                      <a:r>
                        <a:t>N/A</a:t>
                      </a:r>
                    </a:p>
                  </a:txBody>
                  <a:tcPr/>
                </a:tc>
                <a:tc>
                  <a:txBody>
                    <a:bodyPr wrap="square"/>
                    <a:lstStyle/>
                    <a:p>
                      <a:pPr>
                        <a:defRPr sz="1000">
                          <a:latin typeface="Calibri"/>
                        </a:defRPr>
                      </a:pPr>
                      <a:r>
                        <a:t>INR 61.00</a:t>
                      </a:r>
                    </a:p>
                  </a:txBody>
                  <a:tcPr/>
                </a:tc>
                <a:tc>
                  <a:txBody>
                    <a:bodyPr wrap="square"/>
                    <a:lstStyle/>
                    <a:p>
                      <a:pPr>
                        <a:defRPr sz="1000">
                          <a:latin typeface="Calibri"/>
                        </a:defRPr>
                      </a:pPr>
                      <a:r>
                        <a:t>TBD</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2311-EL-ID-15</a:t>
                      </a:r>
                    </a:p>
                  </a:txBody>
                  <a:tcPr/>
                </a:tc>
                <a:tc>
                  <a:txBody>
                    <a:bodyPr wrap="square"/>
                    <a:lstStyle/>
                    <a:p>
                      <a:pPr>
                        <a:defRPr sz="1000">
                          <a:latin typeface="Calibri"/>
                        </a:defRPr>
                      </a:pPr>
                      <a:r>
                        <a:t>Replace the 'Roots Windtone 75' horns used in MGI with 'A78SE's used in KIA</a:t>
                      </a:r>
                    </a:p>
                  </a:txBody>
                  <a:tcPr/>
                </a:tc>
                <a:tc>
                  <a:txBody>
                    <a:bodyPr wrap="square"/>
                    <a:lstStyle/>
                    <a:p>
                      <a:pPr>
                        <a:defRPr sz="1000">
                          <a:latin typeface="Calibri"/>
                        </a:defRPr>
                      </a:pPr>
                      <a:r>
                        <a:t>N/A</a:t>
                      </a:r>
                    </a:p>
                  </a:txBody>
                  <a:tcPr/>
                </a:tc>
                <a:tc>
                  <a:txBody>
                    <a:bodyPr wrap="square"/>
                    <a:lstStyle/>
                    <a:p>
                      <a:pPr>
                        <a:defRPr sz="1000">
                          <a:latin typeface="Calibri"/>
                        </a:defRPr>
                      </a:pPr>
                      <a:r>
                        <a:t>INR 58.00</a:t>
                      </a:r>
                    </a:p>
                  </a:txBody>
                  <a:tcPr/>
                </a:tc>
                <a:tc>
                  <a:txBody>
                    <a:bodyPr wrap="square"/>
                    <a:lstStyle/>
                    <a:p>
                      <a:pPr>
                        <a:defRPr sz="1000">
                          <a:latin typeface="Calibri"/>
                        </a:defRPr>
                      </a:pPr>
                      <a:r>
                        <a:t>TBD</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4)</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2311-EL-ID-16</a:t>
                      </a:r>
                    </a:p>
                  </a:txBody>
                  <a:tcPr/>
                </a:tc>
                <a:tc>
                  <a:txBody>
                    <a:bodyPr wrap="square"/>
                    <a:lstStyle/>
                    <a:p>
                      <a:pPr>
                        <a:defRPr sz="1000">
                          <a:latin typeface="Calibri"/>
                        </a:defRPr>
                      </a:pPr>
                      <a:r>
                        <a:t>Replace the Keyless Entry Sensor Module from Continental used in MGI with the one used in KIA</a:t>
                      </a:r>
                    </a:p>
                  </a:txBody>
                  <a:tcPr/>
                </a:tc>
                <a:tc>
                  <a:txBody>
                    <a:bodyPr wrap="square"/>
                    <a:lstStyle/>
                    <a:p>
                      <a:pPr>
                        <a:defRPr sz="1000">
                          <a:latin typeface="Calibri"/>
                        </a:defRPr>
                      </a:pPr>
                      <a:r>
                        <a:t>N/A</a:t>
                      </a:r>
                    </a:p>
                  </a:txBody>
                  <a:tcPr/>
                </a:tc>
                <a:tc>
                  <a:txBody>
                    <a:bodyPr wrap="square"/>
                    <a:lstStyle/>
                    <a:p>
                      <a:pPr>
                        <a:defRPr sz="1000">
                          <a:latin typeface="Calibri"/>
                        </a:defRPr>
                      </a:pPr>
                      <a:r>
                        <a:t>INR 126.00</a:t>
                      </a:r>
                    </a:p>
                  </a:txBody>
                  <a:tcPr/>
                </a:tc>
                <a:tc>
                  <a:txBody>
                    <a:bodyPr wrap="square"/>
                    <a:lstStyle/>
                    <a:p>
                      <a:pPr>
                        <a:defRPr sz="1000">
                          <a:latin typeface="Calibri"/>
                        </a:defRPr>
                      </a:pPr>
                      <a:r>
                        <a:t>TBD</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2311-EL-ID-17</a:t>
                      </a:r>
                    </a:p>
                  </a:txBody>
                  <a:tcPr/>
                </a:tc>
                <a:tc>
                  <a:txBody>
                    <a:bodyPr wrap="square"/>
                    <a:lstStyle/>
                    <a:p>
                      <a:pPr>
                        <a:defRPr sz="1000">
                          <a:latin typeface="Calibri"/>
                        </a:defRPr>
                      </a:pPr>
                      <a:r>
                        <a:t>Replace the oxygen sensors used in MGI with the oxygen sensors used in KIA</a:t>
                      </a:r>
                    </a:p>
                  </a:txBody>
                  <a:tcPr/>
                </a:tc>
                <a:tc>
                  <a:txBody>
                    <a:bodyPr wrap="square"/>
                    <a:lstStyle/>
                    <a:p>
                      <a:pPr>
                        <a:defRPr sz="1000">
                          <a:latin typeface="Calibri"/>
                        </a:defRPr>
                      </a:pPr>
                      <a:r>
                        <a:t>N/A</a:t>
                      </a:r>
                    </a:p>
                  </a:txBody>
                  <a:tcPr/>
                </a:tc>
                <a:tc>
                  <a:txBody>
                    <a:bodyPr wrap="square"/>
                    <a:lstStyle/>
                    <a:p>
                      <a:pPr>
                        <a:defRPr sz="1000">
                          <a:latin typeface="Calibri"/>
                        </a:defRPr>
                      </a:pPr>
                      <a:r>
                        <a:t>INR 139.00</a:t>
                      </a:r>
                    </a:p>
                  </a:txBody>
                  <a:tcPr/>
                </a:tc>
                <a:tc>
                  <a:txBody>
                    <a:bodyPr wrap="square"/>
                    <a:lstStyle/>
                    <a:p>
                      <a:pPr>
                        <a:defRPr sz="1000">
                          <a:latin typeface="Calibri"/>
                        </a:defRPr>
                      </a:pPr>
                      <a:r>
                        <a:t>Hold</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2311-ET-ID-12</a:t>
                      </a:r>
                    </a:p>
                  </a:txBody>
                  <a:tcPr/>
                </a:tc>
                <a:tc>
                  <a:txBody>
                    <a:bodyPr wrap="square"/>
                    <a:lstStyle/>
                    <a:p>
                      <a:pPr>
                        <a:defRPr sz="1000">
                          <a:latin typeface="Calibri"/>
                        </a:defRPr>
                      </a:pPr>
                      <a:r>
                        <a:t>Replace PC-ABS with ABS in the manufacture of the LH and RH Roof Rail End Covers 1 and 2</a:t>
                      </a:r>
                    </a:p>
                  </a:txBody>
                  <a:tcPr/>
                </a:tc>
                <a:tc>
                  <a:txBody>
                    <a:bodyPr wrap="square"/>
                    <a:lstStyle/>
                    <a:p>
                      <a:pPr>
                        <a:defRPr sz="1000">
                          <a:latin typeface="Calibri"/>
                        </a:defRPr>
                      </a:pPr>
                      <a:r>
                        <a:t>N/A</a:t>
                      </a:r>
                    </a:p>
                  </a:txBody>
                  <a:tcPr/>
                </a:tc>
                <a:tc>
                  <a:txBody>
                    <a:bodyPr wrap="square"/>
                    <a:lstStyle/>
                    <a:p>
                      <a:pPr>
                        <a:defRPr sz="1000">
                          <a:latin typeface="Calibri"/>
                        </a:defRPr>
                      </a:pPr>
                      <a:r>
                        <a:t>INR 102.00</a:t>
                      </a:r>
                    </a:p>
                  </a:txBody>
                  <a:tcPr/>
                </a:tc>
                <a:tc>
                  <a:txBody>
                    <a:bodyPr wrap="square"/>
                    <a:lstStyle/>
                    <a:p>
                      <a:pPr>
                        <a:defRPr sz="1000">
                          <a:latin typeface="Calibri"/>
                        </a:defRPr>
                      </a:pPr>
                      <a:r>
                        <a:t>TBD</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2311-ET-ID-15</a:t>
                      </a:r>
                    </a:p>
                  </a:txBody>
                  <a:tcPr/>
                </a:tc>
                <a:tc>
                  <a:txBody>
                    <a:bodyPr wrap="square"/>
                    <a:lstStyle/>
                    <a:p>
                      <a:pPr>
                        <a:defRPr sz="1000">
                          <a:latin typeface="Calibri"/>
                        </a:defRPr>
                      </a:pPr>
                      <a:r>
                        <a:t>De-content the Cowl Panel NVH Insulation from the engine bay of MGI</a:t>
                      </a:r>
                    </a:p>
                  </a:txBody>
                  <a:tcPr/>
                </a:tc>
                <a:tc>
                  <a:txBody>
                    <a:bodyPr wrap="square"/>
                    <a:lstStyle/>
                    <a:p>
                      <a:pPr>
                        <a:defRPr sz="1000">
                          <a:latin typeface="Calibri"/>
                        </a:defRPr>
                      </a:pPr>
                      <a:r>
                        <a:t>N/A</a:t>
                      </a:r>
                    </a:p>
                  </a:txBody>
                  <a:tcPr/>
                </a:tc>
                <a:tc>
                  <a:txBody>
                    <a:bodyPr wrap="square"/>
                    <a:lstStyle/>
                    <a:p>
                      <a:pPr>
                        <a:defRPr sz="1000">
                          <a:latin typeface="Calibri"/>
                        </a:defRPr>
                      </a:pPr>
                      <a:r>
                        <a:t>INR 126.00</a:t>
                      </a:r>
                    </a:p>
                  </a:txBody>
                  <a:tcPr/>
                </a:tc>
                <a:tc>
                  <a:txBody>
                    <a:bodyPr wrap="square"/>
                    <a:lstStyle/>
                    <a:p>
                      <a:pPr>
                        <a:defRPr sz="1000">
                          <a:latin typeface="Calibri"/>
                        </a:defRPr>
                      </a:pPr>
                      <a:r>
                        <a:t>OK</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2311-FS-ID-02</a:t>
                      </a:r>
                    </a:p>
                  </a:txBody>
                  <a:tcPr/>
                </a:tc>
                <a:tc>
                  <a:txBody>
                    <a:bodyPr wrap="square"/>
                    <a:lstStyle/>
                    <a:p>
                      <a:pPr>
                        <a:defRPr sz="1000">
                          <a:latin typeface="Calibri"/>
                        </a:defRPr>
                      </a:pPr>
                      <a:r>
                        <a:t>Replace the Steel access cover used within MGI with a Plastic (PP(assumed)) one as used in KIA</a:t>
                      </a:r>
                    </a:p>
                  </a:txBody>
                  <a:tcPr/>
                </a:tc>
                <a:tc>
                  <a:txBody>
                    <a:bodyPr wrap="square"/>
                    <a:lstStyle/>
                    <a:p>
                      <a:pPr>
                        <a:defRPr sz="1000">
                          <a:latin typeface="Calibri"/>
                        </a:defRPr>
                      </a:pPr>
                      <a:r>
                        <a:t>N/A</a:t>
                      </a:r>
                    </a:p>
                  </a:txBody>
                  <a:tcPr/>
                </a:tc>
                <a:tc>
                  <a:txBody>
                    <a:bodyPr wrap="square"/>
                    <a:lstStyle/>
                    <a:p>
                      <a:pPr>
                        <a:defRPr sz="1000">
                          <a:latin typeface="Calibri"/>
                        </a:defRPr>
                      </a:pPr>
                      <a:r>
                        <a:t>INR 144.00</a:t>
                      </a:r>
                    </a:p>
                  </a:txBody>
                  <a:tcPr/>
                </a:tc>
                <a:tc>
                  <a:txBody>
                    <a:bodyPr wrap="square"/>
                    <a:lstStyle/>
                    <a:p>
                      <a:pPr>
                        <a:defRPr sz="1000">
                          <a:latin typeface="Calibri"/>
                        </a:defRPr>
                      </a:pPr>
                      <a:r>
                        <a:t>TBD</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5)</a:t>
            </a:r>
          </a:p>
        </p:txBody>
      </p:sp>
      <p:graphicFrame>
        <p:nvGraphicFramePr>
          <p:cNvPr id="3" name="Table 2"/>
          <p:cNvGraphicFramePr>
            <a:graphicFrameLocks noGrp="1"/>
          </p:cNvGraphicFramePr>
          <p:nvPr/>
        </p:nvGraphicFramePr>
        <p:xfrm>
          <a:off x="182880" y="640080"/>
          <a:ext cx="8778240" cy="244602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14859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Extend fastener optimization approach #1 for PE</a:t>
                      </a:r>
                    </a:p>
                  </a:txBody>
                  <a:tcPr/>
                </a:tc>
                <a:tc>
                  <a:txBody>
                    <a:bodyPr wrap="square"/>
                    <a:lstStyle/>
                    <a:p>
                      <a:pPr>
                        <a:defRPr sz="1000">
                          <a:latin typeface="Calibri"/>
                        </a:defRPr>
                      </a:pPr>
                      <a:r>
                        <a:t>N/A</a:t>
                      </a:r>
                    </a:p>
                  </a:txBody>
                  <a:tcPr/>
                </a:tc>
                <a:tc>
                  <a:txBody>
                    <a:bodyPr wrap="square"/>
                    <a:lstStyle/>
                    <a:p>
                      <a:pPr>
                        <a:defRPr sz="1000">
                          <a:latin typeface="Calibri"/>
                        </a:defRPr>
                      </a:pPr>
                      <a:r>
                        <a:t>INR 88.56</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Extend fastener optimization approach #2 for PE</a:t>
                      </a:r>
                    </a:p>
                  </a:txBody>
                  <a:tcPr/>
                </a:tc>
                <a:tc>
                  <a:txBody>
                    <a:bodyPr wrap="square"/>
                    <a:lstStyle/>
                    <a:p>
                      <a:pPr>
                        <a:defRPr sz="1000">
                          <a:latin typeface="Calibri"/>
                        </a:defRPr>
                      </a:pPr>
                      <a:r>
                        <a:t>N/A</a:t>
                      </a:r>
                    </a:p>
                  </a:txBody>
                  <a:tcPr/>
                </a:tc>
                <a:tc>
                  <a:txBody>
                    <a:bodyPr wrap="square"/>
                    <a:lstStyle/>
                    <a:p>
                      <a:pPr>
                        <a:defRPr sz="1000">
                          <a:latin typeface="Calibri"/>
                        </a:defRPr>
                      </a:pPr>
                      <a:r>
                        <a:t>INR 93.48</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Extend fastener optimization approach #3 for PE</a:t>
                      </a:r>
                    </a:p>
                  </a:txBody>
                  <a:tcPr/>
                </a:tc>
                <a:tc>
                  <a:txBody>
                    <a:bodyPr wrap="square"/>
                    <a:lstStyle/>
                    <a:p>
                      <a:pPr>
                        <a:defRPr sz="1000">
                          <a:latin typeface="Calibri"/>
                        </a:defRPr>
                      </a:pPr>
                      <a:r>
                        <a:t>N/A</a:t>
                      </a:r>
                    </a:p>
                  </a:txBody>
                  <a:tcPr/>
                </a:tc>
                <a:tc>
                  <a:txBody>
                    <a:bodyPr wrap="square"/>
                    <a:lstStyle/>
                    <a:p>
                      <a:pPr>
                        <a:defRPr sz="1000">
                          <a:latin typeface="Calibri"/>
                        </a:defRPr>
                      </a:pPr>
                      <a:r>
                        <a:t>INR 98.40</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c>
                  <a:txBody>
                    <a:bodyPr wrap="square"/>
                    <a:lstStyle/>
                    <a:p>
                      <a:pPr>
                        <a:defRPr sz="1000">
                          <a:latin typeface="Calibri"/>
                        </a:defRPr>
                      </a:pPr>
                      <a:r>
                        <a:t>N/A</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23</a:t>
            </a:r>
          </a:p>
          <a:p>
            <a:pPr>
              <a:defRPr sz="1000">
                <a:latin typeface="Calibri"/>
              </a:defRPr>
            </a:pPr>
            <a:r>
              <a:t>• Total Potential Savings: INR 2,248.44</a:t>
            </a:r>
          </a:p>
          <a:p>
            <a:pPr>
              <a:defRPr sz="1000">
                <a:latin typeface="Calibri"/>
              </a:defRPr>
            </a:pPr>
            <a:r>
              <a:t>• Implemented Ideas: 0</a:t>
            </a:r>
          </a:p>
          <a:p>
            <a:pPr>
              <a:defRPr sz="1000">
                <a:latin typeface="Calibri"/>
              </a:defRPr>
            </a:pPr>
            <a:r>
              <a:t>• Status OK: 3</a:t>
            </a:r>
          </a:p>
          <a:p>
            <a:pPr>
              <a:defRPr sz="1000">
                <a:latin typeface="Calibri"/>
              </a:defRPr>
            </a:pPr>
            <a:r>
              <a:t>• Status TBD: 7</a:t>
            </a:r>
          </a:p>
          <a:p>
            <a:pPr>
              <a:defRPr sz="1000">
                <a:latin typeface="Calibri"/>
              </a:defRPr>
            </a:pPr>
            <a:r>
              <a:t>• Status NG: 8</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23 ideas analyzed.</a:t>
            </a:r>
          </a:p>
          <a:p>
            <a:pPr>
              <a:defRPr sz="1800">
                <a:latin typeface="Calibri"/>
              </a:defRPr>
            </a:pPr>
            <a:r>
              <a:t>Total Savings: INR 2,248.44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
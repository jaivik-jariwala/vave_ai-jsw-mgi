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1600">
                <a:latin typeface="Calibri"/>
              </a:defRPr>
            </a:pPr>
            <a:r>
              <a:t>Cost Savings by Idea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Savings (INR)</c:v>
                </c:pt>
              </c:strCache>
            </c:strRef>
          </c:tx>
          <c:cat>
            <c:strRef>
              <c:f>Sheet1!$A$2:$A$11</c:f>
              <c:strCache>
                <c:ptCount val="10"/>
                <c:pt idx="0">
                  <c:v>2311-PRODUCT-ID-16</c:v>
                </c:pt>
                <c:pt idx="1">
                  <c:v>2311-PRODUCT-ID-02</c:v>
                </c:pt>
                <c:pt idx="2">
                  <c:v>2311-DA-ID-14</c:v>
                </c:pt>
                <c:pt idx="3">
                  <c:v>2311-DA-ID-09</c:v>
                </c:pt>
                <c:pt idx="4">
                  <c:v>2311-PRODUCT-ID-07</c:v>
                </c:pt>
                <c:pt idx="5">
                  <c:v>2311-BIW-ID-07</c:v>
                </c:pt>
                <c:pt idx="6">
                  <c:v>2311-BA-ID-01</c:v>
                </c:pt>
                <c:pt idx="7">
                  <c:v>VAVE-SWI-045</c:v>
                </c:pt>
                <c:pt idx="8">
                  <c:v>2311-PRODUCT-ID-12</c:v>
                </c:pt>
                <c:pt idx="9">
                  <c:v>2311-DA-ID-11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64.0</c:v>
                </c:pt>
                <c:pt idx="1">
                  <c:v>130.0</c:v>
                </c:pt>
                <c:pt idx="2">
                  <c:v>75.0</c:v>
                </c:pt>
                <c:pt idx="3">
                  <c:v>92.0</c:v>
                </c:pt>
                <c:pt idx="4">
                  <c:v>115.0</c:v>
                </c:pt>
                <c:pt idx="5">
                  <c:v>71.0</c:v>
                </c:pt>
                <c:pt idx="6">
                  <c:v>47.0</c:v>
                </c:pt>
                <c:pt idx="7">
                  <c:v>0.0</c:v>
                </c:pt>
                <c:pt idx="8">
                  <c:v>90.0</c:v>
                </c:pt>
                <c:pt idx="9">
                  <c:v>79.0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/>
          <a:lstStyle/>
          <a:p>
            <a:pPr>
              <a:defRPr sz="1600">
                <a:latin typeface="Calibri"/>
              </a:defRPr>
            </a:pPr>
            <a:r>
              <a:t>Ideas Status Distribution</a:t>
            </a:r>
          </a:p>
        </c:rich>
      </c:tx>
      <c:layout/>
      <c:overlay val="0"/>
    </c:title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Status</c:v>
                </c:pt>
              </c:strCache>
            </c:strRef>
          </c:tx>
          <c:dPt>
            <c:idx val="0"/>
            <c:spPr>
              <a:solidFill>
                <a:srgbClr val="0000FF"/>
              </a:solidFill>
            </c:spPr>
          </c:dPt>
          <c:dPt>
            <c:idx val="1"/>
            <c:spPr>
              <a:solidFill>
                <a:srgbClr val="FF0000"/>
              </a:solidFill>
            </c:spPr>
          </c:dPt>
          <c:dPt>
            <c:idx val="2"/>
            <c:spPr>
              <a:solidFill>
                <a:srgbClr val="008000"/>
              </a:solidFill>
            </c:spPr>
          </c:dPt>
          <c:dPt>
            <c:idx val="3"/>
            <c:spPr>
              <a:solidFill>
                <a:srgbClr val="800080"/>
              </a:solidFill>
            </c:spPr>
          </c:dPt>
          <c:cat>
            <c:strRef>
              <c:f>Sheet1!$A$2:$A$5</c:f>
              <c:strCache>
                <c:ptCount val="4"/>
                <c:pt idx="0">
                  <c:v>Implemented</c:v>
                </c:pt>
                <c:pt idx="1">
                  <c:v>Status OK</c:v>
                </c:pt>
                <c:pt idx="2">
                  <c:v>Status TBD</c:v>
                </c:pt>
                <c:pt idx="3">
                  <c:v>Status NG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</c:v>
                </c:pt>
                <c:pt idx="1">
                  <c:v>1</c:v>
                </c:pt>
                <c:pt idx="2">
                  <c:v>5</c:v>
                </c:pt>
                <c:pt idx="3">
                  <c:v>4</c:v>
                </c:pt>
              </c:numCache>
            </c:numRef>
          </c:val>
        </c:ser>
      </c:pieChart>
    </c:plotArea>
    <c:legend>
      <c:legendPos/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m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57200"/>
            <a:ext cx="1828800" cy="18288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468880" y="914400"/>
            <a:ext cx="6400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3600" b="1">
                <a:solidFill>
                  <a:srgbClr val="DC3545"/>
                </a:solidFill>
                <a:latin typeface="Calibri"/>
              </a:defRPr>
            </a:pPr>
            <a:r>
              <a:t>JSW MG MOTOR INDIA</a:t>
            </a:r>
          </a:p>
          <a:p>
            <a:pPr>
              <a:defRPr sz="2800" b="1">
                <a:solidFill>
                  <a:srgbClr val="000000"/>
                </a:solidFill>
                <a:latin typeface="Calibri"/>
              </a:defRPr>
            </a:pPr>
            <a:r>
              <a:t>Cost Reduction Idea Analysis Presentation</a:t>
            </a:r>
          </a:p>
          <a:p>
            <a:pPr>
              <a:defRPr sz="1600">
                <a:latin typeface="Calibri"/>
              </a:defRPr>
            </a:pPr>
            <a:r>
              <a:t>Presentation generated by VAVE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0" y="621792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69696"/>
                </a:solidFill>
              </a:defRPr>
            </a:pPr>
            <a:r>
              <a:t>Generated by VAVE-AI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latin typeface="Calibri"/>
              </a:defRPr>
            </a:pPr>
            <a:r>
              <a:t>Ideas Summary (Part 1)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82880" y="640080"/>
          <a:ext cx="8778240" cy="2590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1520"/>
                <a:gridCol w="2286000"/>
                <a:gridCol w="548640"/>
                <a:gridCol w="914400"/>
                <a:gridCol w="731520"/>
                <a:gridCol w="1645920"/>
                <a:gridCol w="914400"/>
                <a:gridCol w="1005840"/>
              </a:tblGrid>
              <a:tr h="990600"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Idea ID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Proposal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Imp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Saving Value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Status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Way Forward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Responsibility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Date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2311-PRODUCT-ID-16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Replace fiberboard with velcro tape and carpet in the assembly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Check for loss in functionality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INR 64.0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TBD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Check for loss in functionality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Narendra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2024-02-22 00:00:00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2311-PRODUCT-ID-02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Replace the Plastic Caps mounted onto the doors, hood, and tailgate (total 14) with adhesive stickers.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INR 130.0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NG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2311-DA-ID-14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De-content the Coasters/Inserts from the Door Recess Trims and the second-row AC Vent Bottom Storage Area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INR 75.0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TBD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2311-DA-ID-09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Replace the Double-Track Drum and Pulley System used at the front door assemblies with a Single-Track Drum and Pulley System used at the rear door assemblies of the vehicle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INR 92.0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NG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2311-PRODUCT-ID-07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De-content the plastic trims found protecting the top tethers from both sides of the seat as the tethers could be placed within the seat fabric itself and a slit on the same could facilitate easy access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Confirm on no part nuber change to avoid homologation cost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INR 115.0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OK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Confirm on no part nuber change to avoid homologation cost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Nishant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2024-06-17 00:00:00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943600" y="621792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69696"/>
                </a:solidFill>
              </a:defRPr>
            </a:pPr>
            <a:r>
              <a:t>Generated by VAVE-AI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latin typeface="Calibri"/>
              </a:defRPr>
            </a:pPr>
            <a:r>
              <a:t>Ideas Summary (Part 2)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82880" y="640080"/>
          <a:ext cx="8778240" cy="2590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1520"/>
                <a:gridCol w="2286000"/>
                <a:gridCol w="548640"/>
                <a:gridCol w="914400"/>
                <a:gridCol w="731520"/>
                <a:gridCol w="1645920"/>
                <a:gridCol w="914400"/>
                <a:gridCol w="1005840"/>
              </a:tblGrid>
              <a:tr h="990600"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Idea ID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Proposal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Imp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Saving Value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Status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Way Forward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Responsibility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Date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2311-BIW-ID-07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Reduce the Paint Coating Thickness of the highlighted Roof Side BiW Panels from 120 - 130μm to 100 - 110μm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INR 71.0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TBD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2311-BA-ID-01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The Brake Booster Plate in MGI could be integrated into the Dashboard BIW of the vehicle as done in KIA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INR 47.0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NG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VAVE-SWI-045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IP support Bracket Metal to Plastic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Confirm on Supplier feedback (Feasibility, Savings, Investment)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INR 0.0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TBD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Confirm on Supplier feedback (Feasibility, Savings, Investment)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Akhil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2024-06-15 00:00:00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2311-PRODUCT-ID-12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Decrease the width of the carpet by 100mm from the lower edge on the rear side of the trunk liner flap.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Confirm supplier feasibility in LC part for 5 seater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INR 90.0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TBD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Confirm supplier feasibility in LC part for 5 seater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Akhil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2024-06-28 00:00:00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2311-DA-ID-11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Replace PMMA+ASA with PC-ABS in the manufacture of the LH and RH Side Spoilers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Confirm Business case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INR 79.0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NG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Confirm Business case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Kalp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2023-11-02 00:00:00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943600" y="621792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69696"/>
                </a:solidFill>
              </a:defRPr>
            </a:pPr>
            <a:r>
              <a:t>Generated by VAVE-AI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latin typeface="Calibri"/>
              </a:defRPr>
            </a:pPr>
            <a:r>
              <a:t>Chart Analysis Discussion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457200" y="1371600"/>
          <a:ext cx="8229600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943600" y="621792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69696"/>
                </a:solidFill>
              </a:defRPr>
            </a:pPr>
            <a:r>
              <a:t>Generated by VAVE-AI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latin typeface="Calibri"/>
              </a:defRPr>
            </a:pPr>
            <a:r>
              <a:t>Pie chart for ideas status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457200" y="1371600"/>
          <a:ext cx="4114800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029200" y="1371600"/>
            <a:ext cx="3657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latin typeface="Calibri"/>
              </a:defRPr>
            </a:pPr>
          </a:p>
          <a:p>
            <a:pPr>
              <a:defRPr sz="1000">
                <a:latin typeface="Calibri"/>
              </a:defRPr>
            </a:pPr>
            <a:r>
              <a:t>• Total Ideas: 10</a:t>
            </a:r>
          </a:p>
          <a:p>
            <a:pPr>
              <a:defRPr sz="1000">
                <a:latin typeface="Calibri"/>
              </a:defRPr>
            </a:pPr>
            <a:r>
              <a:t>• Total Potential Savings: INR 763.00</a:t>
            </a:r>
          </a:p>
          <a:p>
            <a:pPr>
              <a:defRPr sz="1000">
                <a:latin typeface="Calibri"/>
              </a:defRPr>
            </a:pPr>
            <a:r>
              <a:t>• Implemented Ideas: 0</a:t>
            </a:r>
          </a:p>
          <a:p>
            <a:pPr>
              <a:defRPr sz="1000">
                <a:latin typeface="Calibri"/>
              </a:defRPr>
            </a:pPr>
            <a:r>
              <a:t>• Status OK: 1</a:t>
            </a:r>
          </a:p>
          <a:p>
            <a:pPr>
              <a:defRPr sz="1000">
                <a:latin typeface="Calibri"/>
              </a:defRPr>
            </a:pPr>
            <a:r>
              <a:t>• Status TBD: 5</a:t>
            </a:r>
          </a:p>
          <a:p>
            <a:pPr>
              <a:defRPr sz="1000">
                <a:latin typeface="Calibri"/>
              </a:defRPr>
            </a:pPr>
            <a:r>
              <a:t>• Status NG: 4</a:t>
            </a:r>
          </a:p>
          <a:p>
            <a:pPr>
              <a:defRPr sz="1000">
                <a:latin typeface="Calibri"/>
              </a:defRPr>
            </a:pPr>
            <a:r>
              <a:t>• The provided cost reduction ideas focus on process deletions and material replacements to reduce manufacturing costs.</a:t>
            </a:r>
          </a:p>
          <a:p>
            <a:pPr>
              <a:defRPr sz="1000">
                <a:latin typeface="Calibri"/>
              </a:defRPr>
            </a:pPr>
            <a:r>
              <a:t>• Key proposals include removing paint coatings from brackets and mounts, replacing PC-ABS with ABS, and switching to galvanized steel for window regulators.</a:t>
            </a:r>
          </a:p>
          <a:p>
            <a:pPr>
              <a:defRPr sz="1000">
                <a:latin typeface="Calibri"/>
              </a:defRPr>
            </a:pPr>
            <a:r>
              <a:t>• These changes aim to maintain functionality while reducing costs and, in some cases, weight.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0" y="621792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69696"/>
                </a:solidFill>
              </a:defRPr>
            </a:pPr>
            <a:r>
              <a:t>Generated by VAVE-AI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latin typeface="Calibri"/>
              </a:defRPr>
            </a:pPr>
            <a:r>
              <a:t>Summary section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1800">
                <a:latin typeface="Calibri"/>
              </a:defRPr>
            </a:pPr>
          </a:p>
          <a:p>
            <a:pPr>
              <a:defRPr sz="1800">
                <a:latin typeface="Calibri"/>
              </a:defRPr>
            </a:pPr>
            <a:r>
              <a:t>Total Ideas: 10 ideas analyzed.</a:t>
            </a:r>
          </a:p>
          <a:p>
            <a:pPr>
              <a:defRPr sz="1800">
                <a:latin typeface="Calibri"/>
              </a:defRPr>
            </a:pPr>
            <a:r>
              <a:t>Total Savings: INR 763.00 in potential cost reductions.</a:t>
            </a:r>
          </a:p>
          <a:p>
            <a:pPr>
              <a:defRPr sz="1800">
                <a:latin typeface="Calibri"/>
              </a:defRPr>
            </a:pPr>
            <a:r>
              <a:t>Key Proposals: Remove paint coatings from mounts and brackets, replace PC-ABS with ABS, and use galvanized steel for window regulators.</a:t>
            </a:r>
          </a:p>
          <a:p>
            <a:pPr>
              <a:defRPr sz="1800">
                <a:latin typeface="Calibri"/>
              </a:defRPr>
            </a:pPr>
            <a:r>
              <a:t>Status: All ideas currently TBD, pending further evaluation.</a:t>
            </a:r>
          </a:p>
          <a:p>
            <a:pPr>
              <a:defRPr sz="1800">
                <a:latin typeface="Calibri"/>
              </a:defRPr>
            </a:pPr>
            <a:r>
              <a:t>Focus: Cost reduction through process deletion and material substitution while maintaining functionality.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0" y="621792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69696"/>
                </a:solidFill>
              </a:defRPr>
            </a:pPr>
            <a:r>
              <a:t>Generated by VAVE-AI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
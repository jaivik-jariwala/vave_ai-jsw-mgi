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600">
                <a:latin typeface="Calibri"/>
              </a:defRPr>
            </a:pPr>
            <a:r>
              <a:t>Cost Savings by Idea</a:t>
            </a:r>
          </a:p>
        </c:rich>
      </c:tx>
      <c:layout/>
      <c:overlay val="0"/>
    </c:title>
    <c:autoTitleDeleted val="0"/>
    <c:plotArea>
      <c:barChart>
        <c:barDir val="col"/>
        <c:grouping val="clustered"/>
        <c:ser>
          <c:idx val="0"/>
          <c:order val="0"/>
          <c:tx>
            <c:strRef>
              <c:f>Sheet1!$B$1</c:f>
              <c:strCache>
                <c:ptCount val="1"/>
                <c:pt idx="0">
                  <c:v>Savings (INR)</c:v>
                </c:pt>
              </c:strCache>
            </c:strRef>
          </c:tx>
          <c:cat>
            <c:strRef>
              <c:f>Sheet1!$A$2:$A$11</c:f>
              <c:strCache>
                <c:ptCount val="10"/>
                <c:pt idx="0">
                  <c:v>2311-ST-ID-04</c:v>
                </c:pt>
                <c:pt idx="1">
                  <c:v>2311-ST-ID-05</c:v>
                </c:pt>
                <c:pt idx="2">
                  <c:v>2311-ST-ID-03</c:v>
                </c:pt>
                <c:pt idx="3">
                  <c:v>2311-ST-ID-06</c:v>
                </c:pt>
                <c:pt idx="4">
                  <c:v>2311-DA-ID-09</c:v>
                </c:pt>
                <c:pt idx="5">
                  <c:v>2311-PRODUCT-ID-11</c:v>
                </c:pt>
                <c:pt idx="6">
                  <c:v>2311-ST-ID-02</c:v>
                </c:pt>
                <c:pt idx="7">
                  <c:v>2311-SS-ID-03</c:v>
                </c:pt>
                <c:pt idx="8">
                  <c:v>2311-PRODUCT-ID-10</c:v>
                </c:pt>
                <c:pt idx="9">
                  <c:v>2311-PRODUCT-ID-16</c:v>
                </c:pt>
              </c:strCache>
            </c:strRef>
          </c:cat>
          <c:val>
            <c:numRef>
              <c:f>Sheet1!$B$2:$B$11</c:f>
              <c:numCache>
                <c:formatCode>General</c:formatCode>
                <c:ptCount val="10"/>
                <c:pt idx="0">
                  <c:v>122.0</c:v>
                </c:pt>
                <c:pt idx="1">
                  <c:v>98.0</c:v>
                </c:pt>
                <c:pt idx="2">
                  <c:v>131.0</c:v>
                </c:pt>
                <c:pt idx="3">
                  <c:v>97.0</c:v>
                </c:pt>
                <c:pt idx="4">
                  <c:v>92.0</c:v>
                </c:pt>
                <c:pt idx="5">
                  <c:v>89.0</c:v>
                </c:pt>
                <c:pt idx="6">
                  <c:v>98.0</c:v>
                </c:pt>
                <c:pt idx="7">
                  <c:v>126.0</c:v>
                </c:pt>
                <c:pt idx="8">
                  <c:v>86.0</c:v>
                </c:pt>
                <c:pt idx="9">
                  <c:v>64.0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title>
      <c:tx>
        <c:rich>
          <a:bodyPr/>
          <a:lstStyle/>
          <a:p>
            <a:pPr>
              <a:defRPr sz="1600">
                <a:latin typeface="Calibri"/>
              </a:defRPr>
            </a:pPr>
            <a:r>
              <a:t>Ideas Status Distribution</a:t>
            </a:r>
          </a:p>
        </c:rich>
      </c:tx>
      <c:layout/>
      <c:overlay val="0"/>
    </c:title>
    <c:autoTitleDeleted val="0"/>
    <c:plotArea>
      <c:pieChart>
        <c:varyColors val="1"/>
        <c:ser>
          <c:idx val="0"/>
          <c:order val="0"/>
          <c:tx>
            <c:strRef>
              <c:f>Sheet1!$B$1</c:f>
              <c:strCache>
                <c:ptCount val="1"/>
                <c:pt idx="0">
                  <c:v>Status</c:v>
                </c:pt>
              </c:strCache>
            </c:strRef>
          </c:tx>
          <c:dPt>
            <c:idx val="0"/>
            <c:spPr>
              <a:solidFill>
                <a:srgbClr val="0000FF"/>
              </a:solidFill>
            </c:spPr>
          </c:dPt>
          <c:dPt>
            <c:idx val="1"/>
            <c:spPr>
              <a:solidFill>
                <a:srgbClr val="FF0000"/>
              </a:solidFill>
            </c:spPr>
          </c:dPt>
          <c:dPt>
            <c:idx val="2"/>
            <c:spPr>
              <a:solidFill>
                <a:srgbClr val="008000"/>
              </a:solidFill>
            </c:spPr>
          </c:dPt>
          <c:dPt>
            <c:idx val="3"/>
            <c:spPr>
              <a:solidFill>
                <a:srgbClr val="800080"/>
              </a:solidFill>
            </c:spPr>
          </c:dPt>
          <c:cat>
            <c:strRef>
              <c:f>Sheet1!$A$2:$A$5</c:f>
              <c:strCache>
                <c:ptCount val="4"/>
                <c:pt idx="0">
                  <c:v>Implemented</c:v>
                </c:pt>
                <c:pt idx="1">
                  <c:v>Status OK</c:v>
                </c:pt>
                <c:pt idx="2">
                  <c:v>Status TBD</c:v>
                </c:pt>
                <c:pt idx="3">
                  <c:v>Status NG</c:v>
                </c:pt>
              </c:strCache>
            </c:strRef>
          </c:cat>
          <c:val>
            <c:numRef>
              <c:f>Sheet1!$B$2:$B$5</c:f>
              <c:numCache>
                <c:formatCode>General</c:formatCode>
                <c:ptCount val="4"/>
                <c:pt idx="0">
                  <c:v>0</c:v>
                </c:pt>
                <c:pt idx="1">
                  <c:v>0</c:v>
                </c:pt>
                <c:pt idx="2">
                  <c:v>3</c:v>
                </c:pt>
                <c:pt idx="3">
                  <c:v>7</c:v>
                </c:pt>
              </c:numCache>
            </c:numRef>
          </c:val>
        </c:ser>
      </c:pieChart>
    </c:plotArea>
    <c:legend>
      <c:legendPos/>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g.png"/>
          <p:cNvPicPr>
            <a:picLocks noChangeAspect="1"/>
          </p:cNvPicPr>
          <p:nvPr/>
        </p:nvPicPr>
        <p:blipFill>
          <a:blip r:embed="rId2"/>
          <a:stretch>
            <a:fillRect/>
          </a:stretch>
        </p:blipFill>
        <p:spPr>
          <a:xfrm>
            <a:off x="457200" y="457200"/>
            <a:ext cx="1828800" cy="1828800"/>
          </a:xfrm>
          <a:prstGeom prst="rect">
            <a:avLst/>
          </a:prstGeom>
        </p:spPr>
      </p:pic>
      <p:sp>
        <p:nvSpPr>
          <p:cNvPr id="3" name="TextBox 2"/>
          <p:cNvSpPr txBox="1"/>
          <p:nvPr/>
        </p:nvSpPr>
        <p:spPr>
          <a:xfrm>
            <a:off x="2468880" y="914400"/>
            <a:ext cx="6400800" cy="2743200"/>
          </a:xfrm>
          <a:prstGeom prst="rect">
            <a:avLst/>
          </a:prstGeom>
          <a:noFill/>
        </p:spPr>
        <p:txBody>
          <a:bodyPr wrap="square">
            <a:spAutoFit/>
          </a:bodyPr>
          <a:lstStyle/>
          <a:p/>
          <a:p>
            <a:pPr>
              <a:defRPr sz="3600" b="1">
                <a:solidFill>
                  <a:srgbClr val="DC3545"/>
                </a:solidFill>
                <a:latin typeface="Calibri"/>
              </a:defRPr>
            </a:pPr>
            <a:r>
              <a:t>JSW MG MOTOR INDIA</a:t>
            </a:r>
          </a:p>
          <a:p>
            <a:pPr>
              <a:defRPr sz="2800" b="1">
                <a:solidFill>
                  <a:srgbClr val="000000"/>
                </a:solidFill>
                <a:latin typeface="Calibri"/>
              </a:defRPr>
            </a:pPr>
            <a:r>
              <a:t>Cost Reduction Idea Analysis Presentation</a:t>
            </a:r>
          </a:p>
          <a:p>
            <a:pPr>
              <a:defRPr sz="1600">
                <a:latin typeface="Calibri"/>
              </a:defRPr>
            </a:pPr>
            <a:r>
              <a:t>Presentation generated by VAVE AI</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1)</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2311-ST-ID-04</a:t>
                      </a:r>
                    </a:p>
                  </a:txBody>
                  <a:tcPr/>
                </a:tc>
                <a:tc>
                  <a:txBody>
                    <a:bodyPr wrap="square"/>
                    <a:lstStyle/>
                    <a:p>
                      <a:pPr>
                        <a:defRPr sz="1000">
                          <a:latin typeface="Calibri"/>
                        </a:defRPr>
                      </a:pPr>
                      <a:r>
                        <a:t>Reduce the length of the Iron Castings from 175mm to 110mm and Increase the length of the Rods to compensate instead, similar to the setup employed in KIA</a:t>
                      </a:r>
                    </a:p>
                  </a:txBody>
                  <a:tcPr/>
                </a:tc>
                <a:tc>
                  <a:txBody>
                    <a:bodyPr wrap="square"/>
                    <a:lstStyle/>
                    <a:p>
                      <a:pPr>
                        <a:defRPr sz="1000">
                          <a:latin typeface="Calibri"/>
                        </a:defRPr>
                      </a:pPr>
                      <a:r>
                        <a:t>nan</a:t>
                      </a:r>
                    </a:p>
                  </a:txBody>
                  <a:tcPr/>
                </a:tc>
                <a:tc>
                  <a:txBody>
                    <a:bodyPr wrap="square"/>
                    <a:lstStyle/>
                    <a:p>
                      <a:pPr>
                        <a:defRPr sz="1000">
                          <a:latin typeface="Calibri"/>
                        </a:defRPr>
                      </a:pPr>
                      <a:r>
                        <a:t>INR 122.0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2311-ST-ID-05</a:t>
                      </a:r>
                    </a:p>
                  </a:txBody>
                  <a:tcPr/>
                </a:tc>
                <a:tc>
                  <a:txBody>
                    <a:bodyPr wrap="square"/>
                    <a:lstStyle/>
                    <a:p>
                      <a:pPr>
                        <a:defRPr sz="1000">
                          <a:latin typeface="Calibri"/>
                        </a:defRPr>
                      </a:pPr>
                      <a:r>
                        <a:t>Redesign the current Steering Column to Steering Rack Linkage Plastic Trim and the Rubber Bush associated with a smaller setup as employed in KIA</a:t>
                      </a:r>
                    </a:p>
                  </a:txBody>
                  <a:tcPr/>
                </a:tc>
                <a:tc>
                  <a:txBody>
                    <a:bodyPr wrap="square"/>
                    <a:lstStyle/>
                    <a:p>
                      <a:pPr>
                        <a:defRPr sz="1000">
                          <a:latin typeface="Calibri"/>
                        </a:defRPr>
                      </a:pPr>
                      <a:r>
                        <a:t>nan</a:t>
                      </a:r>
                    </a:p>
                  </a:txBody>
                  <a:tcPr/>
                </a:tc>
                <a:tc>
                  <a:txBody>
                    <a:bodyPr wrap="square"/>
                    <a:lstStyle/>
                    <a:p>
                      <a:pPr>
                        <a:defRPr sz="1000">
                          <a:latin typeface="Calibri"/>
                        </a:defRPr>
                      </a:pPr>
                      <a:r>
                        <a:t>INR 98.0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2311-ST-ID-03</a:t>
                      </a:r>
                    </a:p>
                  </a:txBody>
                  <a:tcPr/>
                </a:tc>
                <a:tc>
                  <a:txBody>
                    <a:bodyPr wrap="square"/>
                    <a:lstStyle/>
                    <a:p>
                      <a:pPr>
                        <a:defRPr sz="1000">
                          <a:latin typeface="Calibri"/>
                        </a:defRPr>
                      </a:pPr>
                      <a:r>
                        <a:t>Replace the Cast Aluminium Steering Column Mount in MGI with a fabricated sheet welded onto the shaft as used in KIA </a:t>
                      </a:r>
                    </a:p>
                  </a:txBody>
                  <a:tcPr/>
                </a:tc>
                <a:tc>
                  <a:txBody>
                    <a:bodyPr wrap="square"/>
                    <a:lstStyle/>
                    <a:p>
                      <a:pPr>
                        <a:defRPr sz="1000">
                          <a:latin typeface="Calibri"/>
                        </a:defRPr>
                      </a:pPr>
                      <a:r>
                        <a:t>nan</a:t>
                      </a:r>
                    </a:p>
                  </a:txBody>
                  <a:tcPr/>
                </a:tc>
                <a:tc>
                  <a:txBody>
                    <a:bodyPr wrap="square"/>
                    <a:lstStyle/>
                    <a:p>
                      <a:pPr>
                        <a:defRPr sz="1000">
                          <a:latin typeface="Calibri"/>
                        </a:defRPr>
                      </a:pPr>
                      <a:r>
                        <a:t>INR 131.0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2311-ST-ID-06</a:t>
                      </a:r>
                    </a:p>
                  </a:txBody>
                  <a:tcPr/>
                </a:tc>
                <a:tc>
                  <a:txBody>
                    <a:bodyPr wrap="square"/>
                    <a:lstStyle/>
                    <a:p>
                      <a:pPr>
                        <a:defRPr sz="1000">
                          <a:latin typeface="Calibri"/>
                        </a:defRPr>
                      </a:pPr>
                      <a:r>
                        <a:t>Reduce the overall length and width of the rubber boots in MGI to match the dimensions of the similar rubber boots used in KIA</a:t>
                      </a:r>
                    </a:p>
                  </a:txBody>
                  <a:tcPr/>
                </a:tc>
                <a:tc>
                  <a:txBody>
                    <a:bodyPr wrap="square"/>
                    <a:lstStyle/>
                    <a:p>
                      <a:pPr>
                        <a:defRPr sz="1000">
                          <a:latin typeface="Calibri"/>
                        </a:defRPr>
                      </a:pPr>
                      <a:r>
                        <a:t>nan</a:t>
                      </a:r>
                    </a:p>
                  </a:txBody>
                  <a:tcPr/>
                </a:tc>
                <a:tc>
                  <a:txBody>
                    <a:bodyPr wrap="square"/>
                    <a:lstStyle/>
                    <a:p>
                      <a:pPr>
                        <a:defRPr sz="1000">
                          <a:latin typeface="Calibri"/>
                        </a:defRPr>
                      </a:pPr>
                      <a:r>
                        <a:t>INR 97.0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2311-DA-ID-09</a:t>
                      </a:r>
                    </a:p>
                  </a:txBody>
                  <a:tcPr/>
                </a:tc>
                <a:tc>
                  <a:txBody>
                    <a:bodyPr wrap="square"/>
                    <a:lstStyle/>
                    <a:p>
                      <a:pPr>
                        <a:defRPr sz="1000">
                          <a:latin typeface="Calibri"/>
                        </a:defRPr>
                      </a:pPr>
                      <a:r>
                        <a:t>Replace the Double-Track Drum and Pulley System used at the front door assemblies with a Single-Track Drum and Pulley System used at the rear door assemblies of the vehicle</a:t>
                      </a:r>
                    </a:p>
                  </a:txBody>
                  <a:tcPr/>
                </a:tc>
                <a:tc>
                  <a:txBody>
                    <a:bodyPr wrap="square"/>
                    <a:lstStyle/>
                    <a:p>
                      <a:pPr>
                        <a:defRPr sz="1000">
                          <a:latin typeface="Calibri"/>
                        </a:defRPr>
                      </a:pPr>
                      <a:r>
                        <a:t>nan</a:t>
                      </a:r>
                    </a:p>
                  </a:txBody>
                  <a:tcPr/>
                </a:tc>
                <a:tc>
                  <a:txBody>
                    <a:bodyPr wrap="square"/>
                    <a:lstStyle/>
                    <a:p>
                      <a:pPr>
                        <a:defRPr sz="1000">
                          <a:latin typeface="Calibri"/>
                        </a:defRPr>
                      </a:pPr>
                      <a:r>
                        <a:t>INR 92.0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2)</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2311-PRODUCT-ID-11</a:t>
                      </a:r>
                    </a:p>
                  </a:txBody>
                  <a:tcPr/>
                </a:tc>
                <a:tc>
                  <a:txBody>
                    <a:bodyPr wrap="square"/>
                    <a:lstStyle/>
                    <a:p>
                      <a:pPr>
                        <a:defRPr sz="1000">
                          <a:latin typeface="Calibri"/>
                        </a:defRPr>
                      </a:pPr>
                      <a:r>
                        <a:t>Reduce the width of the trunk liner flap by 60mm from the upper edge.</a:t>
                      </a:r>
                    </a:p>
                  </a:txBody>
                  <a:tcPr/>
                </a:tc>
                <a:tc>
                  <a:txBody>
                    <a:bodyPr wrap="square"/>
                    <a:lstStyle/>
                    <a:p>
                      <a:pPr>
                        <a:defRPr sz="1000">
                          <a:latin typeface="Calibri"/>
                        </a:defRPr>
                      </a:pPr>
                      <a:r>
                        <a:t>Confirm business case for 20mm reduction</a:t>
                      </a:r>
                    </a:p>
                  </a:txBody>
                  <a:tcPr/>
                </a:tc>
                <a:tc>
                  <a:txBody>
                    <a:bodyPr wrap="square"/>
                    <a:lstStyle/>
                    <a:p>
                      <a:pPr>
                        <a:defRPr sz="1000">
                          <a:latin typeface="Calibri"/>
                        </a:defRPr>
                      </a:pPr>
                      <a:r>
                        <a:t>INR 89.0</a:t>
                      </a:r>
                    </a:p>
                  </a:txBody>
                  <a:tcPr/>
                </a:tc>
                <a:tc>
                  <a:txBody>
                    <a:bodyPr wrap="square"/>
                    <a:lstStyle/>
                    <a:p>
                      <a:pPr>
                        <a:defRPr sz="1000">
                          <a:latin typeface="Calibri"/>
                        </a:defRPr>
                      </a:pPr>
                      <a:r>
                        <a:t>TBD</a:t>
                      </a:r>
                    </a:p>
                  </a:txBody>
                  <a:tcPr/>
                </a:tc>
                <a:tc>
                  <a:txBody>
                    <a:bodyPr wrap="square"/>
                    <a:lstStyle/>
                    <a:p>
                      <a:pPr>
                        <a:defRPr sz="1000">
                          <a:latin typeface="Calibri"/>
                        </a:defRPr>
                      </a:pPr>
                      <a:r>
                        <a:t>Confirm business case for 20mm reduction</a:t>
                      </a:r>
                    </a:p>
                  </a:txBody>
                  <a:tcPr/>
                </a:tc>
                <a:tc>
                  <a:txBody>
                    <a:bodyPr wrap="square"/>
                    <a:lstStyle/>
                    <a:p>
                      <a:pPr>
                        <a:defRPr sz="1000">
                          <a:latin typeface="Calibri"/>
                        </a:defRPr>
                      </a:pPr>
                      <a:r>
                        <a:t>Kalp</a:t>
                      </a:r>
                    </a:p>
                  </a:txBody>
                  <a:tcPr/>
                </a:tc>
                <a:tc>
                  <a:txBody>
                    <a:bodyPr wrap="square"/>
                    <a:lstStyle/>
                    <a:p>
                      <a:pPr>
                        <a:defRPr sz="1000">
                          <a:latin typeface="Calibri"/>
                        </a:defRPr>
                      </a:pPr>
                      <a:r>
                        <a:t>2024-02-14 00:00:00</a:t>
                      </a:r>
                    </a:p>
                  </a:txBody>
                  <a:tcPr/>
                </a:tc>
              </a:tr>
              <a:tr h="320040">
                <a:tc>
                  <a:txBody>
                    <a:bodyPr wrap="square"/>
                    <a:lstStyle/>
                    <a:p>
                      <a:pPr>
                        <a:defRPr sz="1000">
                          <a:latin typeface="Calibri"/>
                        </a:defRPr>
                      </a:pPr>
                      <a:r>
                        <a:t>2311-ST-ID-02</a:t>
                      </a:r>
                    </a:p>
                  </a:txBody>
                  <a:tcPr/>
                </a:tc>
                <a:tc>
                  <a:txBody>
                    <a:bodyPr wrap="square"/>
                    <a:lstStyle/>
                    <a:p>
                      <a:pPr>
                        <a:defRPr sz="1000">
                          <a:latin typeface="Calibri"/>
                        </a:defRPr>
                      </a:pPr>
                      <a:r>
                        <a:t>Replace PC-ABS with ABS in the manufacture of the Steering Wheel Top Trim 2 since the finish could be achieved on ABS-made trims as well</a:t>
                      </a:r>
                    </a:p>
                  </a:txBody>
                  <a:tcPr/>
                </a:tc>
                <a:tc>
                  <a:txBody>
                    <a:bodyPr wrap="square"/>
                    <a:lstStyle/>
                    <a:p>
                      <a:pPr>
                        <a:defRPr sz="1000">
                          <a:latin typeface="Calibri"/>
                        </a:defRPr>
                      </a:pPr>
                      <a:r>
                        <a:t>nan</a:t>
                      </a:r>
                    </a:p>
                  </a:txBody>
                  <a:tcPr/>
                </a:tc>
                <a:tc>
                  <a:txBody>
                    <a:bodyPr wrap="square"/>
                    <a:lstStyle/>
                    <a:p>
                      <a:pPr>
                        <a:defRPr sz="1000">
                          <a:latin typeface="Calibri"/>
                        </a:defRPr>
                      </a:pPr>
                      <a:r>
                        <a:t>INR 98.0</a:t>
                      </a:r>
                    </a:p>
                  </a:txBody>
                  <a:tcPr/>
                </a:tc>
                <a:tc>
                  <a:txBody>
                    <a:bodyPr wrap="square"/>
                    <a:lstStyle/>
                    <a:p>
                      <a:pPr>
                        <a:defRPr sz="1000">
                          <a:latin typeface="Calibri"/>
                        </a:defRPr>
                      </a:pPr>
                      <a:r>
                        <a:t>TBD</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2311-SS-ID-03</a:t>
                      </a:r>
                    </a:p>
                  </a:txBody>
                  <a:tcPr/>
                </a:tc>
                <a:tc>
                  <a:txBody>
                    <a:bodyPr wrap="square"/>
                    <a:lstStyle/>
                    <a:p>
                      <a:pPr>
                        <a:defRPr sz="1000">
                          <a:latin typeface="Calibri"/>
                        </a:defRPr>
                      </a:pPr>
                      <a:r>
                        <a:t>Substitute the Seatbelt Buckles used in the front row of the seating system in the vehicle with those employed in the second and third row LH and RH sides of the vehicle</a:t>
                      </a:r>
                    </a:p>
                  </a:txBody>
                  <a:tcPr/>
                </a:tc>
                <a:tc>
                  <a:txBody>
                    <a:bodyPr wrap="square"/>
                    <a:lstStyle/>
                    <a:p>
                      <a:pPr>
                        <a:defRPr sz="1000">
                          <a:latin typeface="Calibri"/>
                        </a:defRPr>
                      </a:pPr>
                      <a:r>
                        <a:t>nan</a:t>
                      </a:r>
                    </a:p>
                  </a:txBody>
                  <a:tcPr/>
                </a:tc>
                <a:tc>
                  <a:txBody>
                    <a:bodyPr wrap="square"/>
                    <a:lstStyle/>
                    <a:p>
                      <a:pPr>
                        <a:defRPr sz="1000">
                          <a:latin typeface="Calibri"/>
                        </a:defRPr>
                      </a:pPr>
                      <a:r>
                        <a:t>INR 126.0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2311-PRODUCT-ID-10</a:t>
                      </a:r>
                    </a:p>
                  </a:txBody>
                  <a:tcPr/>
                </a:tc>
                <a:tc>
                  <a:txBody>
                    <a:bodyPr wrap="square"/>
                    <a:lstStyle/>
                    <a:p>
                      <a:pPr>
                        <a:defRPr sz="1000">
                          <a:latin typeface="Calibri"/>
                        </a:defRPr>
                      </a:pPr>
                      <a:r>
                        <a:t>Reduce the length of the Seat Release Straps found on the second and third-row seats</a:t>
                      </a:r>
                    </a:p>
                  </a:txBody>
                  <a:tcPr/>
                </a:tc>
                <a:tc>
                  <a:txBody>
                    <a:bodyPr wrap="square"/>
                    <a:lstStyle/>
                    <a:p>
                      <a:pPr>
                        <a:defRPr sz="1000">
                          <a:latin typeface="Calibri"/>
                        </a:defRPr>
                      </a:pPr>
                      <a:r>
                        <a:t>nan</a:t>
                      </a:r>
                    </a:p>
                  </a:txBody>
                  <a:tcPr/>
                </a:tc>
                <a:tc>
                  <a:txBody>
                    <a:bodyPr wrap="square"/>
                    <a:lstStyle/>
                    <a:p>
                      <a:pPr>
                        <a:defRPr sz="1000">
                          <a:latin typeface="Calibri"/>
                        </a:defRPr>
                      </a:pPr>
                      <a:r>
                        <a:t>INR 86.0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2311-PRODUCT-ID-16</a:t>
                      </a:r>
                    </a:p>
                  </a:txBody>
                  <a:tcPr/>
                </a:tc>
                <a:tc>
                  <a:txBody>
                    <a:bodyPr wrap="square"/>
                    <a:lstStyle/>
                    <a:p>
                      <a:pPr>
                        <a:defRPr sz="1000">
                          <a:latin typeface="Calibri"/>
                        </a:defRPr>
                      </a:pPr>
                      <a:r>
                        <a:t>Replace fiberboard with velcro tape and carpet in the assembly</a:t>
                      </a:r>
                    </a:p>
                  </a:txBody>
                  <a:tcPr/>
                </a:tc>
                <a:tc>
                  <a:txBody>
                    <a:bodyPr wrap="square"/>
                    <a:lstStyle/>
                    <a:p>
                      <a:pPr>
                        <a:defRPr sz="1000">
                          <a:latin typeface="Calibri"/>
                        </a:defRPr>
                      </a:pPr>
                      <a:r>
                        <a:t>Check for loss in functionality</a:t>
                      </a:r>
                    </a:p>
                  </a:txBody>
                  <a:tcPr/>
                </a:tc>
                <a:tc>
                  <a:txBody>
                    <a:bodyPr wrap="square"/>
                    <a:lstStyle/>
                    <a:p>
                      <a:pPr>
                        <a:defRPr sz="1000">
                          <a:latin typeface="Calibri"/>
                        </a:defRPr>
                      </a:pPr>
                      <a:r>
                        <a:t>INR 64.0</a:t>
                      </a:r>
                    </a:p>
                  </a:txBody>
                  <a:tcPr/>
                </a:tc>
                <a:tc>
                  <a:txBody>
                    <a:bodyPr wrap="square"/>
                    <a:lstStyle/>
                    <a:p>
                      <a:pPr>
                        <a:defRPr sz="1000">
                          <a:latin typeface="Calibri"/>
                        </a:defRPr>
                      </a:pPr>
                      <a:r>
                        <a:t>TBD</a:t>
                      </a:r>
                    </a:p>
                  </a:txBody>
                  <a:tcPr/>
                </a:tc>
                <a:tc>
                  <a:txBody>
                    <a:bodyPr wrap="square"/>
                    <a:lstStyle/>
                    <a:p>
                      <a:pPr>
                        <a:defRPr sz="1000">
                          <a:latin typeface="Calibri"/>
                        </a:defRPr>
                      </a:pPr>
                      <a:r>
                        <a:t>Check for loss in functionality</a:t>
                      </a:r>
                    </a:p>
                  </a:txBody>
                  <a:tcPr/>
                </a:tc>
                <a:tc>
                  <a:txBody>
                    <a:bodyPr wrap="square"/>
                    <a:lstStyle/>
                    <a:p>
                      <a:pPr>
                        <a:defRPr sz="1000">
                          <a:latin typeface="Calibri"/>
                        </a:defRPr>
                      </a:pPr>
                      <a:r>
                        <a:t>Narendra</a:t>
                      </a:r>
                    </a:p>
                  </a:txBody>
                  <a:tcPr/>
                </a:tc>
                <a:tc>
                  <a:txBody>
                    <a:bodyPr wrap="square"/>
                    <a:lstStyle/>
                    <a:p>
                      <a:pPr>
                        <a:defRPr sz="1000">
                          <a:latin typeface="Calibri"/>
                        </a:defRPr>
                      </a:pPr>
                      <a:r>
                        <a:t>2024-02-22 00:00:00</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Chart Analysis Discussion</a:t>
            </a:r>
          </a:p>
        </p:txBody>
      </p:sp>
      <p:graphicFrame>
        <p:nvGraphicFramePr>
          <p:cNvPr id="3" name="Chart 2"/>
          <p:cNvGraphicFramePr>
            <a:graphicFrameLocks noGrp="1"/>
          </p:cNvGraphicFramePr>
          <p:nvPr/>
        </p:nvGraphicFramePr>
        <p:xfrm>
          <a:off x="457200" y="1371600"/>
          <a:ext cx="82296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Pie chart for ideas status</a:t>
            </a:r>
          </a:p>
        </p:txBody>
      </p:sp>
      <p:graphicFrame>
        <p:nvGraphicFramePr>
          <p:cNvPr id="3" name="Chart 2"/>
          <p:cNvGraphicFramePr>
            <a:graphicFrameLocks noGrp="1"/>
          </p:cNvGraphicFramePr>
          <p:nvPr/>
        </p:nvGraphicFramePr>
        <p:xfrm>
          <a:off x="457200" y="1371600"/>
          <a:ext cx="41148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029200" y="1371600"/>
            <a:ext cx="3657600" cy="4114800"/>
          </a:xfrm>
          <a:prstGeom prst="rect">
            <a:avLst/>
          </a:prstGeom>
          <a:noFill/>
        </p:spPr>
        <p:txBody>
          <a:bodyPr wrap="square">
            <a:spAutoFit/>
          </a:bodyPr>
          <a:lstStyle/>
          <a:p>
            <a:pPr>
              <a:defRPr sz="1000">
                <a:latin typeface="Calibri"/>
              </a:defRPr>
            </a:pPr>
          </a:p>
          <a:p>
            <a:pPr>
              <a:defRPr sz="1000">
                <a:latin typeface="Calibri"/>
              </a:defRPr>
            </a:pPr>
            <a:r>
              <a:t>• Total Ideas: 10</a:t>
            </a:r>
          </a:p>
          <a:p>
            <a:pPr>
              <a:defRPr sz="1000">
                <a:latin typeface="Calibri"/>
              </a:defRPr>
            </a:pPr>
            <a:r>
              <a:t>• Total Potential Savings: INR 1,003.00</a:t>
            </a:r>
          </a:p>
          <a:p>
            <a:pPr>
              <a:defRPr sz="1000">
                <a:latin typeface="Calibri"/>
              </a:defRPr>
            </a:pPr>
            <a:r>
              <a:t>• Implemented Ideas: 0</a:t>
            </a:r>
          </a:p>
          <a:p>
            <a:pPr>
              <a:defRPr sz="1000">
                <a:latin typeface="Calibri"/>
              </a:defRPr>
            </a:pPr>
            <a:r>
              <a:t>• Status OK: 0</a:t>
            </a:r>
          </a:p>
          <a:p>
            <a:pPr>
              <a:defRPr sz="1000">
                <a:latin typeface="Calibri"/>
              </a:defRPr>
            </a:pPr>
            <a:r>
              <a:t>• Status TBD: 3</a:t>
            </a:r>
          </a:p>
          <a:p>
            <a:pPr>
              <a:defRPr sz="1000">
                <a:latin typeface="Calibri"/>
              </a:defRPr>
            </a:pPr>
            <a:r>
              <a:t>• Status NG: 7</a:t>
            </a:r>
          </a:p>
          <a:p>
            <a:pPr>
              <a:defRPr sz="1000">
                <a:latin typeface="Calibri"/>
              </a:defRPr>
            </a:pPr>
            <a:r>
              <a:t>• The provided cost reduction ideas focus on process deletions and material replacements to reduce manufacturing costs.</a:t>
            </a:r>
          </a:p>
          <a:p>
            <a:pPr>
              <a:defRPr sz="1000">
                <a:latin typeface="Calibri"/>
              </a:defRPr>
            </a:pPr>
            <a:r>
              <a:t>• Key proposals include removing paint coatings from brackets and mounts, replacing PC-ABS with ABS, and switching to galvanized steel for window regulators.</a:t>
            </a:r>
          </a:p>
          <a:p>
            <a:pPr>
              <a:defRPr sz="1000">
                <a:latin typeface="Calibri"/>
              </a:defRPr>
            </a:pPr>
            <a:r>
              <a:t>• These changes aim to maintain functionality while reducing costs and, in some cases, weight.</a:t>
            </a:r>
          </a:p>
        </p:txBody>
      </p:sp>
      <p:sp>
        <p:nvSpPr>
          <p:cNvPr id="5" name="TextBox 4"/>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Summary section</a:t>
            </a:r>
          </a:p>
        </p:txBody>
      </p:sp>
      <p:sp>
        <p:nvSpPr>
          <p:cNvPr id="3" name="Content Placeholder 2"/>
          <p:cNvSpPr>
            <a:spLocks noGrp="1"/>
          </p:cNvSpPr>
          <p:nvPr>
            <p:ph idx="1"/>
          </p:nvPr>
        </p:nvSpPr>
        <p:spPr/>
        <p:txBody>
          <a:bodyPr wrap="square"/>
          <a:lstStyle/>
          <a:p>
            <a:pPr>
              <a:defRPr sz="1800">
                <a:latin typeface="Calibri"/>
              </a:defRPr>
            </a:pPr>
          </a:p>
          <a:p>
            <a:pPr>
              <a:defRPr sz="1800">
                <a:latin typeface="Calibri"/>
              </a:defRPr>
            </a:pPr>
            <a:r>
              <a:t>Total Ideas: 10 ideas analyzed.</a:t>
            </a:r>
          </a:p>
          <a:p>
            <a:pPr>
              <a:defRPr sz="1800">
                <a:latin typeface="Calibri"/>
              </a:defRPr>
            </a:pPr>
            <a:r>
              <a:t>Total Savings: INR 1,003.00 in potential cost reductions.</a:t>
            </a:r>
          </a:p>
          <a:p>
            <a:pPr>
              <a:defRPr sz="1800">
                <a:latin typeface="Calibri"/>
              </a:defRPr>
            </a:pPr>
            <a:r>
              <a:t>Key Proposals: Remove paint coatings from mounts and brackets, replace PC-ABS with ABS, and use galvanized steel for window regulators.</a:t>
            </a:r>
          </a:p>
          <a:p>
            <a:pPr>
              <a:defRPr sz="1800">
                <a:latin typeface="Calibri"/>
              </a:defRPr>
            </a:pPr>
            <a:r>
              <a:t>Status: All ideas currently TBD, pending further evaluation.</a:t>
            </a:r>
          </a:p>
          <a:p>
            <a:pPr>
              <a:defRPr sz="1800">
                <a:latin typeface="Calibri"/>
              </a:defRPr>
            </a:pPr>
            <a:r>
              <a:t>Focus: Cost reduction through process deletion and material substitution while maintaining functionality.</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
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Sheet1!$A$2:$A$15</c:f>
              <c:strCache>
                <c:ptCount val="14"/>
                <c:pt idx="0">
                  <c:v>2311-EL-ID-10</c:v>
                </c:pt>
                <c:pt idx="1">
                  <c:v>2311-EL-ID-08</c:v>
                </c:pt>
                <c:pt idx="2">
                  <c:v>2311-EL-ID-09</c:v>
                </c:pt>
                <c:pt idx="3">
                  <c:v>2311-ET-ID-14</c:v>
                </c:pt>
                <c:pt idx="4">
                  <c:v>2311-EL-ID-11</c:v>
                </c:pt>
                <c:pt idx="5">
                  <c:v>AI-GEN-01</c:v>
                </c:pt>
                <c:pt idx="6">
                  <c:v>AI-GEN-02</c:v>
                </c:pt>
                <c:pt idx="7">
                  <c:v>AI-GEN-03</c:v>
                </c:pt>
                <c:pt idx="8">
                  <c:v>AI-GEN-04</c:v>
                </c:pt>
                <c:pt idx="9">
                  <c:v>AI-GEN-05</c:v>
                </c:pt>
                <c:pt idx="10">
                  <c:v>AI-GEN-06</c:v>
                </c:pt>
                <c:pt idx="11">
                  <c:v>WEB-GEN-01</c:v>
                </c:pt>
                <c:pt idx="12">
                  <c:v>WEB-GEN-02</c:v>
                </c:pt>
                <c:pt idx="13">
                  <c:v>WEB-GEN-03</c:v>
                </c:pt>
              </c:strCache>
            </c:strRef>
          </c:cat>
          <c:val>
            <c:numRef>
              <c:f>Sheet1!$B$2:$B$15</c:f>
              <c:numCache>
                <c:formatCode>General</c:formatCode>
                <c:ptCount val="14"/>
                <c:pt idx="0">
                  <c:v>61.0</c:v>
                </c:pt>
                <c:pt idx="1">
                  <c:v>135.0</c:v>
                </c:pt>
                <c:pt idx="2">
                  <c:v>90.0</c:v>
                </c:pt>
                <c:pt idx="3">
                  <c:v>41.0</c:v>
                </c:pt>
                <c:pt idx="4">
                  <c:v>137.0</c:v>
                </c:pt>
                <c:pt idx="5">
                  <c:v>0</c:v>
                </c:pt>
                <c:pt idx="6">
                  <c:v>0</c:v>
                </c:pt>
                <c:pt idx="7">
                  <c:v>0</c:v>
                </c:pt>
                <c:pt idx="8">
                  <c:v>0</c:v>
                </c:pt>
                <c:pt idx="9">
                  <c:v>0</c:v>
                </c:pt>
                <c:pt idx="10">
                  <c:v>0</c:v>
                </c:pt>
                <c:pt idx="11">
                  <c:v>0</c:v>
                </c:pt>
                <c:pt idx="12">
                  <c:v>0</c:v>
                </c:pt>
                <c:pt idx="13">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1</c:v>
                </c:pt>
                <c:pt idx="2">
                  <c:v>2</c:v>
                </c:pt>
                <c:pt idx="3">
                  <c:v>2</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2311-EL-ID-10</a:t>
                      </a:r>
                    </a:p>
                  </a:txBody>
                  <a:tcPr/>
                </a:tc>
                <a:tc>
                  <a:txBody>
                    <a:bodyPr wrap="square"/>
                    <a:lstStyle/>
                    <a:p>
                      <a:pPr>
                        <a:defRPr sz="1000">
                          <a:latin typeface="Calibri"/>
                        </a:defRPr>
                      </a:pPr>
                      <a:r>
                        <a:t>Replace the 444GSM Battery Insulation Cover used in MGI with a 350GSM Insulation Cover</a:t>
                      </a:r>
                    </a:p>
                  </a:txBody>
                  <a:tcPr/>
                </a:tc>
                <a:tc>
                  <a:txBody>
                    <a:bodyPr wrap="square"/>
                    <a:lstStyle/>
                    <a:p>
                      <a:pPr>
                        <a:defRPr sz="1000">
                          <a:latin typeface="Calibri"/>
                        </a:defRPr>
                      </a:pPr>
                      <a:r>
                        <a:t>Thermal performance pending with change in density</a:t>
                      </a:r>
                    </a:p>
                  </a:txBody>
                  <a:tcPr/>
                </a:tc>
                <a:tc>
                  <a:txBody>
                    <a:bodyPr wrap="square"/>
                    <a:lstStyle/>
                    <a:p>
                      <a:pPr>
                        <a:defRPr sz="1000">
                          <a:latin typeface="Calibri"/>
                        </a:defRPr>
                      </a:pPr>
                      <a:r>
                        <a:t>INR 61.0</a:t>
                      </a:r>
                    </a:p>
                  </a:txBody>
                  <a:tcPr/>
                </a:tc>
                <a:tc>
                  <a:txBody>
                    <a:bodyPr wrap="square"/>
                    <a:lstStyle/>
                    <a:p>
                      <a:pPr>
                        <a:defRPr sz="1000">
                          <a:latin typeface="Calibri"/>
                        </a:defRPr>
                      </a:pPr>
                      <a:r>
                        <a:t>TBD</a:t>
                      </a:r>
                    </a:p>
                  </a:txBody>
                  <a:tcPr/>
                </a:tc>
                <a:tc>
                  <a:txBody>
                    <a:bodyPr wrap="square"/>
                    <a:lstStyle/>
                    <a:p>
                      <a:pPr>
                        <a:defRPr sz="1000">
                          <a:latin typeface="Calibri"/>
                        </a:defRPr>
                      </a:pPr>
                      <a:r>
                        <a:t>Thermal performance pending with change in density</a:t>
                      </a:r>
                    </a:p>
                  </a:txBody>
                  <a:tcPr/>
                </a:tc>
                <a:tc>
                  <a:txBody>
                    <a:bodyPr wrap="square"/>
                    <a:lstStyle/>
                    <a:p>
                      <a:pPr>
                        <a:defRPr sz="1000">
                          <a:latin typeface="Calibri"/>
                        </a:defRPr>
                      </a:pPr>
                      <a:r>
                        <a:t>Ojaswini</a:t>
                      </a:r>
                    </a:p>
                  </a:txBody>
                  <a:tcPr/>
                </a:tc>
                <a:tc>
                  <a:txBody>
                    <a:bodyPr wrap="square"/>
                    <a:lstStyle/>
                    <a:p>
                      <a:pPr>
                        <a:defRPr sz="1000">
                          <a:latin typeface="Calibri"/>
                        </a:defRPr>
                      </a:pPr>
                      <a:r>
                        <a:t>2024-03-29 00:00:00</a:t>
                      </a:r>
                    </a:p>
                  </a:txBody>
                  <a:tcPr/>
                </a:tc>
              </a:tr>
              <a:tr h="320040">
                <a:tc>
                  <a:txBody>
                    <a:bodyPr wrap="square"/>
                    <a:lstStyle/>
                    <a:p>
                      <a:pPr>
                        <a:defRPr sz="1000">
                          <a:latin typeface="Calibri"/>
                        </a:defRPr>
                      </a:pPr>
                      <a:r>
                        <a:t>2311-EL-ID-08</a:t>
                      </a:r>
                    </a:p>
                  </a:txBody>
                  <a:tcPr/>
                </a:tc>
                <a:tc>
                  <a:txBody>
                    <a:bodyPr wrap="square"/>
                    <a:lstStyle/>
                    <a:p>
                      <a:pPr>
                        <a:defRPr sz="1000">
                          <a:latin typeface="Calibri"/>
                        </a:defRPr>
                      </a:pPr>
                      <a:r>
                        <a:t>Update the battery mounting technique in MGI to align with the one employed in KIA, including a redesign of the battery-securing enclosure.</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2311-EL-ID-09</a:t>
                      </a:r>
                    </a:p>
                  </a:txBody>
                  <a:tcPr/>
                </a:tc>
                <a:tc>
                  <a:txBody>
                    <a:bodyPr wrap="square"/>
                    <a:lstStyle/>
                    <a:p>
                      <a:pPr>
                        <a:defRPr sz="1000">
                          <a:latin typeface="Calibri"/>
                        </a:defRPr>
                      </a:pPr>
                      <a:r>
                        <a:t>Remove the separate tray provided at the base of the battery enclosure in MGI</a:t>
                      </a:r>
                    </a:p>
                  </a:txBody>
                  <a:tcPr/>
                </a:tc>
                <a:tc>
                  <a:txBody>
                    <a:bodyPr wrap="square"/>
                    <a:lstStyle/>
                    <a:p>
                      <a:pPr>
                        <a:defRPr sz="1000">
                          <a:latin typeface="Calibri"/>
                        </a:defRPr>
                      </a:pPr>
                      <a:r>
                        <a:t>Confirm homeroom feasibility</a:t>
                      </a:r>
                    </a:p>
                  </a:txBody>
                  <a:tcPr/>
                </a:tc>
                <a:tc>
                  <a:txBody>
                    <a:bodyPr wrap="square"/>
                    <a:lstStyle/>
                    <a:p>
                      <a:pPr>
                        <a:defRPr sz="1000">
                          <a:latin typeface="Calibri"/>
                        </a:defRPr>
                      </a:pPr>
                      <a:r>
                        <a:t>INR 90.0</a:t>
                      </a:r>
                    </a:p>
                  </a:txBody>
                  <a:tcPr/>
                </a:tc>
                <a:tc>
                  <a:txBody>
                    <a:bodyPr wrap="square"/>
                    <a:lstStyle/>
                    <a:p>
                      <a:pPr>
                        <a:defRPr sz="1000">
                          <a:latin typeface="Calibri"/>
                        </a:defRPr>
                      </a:pPr>
                      <a:r>
                        <a:t>NG</a:t>
                      </a:r>
                    </a:p>
                  </a:txBody>
                  <a:tcPr/>
                </a:tc>
                <a:tc>
                  <a:txBody>
                    <a:bodyPr wrap="square"/>
                    <a:lstStyle/>
                    <a:p>
                      <a:pPr>
                        <a:defRPr sz="1000">
                          <a:latin typeface="Calibri"/>
                        </a:defRPr>
                      </a:pPr>
                      <a:r>
                        <a:t>Confirm homeroom feasibility</a:t>
                      </a:r>
                    </a:p>
                  </a:txBody>
                  <a:tcPr/>
                </a:tc>
                <a:tc>
                  <a:txBody>
                    <a:bodyPr wrap="square"/>
                    <a:lstStyle/>
                    <a:p>
                      <a:pPr>
                        <a:defRPr sz="1000">
                          <a:latin typeface="Calibri"/>
                        </a:defRPr>
                      </a:pPr>
                      <a:r>
                        <a:t>Ratnadeep</a:t>
                      </a:r>
                    </a:p>
                  </a:txBody>
                  <a:tcPr/>
                </a:tc>
                <a:tc>
                  <a:txBody>
                    <a:bodyPr wrap="square"/>
                    <a:lstStyle/>
                    <a:p>
                      <a:pPr>
                        <a:defRPr sz="1000">
                          <a:latin typeface="Calibri"/>
                        </a:defRPr>
                      </a:pPr>
                      <a:r>
                        <a:t>2024-04-15 00:00:00</a:t>
                      </a:r>
                    </a:p>
                  </a:txBody>
                  <a:tcPr/>
                </a:tc>
              </a:tr>
              <a:tr h="320040">
                <a:tc>
                  <a:txBody>
                    <a:bodyPr wrap="square"/>
                    <a:lstStyle/>
                    <a:p>
                      <a:pPr>
                        <a:defRPr sz="1000">
                          <a:latin typeface="Calibri"/>
                        </a:defRPr>
                      </a:pPr>
                      <a:r>
                        <a:t>2311-ET-ID-14</a:t>
                      </a:r>
                    </a:p>
                  </a:txBody>
                  <a:tcPr/>
                </a:tc>
                <a:tc>
                  <a:txBody>
                    <a:bodyPr wrap="square"/>
                    <a:lstStyle/>
                    <a:p>
                      <a:pPr>
                        <a:defRPr sz="1000">
                          <a:latin typeface="Calibri"/>
                        </a:defRPr>
                      </a:pPr>
                      <a:r>
                        <a:t>1. Replace the 2240GSM Engine Bay Insulation Cover within MGI with a 1080 - 1100GSM Insulation Cover (PES-NF) as in KIA</a:t>
                      </a:r>
                    </a:p>
                    <a:p>
                      <a:pPr>
                        <a:defRPr sz="1000">
                          <a:latin typeface="Calibri"/>
                        </a:defRPr>
                      </a:pPr>
                      <a:r>
                        <a:t>2. Replace the 5300GSM Cabin Insulation Cover within MGI with a 4550 - 4650GSM Insulation Cover as in KIA</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INR 41.0</a:t>
                      </a:r>
                    </a:p>
                  </a:txBody>
                  <a:tcPr/>
                </a:tc>
                <a:tc>
                  <a:txBody>
                    <a:bodyPr wrap="square"/>
                    <a:lstStyle/>
                    <a:p>
                      <a:pPr>
                        <a:defRPr sz="1000">
                          <a:latin typeface="Calibri"/>
                        </a:defRPr>
                      </a:pPr>
                      <a:r>
                        <a:t>OK</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Narendra/ Ratnadeep</a:t>
                      </a:r>
                    </a:p>
                  </a:txBody>
                  <a:tcPr/>
                </a:tc>
                <a:tc>
                  <a:txBody>
                    <a:bodyPr wrap="square"/>
                    <a:lstStyle/>
                    <a:p>
                      <a:pPr>
                        <a:defRPr sz="1000">
                          <a:latin typeface="Calibri"/>
                        </a:defRPr>
                      </a:pPr>
                      <a:r>
                        <a:t>2024-06-28 00:00:00</a:t>
                      </a:r>
                    </a:p>
                  </a:txBody>
                  <a:tcPr/>
                </a:tc>
              </a:tr>
              <a:tr h="320040">
                <a:tc>
                  <a:txBody>
                    <a:bodyPr wrap="square"/>
                    <a:lstStyle/>
                    <a:p>
                      <a:pPr>
                        <a:defRPr sz="1000">
                          <a:latin typeface="Calibri"/>
                        </a:defRPr>
                      </a:pPr>
                      <a:r>
                        <a:t>2311-EL-ID-11</a:t>
                      </a:r>
                    </a:p>
                  </a:txBody>
                  <a:tcPr/>
                </a:tc>
                <a:tc>
                  <a:txBody>
                    <a:bodyPr wrap="square"/>
                    <a:lstStyle/>
                    <a:p>
                      <a:pPr>
                        <a:defRPr sz="1000">
                          <a:latin typeface="Calibri"/>
                        </a:defRPr>
                      </a:pPr>
                      <a:r>
                        <a:t>Replace PC-ABS with ABS in the manufacture of Tail Lamp Housings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137.0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Redesign the battery pack's thermal management cold plate to utilize an optimized extruded aluminum profile, targeting a 15% reduction in wall thickness and exploring the feasibility of a more cost-effective alloy (e.g., 6061-T6 for specific sections) without compromising thermal transfer efficiency or structural integrity.</a:t>
                      </a:r>
                    </a:p>
                  </a:txBody>
                  <a:tcPr/>
                </a:tc>
                <a:tc>
                  <a:txBody>
                    <a:bodyPr wrap="square"/>
                    <a:lstStyle/>
                    <a:p>
                      <a:pPr>
                        <a:defRPr sz="1000">
                          <a:latin typeface="Calibri"/>
                        </a:defRPr>
                      </a:pPr>
                      <a:r>
                        <a:t>The current thermal cold plate often involves complex stamped and welded assemblies or significant machining. Transitioning to a tailored extrusion simplifies manufacturing, reduces material waste, and minimizes welding, directly cutting production cycle time and labor. The critical engineering challenge lies in ensuring that the reduced material thickness and potentially altered alloy maintain equivalent thermal dissipation performance across the entire cell array, preventing localized hotspots and resisting operational pressures and vibrations. Validation will necessitate extensive Computational Fluid Dynamics (CFD) simulations to predict temperature distribution under various charge/discharge cycles and ambient conditions. This will be followed by bench-top thermal cycling tests on prototype packs to confirm simulation accuracy. Mechanical validation will include burst pressure tests, comprehensive vibration durability testing to OEM standards (e.g., GMW3172), and fatigue analysis to ensure long-term structural integrity. Material characterization for the proposed aluminum alloy will be crucial to confirm its mechanical properties and corrosion resistance.</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current thermal cold plate often involves complex stamped and welded assemblies or significant machining. Transitioning to a tailored extrusion simplifies manufacturing, reduces material waste, and minimizes welding, directly cutting production cycle time and labor. The critical engineering challenge lies in ensuring that the reduced material thickness and potentially altered alloy maintain equivalent thermal dissipation performance across the entire cell array, preventing localized hotspots and resisting operational pressures and vibrations. Validation will necessitate extensive Computational Fluid Dynamics (CFD) simulations to predict temperature distribution under various charge/discharge cycles and ambient conditions. This will be followed by bench-top thermal cycling tests on prototype packs to confirm simulation accuracy. Mechanical validation will include burst pressure tests, comprehensive vibration durability testing to OEM standards (e.g., GMW3172), and fatigue analysis to ensure long-term structural integrity. Material characterization for the proposed aluminum alloy will be crucial to confirm its mechanical properties and corrosion resistance.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Optimize the MG Motor Windsor battery pack outer enclosure design by employing a single-piece high-pressure die-cast (HPDC) aluminum base, integrating critical structural ribs, mounting points, and cooling channels directly into the casting, thereby replacing multi-piece fabricated sheet metal or complex bolted assemblies.</a:t>
                      </a:r>
                    </a:p>
                  </a:txBody>
                  <a:tcPr/>
                </a:tc>
                <a:tc>
                  <a:txBody>
                    <a:bodyPr wrap="square"/>
                    <a:lstStyle/>
                    <a:p>
                      <a:pPr>
                        <a:defRPr sz="1000">
                          <a:latin typeface="Calibri"/>
                        </a:defRPr>
                      </a:pPr>
                      <a:r>
                        <a:t>Multi-piece fabricated enclosures require numerous welding, stamping, fastening, and sealing operations, which significantly drive up material costs, manufacturing complexity, and assembly time. A single-piece HPDC solution drastically reduces part count, eliminates many assembly steps, and minimizes potential leak paths, enhancing ingress protection. The inherent stiffness and precision of a die-cast component can also improve structural integrity and crash performance. The primary engineering challenge involves optimizing the die-cast tool design for complex geometries, minimizing overall material usage while satisfying stringent crash safety requirements (e.g., crush force, intrusion resistance), and effectively managing potential casting defects like porosity. Validation will necessitate advanced Finite Element Analysis (FEA) for structural rigidity, multi-axis crash simulations (front, side, rear impact scenarios), and vibration analysis to ensure system durability. Physical validation will include drop tests, impact tests, and extended durability testing to confirm structural performance and maintain desired IP (Ingress Protection) ratings. Manufacturing process capability studies will be vital to ensure repeatable quality and defect control.</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Multi-piece fabricated enclosures require numerous welding, stamping, fastening, and sealing operations, which significantly drive up material costs, manufacturing complexity, and assembly time. A single-piece HPDC solution drastically reduces part count, eliminates many assembly steps, and minimizes potential leak paths, enhancing ingress protection. The inherent stiffness and precision of a die-cast component can also improve structural integrity and crash performance. The primary engineering challenge involves optimizing the die-cast tool design for complex geometries, minimizing overall material usage while satisfying stringent crash safety requirements (e.g., crush force, intrusion resistance), and effectively managing potential casting defects like porosity. Validation will necessitate advanced Finite Element Analysis (FEA) for structural rigidity, multi-axis crash simulations (front, side, rear impact scenarios), and vibration analysis to ensure system durability. Physical validation will include drop tests, impact tests, and extended durability testing to confirm structural performance and maintain desired IP (Ingress Protection) ratings. Manufacturing process capability studies will be vital to ensure repeatable quality and defect control.</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Transition the battery module interconnects and busbars from pure copper to an optimized aluminum-copper bimetallic solution, specifically for longer, low-current distribution lines within the pack, while judiciously retaining copper for high-current cell-to-cell connections where electrical resistance is paramount.</a:t>
                      </a:r>
                    </a:p>
                  </a:txBody>
                  <a:tcPr/>
                </a:tc>
                <a:tc>
                  <a:txBody>
                    <a:bodyPr wrap="square"/>
                    <a:lstStyle/>
                    <a:p>
                      <a:pPr>
                        <a:defRPr sz="1000">
                          <a:latin typeface="Calibri"/>
                        </a:defRPr>
                      </a:pPr>
                      <a:r>
                        <a:t>While copper busbars offer superior electrical conductivity, their high cost and density contribute significantly to the overall battery pack expense and weight. Leveraging aluminum for lower-current paths can yield substantial savings. The critical engineering considerations are managing the inherent electrical conductivity difference, preventing galvanic corrosion at bimetallic junctions, and accommodating the thermal expansion mismatch between aluminum and copper. Bimetallic strips, manufactured through advanced joining processes like friction stir welding or roll bonding, offer a robust method for creating these interfaces. Validation will involve extensive electrical characterization (resistance, voltage drop, heat generation) under various typical and peak load profiles. Accelerated aging tests, including severe thermal cycling, high humidity, and salt spray exposure, will be crucial to assess corrosion resistance and interface stability. Vibration testing will ensure the mechanical integrity of all connections under dynamic vehicle conditions. Focus will be on demonstrating no compromise in current carrying capacity, thermal performance, or long-term reliability and safety.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While copper busbars offer superior electrical conductivity, their high cost and density contribute significantly to the overall battery pack expense and weight. Leveraging aluminum for lower-current paths can yield substantial savings. The critical engineering considerations are managing the inherent electrical conductivity difference, preventing galvanic corrosion at bimetallic junctions, and accommodating the thermal expansion mismatch between aluminum and copper. Bimetallic strips, manufactured through advanced joining processes like friction stir welding or roll bonding, offer a robust method for creating these interfaces. Validation will involve extensive electrical characterization (resistance, voltage drop, heat generation) under various typical and peak load profiles. Accelerated aging tests, including severe thermal cycling, high humidity, and salt spray exposure, will be crucial to assess corrosion resistance and interface stability. Vibration testing will ensure the mechanical integrity of all connections under dynamic vehicle conditions. Focus will be on demonstrating no compromise in current carrying capacity, thermal performance, or long-term reliability and safety.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Integrate the Battery Management System (BMS) control unit directly into the main battery pack lid or housing structure, utilizing a shared enclosure volume and potentially common sealing elements, thereby eliminating the need for a separate, dedicated BMS housing and associated mounting hardware.</a:t>
                      </a:r>
                    </a:p>
                  </a:txBody>
                  <a:tcPr/>
                </a:tc>
                <a:tc>
                  <a:txBody>
                    <a:bodyPr wrap="square"/>
                    <a:lstStyle/>
                    <a:p>
                      <a:pPr>
                        <a:defRPr sz="1000">
                          <a:latin typeface="Calibri"/>
                        </a:defRPr>
                      </a:pPr>
                      <a:r>
                        <a:t>A discrete BMS housing adds material cost, necessitates separate assembly steps, and occupies valuable packaging space within the vehicle. Integrating the BMS into the existing pack structure streamlines manufacturing processes and significantly reduces part count. The core engineering challenges involve ensuring robust electromagnetic compatibility (EMC) shielding to protect sensitive electronics from the high-power currents of the battery, effective thermal management of the BMS components within the main battery's operational temperature range, and maintaining accessibility for serviceability, diagnostics, or firmware updates. Validation will include comprehensive EMC testing to stringent automotive standards (e.g., ISO 7637, CISPR 25), thermal simulations and physical tests to confirm BMS operating temperatures remain within specified limits, and rigorous sealing effectiveness verification (IP ratings). Careful consideration for vibration isolation and mechanical protection for the PCB assembly and connectors will be paramount to ensure long-term reliability in the harsh automotive environment.</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A discrete BMS housing adds material cost, necessitates separate assembly steps, and occupies valuable packaging space within the vehicle. Integrating the BMS into the existing pack structure streamlines manufacturing processes and significantly reduces part count. The core engineering challenges involve ensuring robust electromagnetic compatibility (EMC) shielding to protect sensitive electronics from the high-power currents of the battery, effective thermal management of the BMS components within the main battery's operational temperature range, and maintaining accessibility for serviceability, diagnostics, or firmware updates. Validation will include comprehensive EMC testing to stringent automotive standards (e.g., ISO 7637, CISPR 25), thermal simulations and physical tests to confirm BMS operating temperatures remain within specified limits, and rigorous sealing effectiveness verification (IP ratings). Careful consideration for vibration isolation and mechanical protection for the PCB assembly and connectors will be paramount to ensure long-term reliability in the harsh automotive environment.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Implement a robotic, single-pass application of a form-in-place (FIP) liquid gasket for the battery pack's main sealing interface, replacing labor-intensive, multi-piece pre-cut elastomeric gaskets and enabling a reduction in the overall fastener density.</a:t>
                      </a:r>
                    </a:p>
                  </a:txBody>
                  <a:tcPr/>
                </a:tc>
                <a:tc>
                  <a:txBody>
                    <a:bodyPr wrap="square"/>
                    <a:lstStyle/>
                    <a:p>
                      <a:pPr>
                        <a:defRPr sz="1000">
                          <a:latin typeface="Calibri"/>
                        </a:defRPr>
                      </a:pPr>
                      <a:r>
                        <a:t>Traditional pre-cut elastomeric gaskets can be expensive, require precise manual installation, and often necessitate a high number of fasteners to achieve and maintain adequate compression and sealing force over time. A robotic FIP liquid gasket system offers superior precision, reduces material waste through optimized bead paths, and adapts seamlessly to complex pack geometries. The primary engineering focus will be on selecting an optimal FIP material (e.g., advanced silicone or polyurethane-based formulations) that exhibits excellent chemical compatibility with battery components, robust thermal stability across the entire operational temperature range, and superior long-term durability against environmental factors such as water ingress, dust, road chemicals, and UV exposure. Validation will involve extensive ingress protection (IP) testing (e.g., IP67/IP6K9K) after severe thermal cycling, vibration, and pressure washing tests. Adhesive strength and peel tests for the cured gasket will be performed. Furthermore, optimizing the bead path, volume, and curing parameters is critical to ensure consistent and reliable sealing performance throughout the battery pack's lifespan, potentially allowing for a reduced fastener count due to enhanced adhesion and sealing properties.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Traditional pre-cut elastomeric gaskets can be expensive, require precise manual installation, and often necessitate a high number of fasteners to achieve and maintain adequate compression and sealing force over time. A robotic FIP liquid gasket system offers superior precision, reduces material waste through optimized bead paths, and adapts seamlessly to complex pack geometries. The primary engineering focus will be on selecting an optimal FIP material (e.g., advanced silicone or polyurethane-based formulations) that exhibits excellent chemical compatibility with battery components, robust thermal stability across the entire operational temperature range, and superior long-term durability against environmental factors such as water ingress, dust, road chemicals, and UV exposure. Validation will involve extensive ingress protection (IP) testing (e.g., IP67/IP6K9K) after severe thermal cycling, vibration, and pressure washing tests. Adhesive strength and peel tests for the cured gasket will be performed. Furthermore, optimizing the bead path, volume, and curing parameters is critical to ensure consistent and reliable sealing performance throughout the battery pack's lifespan, potentially allowing for a reduced fastener count due to enhanced adhesion and sealing properties.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46888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18872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Transition the MG Motor Windsor battery pack from a traditional 'module-in-pack' architecture to a 'cell-to-pack' (CTP) or 'module-less' design, directly integrating prismatic cells into the main battery enclosure, eliminating module-level casings, end plates, and redundant interconnects.</a:t>
                      </a:r>
                    </a:p>
                  </a:txBody>
                  <a:tcPr/>
                </a:tc>
                <a:tc>
                  <a:txBody>
                    <a:bodyPr wrap="square"/>
                    <a:lstStyle/>
                    <a:p>
                      <a:pPr>
                        <a:defRPr sz="1000">
                          <a:latin typeface="Calibri"/>
                        </a:defRPr>
                      </a:pPr>
                      <a:r>
                        <a:t>Conventional battery packs utilize a hierarchical structure where individual cells are first assembled into modules, which are then integrated into the main pack. This multi-level construction adds significant cost, weight, and complexity due to redundant housings, cooling interfaces, and interconnects at the module level. Moving to a CTP architecture means the main pack housing directly encapsulates the cells, functioning as their primary structural support, thermal management interface, and protection. The engineering challenges for CTP are substantial: designing an enhanced structural integrity for the main pack to manage individual cell swelling and thermal expansion, implementing direct thermal management for individual cells (often with integrated cold plates), and developing improved safety strategies for thermal runaway propagation at the cell-to-pack level without the inherent firewalls of modules. Validation will necessitate comprehensive abuse testing (nail penetration, crush, overcharge, external fire exposure) at the full cell-to-pack level, advanced thermal simulations to predict and prevent runaway, and rigorous structural integrity assessments under various vibration and crash loads. This architecture also requires a redesigned Battery Management System (BMS) capable of more direct and robust monitoring of individual cells within this denser configuration.</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Conventional battery packs utilize a hierarchical structure where individual cells are first assembled into modules, which are then integrated into the main pack. This multi-level construction adds significant cost, weight, and complexity due to redundant housings, cooling interfaces, and interconnects at the module level. Moving to a CTP architecture means the main pack housing directly encapsulates the cells, functioning as their primary structural support, thermal management interface, and protection. The engineering challenges for CTP are substantial: designing an enhanced structural integrity for the main pack to manage individual cell swelling and thermal expansion, implementing direct thermal management for individual cells (often with integrated cold plates), and developing improved safety strategies for thermal runaway propagation at the cell-to-pack level without the inherent firewalls of modules. Validation will necessitate comprehensive abuse testing (nail penetration, crush, overcharge, external fire exposure) at the full cell-to-pack level, advanced thermal simulations to predict and prevent runaway, and rigorous structural integrity assessments under various vibration and crash loads. This architecture also requires a redesigned Battery Management System (BMS) capable of more direct and robust monitoring of individual cells within this denser configuration.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WEB-GEN-01</a:t>
                      </a:r>
                    </a:p>
                  </a:txBody>
                  <a:tcPr/>
                </a:tc>
                <a:tc>
                  <a:txBody>
                    <a:bodyPr wrap="square"/>
                    <a:lstStyle/>
                    <a:p>
                      <a:pPr>
                        <a:defRPr sz="1000">
                          <a:latin typeface="Calibri"/>
                        </a:defRPr>
                      </a:pPr>
                      <a:r>
                        <a:t>Optimize Real-time Diagnostics for Proactive Infringement/Failure Prevention</a:t>
                      </a:r>
                    </a:p>
                  </a:txBody>
                  <a:tcPr/>
                </a:tc>
                <a:tc>
                  <a:txBody>
                    <a:bodyPr wrap="square"/>
                    <a:lstStyle/>
                    <a:p>
                      <a:pPr>
                        <a:defRPr sz="1000">
                          <a:latin typeface="Calibri"/>
                        </a:defRPr>
                      </a:pPr>
                      <a:r>
                        <a:t>Implement advanced sensor integration and machine learning algorithms for predictive maintenance and compliance monitoring on critical vehicle components. This involves upgrading sensor arrays (e.g., strain gauges, accelerometers, temperature sensors) to provide higher fidelity data and developing AI models to analyze this data for early warning signs of technical non-compliance (as mentioned in Snippet 1 regarding 'minor technical infringements') or impending component failure (as suggested by 'disastrous final stint' in Snippet 3). This proactive approach aims to reduce penalties, costly repairs, and potential loss of performance due to unexpected failures. Source: [https://www.f1technical.net/forum/viewtopic.php?t=32054&amp;start=7860, https://www.f1technical.net/forum/viewtopic.php?t=32051&amp;start=7020]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Implement advanced sensor integration and machine learning algorithms for predictive maintenance and compliance monitoring on critical vehicle components. This involves upgrading sensor arrays (e.g., strain gauges, accelerometers, temperature sensors) to provide higher fidelity data and developing AI models to analyze this data for early warning signs of technical non-compliance (as mentioned in Snippet 1 regarding 'minor technical infringements') or impending component failure (as suggested by 'disastrous final stint' in Snippet 3). This proactive approach aims to reduce penalties, costly repairs, and potential loss of performance due to unexpected failures. Source: [https://www.f1technical.net/forum/viewtopic.php?t=32054&amp;start=7860, https://www.f1technical.net/forum/viewtopic.php?t=32051&amp;start=7020]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WEB-GEN-02</a:t>
                      </a:r>
                    </a:p>
                  </a:txBody>
                  <a:tcPr/>
                </a:tc>
                <a:tc>
                  <a:txBody>
                    <a:bodyPr wrap="square"/>
                    <a:lstStyle/>
                    <a:p>
                      <a:pPr>
                        <a:defRPr sz="1000">
                          <a:latin typeface="Calibri"/>
                        </a:defRPr>
                      </a:pPr>
                      <a:r>
                        <a:t>Accelerate R&amp;D Cycle through Enhanced Data-Driven Design Iteration</a:t>
                      </a:r>
                    </a:p>
                  </a:txBody>
                  <a:tcPr/>
                </a:tc>
                <a:tc>
                  <a:txBody>
                    <a:bodyPr wrap="square"/>
                    <a:lstStyle/>
                    <a:p>
                      <a:pPr>
                        <a:defRPr sz="1000">
                          <a:latin typeface="Calibri"/>
                        </a:defRPr>
                      </a:pPr>
                      <a:r>
                        <a:t>Develop an integrated data visualization and simulation platform that consolidates performance metrics from Computational Fluid Dynamics (CFD), Finite Element Analysis (FEA), and track testing. This platform would 'tell' design engineers the direct impact of design changes on key performance indicators (e.g., aerodynamic efficiency, structural integrity, thermal management) with high fidelity and low latency. This enables faster iteration cycles, reduces the need for expensive physical prototyping, and optimizes the 'development' process to achieve performance gains ('2 tenths per month' mentioned in Snippet 2) more efficiently. Source: [https://www.f1technical.net/forum/viewtopic.php?t=32051&amp;start=7200, https://www.f1technical.net/forum/viewtopic.php?t=32104&amp;start=90]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Develop an integrated data visualization and simulation platform that consolidates performance metrics from Computational Fluid Dynamics (CFD), Finite Element Analysis (FEA), and track testing. This platform would 'tell' design engineers the direct impact of design changes on key performance indicators (e.g., aerodynamic efficiency, structural integrity, thermal management) with high fidelity and low latency. This enables faster iteration cycles, reduces the need for expensive physical prototyping, and optimizes the 'development' process to achieve performance gains ('2 tenths per month' mentioned in Snippet 2) more efficiently. Source: [https://www.f1technical.net/forum/viewtopic.php?t=32051&amp;start=7200, https://www.f1technical.net/forum/viewtopic.php?t=32104&amp;start=90]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WEB-GEN-03</a:t>
                      </a:r>
                    </a:p>
                  </a:txBody>
                  <a:tcPr/>
                </a:tc>
                <a:tc>
                  <a:txBody>
                    <a:bodyPr wrap="square"/>
                    <a:lstStyle/>
                    <a:p>
                      <a:pPr>
                        <a:defRPr sz="1000">
                          <a:latin typeface="Calibri"/>
                        </a:defRPr>
                      </a:pPr>
                      <a:r>
                        <a:t>Improve Cross-Functional Engineering Collaboration via Unified Data Platforms</a:t>
                      </a:r>
                    </a:p>
                  </a:txBody>
                  <a:tcPr/>
                </a:tc>
                <a:tc>
                  <a:txBody>
                    <a:bodyPr wrap="square"/>
                    <a:lstStyle/>
                    <a:p>
                      <a:pPr>
                        <a:defRPr sz="1000">
                          <a:latin typeface="Calibri"/>
                        </a:defRPr>
                      </a:pPr>
                      <a:r>
                        <a:t>Implement a centralized Product Lifecycle Management (PLM) system integrated with robust data sharing protocols and customizable dashboards, specifically designed to bridge communication gaps between 'design and technical teams' (Snippet 4). This system would 'tell' each department how their design choices impact others (e.g., aerodynamicists about chassis constraints, powertrain engineers about cooling requirements) in real-time, facilitating concurrent engineering, reducing design clashes, and minimizing costly late-stage modifications due to siloed or disparate information. Source: [https://www.f1technical.net/forum/viewtopic.php?t=32104&amp;start=90]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Implement a centralized Product Lifecycle Management (PLM) system integrated with robust data sharing protocols and customizable dashboards, specifically designed to bridge communication gaps between 'design and technical teams' (Snippet 4). This system would 'tell' each department how their design choices impact others (e.g., aerodynamicists about chassis constraints, powertrain engineers about cooling requirements) in real-time, facilitating concurrent engineering, reducing design clashes, and minimizing costly late-stage modifications due to siloed or disparate information. Source: [https://www.f1technical.net/forum/viewtopic.php?t=32104&amp;start=90]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14</a:t>
            </a:r>
          </a:p>
          <a:p>
            <a:pPr>
              <a:defRPr sz="1000">
                <a:latin typeface="Calibri"/>
              </a:defRPr>
            </a:pPr>
            <a:r>
              <a:t>• Total Potential Savings: INR 464.00</a:t>
            </a:r>
          </a:p>
          <a:p>
            <a:pPr>
              <a:defRPr sz="1000">
                <a:latin typeface="Calibri"/>
              </a:defRPr>
            </a:pPr>
            <a:r>
              <a:t>• Implemented Ideas: 0</a:t>
            </a:r>
          </a:p>
          <a:p>
            <a:pPr>
              <a:defRPr sz="1000">
                <a:latin typeface="Calibri"/>
              </a:defRPr>
            </a:pPr>
            <a:r>
              <a:t>• Status OK: 1</a:t>
            </a:r>
          </a:p>
          <a:p>
            <a:pPr>
              <a:defRPr sz="1000">
                <a:latin typeface="Calibri"/>
              </a:defRPr>
            </a:pPr>
            <a:r>
              <a:t>• Status TBD: 2</a:t>
            </a:r>
          </a:p>
          <a:p>
            <a:pPr>
              <a:defRPr sz="1000">
                <a:latin typeface="Calibri"/>
              </a:defRPr>
            </a:pPr>
            <a:r>
              <a:t>• Status NG: 2</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14 ideas analyzed.</a:t>
            </a:r>
          </a:p>
          <a:p>
            <a:pPr>
              <a:defRPr sz="1800">
                <a:latin typeface="Calibri"/>
              </a:defRPr>
            </a:pPr>
            <a:r>
              <a:t>Total Savings: INR 464.00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
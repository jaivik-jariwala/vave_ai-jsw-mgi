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600">
                <a:latin typeface="Calibri"/>
              </a:defRPr>
            </a:pPr>
            <a:r>
              <a:t>Cost Savings by Idea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Savings (INR)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2311-EX-ID-04</c:v>
                </c:pt>
                <c:pt idx="1">
                  <c:v>2311-EX-ID-06</c:v>
                </c:pt>
                <c:pt idx="2">
                  <c:v>2311-EX-ID-02</c:v>
                </c:pt>
                <c:pt idx="3">
                  <c:v>2311-FS-ID-03</c:v>
                </c:pt>
                <c:pt idx="4">
                  <c:v>2311-FS-ID-04</c:v>
                </c:pt>
                <c:pt idx="5">
                  <c:v>2311-EX-ID-01</c:v>
                </c:pt>
                <c:pt idx="6">
                  <c:v>2311-BIW-ID-05</c:v>
                </c:pt>
                <c:pt idx="7">
                  <c:v>2311-BIW-ID-07</c:v>
                </c:pt>
                <c:pt idx="8">
                  <c:v>2311-ET-ID-16</c:v>
                </c:pt>
                <c:pt idx="9">
                  <c:v>2311-BIW-ID-03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84.0</c:v>
                </c:pt>
                <c:pt idx="1">
                  <c:v>60.0</c:v>
                </c:pt>
                <c:pt idx="2">
                  <c:v>62.0</c:v>
                </c:pt>
                <c:pt idx="3">
                  <c:v>75.0</c:v>
                </c:pt>
                <c:pt idx="4">
                  <c:v>93.0</c:v>
                </c:pt>
                <c:pt idx="5">
                  <c:v>136.0</c:v>
                </c:pt>
                <c:pt idx="6">
                  <c:v>82.0</c:v>
                </c:pt>
                <c:pt idx="7">
                  <c:v>71.0</c:v>
                </c:pt>
                <c:pt idx="8">
                  <c:v>92.0</c:v>
                </c:pt>
                <c:pt idx="9">
                  <c:v>122.0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600">
                <a:latin typeface="Calibri"/>
              </a:defRPr>
            </a:pPr>
            <a:r>
              <a:t>Ideas Status Distribution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dPt>
            <c:idx val="0"/>
            <c:spPr>
              <a:solidFill>
                <a:srgbClr val="0000FF"/>
              </a:solidFill>
            </c:spPr>
          </c:dPt>
          <c:dPt>
            <c:idx val="1"/>
            <c:spPr>
              <a:solidFill>
                <a:srgbClr val="FF0000"/>
              </a:solidFill>
            </c:spPr>
          </c:dPt>
          <c:dPt>
            <c:idx val="2"/>
            <c:spPr>
              <a:solidFill>
                <a:srgbClr val="008000"/>
              </a:solidFill>
            </c:spPr>
          </c:dPt>
          <c:dPt>
            <c:idx val="3"/>
            <c:spPr>
              <a:solidFill>
                <a:srgbClr val="800080"/>
              </a:solidFill>
            </c:spPr>
          </c:dPt>
          <c:cat>
            <c:strRef>
              <c:f>Sheet1!$A$2:$A$5</c:f>
              <c:strCache>
                <c:ptCount val="4"/>
                <c:pt idx="0">
                  <c:v>Implemented</c:v>
                </c:pt>
                <c:pt idx="1">
                  <c:v>Status OK</c:v>
                </c:pt>
                <c:pt idx="2">
                  <c:v>Status TBD</c:v>
                </c:pt>
                <c:pt idx="3">
                  <c:v>Status 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3</c:v>
                </c:pt>
                <c:pt idx="3">
                  <c:v>7</c:v>
                </c:pt>
              </c:numCache>
            </c:numRef>
          </c:val>
        </c:ser>
      </c:pieChart>
    </c:plotArea>
    <c:legend>
      <c:legendPos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828800" cy="1828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68880" y="91440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600" b="1">
                <a:solidFill>
                  <a:srgbClr val="DC3545"/>
                </a:solidFill>
                <a:latin typeface="Calibri"/>
              </a:defRPr>
            </a:pPr>
            <a:r>
              <a:t>JSW MG MOTOR INDIA</a:t>
            </a:r>
          </a:p>
          <a:p>
            <a:pPr>
              <a:defRPr sz="2800" b="1">
                <a:solidFill>
                  <a:srgbClr val="000000"/>
                </a:solidFill>
                <a:latin typeface="Calibri"/>
              </a:defRPr>
            </a:pPr>
            <a:r>
              <a:t>Cost Reduction Idea Analysis Presentation</a:t>
            </a:r>
          </a:p>
          <a:p>
            <a:pPr>
              <a:defRPr sz="1600">
                <a:latin typeface="Calibri"/>
              </a:defRPr>
            </a:pPr>
            <a:r>
              <a:t>Presentation generated by VAVE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Calibri"/>
              </a:defRPr>
            </a:pPr>
            <a:r>
              <a:t>Ideas Summary (Part 1)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877824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548640"/>
                <a:gridCol w="914400"/>
                <a:gridCol w="731520"/>
                <a:gridCol w="1645920"/>
                <a:gridCol w="914400"/>
                <a:gridCol w="1005840"/>
              </a:tblGrid>
              <a:tr h="990600"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Idea 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Imp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Saving Value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Way Forward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2311-EX-ID-04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Reduce the Wall Thickness of the Tailpipe from 1.2mm to 1mm.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cost savings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84.0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cost savings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Kalp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2024-04-15 00:00:00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2311-EX-ID-06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Reduce the average wall thickness of the Exhaust Pipes (Pre-Silencer Outlet Pipe, Flexi Exhaust Outlet Connecting Pipe and Main Silencer Inlet Pipe) in MGI from 1.8mm and 1.4mm to 1.2mm as seen in KIA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60.0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2311-EX-ID-02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the steel rods used in the fabrication of the exhaust hanger mounting brackets in MGI with hollow steel pipes as used in KIA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62.0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2311-FS-ID-03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Reduce the average wall thickness of the Baffle Plates present within the fuel tank assembly of MGI from 0.7mm to 0.6mm as seen in the fuel tank assembly of KIA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75.0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2311-FS-ID-04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Reduce the String Length of both the Fuel Inlet Steel Pipe and the Fuel Tank Vent Pipe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1. Reduce the string length of the Fuel Inlet Steel Pipe from 160mm to 120mm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2. Reduce the string length of the Fuel Tank Vent Pipe from 295mm to 110mm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93.0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Calibri"/>
              </a:defRPr>
            </a:pPr>
            <a:r>
              <a:t>Ideas Summary (Part 2)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877824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548640"/>
                <a:gridCol w="914400"/>
                <a:gridCol w="731520"/>
                <a:gridCol w="1645920"/>
                <a:gridCol w="914400"/>
                <a:gridCol w="1005840"/>
              </a:tblGrid>
              <a:tr h="990600"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Idea 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Imp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Saving Value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Way Forward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2311-EX-ID-01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1. Remove the rubber hanger from the extension pipe near the resonator, along with its associated mounting points, and rearrange the other hangers as shown in the figure.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2. Relocate the hangers mounted on the resonator to the top and bottom of the resonator (onto the exhaust pipe and the extension pipe)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136.0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2311-BIW-ID-05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Reduce the Paint Coating Thickness of the highlighted Front Hood BiW Panel from 160 - 170μm to 100 - 110μm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82.0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2311-BIW-ID-07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Reduce the Paint Coating Thickness of the highlighted Roof Side BiW Panels from 120 - 130μm to 100 - 110μm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71.0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2311-ET-ID-16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Reduce the wall thickness of the Front Wheel Arch Liners present on both LH and RH sides from 1.6mm to 1.4mm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92.0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2311-BIW-ID-03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Reduce the Paint Coating Thicknesses of the highlighted Front Fender and Rear Quarter Panel BiW Panels from 120 - 130μm to 85 - 95μm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122.0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Chart Analysis Discussion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Pie chart for ideas status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41148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0" y="137160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latin typeface="Calibri"/>
              </a:defRPr>
            </a:pPr>
          </a:p>
          <a:p>
            <a:pPr>
              <a:defRPr sz="1000">
                <a:latin typeface="Calibri"/>
              </a:defRPr>
            </a:pPr>
            <a:r>
              <a:t>• Total Ideas: 10</a:t>
            </a:r>
          </a:p>
          <a:p>
            <a:pPr>
              <a:defRPr sz="1000">
                <a:latin typeface="Calibri"/>
              </a:defRPr>
            </a:pPr>
            <a:r>
              <a:t>• Total Potential Savings: INR 877.00</a:t>
            </a:r>
          </a:p>
          <a:p>
            <a:pPr>
              <a:defRPr sz="1000">
                <a:latin typeface="Calibri"/>
              </a:defRPr>
            </a:pPr>
            <a:r>
              <a:t>• Implemented Ideas: 0</a:t>
            </a:r>
          </a:p>
          <a:p>
            <a:pPr>
              <a:defRPr sz="1000">
                <a:latin typeface="Calibri"/>
              </a:defRPr>
            </a:pPr>
            <a:r>
              <a:t>• Status OK: 0</a:t>
            </a:r>
          </a:p>
          <a:p>
            <a:pPr>
              <a:defRPr sz="1000">
                <a:latin typeface="Calibri"/>
              </a:defRPr>
            </a:pPr>
            <a:r>
              <a:t>• Status TBD: 3</a:t>
            </a:r>
          </a:p>
          <a:p>
            <a:pPr>
              <a:defRPr sz="1000">
                <a:latin typeface="Calibri"/>
              </a:defRPr>
            </a:pPr>
            <a:r>
              <a:t>• Status NG: 7</a:t>
            </a:r>
          </a:p>
          <a:p>
            <a:pPr>
              <a:defRPr sz="1000">
                <a:latin typeface="Calibri"/>
              </a:defRPr>
            </a:pPr>
            <a:r>
              <a:t>• The provided cost reduction ideas focus on process deletions and material replacements to reduce manufacturing costs.</a:t>
            </a:r>
          </a:p>
          <a:p>
            <a:pPr>
              <a:defRPr sz="1000">
                <a:latin typeface="Calibri"/>
              </a:defRPr>
            </a:pPr>
            <a:r>
              <a:t>• Key proposals include removing paint coatings from brackets and mounts, replacing PC-ABS with ABS, and switching to galvanized steel for window regulators.</a:t>
            </a:r>
          </a:p>
          <a:p>
            <a:pPr>
              <a:defRPr sz="1000">
                <a:latin typeface="Calibri"/>
              </a:defRPr>
            </a:pPr>
            <a:r>
              <a:t>• These changes aim to maintain functionality while reducing costs and, in some cases, weight.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Summary 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</a:p>
          <a:p>
            <a:pPr>
              <a:defRPr sz="1800">
                <a:latin typeface="Calibri"/>
              </a:defRPr>
            </a:pPr>
            <a:r>
              <a:t>Total Ideas: 10 ideas analyzed.</a:t>
            </a:r>
          </a:p>
          <a:p>
            <a:pPr>
              <a:defRPr sz="1800">
                <a:latin typeface="Calibri"/>
              </a:defRPr>
            </a:pPr>
            <a:r>
              <a:t>Total Savings: INR 877.00 in potential cost reductions.</a:t>
            </a:r>
          </a:p>
          <a:p>
            <a:pPr>
              <a:defRPr sz="1800">
                <a:latin typeface="Calibri"/>
              </a:defRPr>
            </a:pPr>
            <a:r>
              <a:t>Key Proposals: Remove paint coatings from mounts and brackets, replace PC-ABS with ABS, and use galvanized steel for window regulators.</a:t>
            </a:r>
          </a:p>
          <a:p>
            <a:pPr>
              <a:defRPr sz="1800">
                <a:latin typeface="Calibri"/>
              </a:defRPr>
            </a:pPr>
            <a:r>
              <a:t>Status: All ideas currently TBD, pending further evaluation.</a:t>
            </a:r>
          </a:p>
          <a:p>
            <a:pPr>
              <a:defRPr sz="1800">
                <a:latin typeface="Calibri"/>
              </a:defRPr>
            </a:pPr>
            <a:r>
              <a:t>Focus: Cost reduction through process deletion and material substitution while maintaining functionality.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
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600">
                <a:latin typeface="Calibri"/>
              </a:defRPr>
            </a:pPr>
            <a:r>
              <a:t>Cost Savings by Idea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Savings (INR)</c:v>
                </c:pt>
              </c:strCache>
            </c:strRef>
          </c:tx>
          <c:cat>
            <c:strRef>
              <c:f>Sheet1!$A$2:$A$2</c:f>
              <c:strCache>
                <c:ptCount val="1"/>
                <c:pt idx="0">
                  <c:v>2311-PRODUCT-ID-17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103.0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pPr>
              <a:defRPr sz="1600">
                <a:latin typeface="Calibri"/>
              </a:defRPr>
            </a:pPr>
            <a:r>
              <a:t>Ideas Status Distribution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Status</c:v>
                </c:pt>
              </c:strCache>
            </c:strRef>
          </c:tx>
          <c:dPt>
            <c:idx val="0"/>
            <c:spPr>
              <a:solidFill>
                <a:srgbClr val="0000FF"/>
              </a:solidFill>
            </c:spPr>
          </c:dPt>
          <c:dPt>
            <c:idx val="1"/>
            <c:spPr>
              <a:solidFill>
                <a:srgbClr val="FF0000"/>
              </a:solidFill>
            </c:spPr>
          </c:dPt>
          <c:dPt>
            <c:idx val="2"/>
            <c:spPr>
              <a:solidFill>
                <a:srgbClr val="008000"/>
              </a:solidFill>
            </c:spPr>
          </c:dPt>
          <c:dPt>
            <c:idx val="3"/>
            <c:spPr>
              <a:solidFill>
                <a:srgbClr val="800080"/>
              </a:solidFill>
            </c:spPr>
          </c:dPt>
          <c:cat>
            <c:strRef>
              <c:f>Sheet1!$A$2:$A$5</c:f>
              <c:strCache>
                <c:ptCount val="4"/>
                <c:pt idx="0">
                  <c:v>Implemented</c:v>
                </c:pt>
                <c:pt idx="1">
                  <c:v>Status OK</c:v>
                </c:pt>
                <c:pt idx="2">
                  <c:v>Status TBD</c:v>
                </c:pt>
                <c:pt idx="3">
                  <c:v>Status NG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</c:ser>
      </c:pieChart>
    </c:plotArea>
    <c:legend>
      <c:legendPos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1828800" cy="1828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468880" y="914400"/>
            <a:ext cx="6400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3600" b="1">
                <a:solidFill>
                  <a:srgbClr val="DC3545"/>
                </a:solidFill>
                <a:latin typeface="Calibri"/>
              </a:defRPr>
            </a:pPr>
            <a:r>
              <a:t>JSW MG MOTOR INDIA</a:t>
            </a:r>
          </a:p>
          <a:p>
            <a:pPr>
              <a:defRPr sz="2800" b="1">
                <a:solidFill>
                  <a:srgbClr val="000000"/>
                </a:solidFill>
                <a:latin typeface="Calibri"/>
              </a:defRPr>
            </a:pPr>
            <a:r>
              <a:t>Cost Reduction Idea Analysis Presentation</a:t>
            </a:r>
          </a:p>
          <a:p>
            <a:pPr>
              <a:defRPr sz="1600">
                <a:latin typeface="Calibri"/>
              </a:defRPr>
            </a:pPr>
            <a:r>
              <a:t>Presentation generated by VAVE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latin typeface="Calibri"/>
              </a:defRPr>
            </a:pPr>
            <a:r>
              <a:t>Ideas Summary (Part 1)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2880" y="640080"/>
          <a:ext cx="877824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2286000"/>
                <a:gridCol w="548640"/>
                <a:gridCol w="914400"/>
                <a:gridCol w="731520"/>
                <a:gridCol w="1645920"/>
                <a:gridCol w="914400"/>
                <a:gridCol w="1005840"/>
              </a:tblGrid>
              <a:tr h="2971800"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Idea ID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Proposal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Imp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Saving Value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Way Forward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Responsibility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Date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2311-PRODUCT-ID-17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1. Relocate the Battery Negative Terminal Earthing Wire mount from the side to the top of the front suspension subframe of the vehicle</a:t>
                      </a:r>
                    </a:p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2. Reduce the length of the connector terminal and instead of using two bolts, use a single bolt</a:t>
                      </a:r>
                    </a:p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3. Reduce the overall size and wall thickness of the Battery Negative Terminal Cast Clamp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Homeroom ideas to be bunched up and taken up for implementation at program level. Confirm localization feasibility</a:t>
                      </a:r>
                    </a:p>
                    <a:p>
                      <a:pPr>
                        <a:defRPr sz="1000">
                          <a:latin typeface="Calibri"/>
                        </a:defRPr>
                      </a:pP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103.0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Hold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Homeroom ideas to be bunched up and taken up for implementation at program level. Confirm localization feasibility</a:t>
                      </a:r>
                    </a:p>
                    <a:p>
                      <a:pPr>
                        <a:defRPr sz="1000">
                          <a:latin typeface="Calibri"/>
                        </a:defRPr>
                      </a:pP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Ojaswini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2023-12-20 00:00:00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latin typeface="Calibri"/>
              </a:defRPr>
            </a:pPr>
            <a:r>
              <a:t>Chart Analysis Discussion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371600"/>
          <a:ext cx="82296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latin typeface="Calibri"/>
              </a:defRPr>
            </a:pPr>
            <a:r>
              <a:t>Pie chart for ideas status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371600"/>
          <a:ext cx="41148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029200" y="1371600"/>
            <a:ext cx="3657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latin typeface="Calibri"/>
              </a:defRPr>
            </a:pPr>
          </a:p>
          <a:p>
            <a:pPr>
              <a:defRPr sz="1000">
                <a:latin typeface="Calibri"/>
              </a:defRPr>
            </a:pPr>
            <a:r>
              <a:t>• Total Ideas: 1</a:t>
            </a:r>
          </a:p>
          <a:p>
            <a:pPr>
              <a:defRPr sz="1000">
                <a:latin typeface="Calibri"/>
              </a:defRPr>
            </a:pPr>
            <a:r>
              <a:t>• Total Potential Savings: INR 103.00</a:t>
            </a:r>
          </a:p>
          <a:p>
            <a:pPr>
              <a:defRPr sz="1000">
                <a:latin typeface="Calibri"/>
              </a:defRPr>
            </a:pPr>
            <a:r>
              <a:t>• Implemented Ideas: 0</a:t>
            </a:r>
          </a:p>
          <a:p>
            <a:pPr>
              <a:defRPr sz="1000">
                <a:latin typeface="Calibri"/>
              </a:defRPr>
            </a:pPr>
            <a:r>
              <a:t>• Status OK: 0</a:t>
            </a:r>
          </a:p>
          <a:p>
            <a:pPr>
              <a:defRPr sz="1000">
                <a:latin typeface="Calibri"/>
              </a:defRPr>
            </a:pPr>
            <a:r>
              <a:t>• Status TBD: 0</a:t>
            </a:r>
          </a:p>
          <a:p>
            <a:pPr>
              <a:defRPr sz="1000">
                <a:latin typeface="Calibri"/>
              </a:defRPr>
            </a:pPr>
            <a:r>
              <a:t>• Status NG: 0</a:t>
            </a:r>
          </a:p>
          <a:p>
            <a:pPr>
              <a:defRPr sz="1000">
                <a:latin typeface="Calibri"/>
              </a:defRPr>
            </a:pPr>
            <a:r>
              <a:t>• The provided cost reduction ideas focus on process deletions and material replacements to reduce manufacturing costs.</a:t>
            </a:r>
          </a:p>
          <a:p>
            <a:pPr>
              <a:defRPr sz="1000">
                <a:latin typeface="Calibri"/>
              </a:defRPr>
            </a:pPr>
            <a:r>
              <a:t>• Key proposals include removing paint coatings from brackets and mounts, replacing PC-ABS with ABS, and switching to galvanized steel for window regulators.</a:t>
            </a:r>
          </a:p>
          <a:p>
            <a:pPr>
              <a:defRPr sz="1000">
                <a:latin typeface="Calibri"/>
              </a:defRPr>
            </a:pPr>
            <a:r>
              <a:t>• These changes aim to maintain functionality while reducing costs and, in some cases, weight.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latin typeface="Calibri"/>
              </a:defRPr>
            </a:pPr>
            <a:r>
              <a:t>Summary section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>
                <a:latin typeface="Calibri"/>
              </a:defRPr>
            </a:pPr>
          </a:p>
          <a:p>
            <a:pPr>
              <a:defRPr sz="1800">
                <a:latin typeface="Calibri"/>
              </a:defRPr>
            </a:pPr>
            <a:r>
              <a:t>Total Ideas: 1 ideas analyzed.</a:t>
            </a:r>
          </a:p>
          <a:p>
            <a:pPr>
              <a:defRPr sz="1800">
                <a:latin typeface="Calibri"/>
              </a:defRPr>
            </a:pPr>
            <a:r>
              <a:t>Total Savings: INR 103.00 in potential cost reductions.</a:t>
            </a:r>
          </a:p>
          <a:p>
            <a:pPr>
              <a:defRPr sz="1800">
                <a:latin typeface="Calibri"/>
              </a:defRPr>
            </a:pPr>
            <a:r>
              <a:t>Key Proposals: Remove paint coatings from mounts and brackets, replace PC-ABS with ABS, and use galvanized steel for window regulators.</a:t>
            </a:r>
          </a:p>
          <a:p>
            <a:pPr>
              <a:defRPr sz="1800">
                <a:latin typeface="Calibri"/>
              </a:defRPr>
            </a:pPr>
            <a:r>
              <a:t>Status: All ideas currently TBD, pending further evaluation.</a:t>
            </a:r>
          </a:p>
          <a:p>
            <a:pPr>
              <a:defRPr sz="1800">
                <a:latin typeface="Calibri"/>
              </a:defRPr>
            </a:pPr>
            <a:r>
              <a:t>Focus: Cost reduction through process deletion and material substitution while maintaining functionality.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
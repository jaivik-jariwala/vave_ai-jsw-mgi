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Sheet1!$A$2:$A$12</c:f>
              <c:strCache>
                <c:ptCount val="11"/>
                <c:pt idx="0">
                  <c:v>2311-PRODUCT-ID-01</c:v>
                </c:pt>
                <c:pt idx="1">
                  <c:v>2311-EL-ID-05</c:v>
                </c:pt>
                <c:pt idx="2">
                  <c:v>2311-EL-ID-13</c:v>
                </c:pt>
                <c:pt idx="3">
                  <c:v>2311-EL-ID-04</c:v>
                </c:pt>
                <c:pt idx="4">
                  <c:v>2311-EL-ID-14</c:v>
                </c:pt>
                <c:pt idx="5">
                  <c:v>AI-GEN-01</c:v>
                </c:pt>
                <c:pt idx="6">
                  <c:v>AI-GEN-02</c:v>
                </c:pt>
                <c:pt idx="7">
                  <c:v>AI-GEN-03</c:v>
                </c:pt>
                <c:pt idx="8">
                  <c:v>AI-GEN-04</c:v>
                </c:pt>
                <c:pt idx="9">
                  <c:v>AI-GEN-05</c:v>
                </c:pt>
                <c:pt idx="10">
                  <c:v>AI-GEN-06</c:v>
                </c:pt>
              </c:strCache>
            </c:strRef>
          </c:cat>
          <c:val>
            <c:numRef>
              <c:f>Sheet1!$B$2:$B$12</c:f>
              <c:numCache>
                <c:formatCode>General</c:formatCode>
                <c:ptCount val="11"/>
                <c:pt idx="0">
                  <c:v>68.0</c:v>
                </c:pt>
                <c:pt idx="1">
                  <c:v>91.0</c:v>
                </c:pt>
                <c:pt idx="2">
                  <c:v>121.0</c:v>
                </c:pt>
                <c:pt idx="3">
                  <c:v>120.0</c:v>
                </c:pt>
                <c:pt idx="4">
                  <c:v>68.0</c:v>
                </c:pt>
                <c:pt idx="5">
                  <c:v>0</c:v>
                </c:pt>
                <c:pt idx="6">
                  <c:v>0</c:v>
                </c:pt>
                <c:pt idx="7">
                  <c:v>0</c:v>
                </c:pt>
                <c:pt idx="8">
                  <c:v>0</c:v>
                </c:pt>
                <c:pt idx="9">
                  <c:v>0</c:v>
                </c:pt>
                <c:pt idx="10">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5</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Ojaswini</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2311-EL-ID-05</a:t>
                      </a:r>
                    </a:p>
                  </a:txBody>
                  <a:tcPr/>
                </a:tc>
                <a:tc>
                  <a:txBody>
                    <a:bodyPr wrap="square"/>
                    <a:lstStyle/>
                    <a:p>
                      <a:pPr>
                        <a:defRPr sz="1000">
                          <a:latin typeface="Calibri"/>
                        </a:defRPr>
                      </a:pPr>
                      <a:r>
                        <a:t>Replace PC used in the manufacture of the LH &amp; RH Front Fog Lamp Bezels of MGI with PBT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91.0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2311-EL-ID-13</a:t>
                      </a:r>
                    </a:p>
                  </a:txBody>
                  <a:tcPr/>
                </a:tc>
                <a:tc>
                  <a:txBody>
                    <a:bodyPr wrap="square"/>
                    <a:lstStyle/>
                    <a:p>
                      <a:pPr>
                        <a:defRPr sz="1000">
                          <a:latin typeface="Calibri"/>
                        </a:defRPr>
                      </a:pPr>
                      <a:r>
                        <a:t>Replace PC-ABS with ABS in the manufacture of the Rear Fog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2311-EL-ID-04</a:t>
                      </a:r>
                    </a:p>
                  </a:txBody>
                  <a:tcPr/>
                </a:tc>
                <a:tc>
                  <a:txBody>
                    <a:bodyPr wrap="square"/>
                    <a:lstStyle/>
                    <a:p>
                      <a:pPr>
                        <a:defRPr sz="1000">
                          <a:latin typeface="Calibri"/>
                        </a:defRPr>
                      </a:pPr>
                      <a:r>
                        <a:t>Replace PP-T30 used in the manufacture of the LH &amp; RH Front Fog Lamp Housing of MGI with PP-TD20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120.0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2311-EL-ID-14</a:t>
                      </a:r>
                    </a:p>
                  </a:txBody>
                  <a:tcPr/>
                </a:tc>
                <a:tc>
                  <a:txBody>
                    <a:bodyPr wrap="square"/>
                    <a:lstStyle/>
                    <a:p>
                      <a:pPr>
                        <a:defRPr sz="1000">
                          <a:latin typeface="Calibri"/>
                        </a:defRPr>
                      </a:pPr>
                      <a:r>
                        <a:t>Replace PC used in the manufacture of the LH &amp; RH Rear Tail Lamps, Rear Center Light Bar and Rear Fog Lamp Bezels of MGI with PBT as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68.0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Eliminate the traditional incandescent rear fog lamp bulb and its associated socket and wiring harness connector, opting for an integrated LED array directly within the rear bumper fascia.</a:t>
                      </a:r>
                    </a:p>
                  </a:txBody>
                  <a:tcPr/>
                </a:tc>
                <a:tc>
                  <a:txBody>
                    <a:bodyPr wrap="square"/>
                    <a:lstStyle/>
                    <a:p>
                      <a:pPr>
                        <a:defRPr sz="1000">
                          <a:latin typeface="Calibri"/>
                        </a:defRPr>
                      </a:pPr>
                      <a:r>
                        <a:t>The primary physics principle at play here is the consolidation of components and the leveraging of modern LED technology's inherent reliability and compact form factor. Incandescent bulbs require a filament, a glass envelope, and a metallic base for electrical connection, along with a separate socket and a wiring harness interface. By integrating LEDs, we eliminate these discrete parts. The LEDs can be directly soldered onto a small printed circuit board (PCB) that is then encapsulated within a suitable weather-resistant material and bonded to the bumper fascia. Thermal management will be critical; the LEDs will require adequate heatsinking, potentially achieved through the fascia material itself or small integrated heat sinks. Validation will involve extensive environmental testing (temperature cycling, humidity, vibration) to ensure long-term LED performance and prevent moisture ingress. Electromagnetic compatibility (EMC) testing will be performed to ensure no interference with other vehicle systems. Lumen output and beam pattern will be verified against regulatory requirements. Accelerated life testing of the integrated LED module will be conducted.</a:t>
                      </a:r>
                    </a:p>
                  </a:txBody>
                  <a:tcPr/>
                </a:tc>
                <a:tc>
                  <a:txBody>
                    <a:bodyPr wrap="square"/>
                    <a:lstStyle/>
                    <a:p>
                      <a:pPr>
                        <a:defRPr sz="1000">
                          <a:latin typeface="Calibri"/>
                        </a:defRPr>
                      </a:pPr>
                      <a:r>
                        <a:t>150000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primary physics principle at play here is the consolidation of components and the leveraging of modern LED technology's inherent reliability and compact form factor. Incandescent bulbs require a filament, a glass envelope, and a metallic base for electrical connection, along with a separate socket and a wiring harness interface. By integrating LEDs, we eliminate these discrete parts. The LEDs can be directly soldered onto a small printed circuit board (PCB) that is then encapsulated within a suitable weather-resistant material and bonded to the bumper fascia. Thermal management will be critical; the LEDs will require adequate heatsinking, potentially achieved through the fascia material itself or small integrated heat sinks. Validation will involve extensive environmental testing (temperature cycling, humidity, vibration) to ensure long-term LED performance and prevent moisture ingress. Electromagnetic compatibility (EMC) testing will be performed to ensure no interference with other vehicle systems. Lumen output and beam pattern will be verified against regulatory requirements. Accelerated life testing of the integrated LED module will be conducted.</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the dual-function rear combination lamp housing, which currently incorporates the rear fog lamp functionality, with a single-function housing that only serves the primary taillight and brake light functions, requiring a separate, simplified rear fog lamp module.</a:t>
                      </a:r>
                    </a:p>
                  </a:txBody>
                  <a:tcPr/>
                </a:tc>
                <a:tc>
                  <a:txBody>
                    <a:bodyPr wrap="square"/>
                    <a:lstStyle/>
                    <a:p>
                      <a:pPr>
                        <a:defRPr sz="1000">
                          <a:latin typeface="Calibri"/>
                        </a:defRPr>
                      </a:pPr>
                      <a:r>
                        <a:t>This de-contenting strategy focuses on optimizing the complexity of the rear combination lamp (RCL). The physics behind dual-functionality often involves intricate internal structures or shared optical pathways to accommodate multiple light sources and lenses within a single housing. By separating the rear fog lamp into its own, potentially simpler, module, we can reduce the tooling complexity, injection molding cycles, and assembly steps for the main RCL. The new, simplified rear fog lamp module could be a more cost-effective standalone unit. Validation will involve ensuring the new RCL meets all optical and regulatory requirements for its primary functions, while the new rear fog lamp module is designed and tested for its specific performance criteria, including photometric output, durability, and sealing. Integration testing of both components with the vehicle's electrical system and body control module will be crucial.</a:t>
                      </a:r>
                    </a:p>
                  </a:txBody>
                  <a:tcPr/>
                </a:tc>
                <a:tc>
                  <a:txBody>
                    <a:bodyPr wrap="square"/>
                    <a:lstStyle/>
                    <a:p>
                      <a:pPr>
                        <a:defRPr sz="1000">
                          <a:latin typeface="Calibri"/>
                        </a:defRPr>
                      </a:pPr>
                      <a:r>
                        <a:t>120000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de-contenting strategy focuses on optimizing the complexity of the rear combination lamp (RCL). The physics behind dual-functionality often involves intricate internal structures or shared optical pathways to accommodate multiple light sources and lenses within a single housing. By separating the rear fog lamp into its own, potentially simpler, module, we can reduce the tooling complexity, injection molding cycles, and assembly steps for the main RCL. The new, simplified rear fog lamp module could be a more cost-effective standalone unit. Validation will involve ensuring the new RCL meets all optical and regulatory requirements for its primary functions, while the new rear fog lamp module is designed and tested for its specific performance criteria, including photometric output, durability, and sealing. Integration testing of both components with the vehicle's electrical system and body control module will be crucial.</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Substitute the current multi-piece rear fog lamp assembly (comprising lens, reflector, and bulb holder) with a single-piece molded component incorporating an integrated reflector and LED mounting points, eliminating the need for a separate bulb and holder.</a:t>
                      </a:r>
                    </a:p>
                  </a:txBody>
                  <a:tcPr/>
                </a:tc>
                <a:tc>
                  <a:txBody>
                    <a:bodyPr wrap="square"/>
                    <a:lstStyle/>
                    <a:p>
                      <a:pPr>
                        <a:defRPr sz="1000">
                          <a:latin typeface="Calibri"/>
                        </a:defRPr>
                      </a:pPr>
                      <a:r>
                        <a:t>The principle here is component consolidation through advanced molding techniques and material selection. Current designs may involve assembling separate plastic parts, each requiring its own tooling and manufacturing process, and a separate bulb holder. By designing a single molded part, potentially using a high-temperature resistant polymer with reflective properties or incorporating a secondary reflective coating process during manufacturing, we can achieve significant assembly and part count reduction. The LED can then be directly integrated into pre-designed mounting points within this single component. Validation will involve stress testing the single-piece component for dimensional stability under thermal and mechanical loads. Optical performance will be validated by measuring light distribution and intensity. Assembly process validation will confirm ease of integration with the vehicle's wiring harness and mounting structure.</a:t>
                      </a:r>
                    </a:p>
                  </a:txBody>
                  <a:tcPr/>
                </a:tc>
                <a:tc>
                  <a:txBody>
                    <a:bodyPr wrap="square"/>
                    <a:lstStyle/>
                    <a:p>
                      <a:pPr>
                        <a:defRPr sz="1000">
                          <a:latin typeface="Calibri"/>
                        </a:defRPr>
                      </a:pPr>
                      <a:r>
                        <a:t>100000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principle here is component consolidation through advanced molding techniques and material selection. Current designs may involve assembling separate plastic parts, each requiring its own tooling and manufacturing process, and a separate bulb holder. By designing a single molded part, potentially using a high-temperature resistant polymer with reflective properties or incorporating a secondary reflective coating process during manufacturing, we can achieve significant assembly and part count reduction. The LED can then be directly integrated into pre-designed mounting points within this single component. Validation will involve stress testing the single-piece component for dimensional stability under thermal and mechanical loads. Optical performance will be validated by measuring light distribution and intensity. Assembly process validation will confirm ease of integration with the vehicle's wiring harness and mounting structure.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Re-evaluate the necessity of a dedicated rear fog lamp in certain market variants, leveraging regional regulations and consumer usage data to potentially de-content the component entirely where legally permissible and practically redundant.</a:t>
                      </a:r>
                    </a:p>
                  </a:txBody>
                  <a:tcPr/>
                </a:tc>
                <a:tc>
                  <a:txBody>
                    <a:bodyPr wrap="square"/>
                    <a:lstStyle/>
                    <a:p>
                      <a:pPr>
                        <a:defRPr sz="1000">
                          <a:latin typeface="Calibri"/>
                        </a:defRPr>
                      </a:pPr>
                      <a:r>
                        <a:t>This is a strategic de-contenting approach based on market analysis and regulatory compliance. The physics of light emission and perception remain constant, but the *requirement* for a specific light source can vary. If data indicates that in specific markets, rear fog lamps are rarely used, or if other lighting functions adequately fulfill visibility requirements under adverse conditions (e.g., advanced taillight designs with higher intensity brake lights), then removing the component entirely can yield substantial savings in material, manufacturing, and assembly. Validation would involve rigorous legal review of all applicable regulations for target markets, coupled with consumer surveys and real-world usage analysis to confirm the low impact of removal. Engineering validation would then focus on ensuring the remaining lighting system meets all safety standards without the fog lamp.</a:t>
                      </a:r>
                    </a:p>
                  </a:txBody>
                  <a:tcPr/>
                </a:tc>
                <a:tc>
                  <a:txBody>
                    <a:bodyPr wrap="square"/>
                    <a:lstStyle/>
                    <a:p>
                      <a:pPr>
                        <a:defRPr sz="1000">
                          <a:latin typeface="Calibri"/>
                        </a:defRPr>
                      </a:pPr>
                      <a:r>
                        <a:t>200000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is a strategic de-contenting approach based on market analysis and regulatory compliance. The physics of light emission and perception remain constant, but the *requirement* for a specific light source can vary. If data indicates that in specific markets, rear fog lamps are rarely used, or if other lighting functions adequately fulfill visibility requirements under adverse conditions (e.g., advanced taillight designs with higher intensity brake lights), then removing the component entirely can yield substantial savings in material, manufacturing, and assembly. Validation would involve rigorous legal review of all applicable regulations for target markets, coupled with consumer surveys and real-world usage analysis to confirm the low impact of removal. Engineering validation would then focus on ensuring the remaining lighting system meets all safety standards without the fog lamp.</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Integrate the rear fog lamp function into an existing lighting element, such as the high-mounted stop lamp (CHMSL) or a designated section of the taillight assembly, by utilizing a dual-intensity LED or a separate, addressable LED within the same optical cavity.</a:t>
                      </a:r>
                    </a:p>
                  </a:txBody>
                  <a:tcPr/>
                </a:tc>
                <a:tc>
                  <a:txBody>
                    <a:bodyPr wrap="square"/>
                    <a:lstStyle/>
                    <a:p>
                      <a:pPr>
                        <a:defRPr sz="1000">
                          <a:latin typeface="Calibri"/>
                        </a:defRPr>
                      </a:pPr>
                      <a:r>
                        <a:t>This idea leverages shared optical pathways and electronic control. The physics of light generation (LEDs) and optical design allows for multiple functions from a single physical location if managed correctly. For example, a higher-intensity mode of the CHMSL could serve as the rear fog lamp. Alternatively, a separate, low-power LED could be integrated into the same optical cavity as the taillight, illuminated only when the fog lamp is activated. The primary engineering challenge is ensuring the distinct optical characteristics (intensity, color, beam pattern) for each function are maintained and do not interfere with each other, and that the control system can manage the different activation modes. Validation will include photometric testing to confirm that both the primary lighting function and the integrated fog lamp function meet all regulatory and performance requirements. EMC testing and system integration tests will be conducted to ensure proper operation and no interference.</a:t>
                      </a:r>
                    </a:p>
                  </a:txBody>
                  <a:tcPr/>
                </a:tc>
                <a:tc>
                  <a:txBody>
                    <a:bodyPr wrap="square"/>
                    <a:lstStyle/>
                    <a:p>
                      <a:pPr>
                        <a:defRPr sz="1000">
                          <a:latin typeface="Calibri"/>
                        </a:defRPr>
                      </a:pPr>
                      <a:r>
                        <a:t>130000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leverages shared optical pathways and electronic control. The physics of light generation (LEDs) and optical design allows for multiple functions from a single physical location if managed correctly. For example, a higher-intensity mode of the CHMSL could serve as the rear fog lamp. Alternatively, a separate, low-power LED could be integrated into the same optical cavity as the taillight, illuminated only when the fog lamp is activated. The primary engineering challenge is ensuring the distinct optical characteristics (intensity, color, beam pattern) for each function are maintained and do not interfere with each other, and that the control system can manage the different activation modes. Validation will include photometric testing to confirm that both the primary lighting function and the integrated fog lamp function meet all regulatory and performance requirements. EMC testing and system integration tests will be conducted to ensure proper operation and no interference.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Replace the current plastic lens material for the rear fog lamp with a thinner, more impact-resistant polycarbonate grade, potentially reducing material thickness while maintaining durability and optical clarity.</a:t>
                      </a:r>
                    </a:p>
                  </a:txBody>
                  <a:tcPr/>
                </a:tc>
                <a:tc>
                  <a:txBody>
                    <a:bodyPr wrap="square"/>
                    <a:lstStyle/>
                    <a:p>
                      <a:pPr>
                        <a:defRPr sz="1000">
                          <a:latin typeface="Calibri"/>
                        </a:defRPr>
                      </a:pPr>
                      <a:r>
                        <a:t>This proposal focuses on material science optimization. The physics of impact resistance and optical transmission are key. By selecting a polycarbonate grade with enhanced molecular structure and additives, we can achieve equivalent or superior impact strength and UV resistance at a reduced wall thickness. This reduction in material volume directly translates to lower raw material costs and potentially reduced cycle times in injection molding. The reduction in mass, though small per unit, contributes to overall vehicle weight savings. Validation will involve rigorous impact testing (e.g., pendulum impact, dart drop tests) and environmental testing (UV exposure, temperature cycling) to confirm the long-term performance of the thinner lens. Optical validation will include light transmission measurements and visual inspection for clarity and absence of distortion. Tooling modifications may be required to accommodate the thinner wall section, which will be factored into the validation plan.</a:t>
                      </a:r>
                    </a:p>
                  </a:txBody>
                  <a:tcPr/>
                </a:tc>
                <a:tc>
                  <a:txBody>
                    <a:bodyPr wrap="square"/>
                    <a:lstStyle/>
                    <a:p>
                      <a:pPr>
                        <a:defRPr sz="1000">
                          <a:latin typeface="Calibri"/>
                        </a:defRPr>
                      </a:pPr>
                      <a:r>
                        <a:t>80000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focuses on material science optimization. The physics of impact resistance and optical transmission are key. By selecting a polycarbonate grade with enhanced molecular structure and additives, we can achieve equivalent or superior impact strength and UV resistance at a reduced wall thickness. This reduction in material volume directly translates to lower raw material costs and potentially reduced cycle times in injection molding. The reduction in mass, though small per unit, contributes to overall vehicle weight savings. Validation will involve rigorous impact testing (e.g., pendulum impact, dart drop tests) and environmental testing (UV exposure, temperature cycling) to confirm the long-term performance of the thinner lens. Optical validation will include light transmission measurements and visual inspection for clarity and absence of distortion. Tooling modifications may be required to accommodate the thinner wall section, which will be factored into the validation plan.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11</a:t>
            </a:r>
          </a:p>
          <a:p>
            <a:pPr>
              <a:defRPr sz="1000">
                <a:latin typeface="Calibri"/>
              </a:defRPr>
            </a:pPr>
            <a:r>
              <a:t>• Total Potential Savings: INR 468.00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5</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11 ideas analyzed.</a:t>
            </a:r>
          </a:p>
          <a:p>
            <a:pPr>
              <a:defRPr sz="1800">
                <a:latin typeface="Calibri"/>
              </a:defRPr>
            </a:pPr>
            <a:r>
              <a:t>Total Savings: INR 468.00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
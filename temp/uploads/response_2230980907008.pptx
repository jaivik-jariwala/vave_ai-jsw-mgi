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Sheet1!$A$2:$A$6</c:f>
              <c:strCache>
                <c:ptCount val="5"/>
                <c:pt idx="0">
                  <c:v>2311-SP-ID-01</c:v>
                </c:pt>
                <c:pt idx="1">
                  <c:v>2311-BA-ID-01</c:v>
                </c:pt>
                <c:pt idx="2">
                  <c:v>2311-PA-ID-02</c:v>
                </c:pt>
                <c:pt idx="3">
                  <c:v>2311-PA-ID-01</c:v>
                </c:pt>
                <c:pt idx="4">
                  <c:v>2311-BA-ID-02</c:v>
                </c:pt>
              </c:strCache>
            </c:strRef>
          </c:cat>
          <c:val>
            <c:numRef>
              <c:f>Sheet1!$B$2:$B$6</c:f>
              <c:numCache>
                <c:formatCode>General</c:formatCode>
                <c:ptCount val="5"/>
                <c:pt idx="0">
                  <c:v>57.0</c:v>
                </c:pt>
                <c:pt idx="1">
                  <c:v>47.0</c:v>
                </c:pt>
                <c:pt idx="2">
                  <c:v>113.0</c:v>
                </c:pt>
                <c:pt idx="3">
                  <c:v>115.0</c:v>
                </c:pt>
                <c:pt idx="4">
                  <c:v>102.0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2</c:v>
                </c:pt>
                <c:pt idx="3">
                  <c:v>3</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2311-SP-ID-01</a:t>
                      </a:r>
                    </a:p>
                  </a:txBody>
                  <a:tcPr/>
                </a:tc>
                <a:tc>
                  <a:txBody>
                    <a:bodyPr wrap="square"/>
                    <a:lstStyle/>
                    <a:p>
                      <a:pPr>
                        <a:defRPr sz="1000">
                          <a:latin typeface="Calibri"/>
                        </a:defRPr>
                      </a:pPr>
                      <a:r>
                        <a:t>1. Reduce the overall wall thickness of the Brake Dust Cover Plates present on all four wheel hubs of the vehicles from 1mm to 0.8mm</a:t>
                      </a:r>
                    </a:p>
                    <a:p>
                      <a:pPr>
                        <a:defRPr sz="1000">
                          <a:latin typeface="Calibri"/>
                        </a:defRPr>
                      </a:pPr>
                      <a:r>
                        <a:t>2. Reduce the paint coating thickness on each side of all four plates from 56 microns to 27.8 microns</a:t>
                      </a:r>
                    </a:p>
                  </a:txBody>
                  <a:tcPr/>
                </a:tc>
                <a:tc>
                  <a:txBody>
                    <a:bodyPr wrap="square"/>
                    <a:lstStyle/>
                    <a:p>
                      <a:pPr>
                        <a:defRPr sz="1000">
                          <a:latin typeface="Calibri"/>
                        </a:defRPr>
                      </a:pPr>
                      <a:r>
                        <a:t>nan</a:t>
                      </a:r>
                    </a:p>
                  </a:txBody>
                  <a:tcPr/>
                </a:tc>
                <a:tc>
                  <a:txBody>
                    <a:bodyPr wrap="square"/>
                    <a:lstStyle/>
                    <a:p>
                      <a:pPr>
                        <a:defRPr sz="1000">
                          <a:latin typeface="Calibri"/>
                        </a:defRPr>
                      </a:pPr>
                      <a:r>
                        <a:t>INR 57.0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2311-BA-ID-01</a:t>
                      </a:r>
                    </a:p>
                  </a:txBody>
                  <a:tcPr/>
                </a:tc>
                <a:tc>
                  <a:txBody>
                    <a:bodyPr wrap="square"/>
                    <a:lstStyle/>
                    <a:p>
                      <a:pPr>
                        <a:defRPr sz="1000">
                          <a:latin typeface="Calibri"/>
                        </a:defRPr>
                      </a:pPr>
                      <a:r>
                        <a:t>The Brake Booster Plate in MGI could be integrated into the Dashboard BIW of the vehicle as done in KIA</a:t>
                      </a:r>
                    </a:p>
                  </a:txBody>
                  <a:tcPr/>
                </a:tc>
                <a:tc>
                  <a:txBody>
                    <a:bodyPr wrap="square"/>
                    <a:lstStyle/>
                    <a:p>
                      <a:pPr>
                        <a:defRPr sz="1000">
                          <a:latin typeface="Calibri"/>
                        </a:defRPr>
                      </a:pPr>
                      <a:r>
                        <a:t>nan</a:t>
                      </a:r>
                    </a:p>
                  </a:txBody>
                  <a:tcPr/>
                </a:tc>
                <a:tc>
                  <a:txBody>
                    <a:bodyPr wrap="square"/>
                    <a:lstStyle/>
                    <a:p>
                      <a:pPr>
                        <a:defRPr sz="1000">
                          <a:latin typeface="Calibri"/>
                        </a:defRPr>
                      </a:pPr>
                      <a:r>
                        <a:t>INR 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2311-PA-ID-02</a:t>
                      </a:r>
                    </a:p>
                  </a:txBody>
                  <a:tcPr/>
                </a:tc>
                <a:tc>
                  <a:txBody>
                    <a:bodyPr wrap="square"/>
                    <a:lstStyle/>
                    <a:p>
                      <a:pPr>
                        <a:defRPr sz="1000">
                          <a:latin typeface="Calibri"/>
                        </a:defRPr>
                      </a:pPr>
                      <a:r>
                        <a:t>Redesign the current Brake Pedal Mounting Bracket used in MGI to a similar bracket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113.0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2311-PA-ID-01</a:t>
                      </a:r>
                    </a:p>
                  </a:txBody>
                  <a:tcPr/>
                </a:tc>
                <a:tc>
                  <a:txBody>
                    <a:bodyPr wrap="square"/>
                    <a:lstStyle/>
                    <a:p>
                      <a:pPr>
                        <a:defRPr sz="1000">
                          <a:latin typeface="Calibri"/>
                        </a:defRPr>
                      </a:pPr>
                      <a:r>
                        <a:t>Remove the black paint coating on the Brake Pedal Mounting Bracket within MGI</a:t>
                      </a:r>
                    </a:p>
                  </a:txBody>
                  <a:tcPr/>
                </a:tc>
                <a:tc>
                  <a:txBody>
                    <a:bodyPr wrap="square"/>
                    <a:lstStyle/>
                    <a:p>
                      <a:pPr>
                        <a:defRPr sz="1000">
                          <a:latin typeface="Calibri"/>
                        </a:defRPr>
                      </a:pPr>
                      <a:r>
                        <a:t>nan</a:t>
                      </a:r>
                    </a:p>
                  </a:txBody>
                  <a:tcPr/>
                </a:tc>
                <a:tc>
                  <a:txBody>
                    <a:bodyPr wrap="square"/>
                    <a:lstStyle/>
                    <a:p>
                      <a:pPr>
                        <a:defRPr sz="1000">
                          <a:latin typeface="Calibri"/>
                        </a:defRPr>
                      </a:pPr>
                      <a:r>
                        <a:t>INR 115.0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2311-BA-ID-02</a:t>
                      </a:r>
                    </a:p>
                  </a:txBody>
                  <a:tcPr/>
                </a:tc>
                <a:tc>
                  <a:txBody>
                    <a:bodyPr wrap="square"/>
                    <a:lstStyle/>
                    <a:p>
                      <a:pPr>
                        <a:defRPr sz="1000">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102.0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TBC</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5</a:t>
            </a:r>
          </a:p>
          <a:p>
            <a:pPr>
              <a:defRPr sz="1000">
                <a:latin typeface="Calibri"/>
              </a:defRPr>
            </a:pPr>
            <a:r>
              <a:t>• Total Potential Savings: INR 434.00</a:t>
            </a:r>
          </a:p>
          <a:p>
            <a:pPr>
              <a:defRPr sz="1000">
                <a:latin typeface="Calibri"/>
              </a:defRPr>
            </a:pPr>
            <a:r>
              <a:t>• Implemented Ideas: 0</a:t>
            </a:r>
          </a:p>
          <a:p>
            <a:pPr>
              <a:defRPr sz="1000">
                <a:latin typeface="Calibri"/>
              </a:defRPr>
            </a:pPr>
            <a:r>
              <a:t>• Status OK: 0</a:t>
            </a:r>
          </a:p>
          <a:p>
            <a:pPr>
              <a:defRPr sz="1000">
                <a:latin typeface="Calibri"/>
              </a:defRPr>
            </a:pPr>
            <a:r>
              <a:t>• Status TBD: 2</a:t>
            </a:r>
          </a:p>
          <a:p>
            <a:pPr>
              <a:defRPr sz="1000">
                <a:latin typeface="Calibri"/>
              </a:defRPr>
            </a:pPr>
            <a:r>
              <a:t>• Status NG: 3</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5 ideas analyzed.</a:t>
            </a:r>
          </a:p>
          <a:p>
            <a:pPr>
              <a:defRPr sz="1800">
                <a:latin typeface="Calibri"/>
              </a:defRPr>
            </a:pPr>
            <a:r>
              <a:t>Total Savings: INR 434.00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
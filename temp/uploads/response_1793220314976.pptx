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Sheet1!$A$2:$A$57</c:f>
              <c:strCache>
                <c:ptCount val="56"/>
                <c:pt idx="0">
                  <c:v>2311-ET-ID-03</c:v>
                </c:pt>
                <c:pt idx="1">
                  <c:v>2311-DA-ID-06</c:v>
                </c:pt>
                <c:pt idx="2">
                  <c:v>2311-DA-ID-22</c:v>
                </c:pt>
                <c:pt idx="3">
                  <c:v>2311-DA-ID-26</c:v>
                </c:pt>
                <c:pt idx="4">
                  <c:v>2311-SS-ID-10</c:v>
                </c:pt>
                <c:pt idx="5">
                  <c:v>2311-DA-ID-35</c:v>
                </c:pt>
                <c:pt idx="6">
                  <c:v>2311-IT-ID-26</c:v>
                </c:pt>
                <c:pt idx="7">
                  <c:v>2311-IT-ID-16</c:v>
                </c:pt>
                <c:pt idx="8">
                  <c:v>2311-ET-ID-27</c:v>
                </c:pt>
                <c:pt idx="9">
                  <c:v>2311-IT-ID-06</c:v>
                </c:pt>
                <c:pt idx="10">
                  <c:v>2311-FS-ID-02</c:v>
                </c:pt>
                <c:pt idx="11">
                  <c:v>2311-SS-ID-01</c:v>
                </c:pt>
                <c:pt idx="12">
                  <c:v>2311-DA-ID-07</c:v>
                </c:pt>
                <c:pt idx="13">
                  <c:v>2311-EL-ID-01</c:v>
                </c:pt>
                <c:pt idx="14">
                  <c:v>2311-FS-ID-01</c:v>
                </c:pt>
                <c:pt idx="15">
                  <c:v>2311-IP-ID-05</c:v>
                </c:pt>
                <c:pt idx="16">
                  <c:v>2311-PRODUCT-ID-13</c:v>
                </c:pt>
                <c:pt idx="17">
                  <c:v>2311-PRODUCT-ID-18</c:v>
                </c:pt>
                <c:pt idx="18">
                  <c:v>2311-ET-ID-17</c:v>
                </c:pt>
                <c:pt idx="19">
                  <c:v>2311-IP-ID-16</c:v>
                </c:pt>
                <c:pt idx="20">
                  <c:v>2311-IT-ID-17</c:v>
                </c:pt>
                <c:pt idx="21">
                  <c:v>2311-EL-ID-25</c:v>
                </c:pt>
                <c:pt idx="22">
                  <c:v>2311-EL-ID-17</c:v>
                </c:pt>
                <c:pt idx="23">
                  <c:v>2311-IP-ID-11</c:v>
                </c:pt>
                <c:pt idx="24">
                  <c:v>2311-EL-ID-11</c:v>
                </c:pt>
                <c:pt idx="25">
                  <c:v>2311-IT-ID-08</c:v>
                </c:pt>
                <c:pt idx="26">
                  <c:v>2311-EX-ID-01</c:v>
                </c:pt>
                <c:pt idx="27">
                  <c:v>2311-EL-ID-08</c:v>
                </c:pt>
                <c:pt idx="28">
                  <c:v>2311-DA-ID-10</c:v>
                </c:pt>
                <c:pt idx="29">
                  <c:v>2311-PRODUCT-ID-05</c:v>
                </c:pt>
                <c:pt idx="30">
                  <c:v>2311-BIW-ID-06</c:v>
                </c:pt>
                <c:pt idx="31">
                  <c:v>2311-DA-ID-25</c:v>
                </c:pt>
                <c:pt idx="32">
                  <c:v>2311-ET-ID-20</c:v>
                </c:pt>
                <c:pt idx="33">
                  <c:v>2311-ET-ID-07</c:v>
                </c:pt>
                <c:pt idx="34">
                  <c:v>2311-ET-ID-24</c:v>
                </c:pt>
                <c:pt idx="35">
                  <c:v>2311-DA-ID-12</c:v>
                </c:pt>
                <c:pt idx="36">
                  <c:v>2311-ET-ID-11</c:v>
                </c:pt>
                <c:pt idx="37">
                  <c:v>2311-IP-ID-01</c:v>
                </c:pt>
                <c:pt idx="38">
                  <c:v>2311-ST-ID-03</c:v>
                </c:pt>
                <c:pt idx="39">
                  <c:v>2311-IP-ID-10</c:v>
                </c:pt>
                <c:pt idx="40">
                  <c:v>2311-WT-ID-01</c:v>
                </c:pt>
                <c:pt idx="41">
                  <c:v>2311-BIW-ID-02</c:v>
                </c:pt>
                <c:pt idx="42">
                  <c:v>2311-PRODUCT-ID-02</c:v>
                </c:pt>
                <c:pt idx="43">
                  <c:v>2311-DA-ID-18</c:v>
                </c:pt>
                <c:pt idx="44">
                  <c:v>2311-DA-ID-20</c:v>
                </c:pt>
                <c:pt idx="45">
                  <c:v>2311-DA-ID-37</c:v>
                </c:pt>
                <c:pt idx="46">
                  <c:v>2311-EL-ID-23</c:v>
                </c:pt>
                <c:pt idx="47">
                  <c:v>2311-SP-ID-03</c:v>
                </c:pt>
                <c:pt idx="48">
                  <c:v>2311-DA-ID-27</c:v>
                </c:pt>
                <c:pt idx="49">
                  <c:v>2311-PRODUCT-ID-03</c:v>
                </c:pt>
                <c:pt idx="50">
                  <c:v>AI-GEN-01</c:v>
                </c:pt>
                <c:pt idx="51">
                  <c:v>AI-GEN-02</c:v>
                </c:pt>
                <c:pt idx="52">
                  <c:v>AI-GEN-03</c:v>
                </c:pt>
                <c:pt idx="53">
                  <c:v>AI-GEN-04</c:v>
                </c:pt>
                <c:pt idx="54">
                  <c:v>AI-GEN-05</c:v>
                </c:pt>
                <c:pt idx="55">
                  <c:v>AI-GEN-06</c:v>
                </c:pt>
              </c:strCache>
            </c:strRef>
          </c:cat>
          <c:val>
            <c:numRef>
              <c:f>Sheet1!$B$2:$B$57</c:f>
              <c:numCache>
                <c:formatCode>General</c:formatCode>
                <c:ptCount val="56"/>
                <c:pt idx="0">
                  <c:v>148.0</c:v>
                </c:pt>
                <c:pt idx="1">
                  <c:v>148.0</c:v>
                </c:pt>
                <c:pt idx="2">
                  <c:v>148.0</c:v>
                </c:pt>
                <c:pt idx="3">
                  <c:v>147.0</c:v>
                </c:pt>
                <c:pt idx="4">
                  <c:v>147.0</c:v>
                </c:pt>
                <c:pt idx="5">
                  <c:v>147.0</c:v>
                </c:pt>
                <c:pt idx="6">
                  <c:v>145.0</c:v>
                </c:pt>
                <c:pt idx="7">
                  <c:v>145.0</c:v>
                </c:pt>
                <c:pt idx="8">
                  <c:v>145.0</c:v>
                </c:pt>
                <c:pt idx="9">
                  <c:v>144.0</c:v>
                </c:pt>
                <c:pt idx="10">
                  <c:v>144.0</c:v>
                </c:pt>
                <c:pt idx="11">
                  <c:v>144.0</c:v>
                </c:pt>
                <c:pt idx="12">
                  <c:v>143.0</c:v>
                </c:pt>
                <c:pt idx="13">
                  <c:v>142.0</c:v>
                </c:pt>
                <c:pt idx="14">
                  <c:v>142.0</c:v>
                </c:pt>
                <c:pt idx="15">
                  <c:v>141.0</c:v>
                </c:pt>
                <c:pt idx="16">
                  <c:v>141.0</c:v>
                </c:pt>
                <c:pt idx="17">
                  <c:v>141.0</c:v>
                </c:pt>
                <c:pt idx="18">
                  <c:v>141.0</c:v>
                </c:pt>
                <c:pt idx="19">
                  <c:v>140.0</c:v>
                </c:pt>
                <c:pt idx="20">
                  <c:v>140.0</c:v>
                </c:pt>
                <c:pt idx="21">
                  <c:v>140.0</c:v>
                </c:pt>
                <c:pt idx="22">
                  <c:v>139.0</c:v>
                </c:pt>
                <c:pt idx="23">
                  <c:v>138.0</c:v>
                </c:pt>
                <c:pt idx="24">
                  <c:v>137.0</c:v>
                </c:pt>
                <c:pt idx="25">
                  <c:v>137.0</c:v>
                </c:pt>
                <c:pt idx="26">
                  <c:v>136.0</c:v>
                </c:pt>
                <c:pt idx="27">
                  <c:v>135.0</c:v>
                </c:pt>
                <c:pt idx="28">
                  <c:v>135.0</c:v>
                </c:pt>
                <c:pt idx="29">
                  <c:v>135.0</c:v>
                </c:pt>
                <c:pt idx="30">
                  <c:v>135.0</c:v>
                </c:pt>
                <c:pt idx="31">
                  <c:v>134.0</c:v>
                </c:pt>
                <c:pt idx="32">
                  <c:v>133.0</c:v>
                </c:pt>
                <c:pt idx="33">
                  <c:v>133.0</c:v>
                </c:pt>
                <c:pt idx="34">
                  <c:v>132.0</c:v>
                </c:pt>
                <c:pt idx="35">
                  <c:v>131.0</c:v>
                </c:pt>
                <c:pt idx="36">
                  <c:v>131.0</c:v>
                </c:pt>
                <c:pt idx="37">
                  <c:v>131.0</c:v>
                </c:pt>
                <c:pt idx="38">
                  <c:v>131.0</c:v>
                </c:pt>
                <c:pt idx="39">
                  <c:v>130.0</c:v>
                </c:pt>
                <c:pt idx="40">
                  <c:v>130.0</c:v>
                </c:pt>
                <c:pt idx="41">
                  <c:v>130.0</c:v>
                </c:pt>
                <c:pt idx="42">
                  <c:v>130.0</c:v>
                </c:pt>
                <c:pt idx="43">
                  <c:v>129.0</c:v>
                </c:pt>
                <c:pt idx="44">
                  <c:v>129.0</c:v>
                </c:pt>
                <c:pt idx="45">
                  <c:v>127.0</c:v>
                </c:pt>
                <c:pt idx="46">
                  <c:v>127.0</c:v>
                </c:pt>
                <c:pt idx="47">
                  <c:v>127.0</c:v>
                </c:pt>
                <c:pt idx="48">
                  <c:v>126.0</c:v>
                </c:pt>
                <c:pt idx="49">
                  <c:v>126.0</c:v>
                </c:pt>
                <c:pt idx="50">
                  <c:v>0</c:v>
                </c:pt>
                <c:pt idx="51">
                  <c:v>0</c:v>
                </c:pt>
                <c:pt idx="52">
                  <c:v>0</c:v>
                </c:pt>
                <c:pt idx="53">
                  <c:v>0</c:v>
                </c:pt>
                <c:pt idx="54">
                  <c:v>0</c:v>
                </c:pt>
                <c:pt idx="55">
                  <c:v>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2</c:v>
                </c:pt>
                <c:pt idx="2">
                  <c:v>16</c:v>
                </c:pt>
                <c:pt idx="3">
                  <c:v>30</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2311-ET-ID-03</a:t>
                      </a:r>
                    </a:p>
                  </a:txBody>
                  <a:tcPr/>
                </a:tc>
                <a:tc>
                  <a:txBody>
                    <a:bodyPr wrap="square"/>
                    <a:lstStyle/>
                    <a:p>
                      <a:pPr>
                        <a:defRPr sz="1000">
                          <a:latin typeface="Calibri"/>
                        </a:defRPr>
                      </a:pPr>
                      <a:r>
                        <a:t>Remove the Air Extractor Vent Securing Trims affixed at both ends of the rear bumper brackets of the vehicle</a:t>
                      </a:r>
                    </a:p>
                  </a:txBody>
                  <a:tcPr/>
                </a:tc>
                <a:tc>
                  <a:txBody>
                    <a:bodyPr wrap="square"/>
                    <a:lstStyle/>
                    <a:p>
                      <a:pPr>
                        <a:defRPr sz="1000">
                          <a:latin typeface="Calibri"/>
                        </a:defRPr>
                      </a:pPr>
                      <a:r>
                        <a:t>nan</a:t>
                      </a:r>
                    </a:p>
                  </a:txBody>
                  <a:tcPr/>
                </a:tc>
                <a:tc>
                  <a:txBody>
                    <a:bodyPr wrap="square"/>
                    <a:lstStyle/>
                    <a:p>
                      <a:pPr>
                        <a:defRPr sz="1000">
                          <a:latin typeface="Calibri"/>
                        </a:defRPr>
                      </a:pPr>
                      <a:r>
                        <a:t>INR 148.0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2311-DA-ID-06</a:t>
                      </a:r>
                    </a:p>
                  </a:txBody>
                  <a:tcPr/>
                </a:tc>
                <a:tc>
                  <a:txBody>
                    <a:bodyPr wrap="square"/>
                    <a:lstStyle/>
                    <a:p>
                      <a:pPr>
                        <a:defRPr sz="1000">
                          <a:latin typeface="Calibri"/>
                        </a:defRPr>
                      </a:pPr>
                      <a:r>
                        <a:t>Replace the plastic trim used on the Hood Prop Rod in MGI with a foam cover trim as in KIA</a:t>
                      </a:r>
                    </a:p>
                  </a:txBody>
                  <a:tcPr/>
                </a:tc>
                <a:tc>
                  <a:txBody>
                    <a:bodyPr wrap="square"/>
                    <a:lstStyle/>
                    <a:p>
                      <a:pPr>
                        <a:defRPr sz="1000">
                          <a:latin typeface="Calibri"/>
                        </a:defRPr>
                      </a:pPr>
                      <a:r>
                        <a:t>Check supplier feasibility</a:t>
                      </a:r>
                    </a:p>
                  </a:txBody>
                  <a:tcPr/>
                </a:tc>
                <a:tc>
                  <a:txBody>
                    <a:bodyPr wrap="square"/>
                    <a:lstStyle/>
                    <a:p>
                      <a:pPr>
                        <a:defRPr sz="1000">
                          <a:latin typeface="Calibri"/>
                        </a:defRPr>
                      </a:pPr>
                      <a:r>
                        <a:t>INR 148.0</a:t>
                      </a:r>
                    </a:p>
                  </a:txBody>
                  <a:tcPr/>
                </a:tc>
                <a:tc>
                  <a:txBody>
                    <a:bodyPr wrap="square"/>
                    <a:lstStyle/>
                    <a:p>
                      <a:pPr>
                        <a:defRPr sz="1000">
                          <a:latin typeface="Calibri"/>
                        </a:defRPr>
                      </a:pPr>
                      <a:r>
                        <a:t>NG</a:t>
                      </a:r>
                    </a:p>
                  </a:txBody>
                  <a:tcPr/>
                </a:tc>
                <a:tc>
                  <a:txBody>
                    <a:bodyPr wrap="square"/>
                    <a:lstStyle/>
                    <a:p>
                      <a:pPr>
                        <a:defRPr sz="1000">
                          <a:latin typeface="Calibri"/>
                        </a:defRPr>
                      </a:pPr>
                      <a:r>
                        <a:t>Check supplier feasibility</a:t>
                      </a:r>
                    </a:p>
                  </a:txBody>
                  <a:tcPr/>
                </a:tc>
                <a:tc>
                  <a:txBody>
                    <a:bodyPr wrap="square"/>
                    <a:lstStyle/>
                    <a:p>
                      <a:pPr>
                        <a:defRPr sz="1000">
                          <a:latin typeface="Calibri"/>
                        </a:defRPr>
                      </a:pPr>
                      <a:r>
                        <a:t>Chirag</a:t>
                      </a:r>
                    </a:p>
                  </a:txBody>
                  <a:tcPr/>
                </a:tc>
                <a:tc>
                  <a:txBody>
                    <a:bodyPr wrap="square"/>
                    <a:lstStyle/>
                    <a:p>
                      <a:pPr>
                        <a:defRPr sz="1000">
                          <a:latin typeface="Calibri"/>
                        </a:defRPr>
                      </a:pPr>
                      <a:r>
                        <a:t>2024-02-16 00:00:00</a:t>
                      </a:r>
                    </a:p>
                  </a:txBody>
                  <a:tcPr/>
                </a:tc>
              </a:tr>
              <a:tr h="320040">
                <a:tc>
                  <a:txBody>
                    <a:bodyPr wrap="square"/>
                    <a:lstStyle/>
                    <a:p>
                      <a:pPr>
                        <a:defRPr sz="1000">
                          <a:latin typeface="Calibri"/>
                        </a:defRPr>
                      </a:pPr>
                      <a:r>
                        <a:t>2311-DA-ID-22</a:t>
                      </a:r>
                    </a:p>
                  </a:txBody>
                  <a:tcPr/>
                </a:tc>
                <a:tc>
                  <a:txBody>
                    <a:bodyPr wrap="square"/>
                    <a:lstStyle/>
                    <a:p>
                      <a:pPr>
                        <a:defRPr sz="1000">
                          <a:latin typeface="Calibri"/>
                        </a:defRPr>
                      </a:pPr>
                      <a:r>
                        <a:t>Replace PA6-GF30 with PA6-GF15 + MD25 in the manufacture of the Exterior Door Handle Rear Trims</a:t>
                      </a:r>
                    </a:p>
                  </a:txBody>
                  <a:tcPr/>
                </a:tc>
                <a:tc>
                  <a:txBody>
                    <a:bodyPr wrap="square"/>
                    <a:lstStyle/>
                    <a:p>
                      <a:pPr>
                        <a:defRPr sz="1000">
                          <a:latin typeface="Calibri"/>
                        </a:defRPr>
                      </a:pPr>
                      <a:r>
                        <a:t>nan</a:t>
                      </a:r>
                    </a:p>
                  </a:txBody>
                  <a:tcPr/>
                </a:tc>
                <a:tc>
                  <a:txBody>
                    <a:bodyPr wrap="square"/>
                    <a:lstStyle/>
                    <a:p>
                      <a:pPr>
                        <a:defRPr sz="1000">
                          <a:latin typeface="Calibri"/>
                        </a:defRPr>
                      </a:pPr>
                      <a:r>
                        <a:t>INR 148.0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2311-DA-ID-26</a:t>
                      </a:r>
                    </a:p>
                  </a:txBody>
                  <a:tcPr/>
                </a:tc>
                <a:tc>
                  <a:txBody>
                    <a:bodyPr wrap="square"/>
                    <a:lstStyle/>
                    <a:p>
                      <a:pPr>
                        <a:defRPr sz="1000">
                          <a:latin typeface="Calibri"/>
                        </a:defRPr>
                      </a:pPr>
                      <a:r>
                        <a:t>Replace the ABS blend with PP-T20 in the manufacture of the Front and Rear Door Panel Side Trims in MGI</a:t>
                      </a:r>
                    </a:p>
                  </a:txBody>
                  <a:tcPr/>
                </a:tc>
                <a:tc>
                  <a:txBody>
                    <a:bodyPr wrap="square"/>
                    <a:lstStyle/>
                    <a:p>
                      <a:pPr>
                        <a:defRPr sz="1000">
                          <a:latin typeface="Calibri"/>
                        </a:defRPr>
                      </a:pPr>
                      <a:r>
                        <a:t>nan</a:t>
                      </a:r>
                    </a:p>
                  </a:txBody>
                  <a:tcPr/>
                </a:tc>
                <a:tc>
                  <a:txBody>
                    <a:bodyPr wrap="square"/>
                    <a:lstStyle/>
                    <a:p>
                      <a:pPr>
                        <a:defRPr sz="1000">
                          <a:latin typeface="Calibri"/>
                        </a:defRPr>
                      </a:pPr>
                      <a:r>
                        <a:t>INR 147.0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2311-SS-ID-10</a:t>
                      </a:r>
                    </a:p>
                  </a:txBody>
                  <a:tcPr/>
                </a:tc>
                <a:tc>
                  <a:txBody>
                    <a:bodyPr wrap="square"/>
                    <a:lstStyle/>
                    <a:p>
                      <a:pPr>
                        <a:defRPr sz="1000">
                          <a:latin typeface="Calibri"/>
                        </a:defRPr>
                      </a:pPr>
                      <a:r>
                        <a:t>Replace PP+EPDM-T20 used in the manufacture of the Second-Row Seat Bottom Cover and Cushion Cover Trims of MGI with standard PP</a:t>
                      </a:r>
                    </a:p>
                  </a:txBody>
                  <a:tcPr/>
                </a:tc>
                <a:tc>
                  <a:txBody>
                    <a:bodyPr wrap="square"/>
                    <a:lstStyle/>
                    <a:p>
                      <a:pPr>
                        <a:defRPr sz="1000">
                          <a:latin typeface="Calibri"/>
                        </a:defRPr>
                      </a:pPr>
                      <a:r>
                        <a:t>All trims foam &amp; cover idea will be again checked for feasibility with supplier &amp; BC evaluation.</a:t>
                      </a:r>
                    </a:p>
                  </a:txBody>
                  <a:tcPr/>
                </a:tc>
                <a:tc>
                  <a:txBody>
                    <a:bodyPr wrap="square"/>
                    <a:lstStyle/>
                    <a:p>
                      <a:pPr>
                        <a:defRPr sz="1000">
                          <a:latin typeface="Calibri"/>
                        </a:defRPr>
                      </a:pPr>
                      <a:r>
                        <a:t>INR 147.0</a:t>
                      </a:r>
                    </a:p>
                  </a:txBody>
                  <a:tcPr/>
                </a:tc>
                <a:tc>
                  <a:txBody>
                    <a:bodyPr wrap="square"/>
                    <a:lstStyle/>
                    <a:p>
                      <a:pPr>
                        <a:defRPr sz="1000">
                          <a:latin typeface="Calibri"/>
                        </a:defRPr>
                      </a:pPr>
                      <a:r>
                        <a:t>NG</a:t>
                      </a:r>
                    </a:p>
                  </a:txBody>
                  <a:tcPr/>
                </a:tc>
                <a:tc>
                  <a:txBody>
                    <a:bodyPr wrap="square"/>
                    <a:lstStyle/>
                    <a:p>
                      <a:pPr>
                        <a:defRPr sz="1000">
                          <a:latin typeface="Calibri"/>
                        </a:defRPr>
                      </a:pPr>
                      <a:r>
                        <a:t>All trims foam &amp; cover idea will be again checked for feasibility with supplier &amp; BC evaluation.</a:t>
                      </a:r>
                    </a:p>
                  </a:txBody>
                  <a:tcPr/>
                </a:tc>
                <a:tc>
                  <a:txBody>
                    <a:bodyPr wrap="square"/>
                    <a:lstStyle/>
                    <a:p>
                      <a:pPr>
                        <a:defRPr sz="1000">
                          <a:latin typeface="Calibri"/>
                        </a:defRPr>
                      </a:pPr>
                      <a:r>
                        <a:t>Kalp/Nishant</a:t>
                      </a:r>
                    </a:p>
                  </a:txBody>
                  <a:tcPr/>
                </a:tc>
                <a:tc>
                  <a:txBody>
                    <a:bodyPr wrap="square"/>
                    <a:lstStyle/>
                    <a:p>
                      <a:pPr>
                        <a:defRPr sz="1000">
                          <a:latin typeface="Calibri"/>
                        </a:defRPr>
                      </a:pPr>
                      <a:r>
                        <a:t>2023-12-31 00:00:00</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2311-DA-ID-35</a:t>
                      </a:r>
                    </a:p>
                  </a:txBody>
                  <a:tcPr/>
                </a:tc>
                <a:tc>
                  <a:txBody>
                    <a:bodyPr wrap="square"/>
                    <a:lstStyle/>
                    <a:p>
                      <a:pPr>
                        <a:defRPr sz="1000">
                          <a:latin typeface="Calibri"/>
                        </a:defRPr>
                      </a:pPr>
                      <a:r>
                        <a:t>Replace PBT-GF30 with PA6-GF30 in the manufacture of the gear casings.</a:t>
                      </a:r>
                    </a:p>
                  </a:txBody>
                  <a:tcPr/>
                </a:tc>
                <a:tc>
                  <a:txBody>
                    <a:bodyPr wrap="square"/>
                    <a:lstStyle/>
                    <a:p>
                      <a:pPr>
                        <a:defRPr sz="1000">
                          <a:latin typeface="Calibri"/>
                        </a:defRPr>
                      </a:pPr>
                      <a:r>
                        <a:t>Consider in homeroom bucket</a:t>
                      </a:r>
                    </a:p>
                  </a:txBody>
                  <a:tcPr/>
                </a:tc>
                <a:tc>
                  <a:txBody>
                    <a:bodyPr wrap="square"/>
                    <a:lstStyle/>
                    <a:p>
                      <a:pPr>
                        <a:defRPr sz="1000">
                          <a:latin typeface="Calibri"/>
                        </a:defRPr>
                      </a:pPr>
                      <a:r>
                        <a:t>INR 147.0</a:t>
                      </a:r>
                    </a:p>
                  </a:txBody>
                  <a:tcPr/>
                </a:tc>
                <a:tc>
                  <a:txBody>
                    <a:bodyPr wrap="square"/>
                    <a:lstStyle/>
                    <a:p>
                      <a:pPr>
                        <a:defRPr sz="1000">
                          <a:latin typeface="Calibri"/>
                        </a:defRPr>
                      </a:pPr>
                      <a:r>
                        <a:t>Hold</a:t>
                      </a:r>
                    </a:p>
                  </a:txBody>
                  <a:tcPr/>
                </a:tc>
                <a:tc>
                  <a:txBody>
                    <a:bodyPr wrap="square"/>
                    <a:lstStyle/>
                    <a:p>
                      <a:pPr>
                        <a:defRPr sz="1000">
                          <a:latin typeface="Calibri"/>
                        </a:defRPr>
                      </a:pPr>
                      <a:r>
                        <a:t>Consider in homeroom bucket</a:t>
                      </a:r>
                    </a:p>
                  </a:txBody>
                  <a:tcPr/>
                </a:tc>
                <a:tc>
                  <a:txBody>
                    <a:bodyPr wrap="square"/>
                    <a:lstStyle/>
                    <a:p>
                      <a:pPr>
                        <a:defRPr sz="1000">
                          <a:latin typeface="Calibri"/>
                        </a:defRPr>
                      </a:pPr>
                      <a:r>
                        <a:t>Ratnadeep</a:t>
                      </a:r>
                    </a:p>
                  </a:txBody>
                  <a:tcPr/>
                </a:tc>
                <a:tc>
                  <a:txBody>
                    <a:bodyPr wrap="square"/>
                    <a:lstStyle/>
                    <a:p>
                      <a:pPr>
                        <a:defRPr sz="1000">
                          <a:latin typeface="Calibri"/>
                        </a:defRPr>
                      </a:pPr>
                      <a:r>
                        <a:t>TBC</a:t>
                      </a:r>
                    </a:p>
                  </a:txBody>
                  <a:tcPr/>
                </a:tc>
              </a:tr>
              <a:tr h="320040">
                <a:tc>
                  <a:txBody>
                    <a:bodyPr wrap="square"/>
                    <a:lstStyle/>
                    <a:p>
                      <a:pPr>
                        <a:defRPr sz="1000">
                          <a:latin typeface="Calibri"/>
                        </a:defRPr>
                      </a:pPr>
                      <a:r>
                        <a:t>2311-IT-ID-26</a:t>
                      </a:r>
                    </a:p>
                  </a:txBody>
                  <a:tcPr/>
                </a:tc>
                <a:tc>
                  <a:txBody>
                    <a:bodyPr wrap="square"/>
                    <a:lstStyle/>
                    <a:p>
                      <a:pPr>
                        <a:defRPr sz="1000">
                          <a:latin typeface="Calibri"/>
                        </a:defRPr>
                      </a:pPr>
                      <a:r>
                        <a:t>Replace PP-T20 with PP in the manufacture of the grab handles within the vehicle</a:t>
                      </a:r>
                    </a:p>
                  </a:txBody>
                  <a:tcPr/>
                </a:tc>
                <a:tc>
                  <a:txBody>
                    <a:bodyPr wrap="square"/>
                    <a:lstStyle/>
                    <a:p>
                      <a:pPr>
                        <a:defRPr sz="1000">
                          <a:latin typeface="Calibri"/>
                        </a:defRPr>
                      </a:pPr>
                      <a:r>
                        <a:t>nan</a:t>
                      </a:r>
                    </a:p>
                  </a:txBody>
                  <a:tcPr/>
                </a:tc>
                <a:tc>
                  <a:txBody>
                    <a:bodyPr wrap="square"/>
                    <a:lstStyle/>
                    <a:p>
                      <a:pPr>
                        <a:defRPr sz="1000">
                          <a:latin typeface="Calibri"/>
                        </a:defRPr>
                      </a:pPr>
                      <a:r>
                        <a:t>INR 145.0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2311-IT-ID-16</a:t>
                      </a:r>
                    </a:p>
                  </a:txBody>
                  <a:tcPr/>
                </a:tc>
                <a:tc>
                  <a:txBody>
                    <a:bodyPr wrap="square"/>
                    <a:lstStyle/>
                    <a:p>
                      <a:pPr>
                        <a:defRPr sz="1000">
                          <a:latin typeface="Calibri"/>
                        </a:defRPr>
                      </a:pPr>
                      <a:r>
                        <a:t>Replace PP+PE-T10 used in the manufacture of the Front A-Pillar Interior Trims in MGI with standard PP+PE</a:t>
                      </a:r>
                    </a:p>
                  </a:txBody>
                  <a:tcPr/>
                </a:tc>
                <a:tc>
                  <a:txBody>
                    <a:bodyPr wrap="square"/>
                    <a:lstStyle/>
                    <a:p>
                      <a:pPr>
                        <a:defRPr sz="1000">
                          <a:latin typeface="Calibri"/>
                        </a:defRPr>
                      </a:pPr>
                      <a:r>
                        <a:t>nan</a:t>
                      </a:r>
                    </a:p>
                  </a:txBody>
                  <a:tcPr/>
                </a:tc>
                <a:tc>
                  <a:txBody>
                    <a:bodyPr wrap="square"/>
                    <a:lstStyle/>
                    <a:p>
                      <a:pPr>
                        <a:defRPr sz="1000">
                          <a:latin typeface="Calibri"/>
                        </a:defRPr>
                      </a:pPr>
                      <a:r>
                        <a:t>INR 145.0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2311-ET-ID-27</a:t>
                      </a:r>
                    </a:p>
                  </a:txBody>
                  <a:tcPr/>
                </a:tc>
                <a:tc>
                  <a:txBody>
                    <a:bodyPr wrap="square"/>
                    <a:lstStyle/>
                    <a:p>
                      <a:pPr>
                        <a:defRPr sz="1000">
                          <a:latin typeface="Calibri"/>
                        </a:defRPr>
                      </a:pPr>
                      <a:r>
                        <a:t>Replace the Thinsulate Acoustic Insulation used on the Front &amp; Rear Wheel Arch LH &amp; RH Liners for NVH restriction within MGI with Noiselite PP-PET Insulation</a:t>
                      </a:r>
                    </a:p>
                  </a:txBody>
                  <a:tcPr/>
                </a:tc>
                <a:tc>
                  <a:txBody>
                    <a:bodyPr wrap="square"/>
                    <a:lstStyle/>
                    <a:p>
                      <a:pPr>
                        <a:defRPr sz="1000">
                          <a:latin typeface="Calibri"/>
                        </a:defRPr>
                      </a:pPr>
                      <a:r>
                        <a:t>nan</a:t>
                      </a:r>
                    </a:p>
                  </a:txBody>
                  <a:tcPr/>
                </a:tc>
                <a:tc>
                  <a:txBody>
                    <a:bodyPr wrap="square"/>
                    <a:lstStyle/>
                    <a:p>
                      <a:pPr>
                        <a:defRPr sz="1000">
                          <a:latin typeface="Calibri"/>
                        </a:defRPr>
                      </a:pPr>
                      <a:r>
                        <a:t>INR 145.0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2311-IT-ID-06</a:t>
                      </a:r>
                    </a:p>
                  </a:txBody>
                  <a:tcPr/>
                </a:tc>
                <a:tc>
                  <a:txBody>
                    <a:bodyPr wrap="square"/>
                    <a:lstStyle/>
                    <a:p>
                      <a:pPr>
                        <a:defRPr sz="1000">
                          <a:latin typeface="Calibri"/>
                        </a:defRPr>
                      </a:pPr>
                      <a:r>
                        <a:t>Eliminate the dead pedal trim provided in MGI.</a:t>
                      </a:r>
                    </a:p>
                  </a:txBody>
                  <a:tcPr/>
                </a:tc>
                <a:tc>
                  <a:txBody>
                    <a:bodyPr wrap="square"/>
                    <a:lstStyle/>
                    <a:p>
                      <a:pPr>
                        <a:defRPr sz="1000">
                          <a:latin typeface="Calibri"/>
                        </a:defRPr>
                      </a:pPr>
                      <a:r>
                        <a:t>Confirm date for sample availability (Functional &amp; Appearance check) - 1Nos 6 seater carpet without cut-out for dead pedal</a:t>
                      </a:r>
                    </a:p>
                  </a:txBody>
                  <a:tcPr/>
                </a:tc>
                <a:tc>
                  <a:txBody>
                    <a:bodyPr wrap="square"/>
                    <a:lstStyle/>
                    <a:p>
                      <a:pPr>
                        <a:defRPr sz="1000">
                          <a:latin typeface="Calibri"/>
                        </a:defRPr>
                      </a:pPr>
                      <a:r>
                        <a:t>INR 144.0</a:t>
                      </a:r>
                    </a:p>
                  </a:txBody>
                  <a:tcPr/>
                </a:tc>
                <a:tc>
                  <a:txBody>
                    <a:bodyPr wrap="square"/>
                    <a:lstStyle/>
                    <a:p>
                      <a:pPr>
                        <a:defRPr sz="1000">
                          <a:latin typeface="Calibri"/>
                        </a:defRPr>
                      </a:pPr>
                      <a:r>
                        <a:t>OK</a:t>
                      </a:r>
                    </a:p>
                  </a:txBody>
                  <a:tcPr/>
                </a:tc>
                <a:tc>
                  <a:txBody>
                    <a:bodyPr wrap="square"/>
                    <a:lstStyle/>
                    <a:p>
                      <a:pPr>
                        <a:defRPr sz="1000">
                          <a:latin typeface="Calibri"/>
                        </a:defRPr>
                      </a:pPr>
                      <a:r>
                        <a:t>Confirm date for sample availability (Functional &amp; Appearance check) - 1Nos 6 seater carpet without cut-out for dead pedal</a:t>
                      </a:r>
                    </a:p>
                  </a:txBody>
                  <a:tcPr/>
                </a:tc>
                <a:tc>
                  <a:txBody>
                    <a:bodyPr wrap="square"/>
                    <a:lstStyle/>
                    <a:p>
                      <a:pPr>
                        <a:defRPr sz="1000">
                          <a:latin typeface="Calibri"/>
                        </a:defRPr>
                      </a:pPr>
                      <a:r>
                        <a:t>Akhil</a:t>
                      </a:r>
                    </a:p>
                  </a:txBody>
                  <a:tcPr/>
                </a:tc>
                <a:tc>
                  <a:txBody>
                    <a:bodyPr wrap="square"/>
                    <a:lstStyle/>
                    <a:p>
                      <a:pPr>
                        <a:defRPr sz="1000">
                          <a:latin typeface="Calibri"/>
                        </a:defRPr>
                      </a:pPr>
                      <a:r>
                        <a:t>2024-06-15 00:00:00</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3)</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2311-FS-ID-02</a:t>
                      </a:r>
                    </a:p>
                  </a:txBody>
                  <a:tcPr/>
                </a:tc>
                <a:tc>
                  <a:txBody>
                    <a:bodyPr wrap="square"/>
                    <a:lstStyle/>
                    <a:p>
                      <a:pPr>
                        <a:defRPr sz="1000">
                          <a:latin typeface="Calibri"/>
                        </a:defRPr>
                      </a:pPr>
                      <a:r>
                        <a:t>Replace the Steel access cover used within MGI with a Plastic (PP(assumed)) one as used in KIA</a:t>
                      </a:r>
                    </a:p>
                  </a:txBody>
                  <a:tcPr/>
                </a:tc>
                <a:tc>
                  <a:txBody>
                    <a:bodyPr wrap="square"/>
                    <a:lstStyle/>
                    <a:p>
                      <a:pPr>
                        <a:defRPr sz="1000">
                          <a:latin typeface="Calibri"/>
                        </a:defRPr>
                      </a:pPr>
                      <a:r>
                        <a:t>Confirm technical feasibilty </a:t>
                      </a:r>
                    </a:p>
                  </a:txBody>
                  <a:tcPr/>
                </a:tc>
                <a:tc>
                  <a:txBody>
                    <a:bodyPr wrap="square"/>
                    <a:lstStyle/>
                    <a:p>
                      <a:pPr>
                        <a:defRPr sz="1000">
                          <a:latin typeface="Calibri"/>
                        </a:defRPr>
                      </a:pPr>
                      <a:r>
                        <a:t>INR 144.0</a:t>
                      </a:r>
                    </a:p>
                  </a:txBody>
                  <a:tcPr/>
                </a:tc>
                <a:tc>
                  <a:txBody>
                    <a:bodyPr wrap="square"/>
                    <a:lstStyle/>
                    <a:p>
                      <a:pPr>
                        <a:defRPr sz="1000">
                          <a:latin typeface="Calibri"/>
                        </a:defRPr>
                      </a:pPr>
                      <a:r>
                        <a:t>TBD</a:t>
                      </a:r>
                    </a:p>
                  </a:txBody>
                  <a:tcPr/>
                </a:tc>
                <a:tc>
                  <a:txBody>
                    <a:bodyPr wrap="square"/>
                    <a:lstStyle/>
                    <a:p>
                      <a:pPr>
                        <a:defRPr sz="1000">
                          <a:latin typeface="Calibri"/>
                        </a:defRPr>
                      </a:pPr>
                      <a:r>
                        <a:t>Confirm technical feasibilty </a:t>
                      </a:r>
                    </a:p>
                  </a:txBody>
                  <a:tcPr/>
                </a:tc>
                <a:tc>
                  <a:txBody>
                    <a:bodyPr wrap="square"/>
                    <a:lstStyle/>
                    <a:p>
                      <a:pPr>
                        <a:defRPr sz="1000">
                          <a:latin typeface="Calibri"/>
                        </a:defRPr>
                      </a:pPr>
                      <a:r>
                        <a:t>Sumanta</a:t>
                      </a:r>
                    </a:p>
                  </a:txBody>
                  <a:tcPr/>
                </a:tc>
                <a:tc>
                  <a:txBody>
                    <a:bodyPr wrap="square"/>
                    <a:lstStyle/>
                    <a:p>
                      <a:pPr>
                        <a:defRPr sz="1000">
                          <a:latin typeface="Calibri"/>
                        </a:defRPr>
                      </a:pPr>
                      <a:r>
                        <a:t>2024-04-23 00:00:00</a:t>
                      </a:r>
                    </a:p>
                  </a:txBody>
                  <a:tcPr/>
                </a:tc>
              </a:tr>
              <a:tr h="320040">
                <a:tc>
                  <a:txBody>
                    <a:bodyPr wrap="square"/>
                    <a:lstStyle/>
                    <a:p>
                      <a:pPr>
                        <a:defRPr sz="1000">
                          <a:latin typeface="Calibri"/>
                        </a:defRPr>
                      </a:pPr>
                      <a:r>
                        <a:t>2311-SS-ID-01</a:t>
                      </a:r>
                    </a:p>
                  </a:txBody>
                  <a:tcPr/>
                </a:tc>
                <a:tc>
                  <a:txBody>
                    <a:bodyPr wrap="square"/>
                    <a:lstStyle/>
                    <a:p>
                      <a:pPr>
                        <a:defRPr sz="1000">
                          <a:latin typeface="Calibri"/>
                        </a:defRPr>
                      </a:pPr>
                      <a:r>
                        <a:t>Reduce the width from the upper edge of the PVC panel of seat vent by 90mm.</a:t>
                      </a:r>
                    </a:p>
                  </a:txBody>
                  <a:tcPr/>
                </a:tc>
                <a:tc>
                  <a:txBody>
                    <a:bodyPr wrap="square"/>
                    <a:lstStyle/>
                    <a:p>
                      <a:pPr>
                        <a:defRPr sz="1000">
                          <a:latin typeface="Calibri"/>
                        </a:defRPr>
                      </a:pPr>
                      <a:r>
                        <a:t>nan</a:t>
                      </a:r>
                    </a:p>
                  </a:txBody>
                  <a:tcPr/>
                </a:tc>
                <a:tc>
                  <a:txBody>
                    <a:bodyPr wrap="square"/>
                    <a:lstStyle/>
                    <a:p>
                      <a:pPr>
                        <a:defRPr sz="1000">
                          <a:latin typeface="Calibri"/>
                        </a:defRPr>
                      </a:pPr>
                      <a:r>
                        <a:t>INR 144.0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2311-DA-ID-07</a:t>
                      </a:r>
                    </a:p>
                  </a:txBody>
                  <a:tcPr/>
                </a:tc>
                <a:tc>
                  <a:txBody>
                    <a:bodyPr wrap="square"/>
                    <a:lstStyle/>
                    <a:p>
                      <a:pPr>
                        <a:defRPr sz="1000">
                          <a:latin typeface="Calibri"/>
                        </a:defRPr>
                      </a:pPr>
                      <a:r>
                        <a:t>Replace PA6-GF30 with PA6-GF20 in the manufacture of the Tailgate Release/Handle Trim</a:t>
                      </a:r>
                    </a:p>
                  </a:txBody>
                  <a:tcPr/>
                </a:tc>
                <a:tc>
                  <a:txBody>
                    <a:bodyPr wrap="square"/>
                    <a:lstStyle/>
                    <a:p>
                      <a:pPr>
                        <a:defRPr sz="1000">
                          <a:latin typeface="Calibri"/>
                        </a:defRPr>
                      </a:pPr>
                      <a:r>
                        <a:t>Confirm change content</a:t>
                      </a:r>
                    </a:p>
                  </a:txBody>
                  <a:tcPr/>
                </a:tc>
                <a:tc>
                  <a:txBody>
                    <a:bodyPr wrap="square"/>
                    <a:lstStyle/>
                    <a:p>
                      <a:pPr>
                        <a:defRPr sz="1000">
                          <a:latin typeface="Calibri"/>
                        </a:defRPr>
                      </a:pPr>
                      <a:r>
                        <a:t>INR 143.0</a:t>
                      </a:r>
                    </a:p>
                  </a:txBody>
                  <a:tcPr/>
                </a:tc>
                <a:tc>
                  <a:txBody>
                    <a:bodyPr wrap="square"/>
                    <a:lstStyle/>
                    <a:p>
                      <a:pPr>
                        <a:defRPr sz="1000">
                          <a:latin typeface="Calibri"/>
                        </a:defRPr>
                      </a:pPr>
                      <a:r>
                        <a:t>NG</a:t>
                      </a:r>
                    </a:p>
                  </a:txBody>
                  <a:tcPr/>
                </a:tc>
                <a:tc>
                  <a:txBody>
                    <a:bodyPr wrap="square"/>
                    <a:lstStyle/>
                    <a:p>
                      <a:pPr>
                        <a:defRPr sz="1000">
                          <a:latin typeface="Calibri"/>
                        </a:defRPr>
                      </a:pPr>
                      <a:r>
                        <a:t>Confirm change content</a:t>
                      </a:r>
                    </a:p>
                  </a:txBody>
                  <a:tcPr/>
                </a:tc>
                <a:tc>
                  <a:txBody>
                    <a:bodyPr wrap="square"/>
                    <a:lstStyle/>
                    <a:p>
                      <a:pPr>
                        <a:defRPr sz="1000">
                          <a:latin typeface="Calibri"/>
                        </a:defRPr>
                      </a:pPr>
                      <a:r>
                        <a:t>Narendra</a:t>
                      </a:r>
                    </a:p>
                  </a:txBody>
                  <a:tcPr/>
                </a:tc>
                <a:tc>
                  <a:txBody>
                    <a:bodyPr wrap="square"/>
                    <a:lstStyle/>
                    <a:p>
                      <a:pPr>
                        <a:defRPr sz="1000">
                          <a:latin typeface="Calibri"/>
                        </a:defRPr>
                      </a:pPr>
                      <a:r>
                        <a:t>2023-11-24 00:00:00</a:t>
                      </a:r>
                    </a:p>
                  </a:txBody>
                  <a:tcPr/>
                </a:tc>
              </a:tr>
              <a:tr h="320040">
                <a:tc>
                  <a:txBody>
                    <a:bodyPr wrap="square"/>
                    <a:lstStyle/>
                    <a:p>
                      <a:pPr>
                        <a:defRPr sz="1000">
                          <a:latin typeface="Calibri"/>
                        </a:defRPr>
                      </a:pPr>
                      <a:r>
                        <a:t>2311-EL-ID-01</a:t>
                      </a:r>
                    </a:p>
                  </a:txBody>
                  <a:tcPr/>
                </a:tc>
                <a:tc>
                  <a:txBody>
                    <a:bodyPr wrap="square"/>
                    <a:lstStyle/>
                    <a:p>
                      <a:pPr>
                        <a:defRPr sz="1000">
                          <a:latin typeface="Calibri"/>
                        </a:defRPr>
                      </a:pPr>
                      <a:r>
                        <a:t>Replace the 16-pin connector set used on the IRVM assembly with an 8-pin connector set.</a:t>
                      </a:r>
                    </a:p>
                  </a:txBody>
                  <a:tcPr/>
                </a:tc>
                <a:tc>
                  <a:txBody>
                    <a:bodyPr wrap="square"/>
                    <a:lstStyle/>
                    <a:p>
                      <a:pPr>
                        <a:defRPr sz="1000">
                          <a:latin typeface="Calibri"/>
                        </a:defRPr>
                      </a:pPr>
                      <a:r>
                        <a:t>Confirm on 10 pin connector availability with supplier (similar to Kia)</a:t>
                      </a:r>
                    </a:p>
                  </a:txBody>
                  <a:tcPr/>
                </a:tc>
                <a:tc>
                  <a:txBody>
                    <a:bodyPr wrap="square"/>
                    <a:lstStyle/>
                    <a:p>
                      <a:pPr>
                        <a:defRPr sz="1000">
                          <a:latin typeface="Calibri"/>
                        </a:defRPr>
                      </a:pPr>
                      <a:r>
                        <a:t>INR 142.0</a:t>
                      </a:r>
                    </a:p>
                  </a:txBody>
                  <a:tcPr/>
                </a:tc>
                <a:tc>
                  <a:txBody>
                    <a:bodyPr wrap="square"/>
                    <a:lstStyle/>
                    <a:p>
                      <a:pPr>
                        <a:defRPr sz="1000">
                          <a:latin typeface="Calibri"/>
                        </a:defRPr>
                      </a:pPr>
                      <a:r>
                        <a:t>NG</a:t>
                      </a:r>
                    </a:p>
                  </a:txBody>
                  <a:tcPr/>
                </a:tc>
                <a:tc>
                  <a:txBody>
                    <a:bodyPr wrap="square"/>
                    <a:lstStyle/>
                    <a:p>
                      <a:pPr>
                        <a:defRPr sz="1000">
                          <a:latin typeface="Calibri"/>
                        </a:defRPr>
                      </a:pPr>
                      <a:r>
                        <a:t>Confirm on 10 pin connector availability with supplier (similar to Kia)</a:t>
                      </a:r>
                    </a:p>
                  </a:txBody>
                  <a:tcPr/>
                </a:tc>
                <a:tc>
                  <a:txBody>
                    <a:bodyPr wrap="square"/>
                    <a:lstStyle/>
                    <a:p>
                      <a:pPr>
                        <a:defRPr sz="1000">
                          <a:latin typeface="Calibri"/>
                        </a:defRPr>
                      </a:pPr>
                      <a:r>
                        <a:t>Narendra</a:t>
                      </a:r>
                    </a:p>
                  </a:txBody>
                  <a:tcPr/>
                </a:tc>
                <a:tc>
                  <a:txBody>
                    <a:bodyPr wrap="square"/>
                    <a:lstStyle/>
                    <a:p>
                      <a:pPr>
                        <a:defRPr sz="1000">
                          <a:latin typeface="Calibri"/>
                        </a:defRPr>
                      </a:pPr>
                      <a:r>
                        <a:t>2023-11-24 00:00:00</a:t>
                      </a:r>
                    </a:p>
                  </a:txBody>
                  <a:tcPr/>
                </a:tc>
              </a:tr>
              <a:tr h="320040">
                <a:tc>
                  <a:txBody>
                    <a:bodyPr wrap="square"/>
                    <a:lstStyle/>
                    <a:p>
                      <a:pPr>
                        <a:defRPr sz="1000">
                          <a:latin typeface="Calibri"/>
                        </a:defRPr>
                      </a:pPr>
                      <a:r>
                        <a:t>2311-FS-ID-01</a:t>
                      </a:r>
                    </a:p>
                  </a:txBody>
                  <a:tcPr/>
                </a:tc>
                <a:tc>
                  <a:txBody>
                    <a:bodyPr wrap="square"/>
                    <a:lstStyle/>
                    <a:p>
                      <a:pPr>
                        <a:defRPr sz="1000">
                          <a:latin typeface="Calibri"/>
                        </a:defRPr>
                      </a:pPr>
                      <a:r>
                        <a:t>Remove the Neoprene Foam Sheaths present on the fuel lines and the fuel inlet hose of MGI</a:t>
                      </a:r>
                    </a:p>
                  </a:txBody>
                  <a:tcPr/>
                </a:tc>
                <a:tc>
                  <a:txBody>
                    <a:bodyPr wrap="square"/>
                    <a:lstStyle/>
                    <a:p>
                      <a:pPr>
                        <a:defRPr sz="1000">
                          <a:latin typeface="Calibri"/>
                        </a:defRPr>
                      </a:pPr>
                      <a:r>
                        <a:t>Confirm Kia routing photos for analysis with ASI</a:t>
                      </a:r>
                    </a:p>
                  </a:txBody>
                  <a:tcPr/>
                </a:tc>
                <a:tc>
                  <a:txBody>
                    <a:bodyPr wrap="square"/>
                    <a:lstStyle/>
                    <a:p>
                      <a:pPr>
                        <a:defRPr sz="1000">
                          <a:latin typeface="Calibri"/>
                        </a:defRPr>
                      </a:pPr>
                      <a:r>
                        <a:t>INR 142.0</a:t>
                      </a:r>
                    </a:p>
                  </a:txBody>
                  <a:tcPr/>
                </a:tc>
                <a:tc>
                  <a:txBody>
                    <a:bodyPr wrap="square"/>
                    <a:lstStyle/>
                    <a:p>
                      <a:pPr>
                        <a:defRPr sz="1000">
                          <a:latin typeface="Calibri"/>
                        </a:defRPr>
                      </a:pPr>
                      <a:r>
                        <a:t>NG</a:t>
                      </a:r>
                    </a:p>
                  </a:txBody>
                  <a:tcPr/>
                </a:tc>
                <a:tc>
                  <a:txBody>
                    <a:bodyPr wrap="square"/>
                    <a:lstStyle/>
                    <a:p>
                      <a:pPr>
                        <a:defRPr sz="1000">
                          <a:latin typeface="Calibri"/>
                        </a:defRPr>
                      </a:pPr>
                      <a:r>
                        <a:t>Confirm Kia routing photos for analysis with ASI</a:t>
                      </a:r>
                    </a:p>
                  </a:txBody>
                  <a:tcPr/>
                </a:tc>
                <a:tc>
                  <a:txBody>
                    <a:bodyPr wrap="square"/>
                    <a:lstStyle/>
                    <a:p>
                      <a:pPr>
                        <a:defRPr sz="1000">
                          <a:latin typeface="Calibri"/>
                        </a:defRPr>
                      </a:pPr>
                      <a:r>
                        <a:t>Ratnadeep</a:t>
                      </a:r>
                    </a:p>
                  </a:txBody>
                  <a:tcPr/>
                </a:tc>
                <a:tc>
                  <a:txBody>
                    <a:bodyPr wrap="square"/>
                    <a:lstStyle/>
                    <a:p>
                      <a:pPr>
                        <a:defRPr sz="1000">
                          <a:latin typeface="Calibri"/>
                        </a:defRPr>
                      </a:pPr>
                      <a:r>
                        <a:t>2024-02-12 00:00:00</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4)</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2311-IP-ID-05</a:t>
                      </a:r>
                    </a:p>
                  </a:txBody>
                  <a:tcPr/>
                </a:tc>
                <a:tc>
                  <a:txBody>
                    <a:bodyPr wrap="square"/>
                    <a:lstStyle/>
                    <a:p>
                      <a:pPr>
                        <a:defRPr sz="1000">
                          <a:latin typeface="Calibri"/>
                        </a:defRPr>
                      </a:pPr>
                      <a:r>
                        <a:t>Replace PP+EPDM+T20 with PP+T20 in the manufacture of the dashboard upper trim of the vehicle</a:t>
                      </a:r>
                    </a:p>
                  </a:txBody>
                  <a:tcPr/>
                </a:tc>
                <a:tc>
                  <a:txBody>
                    <a:bodyPr wrap="square"/>
                    <a:lstStyle/>
                    <a:p>
                      <a:pPr>
                        <a:defRPr sz="1000">
                          <a:latin typeface="Calibri"/>
                        </a:defRPr>
                      </a:pPr>
                      <a:r>
                        <a:t>nan</a:t>
                      </a:r>
                    </a:p>
                  </a:txBody>
                  <a:tcPr/>
                </a:tc>
                <a:tc>
                  <a:txBody>
                    <a:bodyPr wrap="square"/>
                    <a:lstStyle/>
                    <a:p>
                      <a:pPr>
                        <a:defRPr sz="1000">
                          <a:latin typeface="Calibri"/>
                        </a:defRPr>
                      </a:pPr>
                      <a:r>
                        <a:t>INR 141.0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2311-PRODUCT-ID-13</a:t>
                      </a:r>
                    </a:p>
                  </a:txBody>
                  <a:tcPr/>
                </a:tc>
                <a:tc>
                  <a:txBody>
                    <a:bodyPr wrap="square"/>
                    <a:lstStyle/>
                    <a:p>
                      <a:pPr>
                        <a:defRPr sz="1000">
                          <a:latin typeface="Calibri"/>
                        </a:defRPr>
                      </a:pPr>
                      <a:r>
                        <a:t>Eliminate the plastic trim provided around the bottom anchor point at the driver side seatbelt and follow the same methodology provided at the co-driver's side.</a:t>
                      </a:r>
                    </a:p>
                  </a:txBody>
                  <a:tcPr/>
                </a:tc>
                <a:tc>
                  <a:txBody>
                    <a:bodyPr wrap="square"/>
                    <a:lstStyle/>
                    <a:p>
                      <a:pPr>
                        <a:defRPr sz="1000">
                          <a:latin typeface="Calibri"/>
                        </a:defRPr>
                      </a:pPr>
                      <a:r>
                        <a:t>nan</a:t>
                      </a:r>
                    </a:p>
                  </a:txBody>
                  <a:tcPr/>
                </a:tc>
                <a:tc>
                  <a:txBody>
                    <a:bodyPr wrap="square"/>
                    <a:lstStyle/>
                    <a:p>
                      <a:pPr>
                        <a:defRPr sz="1000">
                          <a:latin typeface="Calibri"/>
                        </a:defRPr>
                      </a:pPr>
                      <a:r>
                        <a:t>INR 141.0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2311-PRODUCT-ID-18</a:t>
                      </a:r>
                    </a:p>
                  </a:txBody>
                  <a:tcPr/>
                </a:tc>
                <a:tc>
                  <a:txBody>
                    <a:bodyPr wrap="square"/>
                    <a:lstStyle/>
                    <a:p>
                      <a:pPr>
                        <a:defRPr sz="1000">
                          <a:latin typeface="Calibri"/>
                        </a:defRPr>
                      </a:pPr>
                      <a:r>
                        <a:t>Reduce the diameter of the Headrest Rods from 12.6mm to 10mm</a:t>
                      </a:r>
                    </a:p>
                  </a:txBody>
                  <a:tcPr/>
                </a:tc>
                <a:tc>
                  <a:txBody>
                    <a:bodyPr wrap="square"/>
                    <a:lstStyle/>
                    <a:p>
                      <a:pPr>
                        <a:defRPr sz="1000">
                          <a:latin typeface="Calibri"/>
                        </a:defRPr>
                      </a:pPr>
                      <a:r>
                        <a:t>Check for combined business case</a:t>
                      </a:r>
                    </a:p>
                  </a:txBody>
                  <a:tcPr/>
                </a:tc>
                <a:tc>
                  <a:txBody>
                    <a:bodyPr wrap="square"/>
                    <a:lstStyle/>
                    <a:p>
                      <a:pPr>
                        <a:defRPr sz="1000">
                          <a:latin typeface="Calibri"/>
                        </a:defRPr>
                      </a:pPr>
                      <a:r>
                        <a:t>INR 141.0</a:t>
                      </a:r>
                    </a:p>
                  </a:txBody>
                  <a:tcPr/>
                </a:tc>
                <a:tc>
                  <a:txBody>
                    <a:bodyPr wrap="square"/>
                    <a:lstStyle/>
                    <a:p>
                      <a:pPr>
                        <a:defRPr sz="1000">
                          <a:latin typeface="Calibri"/>
                        </a:defRPr>
                      </a:pPr>
                      <a:r>
                        <a:t>NG</a:t>
                      </a:r>
                    </a:p>
                  </a:txBody>
                  <a:tcPr/>
                </a:tc>
                <a:tc>
                  <a:txBody>
                    <a:bodyPr wrap="square"/>
                    <a:lstStyle/>
                    <a:p>
                      <a:pPr>
                        <a:defRPr sz="1000">
                          <a:latin typeface="Calibri"/>
                        </a:defRPr>
                      </a:pPr>
                      <a:r>
                        <a:t>Check for combined business case</a:t>
                      </a:r>
                    </a:p>
                  </a:txBody>
                  <a:tcPr/>
                </a:tc>
                <a:tc>
                  <a:txBody>
                    <a:bodyPr wrap="square"/>
                    <a:lstStyle/>
                    <a:p>
                      <a:pPr>
                        <a:defRPr sz="1000">
                          <a:latin typeface="Calibri"/>
                        </a:defRPr>
                      </a:pPr>
                      <a:r>
                        <a:t>Kalp</a:t>
                      </a:r>
                    </a:p>
                  </a:txBody>
                  <a:tcPr/>
                </a:tc>
                <a:tc>
                  <a:txBody>
                    <a:bodyPr wrap="square"/>
                    <a:lstStyle/>
                    <a:p>
                      <a:pPr>
                        <a:defRPr sz="1000">
                          <a:latin typeface="Calibri"/>
                        </a:defRPr>
                      </a:pPr>
                      <a:r>
                        <a:t>2023-11-24 00:00:00</a:t>
                      </a:r>
                    </a:p>
                  </a:txBody>
                  <a:tcPr/>
                </a:tc>
              </a:tr>
              <a:tr h="320040">
                <a:tc>
                  <a:txBody>
                    <a:bodyPr wrap="square"/>
                    <a:lstStyle/>
                    <a:p>
                      <a:pPr>
                        <a:defRPr sz="1000">
                          <a:latin typeface="Calibri"/>
                        </a:defRPr>
                      </a:pPr>
                      <a:r>
                        <a:t>2311-ET-ID-17</a:t>
                      </a:r>
                    </a:p>
                  </a:txBody>
                  <a:tcPr/>
                </a:tc>
                <a:tc>
                  <a:txBody>
                    <a:bodyPr wrap="square"/>
                    <a:lstStyle/>
                    <a:p>
                      <a:pPr>
                        <a:defRPr sz="1000">
                          <a:latin typeface="Calibri"/>
                        </a:defRPr>
                      </a:pPr>
                      <a:r>
                        <a:t>Reduce the wall thickness of the Bumper Lower Trim from 2.8mm to 2.4mm</a:t>
                      </a:r>
                    </a:p>
                  </a:txBody>
                  <a:tcPr/>
                </a:tc>
                <a:tc>
                  <a:txBody>
                    <a:bodyPr wrap="square"/>
                    <a:lstStyle/>
                    <a:p>
                      <a:pPr>
                        <a:defRPr sz="1000">
                          <a:latin typeface="Calibri"/>
                        </a:defRPr>
                      </a:pPr>
                      <a:r>
                        <a:t>nan</a:t>
                      </a:r>
                    </a:p>
                  </a:txBody>
                  <a:tcPr/>
                </a:tc>
                <a:tc>
                  <a:txBody>
                    <a:bodyPr wrap="square"/>
                    <a:lstStyle/>
                    <a:p>
                      <a:pPr>
                        <a:defRPr sz="1000">
                          <a:latin typeface="Calibri"/>
                        </a:defRPr>
                      </a:pPr>
                      <a:r>
                        <a:t>INR 141.0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2311-IP-ID-16</a:t>
                      </a:r>
                    </a:p>
                  </a:txBody>
                  <a:tcPr/>
                </a:tc>
                <a:tc>
                  <a:txBody>
                    <a:bodyPr wrap="square"/>
                    <a:lstStyle/>
                    <a:p>
                      <a:pPr>
                        <a:defRPr sz="1000">
                          <a:latin typeface="Calibri"/>
                        </a:defRPr>
                      </a:pPr>
                      <a:r>
                        <a:t>Replace PC-ABS with ABS in the manufacture of both Instrument Cluster Fascia Decorative Trim and the IP LHS &amp; RHS Decorative Trims since the finish could be achieved on ABS-made trims as well</a:t>
                      </a:r>
                    </a:p>
                  </a:txBody>
                  <a:tcPr/>
                </a:tc>
                <a:tc>
                  <a:txBody>
                    <a:bodyPr wrap="square"/>
                    <a:lstStyle/>
                    <a:p>
                      <a:pPr>
                        <a:defRPr sz="1000">
                          <a:latin typeface="Calibri"/>
                        </a:defRPr>
                      </a:pPr>
                      <a:r>
                        <a:t>Potential saving evaluation of RM level is required to take this with SGMW for further discussions.</a:t>
                      </a:r>
                    </a:p>
                  </a:txBody>
                  <a:tcPr/>
                </a:tc>
                <a:tc>
                  <a:txBody>
                    <a:bodyPr wrap="square"/>
                    <a:lstStyle/>
                    <a:p>
                      <a:pPr>
                        <a:defRPr sz="1000">
                          <a:latin typeface="Calibri"/>
                        </a:defRPr>
                      </a:pPr>
                      <a:r>
                        <a:t>INR 140.0</a:t>
                      </a:r>
                    </a:p>
                  </a:txBody>
                  <a:tcPr/>
                </a:tc>
                <a:tc>
                  <a:txBody>
                    <a:bodyPr wrap="square"/>
                    <a:lstStyle/>
                    <a:p>
                      <a:pPr>
                        <a:defRPr sz="1000">
                          <a:latin typeface="Calibri"/>
                        </a:defRPr>
                      </a:pPr>
                      <a:r>
                        <a:t>TBD</a:t>
                      </a:r>
                    </a:p>
                  </a:txBody>
                  <a:tcPr/>
                </a:tc>
                <a:tc>
                  <a:txBody>
                    <a:bodyPr wrap="square"/>
                    <a:lstStyle/>
                    <a:p>
                      <a:pPr>
                        <a:defRPr sz="1000">
                          <a:latin typeface="Calibri"/>
                        </a:defRPr>
                      </a:pPr>
                      <a:r>
                        <a:t>Potential saving evaluation of RM level is required to take this with SGMW for further discussions.</a:t>
                      </a:r>
                    </a:p>
                  </a:txBody>
                  <a:tcPr/>
                </a:tc>
                <a:tc>
                  <a:txBody>
                    <a:bodyPr wrap="square"/>
                    <a:lstStyle/>
                    <a:p>
                      <a:pPr>
                        <a:defRPr sz="1000">
                          <a:latin typeface="Calibri"/>
                        </a:defRPr>
                      </a:pPr>
                      <a:r>
                        <a:t>Kalp </a:t>
                      </a:r>
                    </a:p>
                  </a:txBody>
                  <a:tcPr/>
                </a:tc>
                <a:tc>
                  <a:txBody>
                    <a:bodyPr wrap="square"/>
                    <a:lstStyle/>
                    <a:p>
                      <a:pPr>
                        <a:defRPr sz="1000">
                          <a:latin typeface="Calibri"/>
                        </a:defRPr>
                      </a:pPr>
                      <a:r>
                        <a:t>nan</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5)</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2311-IT-ID-17</a:t>
                      </a:r>
                    </a:p>
                  </a:txBody>
                  <a:tcPr/>
                </a:tc>
                <a:tc>
                  <a:txBody>
                    <a:bodyPr wrap="square"/>
                    <a:lstStyle/>
                    <a:p>
                      <a:pPr>
                        <a:defRPr sz="1000">
                          <a:latin typeface="Calibri"/>
                        </a:defRPr>
                      </a:pPr>
                      <a:r>
                        <a:t>Replace the Thinsulate used in between the Interior Trims of MGI with Felt</a:t>
                      </a:r>
                    </a:p>
                  </a:txBody>
                  <a:tcPr/>
                </a:tc>
                <a:tc>
                  <a:txBody>
                    <a:bodyPr wrap="square"/>
                    <a:lstStyle/>
                    <a:p>
                      <a:pPr>
                        <a:defRPr sz="1000">
                          <a:latin typeface="Calibri"/>
                        </a:defRPr>
                      </a:pPr>
                      <a:r>
                        <a:t>Confirm on part availability</a:t>
                      </a:r>
                    </a:p>
                  </a:txBody>
                  <a:tcPr/>
                </a:tc>
                <a:tc>
                  <a:txBody>
                    <a:bodyPr wrap="square"/>
                    <a:lstStyle/>
                    <a:p>
                      <a:pPr>
                        <a:defRPr sz="1000">
                          <a:latin typeface="Calibri"/>
                        </a:defRPr>
                      </a:pPr>
                      <a:r>
                        <a:t>INR 140.0</a:t>
                      </a:r>
                    </a:p>
                  </a:txBody>
                  <a:tcPr/>
                </a:tc>
                <a:tc>
                  <a:txBody>
                    <a:bodyPr wrap="square"/>
                    <a:lstStyle/>
                    <a:p>
                      <a:pPr>
                        <a:defRPr sz="1000">
                          <a:latin typeface="Calibri"/>
                        </a:defRPr>
                      </a:pPr>
                      <a:r>
                        <a:t>TBD</a:t>
                      </a:r>
                    </a:p>
                  </a:txBody>
                  <a:tcPr/>
                </a:tc>
                <a:tc>
                  <a:txBody>
                    <a:bodyPr wrap="square"/>
                    <a:lstStyle/>
                    <a:p>
                      <a:pPr>
                        <a:defRPr sz="1000">
                          <a:latin typeface="Calibri"/>
                        </a:defRPr>
                      </a:pPr>
                      <a:r>
                        <a:t>Confirm on part availability</a:t>
                      </a:r>
                    </a:p>
                  </a:txBody>
                  <a:tcPr/>
                </a:tc>
                <a:tc>
                  <a:txBody>
                    <a:bodyPr wrap="square"/>
                    <a:lstStyle/>
                    <a:p>
                      <a:pPr>
                        <a:defRPr sz="1000">
                          <a:latin typeface="Calibri"/>
                        </a:defRPr>
                      </a:pPr>
                      <a:r>
                        <a:t>Akhil/ Narendra</a:t>
                      </a:r>
                    </a:p>
                  </a:txBody>
                  <a:tcPr/>
                </a:tc>
                <a:tc>
                  <a:txBody>
                    <a:bodyPr wrap="square"/>
                    <a:lstStyle/>
                    <a:p>
                      <a:pPr>
                        <a:defRPr sz="1000">
                          <a:latin typeface="Calibri"/>
                        </a:defRPr>
                      </a:pPr>
                      <a:r>
                        <a:t>29-Mar-24</a:t>
                      </a:r>
                    </a:p>
                    <a:p>
                      <a:pPr>
                        <a:defRPr sz="1000">
                          <a:latin typeface="Calibri"/>
                        </a:defRPr>
                      </a:pPr>
                      <a:r>
                        <a:t>16-Feb-24</a:t>
                      </a:r>
                    </a:p>
                  </a:txBody>
                  <a:tcPr/>
                </a:tc>
              </a:tr>
              <a:tr h="320040">
                <a:tc>
                  <a:txBody>
                    <a:bodyPr wrap="square"/>
                    <a:lstStyle/>
                    <a:p>
                      <a:pPr>
                        <a:defRPr sz="1000">
                          <a:latin typeface="Calibri"/>
                        </a:defRPr>
                      </a:pPr>
                      <a:r>
                        <a:t>2311-EL-ID-25</a:t>
                      </a:r>
                    </a:p>
                  </a:txBody>
                  <a:tcPr/>
                </a:tc>
                <a:tc>
                  <a:txBody>
                    <a:bodyPr wrap="square"/>
                    <a:lstStyle/>
                    <a:p>
                      <a:pPr>
                        <a:defRPr sz="1000">
                          <a:latin typeface="Calibri"/>
                        </a:defRPr>
                      </a:pPr>
                      <a:r>
                        <a:t>Replace Brass with Steel in the manufacture of the Main Terminal Connector Bolt within the Engine-Bay Fusebox Assembly of MGI</a:t>
                      </a:r>
                    </a:p>
                  </a:txBody>
                  <a:tcPr/>
                </a:tc>
                <a:tc>
                  <a:txBody>
                    <a:bodyPr wrap="square"/>
                    <a:lstStyle/>
                    <a:p>
                      <a:pPr>
                        <a:defRPr sz="1000">
                          <a:latin typeface="Calibri"/>
                        </a:defRPr>
                      </a:pPr>
                      <a:r>
                        <a:t>nan</a:t>
                      </a:r>
                    </a:p>
                  </a:txBody>
                  <a:tcPr/>
                </a:tc>
                <a:tc>
                  <a:txBody>
                    <a:bodyPr wrap="square"/>
                    <a:lstStyle/>
                    <a:p>
                      <a:pPr>
                        <a:defRPr sz="1000">
                          <a:latin typeface="Calibri"/>
                        </a:defRPr>
                      </a:pPr>
                      <a:r>
                        <a:t>INR 140.0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2311-EL-ID-17</a:t>
                      </a:r>
                    </a:p>
                  </a:txBody>
                  <a:tcPr/>
                </a:tc>
                <a:tc>
                  <a:txBody>
                    <a:bodyPr wrap="square"/>
                    <a:lstStyle/>
                    <a:p>
                      <a:pPr>
                        <a:defRPr sz="1000">
                          <a:latin typeface="Calibri"/>
                        </a:defRPr>
                      </a:pPr>
                      <a:r>
                        <a:t>Replace the oxygen sensors used in MGI with the oxygen sensors used in KIA</a:t>
                      </a:r>
                    </a:p>
                  </a:txBody>
                  <a:tcPr/>
                </a:tc>
                <a:tc>
                  <a:txBody>
                    <a:bodyPr wrap="square"/>
                    <a:lstStyle/>
                    <a:p>
                      <a:pPr>
                        <a:defRPr sz="1000">
                          <a:latin typeface="Calibri"/>
                        </a:defRPr>
                      </a:pPr>
                      <a:r>
                        <a:t>Homeroom ideas to be bunched up and taken up for implementation at program level</a:t>
                      </a:r>
                    </a:p>
                    <a:p>
                      <a:pPr>
                        <a:defRPr sz="1000">
                          <a:latin typeface="Calibri"/>
                        </a:defRPr>
                      </a:pPr>
                    </a:p>
                  </a:txBody>
                  <a:tcPr/>
                </a:tc>
                <a:tc>
                  <a:txBody>
                    <a:bodyPr wrap="square"/>
                    <a:lstStyle/>
                    <a:p>
                      <a:pPr>
                        <a:defRPr sz="1000">
                          <a:latin typeface="Calibri"/>
                        </a:defRPr>
                      </a:pPr>
                      <a:r>
                        <a:t>INR 139.0</a:t>
                      </a:r>
                    </a:p>
                  </a:txBody>
                  <a:tcPr/>
                </a:tc>
                <a:tc>
                  <a:txBody>
                    <a:bodyPr wrap="square"/>
                    <a:lstStyle/>
                    <a:p>
                      <a:pPr>
                        <a:defRPr sz="1000">
                          <a:latin typeface="Calibri"/>
                        </a:defRPr>
                      </a:pPr>
                      <a:r>
                        <a:t>Hold</a:t>
                      </a:r>
                    </a:p>
                  </a:txBody>
                  <a:tcPr/>
                </a:tc>
                <a:tc>
                  <a:txBody>
                    <a:bodyPr wrap="square"/>
                    <a:lstStyle/>
                    <a:p>
                      <a:pPr>
                        <a:defRPr sz="1000">
                          <a:latin typeface="Calibri"/>
                        </a:defRPr>
                      </a:pPr>
                      <a:r>
                        <a:t>Homeroom ideas to be bunched up and taken up for implementation at program level</a:t>
                      </a:r>
                    </a:p>
                    <a:p>
                      <a:pPr>
                        <a:defRPr sz="1000">
                          <a:latin typeface="Calibri"/>
                        </a:defRPr>
                      </a:pPr>
                    </a:p>
                  </a:txBody>
                  <a:tcPr/>
                </a:tc>
                <a:tc>
                  <a:txBody>
                    <a:bodyPr wrap="square"/>
                    <a:lstStyle/>
                    <a:p>
                      <a:pPr>
                        <a:defRPr sz="1000">
                          <a:latin typeface="Calibri"/>
                        </a:defRPr>
                      </a:pPr>
                      <a:r>
                        <a:t>Manish Jaju</a:t>
                      </a:r>
                    </a:p>
                  </a:txBody>
                  <a:tcPr/>
                </a:tc>
                <a:tc>
                  <a:txBody>
                    <a:bodyPr wrap="square"/>
                    <a:lstStyle/>
                    <a:p>
                      <a:pPr>
                        <a:defRPr sz="1000">
                          <a:latin typeface="Calibri"/>
                        </a:defRPr>
                      </a:pPr>
                      <a:r>
                        <a:t>2024-02-20 00:00:00</a:t>
                      </a:r>
                    </a:p>
                  </a:txBody>
                  <a:tcPr/>
                </a:tc>
              </a:tr>
              <a:tr h="320040">
                <a:tc>
                  <a:txBody>
                    <a:bodyPr wrap="square"/>
                    <a:lstStyle/>
                    <a:p>
                      <a:pPr>
                        <a:defRPr sz="1000">
                          <a:latin typeface="Calibri"/>
                        </a:defRPr>
                      </a:pPr>
                      <a:r>
                        <a:t>2311-IP-ID-11</a:t>
                      </a:r>
                    </a:p>
                  </a:txBody>
                  <a:tcPr/>
                </a:tc>
                <a:tc>
                  <a:txBody>
                    <a:bodyPr wrap="square"/>
                    <a:lstStyle/>
                    <a:p>
                      <a:pPr>
                        <a:defRPr sz="1000">
                          <a:latin typeface="Calibri"/>
                        </a:defRPr>
                      </a:pPr>
                      <a:r>
                        <a:t>Replace PC-ABS with PP-TD40 in the manufacture of the Front-Row Air Vent Casings in MGI</a:t>
                      </a:r>
                    </a:p>
                  </a:txBody>
                  <a:tcPr/>
                </a:tc>
                <a:tc>
                  <a:txBody>
                    <a:bodyPr wrap="square"/>
                    <a:lstStyle/>
                    <a:p>
                      <a:pPr>
                        <a:defRPr sz="1000">
                          <a:latin typeface="Calibri"/>
                        </a:defRPr>
                      </a:pPr>
                      <a:r>
                        <a:t>Potential saving evaluation of RM level is required to take this with SGMW for further discussions.</a:t>
                      </a:r>
                    </a:p>
                  </a:txBody>
                  <a:tcPr/>
                </a:tc>
                <a:tc>
                  <a:txBody>
                    <a:bodyPr wrap="square"/>
                    <a:lstStyle/>
                    <a:p>
                      <a:pPr>
                        <a:defRPr sz="1000">
                          <a:latin typeface="Calibri"/>
                        </a:defRPr>
                      </a:pPr>
                      <a:r>
                        <a:t>INR 138.0</a:t>
                      </a:r>
                    </a:p>
                  </a:txBody>
                  <a:tcPr/>
                </a:tc>
                <a:tc>
                  <a:txBody>
                    <a:bodyPr wrap="square"/>
                    <a:lstStyle/>
                    <a:p>
                      <a:pPr>
                        <a:defRPr sz="1000">
                          <a:latin typeface="Calibri"/>
                        </a:defRPr>
                      </a:pPr>
                      <a:r>
                        <a:t>TBD</a:t>
                      </a:r>
                    </a:p>
                  </a:txBody>
                  <a:tcPr/>
                </a:tc>
                <a:tc>
                  <a:txBody>
                    <a:bodyPr wrap="square"/>
                    <a:lstStyle/>
                    <a:p>
                      <a:pPr>
                        <a:defRPr sz="1000">
                          <a:latin typeface="Calibri"/>
                        </a:defRPr>
                      </a:pPr>
                      <a:r>
                        <a:t>Potential saving evaluation of RM level is required to take this with SGMW for further discussions.</a:t>
                      </a:r>
                    </a:p>
                  </a:txBody>
                  <a:tcPr/>
                </a:tc>
                <a:tc>
                  <a:txBody>
                    <a:bodyPr wrap="square"/>
                    <a:lstStyle/>
                    <a:p>
                      <a:pPr>
                        <a:defRPr sz="1000">
                          <a:latin typeface="Calibri"/>
                        </a:defRPr>
                      </a:pPr>
                      <a:r>
                        <a:t>Kalp</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2311-EL-ID-11</a:t>
                      </a:r>
                    </a:p>
                  </a:txBody>
                  <a:tcPr/>
                </a:tc>
                <a:tc>
                  <a:txBody>
                    <a:bodyPr wrap="square"/>
                    <a:lstStyle/>
                    <a:p>
                      <a:pPr>
                        <a:defRPr sz="1000">
                          <a:latin typeface="Calibri"/>
                        </a:defRPr>
                      </a:pPr>
                      <a:r>
                        <a:t>Replace PC-ABS with ABS in the manufacture of Tail Lamp Housings of MGI</a:t>
                      </a:r>
                    </a:p>
                  </a:txBody>
                  <a:tcPr/>
                </a:tc>
                <a:tc>
                  <a:txBody>
                    <a:bodyPr wrap="square"/>
                    <a:lstStyle/>
                    <a:p>
                      <a:pPr>
                        <a:defRPr sz="1000">
                          <a:latin typeface="Calibri"/>
                        </a:defRPr>
                      </a:pPr>
                      <a:r>
                        <a:t>nan</a:t>
                      </a:r>
                    </a:p>
                  </a:txBody>
                  <a:tcPr/>
                </a:tc>
                <a:tc>
                  <a:txBody>
                    <a:bodyPr wrap="square"/>
                    <a:lstStyle/>
                    <a:p>
                      <a:pPr>
                        <a:defRPr sz="1000">
                          <a:latin typeface="Calibri"/>
                        </a:defRPr>
                      </a:pPr>
                      <a:r>
                        <a:t>INR 137.0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6)</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2311-IT-ID-08</a:t>
                      </a:r>
                    </a:p>
                  </a:txBody>
                  <a:tcPr/>
                </a:tc>
                <a:tc>
                  <a:txBody>
                    <a:bodyPr wrap="square"/>
                    <a:lstStyle/>
                    <a:p>
                      <a:pPr>
                        <a:defRPr sz="1000">
                          <a:latin typeface="Calibri"/>
                        </a:defRPr>
                      </a:pPr>
                      <a:r>
                        <a:t>Remove the EPDM sheet and integrate the PU Foam with the PE sheet.</a:t>
                      </a:r>
                    </a:p>
                  </a:txBody>
                  <a:tcPr/>
                </a:tc>
                <a:tc>
                  <a:txBody>
                    <a:bodyPr wrap="square"/>
                    <a:lstStyle/>
                    <a:p>
                      <a:pPr>
                        <a:defRPr sz="1000">
                          <a:latin typeface="Calibri"/>
                        </a:defRPr>
                      </a:pPr>
                      <a:r>
                        <a:t>Confirm on vehicel trial</a:t>
                      </a:r>
                    </a:p>
                  </a:txBody>
                  <a:tcPr/>
                </a:tc>
                <a:tc>
                  <a:txBody>
                    <a:bodyPr wrap="square"/>
                    <a:lstStyle/>
                    <a:p>
                      <a:pPr>
                        <a:defRPr sz="1000">
                          <a:latin typeface="Calibri"/>
                        </a:defRPr>
                      </a:pPr>
                      <a:r>
                        <a:t>INR 137.0</a:t>
                      </a:r>
                    </a:p>
                  </a:txBody>
                  <a:tcPr/>
                </a:tc>
                <a:tc>
                  <a:txBody>
                    <a:bodyPr wrap="square"/>
                    <a:lstStyle/>
                    <a:p>
                      <a:pPr>
                        <a:defRPr sz="1000">
                          <a:latin typeface="Calibri"/>
                        </a:defRPr>
                      </a:pPr>
                      <a:r>
                        <a:t>OK</a:t>
                      </a:r>
                    </a:p>
                  </a:txBody>
                  <a:tcPr/>
                </a:tc>
                <a:tc>
                  <a:txBody>
                    <a:bodyPr wrap="square"/>
                    <a:lstStyle/>
                    <a:p>
                      <a:pPr>
                        <a:defRPr sz="1000">
                          <a:latin typeface="Calibri"/>
                        </a:defRPr>
                      </a:pPr>
                      <a:r>
                        <a:t>Confirm on vehicel trial</a:t>
                      </a:r>
                    </a:p>
                  </a:txBody>
                  <a:tcPr/>
                </a:tc>
                <a:tc>
                  <a:txBody>
                    <a:bodyPr wrap="square"/>
                    <a:lstStyle/>
                    <a:p>
                      <a:pPr>
                        <a:defRPr sz="1000">
                          <a:latin typeface="Calibri"/>
                        </a:defRPr>
                      </a:pPr>
                      <a:r>
                        <a:t>Narendra/ Ratnadeep</a:t>
                      </a:r>
                    </a:p>
                  </a:txBody>
                  <a:tcPr/>
                </a:tc>
                <a:tc>
                  <a:txBody>
                    <a:bodyPr wrap="square"/>
                    <a:lstStyle/>
                    <a:p>
                      <a:pPr>
                        <a:defRPr sz="1000">
                          <a:latin typeface="Calibri"/>
                        </a:defRPr>
                      </a:pPr>
                      <a:r>
                        <a:t>2024-06-28 00:00:00</a:t>
                      </a:r>
                    </a:p>
                  </a:txBody>
                  <a:tcPr/>
                </a:tc>
              </a:tr>
              <a:tr h="320040">
                <a:tc>
                  <a:txBody>
                    <a:bodyPr wrap="square"/>
                    <a:lstStyle/>
                    <a:p>
                      <a:pPr>
                        <a:defRPr sz="1000">
                          <a:latin typeface="Calibri"/>
                        </a:defRPr>
                      </a:pPr>
                      <a:r>
                        <a:t>2311-EX-ID-01</a:t>
                      </a:r>
                    </a:p>
                  </a:txBody>
                  <a:tcPr/>
                </a:tc>
                <a:tc>
                  <a:txBody>
                    <a:bodyPr wrap="square"/>
                    <a:lstStyle/>
                    <a:p>
                      <a:pPr>
                        <a:defRPr sz="1000">
                          <a:latin typeface="Calibri"/>
                        </a:defRPr>
                      </a:pPr>
                      <a:r>
                        <a:t>1. Remove the rubber hanger from the extension pipe near the resonator, along with its associated mounting points, and rearrange the other hangers as shown in the figure.</a:t>
                      </a:r>
                    </a:p>
                    <a:p>
                      <a:pPr>
                        <a:defRPr sz="1000">
                          <a:latin typeface="Calibri"/>
                        </a:defRPr>
                      </a:pPr>
                      <a:r>
                        <a:t>2. Relocate the hangers mounted on the resonator to the top and bottom of the resonator (onto the exhaust pipe and the extension pipe)</a:t>
                      </a:r>
                    </a:p>
                  </a:txBody>
                  <a:tcPr/>
                </a:tc>
                <a:tc>
                  <a:txBody>
                    <a:bodyPr wrap="square"/>
                    <a:lstStyle/>
                    <a:p>
                      <a:pPr>
                        <a:defRPr sz="1000">
                          <a:latin typeface="Calibri"/>
                        </a:defRPr>
                      </a:pPr>
                      <a:r>
                        <a:t>nan</a:t>
                      </a:r>
                    </a:p>
                  </a:txBody>
                  <a:tcPr/>
                </a:tc>
                <a:tc>
                  <a:txBody>
                    <a:bodyPr wrap="square"/>
                    <a:lstStyle/>
                    <a:p>
                      <a:pPr>
                        <a:defRPr sz="1000">
                          <a:latin typeface="Calibri"/>
                        </a:defRPr>
                      </a:pPr>
                      <a:r>
                        <a:t>INR 136.0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2311-EL-ID-08</a:t>
                      </a:r>
                    </a:p>
                  </a:txBody>
                  <a:tcPr/>
                </a:tc>
                <a:tc>
                  <a:txBody>
                    <a:bodyPr wrap="square"/>
                    <a:lstStyle/>
                    <a:p>
                      <a:pPr>
                        <a:defRPr sz="1000">
                          <a:latin typeface="Calibri"/>
                        </a:defRPr>
                      </a:pPr>
                      <a:r>
                        <a:t>Update the battery mounting technique in MGI to align with the one employed in KIA, including a redesign of the battery-securing enclosure.</a:t>
                      </a:r>
                    </a:p>
                  </a:txBody>
                  <a:tcPr/>
                </a:tc>
                <a:tc>
                  <a:txBody>
                    <a:bodyPr wrap="square"/>
                    <a:lstStyle/>
                    <a:p>
                      <a:pPr>
                        <a:defRPr sz="1000">
                          <a:latin typeface="Calibri"/>
                        </a:defRPr>
                      </a:pPr>
                      <a:r>
                        <a:t>nan</a:t>
                      </a:r>
                    </a:p>
                  </a:txBody>
                  <a:tcPr/>
                </a:tc>
                <a:tc>
                  <a:txBody>
                    <a:bodyPr wrap="square"/>
                    <a:lstStyle/>
                    <a:p>
                      <a:pPr>
                        <a:defRPr sz="1000">
                          <a:latin typeface="Calibri"/>
                        </a:defRPr>
                      </a:pPr>
                      <a:r>
                        <a:t>INR 135.0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2311-DA-ID-10</a:t>
                      </a:r>
                    </a:p>
                  </a:txBody>
                  <a:tcPr/>
                </a:tc>
                <a:tc>
                  <a:txBody>
                    <a:bodyPr wrap="square"/>
                    <a:lstStyle/>
                    <a:p>
                      <a:pPr>
                        <a:defRPr sz="1000">
                          <a:latin typeface="Calibri"/>
                        </a:defRPr>
                      </a:pPr>
                      <a:r>
                        <a:t>Instead of using Aluminum in the manufacture of the Mirror Main Frame, use PA6-GF 50</a:t>
                      </a:r>
                    </a:p>
                  </a:txBody>
                  <a:tcPr/>
                </a:tc>
                <a:tc>
                  <a:txBody>
                    <a:bodyPr wrap="square"/>
                    <a:lstStyle/>
                    <a:p>
                      <a:pPr>
                        <a:defRPr sz="1000">
                          <a:latin typeface="Calibri"/>
                        </a:defRPr>
                      </a:pPr>
                      <a:r>
                        <a:t>Homeroom ideas to be bunched up and taken up for new program</a:t>
                      </a:r>
                    </a:p>
                    <a:p>
                      <a:pPr>
                        <a:defRPr sz="1000">
                          <a:latin typeface="Calibri"/>
                        </a:defRPr>
                      </a:pPr>
                    </a:p>
                  </a:txBody>
                  <a:tcPr/>
                </a:tc>
                <a:tc>
                  <a:txBody>
                    <a:bodyPr wrap="square"/>
                    <a:lstStyle/>
                    <a:p>
                      <a:pPr>
                        <a:defRPr sz="1000">
                          <a:latin typeface="Calibri"/>
                        </a:defRPr>
                      </a:pPr>
                      <a:r>
                        <a:t>INR 135.0</a:t>
                      </a:r>
                    </a:p>
                  </a:txBody>
                  <a:tcPr/>
                </a:tc>
                <a:tc>
                  <a:txBody>
                    <a:bodyPr wrap="square"/>
                    <a:lstStyle/>
                    <a:p>
                      <a:pPr>
                        <a:defRPr sz="1000">
                          <a:latin typeface="Calibri"/>
                        </a:defRPr>
                      </a:pPr>
                      <a:r>
                        <a:t>NG</a:t>
                      </a:r>
                    </a:p>
                  </a:txBody>
                  <a:tcPr/>
                </a:tc>
                <a:tc>
                  <a:txBody>
                    <a:bodyPr wrap="square"/>
                    <a:lstStyle/>
                    <a:p>
                      <a:pPr>
                        <a:defRPr sz="1000">
                          <a:latin typeface="Calibri"/>
                        </a:defRPr>
                      </a:pPr>
                      <a:r>
                        <a:t>Homeroom ideas to be bunched up and taken up for new program</a:t>
                      </a:r>
                    </a:p>
                    <a:p>
                      <a:pPr>
                        <a:defRPr sz="1000">
                          <a:latin typeface="Calibri"/>
                        </a:defRPr>
                      </a:pP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2311-PRODUCT-ID-05</a:t>
                      </a:r>
                    </a:p>
                  </a:txBody>
                  <a:tcPr/>
                </a:tc>
                <a:tc>
                  <a:txBody>
                    <a:bodyPr wrap="square"/>
                    <a:lstStyle/>
                    <a:p>
                      <a:pPr>
                        <a:defRPr sz="1000">
                          <a:latin typeface="Calibri"/>
                        </a:defRPr>
                      </a:pPr>
                      <a:r>
                        <a:t>Reduce the projection of the 'HECTOR' badging on the tailgate at the rear end of the car from 4mm to 2.5mm</a:t>
                      </a:r>
                    </a:p>
                  </a:txBody>
                  <a:tcPr/>
                </a:tc>
                <a:tc>
                  <a:txBody>
                    <a:bodyPr wrap="square"/>
                    <a:lstStyle/>
                    <a:p>
                      <a:pPr>
                        <a:defRPr sz="1000">
                          <a:latin typeface="Calibri"/>
                        </a:defRPr>
                      </a:pPr>
                      <a:r>
                        <a:t>Verify business case</a:t>
                      </a:r>
                    </a:p>
                  </a:txBody>
                  <a:tcPr/>
                </a:tc>
                <a:tc>
                  <a:txBody>
                    <a:bodyPr wrap="square"/>
                    <a:lstStyle/>
                    <a:p>
                      <a:pPr>
                        <a:defRPr sz="1000">
                          <a:latin typeface="Calibri"/>
                        </a:defRPr>
                      </a:pPr>
                      <a:r>
                        <a:t>INR 135.0</a:t>
                      </a:r>
                    </a:p>
                  </a:txBody>
                  <a:tcPr/>
                </a:tc>
                <a:tc>
                  <a:txBody>
                    <a:bodyPr wrap="square"/>
                    <a:lstStyle/>
                    <a:p>
                      <a:pPr>
                        <a:defRPr sz="1000">
                          <a:latin typeface="Calibri"/>
                        </a:defRPr>
                      </a:pPr>
                      <a:r>
                        <a:t>NG</a:t>
                      </a:r>
                    </a:p>
                  </a:txBody>
                  <a:tcPr/>
                </a:tc>
                <a:tc>
                  <a:txBody>
                    <a:bodyPr wrap="square"/>
                    <a:lstStyle/>
                    <a:p>
                      <a:pPr>
                        <a:defRPr sz="1000">
                          <a:latin typeface="Calibri"/>
                        </a:defRPr>
                      </a:pPr>
                      <a:r>
                        <a:t>Verify business case</a:t>
                      </a:r>
                    </a:p>
                  </a:txBody>
                  <a:tcPr/>
                </a:tc>
                <a:tc>
                  <a:txBody>
                    <a:bodyPr wrap="square"/>
                    <a:lstStyle/>
                    <a:p>
                      <a:pPr>
                        <a:defRPr sz="1000">
                          <a:latin typeface="Calibri"/>
                        </a:defRPr>
                      </a:pPr>
                      <a:r>
                        <a:t>Kalp</a:t>
                      </a:r>
                    </a:p>
                  </a:txBody>
                  <a:tcPr/>
                </a:tc>
                <a:tc>
                  <a:txBody>
                    <a:bodyPr wrap="square"/>
                    <a:lstStyle/>
                    <a:p>
                      <a:pPr>
                        <a:defRPr sz="1000">
                          <a:latin typeface="Calibri"/>
                        </a:defRPr>
                      </a:pPr>
                      <a:r>
                        <a:t>2023-11-24 00:00:00</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7)</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2311-BIW-ID-06</a:t>
                      </a:r>
                    </a:p>
                  </a:txBody>
                  <a:tcPr/>
                </a:tc>
                <a:tc>
                  <a:txBody>
                    <a:bodyPr wrap="square"/>
                    <a:lstStyle/>
                    <a:p>
                      <a:pPr>
                        <a:defRPr sz="1000">
                          <a:latin typeface="Calibri"/>
                        </a:defRPr>
                      </a:pPr>
                      <a:r>
                        <a:t>Reduce the Paint Coating Thickness of the highlighted Roof BiW Panel from 110 - 120μm to 70 - 80μm</a:t>
                      </a:r>
                    </a:p>
                  </a:txBody>
                  <a:tcPr/>
                </a:tc>
                <a:tc>
                  <a:txBody>
                    <a:bodyPr wrap="square"/>
                    <a:lstStyle/>
                    <a:p>
                      <a:pPr>
                        <a:defRPr sz="1000">
                          <a:latin typeface="Calibri"/>
                        </a:defRPr>
                      </a:pPr>
                      <a:r>
                        <a:t>nan</a:t>
                      </a:r>
                    </a:p>
                  </a:txBody>
                  <a:tcPr/>
                </a:tc>
                <a:tc>
                  <a:txBody>
                    <a:bodyPr wrap="square"/>
                    <a:lstStyle/>
                    <a:p>
                      <a:pPr>
                        <a:defRPr sz="1000">
                          <a:latin typeface="Calibri"/>
                        </a:defRPr>
                      </a:pPr>
                      <a:r>
                        <a:t>INR 135.0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2311-DA-ID-25</a:t>
                      </a:r>
                    </a:p>
                  </a:txBody>
                  <a:tcPr/>
                </a:tc>
                <a:tc>
                  <a:txBody>
                    <a:bodyPr wrap="square"/>
                    <a:lstStyle/>
                    <a:p>
                      <a:pPr>
                        <a:defRPr sz="1000">
                          <a:latin typeface="Calibri"/>
                        </a:defRPr>
                      </a:pPr>
                      <a:r>
                        <a:t>Replace PP-T20 used in the manufacture of the Door Panel Interior Main Trims 2 of MGI with PP-E/P-TD10</a:t>
                      </a:r>
                    </a:p>
                  </a:txBody>
                  <a:tcPr/>
                </a:tc>
                <a:tc>
                  <a:txBody>
                    <a:bodyPr wrap="square"/>
                    <a:lstStyle/>
                    <a:p>
                      <a:pPr>
                        <a:defRPr sz="1000">
                          <a:latin typeface="Calibri"/>
                        </a:defRPr>
                      </a:pPr>
                      <a:r>
                        <a:t>Business case to be evaluated (combined for DA-ID-24 &amp; 25)</a:t>
                      </a:r>
                    </a:p>
                  </a:txBody>
                  <a:tcPr/>
                </a:tc>
                <a:tc>
                  <a:txBody>
                    <a:bodyPr wrap="square"/>
                    <a:lstStyle/>
                    <a:p>
                      <a:pPr>
                        <a:defRPr sz="1000">
                          <a:latin typeface="Calibri"/>
                        </a:defRPr>
                      </a:pPr>
                      <a:r>
                        <a:t>INR 134.0</a:t>
                      </a:r>
                    </a:p>
                  </a:txBody>
                  <a:tcPr/>
                </a:tc>
                <a:tc>
                  <a:txBody>
                    <a:bodyPr wrap="square"/>
                    <a:lstStyle/>
                    <a:p>
                      <a:pPr>
                        <a:defRPr sz="1000">
                          <a:latin typeface="Calibri"/>
                        </a:defRPr>
                      </a:pPr>
                      <a:r>
                        <a:t>NG</a:t>
                      </a:r>
                    </a:p>
                  </a:txBody>
                  <a:tcPr/>
                </a:tc>
                <a:tc>
                  <a:txBody>
                    <a:bodyPr wrap="square"/>
                    <a:lstStyle/>
                    <a:p>
                      <a:pPr>
                        <a:defRPr sz="1000">
                          <a:latin typeface="Calibri"/>
                        </a:defRPr>
                      </a:pPr>
                      <a:r>
                        <a:t>Business case to be evaluated (combined for DA-ID-24 &amp; 25)</a:t>
                      </a:r>
                    </a:p>
                  </a:txBody>
                  <a:tcPr/>
                </a:tc>
                <a:tc>
                  <a:txBody>
                    <a:bodyPr wrap="square"/>
                    <a:lstStyle/>
                    <a:p>
                      <a:pPr>
                        <a:defRPr sz="1000">
                          <a:latin typeface="Calibri"/>
                        </a:defRPr>
                      </a:pPr>
                      <a:r>
                        <a:t>Kalp</a:t>
                      </a:r>
                    </a:p>
                  </a:txBody>
                  <a:tcPr/>
                </a:tc>
                <a:tc>
                  <a:txBody>
                    <a:bodyPr wrap="square"/>
                    <a:lstStyle/>
                    <a:p>
                      <a:pPr>
                        <a:defRPr sz="1000">
                          <a:latin typeface="Calibri"/>
                        </a:defRPr>
                      </a:pPr>
                      <a:r>
                        <a:t>2023-11-24 00:00:00</a:t>
                      </a:r>
                    </a:p>
                  </a:txBody>
                  <a:tcPr/>
                </a:tc>
              </a:tr>
              <a:tr h="320040">
                <a:tc>
                  <a:txBody>
                    <a:bodyPr wrap="square"/>
                    <a:lstStyle/>
                    <a:p>
                      <a:pPr>
                        <a:defRPr sz="1000">
                          <a:latin typeface="Calibri"/>
                        </a:defRPr>
                      </a:pPr>
                      <a:r>
                        <a:t>2311-ET-ID-20</a:t>
                      </a:r>
                    </a:p>
                  </a:txBody>
                  <a:tcPr/>
                </a:tc>
                <a:tc>
                  <a:txBody>
                    <a:bodyPr wrap="square"/>
                    <a:lstStyle/>
                    <a:p>
                      <a:pPr>
                        <a:defRPr sz="1000">
                          <a:latin typeface="Calibri"/>
                        </a:defRPr>
                      </a:pPr>
                      <a:r>
                        <a:t>Replace the PCB Module supplied by 'Taizhou Suzhong Antenna Group Co., Ltd.' used within the shark fin antenna of MGI with a similar one supplied by 'INFAC Elecs' used in KIA</a:t>
                      </a:r>
                    </a:p>
                  </a:txBody>
                  <a:tcPr/>
                </a:tc>
                <a:tc>
                  <a:txBody>
                    <a:bodyPr wrap="square"/>
                    <a:lstStyle/>
                    <a:p>
                      <a:pPr>
                        <a:defRPr sz="1000">
                          <a:latin typeface="Calibri"/>
                        </a:defRPr>
                      </a:pPr>
                      <a:r>
                        <a:t>nan</a:t>
                      </a:r>
                    </a:p>
                  </a:txBody>
                  <a:tcPr/>
                </a:tc>
                <a:tc>
                  <a:txBody>
                    <a:bodyPr wrap="square"/>
                    <a:lstStyle/>
                    <a:p>
                      <a:pPr>
                        <a:defRPr sz="1000">
                          <a:latin typeface="Calibri"/>
                        </a:defRPr>
                      </a:pPr>
                      <a:r>
                        <a:t>INR 133.0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2311-ET-ID-07</a:t>
                      </a:r>
                    </a:p>
                  </a:txBody>
                  <a:tcPr/>
                </a:tc>
                <a:tc>
                  <a:txBody>
                    <a:bodyPr wrap="square"/>
                    <a:lstStyle/>
                    <a:p>
                      <a:pPr>
                        <a:defRPr sz="1000">
                          <a:latin typeface="Calibri"/>
                        </a:defRPr>
                      </a:pPr>
                      <a:r>
                        <a:t>Reduce the wall thickness of the Front and Rear Fender Garnishes present on both LH and RH sides from 3.2mm to 2.8mm</a:t>
                      </a:r>
                    </a:p>
                  </a:txBody>
                  <a:tcPr/>
                </a:tc>
                <a:tc>
                  <a:txBody>
                    <a:bodyPr wrap="square"/>
                    <a:lstStyle/>
                    <a:p>
                      <a:pPr>
                        <a:defRPr sz="1000">
                          <a:latin typeface="Calibri"/>
                        </a:defRPr>
                      </a:pPr>
                      <a:r>
                        <a:t>nan</a:t>
                      </a:r>
                    </a:p>
                  </a:txBody>
                  <a:tcPr/>
                </a:tc>
                <a:tc>
                  <a:txBody>
                    <a:bodyPr wrap="square"/>
                    <a:lstStyle/>
                    <a:p>
                      <a:pPr>
                        <a:defRPr sz="1000">
                          <a:latin typeface="Calibri"/>
                        </a:defRPr>
                      </a:pPr>
                      <a:r>
                        <a:t>INR 133.0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2311-ET-ID-24</a:t>
                      </a:r>
                    </a:p>
                  </a:txBody>
                  <a:tcPr/>
                </a:tc>
                <a:tc>
                  <a:txBody>
                    <a:bodyPr wrap="square"/>
                    <a:lstStyle/>
                    <a:p>
                      <a:pPr>
                        <a:defRPr sz="1000">
                          <a:latin typeface="Calibri"/>
                        </a:defRPr>
                      </a:pPr>
                      <a:r>
                        <a:t>Redesign the current front logo assembly making the mentioned changes,</a:t>
                      </a:r>
                    </a:p>
                    <a:p>
                      <a:pPr>
                        <a:defRPr sz="1000">
                          <a:latin typeface="Calibri"/>
                        </a:defRPr>
                      </a:pPr>
                      <a:r>
                        <a:t>1. Remove the Logo Holder (Black)</a:t>
                      </a:r>
                    </a:p>
                    <a:p>
                      <a:pPr>
                        <a:defRPr sz="1000">
                          <a:latin typeface="Calibri"/>
                        </a:defRPr>
                      </a:pPr>
                      <a:r>
                        <a:t>2. Instead of chrome plating the Logo Holding Bracket, finish it in Black and snap-fit the logo M and G onto this</a:t>
                      </a:r>
                    </a:p>
                    <a:p>
                      <a:pPr>
                        <a:defRPr sz="1000">
                          <a:latin typeface="Calibri"/>
                        </a:defRPr>
                      </a:pPr>
                      <a:r>
                        <a:t>3. Introduce a new chrome-plated edge trim to complete the design</a:t>
                      </a:r>
                    </a:p>
                  </a:txBody>
                  <a:tcPr/>
                </a:tc>
                <a:tc>
                  <a:txBody>
                    <a:bodyPr wrap="square"/>
                    <a:lstStyle/>
                    <a:p>
                      <a:pPr>
                        <a:defRPr sz="1000">
                          <a:latin typeface="Calibri"/>
                        </a:defRPr>
                      </a:pPr>
                      <a:r>
                        <a:t>nan</a:t>
                      </a:r>
                    </a:p>
                  </a:txBody>
                  <a:tcPr/>
                </a:tc>
                <a:tc>
                  <a:txBody>
                    <a:bodyPr wrap="square"/>
                    <a:lstStyle/>
                    <a:p>
                      <a:pPr>
                        <a:defRPr sz="1000">
                          <a:latin typeface="Calibri"/>
                        </a:defRPr>
                      </a:pPr>
                      <a:r>
                        <a:t>INR 132.0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8)</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2311-DA-ID-12</a:t>
                      </a:r>
                    </a:p>
                  </a:txBody>
                  <a:tcPr/>
                </a:tc>
                <a:tc>
                  <a:txBody>
                    <a:bodyPr wrap="square"/>
                    <a:lstStyle/>
                    <a:p>
                      <a:pPr>
                        <a:defRPr sz="1000">
                          <a:latin typeface="Calibri"/>
                        </a:defRPr>
                      </a:pPr>
                      <a:r>
                        <a:t>Replace ABS with PP-GF 15 in the manufacture of the LH and RH Side Spoiler Inner Trims</a:t>
                      </a:r>
                    </a:p>
                  </a:txBody>
                  <a:tcPr/>
                </a:tc>
                <a:tc>
                  <a:txBody>
                    <a:bodyPr wrap="square"/>
                    <a:lstStyle/>
                    <a:p>
                      <a:pPr>
                        <a:defRPr sz="1000">
                          <a:latin typeface="Calibri"/>
                        </a:defRPr>
                      </a:pPr>
                      <a:r>
                        <a:t>nan</a:t>
                      </a:r>
                    </a:p>
                  </a:txBody>
                  <a:tcPr/>
                </a:tc>
                <a:tc>
                  <a:txBody>
                    <a:bodyPr wrap="square"/>
                    <a:lstStyle/>
                    <a:p>
                      <a:pPr>
                        <a:defRPr sz="1000">
                          <a:latin typeface="Calibri"/>
                        </a:defRPr>
                      </a:pPr>
                      <a:r>
                        <a:t>INR 131.0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2311-ET-ID-11</a:t>
                      </a:r>
                    </a:p>
                  </a:txBody>
                  <a:tcPr/>
                </a:tc>
                <a:tc>
                  <a:txBody>
                    <a:bodyPr wrap="square"/>
                    <a:lstStyle/>
                    <a:p>
                      <a:pPr>
                        <a:defRPr sz="1000">
                          <a:latin typeface="Calibri"/>
                        </a:defRPr>
                      </a:pPr>
                      <a:r>
                        <a:t>1. Remove the Foam inserts from both the LH and RH sides of MGI and use plastic trims instead as employed in KIA</a:t>
                      </a:r>
                    </a:p>
                    <a:p>
                      <a:pPr>
                        <a:defRPr sz="1000">
                          <a:latin typeface="Calibri"/>
                        </a:defRPr>
                      </a:pPr>
                      <a:r>
                        <a:t>2. Thinsulate could be used if required</a:t>
                      </a:r>
                    </a:p>
                  </a:txBody>
                  <a:tcPr/>
                </a:tc>
                <a:tc>
                  <a:txBody>
                    <a:bodyPr wrap="square"/>
                    <a:lstStyle/>
                    <a:p>
                      <a:pPr>
                        <a:defRPr sz="1000">
                          <a:latin typeface="Calibri"/>
                        </a:defRPr>
                      </a:pPr>
                      <a:r>
                        <a:t>nan</a:t>
                      </a:r>
                    </a:p>
                  </a:txBody>
                  <a:tcPr/>
                </a:tc>
                <a:tc>
                  <a:txBody>
                    <a:bodyPr wrap="square"/>
                    <a:lstStyle/>
                    <a:p>
                      <a:pPr>
                        <a:defRPr sz="1000">
                          <a:latin typeface="Calibri"/>
                        </a:defRPr>
                      </a:pPr>
                      <a:r>
                        <a:t>INR 131.0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2311-IP-ID-01</a:t>
                      </a:r>
                    </a:p>
                  </a:txBody>
                  <a:tcPr/>
                </a:tc>
                <a:tc>
                  <a:txBody>
                    <a:bodyPr wrap="square"/>
                    <a:lstStyle/>
                    <a:p>
                      <a:pPr>
                        <a:defRPr sz="1000">
                          <a:latin typeface="Calibri"/>
                        </a:defRPr>
                      </a:pPr>
                      <a:r>
                        <a:t>Replace the Thinsulate used within the LH &amp; RH Centre Console Side Trims of MGI with Thermoplastic Felt</a:t>
                      </a:r>
                    </a:p>
                  </a:txBody>
                  <a:tcPr/>
                </a:tc>
                <a:tc>
                  <a:txBody>
                    <a:bodyPr wrap="square"/>
                    <a:lstStyle/>
                    <a:p>
                      <a:pPr>
                        <a:defRPr sz="1000">
                          <a:latin typeface="Calibri"/>
                        </a:defRPr>
                      </a:pPr>
                      <a:r>
                        <a:t>Confirm on part availability</a:t>
                      </a:r>
                    </a:p>
                  </a:txBody>
                  <a:tcPr/>
                </a:tc>
                <a:tc>
                  <a:txBody>
                    <a:bodyPr wrap="square"/>
                    <a:lstStyle/>
                    <a:p>
                      <a:pPr>
                        <a:defRPr sz="1000">
                          <a:latin typeface="Calibri"/>
                        </a:defRPr>
                      </a:pPr>
                      <a:r>
                        <a:t>INR 131.0</a:t>
                      </a:r>
                    </a:p>
                  </a:txBody>
                  <a:tcPr/>
                </a:tc>
                <a:tc>
                  <a:txBody>
                    <a:bodyPr wrap="square"/>
                    <a:lstStyle/>
                    <a:p>
                      <a:pPr>
                        <a:defRPr sz="1000">
                          <a:latin typeface="Calibri"/>
                        </a:defRPr>
                      </a:pPr>
                      <a:r>
                        <a:t>TBD</a:t>
                      </a:r>
                    </a:p>
                  </a:txBody>
                  <a:tcPr/>
                </a:tc>
                <a:tc>
                  <a:txBody>
                    <a:bodyPr wrap="square"/>
                    <a:lstStyle/>
                    <a:p>
                      <a:pPr>
                        <a:defRPr sz="1000">
                          <a:latin typeface="Calibri"/>
                        </a:defRPr>
                      </a:pPr>
                      <a:r>
                        <a:t>Confirm on part availability</a:t>
                      </a:r>
                    </a:p>
                  </a:txBody>
                  <a:tcPr/>
                </a:tc>
                <a:tc>
                  <a:txBody>
                    <a:bodyPr wrap="square"/>
                    <a:lstStyle/>
                    <a:p>
                      <a:pPr>
                        <a:defRPr sz="1000">
                          <a:latin typeface="Calibri"/>
                        </a:defRPr>
                      </a:pPr>
                      <a:r>
                        <a:t>Akhil/ Narendra</a:t>
                      </a:r>
                    </a:p>
                  </a:txBody>
                  <a:tcPr/>
                </a:tc>
                <a:tc>
                  <a:txBody>
                    <a:bodyPr wrap="square"/>
                    <a:lstStyle/>
                    <a:p>
                      <a:pPr>
                        <a:defRPr sz="1000">
                          <a:latin typeface="Calibri"/>
                        </a:defRPr>
                      </a:pPr>
                      <a:r>
                        <a:t>29-Mar-24</a:t>
                      </a:r>
                    </a:p>
                    <a:p>
                      <a:pPr>
                        <a:defRPr sz="1000">
                          <a:latin typeface="Calibri"/>
                        </a:defRPr>
                      </a:pPr>
                      <a:r>
                        <a:t>16-Feb-24</a:t>
                      </a:r>
                    </a:p>
                  </a:txBody>
                  <a:tcPr/>
                </a:tc>
              </a:tr>
              <a:tr h="320040">
                <a:tc>
                  <a:txBody>
                    <a:bodyPr wrap="square"/>
                    <a:lstStyle/>
                    <a:p>
                      <a:pPr>
                        <a:defRPr sz="1000">
                          <a:latin typeface="Calibri"/>
                        </a:defRPr>
                      </a:pPr>
                      <a:r>
                        <a:t>2311-ST-ID-03</a:t>
                      </a:r>
                    </a:p>
                  </a:txBody>
                  <a:tcPr/>
                </a:tc>
                <a:tc>
                  <a:txBody>
                    <a:bodyPr wrap="square"/>
                    <a:lstStyle/>
                    <a:p>
                      <a:pPr>
                        <a:defRPr sz="1000">
                          <a:latin typeface="Calibri"/>
                        </a:defRPr>
                      </a:pPr>
                      <a:r>
                        <a:t>Replace the Cast Aluminium Steering Column Mount in MGI with a fabricated sheet welded onto the shaft as used in KIA </a:t>
                      </a:r>
                    </a:p>
                  </a:txBody>
                  <a:tcPr/>
                </a:tc>
                <a:tc>
                  <a:txBody>
                    <a:bodyPr wrap="square"/>
                    <a:lstStyle/>
                    <a:p>
                      <a:pPr>
                        <a:defRPr sz="1000">
                          <a:latin typeface="Calibri"/>
                        </a:defRPr>
                      </a:pPr>
                      <a:r>
                        <a:t>nan</a:t>
                      </a:r>
                    </a:p>
                  </a:txBody>
                  <a:tcPr/>
                </a:tc>
                <a:tc>
                  <a:txBody>
                    <a:bodyPr wrap="square"/>
                    <a:lstStyle/>
                    <a:p>
                      <a:pPr>
                        <a:defRPr sz="1000">
                          <a:latin typeface="Calibri"/>
                        </a:defRPr>
                      </a:pPr>
                      <a:r>
                        <a:t>INR 131.0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2311-IP-ID-10</a:t>
                      </a:r>
                    </a:p>
                  </a:txBody>
                  <a:tcPr/>
                </a:tc>
                <a:tc>
                  <a:txBody>
                    <a:bodyPr wrap="square"/>
                    <a:lstStyle/>
                    <a:p>
                      <a:pPr>
                        <a:defRPr sz="1000">
                          <a:latin typeface="Calibri"/>
                        </a:defRPr>
                      </a:pPr>
                      <a:r>
                        <a:t>Replace PC-ABS with ABS in the manufacture of the Front-Row Armrest Inner Cover in MGI</a:t>
                      </a:r>
                    </a:p>
                  </a:txBody>
                  <a:tcPr/>
                </a:tc>
                <a:tc>
                  <a:txBody>
                    <a:bodyPr wrap="square"/>
                    <a:lstStyle/>
                    <a:p>
                      <a:pPr>
                        <a:defRPr sz="1000">
                          <a:latin typeface="Calibri"/>
                        </a:defRPr>
                      </a:pPr>
                      <a:r>
                        <a:t>nan</a:t>
                      </a:r>
                    </a:p>
                  </a:txBody>
                  <a:tcPr/>
                </a:tc>
                <a:tc>
                  <a:txBody>
                    <a:bodyPr wrap="square"/>
                    <a:lstStyle/>
                    <a:p>
                      <a:pPr>
                        <a:defRPr sz="1000">
                          <a:latin typeface="Calibri"/>
                        </a:defRPr>
                      </a:pPr>
                      <a:r>
                        <a:t>INR 130.0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9)</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2311-WT-ID-01</a:t>
                      </a:r>
                    </a:p>
                  </a:txBody>
                  <a:tcPr/>
                </a:tc>
                <a:tc>
                  <a:txBody>
                    <a:bodyPr wrap="square"/>
                    <a:lstStyle/>
                    <a:p>
                      <a:pPr>
                        <a:defRPr sz="1000">
                          <a:latin typeface="Calibri"/>
                        </a:defRPr>
                      </a:pPr>
                      <a:r>
                        <a:t>Replace the Tyre Pressure Monitoring System (TPMS) sensors from 'SGMW' used in MGI with similar sensors from 'Continental Engineering Services' used in KIA.</a:t>
                      </a:r>
                    </a:p>
                  </a:txBody>
                  <a:tcPr/>
                </a:tc>
                <a:tc>
                  <a:txBody>
                    <a:bodyPr wrap="square"/>
                    <a:lstStyle/>
                    <a:p>
                      <a:pPr>
                        <a:defRPr sz="1000">
                          <a:latin typeface="Calibri"/>
                        </a:defRPr>
                      </a:pPr>
                      <a:r>
                        <a:t>nan</a:t>
                      </a:r>
                    </a:p>
                  </a:txBody>
                  <a:tcPr/>
                </a:tc>
                <a:tc>
                  <a:txBody>
                    <a:bodyPr wrap="square"/>
                    <a:lstStyle/>
                    <a:p>
                      <a:pPr>
                        <a:defRPr sz="1000">
                          <a:latin typeface="Calibri"/>
                        </a:defRPr>
                      </a:pPr>
                      <a:r>
                        <a:t>INR 130.0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2311-BIW-ID-02</a:t>
                      </a:r>
                    </a:p>
                  </a:txBody>
                  <a:tcPr/>
                </a:tc>
                <a:tc>
                  <a:txBody>
                    <a:bodyPr wrap="square"/>
                    <a:lstStyle/>
                    <a:p>
                      <a:pPr>
                        <a:defRPr sz="1000">
                          <a:latin typeface="Calibri"/>
                        </a:defRPr>
                      </a:pPr>
                      <a:r>
                        <a:t>Remove the black paint coating from the LH &amp; RH A-Pillar Side Stiffener Brackets, LH &amp; RH Centre Console and Gear Selector Base Mounting Brackets on the BIW of MGI</a:t>
                      </a:r>
                    </a:p>
                  </a:txBody>
                  <a:tcPr/>
                </a:tc>
                <a:tc>
                  <a:txBody>
                    <a:bodyPr wrap="square"/>
                    <a:lstStyle/>
                    <a:p>
                      <a:pPr>
                        <a:defRPr sz="1000">
                          <a:latin typeface="Calibri"/>
                        </a:defRPr>
                      </a:pPr>
                      <a:r>
                        <a:t>CFT buy off</a:t>
                      </a:r>
                    </a:p>
                  </a:txBody>
                  <a:tcPr/>
                </a:tc>
                <a:tc>
                  <a:txBody>
                    <a:bodyPr wrap="square"/>
                    <a:lstStyle/>
                    <a:p>
                      <a:pPr>
                        <a:defRPr sz="1000">
                          <a:latin typeface="Calibri"/>
                        </a:defRPr>
                      </a:pPr>
                      <a:r>
                        <a:t>INR 130.0</a:t>
                      </a:r>
                    </a:p>
                  </a:txBody>
                  <a:tcPr/>
                </a:tc>
                <a:tc>
                  <a:txBody>
                    <a:bodyPr wrap="square"/>
                    <a:lstStyle/>
                    <a:p>
                      <a:pPr>
                        <a:defRPr sz="1000">
                          <a:latin typeface="Calibri"/>
                        </a:defRPr>
                      </a:pPr>
                      <a:r>
                        <a:t>TBD</a:t>
                      </a:r>
                    </a:p>
                  </a:txBody>
                  <a:tcPr/>
                </a:tc>
                <a:tc>
                  <a:txBody>
                    <a:bodyPr wrap="square"/>
                    <a:lstStyle/>
                    <a:p>
                      <a:pPr>
                        <a:defRPr sz="1000">
                          <a:latin typeface="Calibri"/>
                        </a:defRPr>
                      </a:pPr>
                      <a:r>
                        <a:t>CFT buy off</a:t>
                      </a:r>
                    </a:p>
                  </a:txBody>
                  <a:tcPr/>
                </a:tc>
                <a:tc>
                  <a:txBody>
                    <a:bodyPr wrap="square"/>
                    <a:lstStyle/>
                    <a:p>
                      <a:pPr>
                        <a:defRPr sz="1000">
                          <a:latin typeface="Calibri"/>
                        </a:defRPr>
                      </a:pPr>
                      <a:r>
                        <a:t>Ratnadeep</a:t>
                      </a:r>
                    </a:p>
                  </a:txBody>
                  <a:tcPr/>
                </a:tc>
                <a:tc>
                  <a:txBody>
                    <a:bodyPr wrap="square"/>
                    <a:lstStyle/>
                    <a:p>
                      <a:pPr>
                        <a:defRPr sz="1000">
                          <a:latin typeface="Calibri"/>
                        </a:defRPr>
                      </a:pPr>
                      <a:r>
                        <a:t>2024-03-29 00:00:00</a:t>
                      </a:r>
                    </a:p>
                  </a:txBody>
                  <a:tcPr/>
                </a:tc>
              </a:tr>
              <a:tr h="320040">
                <a:tc>
                  <a:txBody>
                    <a:bodyPr wrap="square"/>
                    <a:lstStyle/>
                    <a:p>
                      <a:pPr>
                        <a:defRPr sz="1000">
                          <a:latin typeface="Calibri"/>
                        </a:defRPr>
                      </a:pPr>
                      <a:r>
                        <a:t>2311-PRODUCT-ID-02</a:t>
                      </a:r>
                    </a:p>
                  </a:txBody>
                  <a:tcPr/>
                </a:tc>
                <a:tc>
                  <a:txBody>
                    <a:bodyPr wrap="square"/>
                    <a:lstStyle/>
                    <a:p>
                      <a:pPr>
                        <a:defRPr sz="1000">
                          <a:latin typeface="Calibri"/>
                        </a:defRPr>
                      </a:pPr>
                      <a:r>
                        <a:t>Replace the Plastic Caps mounted onto the doors, hood, and tailgate (total 14) with adhesive stickers.</a:t>
                      </a:r>
                    </a:p>
                  </a:txBody>
                  <a:tcPr/>
                </a:tc>
                <a:tc>
                  <a:txBody>
                    <a:bodyPr wrap="square"/>
                    <a:lstStyle/>
                    <a:p>
                      <a:pPr>
                        <a:defRPr sz="1000">
                          <a:latin typeface="Calibri"/>
                        </a:defRPr>
                      </a:pPr>
                      <a:r>
                        <a:t>nan</a:t>
                      </a:r>
                    </a:p>
                  </a:txBody>
                  <a:tcPr/>
                </a:tc>
                <a:tc>
                  <a:txBody>
                    <a:bodyPr wrap="square"/>
                    <a:lstStyle/>
                    <a:p>
                      <a:pPr>
                        <a:defRPr sz="1000">
                          <a:latin typeface="Calibri"/>
                        </a:defRPr>
                      </a:pPr>
                      <a:r>
                        <a:t>INR 130.0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2311-DA-ID-18</a:t>
                      </a:r>
                    </a:p>
                  </a:txBody>
                  <a:tcPr/>
                </a:tc>
                <a:tc>
                  <a:txBody>
                    <a:bodyPr wrap="square"/>
                    <a:lstStyle/>
                    <a:p>
                      <a:pPr>
                        <a:defRPr sz="1000">
                          <a:latin typeface="Calibri"/>
                        </a:defRPr>
                      </a:pPr>
                      <a:r>
                        <a:t>Replace ABS with PP-T 20 in the manufacture of Door Panel Interior Delta Trim Inners</a:t>
                      </a:r>
                    </a:p>
                  </a:txBody>
                  <a:tcPr/>
                </a:tc>
                <a:tc>
                  <a:txBody>
                    <a:bodyPr wrap="square"/>
                    <a:lstStyle/>
                    <a:p>
                      <a:pPr>
                        <a:defRPr sz="1000">
                          <a:latin typeface="Calibri"/>
                        </a:defRPr>
                      </a:pPr>
                      <a:r>
                        <a:t>Check Bussiness case</a:t>
                      </a:r>
                    </a:p>
                  </a:txBody>
                  <a:tcPr/>
                </a:tc>
                <a:tc>
                  <a:txBody>
                    <a:bodyPr wrap="square"/>
                    <a:lstStyle/>
                    <a:p>
                      <a:pPr>
                        <a:defRPr sz="1000">
                          <a:latin typeface="Calibri"/>
                        </a:defRPr>
                      </a:pPr>
                      <a:r>
                        <a:t>INR 129.0</a:t>
                      </a:r>
                    </a:p>
                  </a:txBody>
                  <a:tcPr/>
                </a:tc>
                <a:tc>
                  <a:txBody>
                    <a:bodyPr wrap="square"/>
                    <a:lstStyle/>
                    <a:p>
                      <a:pPr>
                        <a:defRPr sz="1000">
                          <a:latin typeface="Calibri"/>
                        </a:defRPr>
                      </a:pPr>
                      <a:r>
                        <a:t>NG</a:t>
                      </a:r>
                    </a:p>
                  </a:txBody>
                  <a:tcPr/>
                </a:tc>
                <a:tc>
                  <a:txBody>
                    <a:bodyPr wrap="square"/>
                    <a:lstStyle/>
                    <a:p>
                      <a:pPr>
                        <a:defRPr sz="1000">
                          <a:latin typeface="Calibri"/>
                        </a:defRPr>
                      </a:pPr>
                      <a:r>
                        <a:t>Check Bussiness case</a:t>
                      </a:r>
                    </a:p>
                  </a:txBody>
                  <a:tcPr/>
                </a:tc>
                <a:tc>
                  <a:txBody>
                    <a:bodyPr wrap="square"/>
                    <a:lstStyle/>
                    <a:p>
                      <a:pPr>
                        <a:defRPr sz="1000">
                          <a:latin typeface="Calibri"/>
                        </a:defRPr>
                      </a:pPr>
                      <a:r>
                        <a:t>Kalp</a:t>
                      </a:r>
                    </a:p>
                  </a:txBody>
                  <a:tcPr/>
                </a:tc>
                <a:tc>
                  <a:txBody>
                    <a:bodyPr wrap="square"/>
                    <a:lstStyle/>
                    <a:p>
                      <a:pPr>
                        <a:defRPr sz="1000">
                          <a:latin typeface="Calibri"/>
                        </a:defRPr>
                      </a:pPr>
                      <a:r>
                        <a:t>2023-11-08 00:00:00</a:t>
                      </a:r>
                    </a:p>
                  </a:txBody>
                  <a:tcPr/>
                </a:tc>
              </a:tr>
              <a:tr h="320040">
                <a:tc>
                  <a:txBody>
                    <a:bodyPr wrap="square"/>
                    <a:lstStyle/>
                    <a:p>
                      <a:pPr>
                        <a:defRPr sz="1000">
                          <a:latin typeface="Calibri"/>
                        </a:defRPr>
                      </a:pPr>
                      <a:r>
                        <a:t>2311-DA-ID-20</a:t>
                      </a:r>
                    </a:p>
                  </a:txBody>
                  <a:tcPr/>
                </a:tc>
                <a:tc>
                  <a:txBody>
                    <a:bodyPr wrap="square"/>
                    <a:lstStyle/>
                    <a:p>
                      <a:pPr>
                        <a:defRPr sz="1000">
                          <a:latin typeface="Calibri"/>
                        </a:defRPr>
                      </a:pPr>
                      <a:r>
                        <a:t>De-content Cable Protective Sheaths one each from all the Lock Release and Front Window Regulator assemblies of the vehicle</a:t>
                      </a:r>
                    </a:p>
                  </a:txBody>
                  <a:tcPr/>
                </a:tc>
                <a:tc>
                  <a:txBody>
                    <a:bodyPr wrap="square"/>
                    <a:lstStyle/>
                    <a:p>
                      <a:pPr>
                        <a:defRPr sz="1000">
                          <a:latin typeface="Calibri"/>
                        </a:defRPr>
                      </a:pPr>
                      <a:r>
                        <a:t>Confirm homeroom feasibilty</a:t>
                      </a:r>
                    </a:p>
                  </a:txBody>
                  <a:tcPr/>
                </a:tc>
                <a:tc>
                  <a:txBody>
                    <a:bodyPr wrap="square"/>
                    <a:lstStyle/>
                    <a:p>
                      <a:pPr>
                        <a:defRPr sz="1000">
                          <a:latin typeface="Calibri"/>
                        </a:defRPr>
                      </a:pPr>
                      <a:r>
                        <a:t>INR 129.0</a:t>
                      </a:r>
                    </a:p>
                  </a:txBody>
                  <a:tcPr/>
                </a:tc>
                <a:tc>
                  <a:txBody>
                    <a:bodyPr wrap="square"/>
                    <a:lstStyle/>
                    <a:p>
                      <a:pPr>
                        <a:defRPr sz="1000">
                          <a:latin typeface="Calibri"/>
                        </a:defRPr>
                      </a:pPr>
                      <a:r>
                        <a:t>NG</a:t>
                      </a:r>
                    </a:p>
                  </a:txBody>
                  <a:tcPr/>
                </a:tc>
                <a:tc>
                  <a:txBody>
                    <a:bodyPr wrap="square"/>
                    <a:lstStyle/>
                    <a:p>
                      <a:pPr>
                        <a:defRPr sz="1000">
                          <a:latin typeface="Calibri"/>
                        </a:defRPr>
                      </a:pPr>
                      <a:r>
                        <a:t>Confirm homeroom feasibilty</a:t>
                      </a:r>
                    </a:p>
                  </a:txBody>
                  <a:tcPr/>
                </a:tc>
                <a:tc>
                  <a:txBody>
                    <a:bodyPr wrap="square"/>
                    <a:lstStyle/>
                    <a:p>
                      <a:pPr>
                        <a:defRPr sz="1000">
                          <a:latin typeface="Calibri"/>
                        </a:defRPr>
                      </a:pPr>
                      <a:r>
                        <a:t>Manish</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10)</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2311-DA-ID-37</a:t>
                      </a:r>
                    </a:p>
                  </a:txBody>
                  <a:tcPr/>
                </a:tc>
                <a:tc>
                  <a:txBody>
                    <a:bodyPr wrap="square"/>
                    <a:lstStyle/>
                    <a:p>
                      <a:pPr>
                        <a:defRPr sz="1000">
                          <a:latin typeface="Calibri"/>
                        </a:defRPr>
                      </a:pPr>
                      <a:r>
                        <a:t>Replace ABS with PP-T20 used in the manufacture of the LH and RH Mirror Outer Covers of MGI</a:t>
                      </a:r>
                    </a:p>
                  </a:txBody>
                  <a:tcPr/>
                </a:tc>
                <a:tc>
                  <a:txBody>
                    <a:bodyPr wrap="square"/>
                    <a:lstStyle/>
                    <a:p>
                      <a:pPr>
                        <a:defRPr sz="1000">
                          <a:latin typeface="Calibri"/>
                        </a:defRPr>
                      </a:pPr>
                      <a:r>
                        <a:t>nan</a:t>
                      </a:r>
                    </a:p>
                  </a:txBody>
                  <a:tcPr/>
                </a:tc>
                <a:tc>
                  <a:txBody>
                    <a:bodyPr wrap="square"/>
                    <a:lstStyle/>
                    <a:p>
                      <a:pPr>
                        <a:defRPr sz="1000">
                          <a:latin typeface="Calibri"/>
                        </a:defRPr>
                      </a:pPr>
                      <a:r>
                        <a:t>INR 127.0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2311-EL-ID-23</a:t>
                      </a:r>
                    </a:p>
                  </a:txBody>
                  <a:tcPr/>
                </a:tc>
                <a:tc>
                  <a:txBody>
                    <a:bodyPr wrap="square"/>
                    <a:lstStyle/>
                    <a:p>
                      <a:pPr>
                        <a:defRPr sz="1000">
                          <a:latin typeface="Calibri"/>
                        </a:defRPr>
                      </a:pPr>
                      <a:r>
                        <a:t>Replace the Mini (Closed) Fuses used within the Engine-Bay Fuse Box of the vehicle with Micro2 (Open) Fuses</a:t>
                      </a:r>
                    </a:p>
                  </a:txBody>
                  <a:tcPr/>
                </a:tc>
                <a:tc>
                  <a:txBody>
                    <a:bodyPr wrap="square"/>
                    <a:lstStyle/>
                    <a:p>
                      <a:pPr>
                        <a:defRPr sz="1000">
                          <a:latin typeface="Calibri"/>
                        </a:defRPr>
                      </a:pPr>
                      <a:r>
                        <a:t>nan</a:t>
                      </a:r>
                    </a:p>
                  </a:txBody>
                  <a:tcPr/>
                </a:tc>
                <a:tc>
                  <a:txBody>
                    <a:bodyPr wrap="square"/>
                    <a:lstStyle/>
                    <a:p>
                      <a:pPr>
                        <a:defRPr sz="1000">
                          <a:latin typeface="Calibri"/>
                        </a:defRPr>
                      </a:pPr>
                      <a:r>
                        <a:t>INR 127.0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2311-SP-ID-03</a:t>
                      </a:r>
                    </a:p>
                  </a:txBody>
                  <a:tcPr/>
                </a:tc>
                <a:tc>
                  <a:txBody>
                    <a:bodyPr wrap="square"/>
                    <a:lstStyle/>
                    <a:p>
                      <a:pPr>
                        <a:defRPr sz="1000">
                          <a:latin typeface="Calibri"/>
                        </a:defRPr>
                      </a:pPr>
                      <a:r>
                        <a:t>Redesign the rubber mould removing the 16mm extension downwards from all three sides of the plate</a:t>
                      </a:r>
                    </a:p>
                  </a:txBody>
                  <a:tcPr/>
                </a:tc>
                <a:tc>
                  <a:txBody>
                    <a:bodyPr wrap="square"/>
                    <a:lstStyle/>
                    <a:p>
                      <a:pPr>
                        <a:defRPr sz="1000">
                          <a:latin typeface="Calibri"/>
                        </a:defRPr>
                      </a:pPr>
                      <a:r>
                        <a:t>nan</a:t>
                      </a:r>
                    </a:p>
                  </a:txBody>
                  <a:tcPr/>
                </a:tc>
                <a:tc>
                  <a:txBody>
                    <a:bodyPr wrap="square"/>
                    <a:lstStyle/>
                    <a:p>
                      <a:pPr>
                        <a:defRPr sz="1000">
                          <a:latin typeface="Calibri"/>
                        </a:defRPr>
                      </a:pPr>
                      <a:r>
                        <a:t>INR 127.0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2311-DA-ID-27</a:t>
                      </a:r>
                    </a:p>
                  </a:txBody>
                  <a:tcPr/>
                </a:tc>
                <a:tc>
                  <a:txBody>
                    <a:bodyPr wrap="square"/>
                    <a:lstStyle/>
                    <a:p>
                      <a:pPr>
                        <a:defRPr sz="1000">
                          <a:latin typeface="Calibri"/>
                        </a:defRPr>
                      </a:pPr>
                      <a:r>
                        <a:t>Replace ABS+PVC+PU with PP+PE-TD14 in the manufacture of both Front and Rear Passenger Armrest Trims of MGI</a:t>
                      </a:r>
                    </a:p>
                  </a:txBody>
                  <a:tcPr/>
                </a:tc>
                <a:tc>
                  <a:txBody>
                    <a:bodyPr wrap="square"/>
                    <a:lstStyle/>
                    <a:p>
                      <a:pPr>
                        <a:defRPr sz="1000">
                          <a:latin typeface="Calibri"/>
                        </a:defRPr>
                      </a:pPr>
                      <a:r>
                        <a:t>New tooling cost from YFI to be confirmed for business case calculations</a:t>
                      </a:r>
                    </a:p>
                  </a:txBody>
                  <a:tcPr/>
                </a:tc>
                <a:tc>
                  <a:txBody>
                    <a:bodyPr wrap="square"/>
                    <a:lstStyle/>
                    <a:p>
                      <a:pPr>
                        <a:defRPr sz="1000">
                          <a:latin typeface="Calibri"/>
                        </a:defRPr>
                      </a:pPr>
                      <a:r>
                        <a:t>INR 126.0</a:t>
                      </a:r>
                    </a:p>
                  </a:txBody>
                  <a:tcPr/>
                </a:tc>
                <a:tc>
                  <a:txBody>
                    <a:bodyPr wrap="square"/>
                    <a:lstStyle/>
                    <a:p>
                      <a:pPr>
                        <a:defRPr sz="1000">
                          <a:latin typeface="Calibri"/>
                        </a:defRPr>
                      </a:pPr>
                      <a:r>
                        <a:t>NG</a:t>
                      </a:r>
                    </a:p>
                  </a:txBody>
                  <a:tcPr/>
                </a:tc>
                <a:tc>
                  <a:txBody>
                    <a:bodyPr wrap="square"/>
                    <a:lstStyle/>
                    <a:p>
                      <a:pPr>
                        <a:defRPr sz="1000">
                          <a:latin typeface="Calibri"/>
                        </a:defRPr>
                      </a:pPr>
                      <a:r>
                        <a:t>New tooling cost from YFI to be confirmed for business case calculations</a:t>
                      </a:r>
                    </a:p>
                  </a:txBody>
                  <a:tcPr/>
                </a:tc>
                <a:tc>
                  <a:txBody>
                    <a:bodyPr wrap="square"/>
                    <a:lstStyle/>
                    <a:p>
                      <a:pPr>
                        <a:defRPr sz="1000">
                          <a:latin typeface="Calibri"/>
                        </a:defRPr>
                      </a:pPr>
                      <a:r>
                        <a:t>Akhil</a:t>
                      </a:r>
                    </a:p>
                  </a:txBody>
                  <a:tcPr/>
                </a:tc>
                <a:tc>
                  <a:txBody>
                    <a:bodyPr wrap="square"/>
                    <a:lstStyle/>
                    <a:p>
                      <a:pPr>
                        <a:defRPr sz="1000">
                          <a:latin typeface="Calibri"/>
                        </a:defRPr>
                      </a:pPr>
                      <a:r>
                        <a:t>2024-02-12 00:00:00</a:t>
                      </a:r>
                    </a:p>
                  </a:txBody>
                  <a:tcPr/>
                </a:tc>
              </a:tr>
              <a:tr h="320040">
                <a:tc>
                  <a:txBody>
                    <a:bodyPr wrap="square"/>
                    <a:lstStyle/>
                    <a:p>
                      <a:pPr>
                        <a:defRPr sz="1000">
                          <a:latin typeface="Calibri"/>
                        </a:defRPr>
                      </a:pPr>
                      <a:r>
                        <a:t>2311-PRODUCT-ID-03</a:t>
                      </a:r>
                    </a:p>
                  </a:txBody>
                  <a:tcPr/>
                </a:tc>
                <a:tc>
                  <a:txBody>
                    <a:bodyPr wrap="square"/>
                    <a:lstStyle/>
                    <a:p>
                      <a:pPr>
                        <a:defRPr sz="1000">
                          <a:latin typeface="Calibri"/>
                        </a:defRPr>
                      </a:pPr>
                      <a:r>
                        <a:t>Replace the rubber bushes used on the wiper blade mounting bolts with the plastic protective cap.</a:t>
                      </a:r>
                    </a:p>
                  </a:txBody>
                  <a:tcPr/>
                </a:tc>
                <a:tc>
                  <a:txBody>
                    <a:bodyPr wrap="square"/>
                    <a:lstStyle/>
                    <a:p>
                      <a:pPr>
                        <a:defRPr sz="1000">
                          <a:latin typeface="Calibri"/>
                        </a:defRPr>
                      </a:pPr>
                      <a:r>
                        <a:t>nan</a:t>
                      </a:r>
                    </a:p>
                  </a:txBody>
                  <a:tcPr/>
                </a:tc>
                <a:tc>
                  <a:txBody>
                    <a:bodyPr wrap="square"/>
                    <a:lstStyle/>
                    <a:p>
                      <a:pPr>
                        <a:defRPr sz="1000">
                          <a:latin typeface="Calibri"/>
                        </a:defRPr>
                      </a:pPr>
                      <a:r>
                        <a:t>INR 126.0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AI-GEN-01</a:t>
                      </a:r>
                    </a:p>
                  </a:txBody>
                  <a:tcPr/>
                </a:tc>
                <a:tc>
                  <a:txBody>
                    <a:bodyPr wrap="square"/>
                    <a:lstStyle/>
                    <a:p>
                      <a:pPr>
                        <a:defRPr sz="1000">
                          <a:latin typeface="Calibri"/>
                        </a:defRPr>
                      </a:pPr>
                      <a:r>
                        <a:t>Implement a variable damping control system utilizing magnetorheological (MR) fluid in the primary front and rear dampers, actuated by predictive road surface data from an integrated sensor array.</a:t>
                      </a:r>
                    </a:p>
                  </a:txBody>
                  <a:tcPr/>
                </a:tc>
                <a:tc>
                  <a:txBody>
                    <a:bodyPr wrap="square"/>
                    <a:lstStyle/>
                    <a:p>
                      <a:pPr>
                        <a:defRPr sz="1000">
                          <a:latin typeface="Calibri"/>
                        </a:defRPr>
                      </a:pPr>
                      <a:r>
                        <a:t>Investigate the feasibility of integrating MR fluid dampers into existing suspension architecture. This involves analyzing the power requirements for the actuators, the integration of MR fluid control units with the vehicle's CAN bus, and developing algorithms for real-time damping adjustment based on inputs from accelerometers, ride height sensors, and potentially camera-based road profile analysis. Validation will involve extensive bench testing of the MR fluid response under varying magnetic fields and temperatures, followed by vehicle dynamics simulations to optimize control strategies. On-road validation will focus on subjective ride comfort, objective handling performance (e.g., body roll reduction, tire contact force stability), and durability testing under diverse road conditions and environmental factors.</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Investigate the feasibility of integrating MR fluid dampers into existing suspension architecture. This involves analyzing the power requirements for the actuators, the integration of MR fluid control units with the vehicle's CAN bus, and developing algorithms for real-time damping adjustment based on inputs from accelerometers, ride height sensors, and potentially camera-based road profile analysis. Validation will involve extensive bench testing of the MR fluid response under varying magnetic fields and temperatures, followed by vehicle dynamics simulations to optimize control strategies. On-road validation will focus on subjective ride comfort, objective handling performance (e.g., body roll reduction, tire contact force stability), and durability testing under diverse road conditions and environmental factors.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AI-GEN-02</a:t>
                      </a:r>
                    </a:p>
                  </a:txBody>
                  <a:tcPr/>
                </a:tc>
                <a:tc>
                  <a:txBody>
                    <a:bodyPr wrap="square"/>
                    <a:lstStyle/>
                    <a:p>
                      <a:pPr>
                        <a:defRPr sz="1000">
                          <a:latin typeface="Calibri"/>
                        </a:defRPr>
                      </a:pPr>
                      <a:r>
                        <a:t>Replace traditional coil springs in rear suspension with composite leaf spring elements constructed from continuous fiber-reinforced polymers (CFRP) with optimized lay-up schedules.</a:t>
                      </a:r>
                    </a:p>
                  </a:txBody>
                  <a:tcPr/>
                </a:tc>
                <a:tc>
                  <a:txBody>
                    <a:bodyPr wrap="square"/>
                    <a:lstStyle/>
                    <a:p>
                      <a:pPr>
                        <a:defRPr sz="1000">
                          <a:latin typeface="Calibri"/>
                        </a:defRPr>
                      </a:pPr>
                      <a:r>
                        <a:t>The transition from steel coil springs to CFRP leaf springs hinges on achieving equivalent or superior load-bearing capacity, fatigue life, and desired spring rate characteristics while significantly reducing mass. Finite Element Analysis (FEA) will be critical to model stress distribution and predict fatigue performance under various load cases (static, dynamic, impact). Material selection will focus on high-strength carbon fibers and robust epoxy resins. Manufacturing processes, such as resin transfer molding (RTM) or prepreg lay-up, will be evaluated for cost-effectiveness and scalability. Validation will include static load testing to verify deflection and stiffness, dynamic fatigue testing to simulate millions of cycles, and impact testing to assess failure modes. On-vehicle testing will assess ride comfort, handling, and NVH characteristics compared to the baseline coil spring system.</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The transition from steel coil springs to CFRP leaf springs hinges on achieving equivalent or superior load-bearing capacity, fatigue life, and desired spring rate characteristics while significantly reducing mass. Finite Element Analysis (FEA) will be critical to model stress distribution and predict fatigue performance under various load cases (static, dynamic, impact). Material selection will focus on high-strength carbon fibers and robust epoxy resins. Manufacturing processes, such as resin transfer molding (RTM) or prepreg lay-up, will be evaluated for cost-effectiveness and scalability. Validation will include static load testing to verify deflection and stiffness, dynamic fatigue testing to simulate millions of cycles, and impact testing to assess failure modes. On-vehicle testing will assess ride comfort, handling, and NVH characteristics compared to the baseline coil spring system.</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AI-GEN-03</a:t>
                      </a:r>
                    </a:p>
                  </a:txBody>
                  <a:tcPr/>
                </a:tc>
                <a:tc>
                  <a:txBody>
                    <a:bodyPr wrap="square"/>
                    <a:lstStyle/>
                    <a:p>
                      <a:pPr>
                        <a:defRPr sz="1000">
                          <a:latin typeface="Calibri"/>
                        </a:defRPr>
                      </a:pPr>
                      <a:r>
                        <a:t>Develop a semi-active suspension system using electro-hydraulic actuators for active roll control, eliminating the need for conventional anti-roll bars.</a:t>
                      </a:r>
                    </a:p>
                  </a:txBody>
                  <a:tcPr/>
                </a:tc>
                <a:tc>
                  <a:txBody>
                    <a:bodyPr wrap="square"/>
                    <a:lstStyle/>
                    <a:p>
                      <a:pPr>
                        <a:defRPr sz="1000">
                          <a:latin typeface="Calibri"/>
                        </a:defRPr>
                      </a:pPr>
                      <a:r>
                        <a:t>This proposal aims to achieve enhanced body control and ride comfort by actively managing roll motion. Electro-hydraulic actuators offer rapid response and precise force generation. The system will require sophisticated control algorithms that process inputs from yaw rate sensors, steering angle sensors, and accelerometers to predict and counteract body roll in real-time. Hydraulic power units and control valves will need to be optimized for efficiency and packaging. Validation will involve extensive simulation of vehicle dynamics, focusing on cornering stability and transient response. On-track testing will measure lateral acceleration, roll angle reduction, and steering feel. Durability and thermal management of the hydraulic system will be key validation areas.</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proposal aims to achieve enhanced body control and ride comfort by actively managing roll motion. Electro-hydraulic actuators offer rapid response and precise force generation. The system will require sophisticated control algorithms that process inputs from yaw rate sensors, steering angle sensors, and accelerometers to predict and counteract body roll in real-time. Hydraulic power units and control valves will need to be optimized for efficiency and packaging. Validation will involve extensive simulation of vehicle dynamics, focusing on cornering stability and transient response. On-track testing will measure lateral acceleration, roll angle reduction, and steering feel. Durability and thermal management of the hydraulic system will be key validation areas.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AI-GEN-04</a:t>
                      </a:r>
                    </a:p>
                  </a:txBody>
                  <a:tcPr/>
                </a:tc>
                <a:tc>
                  <a:txBody>
                    <a:bodyPr wrap="square"/>
                    <a:lstStyle/>
                    <a:p>
                      <a:pPr>
                        <a:defRPr sz="1000">
                          <a:latin typeface="Calibri"/>
                        </a:defRPr>
                      </a:pPr>
                      <a:r>
                        <a:t>Utilize a novel kinematic design for the rear multi-link suspension that decouples vertical wheel motion from lateral and longitudinal forces, using a simplified linkage geometry and high-performance bushings.</a:t>
                      </a:r>
                    </a:p>
                  </a:txBody>
                  <a:tcPr/>
                </a:tc>
                <a:tc>
                  <a:txBody>
                    <a:bodyPr wrap="square"/>
                    <a:lstStyle/>
                    <a:p>
                      <a:pPr>
                        <a:defRPr sz="1000">
                          <a:latin typeface="Calibri"/>
                        </a:defRPr>
                      </a:pPr>
                      <a:r>
                        <a:t>The core principle is to isolate road inputs from chassis movements that negatively impact handling and comfort. This involves a detailed kinematic analysis and multi-body dynamics simulation to define optimal link lengths, pivot points, and angles. The goal is to minimize undesirable toe and camber changes during suspension travel and cornering. High-performance elastomeric or hybrid bushings will be designed to offer the necessary compliance for vibration isolation while maintaining stiffness for precise wheel control. Validation will commence with kinematic and dynamic simulations to predict wheel behavior. Static rig testing will verify bushing performance and load paths. Vehicle testing will focus on subjective assessments of ride and handling, objective measurements of tire scrub, and NVH analysis over various road surfaces.</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The core principle is to isolate road inputs from chassis movements that negatively impact handling and comfort. This involves a detailed kinematic analysis and multi-body dynamics simulation to define optimal link lengths, pivot points, and angles. The goal is to minimize undesirable toe and camber changes during suspension travel and cornering. High-performance elastomeric or hybrid bushings will be designed to offer the necessary compliance for vibration isolation while maintaining stiffness for precise wheel control. Validation will commence with kinematic and dynamic simulations to predict wheel behavior. Static rig testing will verify bushing performance and load paths. Vehicle testing will focus on subjective assessments of ride and handling, objective measurements of tire scrub, and NVH analysis over various road surfaces.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AI-GEN-05</a:t>
                      </a:r>
                    </a:p>
                  </a:txBody>
                  <a:tcPr/>
                </a:tc>
                <a:tc>
                  <a:txBody>
                    <a:bodyPr wrap="square"/>
                    <a:lstStyle/>
                    <a:p>
                      <a:pPr>
                        <a:defRPr sz="1000">
                          <a:latin typeface="Calibri"/>
                        </a:defRPr>
                      </a:pPr>
                      <a:r>
                        <a:t>Implement integrated wheel hub bearing assemblies with built-in active steering actuators for rear-wheel steering, leveraging the existing bearing structure.</a:t>
                      </a:r>
                    </a:p>
                  </a:txBody>
                  <a:tcPr/>
                </a:tc>
                <a:tc>
                  <a:txBody>
                    <a:bodyPr wrap="square"/>
                    <a:lstStyle/>
                    <a:p>
                      <a:pPr>
                        <a:defRPr sz="1000">
                          <a:latin typeface="Calibri"/>
                        </a:defRPr>
                      </a:pPr>
                      <a:r>
                        <a:t>This concept aims to integrate rear-wheel steering capabilities directly into the wheel hub assembly, reducing component count and packaging complexity. It requires the development of compact, high-torque electric actuators that can precisely control the steering angle of the wheel. The mechanical interface with the existing hub and knuckle geometry needs to be carefully designed to ensure robust load transfer and precise angular control. Control software will be critical for synchronizing rear-wheel steering with front-wheel steering based on vehicle speed and driver input. Validation will involve FEA of the integrated hub and actuator structure, followed by bench testing of actuator performance (speed, torque, accuracy) and endurance. Vehicle testing will focus on low-speed maneuverability, high-speed stability, and dynamic handling performance.</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concept aims to integrate rear-wheel steering capabilities directly into the wheel hub assembly, reducing component count and packaging complexity. It requires the development of compact, high-torque electric actuators that can precisely control the steering angle of the wheel. The mechanical interface with the existing hub and knuckle geometry needs to be carefully designed to ensure robust load transfer and precise angular control. Control software will be critical for synchronizing rear-wheel steering with front-wheel steering based on vehicle speed and driver input. Validation will involve FEA of the integrated hub and actuator structure, followed by bench testing of actuator performance (speed, torque, accuracy) and endurance. Vehicle testing will focus on low-speed maneuverability, high-speed stability, and dynamic handling performance.</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12)</a:t>
            </a:r>
          </a:p>
        </p:txBody>
      </p:sp>
      <p:graphicFrame>
        <p:nvGraphicFramePr>
          <p:cNvPr id="3" name="Table 2"/>
          <p:cNvGraphicFramePr>
            <a:graphicFrameLocks noGrp="1"/>
          </p:cNvGraphicFramePr>
          <p:nvPr/>
        </p:nvGraphicFramePr>
        <p:xfrm>
          <a:off x="182880" y="640080"/>
          <a:ext cx="8778240" cy="329184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29718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AI-GEN-06</a:t>
                      </a:r>
                    </a:p>
                  </a:txBody>
                  <a:tcPr/>
                </a:tc>
                <a:tc>
                  <a:txBody>
                    <a:bodyPr wrap="square"/>
                    <a:lstStyle/>
                    <a:p>
                      <a:pPr>
                        <a:defRPr sz="1000">
                          <a:latin typeface="Calibri"/>
                        </a:defRPr>
                      </a:pPr>
                      <a:r>
                        <a:t>Replace traditional hydraulic power steering fluid with an electro-mechanical steering system employing a variable-ratio rack and pinion driven by a high-torque electric motor with adaptive gain control.</a:t>
                      </a:r>
                    </a:p>
                  </a:txBody>
                  <a:tcPr/>
                </a:tc>
                <a:tc>
                  <a:txBody>
                    <a:bodyPr wrap="square"/>
                    <a:lstStyle/>
                    <a:p>
                      <a:pPr>
                        <a:defRPr sz="1000">
                          <a:latin typeface="Calibri"/>
                        </a:defRPr>
                      </a:pPr>
                      <a:r>
                        <a:t>This proposal focuses on optimizing steering feel, efficiency, and packaging by transitioning from hydraulic to electro-mechanical power steering (EPS). The variable-ratio rack allows for quicker steering at low speeds and more stability at high speeds, improving maneuverability and driver confidence. Adaptive gain control will adjust steering effort and responsiveness based on vehicle speed and driving conditions. The system requires a robust electric motor with sufficient torque, a precise gear reduction mechanism, and an advanced ECU for control. Validation will involve FEA to ensure mechanical integrity, followed by extensive bench testing of the EPS unit for torque, speed, and efficiency. Vehicle testing will focus on subjective steering feel, objective steering response metrics (e.g., steering ratio accuracy, dead zone), and dynamic stability during emergency maneuvers. NVH analysis will also be crucial to ensure a quiet and refined steering experience.</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proposal focuses on optimizing steering feel, efficiency, and packaging by transitioning from hydraulic to electro-mechanical power steering (EPS). The variable-ratio rack allows for quicker steering at low speeds and more stability at high speeds, improving maneuverability and driver confidence. Adaptive gain control will adjust steering effort and responsiveness based on vehicle speed and driving conditions. The system requires a robust electric motor with sufficient torque, a precise gear reduction mechanism, and an advanced ECU for control. Validation will involve FEA to ensure mechanical integrity, followed by extensive bench testing of the EPS unit for torque, speed, and efficiency. Vehicle testing will focus on subjective steering feel, objective steering response metrics (e.g., steering ratio accuracy, dead zone), and dynamic stability during emergency maneuvers. NVH analysis will also be crucial to ensure a quiet and refined steering experience.</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56</a:t>
            </a:r>
          </a:p>
          <a:p>
            <a:pPr>
              <a:defRPr sz="1000">
                <a:latin typeface="Calibri"/>
              </a:defRPr>
            </a:pPr>
            <a:r>
              <a:t>• Total Potential Savings: INR 6,857.00</a:t>
            </a:r>
          </a:p>
          <a:p>
            <a:pPr>
              <a:defRPr sz="1000">
                <a:latin typeface="Calibri"/>
              </a:defRPr>
            </a:pPr>
            <a:r>
              <a:t>• Implemented Ideas: 0</a:t>
            </a:r>
          </a:p>
          <a:p>
            <a:pPr>
              <a:defRPr sz="1000">
                <a:latin typeface="Calibri"/>
              </a:defRPr>
            </a:pPr>
            <a:r>
              <a:t>• Status OK: 2</a:t>
            </a:r>
          </a:p>
          <a:p>
            <a:pPr>
              <a:defRPr sz="1000">
                <a:latin typeface="Calibri"/>
              </a:defRPr>
            </a:pPr>
            <a:r>
              <a:t>• Status TBD: 16</a:t>
            </a:r>
          </a:p>
          <a:p>
            <a:pPr>
              <a:defRPr sz="1000">
                <a:latin typeface="Calibri"/>
              </a:defRPr>
            </a:pPr>
            <a:r>
              <a:t>• Status NG: 30</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56 ideas analyzed.</a:t>
            </a:r>
          </a:p>
          <a:p>
            <a:pPr>
              <a:defRPr sz="1800">
                <a:latin typeface="Calibri"/>
              </a:defRPr>
            </a:pPr>
            <a:r>
              <a:t>Total Savings: INR 6,857.00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
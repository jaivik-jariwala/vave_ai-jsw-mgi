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AI-GEN-01</c:v>
                </c:pt>
                <c:pt idx="1">
                  <c:v>AI-GEN-02</c:v>
                </c:pt>
                <c:pt idx="2">
                  <c:v>AI-GEN-03</c:v>
                </c:pt>
                <c:pt idx="3">
                  <c:v>AI-GEN-04</c:v>
                </c:pt>
                <c:pt idx="4">
                  <c:v>AI-GEN-05</c:v>
                </c:pt>
                <c:pt idx="5">
                  <c:v>AI-GEN-06</c:v>
                </c:pt>
              </c:strCache>
            </c:strRef>
          </c:cat>
          <c:val>
            <c:numRef>
              <c:f>Sheet1!$B$2:$B$7</c:f>
              <c:numCache>
                <c:formatCode>General</c:formatCode>
                <c:ptCount val="6"/>
                <c:pt idx="0">
                  <c:v>0</c:v>
                </c:pt>
                <c:pt idx="1">
                  <c:v>0</c:v>
                </c:pt>
                <c:pt idx="2">
                  <c:v>0</c:v>
                </c:pt>
                <c:pt idx="3">
                  <c:v>0</c:v>
                </c:pt>
                <c:pt idx="4">
                  <c:v>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traditional steel ball joint housings with a forged aluminum alloy, optimizing for reduced material mass and improved fatigue strength through controlled grain structure during forging.</a:t>
                      </a:r>
                    </a:p>
                  </a:txBody>
                  <a:tcPr/>
                </a:tc>
                <a:tc>
                  <a:txBody>
                    <a:bodyPr wrap="square"/>
                    <a:lstStyle/>
                    <a:p>
                      <a:pPr>
                        <a:defRPr sz="1000">
                          <a:latin typeface="Calibri"/>
                        </a:defRPr>
                      </a:pPr>
                      <a:r>
                        <a:t>Investigate Al-Si-Mg alloys (e.g., 6061-T6 or 7075-T6) for their balance of strength, corrosion resistance, and formability. Conduct FEA simulations to validate stress distribution under critical load cases (bump, droop, cornering). Perform extensive fatigue testing on prototype components to ensure service life equivalent to or exceeding current steel parts. Microstructural analysis will confirm forging quality.  Target saving is derived from material cost difference and reduced machining. Validation includes road testing under diverse environmental conditions.</a:t>
                      </a:r>
                    </a:p>
                  </a:txBody>
                  <a:tcPr/>
                </a:tc>
                <a:tc>
                  <a:txBody>
                    <a:bodyPr wrap="square"/>
                    <a:lstStyle/>
                    <a:p>
                      <a:pPr>
                        <a:defRPr sz="1000">
                          <a:latin typeface="Calibri"/>
                        </a:defRPr>
                      </a:pPr>
                      <a:r>
                        <a:t>25</a:t>
                      </a:r>
                    </a:p>
                  </a:txBody>
                  <a:tcPr/>
                </a:tc>
                <a:tc>
                  <a:txBody>
                    <a:bodyPr wrap="square"/>
                    <a:lstStyle/>
                    <a:p>
                      <a:pPr>
                        <a:defRPr sz="1000">
                          <a:latin typeface="Calibri"/>
                        </a:defRPr>
                      </a:pPr>
                      <a:r>
                        <a:t>AI Proposal</a:t>
                      </a:r>
                    </a:p>
                  </a:txBody>
                  <a:tcPr/>
                </a:tc>
                <a:tc>
                  <a:txBody>
                    <a:bodyPr wrap="square"/>
                    <a:lstStyle/>
                    <a:p>
                      <a:pPr>
                        <a:defRPr sz="1000">
                          <a:latin typeface="Calibri"/>
                        </a:defRPr>
                      </a:pPr>
                      <a:r>
                        <a:t>Investigate Al-Si-Mg alloys (e.g., 6061-T6 or 7075-T6) for their balance of strength, corrosion resistance, and formability. Conduct FEA simulations to validate stress distribution under critical load cases (bump, droop, cornering). Perform extensive fatigue testing on prototype components to ensure service life equivalent to or exceeding current steel parts. Microstructural analysis will confirm forging quality.  Target saving is derived from material cost difference and reduced machining. Validation includes road testing under diverse environmental conditions.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Implement a single-piece hydroformed control arm (e.g., lower control arm) eliminating complex multi-part welding and reducing internal material voiding, leading to higher structural integrity and lighter weight.</a:t>
                      </a:r>
                    </a:p>
                  </a:txBody>
                  <a:tcPr/>
                </a:tc>
                <a:tc>
                  <a:txBody>
                    <a:bodyPr wrap="square"/>
                    <a:lstStyle/>
                    <a:p>
                      <a:pPr>
                        <a:defRPr sz="1000">
                          <a:latin typeface="Calibri"/>
                        </a:defRPr>
                      </a:pPr>
                      <a:r>
                        <a:t>Utilize advanced hydroforming techniques to create a seamless, optimized cross-section for the control arm. This allows for precise wall thickness control, maximizing stiffness-to-weight ratio. FEA will be critical to optimize the tube profile and hydroforming process parameters to achieve target stiffness and durability under bending and torsional loads. Prototype arms will undergo static stiffness, dynamic stiffness, and fatigue testing. Material selection will focus on high-strength low-alloy (HSLA) steels to balance cost and performance. Savings originate from reduced assembly operations, fewer components, and potentially lower material waste.</a:t>
                      </a:r>
                    </a:p>
                  </a:txBody>
                  <a:tcPr/>
                </a:tc>
                <a:tc>
                  <a:txBody>
                    <a:bodyPr wrap="square"/>
                    <a:lstStyle/>
                    <a:p>
                      <a:pPr>
                        <a:defRPr sz="1000">
                          <a:latin typeface="Calibri"/>
                        </a:defRPr>
                      </a:pPr>
                      <a:r>
                        <a:t>22</a:t>
                      </a:r>
                    </a:p>
                  </a:txBody>
                  <a:tcPr/>
                </a:tc>
                <a:tc>
                  <a:txBody>
                    <a:bodyPr wrap="square"/>
                    <a:lstStyle/>
                    <a:p>
                      <a:pPr>
                        <a:defRPr sz="1000">
                          <a:latin typeface="Calibri"/>
                        </a:defRPr>
                      </a:pPr>
                      <a:r>
                        <a:t>AI Proposal</a:t>
                      </a:r>
                    </a:p>
                  </a:txBody>
                  <a:tcPr/>
                </a:tc>
                <a:tc>
                  <a:txBody>
                    <a:bodyPr wrap="square"/>
                    <a:lstStyle/>
                    <a:p>
                      <a:pPr>
                        <a:defRPr sz="1000">
                          <a:latin typeface="Calibri"/>
                        </a:defRPr>
                      </a:pPr>
                      <a:r>
                        <a:t>Utilize advanced hydroforming techniques to create a seamless, optimized cross-section for the control arm. This allows for precise wall thickness control, maximizing stiffness-to-weight ratio. FEA will be critical to optimize the tube profile and hydroforming process parameters to achieve target stiffness and durability under bending and torsional loads. Prototype arms will undergo static stiffness, dynamic stiffness, and fatigue testing. Material selection will focus on high-strength low-alloy (HSLA) steels to balance cost and performance. Savings originate from reduced assembly operations, fewer components, and potentially lower material waste.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Develop a thermoplastic composite material for stabilizer bar links, leveraging its inherent damping properties and anisotropic strength, negating the need for separate rubber bushings and reducing component count.</a:t>
                      </a:r>
                    </a:p>
                  </a:txBody>
                  <a:tcPr/>
                </a:tc>
                <a:tc>
                  <a:txBody>
                    <a:bodyPr wrap="square"/>
                    <a:lstStyle/>
                    <a:p>
                      <a:pPr>
                        <a:defRPr sz="1000">
                          <a:latin typeface="Calibri"/>
                        </a:defRPr>
                      </a:pPr>
                      <a:r>
                        <a:t>Explore glass fiber or carbon fiber reinforced polyamide (PA) or PBT. Design the link with optimized fiber orientation to withstand tensile and compressive loads experienced during body roll. Computational Fluid Dynamics (CFD) on the manufacturing process (injection molding) will ensure proper fiber impregnation and structural integrity. Prototypes will undergo rigorous static load testing, fatigue cycling, and vibration analysis to demonstrate equivalent or superior performance to current metal/rubber assemblies. Savings come from material consolidation and reduced assembly labor. Validation will include performance testing on a dynamic rig and vehicle-level NVH assessment.</a:t>
                      </a:r>
                    </a:p>
                  </a:txBody>
                  <a:tcPr/>
                </a:tc>
                <a:tc>
                  <a:txBody>
                    <a:bodyPr wrap="square"/>
                    <a:lstStyle/>
                    <a:p>
                      <a:pPr>
                        <a:defRPr sz="1000">
                          <a:latin typeface="Calibri"/>
                        </a:defRPr>
                      </a:pPr>
                      <a:r>
                        <a:t>20</a:t>
                      </a:r>
                    </a:p>
                  </a:txBody>
                  <a:tcPr/>
                </a:tc>
                <a:tc>
                  <a:txBody>
                    <a:bodyPr wrap="square"/>
                    <a:lstStyle/>
                    <a:p>
                      <a:pPr>
                        <a:defRPr sz="1000">
                          <a:latin typeface="Calibri"/>
                        </a:defRPr>
                      </a:pPr>
                      <a:r>
                        <a:t>AI Proposal</a:t>
                      </a:r>
                    </a:p>
                  </a:txBody>
                  <a:tcPr/>
                </a:tc>
                <a:tc>
                  <a:txBody>
                    <a:bodyPr wrap="square"/>
                    <a:lstStyle/>
                    <a:p>
                      <a:pPr>
                        <a:defRPr sz="1000">
                          <a:latin typeface="Calibri"/>
                        </a:defRPr>
                      </a:pPr>
                      <a:r>
                        <a:t>Explore glass fiber or carbon fiber reinforced polyamide (PA) or PBT. Design the link with optimized fiber orientation to withstand tensile and compressive loads experienced during body roll. Computational Fluid Dynamics (CFD) on the manufacturing process (injection molding) will ensure proper fiber impregnation and structural integrity. Prototypes will undergo rigorous static load testing, fatigue cycling, and vibration analysis to demonstrate equivalent or superior performance to current metal/rubber assemblies. Savings come from material consolidation and reduced assembly labor. Validation will include performance testing on a dynamic rig and vehicle-level NVH assessment.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Re-engineer the tie rod end housing to incorporate a novel self-lubricating polymer bearing integrated directly into the forged steel or aluminum housing, eliminating separate ball stud and reducing assembly complexity.</a:t>
                      </a:r>
                    </a:p>
                  </a:txBody>
                  <a:tcPr/>
                </a:tc>
                <a:tc>
                  <a:txBody>
                    <a:bodyPr wrap="square"/>
                    <a:lstStyle/>
                    <a:p>
                      <a:pPr>
                        <a:defRPr sz="1000">
                          <a:latin typeface="Calibri"/>
                        </a:defRPr>
                      </a:pPr>
                      <a:r>
                        <a:t>Investigate high-performance tribological polymers (e.g., PEEK, PTFE composites) capable of withstanding suspension loads and environmental exposure. Design the internal geometry of the housing to securely encapsulate the polymer bearing. Material selection for the housing will balance cost, strength, and machinability. FEA will analyze stress concentrations and wear patterns. Prototypes will undergo accelerated wear testing and dynamic articulation testing to simulate extreme operating conditions. Savings arise from part consolidation, elimination of grease lubrication, and reduced assembly steps. Validation includes extensive road durability testing.</a:t>
                      </a:r>
                    </a:p>
                  </a:txBody>
                  <a:tcPr/>
                </a:tc>
                <a:tc>
                  <a:txBody>
                    <a:bodyPr wrap="square"/>
                    <a:lstStyle/>
                    <a:p>
                      <a:pPr>
                        <a:defRPr sz="1000">
                          <a:latin typeface="Calibri"/>
                        </a:defRPr>
                      </a:pPr>
                      <a:r>
                        <a:t>23</a:t>
                      </a:r>
                    </a:p>
                  </a:txBody>
                  <a:tcPr/>
                </a:tc>
                <a:tc>
                  <a:txBody>
                    <a:bodyPr wrap="square"/>
                    <a:lstStyle/>
                    <a:p>
                      <a:pPr>
                        <a:defRPr sz="1000">
                          <a:latin typeface="Calibri"/>
                        </a:defRPr>
                      </a:pPr>
                      <a:r>
                        <a:t>AI Proposal</a:t>
                      </a:r>
                    </a:p>
                  </a:txBody>
                  <a:tcPr/>
                </a:tc>
                <a:tc>
                  <a:txBody>
                    <a:bodyPr wrap="square"/>
                    <a:lstStyle/>
                    <a:p>
                      <a:pPr>
                        <a:defRPr sz="1000">
                          <a:latin typeface="Calibri"/>
                        </a:defRPr>
                      </a:pPr>
                      <a:r>
                        <a:t>Investigate high-performance tribological polymers (e.g., PEEK, PTFE composites) capable of withstanding suspension loads and environmental exposure. Design the internal geometry of the housing to securely encapsulate the polymer bearing. Material selection for the housing will balance cost, strength, and machinability. FEA will analyze stress concentrations and wear patterns. Prototypes will undergo accelerated wear testing and dynamic articulation testing to simulate extreme operating conditions. Savings arise from part consolidation, elimination of grease lubrication, and reduced assembly steps. Validation includes extensive road durability testing.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Utilize additive manufacturing (3D printing) for complex bracketry and mounting points on suspension arms, allowing for topology optimization and creation of lattice structures that significantly reduce material usage and weight without compromising strength.</a:t>
                      </a:r>
                    </a:p>
                  </a:txBody>
                  <a:tcPr/>
                </a:tc>
                <a:tc>
                  <a:txBody>
                    <a:bodyPr wrap="square"/>
                    <a:lstStyle/>
                    <a:p>
                      <a:pPr>
                        <a:defRPr sz="1000">
                          <a:latin typeface="Calibri"/>
                        </a:defRPr>
                      </a:pPr>
                      <a:r>
                        <a:t>Focus on high-strength metal powders (e.g., Inconel, Titanium alloys, or advanced steels) with established post-processing heat treatments. Employ generative design software to create lightweight, organic shapes tailored to load paths. Extensive simulation (FEA) is paramount to validate structural integrity and fatigue life. Material properties of the printed parts must be meticulously characterized through tensile, fatigue, and impact testing. Prototype parts will undergo rigorous functional testing and vehicle integration to assess performance. Savings stem from drastic material reduction and elimination of tooling for complex geometries. Validation includes component-level bench testing and on-vehicle performance evaluation.</a:t>
                      </a:r>
                    </a:p>
                  </a:txBody>
                  <a:tcPr/>
                </a:tc>
                <a:tc>
                  <a:txBody>
                    <a:bodyPr wrap="square"/>
                    <a:lstStyle/>
                    <a:p>
                      <a:pPr>
                        <a:defRPr sz="1000">
                          <a:latin typeface="Calibri"/>
                        </a:defRPr>
                      </a:pPr>
                      <a:r>
                        <a:t>30</a:t>
                      </a:r>
                    </a:p>
                  </a:txBody>
                  <a:tcPr/>
                </a:tc>
                <a:tc>
                  <a:txBody>
                    <a:bodyPr wrap="square"/>
                    <a:lstStyle/>
                    <a:p>
                      <a:pPr>
                        <a:defRPr sz="1000">
                          <a:latin typeface="Calibri"/>
                        </a:defRPr>
                      </a:pPr>
                      <a:r>
                        <a:t>AI Proposal</a:t>
                      </a:r>
                    </a:p>
                  </a:txBody>
                  <a:tcPr/>
                </a:tc>
                <a:tc>
                  <a:txBody>
                    <a:bodyPr wrap="square"/>
                    <a:lstStyle/>
                    <a:p>
                      <a:pPr>
                        <a:defRPr sz="1000">
                          <a:latin typeface="Calibri"/>
                        </a:defRPr>
                      </a:pPr>
                      <a:r>
                        <a:t>Focus on high-strength metal powders (e.g., Inconel, Titanium alloys, or advanced steels) with established post-processing heat treatments. Employ generative design software to create lightweight, organic shapes tailored to load paths. Extensive simulation (FEA) is paramount to validate structural integrity and fatigue life. Material properties of the printed parts must be meticulously characterized through tensile, fatigue, and impact testing. Prototype parts will undergo rigorous functional testing and vehicle integration to assess performance. Savings stem from drastic material reduction and elimination of tooling for complex geometries. Validation includes component-level bench testing and on-vehicle performance evaluation.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Replace traditional stamped and welded spring seats with a fully integrated, compression-molded composite component. This allows for precise shape control, inherent corrosion resistance, and optimized load distribution, eliminating multiple assembly steps.</a:t>
                      </a:r>
                    </a:p>
                  </a:txBody>
                  <a:tcPr/>
                </a:tc>
                <a:tc>
                  <a:txBody>
                    <a:bodyPr wrap="square"/>
                    <a:lstStyle/>
                    <a:p>
                      <a:pPr>
                        <a:defRPr sz="1000">
                          <a:latin typeface="Calibri"/>
                        </a:defRPr>
                      </a:pPr>
                      <a:r>
                        <a:t>Explore advanced thermoset or thermoplastic composite materials, potentially incorporating reinforcing fibers for enhanced stiffness and durability. The molding process will allow for complex geometries that optimize spring seat interface and material distribution. FEA will be used to predict stress and strain under coil spring loads and suspension travel. Mechanical testing of molded samples will confirm compression strength, fatigue resistance, and creep behavior. Prototype components will be subjected to rigorous dynamic testing, including constant amplitude and random vibration tests. Savings come from reduced part count, elimination of welding/stamping, and improved material utilization. Validation includes long-term durability testing and environmental exposure.</a:t>
                      </a:r>
                    </a:p>
                  </a:txBody>
                  <a:tcPr/>
                </a:tc>
                <a:tc>
                  <a:txBody>
                    <a:bodyPr wrap="square"/>
                    <a:lstStyle/>
                    <a:p>
                      <a:pPr>
                        <a:defRPr sz="1000">
                          <a:latin typeface="Calibri"/>
                        </a:defRPr>
                      </a:pPr>
                      <a:r>
                        <a:t>21</a:t>
                      </a:r>
                    </a:p>
                  </a:txBody>
                  <a:tcPr/>
                </a:tc>
                <a:tc>
                  <a:txBody>
                    <a:bodyPr wrap="square"/>
                    <a:lstStyle/>
                    <a:p>
                      <a:pPr>
                        <a:defRPr sz="1000">
                          <a:latin typeface="Calibri"/>
                        </a:defRPr>
                      </a:pPr>
                      <a:r>
                        <a:t>AI Proposal</a:t>
                      </a:r>
                    </a:p>
                  </a:txBody>
                  <a:tcPr/>
                </a:tc>
                <a:tc>
                  <a:txBody>
                    <a:bodyPr wrap="square"/>
                    <a:lstStyle/>
                    <a:p>
                      <a:pPr>
                        <a:defRPr sz="1000">
                          <a:latin typeface="Calibri"/>
                        </a:defRPr>
                      </a:pPr>
                      <a:r>
                        <a:t>Explore advanced thermoset or thermoplastic composite materials, potentially incorporating reinforcing fibers for enhanced stiffness and durability. The molding process will allow for complex geometries that optimize spring seat interface and material distribution. FEA will be used to predict stress and strain under coil spring loads and suspension travel. Mechanical testing of molded samples will confirm compression strength, fatigue resistance, and creep behavior. Prototype components will be subjected to rigorous dynamic testing, including constant amplitude and random vibration tests. Savings come from reduced part count, elimination of welding/stamping, and improved material utilization. Validation includes long-term durability testing and environmental exposure.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
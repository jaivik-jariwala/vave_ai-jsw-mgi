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2311-PRODUCT-ID-21</c:v>
                </c:pt>
                <c:pt idx="1">
                  <c:v>2311-PRODUCT-ID-14</c:v>
                </c:pt>
                <c:pt idx="2">
                  <c:v>2311-IP-ID-13</c:v>
                </c:pt>
                <c:pt idx="3">
                  <c:v>2311-PRODUCT-ID-06</c:v>
                </c:pt>
                <c:pt idx="4">
                  <c:v>2311-PRODUCT-ID-17</c:v>
                </c:pt>
                <c:pt idx="5">
                  <c:v>2311-SS-ID-06</c:v>
                </c:pt>
                <c:pt idx="6">
                  <c:v>2311-EL-ID-08</c:v>
                </c:pt>
                <c:pt idx="7">
                  <c:v>2311-PRODUCT-ID-03</c:v>
                </c:pt>
                <c:pt idx="8">
                  <c:v>2311-EX-ID-02</c:v>
                </c:pt>
                <c:pt idx="9">
                  <c:v>2311-PRODUCT-ID-02</c:v>
                </c:pt>
              </c:strCache>
            </c:strRef>
          </c:cat>
          <c:val>
            <c:numRef>
              <c:f>Sheet1!$B$2:$B$11</c:f>
              <c:numCache>
                <c:formatCode>General</c:formatCode>
                <c:ptCount val="10"/>
                <c:pt idx="0">
                  <c:v>65.0</c:v>
                </c:pt>
                <c:pt idx="1">
                  <c:v>46.0</c:v>
                </c:pt>
                <c:pt idx="2">
                  <c:v>87.0</c:v>
                </c:pt>
                <c:pt idx="3">
                  <c:v>50.0</c:v>
                </c:pt>
                <c:pt idx="4">
                  <c:v>103.0</c:v>
                </c:pt>
                <c:pt idx="5">
                  <c:v>93.0</c:v>
                </c:pt>
                <c:pt idx="6">
                  <c:v>135.0</c:v>
                </c:pt>
                <c:pt idx="7">
                  <c:v>126.0</c:v>
                </c:pt>
                <c:pt idx="8">
                  <c:v>62.0</c:v>
                </c:pt>
                <c:pt idx="9">
                  <c:v>130.0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3</c:v>
                </c:pt>
                <c:pt idx="3">
                  <c:v>6</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Share design change for business case evaluation</a:t>
                      </a:r>
                    </a:p>
                  </a:txBody>
                  <a:tcPr/>
                </a:tc>
                <a:tc>
                  <a:txBody>
                    <a:bodyPr wrap="square"/>
                    <a:lstStyle/>
                    <a:p>
                      <a:pPr>
                        <a:defRPr sz="1000">
                          <a:latin typeface="Calibri"/>
                        </a:defRPr>
                      </a:pPr>
                      <a:r>
                        <a:t>INR 65.0</a:t>
                      </a:r>
                    </a:p>
                  </a:txBody>
                  <a:tcPr/>
                </a:tc>
                <a:tc>
                  <a:txBody>
                    <a:bodyPr wrap="square"/>
                    <a:lstStyle/>
                    <a:p>
                      <a:pPr>
                        <a:defRPr sz="1000">
                          <a:latin typeface="Calibri"/>
                        </a:defRPr>
                      </a:pPr>
                      <a:r>
                        <a:t>NG</a:t>
                      </a:r>
                    </a:p>
                  </a:txBody>
                  <a:tcPr/>
                </a:tc>
                <a:tc>
                  <a:txBody>
                    <a:bodyPr wrap="square"/>
                    <a:lstStyle/>
                    <a:p>
                      <a:pPr>
                        <a:defRPr sz="1000">
                          <a:latin typeface="Calibri"/>
                        </a:defRPr>
                      </a:pPr>
                      <a:r>
                        <a:t>Share design change for business case evaluation</a:t>
                      </a:r>
                    </a:p>
                  </a:txBody>
                  <a:tcPr/>
                </a:tc>
                <a:tc>
                  <a:txBody>
                    <a:bodyPr wrap="square"/>
                    <a:lstStyle/>
                    <a:p>
                      <a:pPr>
                        <a:defRPr sz="1000">
                          <a:latin typeface="Calibri"/>
                        </a:defRPr>
                      </a:pPr>
                      <a:r>
                        <a:t>Manish Jaju</a:t>
                      </a:r>
                    </a:p>
                  </a:txBody>
                  <a:tcPr/>
                </a:tc>
                <a:tc>
                  <a:txBody>
                    <a:bodyPr wrap="square"/>
                    <a:lstStyle/>
                    <a:p>
                      <a:pPr>
                        <a:defRPr sz="1000">
                          <a:latin typeface="Calibri"/>
                        </a:defRPr>
                      </a:pPr>
                      <a:r>
                        <a:t>2023-12-12 00:00:00</a:t>
                      </a:r>
                    </a:p>
                  </a:txBody>
                  <a:tcPr/>
                </a:tc>
              </a:tr>
              <a:tr h="320040">
                <a:tc>
                  <a:txBody>
                    <a:bodyPr wrap="square"/>
                    <a:lstStyle/>
                    <a:p>
                      <a:pPr>
                        <a:defRPr sz="1000">
                          <a:latin typeface="Calibri"/>
                        </a:defRPr>
                      </a:pPr>
                      <a:r>
                        <a:t>2311-PRODUCT-ID-14</a:t>
                      </a:r>
                    </a:p>
                  </a:txBody>
                  <a:tcPr/>
                </a:tc>
                <a:tc>
                  <a:txBody>
                    <a:bodyPr wrap="square"/>
                    <a:lstStyle/>
                    <a:p>
                      <a:pPr>
                        <a:defRPr sz="1000">
                          <a:latin typeface="Calibri"/>
                        </a:defRPr>
                      </a:pPr>
                      <a:r>
                        <a:t>Reduce the thickness of the rear wiper pivot bolt cover trim from 2mm to 1.3mm.</a:t>
                      </a:r>
                    </a:p>
                  </a:txBody>
                  <a:tcPr/>
                </a:tc>
                <a:tc>
                  <a:txBody>
                    <a:bodyPr wrap="square"/>
                    <a:lstStyle/>
                    <a:p>
                      <a:pPr>
                        <a:defRPr sz="1000">
                          <a:latin typeface="Calibri"/>
                        </a:defRPr>
                      </a:pPr>
                      <a:r>
                        <a:t>Confirm with homeroom on technical feasibility &amp; Confirm localization</a:t>
                      </a:r>
                    </a:p>
                  </a:txBody>
                  <a:tcPr/>
                </a:tc>
                <a:tc>
                  <a:txBody>
                    <a:bodyPr wrap="square"/>
                    <a:lstStyle/>
                    <a:p>
                      <a:pPr>
                        <a:defRPr sz="1000">
                          <a:latin typeface="Calibri"/>
                        </a:defRPr>
                      </a:pPr>
                      <a:r>
                        <a:t>INR 46.0</a:t>
                      </a:r>
                    </a:p>
                  </a:txBody>
                  <a:tcPr/>
                </a:tc>
                <a:tc>
                  <a:txBody>
                    <a:bodyPr wrap="square"/>
                    <a:lstStyle/>
                    <a:p>
                      <a:pPr>
                        <a:defRPr sz="1000">
                          <a:latin typeface="Calibri"/>
                        </a:defRPr>
                      </a:pPr>
                      <a:r>
                        <a:t>TBD</a:t>
                      </a:r>
                    </a:p>
                  </a:txBody>
                  <a:tcPr/>
                </a:tc>
                <a:tc>
                  <a:txBody>
                    <a:bodyPr wrap="square"/>
                    <a:lstStyle/>
                    <a:p>
                      <a:pPr>
                        <a:defRPr sz="1000">
                          <a:latin typeface="Calibri"/>
                        </a:defRPr>
                      </a:pPr>
                      <a:r>
                        <a:t>Confirm with homeroom on technical feasibility &amp; Confirm localization</a:t>
                      </a:r>
                    </a:p>
                  </a:txBody>
                  <a:tcPr/>
                </a:tc>
                <a:tc>
                  <a:txBody>
                    <a:bodyPr wrap="square"/>
                    <a:lstStyle/>
                    <a:p>
                      <a:pPr>
                        <a:defRPr sz="1000">
                          <a:latin typeface="Calibri"/>
                        </a:defRPr>
                      </a:pPr>
                      <a:r>
                        <a:t>Ojaswini</a:t>
                      </a:r>
                    </a:p>
                  </a:txBody>
                  <a:tcPr/>
                </a:tc>
                <a:tc>
                  <a:txBody>
                    <a:bodyPr wrap="square"/>
                    <a:lstStyle/>
                    <a:p>
                      <a:pPr>
                        <a:defRPr sz="1000">
                          <a:latin typeface="Calibri"/>
                        </a:defRPr>
                      </a:pPr>
                      <a:r>
                        <a:t>2023-12-14 00:00:00</a:t>
                      </a:r>
                    </a:p>
                  </a:txBody>
                  <a:tcPr/>
                </a:tc>
              </a:tr>
              <a:tr h="320040">
                <a:tc>
                  <a:txBody>
                    <a:bodyPr wrap="square"/>
                    <a:lstStyle/>
                    <a:p>
                      <a:pPr>
                        <a:defRPr sz="1000">
                          <a:latin typeface="Calibri"/>
                        </a:defRPr>
                      </a:pPr>
                      <a:r>
                        <a:t>2311-IP-ID-13</a:t>
                      </a:r>
                    </a:p>
                  </a:txBody>
                  <a:tcPr/>
                </a:tc>
                <a:tc>
                  <a:txBody>
                    <a:bodyPr wrap="square"/>
                    <a:lstStyle/>
                    <a:p>
                      <a:pPr>
                        <a:defRPr sz="1000">
                          <a:latin typeface="Calibri"/>
                        </a:defRPr>
                      </a:pPr>
                      <a:r>
                        <a:t>Replace POM with PA6-GF30 in the manufacture of Glove Box Lock Pins 1 &amp; 2 within the IP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87.0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2311-PRODUCT-ID-06</a:t>
                      </a:r>
                    </a:p>
                  </a:txBody>
                  <a:tcPr/>
                </a:tc>
                <a:tc>
                  <a:txBody>
                    <a:bodyPr wrap="square"/>
                    <a:lstStyle/>
                    <a:p>
                      <a:pPr>
                        <a:defRPr sz="1000">
                          <a:latin typeface="Calibri"/>
                        </a:defRPr>
                      </a:pPr>
                      <a:r>
                        <a:t>Change the design of the lug nut used in MGI with the design of the lug nut used in KIA.</a:t>
                      </a:r>
                    </a:p>
                    <a:p>
                      <a:pPr>
                        <a:defRPr sz="1000">
                          <a:latin typeface="Calibri"/>
                        </a:defRPr>
                      </a:pPr>
                      <a:r>
                        <a:t>Wheel lug nut in MGI-</a:t>
                      </a:r>
                    </a:p>
                    <a:p>
                      <a:pPr>
                        <a:defRPr sz="1000">
                          <a:latin typeface="Calibri"/>
                        </a:defRPr>
                      </a:pPr>
                      <a:r>
                        <a:t>Overall length - 31.3mm</a:t>
                      </a:r>
                    </a:p>
                    <a:p>
                      <a:pPr>
                        <a:defRPr sz="1000">
                          <a:latin typeface="Calibri"/>
                        </a:defRPr>
                      </a:pPr>
                      <a:r>
                        <a:t>Thread length - 27.95mm</a:t>
                      </a:r>
                    </a:p>
                    <a:p>
                      <a:pPr>
                        <a:defRPr sz="1000">
                          <a:latin typeface="Calibri"/>
                        </a:defRPr>
                      </a:pPr>
                      <a:r>
                        <a:t>Wheel lug nut in KIA-</a:t>
                      </a:r>
                    </a:p>
                    <a:p>
                      <a:pPr>
                        <a:defRPr sz="1000">
                          <a:latin typeface="Calibri"/>
                        </a:defRPr>
                      </a:pPr>
                      <a:r>
                        <a:t>Overall length - 27.5mm</a:t>
                      </a:r>
                    </a:p>
                    <a:p>
                      <a:pPr>
                        <a:defRPr sz="1000">
                          <a:latin typeface="Calibri"/>
                        </a:defRPr>
                      </a:pPr>
                      <a:r>
                        <a:t>Thread length - 15mm</a:t>
                      </a:r>
                    </a:p>
                  </a:txBody>
                  <a:tcPr/>
                </a:tc>
                <a:tc>
                  <a:txBody>
                    <a:bodyPr wrap="square"/>
                    <a:lstStyle/>
                    <a:p>
                      <a:pPr>
                        <a:defRPr sz="1000">
                          <a:latin typeface="Calibri"/>
                        </a:defRPr>
                      </a:pPr>
                      <a:r>
                        <a:t>nan</a:t>
                      </a:r>
                    </a:p>
                  </a:txBody>
                  <a:tcPr/>
                </a:tc>
                <a:tc>
                  <a:txBody>
                    <a:bodyPr wrap="square"/>
                    <a:lstStyle/>
                    <a:p>
                      <a:pPr>
                        <a:defRPr sz="1000">
                          <a:latin typeface="Calibri"/>
                        </a:defRPr>
                      </a:pPr>
                      <a:r>
                        <a:t>INR 50.0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2311-PRODUCT-ID-17</a:t>
                      </a:r>
                    </a:p>
                  </a:txBody>
                  <a:tcPr/>
                </a:tc>
                <a:tc>
                  <a:txBody>
                    <a:bodyPr wrap="square"/>
                    <a:lstStyle/>
                    <a:p>
                      <a:pPr>
                        <a:defRPr sz="1000">
                          <a:latin typeface="Calibri"/>
                        </a:defRPr>
                      </a:pPr>
                      <a:r>
                        <a:t>1. Relocate the Battery Negative Terminal Earthing Wire mount from the side to the top of the front suspension subframe of the vehicle</a:t>
                      </a:r>
                    </a:p>
                    <a:p>
                      <a:pPr>
                        <a:defRPr sz="1000">
                          <a:latin typeface="Calibri"/>
                        </a:defRPr>
                      </a:pPr>
                      <a:r>
                        <a:t>2. Reduce the length of the connector terminal and instead of using two bolts, use a single bolt</a:t>
                      </a:r>
                    </a:p>
                    <a:p>
                      <a:pPr>
                        <a:defRPr sz="1000">
                          <a:latin typeface="Calibri"/>
                        </a:defRPr>
                      </a:pPr>
                      <a:r>
                        <a:t>3. Reduce the overall size and wall thickness of the Battery Negative Terminal Cast Clamp</a:t>
                      </a:r>
                    </a:p>
                  </a:txBody>
                  <a:tcPr/>
                </a:tc>
                <a:tc>
                  <a:txBody>
                    <a:bodyPr wrap="square"/>
                    <a:lstStyle/>
                    <a:p>
                      <a:pPr>
                        <a:defRPr sz="1000">
                          <a:latin typeface="Calibri"/>
                        </a:defRPr>
                      </a:pPr>
                      <a:r>
                        <a:t>Homeroom ideas to be bunched up and taken up for implementation at program level. Confirm localization feasibility</a:t>
                      </a:r>
                    </a:p>
                    <a:p>
                      <a:pPr>
                        <a:defRPr sz="1000">
                          <a:latin typeface="Calibri"/>
                        </a:defRPr>
                      </a:pPr>
                    </a:p>
                  </a:txBody>
                  <a:tcPr/>
                </a:tc>
                <a:tc>
                  <a:txBody>
                    <a:bodyPr wrap="square"/>
                    <a:lstStyle/>
                    <a:p>
                      <a:pPr>
                        <a:defRPr sz="1000">
                          <a:latin typeface="Calibri"/>
                        </a:defRPr>
                      </a:pPr>
                      <a:r>
                        <a:t>INR 103.0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 Confirm localization feasibility</a:t>
                      </a:r>
                    </a:p>
                    <a:p>
                      <a:pPr>
                        <a:defRPr sz="1000">
                          <a:latin typeface="Calibri"/>
                        </a:defRPr>
                      </a:pPr>
                    </a:p>
                  </a:txBody>
                  <a:tcPr/>
                </a:tc>
                <a:tc>
                  <a:txBody>
                    <a:bodyPr wrap="square"/>
                    <a:lstStyle/>
                    <a:p>
                      <a:pPr>
                        <a:defRPr sz="1000">
                          <a:latin typeface="Calibri"/>
                        </a:defRPr>
                      </a:pPr>
                      <a:r>
                        <a:t>Ojaswini</a:t>
                      </a:r>
                    </a:p>
                  </a:txBody>
                  <a:tcPr/>
                </a:tc>
                <a:tc>
                  <a:txBody>
                    <a:bodyPr wrap="square"/>
                    <a:lstStyle/>
                    <a:p>
                      <a:pPr>
                        <a:defRPr sz="1000">
                          <a:latin typeface="Calibri"/>
                        </a:defRPr>
                      </a:pPr>
                      <a:r>
                        <a:t>2023-12-20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2311-SS-ID-06</a:t>
                      </a:r>
                    </a:p>
                  </a:txBody>
                  <a:tcPr/>
                </a:tc>
                <a:tc>
                  <a:txBody>
                    <a:bodyPr wrap="square"/>
                    <a:lstStyle/>
                    <a:p>
                      <a:pPr>
                        <a:defRPr sz="1000">
                          <a:latin typeface="Calibri"/>
                        </a:defRPr>
                      </a:pPr>
                      <a:r>
                        <a:t>Revise the existing seatbelt buckle housing brackets in MGI to match those in KIA, reducing the maximum width of the bracket from 33.5mm to 24mm, in line with KIA's design</a:t>
                      </a:r>
                    </a:p>
                  </a:txBody>
                  <a:tcPr/>
                </a:tc>
                <a:tc>
                  <a:txBody>
                    <a:bodyPr wrap="square"/>
                    <a:lstStyle/>
                    <a:p>
                      <a:pPr>
                        <a:defRPr sz="1000">
                          <a:latin typeface="Calibri"/>
                        </a:defRPr>
                      </a:pPr>
                      <a:r>
                        <a:t>nan</a:t>
                      </a:r>
                    </a:p>
                  </a:txBody>
                  <a:tcPr/>
                </a:tc>
                <a:tc>
                  <a:txBody>
                    <a:bodyPr wrap="square"/>
                    <a:lstStyle/>
                    <a:p>
                      <a:pPr>
                        <a:defRPr sz="1000">
                          <a:latin typeface="Calibri"/>
                        </a:defRPr>
                      </a:pPr>
                      <a:r>
                        <a:t>INR 93.0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2311-EX-ID-02</a:t>
                      </a:r>
                    </a:p>
                  </a:txBody>
                  <a:tcPr/>
                </a:tc>
                <a:tc>
                  <a:txBody>
                    <a:bodyPr wrap="square"/>
                    <a:lstStyle/>
                    <a:p>
                      <a:pPr>
                        <a:defRPr sz="1000">
                          <a:latin typeface="Calibri"/>
                        </a:defRPr>
                      </a:pPr>
                      <a:r>
                        <a:t>Replace the steel rods used in the fabrication of the exhaust hanger mounting brackets in MGI with hollow steel pipes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62.0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897.00</a:t>
            </a:r>
          </a:p>
          <a:p>
            <a:pPr>
              <a:defRPr sz="1000">
                <a:latin typeface="Calibri"/>
              </a:defRPr>
            </a:pPr>
            <a:r>
              <a:t>• Implemented Ideas: 0</a:t>
            </a:r>
          </a:p>
          <a:p>
            <a:pPr>
              <a:defRPr sz="1000">
                <a:latin typeface="Calibri"/>
              </a:defRPr>
            </a:pPr>
            <a:r>
              <a:t>• Status OK: 0</a:t>
            </a:r>
          </a:p>
          <a:p>
            <a:pPr>
              <a:defRPr sz="1000">
                <a:latin typeface="Calibri"/>
              </a:defRPr>
            </a:pPr>
            <a:r>
              <a:t>• Status TBD: 3</a:t>
            </a:r>
          </a:p>
          <a:p>
            <a:pPr>
              <a:defRPr sz="1000">
                <a:latin typeface="Calibri"/>
              </a:defRPr>
            </a:pPr>
            <a:r>
              <a:t>• Status NG: 6</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897.00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
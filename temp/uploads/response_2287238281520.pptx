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Sheet1!$A$2:$A$21</c:f>
              <c:strCache>
                <c:ptCount val="20"/>
                <c:pt idx="0">
                  <c:v>2311-PRODUCT-ID-01</c:v>
                </c:pt>
                <c:pt idx="1">
                  <c:v>2311-PRODUCT-ID-02</c:v>
                </c:pt>
                <c:pt idx="2">
                  <c:v>2311-PRODUCT-ID-03</c:v>
                </c:pt>
                <c:pt idx="3">
                  <c:v>2311-PRODUCT-ID-04</c:v>
                </c:pt>
                <c:pt idx="4">
                  <c:v>2311-PRODUCT-ID-05</c:v>
                </c:pt>
                <c:pt idx="5">
                  <c:v>2311-PRODUCT-ID-06</c:v>
                </c:pt>
                <c:pt idx="6">
                  <c:v>2311-PRODUCT-ID-08</c:v>
                </c:pt>
                <c:pt idx="7">
                  <c:v>2311-PRODUCT-ID-10</c:v>
                </c:pt>
                <c:pt idx="8">
                  <c:v>2311-PRODUCT-ID-13</c:v>
                </c:pt>
                <c:pt idx="9">
                  <c:v>2311-PRODUCT-ID-15</c:v>
                </c:pt>
                <c:pt idx="10">
                  <c:v>2311-PRODUCT-ID-18</c:v>
                </c:pt>
                <c:pt idx="11">
                  <c:v>2311-PRODUCT-ID-19</c:v>
                </c:pt>
                <c:pt idx="12">
                  <c:v>2311-PRODUCT-ID-20</c:v>
                </c:pt>
                <c:pt idx="13">
                  <c:v>2311-PRODUCT-ID-21</c:v>
                </c:pt>
                <c:pt idx="14">
                  <c:v>2311-PRODUCT-ID-22</c:v>
                </c:pt>
                <c:pt idx="15">
                  <c:v>2311-PRODUCT-ID-23</c:v>
                </c:pt>
                <c:pt idx="16">
                  <c:v>2311-PRODUCT-ID-24</c:v>
                </c:pt>
                <c:pt idx="17">
                  <c:v>2311-PRODUCT-ID-25</c:v>
                </c:pt>
                <c:pt idx="18">
                  <c:v>2311-AI-ID-01</c:v>
                </c:pt>
                <c:pt idx="19">
                  <c:v>2311-AI-ID-02</c:v>
                </c:pt>
              </c:strCache>
            </c:strRef>
          </c:cat>
          <c:val>
            <c:numRef>
              <c:f>Sheet1!$B$2:$B$21</c:f>
              <c:numCache>
                <c:formatCode>General</c:formatCode>
                <c:ptCount val="20"/>
                <c:pt idx="0">
                  <c:v>68.0</c:v>
                </c:pt>
                <c:pt idx="1">
                  <c:v>130.0</c:v>
                </c:pt>
                <c:pt idx="2">
                  <c:v>126.0</c:v>
                </c:pt>
                <c:pt idx="3">
                  <c:v>124.0</c:v>
                </c:pt>
                <c:pt idx="4">
                  <c:v>135.0</c:v>
                </c:pt>
                <c:pt idx="5">
                  <c:v>50.0</c:v>
                </c:pt>
                <c:pt idx="6">
                  <c:v>99.0</c:v>
                </c:pt>
                <c:pt idx="7">
                  <c:v>86.0</c:v>
                </c:pt>
                <c:pt idx="8">
                  <c:v>141.0</c:v>
                </c:pt>
                <c:pt idx="9">
                  <c:v>122.0</c:v>
                </c:pt>
                <c:pt idx="10">
                  <c:v>141.0</c:v>
                </c:pt>
                <c:pt idx="11">
                  <c:v>104.0</c:v>
                </c:pt>
                <c:pt idx="12">
                  <c:v>66.0</c:v>
                </c:pt>
                <c:pt idx="13">
                  <c:v>65.0</c:v>
                </c:pt>
                <c:pt idx="14">
                  <c:v>108.0</c:v>
                </c:pt>
                <c:pt idx="15">
                  <c:v>71.0</c:v>
                </c:pt>
                <c:pt idx="16">
                  <c:v>64.0</c:v>
                </c:pt>
                <c:pt idx="17">
                  <c:v>69.0</c:v>
                </c:pt>
                <c:pt idx="18">
                  <c:v>71.0</c:v>
                </c:pt>
                <c:pt idx="19">
                  <c:v>105.0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20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N/A</a:t>
                      </a:r>
                    </a:p>
                  </a:txBody>
                  <a:tcPr/>
                </a:tc>
                <a:tc>
                  <a:txBody>
                    <a:bodyPr wrap="square"/>
                    <a:lstStyle/>
                    <a:p>
                      <a:pPr>
                        <a:defRPr sz="1000">
                          <a:latin typeface="Calibri"/>
                        </a:defRPr>
                      </a:pPr>
                      <a:r>
                        <a:t>INR 68.00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a:t>
                      </a:r>
                    </a:p>
                  </a:txBody>
                  <a:tcPr/>
                </a:tc>
                <a:tc>
                  <a:txBody>
                    <a:bodyPr wrap="square"/>
                    <a:lstStyle/>
                    <a:p>
                      <a:pPr>
                        <a:defRPr sz="1000">
                          <a:latin typeface="Calibri"/>
                        </a:defRPr>
                      </a:pPr>
                      <a:r>
                        <a:t>INR 130.00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a:t>
                      </a:r>
                    </a:p>
                  </a:txBody>
                  <a:tcPr/>
                </a:tc>
                <a:tc>
                  <a:txBody>
                    <a:bodyPr wrap="square"/>
                    <a:lstStyle/>
                    <a:p>
                      <a:pPr>
                        <a:defRPr sz="1000">
                          <a:latin typeface="Calibri"/>
                        </a:defRPr>
                      </a:pPr>
                      <a:r>
                        <a:t>INR 126.00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2311-PRODUCT-ID-04</a:t>
                      </a:r>
                    </a:p>
                  </a:txBody>
                  <a:tcPr/>
                </a:tc>
                <a:tc>
                  <a:txBody>
                    <a:bodyPr wrap="square"/>
                    <a:lstStyle/>
                    <a:p>
                      <a:pPr>
                        <a:defRPr sz="1000">
                          <a:latin typeface="Calibri"/>
                        </a:defRPr>
                      </a:pPr>
                      <a:r>
                        <a:t>Replace the Steel-Fuel Filler Door Assembly in MGI with a plastic assembly as in KIA.</a:t>
                      </a:r>
                    </a:p>
                  </a:txBody>
                  <a:tcPr/>
                </a:tc>
                <a:tc>
                  <a:txBody>
                    <a:bodyPr wrap="square"/>
                    <a:lstStyle/>
                    <a:p>
                      <a:pPr>
                        <a:defRPr sz="1000">
                          <a:latin typeface="Calibri"/>
                        </a:defRPr>
                      </a:pPr>
                      <a:r>
                        <a:t>N/A</a:t>
                      </a:r>
                    </a:p>
                  </a:txBody>
                  <a:tcPr/>
                </a:tc>
                <a:tc>
                  <a:txBody>
                    <a:bodyPr wrap="square"/>
                    <a:lstStyle/>
                    <a:p>
                      <a:pPr>
                        <a:defRPr sz="1000">
                          <a:latin typeface="Calibri"/>
                        </a:defRPr>
                      </a:pPr>
                      <a:r>
                        <a:t>INR 124.00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2311-PRODUCT-ID-05</a:t>
                      </a:r>
                    </a:p>
                  </a:txBody>
                  <a:tcPr/>
                </a:tc>
                <a:tc>
                  <a:txBody>
                    <a:bodyPr wrap="square"/>
                    <a:lstStyle/>
                    <a:p>
                      <a:pPr>
                        <a:defRPr sz="1000">
                          <a:latin typeface="Calibri"/>
                        </a:defRPr>
                      </a:pPr>
                      <a:r>
                        <a:t>Reduce the projection of the 'HECTOR' badging on the tailgate at the rear end of the car from 4mm to 2.5mm</a:t>
                      </a:r>
                    </a:p>
                  </a:txBody>
                  <a:tcPr/>
                </a:tc>
                <a:tc>
                  <a:txBody>
                    <a:bodyPr wrap="square"/>
                    <a:lstStyle/>
                    <a:p>
                      <a:pPr>
                        <a:defRPr sz="1000">
                          <a:latin typeface="Calibri"/>
                        </a:defRPr>
                      </a:pPr>
                      <a:r>
                        <a:t>N/A</a:t>
                      </a:r>
                    </a:p>
                  </a:txBody>
                  <a:tcPr/>
                </a:tc>
                <a:tc>
                  <a:txBody>
                    <a:bodyPr wrap="square"/>
                    <a:lstStyle/>
                    <a:p>
                      <a:pPr>
                        <a:defRPr sz="1000">
                          <a:latin typeface="Calibri"/>
                        </a:defRPr>
                      </a:pPr>
                      <a:r>
                        <a:t>INR 135.00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2311-PRODUCT-ID-06</a:t>
                      </a:r>
                    </a:p>
                  </a:txBody>
                  <a:tcPr/>
                </a:tc>
                <a:tc>
                  <a:txBody>
                    <a:bodyPr wrap="square"/>
                    <a:lstStyle/>
                    <a:p>
                      <a:pPr>
                        <a:defRPr sz="1000">
                          <a:latin typeface="Calibri"/>
                        </a:defRPr>
                      </a:pPr>
                      <a:r>
                        <a:t>Change the design of the lug nut used in MGI with the design of the lug nut used in KIA.</a:t>
                      </a:r>
                    </a:p>
                    <a:p>
                      <a:pPr>
                        <a:defRPr sz="1000">
                          <a:latin typeface="Calibri"/>
                        </a:defRPr>
                      </a:pPr>
                      <a:r>
                        <a:t>Wheel lug nut in MGI-</a:t>
                      </a:r>
                    </a:p>
                    <a:p>
                      <a:pPr>
                        <a:defRPr sz="1000">
                          <a:latin typeface="Calibri"/>
                        </a:defRPr>
                      </a:pPr>
                      <a:r>
                        <a:t>Overall length - 31.3mm</a:t>
                      </a:r>
                    </a:p>
                    <a:p>
                      <a:pPr>
                        <a:defRPr sz="1000">
                          <a:latin typeface="Calibri"/>
                        </a:defRPr>
                      </a:pPr>
                      <a:r>
                        <a:t>Thread length - 27.95mm</a:t>
                      </a:r>
                    </a:p>
                    <a:p>
                      <a:pPr>
                        <a:defRPr sz="1000">
                          <a:latin typeface="Calibri"/>
                        </a:defRPr>
                      </a:pPr>
                      <a:r>
                        <a:t>Wheel lug nut in KIA-</a:t>
                      </a:r>
                    </a:p>
                    <a:p>
                      <a:pPr>
                        <a:defRPr sz="1000">
                          <a:latin typeface="Calibri"/>
                        </a:defRPr>
                      </a:pPr>
                      <a:r>
                        <a:t>Overall length - 27.5mm</a:t>
                      </a:r>
                    </a:p>
                    <a:p>
                      <a:pPr>
                        <a:defRPr sz="1000">
                          <a:latin typeface="Calibri"/>
                        </a:defRPr>
                      </a:pPr>
                      <a:r>
                        <a:t>Thread length - 15mm</a:t>
                      </a:r>
                    </a:p>
                  </a:txBody>
                  <a:tcPr/>
                </a:tc>
                <a:tc>
                  <a:txBody>
                    <a:bodyPr wrap="square"/>
                    <a:lstStyle/>
                    <a:p>
                      <a:pPr>
                        <a:defRPr sz="1000">
                          <a:latin typeface="Calibri"/>
                        </a:defRPr>
                      </a:pPr>
                      <a:r>
                        <a:t>N/A</a:t>
                      </a:r>
                    </a:p>
                  </a:txBody>
                  <a:tcPr/>
                </a:tc>
                <a:tc>
                  <a:txBody>
                    <a:bodyPr wrap="square"/>
                    <a:lstStyle/>
                    <a:p>
                      <a:pPr>
                        <a:defRPr sz="1000">
                          <a:latin typeface="Calibri"/>
                        </a:defRPr>
                      </a:pPr>
                      <a:r>
                        <a:t>INR 50.00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2311-PRODUCT-ID-08</a:t>
                      </a:r>
                    </a:p>
                  </a:txBody>
                  <a:tcPr/>
                </a:tc>
                <a:tc>
                  <a:txBody>
                    <a:bodyPr wrap="square"/>
                    <a:lstStyle/>
                    <a:p>
                      <a:pPr>
                        <a:defRPr sz="1000">
                          <a:latin typeface="Calibri"/>
                        </a:defRPr>
                      </a:pPr>
                      <a:r>
                        <a:t>Use adhesives to glue the NVH Foam onto the engine cover instead of using steel holders on provisions</a:t>
                      </a:r>
                    </a:p>
                  </a:txBody>
                  <a:tcPr/>
                </a:tc>
                <a:tc>
                  <a:txBody>
                    <a:bodyPr wrap="square"/>
                    <a:lstStyle/>
                    <a:p>
                      <a:pPr>
                        <a:defRPr sz="1000">
                          <a:latin typeface="Calibri"/>
                        </a:defRPr>
                      </a:pPr>
                      <a:r>
                        <a:t>N/A</a:t>
                      </a:r>
                    </a:p>
                  </a:txBody>
                  <a:tcPr/>
                </a:tc>
                <a:tc>
                  <a:txBody>
                    <a:bodyPr wrap="square"/>
                    <a:lstStyle/>
                    <a:p>
                      <a:pPr>
                        <a:defRPr sz="1000">
                          <a:latin typeface="Calibri"/>
                        </a:defRPr>
                      </a:pPr>
                      <a:r>
                        <a:t>INR 99.00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2311-PRODUCT-ID-10</a:t>
                      </a:r>
                    </a:p>
                  </a:txBody>
                  <a:tcPr/>
                </a:tc>
                <a:tc>
                  <a:txBody>
                    <a:bodyPr wrap="square"/>
                    <a:lstStyle/>
                    <a:p>
                      <a:pPr>
                        <a:defRPr sz="1000">
                          <a:latin typeface="Calibri"/>
                        </a:defRPr>
                      </a:pPr>
                      <a:r>
                        <a:t>Reduce the length of the Seat Release Straps found on the second and third-row seats</a:t>
                      </a:r>
                    </a:p>
                  </a:txBody>
                  <a:tcPr/>
                </a:tc>
                <a:tc>
                  <a:txBody>
                    <a:bodyPr wrap="square"/>
                    <a:lstStyle/>
                    <a:p>
                      <a:pPr>
                        <a:defRPr sz="1000">
                          <a:latin typeface="Calibri"/>
                        </a:defRPr>
                      </a:pPr>
                      <a:r>
                        <a:t>N/A</a:t>
                      </a:r>
                    </a:p>
                  </a:txBody>
                  <a:tcPr/>
                </a:tc>
                <a:tc>
                  <a:txBody>
                    <a:bodyPr wrap="square"/>
                    <a:lstStyle/>
                    <a:p>
                      <a:pPr>
                        <a:defRPr sz="1000">
                          <a:latin typeface="Calibri"/>
                        </a:defRPr>
                      </a:pPr>
                      <a:r>
                        <a:t>INR 86.00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2311-PRODUCT-ID-13</a:t>
                      </a:r>
                    </a:p>
                  </a:txBody>
                  <a:tcPr/>
                </a:tc>
                <a:tc>
                  <a:txBody>
                    <a:bodyPr wrap="square"/>
                    <a:lstStyle/>
                    <a:p>
                      <a:pPr>
                        <a:defRPr sz="1000">
                          <a:latin typeface="Calibri"/>
                        </a:defRPr>
                      </a:pPr>
                      <a:r>
                        <a:t>Eliminate the plastic trim provided around the bottom anchor point at the driver side seatbelt and follow the same methodology provided at the co-driver's side.</a:t>
                      </a:r>
                    </a:p>
                  </a:txBody>
                  <a:tcPr/>
                </a:tc>
                <a:tc>
                  <a:txBody>
                    <a:bodyPr wrap="square"/>
                    <a:lstStyle/>
                    <a:p>
                      <a:pPr>
                        <a:defRPr sz="1000">
                          <a:latin typeface="Calibri"/>
                        </a:defRPr>
                      </a:pPr>
                      <a:r>
                        <a:t>N/A</a:t>
                      </a:r>
                    </a:p>
                  </a:txBody>
                  <a:tcPr/>
                </a:tc>
                <a:tc>
                  <a:txBody>
                    <a:bodyPr wrap="square"/>
                    <a:lstStyle/>
                    <a:p>
                      <a:pPr>
                        <a:defRPr sz="1000">
                          <a:latin typeface="Calibri"/>
                        </a:defRPr>
                      </a:pPr>
                      <a:r>
                        <a:t>INR 141.00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2311-PRODUCT-ID-15</a:t>
                      </a:r>
                    </a:p>
                  </a:txBody>
                  <a:tcPr/>
                </a:tc>
                <a:tc>
                  <a:txBody>
                    <a:bodyPr wrap="square"/>
                    <a:lstStyle/>
                    <a:p>
                      <a:pPr>
                        <a:defRPr sz="1000">
                          <a:latin typeface="Calibri"/>
                        </a:defRPr>
                      </a:pPr>
                      <a:r>
                        <a:t>De-content the rubber seal provided on the roller arm of each door</a:t>
                      </a:r>
                    </a:p>
                  </a:txBody>
                  <a:tcPr/>
                </a:tc>
                <a:tc>
                  <a:txBody>
                    <a:bodyPr wrap="square"/>
                    <a:lstStyle/>
                    <a:p>
                      <a:pPr>
                        <a:defRPr sz="1000">
                          <a:latin typeface="Calibri"/>
                        </a:defRPr>
                      </a:pPr>
                      <a:r>
                        <a:t>N/A</a:t>
                      </a:r>
                    </a:p>
                  </a:txBody>
                  <a:tcPr/>
                </a:tc>
                <a:tc>
                  <a:txBody>
                    <a:bodyPr wrap="square"/>
                    <a:lstStyle/>
                    <a:p>
                      <a:pPr>
                        <a:defRPr sz="1000">
                          <a:latin typeface="Calibri"/>
                        </a:defRPr>
                      </a:pPr>
                      <a:r>
                        <a:t>INR 122.00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2311-PRODUCT-ID-18</a:t>
                      </a:r>
                    </a:p>
                  </a:txBody>
                  <a:tcPr/>
                </a:tc>
                <a:tc>
                  <a:txBody>
                    <a:bodyPr wrap="square"/>
                    <a:lstStyle/>
                    <a:p>
                      <a:pPr>
                        <a:defRPr sz="1000">
                          <a:latin typeface="Calibri"/>
                        </a:defRPr>
                      </a:pPr>
                      <a:r>
                        <a:t>Reduce the diameter of the Headrest Rods from 12.6mm to 10mm</a:t>
                      </a:r>
                    </a:p>
                  </a:txBody>
                  <a:tcPr/>
                </a:tc>
                <a:tc>
                  <a:txBody>
                    <a:bodyPr wrap="square"/>
                    <a:lstStyle/>
                    <a:p>
                      <a:pPr>
                        <a:defRPr sz="1000">
                          <a:latin typeface="Calibri"/>
                        </a:defRPr>
                      </a:pPr>
                      <a:r>
                        <a:t>N/A</a:t>
                      </a:r>
                    </a:p>
                  </a:txBody>
                  <a:tcPr/>
                </a:tc>
                <a:tc>
                  <a:txBody>
                    <a:bodyPr wrap="square"/>
                    <a:lstStyle/>
                    <a:p>
                      <a:pPr>
                        <a:defRPr sz="1000">
                          <a:latin typeface="Calibri"/>
                        </a:defRPr>
                      </a:pPr>
                      <a:r>
                        <a:t>INR 141.00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2311-PRODUCT-ID-19</a:t>
                      </a:r>
                    </a:p>
                  </a:txBody>
                  <a:tcPr/>
                </a:tc>
                <a:tc>
                  <a:txBody>
                    <a:bodyPr wrap="square"/>
                    <a:lstStyle/>
                    <a:p>
                      <a:pPr>
                        <a:defRPr sz="1000">
                          <a:latin typeface="Calibri"/>
                        </a:defRPr>
                      </a:pPr>
                      <a:r>
                        <a:t>Utilize the single-piece rubber hose instead of the 2-piece rubber hose with a plastic T-connector.</a:t>
                      </a:r>
                    </a:p>
                  </a:txBody>
                  <a:tcPr/>
                </a:tc>
                <a:tc>
                  <a:txBody>
                    <a:bodyPr wrap="square"/>
                    <a:lstStyle/>
                    <a:p>
                      <a:pPr>
                        <a:defRPr sz="1000">
                          <a:latin typeface="Calibri"/>
                        </a:defRPr>
                      </a:pPr>
                      <a:r>
                        <a:t>N/A</a:t>
                      </a:r>
                    </a:p>
                  </a:txBody>
                  <a:tcPr/>
                </a:tc>
                <a:tc>
                  <a:txBody>
                    <a:bodyPr wrap="square"/>
                    <a:lstStyle/>
                    <a:p>
                      <a:pPr>
                        <a:defRPr sz="1000">
                          <a:latin typeface="Calibri"/>
                        </a:defRPr>
                      </a:pPr>
                      <a:r>
                        <a:t>INR 104.00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2311-PRODUCT-ID-20</a:t>
                      </a:r>
                    </a:p>
                  </a:txBody>
                  <a:tcPr/>
                </a:tc>
                <a:tc>
                  <a:txBody>
                    <a:bodyPr wrap="square"/>
                    <a:lstStyle/>
                    <a:p>
                      <a:pPr>
                        <a:defRPr sz="1000">
                          <a:latin typeface="Calibri"/>
                        </a:defRPr>
                      </a:pPr>
                      <a:r>
                        <a:t>Reduce the height of the Headrest Rod Receptacle from 11.4mm to 8.5mm</a:t>
                      </a:r>
                    </a:p>
                  </a:txBody>
                  <a:tcPr/>
                </a:tc>
                <a:tc>
                  <a:txBody>
                    <a:bodyPr wrap="square"/>
                    <a:lstStyle/>
                    <a:p>
                      <a:pPr>
                        <a:defRPr sz="1000">
                          <a:latin typeface="Calibri"/>
                        </a:defRPr>
                      </a:pPr>
                      <a:r>
                        <a:t>N/A</a:t>
                      </a:r>
                    </a:p>
                  </a:txBody>
                  <a:tcPr/>
                </a:tc>
                <a:tc>
                  <a:txBody>
                    <a:bodyPr wrap="square"/>
                    <a:lstStyle/>
                    <a:p>
                      <a:pPr>
                        <a:defRPr sz="1000">
                          <a:latin typeface="Calibri"/>
                        </a:defRPr>
                      </a:pPr>
                      <a:r>
                        <a:t>INR 66.00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2311-PRODUCT-ID-21</a:t>
                      </a:r>
                    </a:p>
                  </a:txBody>
                  <a:tcPr/>
                </a:tc>
                <a:tc>
                  <a:txBody>
                    <a:bodyPr wrap="square"/>
                    <a:lstStyle/>
                    <a:p>
                      <a:pPr>
                        <a:defRPr sz="1000">
                          <a:latin typeface="Calibri"/>
                        </a:defRPr>
                      </a:pPr>
                      <a:r>
                        <a:t>De-content the Spacer Plates mounted onto the door frame and if required, increase the length of the latch receiver on the Striker Plate to ensure the doors close smoothly and securely</a:t>
                      </a:r>
                    </a:p>
                  </a:txBody>
                  <a:tcPr/>
                </a:tc>
                <a:tc>
                  <a:txBody>
                    <a:bodyPr wrap="square"/>
                    <a:lstStyle/>
                    <a:p>
                      <a:pPr>
                        <a:defRPr sz="1000">
                          <a:latin typeface="Calibri"/>
                        </a:defRPr>
                      </a:pPr>
                      <a:r>
                        <a:t>N/A</a:t>
                      </a:r>
                    </a:p>
                  </a:txBody>
                  <a:tcPr/>
                </a:tc>
                <a:tc>
                  <a:txBody>
                    <a:bodyPr wrap="square"/>
                    <a:lstStyle/>
                    <a:p>
                      <a:pPr>
                        <a:defRPr sz="1000">
                          <a:latin typeface="Calibri"/>
                        </a:defRPr>
                      </a:pPr>
                      <a:r>
                        <a:t>INR 65.00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2311-PRODUCT-ID-22</a:t>
                      </a:r>
                    </a:p>
                  </a:txBody>
                  <a:tcPr/>
                </a:tc>
                <a:tc>
                  <a:txBody>
                    <a:bodyPr wrap="square"/>
                    <a:lstStyle/>
                    <a:p>
                      <a:pPr>
                        <a:defRPr sz="1000">
                          <a:latin typeface="Calibri"/>
                        </a:defRPr>
                      </a:pPr>
                      <a:r>
                        <a:t>De-content the plastic support trims found within the storage pocket flaps behind the LH and RH front seats</a:t>
                      </a:r>
                    </a:p>
                  </a:txBody>
                  <a:tcPr/>
                </a:tc>
                <a:tc>
                  <a:txBody>
                    <a:bodyPr wrap="square"/>
                    <a:lstStyle/>
                    <a:p>
                      <a:pPr>
                        <a:defRPr sz="1000">
                          <a:latin typeface="Calibri"/>
                        </a:defRPr>
                      </a:pPr>
                      <a:r>
                        <a:t>N/A</a:t>
                      </a:r>
                    </a:p>
                  </a:txBody>
                  <a:tcPr/>
                </a:tc>
                <a:tc>
                  <a:txBody>
                    <a:bodyPr wrap="square"/>
                    <a:lstStyle/>
                    <a:p>
                      <a:pPr>
                        <a:defRPr sz="1000">
                          <a:latin typeface="Calibri"/>
                        </a:defRPr>
                      </a:pPr>
                      <a:r>
                        <a:t>INR 108.00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4)</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2311-PRODUCT-ID-23</a:t>
                      </a:r>
                    </a:p>
                  </a:txBody>
                  <a:tcPr/>
                </a:tc>
                <a:tc>
                  <a:txBody>
                    <a:bodyPr wrap="square"/>
                    <a:lstStyle/>
                    <a:p>
                      <a:pPr>
                        <a:defRPr sz="1000">
                          <a:latin typeface="Calibri"/>
                        </a:defRPr>
                      </a:pPr>
                      <a:r>
                        <a:t>Redesign the Tailgate Bumper Stops in MGI into an 'L' shape reducing the length from 74mm to 40mm</a:t>
                      </a:r>
                    </a:p>
                  </a:txBody>
                  <a:tcPr/>
                </a:tc>
                <a:tc>
                  <a:txBody>
                    <a:bodyPr wrap="square"/>
                    <a:lstStyle/>
                    <a:p>
                      <a:pPr>
                        <a:defRPr sz="1000">
                          <a:latin typeface="Calibri"/>
                        </a:defRPr>
                      </a:pPr>
                      <a:r>
                        <a:t>N/A</a:t>
                      </a:r>
                    </a:p>
                  </a:txBody>
                  <a:tcPr/>
                </a:tc>
                <a:tc>
                  <a:txBody>
                    <a:bodyPr wrap="square"/>
                    <a:lstStyle/>
                    <a:p>
                      <a:pPr>
                        <a:defRPr sz="1000">
                          <a:latin typeface="Calibri"/>
                        </a:defRPr>
                      </a:pPr>
                      <a:r>
                        <a:t>INR 71.00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2311-PRODUCT-ID-24</a:t>
                      </a:r>
                    </a:p>
                  </a:txBody>
                  <a:tcPr/>
                </a:tc>
                <a:tc>
                  <a:txBody>
                    <a:bodyPr wrap="square"/>
                    <a:lstStyle/>
                    <a:p>
                      <a:pPr>
                        <a:defRPr sz="1000">
                          <a:latin typeface="Calibri"/>
                        </a:defRPr>
                      </a:pPr>
                      <a:r>
                        <a:t>Eliminate the hooks from the receptacle trims found on the RH side of the headrest assemblies reducing the overall length from 53.3mm to 40mm</a:t>
                      </a:r>
                    </a:p>
                  </a:txBody>
                  <a:tcPr/>
                </a:tc>
                <a:tc>
                  <a:txBody>
                    <a:bodyPr wrap="square"/>
                    <a:lstStyle/>
                    <a:p>
                      <a:pPr>
                        <a:defRPr sz="1000">
                          <a:latin typeface="Calibri"/>
                        </a:defRPr>
                      </a:pPr>
                      <a:r>
                        <a:t>N/A</a:t>
                      </a:r>
                    </a:p>
                  </a:txBody>
                  <a:tcPr/>
                </a:tc>
                <a:tc>
                  <a:txBody>
                    <a:bodyPr wrap="square"/>
                    <a:lstStyle/>
                    <a:p>
                      <a:pPr>
                        <a:defRPr sz="1000">
                          <a:latin typeface="Calibri"/>
                        </a:defRPr>
                      </a:pPr>
                      <a:r>
                        <a:t>INR 64.00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2311-PRODUCT-ID-25</a:t>
                      </a:r>
                    </a:p>
                  </a:txBody>
                  <a:tcPr/>
                </a:tc>
                <a:tc>
                  <a:txBody>
                    <a:bodyPr wrap="square"/>
                    <a:lstStyle/>
                    <a:p>
                      <a:pPr>
                        <a:defRPr sz="1000">
                          <a:latin typeface="Calibri"/>
                        </a:defRPr>
                      </a:pPr>
                      <a:r>
                        <a:t>Reduce the overall length of the Windshield Washer Fluid Reservoir neck by 30mm</a:t>
                      </a:r>
                    </a:p>
                  </a:txBody>
                  <a:tcPr/>
                </a:tc>
                <a:tc>
                  <a:txBody>
                    <a:bodyPr wrap="square"/>
                    <a:lstStyle/>
                    <a:p>
                      <a:pPr>
                        <a:defRPr sz="1000">
                          <a:latin typeface="Calibri"/>
                        </a:defRPr>
                      </a:pPr>
                      <a:r>
                        <a:t>N/A</a:t>
                      </a:r>
                    </a:p>
                  </a:txBody>
                  <a:tcPr/>
                </a:tc>
                <a:tc>
                  <a:txBody>
                    <a:bodyPr wrap="square"/>
                    <a:lstStyle/>
                    <a:p>
                      <a:pPr>
                        <a:defRPr sz="1000">
                          <a:latin typeface="Calibri"/>
                        </a:defRPr>
                      </a:pPr>
                      <a:r>
                        <a:t>INR 69.00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2311-AI-ID-01</a:t>
                      </a:r>
                    </a:p>
                  </a:txBody>
                  <a:tcPr/>
                </a:tc>
                <a:tc>
                  <a:txBody>
                    <a:bodyPr wrap="square"/>
                    <a:lstStyle/>
                    <a:p>
                      <a:pPr>
                        <a:defRPr sz="1000">
                          <a:latin typeface="Calibri"/>
                        </a:defRPr>
                      </a:pPr>
                      <a:r>
                        <a:t>Route the air filter bypass hose through the left of the engine assembly (left of the engine oil inlet) and thereby reduce 220mm in length.</a:t>
                      </a:r>
                    </a:p>
                  </a:txBody>
                  <a:tcPr/>
                </a:tc>
                <a:tc>
                  <a:txBody>
                    <a:bodyPr wrap="square"/>
                    <a:lstStyle/>
                    <a:p>
                      <a:pPr>
                        <a:defRPr sz="1000">
                          <a:latin typeface="Calibri"/>
                        </a:defRPr>
                      </a:pPr>
                      <a:r>
                        <a:t>N/A</a:t>
                      </a:r>
                    </a:p>
                  </a:txBody>
                  <a:tcPr/>
                </a:tc>
                <a:tc>
                  <a:txBody>
                    <a:bodyPr wrap="square"/>
                    <a:lstStyle/>
                    <a:p>
                      <a:pPr>
                        <a:defRPr sz="1000">
                          <a:latin typeface="Calibri"/>
                        </a:defRPr>
                      </a:pPr>
                      <a:r>
                        <a:t>INR 71.00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2311-AI-ID-02</a:t>
                      </a:r>
                    </a:p>
                  </a:txBody>
                  <a:tcPr/>
                </a:tc>
                <a:tc>
                  <a:txBody>
                    <a:bodyPr wrap="square"/>
                    <a:lstStyle/>
                    <a:p>
                      <a:pPr>
                        <a:defRPr sz="1000">
                          <a:latin typeface="Calibri"/>
                        </a:defRPr>
                      </a:pPr>
                      <a:r>
                        <a:t>Replace PP-T20 with PP-TD30 in the manufacture of the Air Filter Upper and Bottom Casings within the air intake assembly of the vehicle</a:t>
                      </a:r>
                    </a:p>
                  </a:txBody>
                  <a:tcPr/>
                </a:tc>
                <a:tc>
                  <a:txBody>
                    <a:bodyPr wrap="square"/>
                    <a:lstStyle/>
                    <a:p>
                      <a:pPr>
                        <a:defRPr sz="1000">
                          <a:latin typeface="Calibri"/>
                        </a:defRPr>
                      </a:pPr>
                      <a:r>
                        <a:t>N/A</a:t>
                      </a:r>
                    </a:p>
                  </a:txBody>
                  <a:tcPr/>
                </a:tc>
                <a:tc>
                  <a:txBody>
                    <a:bodyPr wrap="square"/>
                    <a:lstStyle/>
                    <a:p>
                      <a:pPr>
                        <a:defRPr sz="1000">
                          <a:latin typeface="Calibri"/>
                        </a:defRPr>
                      </a:pPr>
                      <a:r>
                        <a:t>INR 105.00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20</a:t>
            </a:r>
          </a:p>
          <a:p>
            <a:pPr>
              <a:defRPr sz="1000">
                <a:latin typeface="Calibri"/>
              </a:defRPr>
            </a:pPr>
            <a:r>
              <a:t>• Total Potential Savings: INR 1,945.00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20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20 ideas analyzed.</a:t>
            </a:r>
          </a:p>
          <a:p>
            <a:pPr>
              <a:defRPr sz="1800">
                <a:latin typeface="Calibri"/>
              </a:defRPr>
            </a:pPr>
            <a:r>
              <a:t>Total Savings: INR 1,945.00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
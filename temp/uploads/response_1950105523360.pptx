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2311-WS-ID-02</c:v>
                </c:pt>
                <c:pt idx="1">
                  <c:v>2311-ST-ID-04</c:v>
                </c:pt>
                <c:pt idx="2">
                  <c:v>2311-IT-ID-26</c:v>
                </c:pt>
                <c:pt idx="3">
                  <c:v>2311-PRODUCT-ID-03</c:v>
                </c:pt>
                <c:pt idx="4">
                  <c:v>2311-IT-ID-19</c:v>
                </c:pt>
                <c:pt idx="5">
                  <c:v>AI-GEN-01</c:v>
                </c:pt>
                <c:pt idx="6">
                  <c:v>AI-GEN-02</c:v>
                </c:pt>
                <c:pt idx="7">
                  <c:v>AI-GEN-03</c:v>
                </c:pt>
                <c:pt idx="8">
                  <c:v>AI-GEN-04</c:v>
                </c:pt>
                <c:pt idx="9">
                  <c:v>AI-GEN-05</c:v>
                </c:pt>
                <c:pt idx="10">
                  <c:v>AI-GEN-06</c:v>
                </c:pt>
              </c:strCache>
            </c:strRef>
          </c:cat>
          <c:val>
            <c:numRef>
              <c:f>Sheet1!$B$2:$B$12</c:f>
              <c:numCache>
                <c:formatCode>General</c:formatCode>
                <c:ptCount val="11"/>
                <c:pt idx="0">
                  <c:v>62.0</c:v>
                </c:pt>
                <c:pt idx="1">
                  <c:v>122.0</c:v>
                </c:pt>
                <c:pt idx="2">
                  <c:v>145.0</c:v>
                </c:pt>
                <c:pt idx="3">
                  <c:v>126.0</c:v>
                </c:pt>
                <c:pt idx="4">
                  <c:v>56.0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1</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2311-WS-ID-02</a:t>
                      </a:r>
                    </a:p>
                  </a:txBody>
                  <a:tcPr/>
                </a:tc>
                <a:tc>
                  <a:txBody>
                    <a:bodyPr wrap="square"/>
                    <a:lstStyle/>
                    <a:p>
                      <a:pPr>
                        <a:defRPr sz="1000">
                          <a:latin typeface="Calibri"/>
                        </a:defRPr>
                      </a:pPr>
                      <a:r>
                        <a:t>Reduce the wall thickness of the Wiper Linkage Bar Rod from 1.4mm to 1mm (from the inside)</a:t>
                      </a:r>
                    </a:p>
                  </a:txBody>
                  <a:tcPr/>
                </a:tc>
                <a:tc>
                  <a:txBody>
                    <a:bodyPr wrap="square"/>
                    <a:lstStyle/>
                    <a:p>
                      <a:pPr>
                        <a:defRPr sz="1000">
                          <a:latin typeface="Calibri"/>
                        </a:defRPr>
                      </a:pPr>
                      <a:r>
                        <a:t>Confirm feasibility</a:t>
                      </a:r>
                    </a:p>
                  </a:txBody>
                  <a:tcPr/>
                </a:tc>
                <a:tc>
                  <a:txBody>
                    <a:bodyPr wrap="square"/>
                    <a:lstStyle/>
                    <a:p>
                      <a:pPr>
                        <a:defRPr sz="1000">
                          <a:latin typeface="Calibri"/>
                        </a:defRPr>
                      </a:pPr>
                      <a:r>
                        <a:t>INR 62.0</a:t>
                      </a:r>
                    </a:p>
                  </a:txBody>
                  <a:tcPr/>
                </a:tc>
                <a:tc>
                  <a:txBody>
                    <a:bodyPr wrap="square"/>
                    <a:lstStyle/>
                    <a:p>
                      <a:pPr>
                        <a:defRPr sz="1000">
                          <a:latin typeface="Calibri"/>
                        </a:defRPr>
                      </a:pPr>
                      <a:r>
                        <a:t>NG</a:t>
                      </a:r>
                    </a:p>
                  </a:txBody>
                  <a:tcPr/>
                </a:tc>
                <a:tc>
                  <a:txBody>
                    <a:bodyPr wrap="square"/>
                    <a:lstStyle/>
                    <a:p>
                      <a:pPr>
                        <a:defRPr sz="1000">
                          <a:latin typeface="Calibri"/>
                        </a:defRPr>
                      </a:pPr>
                      <a:r>
                        <a:t>Confirm feasibility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2311-ST-ID-04</a:t>
                      </a:r>
                    </a:p>
                  </a:txBody>
                  <a:tcPr/>
                </a:tc>
                <a:tc>
                  <a:txBody>
                    <a:bodyPr wrap="square"/>
                    <a:lstStyle/>
                    <a:p>
                      <a:pPr>
                        <a:defRPr sz="1000">
                          <a:latin typeface="Calibri"/>
                        </a:defRPr>
                      </a:pPr>
                      <a:r>
                        <a:t>Reduce the length of the Iron Castings from 175mm to 110mm and Increase the length of the Rods to compensate instead, similar to the setup employed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122.0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2311-IT-ID-19</a:t>
                      </a:r>
                    </a:p>
                  </a:txBody>
                  <a:tcPr/>
                </a:tc>
                <a:tc>
                  <a:txBody>
                    <a:bodyPr wrap="square"/>
                    <a:lstStyle/>
                    <a:p>
                      <a:pPr>
                        <a:defRPr sz="1000">
                          <a:latin typeface="Calibri"/>
                        </a:defRPr>
                      </a:pPr>
                      <a:r>
                        <a:t>Process Deletion,</a:t>
                      </a:r>
                    </a:p>
                    <a:p>
                      <a:pPr>
                        <a:defRPr sz="1000">
                          <a:latin typeface="Calibri"/>
                        </a:defRPr>
                      </a:pPr>
                      <a:r>
                        <a:t>Remove the Anodizing done on the LH &amp; RH Sunroof Guide Rails in MGI</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56.0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Redesign the tell lamp housing to integrate the push-rod actuation mechanism directly into the lens assembly, eliminating separate mounting brackets and simplifying assembly.</a:t>
                      </a:r>
                    </a:p>
                  </a:txBody>
                  <a:tcPr/>
                </a:tc>
                <a:tc>
                  <a:txBody>
                    <a:bodyPr wrap="square"/>
                    <a:lstStyle/>
                    <a:p>
                      <a:pPr>
                        <a:defRPr sz="1000">
                          <a:latin typeface="Calibri"/>
                        </a:defRPr>
                      </a:pPr>
                      <a:r>
                        <a:t>The primary principle here is to leverage the existing space and component interactions within the tell lamp. By analyzing the kinematic requirements of the push-rod actuation, we can embed the guiding features and support structures for the rod directly into the injection mold for the lens. This eliminates the need for separate, potentially stamped or molded, bracketry. Material selection for the lens needs to be re-evaluated for increased structural integrity and wear resistance at the push-rod interface. Finite Element Analysis (FEA) will be crucial to confirm stress distribution under actuation loads and temperature variations. Validation will involve prototype builds with integrated actuation, followed by cycle testing to simulate operational life, and functional testing under various environmental conditions (temperature extremes, vibration).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primary principle here is to leverage the existing space and component interactions within the tell lamp. By analyzing the kinematic requirements of the push-rod actuation, we can embed the guiding features and support structures for the rod directly into the injection mold for the lens. This eliminates the need for separate, potentially stamped or molded, bracketry. Material selection for the lens needs to be re-evaluated for increased structural integrity and wear resistance at the push-rod interface. Finite Element Analysis (FEA) will be crucial to confirm stress distribution under actuation loads and temperature variations. Validation will involve prototype builds with integrated actuation, followed by cycle testing to simulate operational life, and functional testing under various environmental conditions (temperature extremes, vibration).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Utilize a composite fiber-reinforced polymer (CFRP) for the push-rod itself, allowing for a significant reduction in cross-sectional area and improved stiffness-to-weight ratio.</a:t>
                      </a:r>
                    </a:p>
                  </a:txBody>
                  <a:tcPr/>
                </a:tc>
                <a:tc>
                  <a:txBody>
                    <a:bodyPr wrap="square"/>
                    <a:lstStyle/>
                    <a:p>
                      <a:pPr>
                        <a:defRPr sz="1000">
                          <a:latin typeface="Calibri"/>
                        </a:defRPr>
                      </a:pPr>
                      <a:r>
                        <a:t>Current push-rods are likely metallic (steel or aluminum), incurring weight and potential corrosion issues. By transitioning to a CFRP, we can achieve higher tensile strength and modulus at a lower density. The first-principles approach is to analyze the buckling and axial load requirements for the push-rod. Design optimization will focus on tailoring the fiber orientation and resin matrix to meet these specific loads with minimal material. FEA will be used to predict buckling loads and fatigue life. Validation will involve tensile testing of CFRP rods, followed by functional testing of the integrated tell lamp mechanism under maximum actuation forces and environmental stress. Comparison against metallic benchmarks for durability and performance will be key.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push-rods are likely metallic (steel or aluminum), incurring weight and potential corrosion issues. By transitioning to a CFRP, we can achieve higher tensile strength and modulus at a lower density. The first-principles approach is to analyze the buckling and axial load requirements for the push-rod. Design optimization will focus on tailoring the fiber orientation and resin matrix to meet these specific loads with minimal material. FEA will be used to predict buckling loads and fatigue life. Validation will involve tensile testing of CFRP rods, followed by functional testing of the integrated tell lamp mechanism under maximum actuation forces and environmental stress. Comparison against metallic benchmarks for durability and performance will be key.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Implement a self-lubricating polymer bushing at the push-rod pivot points, replacing traditional metal bearings or greased interfaces.</a:t>
                      </a:r>
                    </a:p>
                  </a:txBody>
                  <a:tcPr/>
                </a:tc>
                <a:tc>
                  <a:txBody>
                    <a:bodyPr wrap="square"/>
                    <a:lstStyle/>
                    <a:p>
                      <a:pPr>
                        <a:defRPr sz="1000">
                          <a:latin typeface="Calibri"/>
                        </a:defRPr>
                      </a:pPr>
                      <a:r>
                        <a:t>The friction and wear at the push-rod's articulation points are critical for smooth operation and longevity. Traditional methods often involve metal-on-metal contact with grease, which can attract dirt and degrade over time. A self-lubricating polymer (e.g., PTFE-filled PEEK, UHMW-PE) can offer inherent low friction and wear resistance. The physics dictate that friction is proportional to the normal force and the coefficient of friction; by using a self-lubricating polymer, we significantly reduce the coefficient of friction. Engineering justification involves analyzing the required angular displacement, load, and rotational speed at the pivot. Validation will include tribological testing (wear rate, coefficient of friction) of the chosen polymer in a simulated environment, followed by functional testing of the tell lamp mechanism with these bushings under extensive actuation cycles and varying environmental conditions. Performance comparison with current solutions will be documented.</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friction and wear at the push-rod's articulation points are critical for smooth operation and longevity. Traditional methods often involve metal-on-metal contact with grease, which can attract dirt and degrade over time. A self-lubricating polymer (e.g., PTFE-filled PEEK, UHMW-PE) can offer inherent low friction and wear resistance. The physics dictate that friction is proportional to the normal force and the coefficient of friction; by using a self-lubricating polymer, we significantly reduce the coefficient of friction. Engineering justification involves analyzing the required angular displacement, load, and rotational speed at the pivot. Validation will include tribological testing (wear rate, coefficient of friction) of the chosen polymer in a simulated environment, followed by functional testing of the tell lamp mechanism with these bushings under extensive actuation cycles and varying environmental conditions. Performance comparison with current solutions will be documented.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Develop a 'snap-fit' or 'twist-lock' end effector for the push-rod, eliminating the need for fasteners (screws, clips) to connect it to the tell lamp actuation lever.</a:t>
                      </a:r>
                    </a:p>
                  </a:txBody>
                  <a:tcPr/>
                </a:tc>
                <a:tc>
                  <a:txBody>
                    <a:bodyPr wrap="square"/>
                    <a:lstStyle/>
                    <a:p>
                      <a:pPr>
                        <a:defRPr sz="1000">
                          <a:latin typeface="Calibri"/>
                        </a:defRPr>
                      </a:pPr>
                      <a:r>
                        <a:t>The current method of attaching the push-rod to the actuation mechanism likely involves fasteners, which adds assembly time and component cost. By designing a proprietary snap-fit or twist-lock interface, the push-rod can be positively engaged with the lever during assembly, leveraging material deformation and elastic recovery. The fundamental physics relies on the material properties of the chosen polymer (e.g., Nylon, Acetal) and the geometry of the engagement features. Engineering will involve designing interlocking features that provide sufficient retention force against operational loads but allow for easy assembly. FEA will be used to analyze stress concentrations during engagement and to predict the retention strength. Validation will consist of destructive testing to determine engagement and disengagement forces, and endurance testing of the snap-fit mechanism under repeated assembly/disassembly and operational vibration to ensure long-term reliability.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method of attaching the push-rod to the actuation mechanism likely involves fasteners, which adds assembly time and component cost. By designing a proprietary snap-fit or twist-lock interface, the push-rod can be positively engaged with the lever during assembly, leveraging material deformation and elastic recovery. The fundamental physics relies on the material properties of the chosen polymer (e.g., Nylon, Acetal) and the geometry of the engagement features. Engineering will involve designing interlocking features that provide sufficient retention force against operational loads but allow for easy assembly. FEA will be used to analyze stress concentrations during engagement and to predict the retention strength. Validation will consist of destructive testing to determine engagement and disengagement forces, and endurance testing of the snap-fit mechanism under repeated assembly/disassembly and operational vibration to ensure long-term reliability.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Integrate a 'spring-assist' feature directly into the push-rod design, using a molded-in elastomeric element or a coiled integrated spring, to reduce actuation force requirements and potentially simplify the main actuation mechanism.</a:t>
                      </a:r>
                    </a:p>
                  </a:txBody>
                  <a:tcPr/>
                </a:tc>
                <a:tc>
                  <a:txBody>
                    <a:bodyPr wrap="square"/>
                    <a:lstStyle/>
                    <a:p>
                      <a:pPr>
                        <a:defRPr sz="1000">
                          <a:latin typeface="Calibri"/>
                        </a:defRPr>
                      </a:pPr>
                      <a:r>
                        <a:t>The physics of actuation involves overcoming static and dynamic friction, as well as any return forces from the tell lamp mechanism itself. By incorporating a spring-assist, we can pre-load the system, reducing the peak force required from the primary actuator. This could allow for a smaller, less powerful, and thus cheaper actuator or a simpler mechanical linkage. The design would involve analyzing the force-displacement curve of the tell lamp mechanism and designing an elastomeric element (e.g., TPE, EPDM) or an integrated spring that complements this curve. FEA would be used to simulate the behavior of the integrated spring element under compression/tension and its effect on the overall actuation force. Validation will involve measuring the actuation force profiles with and without the spring-assist, and confirming that the tell lamp operates within its designed parameters across its full range of motion. Durability testing of the spring element will also be crucial.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physics of actuation involves overcoming static and dynamic friction, as well as any return forces from the tell lamp mechanism itself. By incorporating a spring-assist, we can pre-load the system, reducing the peak force required from the primary actuator. This could allow for a smaller, less powerful, and thus cheaper actuator or a simpler mechanical linkage. The design would involve analyzing the force-displacement curve of the tell lamp mechanism and designing an elastomeric element (e.g., TPE, EPDM) or an integrated spring that complements this curve. FEA would be used to simulate the behavior of the integrated spring element under compression/tension and its effect on the overall actuation force. Validation will involve measuring the actuation force profiles with and without the spring-assist, and confirming that the tell lamp operates within its designed parameters across its full range of motion. Durability testing of the spring element will also be crucial.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Consolidate multiple push-rod linkages into a single, more complex, multi-axis push-rod assembly with integrated guiding channels, reducing the number of individual components and pivot points.</a:t>
                      </a:r>
                    </a:p>
                  </a:txBody>
                  <a:tcPr/>
                </a:tc>
                <a:tc>
                  <a:txBody>
                    <a:bodyPr wrap="square"/>
                    <a:lstStyle/>
                    <a:p>
                      <a:pPr>
                        <a:defRPr sz="1000">
                          <a:latin typeface="Calibri"/>
                        </a:defRPr>
                      </a:pPr>
                      <a:r>
                        <a:t>Current tell lamp actuation might employ several separate push-rods and joints for a given function. By applying first principles of kinematics and mechanical advantage, we can explore consolidating these into a single, more sophisticated push-rod component. This might involve a U-shaped or 'figure-of-eight' cross-section for the rod, with integrated channels or guides that perform the function of multiple separate links. The physics involved is the manipulation of degrees of freedom; a complex single component can achieve the same motion as multiple simpler components by constraining motion in specific ways. Design will focus on achieving the target motion profile while minimizing the number of external interfaces and potential failure points. FEA will be essential for analyzing the structural integrity of the complex geometry under combined bending and axial loads. Validation will involve functional testing of the consolidated component against the original multi-component system, focusing on motion accuracy, smoothness, and durability under environmental stress and cycle testing.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tell lamp actuation might employ several separate push-rods and joints for a given function. By applying first principles of kinematics and mechanical advantage, we can explore consolidating these into a single, more sophisticated push-rod component. This might involve a U-shaped or 'figure-of-eight' cross-section for the rod, with integrated channels or guides that perform the function of multiple separate links. The physics involved is the manipulation of degrees of freedom; a complex single component can achieve the same motion as multiple simpler components by constraining motion in specific ways. Design will focus on achieving the target motion profile while minimizing the number of external interfaces and potential failure points. FEA will be essential for analyzing the structural integrity of the complex geometry under combined bending and axial loads. Validation will involve functional testing of the consolidated component against the original multi-component system, focusing on motion accuracy, smoothness, and durability under environmental stress and cycle testing.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511.00</a:t>
            </a:r>
          </a:p>
          <a:p>
            <a:pPr>
              <a:defRPr sz="1000">
                <a:latin typeface="Calibri"/>
              </a:defRPr>
            </a:pPr>
            <a:r>
              <a:t>• Implemented Ideas: 0</a:t>
            </a:r>
          </a:p>
          <a:p>
            <a:pPr>
              <a:defRPr sz="1000">
                <a:latin typeface="Calibri"/>
              </a:defRPr>
            </a:pPr>
            <a:r>
              <a:t>• Status OK: 0</a:t>
            </a:r>
          </a:p>
          <a:p>
            <a:pPr>
              <a:defRPr sz="1000">
                <a:latin typeface="Calibri"/>
              </a:defRPr>
            </a:pPr>
            <a:r>
              <a:t>• Status TBD: 1</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511.00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
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2311-PRODUCT-ID-07</c:v>
                </c:pt>
                <c:pt idx="1">
                  <c:v>2311-PRODUCT-ID-09</c:v>
                </c:pt>
                <c:pt idx="2">
                  <c:v>2311-ET-ID-15</c:v>
                </c:pt>
                <c:pt idx="3">
                  <c:v>AI-NEW-01</c:v>
                </c:pt>
                <c:pt idx="4">
                  <c:v>AI-NEW-02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115.0</c:v>
                </c:pt>
                <c:pt idx="1">
                  <c:v>76.0</c:v>
                </c:pt>
                <c:pt idx="2">
                  <c:v>126.0</c:v>
                </c:pt>
                <c:pt idx="3">
                  <c:v>0.0</c:v>
                </c:pt>
                <c:pt idx="4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3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2311-PRODUCT-ID-07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De-content the plastic trims found protecting the top tethers from both sides of the seat as the tethers could be placed within the seat fabric itself and a slit on the same could facilitate easy access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115.00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2311-PRODUCT-ID-09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De-content the Plastic Protective Trims fitted onto the LHS and RHS mounting points of the third-row seats and cover the same with the fabric used on the vehicle floor.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76.00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2311-ET-ID-15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De-content the Cowl Panel NVH Insulation from the engine bay of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126.00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AI-NEW-01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Optimize component geometry for material reduction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Run topology optimization then re-verify stiffness targets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Run topology optimization then re-verify stiffness targets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AI-NEW-02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Consolidate multiple fasteners into integrated snap-fit design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Validate retention forces and tooling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Validate retention forces and tooling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5</a:t>
            </a:r>
          </a:p>
          <a:p>
            <a:pPr>
              <a:defRPr sz="1000">
                <a:latin typeface="Calibri"/>
              </a:defRPr>
            </a:pPr>
            <a:r>
              <a:t>• Total Potential Savings: INR 317.00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3</a:t>
            </a:r>
          </a:p>
          <a:p>
            <a:pPr>
              <a:defRPr sz="1000">
                <a:latin typeface="Calibri"/>
              </a:defRPr>
            </a:pPr>
            <a:r>
              <a:t>• Status TBD: 0</a:t>
            </a:r>
          </a:p>
          <a:p>
            <a:pPr>
              <a:defRPr sz="1000">
                <a:latin typeface="Calibri"/>
              </a:defRPr>
            </a:pPr>
            <a:r>
              <a:t>• Status NG: 0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5 ideas analyzed.</a:t>
            </a:r>
          </a:p>
          <a:p>
            <a:pPr>
              <a:defRPr sz="1800">
                <a:latin typeface="Calibri"/>
              </a:defRPr>
            </a:pPr>
            <a:r>
              <a:t>Total Savings: INR 317.00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
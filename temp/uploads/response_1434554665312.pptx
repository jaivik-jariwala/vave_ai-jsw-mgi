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Cost Savings by Idea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Savings (INR)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2311-EL-ID-19</c:v>
                </c:pt>
                <c:pt idx="1">
                  <c:v>VAVE-SWI-081</c:v>
                </c:pt>
                <c:pt idx="2">
                  <c:v>2311-IP-ID-19</c:v>
                </c:pt>
                <c:pt idx="3">
                  <c:v>VAVE-SWI-068</c:v>
                </c:pt>
                <c:pt idx="4">
                  <c:v>2311-EL-ID-16</c:v>
                </c:pt>
                <c:pt idx="5">
                  <c:v>2311-PRODUCT-ID-11</c:v>
                </c:pt>
                <c:pt idx="6">
                  <c:v>2311-ET-ID-02</c:v>
                </c:pt>
                <c:pt idx="7">
                  <c:v>2311-PRODUCT-ID-12</c:v>
                </c:pt>
                <c:pt idx="8">
                  <c:v>2311-EL-ID-22</c:v>
                </c:pt>
                <c:pt idx="9">
                  <c:v>2311-EL-ID-01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50.0</c:v>
                </c:pt>
                <c:pt idx="1">
                  <c:v>0.0</c:v>
                </c:pt>
                <c:pt idx="2">
                  <c:v>85.0</c:v>
                </c:pt>
                <c:pt idx="3">
                  <c:v>0.0</c:v>
                </c:pt>
                <c:pt idx="4">
                  <c:v>126.0</c:v>
                </c:pt>
                <c:pt idx="5">
                  <c:v>89.0</c:v>
                </c:pt>
                <c:pt idx="6">
                  <c:v>108.0</c:v>
                </c:pt>
                <c:pt idx="7">
                  <c:v>90.0</c:v>
                </c:pt>
                <c:pt idx="8">
                  <c:v>111.0</c:v>
                </c:pt>
                <c:pt idx="9">
                  <c:v>142.0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Ideas Status Distribution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dPt>
            <c:idx val="0"/>
            <c:spPr>
              <a:solidFill>
                <a:srgbClr val="0000FF"/>
              </a:solidFill>
            </c:spPr>
          </c:dPt>
          <c:dPt>
            <c:idx val="1"/>
            <c:spPr>
              <a:solidFill>
                <a:srgbClr val="FF0000"/>
              </a:solidFill>
            </c:spPr>
          </c:dPt>
          <c:dPt>
            <c:idx val="2"/>
            <c:spPr>
              <a:solidFill>
                <a:srgbClr val="008000"/>
              </a:solidFill>
            </c:spPr>
          </c:dPt>
          <c:dPt>
            <c:idx val="3"/>
            <c:spPr>
              <a:solidFill>
                <a:srgbClr val="800080"/>
              </a:solidFill>
            </c:spPr>
          </c:dPt>
          <c:cat>
            <c:strRef>
              <c:f>Sheet1!$A$2:$A$5</c:f>
              <c:strCache>
                <c:ptCount val="4"/>
                <c:pt idx="0">
                  <c:v>Implemented</c:v>
                </c:pt>
                <c:pt idx="1">
                  <c:v>Status OK</c:v>
                </c:pt>
                <c:pt idx="2">
                  <c:v>Status TBD</c:v>
                </c:pt>
                <c:pt idx="3">
                  <c:v>Status 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6</c:v>
                </c:pt>
                <c:pt idx="3">
                  <c:v>4</c:v>
                </c:pt>
              </c:numCache>
            </c:numRef>
          </c:val>
        </c:ser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828800" cy="182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68880" y="9144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 b="1">
                <a:solidFill>
                  <a:srgbClr val="DC3545"/>
                </a:solidFill>
                <a:latin typeface="Calibri"/>
              </a:defRPr>
            </a:pPr>
            <a:r>
              <a:t>JSW MG MOTOR INDIA</a:t>
            </a:r>
          </a:p>
          <a:p>
            <a:pPr>
              <a:defRPr sz="2800" b="1">
                <a:solidFill>
                  <a:srgbClr val="000000"/>
                </a:solidFill>
                <a:latin typeface="Calibri"/>
              </a:defRPr>
            </a:pPr>
            <a:r>
              <a:t>Cost Reduction Idea Analysis Presentation</a:t>
            </a:r>
          </a:p>
          <a:p>
            <a:pPr>
              <a:defRPr sz="1600">
                <a:latin typeface="Calibri"/>
              </a:defRPr>
            </a:pPr>
            <a:r>
              <a:t>Presentation generated by VAVE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2311-EL-ID-19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PP-GF30 with standard PP in the manufacture of the Amplifier Cover present mounted onto the amplifier of the vehicle.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50.0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VAVE-SWI-081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2nd row 60% seat - Rear outer side plastic cover deletion (Small part)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2311-IP-ID-19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Thinsulate Acoustic Insulation used within the Dashboard and Control Panel for NVH restriction within MGI with Noiselite PP-PET Insulation as used in KIA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85.0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VAVE-SWI-068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Foam dual hardness to single hardness 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2311-EL-ID-16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Keyless Entry Sensor Module from Continental used in MGI with the one used in KIA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with homeroom on technical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126.0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with homeroom on technical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Ojaswini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TBC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2311-PRODUCT-ID-11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Reduce the width of the trunk liner flap by 60mm from the upper edge.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business case for 20mm reduction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89.0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business case for 20mm reduction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Kalp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2024-02-14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2311-ET-ID-02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TPV (Thermoplastic Vulcanizate) with PE+HD (High-Density Polyethylene) in the manufacture of Wheel Well Deflectors mounted onto the wheel guards in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Check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108.0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Check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Vikrant/Chirag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2023-11-10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2311-PRODUCT-ID-12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Decrease the width of the carpet by 100mm from the lower edge on the rear side of the trunk liner flap.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supplier feasibility in LC part for 5 seater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90.0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supplier feasibility in LC part for 5 seater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Akhil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2024-06-28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2311-EL-ID-22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Closed (Mini) Fuses used within the Driver-Side Fuse Box of the vehicle with Open (Mini) Fuses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111.0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2311-EL-ID-01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16-pin connector set used on the IRVM assembly with an 8-pin connector set.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on 10 pin connector availability with supplier (similar to Kia)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142.0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on 10 pin connector availability with supplier (similar to Kia)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Narendra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2023-11-24 00:00:00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Chart Analysis Discussion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Pie chart for ideas status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4114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0" y="13716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Calibri"/>
              </a:defRPr>
            </a:pPr>
          </a:p>
          <a:p>
            <a:pPr>
              <a:defRPr sz="1000">
                <a:latin typeface="Calibri"/>
              </a:defRPr>
            </a:pPr>
            <a:r>
              <a:t>• Total Ideas: 10</a:t>
            </a:r>
          </a:p>
          <a:p>
            <a:pPr>
              <a:defRPr sz="1000">
                <a:latin typeface="Calibri"/>
              </a:defRPr>
            </a:pPr>
            <a:r>
              <a:t>• Total Potential Savings: INR 801.00</a:t>
            </a:r>
          </a:p>
          <a:p>
            <a:pPr>
              <a:defRPr sz="1000">
                <a:latin typeface="Calibri"/>
              </a:defRPr>
            </a:pPr>
            <a:r>
              <a:t>• Implemented Ideas: 0</a:t>
            </a:r>
          </a:p>
          <a:p>
            <a:pPr>
              <a:defRPr sz="1000">
                <a:latin typeface="Calibri"/>
              </a:defRPr>
            </a:pPr>
            <a:r>
              <a:t>• Status OK: 0</a:t>
            </a:r>
          </a:p>
          <a:p>
            <a:pPr>
              <a:defRPr sz="1000">
                <a:latin typeface="Calibri"/>
              </a:defRPr>
            </a:pPr>
            <a:r>
              <a:t>• Status TBD: 6</a:t>
            </a:r>
          </a:p>
          <a:p>
            <a:pPr>
              <a:defRPr sz="1000">
                <a:latin typeface="Calibri"/>
              </a:defRPr>
            </a:pPr>
            <a:r>
              <a:t>• Status NG: 4</a:t>
            </a:r>
          </a:p>
          <a:p>
            <a:pPr>
              <a:defRPr sz="1000">
                <a:latin typeface="Calibri"/>
              </a:defRPr>
            </a:pPr>
            <a:r>
              <a:t>• The provided cost reduction ideas focus on process deletions and material replacements to reduce manufacturing costs.</a:t>
            </a:r>
          </a:p>
          <a:p>
            <a:pPr>
              <a:defRPr sz="1000">
                <a:latin typeface="Calibri"/>
              </a:defRPr>
            </a:pPr>
            <a:r>
              <a:t>• Key proposals include removing paint coatings from brackets and mounts, replacing PC-ABS with ABS, and switching to galvanized steel for window regulators.</a:t>
            </a:r>
          </a:p>
          <a:p>
            <a:pPr>
              <a:defRPr sz="1000">
                <a:latin typeface="Calibri"/>
              </a:defRPr>
            </a:pPr>
            <a:r>
              <a:t>• These changes aim to maintain functionality while reducing costs and, in some cases, weight.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Summary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Total Ideas: 10 ideas analyzed.</a:t>
            </a:r>
          </a:p>
          <a:p>
            <a:pPr>
              <a:defRPr sz="1800">
                <a:latin typeface="Calibri"/>
              </a:defRPr>
            </a:pPr>
            <a:r>
              <a:t>Total Savings: INR 801.00 in potential cost reductions.</a:t>
            </a:r>
          </a:p>
          <a:p>
            <a:pPr>
              <a:defRPr sz="1800">
                <a:latin typeface="Calibri"/>
              </a:defRPr>
            </a:pPr>
            <a:r>
              <a:t>Key Proposals: Remove paint coatings from mounts and brackets, replace PC-ABS with ABS, and use galvanized steel for window regulators.</a:t>
            </a:r>
          </a:p>
          <a:p>
            <a:pPr>
              <a:defRPr sz="1800">
                <a:latin typeface="Calibri"/>
              </a:defRPr>
            </a:pPr>
            <a:r>
              <a:t>Status: All ideas currently TBD, pending further evaluation.</a:t>
            </a:r>
          </a:p>
          <a:p>
            <a:pPr>
              <a:defRPr sz="1800">
                <a:latin typeface="Calibri"/>
              </a:defRPr>
            </a:pPr>
            <a:r>
              <a:t>Focus: Cost reduction through process deletion and material substitution while maintaining functionality.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
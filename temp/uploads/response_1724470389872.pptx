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Sheet1!$A$2:$A$10</c:f>
              <c:strCache>
                <c:ptCount val="9"/>
                <c:pt idx="0">
                  <c:v>AI-GEN-01</c:v>
                </c:pt>
                <c:pt idx="1">
                  <c:v>AI-GEN-02</c:v>
                </c:pt>
                <c:pt idx="2">
                  <c:v>AI-GEN-03</c:v>
                </c:pt>
                <c:pt idx="3">
                  <c:v>AI-GEN-04</c:v>
                </c:pt>
                <c:pt idx="4">
                  <c:v>AI-GEN-05</c:v>
                </c:pt>
                <c:pt idx="5">
                  <c:v>AI-GEN-06</c:v>
                </c:pt>
                <c:pt idx="6">
                  <c:v>WEB-GEN-01</c:v>
                </c:pt>
                <c:pt idx="7">
                  <c:v>WEB-GEN-02</c:v>
                </c:pt>
                <c:pt idx="8">
                  <c:v>WEB-GEN-03</c:v>
                </c:pt>
              </c:strCache>
            </c:strRef>
          </c:cat>
          <c:val>
            <c:numRef>
              <c:f>Sheet1!$B$2:$B$10</c:f>
              <c:numCache>
                <c:formatCode>General</c:formatCode>
                <c:ptCount val="9"/>
                <c:pt idx="0">
                  <c:v>0</c:v>
                </c:pt>
                <c:pt idx="1">
                  <c:v>0</c:v>
                </c:pt>
                <c:pt idx="2">
                  <c:v>0</c:v>
                </c:pt>
                <c:pt idx="3">
                  <c:v>0</c:v>
                </c:pt>
                <c:pt idx="4">
                  <c:v>0</c:v>
                </c:pt>
                <c:pt idx="5">
                  <c:v>0</c:v>
                </c:pt>
                <c:pt idx="6">
                  <c:v>0</c:v>
                </c:pt>
                <c:pt idx="7">
                  <c:v>0</c:v>
                </c:pt>
                <c:pt idx="8">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0</c:v>
                </c:pt>
                <c:pt idx="2">
                  <c:v>0</c:v>
                </c:pt>
                <c:pt idx="3">
                  <c:v>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Develop and deploy a comprehensive Multi-Physics Finite Element Analysis (FEA) framework for virtual performance comparison of brake calipers, encompassing structural, thermal, and modal analyses prior to physical prototyping.</a:t>
                      </a:r>
                    </a:p>
                  </a:txBody>
                  <a:tcPr/>
                </a:tc>
                <a:tc>
                  <a:txBody>
                    <a:bodyPr wrap="square"/>
                    <a:lstStyle/>
                    <a:p>
                      <a:pPr>
                        <a:defRPr sz="1000">
                          <a:latin typeface="Calibri"/>
                        </a:defRPr>
                      </a:pPr>
                      <a:r>
                        <a:t>Instead of costly and time-consuming iterative physical prototyping and testing, we will establish a robust virtual engineering workflow. This involves constructing high-fidelity 3D CAD models of both caliper designs, defining precise material properties (e.g., specific grades of cast iron, aluminum alloys, elastomer seals), and applying realistic boundary conditions that replicate critical operational scenarios (e.g., maximum hydraulic pressure, transient thermal loads during braking, mounting bracket stiffness). The multi-physics FEA model will predict structural deformation, stress concentrations, thermal gradients and hot-spot formation, and natural frequencies that contribute to noise, vibration, and harshness (NVH). This upfront virtual comparison allows for rapid identification of design advantages/disadvantages, optimization of material thickness and geometry, and prediction of performance envelopes. Validation will involve correlating a limited number of early-stage physical tests (e.g., static stiffness test, dyno brake thermal mapping) against the simulation results to refine model accuracy. This significantly reduces lead time, material waste from failed prototypes, and the number of physical design iterations, directly translating to substantial cost savings in the development phase.</a:t>
                      </a:r>
                    </a:p>
                  </a:txBody>
                  <a:tcPr/>
                </a:tc>
                <a:tc>
                  <a:txBody>
                    <a:bodyPr wrap="square"/>
                    <a:lstStyle/>
                    <a:p>
                      <a:pPr>
                        <a:defRPr sz="1000">
                          <a:latin typeface="Calibri"/>
                        </a:defRPr>
                      </a:pPr>
                      <a:r>
                        <a:t>15000000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Instead of costly and time-consuming iterative physical prototyping and testing, we will establish a robust virtual engineering workflow. This involves constructing high-fidelity 3D CAD models of both caliper designs, defining precise material properties (e.g., specific grades of cast iron, aluminum alloys, elastomer seals), and applying realistic boundary conditions that replicate critical operational scenarios (e.g., maximum hydraulic pressure, transient thermal loads during braking, mounting bracket stiffness). The multi-physics FEA model will predict structural deformation, stress concentrations, thermal gradients and hot-spot formation, and natural frequencies that contribute to noise, vibration, and harshness (NVH). This upfront virtual comparison allows for rapid identification of design advantages/disadvantages, optimization of material thickness and geometry, and prediction of performance envelopes. Validation will involve correlating a limited number of early-stage physical tests (e.g., static stiffness test, dyno brake thermal mapping) against the simulation results to refine model accuracy. This significantly reduces lead time, material waste from failed prototypes, and the number of physical design iterations, directly translating to substantial cost savings in the development phase.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Implement a standardized Non-Destructive Material Characterization (NDMC) and micro-structural analysis protocol to reverse engineer and compare the precise material compositions, heat treatments, and manufacturing process indicators of critical caliper components.</a:t>
                      </a:r>
                    </a:p>
                  </a:txBody>
                  <a:tcPr/>
                </a:tc>
                <a:tc>
                  <a:txBody>
                    <a:bodyPr wrap="square"/>
                    <a:lstStyle/>
                    <a:p>
                      <a:pPr>
                        <a:defRPr sz="1000">
                          <a:latin typeface="Calibri"/>
                        </a:defRPr>
                      </a:pPr>
                      <a:r>
                        <a:t>Understanding the precise material specifications and manufacturing process choices of competitors is paramount for value engineering. Our protocol will utilize advanced NDMC techniques such as X-ray Fluorescence (XRF) for rapid elemental composition analysis of the caliper body and bracket alloys, Ultrasonic Testing (UT) for internal defect detection and material density variation, and Eddy Current Testing (ECT) to infer heat treatment states or surface hardness. For deeper insights, targeted micro-sections (if permissible for analysis samples) will undergo Scanning Electron Microscopy (SEM) coupled with Energy-Dispersive X-ray Spectroscopy (EDX) to reveal grain structure, phase distribution, and precise alloy micro-constituents. This 'material fingerprinting' allows for a direct comparison of material cost drivers, revealing if a competitor uses simpler, more cost-effective alloys or manufacturing processes without sacrificing performance or durability. The physics behind this involves analyzing characteristic X-ray emissions (XRF/EDX), elastic wave propagation (UT), and electromagnetic field interactions (ECT) to deduce material properties. Validation involves cross-referencing findings with known material databases and correlating with observed mechanical properties (e.g., micro-hardness testing) to ensure accurate material identification. This informed comparison enables strategic material substitution or process optimization to achieve similar performance at a lower Bill of Materials (BOM) cost.</a:t>
                      </a:r>
                    </a:p>
                  </a:txBody>
                  <a:tcPr/>
                </a:tc>
                <a:tc>
                  <a:txBody>
                    <a:bodyPr wrap="square"/>
                    <a:lstStyle/>
                    <a:p>
                      <a:pPr>
                        <a:defRPr sz="1000">
                          <a:latin typeface="Calibri"/>
                        </a:defRPr>
                      </a:pPr>
                      <a:r>
                        <a:t>7500000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Understanding the precise material specifications and manufacturing process choices of competitors is paramount for value engineering. Our protocol will utilize advanced NDMC techniques such as X-ray Fluorescence (XRF) for rapid elemental composition analysis of the caliper body and bracket alloys, Ultrasonic Testing (UT) for internal defect detection and material density variation, and Eddy Current Testing (ECT) to infer heat treatment states or surface hardness. For deeper insights, targeted micro-sections (if permissible for analysis samples) will undergo Scanning Electron Microscopy (SEM) coupled with Energy-Dispersive X-ray Spectroscopy (EDX) to reveal grain structure, phase distribution, and precise alloy micro-constituents. This 'material fingerprinting' allows for a direct comparison of material cost drivers, revealing if a competitor uses simpler, more cost-effective alloys or manufacturing processes without sacrificing performance or durability. The physics behind this involves analyzing characteristic X-ray emissions (XRF/EDX), elastic wave propagation (UT), and electromagnetic field interactions (ECT) to deduce material properties. Validation involves cross-referencing findings with known material databases and correlating with observed mechanical properties (e.g., micro-hardness testing) to ensure accurate material identification. This informed comparison enables strategic material substitution or process optimization to achieve similar performance at a lower Bill of Materials (BOM) cost.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Conduct a detailed Disassembly Time-Motion Study and Design for Manufacturing/Assembly (DFM/DFA) assessment for both caliper designs to quantify labor costs, part count, assembly complexity, and serviceability differences.</a:t>
                      </a:r>
                    </a:p>
                  </a:txBody>
                  <a:tcPr/>
                </a:tc>
                <a:tc>
                  <a:txBody>
                    <a:bodyPr wrap="square"/>
                    <a:lstStyle/>
                    <a:p>
                      <a:pPr>
                        <a:defRPr sz="1000">
                          <a:latin typeface="Calibri"/>
                        </a:defRPr>
                      </a:pPr>
                      <a:r>
                        <a:t>Beyond material and performance, the manufacturing, assembly, and servicing costs significantly impact the total cost of ownership (TCO). We will meticulously document and time each step of the full disassembly and re-assembly process for both calipers, identifying required tools, worker movements, and potential bottlenecks. This time-motion study directly quantifies the labor efficiency of each design. Concurrently, a DFM/DFA analysis will scrutinize each component: Are there excessive machining operations? Are fasteners standardized and minimized? Is the part count optimal? Are assembly sequences logical and error-proof? For example, comparing the number of different fastener types, the complexity of sealing solutions, or the number of unique components can reveal significant manufacturing cost advantages. Physics-based considerations include the tolerances required for fitment (tighter tolerances often equate to higher machining costs due to precision requirements) and the manufacturing processes chosen (e.g., cast vs. forged, single-piece vs. multi-piece). Validation is achieved by directly comparing assembly times, component commonality metrics, and estimated manufacturing process steps. This analysis provides a tangible benchmark for reducing internal manufacturing costs, streamlining assembly lines, and lowering warranty service costs.</a:t>
                      </a:r>
                    </a:p>
                  </a:txBody>
                  <a:tcPr/>
                </a:tc>
                <a:tc>
                  <a:txBody>
                    <a:bodyPr wrap="square"/>
                    <a:lstStyle/>
                    <a:p>
                      <a:pPr>
                        <a:defRPr sz="1000">
                          <a:latin typeface="Calibri"/>
                        </a:defRPr>
                      </a:pPr>
                      <a:r>
                        <a:t>10000000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Beyond material and performance, the manufacturing, assembly, and servicing costs significantly impact the total cost of ownership (TCO). We will meticulously document and time each step of the full disassembly and re-assembly process for both calipers, identifying required tools, worker movements, and potential bottlenecks. This time-motion study directly quantifies the labor efficiency of each design. Concurrently, a DFM/DFA analysis will scrutinize each component: Are there excessive machining operations? Are fasteners standardized and minimized? Is the part count optimal? Are assembly sequences logical and error-proof? For example, comparing the number of different fastener types, the complexity of sealing solutions, or the number of unique components can reveal significant manufacturing cost advantages. Physics-based considerations include the tolerances required for fitment (tighter tolerances often equate to higher machining costs due to precision requirements) and the manufacturing processes chosen (e.g., cast vs. forged, single-piece vs. multi-piece). Validation is achieved by directly comparing assembly times, component commonality metrics, and estimated manufacturing process steps. This analysis provides a tangible benchmark for reducing internal manufacturing costs, streamlining assembly lines, and lowering warranty service costs.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Establish an Integrated Acoustic and Vibrational (NVH) Signature Analysis protocol using a Hemi-Anechoic Chamber to objectively quantify and compare brake squeal, judder, and other undesirable acoustic emissions under controlled simulated braking conditions.</a:t>
                      </a:r>
                    </a:p>
                  </a:txBody>
                  <a:tcPr/>
                </a:tc>
                <a:tc>
                  <a:txBody>
                    <a:bodyPr wrap="square"/>
                    <a:lstStyle/>
                    <a:p>
                      <a:pPr>
                        <a:defRPr sz="1000">
                          <a:latin typeface="Calibri"/>
                        </a:defRPr>
                      </a:pPr>
                      <a:r>
                        <a:t>Customer perception of brake quality is heavily influenced by NVH performance, which can lead to significant warranty claims if not addressed. A dedicated Hemi-Anechoic chamber provides a controlled environment to isolate and measure sound pressure levels and vibration frequencies emanating from the caliper assembly during various simulated braking events (e.g., low-speed creep, emergency stops, wet conditions). High-sensitivity accelerometers and microphones mounted strategically on the caliper body, pads, and suspension points will capture transient and steady-state vibrations and acoustic outputs. The physics of brake squeal involves complex stick-slip phenomena and mode coupling between the disc, pads, and caliper, leading to self-excited vibrations. By analyzing and comparing the frequency spectrums, amplitudes, and occurrences of NVH events for both calipers, we can identify design-inherent tendencies towards noise and vibration. This data allows for a quantitative, objective comparison of NVH performance, enabling targeted design modifications or material selection (e.g., damping shims, pad material optimization) to achieve superior acoustic comfort. Validation involves correlation with limited subjective road tests and comparison against established internal and competitive NVH targets, significantly reducing warranty costs associated with brake noise.</a:t>
                      </a:r>
                    </a:p>
                  </a:txBody>
                  <a:tcPr/>
                </a:tc>
                <a:tc>
                  <a:txBody>
                    <a:bodyPr wrap="square"/>
                    <a:lstStyle/>
                    <a:p>
                      <a:pPr>
                        <a:defRPr sz="1000">
                          <a:latin typeface="Calibri"/>
                        </a:defRPr>
                      </a:pPr>
                      <a:r>
                        <a:t>12500000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Customer perception of brake quality is heavily influenced by NVH performance, which can lead to significant warranty claims if not addressed. A dedicated Hemi-Anechoic chamber provides a controlled environment to isolate and measure sound pressure levels and vibration frequencies emanating from the caliper assembly during various simulated braking events (e.g., low-speed creep, emergency stops, wet conditions). High-sensitivity accelerometers and microphones mounted strategically on the caliper body, pads, and suspension points will capture transient and steady-state vibrations and acoustic outputs. The physics of brake squeal involves complex stick-slip phenomena and mode coupling between the disc, pads, and caliper, leading to self-excited vibrations. By analyzing and comparing the frequency spectrums, amplitudes, and occurrences of NVH events for both calipers, we can identify design-inherent tendencies towards noise and vibration. This data allows for a quantitative, objective comparison of NVH performance, enabling targeted design modifications or material selection (e.g., damping shims, pad material optimization) to achieve superior acoustic comfort. Validation involves correlation with limited subjective road tests and comparison against established internal and competitive NVH targets, significantly reducing warranty costs associated with brake noise.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Develop and apply Accelerated Life Testing (ALT) methodologies to predict the long-term reliability and maintenance cycles of critical caliper sub-components (e.g., seals, pistons, guide pins, bleed screws) under intensified stress, for a comparative assessment of durability and warranty cost implications.</a:t>
                      </a:r>
                    </a:p>
                  </a:txBody>
                  <a:tcPr/>
                </a:tc>
                <a:tc>
                  <a:txBody>
                    <a:bodyPr wrap="square"/>
                    <a:lstStyle/>
                    <a:p>
                      <a:pPr>
                        <a:defRPr sz="1000">
                          <a:latin typeface="Calibri"/>
                        </a:defRPr>
                      </a:pPr>
                      <a:r>
                        <a:t>Long-term reliability and maintenance costs are critical drivers of total cost of ownership (TCO) and brand reputation. Instead of waiting for real-world failures, ALT involves subjecting individual components or sub-assemblies to intensified stress levels (e.g., elevated temperatures, aggressive fluid compositions, increased pressure cycling, higher frequency actuation) to induce failures much faster than in normal service. Using established statistical models (e.g., Arrhenius model for thermal degradation, Inverse Power Law for fatigue), we can extrapolate these accelerated failure times back to normal operating conditions to predict Mean Time To Failure (MTTF) and component degradation rates. For calipers, this would focus on the integrity of piston seals against fluid contamination and thermal cycling, corrosion resistance of pistons and guide pins, and the sealing effectiveness of bleed screws over thousands of simulated brake applications. The underlying physics dictates that chemical reactions (degradation of elastomers) and fatigue mechanisms are directly accelerated by increased temperature and mechanical stress. By comparing the predicted MTTF and degradation profiles of both calipers' critical sub-components, we gain predictive insight into inherent durability and potential warranty costs. Validation involves small-scale, long-term field studies on a limited fleet to confirm the ALT model's predictive accuracy, providing a data-driven basis for enhancing durability and reducing total ownership costs.</a:t>
                      </a:r>
                    </a:p>
                  </a:txBody>
                  <a:tcPr/>
                </a:tc>
                <a:tc>
                  <a:txBody>
                    <a:bodyPr wrap="square"/>
                    <a:lstStyle/>
                    <a:p>
                      <a:pPr>
                        <a:defRPr sz="1000">
                          <a:latin typeface="Calibri"/>
                        </a:defRPr>
                      </a:pPr>
                      <a:r>
                        <a:t>17500000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Long-term reliability and maintenance costs are critical drivers of total cost of ownership (TCO) and brand reputation. Instead of waiting for real-world failures, ALT involves subjecting individual components or sub-assemblies to intensified stress levels (e.g., elevated temperatures, aggressive fluid compositions, increased pressure cycling, higher frequency actuation) to induce failures much faster than in normal service. Using established statistical models (e.g., Arrhenius model for thermal degradation, Inverse Power Law for fatigue), we can extrapolate these accelerated failure times back to normal operating conditions to predict Mean Time To Failure (MTTF) and component degradation rates. For calipers, this would focus on the integrity of piston seals against fluid contamination and thermal cycling, corrosion resistance of pistons and guide pins, and the sealing effectiveness of bleed screws over thousands of simulated brake applications. The underlying physics dictates that chemical reactions (degradation of elastomers) and fatigue mechanisms are directly accelerated by increased temperature and mechanical stress. By comparing the predicted MTTF and degradation profiles of both calipers' critical sub-components, we gain predictive insight into inherent durability and potential warranty costs. Validation involves small-scale, long-term field studies on a limited fleet to confirm the ALT model's predictive accuracy, providing a data-driven basis for enhancing durability and reducing total ownership costs.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46888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18872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Utilize Computational Fluid Dynamics (CFD) simulations to analyze and optimize the internal brake fluid flow paths, pressure distribution, and air bubble purging efficiency within caliper designs for quicker bleeding and consistent hydraulic response.</a:t>
                      </a:r>
                    </a:p>
                  </a:txBody>
                  <a:tcPr/>
                </a:tc>
                <a:tc>
                  <a:txBody>
                    <a:bodyPr wrap="square"/>
                    <a:lstStyle/>
                    <a:p>
                      <a:pPr>
                        <a:defRPr sz="1000">
                          <a:latin typeface="Calibri"/>
                        </a:defRPr>
                      </a:pPr>
                      <a:r>
                        <a:t>An often-overlooked aspect of caliper design is the efficiency of brake fluid management and bleeding, which directly impacts serviceability and brake feel. Poor internal fluid path design can lead to trapped air, inconsistent pedal feel, and prolonged service times, increasing workshop costs and potential warranty claims. CFD modeling allows for virtual injection of brake fluid and simulated air bubbles into the caliper's complex internal passages, modeling the transient, incompressible fluid flow. We can analyze parameters such as flow velocity profiles, pressure drops across internal constrictions, potential stagnation zones where air might accumulate, and the effectiveness of the bleed screw's placement and design in evacuating air. The underlying physics is governed by the Navier-Stokes equations for fluid motion and principles of mass conservation. By comparing how effectively each caliper design purges air and maintains uniform hydraulic pressure under various conditions, we can quantitatively assess 'bleed-ability' and hydraulic consistency. This can lead to design recommendations for improved internal geometry, optimal bleed screw location, or bore sizing to reduce workshop service time, enhance efficiency, and ensure a consistent, firm pedal feel for the end-user, thereby improving customer satisfaction and reducing warranty claims related to spongy brakes. Validation involves physical bench testing of bleeding procedures and pressure response measurements on actual caliper samples.</a:t>
                      </a:r>
                    </a:p>
                  </a:txBody>
                  <a:tcPr/>
                </a:tc>
                <a:tc>
                  <a:txBody>
                    <a:bodyPr wrap="square"/>
                    <a:lstStyle/>
                    <a:p>
                      <a:pPr>
                        <a:defRPr sz="1000">
                          <a:latin typeface="Calibri"/>
                        </a:defRPr>
                      </a:pPr>
                      <a:r>
                        <a:t>9000000</a:t>
                      </a:r>
                    </a:p>
                  </a:txBody>
                  <a:tcPr/>
                </a:tc>
                <a:tc>
                  <a:txBody>
                    <a:bodyPr wrap="square"/>
                    <a:lstStyle/>
                    <a:p>
                      <a:pPr>
                        <a:defRPr sz="1000">
                          <a:latin typeface="Calibri"/>
                        </a:defRPr>
                      </a:pPr>
                      <a:r>
                        <a:t>AI Proposal</a:t>
                      </a:r>
                    </a:p>
                  </a:txBody>
                  <a:tcPr/>
                </a:tc>
                <a:tc>
                  <a:txBody>
                    <a:bodyPr wrap="square"/>
                    <a:lstStyle/>
                    <a:p>
                      <a:pPr>
                        <a:defRPr sz="1000">
                          <a:latin typeface="Calibri"/>
                        </a:defRPr>
                      </a:pPr>
                      <a:r>
                        <a:t>An often-overlooked aspect of caliper design is the efficiency of brake fluid management and bleeding, which directly impacts serviceability and brake feel. Poor internal fluid path design can lead to trapped air, inconsistent pedal feel, and prolonged service times, increasing workshop costs and potential warranty claims. CFD modeling allows for virtual injection of brake fluid and simulated air bubbles into the caliper's complex internal passages, modeling the transient, incompressible fluid flow. We can analyze parameters such as flow velocity profiles, pressure drops across internal constrictions, potential stagnation zones where air might accumulate, and the effectiveness of the bleed screw's placement and design in evacuating air. The underlying physics is governed by the Navier-Stokes equations for fluid motion and principles of mass conservation. By comparing how effectively each caliper design purges air and maintains uniform hydraulic pressure under various conditions, we can quantitatively assess 'bleed-ability' and hydraulic consistency. This can lead to design recommendations for improved internal geometry, optimal bleed screw location, or bore sizing to reduce workshop service time, enhance efficiency, and ensure a consistent, firm pedal feel for the end-user, thereby improving customer satisfaction and reducing warranty claims related to spongy brakes. Validation involves physical bench testing of bleeding procedures and pressure response measurements on actual caliper samples.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WEB-GEN-01</a:t>
                      </a:r>
                    </a:p>
                  </a:txBody>
                  <a:tcPr/>
                </a:tc>
                <a:tc>
                  <a:txBody>
                    <a:bodyPr wrap="square"/>
                    <a:lstStyle/>
                    <a:p>
                      <a:pPr>
                        <a:defRPr sz="1000">
                          <a:latin typeface="Calibri"/>
                        </a:defRPr>
                      </a:pPr>
                      <a:r>
                        <a:t>Implement Cross-Functional Design Collaboration for Optimized Cost Comparison</a:t>
                      </a:r>
                    </a:p>
                  </a:txBody>
                  <a:tcPr/>
                </a:tc>
                <a:tc>
                  <a:txBody>
                    <a:bodyPr wrap="square"/>
                    <a:lstStyle/>
                    <a:p>
                      <a:pPr>
                        <a:defRPr sz="1000">
                          <a:latin typeface="Calibri"/>
                        </a:defRPr>
                      </a:pPr>
                      <a:r>
                        <a:t>Establish a 'Design for Excellence' (DfX) framework, specifically focusing on Design for Manufacturing and Assembly (DfMA) and Design to Cost (DtC). This involves mandatory cross-functional design reviews where engineering, manufacturing, and procurement teams collaboratively compare various design alternatives, material choices (e.g., comparing steel vs. aluminum alloys for structural components), and manufacturing processes (e.g., comparing CNC machining vs. casting or stamping for complex parts) early in the design cycle. Utilize standardized digital twin technologies and simulation tools (e.g., FEA, CFD integrated with cost models) to virtually compare performance, weight, and cost implications of design changes, thereby reducing expensive late-stage modifications and rework. Source: [https://www.f1technical.net/forum/viewtopic.php?t=32104&amp;start=90]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Establish a 'Design for Excellence' (DfX) framework, specifically focusing on Design for Manufacturing and Assembly (DfMA) and Design to Cost (DtC). This involves mandatory cross-functional design reviews where engineering, manufacturing, and procurement teams collaboratively compare various design alternatives, material choices (e.g., comparing steel vs. aluminum alloys for structural components), and manufacturing processes (e.g., comparing CNC machining vs. casting or stamping for complex parts) early in the design cycle. Utilize standardized digital twin technologies and simulation tools (e.g., FEA, CFD integrated with cost models) to virtually compare performance, weight, and cost implications of design changes, thereby reducing expensive late-stage modifications and rework. Source: [https://www.f1technical.net/forum/viewtopic.php?t=32104&amp;start=90]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WEB-GEN-02</a:t>
                      </a:r>
                    </a:p>
                  </a:txBody>
                  <a:tcPr/>
                </a:tc>
                <a:tc>
                  <a:txBody>
                    <a:bodyPr wrap="square"/>
                    <a:lstStyle/>
                    <a:p>
                      <a:pPr>
                        <a:defRPr sz="1000">
                          <a:latin typeface="Calibri"/>
                        </a:defRPr>
                      </a:pPr>
                      <a:r>
                        <a:t>Optimize Sensor Suite via Data Comparison and Integration</a:t>
                      </a:r>
                    </a:p>
                  </a:txBody>
                  <a:tcPr/>
                </a:tc>
                <a:tc>
                  <a:txBody>
                    <a:bodyPr wrap="square"/>
                    <a:lstStyle/>
                    <a:p>
                      <a:pPr>
                        <a:defRPr sz="1000">
                          <a:latin typeface="Calibri"/>
                        </a:defRPr>
                      </a:pPr>
                      <a:r>
                        <a:t>Conduct a comprehensive VAVE analysis on the vehicle's sensor array, focusing on consolidation and integration to reduce component count, wiring complexity, and assembly time. Evaluate if multiple discrete temperature and pressure sensors in a specific system (e.g., engine, gearbox, or aerodynamic surfaces) can be replaced by a single, integrated smart sensor module that provides both measurements and potentially performs on-board data correlation and comparison. Investigate the use of sensor fusion algorithms to combine data from lower-cost, less precise sensors to achieve the accuracy and reliability of a single high-cost sensor, by comparing their combined outputs against a known benchmark. For example, replacing a bespoke, high-cost load cell with a combination of strategically placed strain gauges and an accelerometer, using software to compare and correlate their outputs for equivalent measurements. Source: [https://www.f1technical.net/forum/viewtopic.php?t=32054&amp;start=7905]</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Conduct a comprehensive VAVE analysis on the vehicle's sensor array, focusing on consolidation and integration to reduce component count, wiring complexity, and assembly time. Evaluate if multiple discrete temperature and pressure sensors in a specific system (e.g., engine, gearbox, or aerodynamic surfaces) can be replaced by a single, integrated smart sensor module that provides both measurements and potentially performs on-board data correlation and comparison. Investigate the use of sensor fusion algorithms to combine data from lower-cost, less precise sensors to achieve the accuracy and reliability of a single high-cost sensor, by comparing their combined outputs against a known benchmark. For example, replacing a bespoke, high-cost load cell with a combination of strategically placed strain gauges and an accelerometer, using software to compare and correlate their outputs for equivalent measurements. Source: [https://www.f1technical.net/forum/viewtopic.php?t=32054&amp;start=7905]</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WEB-GEN-03</a:t>
                      </a:r>
                    </a:p>
                  </a:txBody>
                  <a:tcPr/>
                </a:tc>
                <a:tc>
                  <a:txBody>
                    <a:bodyPr wrap="square"/>
                    <a:lstStyle/>
                    <a:p>
                      <a:pPr>
                        <a:defRPr sz="1000">
                          <a:latin typeface="Calibri"/>
                        </a:defRPr>
                      </a:pPr>
                      <a:r>
                        <a:t>Leverage Feedback-Driven Iterative Design for Efficient Material/Process Comparison</a:t>
                      </a:r>
                    </a:p>
                  </a:txBody>
                  <a:tcPr/>
                </a:tc>
                <a:tc>
                  <a:txBody>
                    <a:bodyPr wrap="square"/>
                    <a:lstStyle/>
                    <a:p>
                      <a:pPr>
                        <a:defRPr sz="1000">
                          <a:latin typeface="Calibri"/>
                        </a:defRPr>
                      </a:pPr>
                      <a:r>
                        <a:t>Establish an agile design process that rapidly incorporates driver and engineering feedback, along with evolving regulations, into material and process selection reviews. When feedback or new rules necessitate design adaptation (e.g., improved stiffness, reduced weight, or enhanced cooling), compare different material options (e.g., high-strength steel vs. carbon fiber composite, or conventional alloys vs. additive manufactured parts) and manufacturing processes (e.g., traditional forging vs. 3D printing) based on performance, weight, and cost trade-offs. Utilize advanced material databases and simulation tools to quickly compare properties and predict performance of these alternatives, enabling quicker, data-backed decisions on the most cost-efficient and performant material/process changes. This approach minimizes over-engineering and costly late-stage redesigns. Source: [https://www.f1technical.net/forum/viewtopic.php?t=32051&amp;start=7050]</a:t>
                      </a:r>
                    </a:p>
                  </a:txBody>
                  <a:tcPr/>
                </a:tc>
                <a:tc>
                  <a:txBody>
                    <a:bodyPr wrap="square"/>
                    <a:lstStyle/>
                    <a:p>
                      <a:pPr>
                        <a:defRPr sz="1000">
                          <a:latin typeface="Calibri"/>
                        </a:defRPr>
                      </a:pPr>
                      <a:r>
                        <a:t>0</a:t>
                      </a:r>
                    </a:p>
                  </a:txBody>
                  <a:tcPr/>
                </a:tc>
                <a:tc>
                  <a:txBody>
                    <a:bodyPr wrap="square"/>
                    <a:lstStyle/>
                    <a:p>
                      <a:pPr>
                        <a:defRPr sz="1000">
                          <a:latin typeface="Calibri"/>
                        </a:defRPr>
                      </a:pPr>
                      <a:r>
                        <a:t>Web Sourced</a:t>
                      </a:r>
                    </a:p>
                  </a:txBody>
                  <a:tcPr/>
                </a:tc>
                <a:tc>
                  <a:txBody>
                    <a:bodyPr wrap="square"/>
                    <a:lstStyle/>
                    <a:p>
                      <a:pPr>
                        <a:defRPr sz="1000">
                          <a:latin typeface="Calibri"/>
                        </a:defRPr>
                      </a:pPr>
                      <a:r>
                        <a:t>Establish an agile design process that rapidly incorporates driver and engineering feedback, along with evolving regulations, into material and process selection reviews. When feedback or new rules necessitate design adaptation (e.g., improved stiffness, reduced weight, or enhanced cooling), compare different material options (e.g., high-strength steel vs. carbon fiber composite, or conventional alloys vs. additive manufactured parts) and manufacturing processes (e.g., traditional forging vs. 3D printing) based on performance, weight, and cost trade-offs. Utilize advanced material databases and simulation tools to quickly compare properties and predict performance of these alternatives, enabling quicker, data-backed decisions on the most cost-efficient and performant material/process changes. This approach minimizes over-engineering and costly late-stage redesigns. Source: [https://www.f1technical.net/forum/viewtopic.php?t=32051&amp;start=7050]</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9</a:t>
            </a:r>
          </a:p>
          <a:p>
            <a:pPr>
              <a:defRPr sz="1000">
                <a:latin typeface="Calibri"/>
              </a:defRPr>
            </a:pPr>
            <a:r>
              <a:t>• Total Potential Savings: INR 0.00</a:t>
            </a:r>
          </a:p>
          <a:p>
            <a:pPr>
              <a:defRPr sz="1000">
                <a:latin typeface="Calibri"/>
              </a:defRPr>
            </a:pPr>
            <a:r>
              <a:t>• Implemented Ideas: 0</a:t>
            </a:r>
          </a:p>
          <a:p>
            <a:pPr>
              <a:defRPr sz="1000">
                <a:latin typeface="Calibri"/>
              </a:defRPr>
            </a:pPr>
            <a:r>
              <a:t>• Status OK: 0</a:t>
            </a:r>
          </a:p>
          <a:p>
            <a:pPr>
              <a:defRPr sz="1000">
                <a:latin typeface="Calibri"/>
              </a:defRPr>
            </a:pPr>
            <a:r>
              <a:t>• Status TBD: 0</a:t>
            </a:r>
          </a:p>
          <a:p>
            <a:pPr>
              <a:defRPr sz="1000">
                <a:latin typeface="Calibri"/>
              </a:defRPr>
            </a:pPr>
            <a:r>
              <a:t>• Status NG: 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9 ideas analyzed.</a:t>
            </a:r>
          </a:p>
          <a:p>
            <a:pPr>
              <a:defRPr sz="1800">
                <a:latin typeface="Calibri"/>
              </a:defRPr>
            </a:pPr>
            <a:r>
              <a:t>Total Savings: INR 0.00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
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Sheet1!$A$2:$A$16</c:f>
              <c:strCache>
                <c:ptCount val="15"/>
                <c:pt idx="0">
                  <c:v>2311-DA-ID-35</c:v>
                </c:pt>
                <c:pt idx="1">
                  <c:v>2311-IP-ID-16</c:v>
                </c:pt>
                <c:pt idx="2">
                  <c:v>2311-IP-ID-15</c:v>
                </c:pt>
                <c:pt idx="3">
                  <c:v>2311-IP-ID-05</c:v>
                </c:pt>
                <c:pt idx="4">
                  <c:v>2311-DA-ID-27</c:v>
                </c:pt>
                <c:pt idx="5">
                  <c:v>2311-HV-ID-05</c:v>
                </c:pt>
                <c:pt idx="6">
                  <c:v>2311-EL-ID-17</c:v>
                </c:pt>
                <c:pt idx="7">
                  <c:v>2311-DA-ID-33</c:v>
                </c:pt>
                <c:pt idx="8">
                  <c:v>2311-ET-ID-21</c:v>
                </c:pt>
                <c:pt idx="9">
                  <c:v>2311-IT-ID-25</c:v>
                </c:pt>
                <c:pt idx="10">
                  <c:v>AI-GEN-01</c:v>
                </c:pt>
                <c:pt idx="11">
                  <c:v>AI-GEN-01</c:v>
                </c:pt>
                <c:pt idx="12">
                  <c:v>AI-GEN-01</c:v>
                </c:pt>
                <c:pt idx="13">
                  <c:v>AI-GEN-01</c:v>
                </c:pt>
                <c:pt idx="14">
                  <c:v>AI-GEN-01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147.0</c:v>
                </c:pt>
                <c:pt idx="1">
                  <c:v>140.0</c:v>
                </c:pt>
                <c:pt idx="2">
                  <c:v>60.0</c:v>
                </c:pt>
                <c:pt idx="3">
                  <c:v>141.0</c:v>
                </c:pt>
                <c:pt idx="4">
                  <c:v>126.0</c:v>
                </c:pt>
                <c:pt idx="5">
                  <c:v>124.0</c:v>
                </c:pt>
                <c:pt idx="6">
                  <c:v>139.0</c:v>
                </c:pt>
                <c:pt idx="7">
                  <c:v>110.0</c:v>
                </c:pt>
                <c:pt idx="8">
                  <c:v>75.0</c:v>
                </c:pt>
                <c:pt idx="9">
                  <c:v>66.0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4</c:v>
                </c:pt>
                <c:pt idx="3">
                  <c:v>4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2311-DA-ID-35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PBT-GF30 with PA6-GF30 in the manufacture of the gear casings.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Consider in homeroom bucket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Hold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Consider in homeroom bucket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Ratnadeep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TBC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2311-IP-ID-16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 with ABS in the manufacture of both Instrument Cluster Fascia Decorative Trim and the IP LHS &amp; RHS Decorative Trims since the finish could be achieved on ABS-made trims as well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 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2311-IP-ID-15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 with ABS in the manufacture of IP LHS &amp; RHS Trims since the finish could be achieved on ABS-made trims as well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60.0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2311-IP-ID-05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PP+EPDM+T20 with PP+T20 in the manufacture of the dashboard upper trim of the vehicle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2311-DA-ID-27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ABS+PVC+PU with PP+PE-TD14 in the manufacture of both Front and Rear Passenger Armrest Trims of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New tooling cost from YFI to be confirmed for business case calculations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126.0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New tooling cost from YFI to be confirmed for business case calculations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Akhil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2024-02-12 00:00:00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2311-HV-ID-05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 with PP-TD40 in the manufacture of both the LH Driver Side and RH Co-Driver Side Fixed Vents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124.0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 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2311-EL-ID-17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oxygen sensors used in MGI with the oxygen sensors used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Homeroom ideas to be bunched up and taken up for implementation at program level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139.0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Hold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Homeroom ideas to be bunched up and taken up for implementation at program level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Manish Jaju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2024-02-20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2311-DA-ID-33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ABS with Talc Filled (20%) PP in the manufacture of the LH and RH Tailgate Outer Trim 2 Inner Trims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110.0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2311-ET-ID-21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PC-ABS/ with PP-T20 in the manufacture of the Front Number Plate Mounting Trim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2311-IT-ID-25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2.5mm wall thickness of the LH &amp; RH B-pillar Interior Lower Trims in MGI to 2.3mm as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66.0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pbt-gf30 with pa6-gf30 in the manufacture of existing within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90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 with abs in the manufacture of ideas within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107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 with abs in the manufacture of savings within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124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pp+epdm+t20 with pp+t20 in the manufacture of weight within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141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abs+pvc+pu with pp+pe-td14 in the manufacture of saving within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158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15</a:t>
            </a:r>
          </a:p>
          <a:p>
            <a:pPr>
              <a:defRPr sz="1000">
                <a:latin typeface="Calibri"/>
              </a:defRPr>
            </a:pPr>
            <a:r>
              <a:t>• Total Potential Savings: INR 1,128.00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0</a:t>
            </a:r>
          </a:p>
          <a:p>
            <a:pPr>
              <a:defRPr sz="1000">
                <a:latin typeface="Calibri"/>
              </a:defRPr>
            </a:pPr>
            <a:r>
              <a:t>• Status TBD: 4</a:t>
            </a:r>
          </a:p>
          <a:p>
            <a:pPr>
              <a:defRPr sz="1000">
                <a:latin typeface="Calibri"/>
              </a:defRPr>
            </a:pPr>
            <a:r>
              <a:t>• Status NG: 4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15 ideas analyzed.</a:t>
            </a:r>
          </a:p>
          <a:p>
            <a:pPr>
              <a:defRPr sz="1800">
                <a:latin typeface="Calibri"/>
              </a:defRPr>
            </a:pPr>
            <a:r>
              <a:t>Total Savings: INR 1,128.00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
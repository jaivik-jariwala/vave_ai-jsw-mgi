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Sheet1!$A$2:$A$11</c:f>
              <c:strCache>
                <c:ptCount val="10"/>
                <c:pt idx="0">
                  <c:v>2311-BIW-ID-06</c:v>
                </c:pt>
                <c:pt idx="1">
                  <c:v>2311-BIW-ID-05</c:v>
                </c:pt>
                <c:pt idx="2">
                  <c:v>2311-BIW-ID-07</c:v>
                </c:pt>
                <c:pt idx="3">
                  <c:v>2311-BIW-ID-03</c:v>
                </c:pt>
                <c:pt idx="4">
                  <c:v>2311-BIW-ID-04</c:v>
                </c:pt>
                <c:pt idx="5">
                  <c:v>2311-IT-ID-21</c:v>
                </c:pt>
                <c:pt idx="6">
                  <c:v>2311-SS-ID-12</c:v>
                </c:pt>
                <c:pt idx="7">
                  <c:v>2311-SS-ID-13</c:v>
                </c:pt>
                <c:pt idx="8">
                  <c:v>2311-SS-ID-14</c:v>
                </c:pt>
                <c:pt idx="9">
                  <c:v>2311-BA-ID-02</c:v>
                </c:pt>
              </c:strCache>
            </c:strRef>
          </c:cat>
          <c:val>
            <c:numRef>
              <c:f>Sheet1!$B$2:$B$11</c:f>
              <c:numCache>
                <c:formatCode>General</c:formatCode>
                <c:ptCount val="10"/>
                <c:pt idx="0">
                  <c:v>135.0</c:v>
                </c:pt>
                <c:pt idx="1">
                  <c:v>82.0</c:v>
                </c:pt>
                <c:pt idx="2">
                  <c:v>71.0</c:v>
                </c:pt>
                <c:pt idx="3">
                  <c:v>122.0</c:v>
                </c:pt>
                <c:pt idx="4">
                  <c:v>84.0</c:v>
                </c:pt>
                <c:pt idx="5">
                  <c:v>125.0</c:v>
                </c:pt>
                <c:pt idx="6">
                  <c:v>44.0</c:v>
                </c:pt>
                <c:pt idx="7">
                  <c:v>92.0</c:v>
                </c:pt>
                <c:pt idx="8">
                  <c:v>81.0</c:v>
                </c:pt>
                <c:pt idx="9">
                  <c:v>102.0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8</c:v>
                </c:pt>
                <c:pt idx="3">
                  <c:v>1</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2311-BIW-ID-06</a:t>
                      </a:r>
                    </a:p>
                  </a:txBody>
                  <a:tcPr/>
                </a:tc>
                <a:tc>
                  <a:txBody>
                    <a:bodyPr wrap="square"/>
                    <a:lstStyle/>
                    <a:p>
                      <a:pPr>
                        <a:defRPr sz="1000">
                          <a:latin typeface="Calibri"/>
                        </a:defRPr>
                      </a:pPr>
                      <a:r>
                        <a:t>Reduce the Paint Coating Thickness of the highlighted Roof BiW Panel from 110 - 120μm to 70 - 80μm</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2311-BIW-ID-05</a:t>
                      </a:r>
                    </a:p>
                  </a:txBody>
                  <a:tcPr/>
                </a:tc>
                <a:tc>
                  <a:txBody>
                    <a:bodyPr wrap="square"/>
                    <a:lstStyle/>
                    <a:p>
                      <a:pPr>
                        <a:defRPr sz="1000">
                          <a:latin typeface="Calibri"/>
                        </a:defRPr>
                      </a:pPr>
                      <a:r>
                        <a:t>Reduce the Paint Coating Thickness of the highlighted Front Hood BiW Panel from 160 - 170μm to 100 - 110μm</a:t>
                      </a:r>
                    </a:p>
                  </a:txBody>
                  <a:tcPr/>
                </a:tc>
                <a:tc>
                  <a:txBody>
                    <a:bodyPr wrap="square"/>
                    <a:lstStyle/>
                    <a:p>
                      <a:pPr>
                        <a:defRPr sz="1000">
                          <a:latin typeface="Calibri"/>
                        </a:defRPr>
                      </a:pPr>
                      <a:r>
                        <a:t>nan</a:t>
                      </a:r>
                    </a:p>
                  </a:txBody>
                  <a:tcPr/>
                </a:tc>
                <a:tc>
                  <a:txBody>
                    <a:bodyPr wrap="square"/>
                    <a:lstStyle/>
                    <a:p>
                      <a:pPr>
                        <a:defRPr sz="1000">
                          <a:latin typeface="Calibri"/>
                        </a:defRPr>
                      </a:pPr>
                      <a:r>
                        <a:t>INR 82.0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2311-BIW-ID-07</a:t>
                      </a:r>
                    </a:p>
                  </a:txBody>
                  <a:tcPr/>
                </a:tc>
                <a:tc>
                  <a:txBody>
                    <a:bodyPr wrap="square"/>
                    <a:lstStyle/>
                    <a:p>
                      <a:pPr>
                        <a:defRPr sz="1000">
                          <a:latin typeface="Calibri"/>
                        </a:defRPr>
                      </a:pPr>
                      <a:r>
                        <a:t>Reduce the Paint Coating Thickness of the highlighted Roof Side BiW Panels from 120 - 130μm to 100 - 110μm</a:t>
                      </a:r>
                    </a:p>
                  </a:txBody>
                  <a:tcPr/>
                </a:tc>
                <a:tc>
                  <a:txBody>
                    <a:bodyPr wrap="square"/>
                    <a:lstStyle/>
                    <a:p>
                      <a:pPr>
                        <a:defRPr sz="1000">
                          <a:latin typeface="Calibri"/>
                        </a:defRPr>
                      </a:pPr>
                      <a:r>
                        <a:t>nan</a:t>
                      </a:r>
                    </a:p>
                  </a:txBody>
                  <a:tcPr/>
                </a:tc>
                <a:tc>
                  <a:txBody>
                    <a:bodyPr wrap="square"/>
                    <a:lstStyle/>
                    <a:p>
                      <a:pPr>
                        <a:defRPr sz="1000">
                          <a:latin typeface="Calibri"/>
                        </a:defRPr>
                      </a:pPr>
                      <a:r>
                        <a:t>INR 71.0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2311-BIW-ID-03</a:t>
                      </a:r>
                    </a:p>
                  </a:txBody>
                  <a:tcPr/>
                </a:tc>
                <a:tc>
                  <a:txBody>
                    <a:bodyPr wrap="square"/>
                    <a:lstStyle/>
                    <a:p>
                      <a:pPr>
                        <a:defRPr sz="1000">
                          <a:latin typeface="Calibri"/>
                        </a:defRPr>
                      </a:pPr>
                      <a:r>
                        <a:t>Reduce the Paint Coating Thicknesses of the highlighted Front Fender and Rear Quarter Panel BiW Panels from 120 - 130μm to 85 - 95μm</a:t>
                      </a:r>
                    </a:p>
                  </a:txBody>
                  <a:tcPr/>
                </a:tc>
                <a:tc>
                  <a:txBody>
                    <a:bodyPr wrap="square"/>
                    <a:lstStyle/>
                    <a:p>
                      <a:pPr>
                        <a:defRPr sz="1000">
                          <a:latin typeface="Calibri"/>
                        </a:defRPr>
                      </a:pPr>
                      <a:r>
                        <a:t>nan</a:t>
                      </a:r>
                    </a:p>
                  </a:txBody>
                  <a:tcPr/>
                </a:tc>
                <a:tc>
                  <a:txBody>
                    <a:bodyPr wrap="square"/>
                    <a:lstStyle/>
                    <a:p>
                      <a:pPr>
                        <a:defRPr sz="1000">
                          <a:latin typeface="Calibri"/>
                        </a:defRPr>
                      </a:pPr>
                      <a:r>
                        <a:t>INR 122.0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2311-BIW-ID-04</a:t>
                      </a:r>
                    </a:p>
                  </a:txBody>
                  <a:tcPr/>
                </a:tc>
                <a:tc>
                  <a:txBody>
                    <a:bodyPr wrap="square"/>
                    <a:lstStyle/>
                    <a:p>
                      <a:pPr>
                        <a:defRPr sz="1000">
                          <a:latin typeface="Calibri"/>
                        </a:defRPr>
                      </a:pPr>
                      <a:r>
                        <a:t>Reduce the Paint Coating Thicknesses of the highlighted Front and Rear Door BiW Panels from 115 - 125μm to 80 - 90μm</a:t>
                      </a:r>
                    </a:p>
                  </a:txBody>
                  <a:tcPr/>
                </a:tc>
                <a:tc>
                  <a:txBody>
                    <a:bodyPr wrap="square"/>
                    <a:lstStyle/>
                    <a:p>
                      <a:pPr>
                        <a:defRPr sz="1000">
                          <a:latin typeface="Calibri"/>
                        </a:defRPr>
                      </a:pPr>
                      <a:r>
                        <a:t>nan</a:t>
                      </a:r>
                    </a:p>
                  </a:txBody>
                  <a:tcPr/>
                </a:tc>
                <a:tc>
                  <a:txBody>
                    <a:bodyPr wrap="square"/>
                    <a:lstStyle/>
                    <a:p>
                      <a:pPr>
                        <a:defRPr sz="1000">
                          <a:latin typeface="Calibri"/>
                        </a:defRPr>
                      </a:pPr>
                      <a:r>
                        <a:t>INR 84.0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2311-IT-ID-21</a:t>
                      </a:r>
                    </a:p>
                  </a:txBody>
                  <a:tcPr/>
                </a:tc>
                <a:tc>
                  <a:txBody>
                    <a:bodyPr wrap="square"/>
                    <a:lstStyle/>
                    <a:p>
                      <a:pPr>
                        <a:defRPr sz="1000">
                          <a:latin typeface="Calibri"/>
                        </a:defRPr>
                      </a:pPr>
                      <a:r>
                        <a:t>Process Deletion,</a:t>
                      </a:r>
                    </a:p>
                    <a:p>
                      <a:pPr>
                        <a:defRPr sz="1000">
                          <a:latin typeface="Calibri"/>
                        </a:defRPr>
                      </a:pPr>
                      <a:r>
                        <a:t>Remove the Black Painting done on the LH &amp; RH Sunroof Frame Mounts (Sunroof Mount 1, Sunroof Mount 2, Sunroof BIW-Airbag Mount)</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INR 125.0</a:t>
                      </a:r>
                    </a:p>
                  </a:txBody>
                  <a:tcPr/>
                </a:tc>
                <a:tc>
                  <a:txBody>
                    <a:bodyPr wrap="square"/>
                    <a:lstStyle/>
                    <a:p>
                      <a:pPr>
                        <a:defRPr sz="1000">
                          <a:latin typeface="Calibri"/>
                        </a:defRPr>
                      </a:pPr>
                      <a:r>
                        <a:t>Hold</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Manish</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2311-SS-ID-12</a:t>
                      </a:r>
                    </a:p>
                  </a:txBody>
                  <a:tcPr/>
                </a:tc>
                <a:tc>
                  <a:txBody>
                    <a:bodyPr wrap="square"/>
                    <a:lstStyle/>
                    <a:p>
                      <a:pPr>
                        <a:defRPr sz="1000">
                          <a:latin typeface="Calibri"/>
                        </a:defRPr>
                      </a:pPr>
                      <a:r>
                        <a:t>Process Deletion,</a:t>
                      </a:r>
                    </a:p>
                    <a:p>
                      <a:pPr>
                        <a:defRPr sz="1000">
                          <a:latin typeface="Calibri"/>
                        </a:defRPr>
                      </a:pPr>
                      <a:r>
                        <a:t>Remove the Black Painting done on the Second Row 60% and 40% Seat Base Frame Plates</a:t>
                      </a:r>
                    </a:p>
                  </a:txBody>
                  <a:tcPr/>
                </a:tc>
                <a:tc>
                  <a:txBody>
                    <a:bodyPr wrap="square"/>
                    <a:lstStyle/>
                    <a:p>
                      <a:pPr>
                        <a:defRPr sz="1000">
                          <a:latin typeface="Calibri"/>
                        </a:defRPr>
                      </a:pPr>
                      <a:r>
                        <a:t>nan</a:t>
                      </a:r>
                    </a:p>
                  </a:txBody>
                  <a:tcPr/>
                </a:tc>
                <a:tc>
                  <a:txBody>
                    <a:bodyPr wrap="square"/>
                    <a:lstStyle/>
                    <a:p>
                      <a:pPr>
                        <a:defRPr sz="1000">
                          <a:latin typeface="Calibri"/>
                        </a:defRPr>
                      </a:pPr>
                      <a:r>
                        <a:t>INR 44.0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2311-SS-ID-13</a:t>
                      </a:r>
                    </a:p>
                  </a:txBody>
                  <a:tcPr/>
                </a:tc>
                <a:tc>
                  <a:txBody>
                    <a:bodyPr wrap="square"/>
                    <a:lstStyle/>
                    <a:p>
                      <a:pPr>
                        <a:defRPr sz="1000">
                          <a:latin typeface="Calibri"/>
                        </a:defRPr>
                      </a:pPr>
                      <a:r>
                        <a:t>Process Deletion,</a:t>
                      </a:r>
                    </a:p>
                    <a:p>
                      <a:pPr>
                        <a:defRPr sz="1000">
                          <a:latin typeface="Calibri"/>
                        </a:defRPr>
                      </a:pPr>
                      <a:r>
                        <a:t>Remove the Black Painting done on the Third-Row Seat Mounting Frame</a:t>
                      </a:r>
                    </a:p>
                  </a:txBody>
                  <a:tcPr/>
                </a:tc>
                <a:tc>
                  <a:txBody>
                    <a:bodyPr wrap="square"/>
                    <a:lstStyle/>
                    <a:p>
                      <a:pPr>
                        <a:defRPr sz="1000">
                          <a:latin typeface="Calibri"/>
                        </a:defRPr>
                      </a:pPr>
                      <a:r>
                        <a:t>nan</a:t>
                      </a:r>
                    </a:p>
                  </a:txBody>
                  <a:tcPr/>
                </a:tc>
                <a:tc>
                  <a:txBody>
                    <a:bodyPr wrap="square"/>
                    <a:lstStyle/>
                    <a:p>
                      <a:pPr>
                        <a:defRPr sz="1000">
                          <a:latin typeface="Calibri"/>
                        </a:defRPr>
                      </a:pPr>
                      <a:r>
                        <a:t>INR 92.0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2311-SS-ID-14</a:t>
                      </a:r>
                    </a:p>
                  </a:txBody>
                  <a:tcPr/>
                </a:tc>
                <a:tc>
                  <a:txBody>
                    <a:bodyPr wrap="square"/>
                    <a:lstStyle/>
                    <a:p>
                      <a:pPr>
                        <a:defRPr sz="1000">
                          <a:latin typeface="Calibri"/>
                        </a:defRPr>
                      </a:pPr>
                      <a:r>
                        <a:t>Process Deletion,</a:t>
                      </a:r>
                    </a:p>
                    <a:p>
                      <a:pPr>
                        <a:defRPr sz="1000">
                          <a:latin typeface="Calibri"/>
                        </a:defRPr>
                      </a:pPr>
                      <a:r>
                        <a:t>Remove the Black Painting done on the Second-Row Seat 60% and 40% Main Bracket Cross Members</a:t>
                      </a:r>
                    </a:p>
                  </a:txBody>
                  <a:tcPr/>
                </a:tc>
                <a:tc>
                  <a:txBody>
                    <a:bodyPr wrap="square"/>
                    <a:lstStyle/>
                    <a:p>
                      <a:pPr>
                        <a:defRPr sz="1000">
                          <a:latin typeface="Calibri"/>
                        </a:defRPr>
                      </a:pPr>
                      <a:r>
                        <a:t>nan</a:t>
                      </a:r>
                    </a:p>
                  </a:txBody>
                  <a:tcPr/>
                </a:tc>
                <a:tc>
                  <a:txBody>
                    <a:bodyPr wrap="square"/>
                    <a:lstStyle/>
                    <a:p>
                      <a:pPr>
                        <a:defRPr sz="1000">
                          <a:latin typeface="Calibri"/>
                        </a:defRPr>
                      </a:pPr>
                      <a:r>
                        <a:t>INR 81.0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2311-BA-ID-02</a:t>
                      </a:r>
                    </a:p>
                  </a:txBody>
                  <a:tcPr/>
                </a:tc>
                <a:tc>
                  <a:txBody>
                    <a:bodyPr wrap="square"/>
                    <a:lstStyle/>
                    <a:p>
                      <a:pPr>
                        <a:defRPr sz="1000">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102.0</a:t>
                      </a:r>
                    </a:p>
                  </a:txBody>
                  <a:tcPr/>
                </a:tc>
                <a:tc>
                  <a:txBody>
                    <a:bodyPr wrap="square"/>
                    <a:lstStyle/>
                    <a:p>
                      <a:pPr>
                        <a:defRPr sz="1000">
                          <a:latin typeface="Calibri"/>
                        </a:defRPr>
                      </a:pPr>
                      <a:r>
                        <a:t>NG</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Manish Jaju</a:t>
                      </a:r>
                    </a:p>
                  </a:txBody>
                  <a:tcPr/>
                </a:tc>
                <a:tc>
                  <a:txBody>
                    <a:bodyPr wrap="square"/>
                    <a:lstStyle/>
                    <a:p>
                      <a:pPr>
                        <a:defRPr sz="1000">
                          <a:latin typeface="Calibri"/>
                        </a:defRPr>
                      </a:pPr>
                      <a:r>
                        <a:t>TBC</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10</a:t>
            </a:r>
          </a:p>
          <a:p>
            <a:pPr>
              <a:defRPr sz="1000">
                <a:latin typeface="Calibri"/>
              </a:defRPr>
            </a:pPr>
            <a:r>
              <a:t>• Total Potential Savings: INR 938.00</a:t>
            </a:r>
          </a:p>
          <a:p>
            <a:pPr>
              <a:defRPr sz="1000">
                <a:latin typeface="Calibri"/>
              </a:defRPr>
            </a:pPr>
            <a:r>
              <a:t>• Implemented Ideas: 0</a:t>
            </a:r>
          </a:p>
          <a:p>
            <a:pPr>
              <a:defRPr sz="1000">
                <a:latin typeface="Calibri"/>
              </a:defRPr>
            </a:pPr>
            <a:r>
              <a:t>• Status OK: 0</a:t>
            </a:r>
          </a:p>
          <a:p>
            <a:pPr>
              <a:defRPr sz="1000">
                <a:latin typeface="Calibri"/>
              </a:defRPr>
            </a:pPr>
            <a:r>
              <a:t>• Status TBD: 8</a:t>
            </a:r>
          </a:p>
          <a:p>
            <a:pPr>
              <a:defRPr sz="1000">
                <a:latin typeface="Calibri"/>
              </a:defRPr>
            </a:pPr>
            <a:r>
              <a:t>• Status NG: 1</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10 ideas analyzed.</a:t>
            </a:r>
          </a:p>
          <a:p>
            <a:pPr>
              <a:defRPr sz="1800">
                <a:latin typeface="Calibri"/>
              </a:defRPr>
            </a:pPr>
            <a:r>
              <a:t>Total Savings: INR 938.00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
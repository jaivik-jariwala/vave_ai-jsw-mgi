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Sheet1!$A$2:$A$11</c:f>
              <c:strCache>
                <c:ptCount val="10"/>
                <c:pt idx="0">
                  <c:v>2311-PRODUCT-ID-07</c:v>
                </c:pt>
                <c:pt idx="1">
                  <c:v>2311-SS-ID-02</c:v>
                </c:pt>
                <c:pt idx="2">
                  <c:v>2311-PRODUCT-ID-10</c:v>
                </c:pt>
                <c:pt idx="3">
                  <c:v>2311-SS-ID-06</c:v>
                </c:pt>
                <c:pt idx="4">
                  <c:v>2311-PRODUCT-ID-09</c:v>
                </c:pt>
                <c:pt idx="5">
                  <c:v>2311-SS-ID-03</c:v>
                </c:pt>
                <c:pt idx="6">
                  <c:v>2311-SS-ID-11</c:v>
                </c:pt>
                <c:pt idx="7">
                  <c:v>2311-IT-ID-05</c:v>
                </c:pt>
                <c:pt idx="8">
                  <c:v>2311-SS-ID-07</c:v>
                </c:pt>
                <c:pt idx="9">
                  <c:v>2311-SS-ID-04</c:v>
                </c:pt>
              </c:strCache>
            </c:strRef>
          </c:cat>
          <c:val>
            <c:numRef>
              <c:f>Sheet1!$B$2:$B$11</c:f>
              <c:numCache>
                <c:formatCode>General</c:formatCode>
                <c:ptCount val="10"/>
                <c:pt idx="0">
                  <c:v>115.0</c:v>
                </c:pt>
                <c:pt idx="1">
                  <c:v>74.0</c:v>
                </c:pt>
                <c:pt idx="2">
                  <c:v>86.0</c:v>
                </c:pt>
                <c:pt idx="3">
                  <c:v>93.0</c:v>
                </c:pt>
                <c:pt idx="4">
                  <c:v>76.0</c:v>
                </c:pt>
                <c:pt idx="5">
                  <c:v>126.0</c:v>
                </c:pt>
                <c:pt idx="6">
                  <c:v>90.0</c:v>
                </c:pt>
                <c:pt idx="7">
                  <c:v>40.0</c:v>
                </c:pt>
                <c:pt idx="8">
                  <c:v>62.0</c:v>
                </c:pt>
                <c:pt idx="9">
                  <c:v>48.0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2</c:v>
                </c:pt>
                <c:pt idx="2">
                  <c:v>0</c:v>
                </c:pt>
                <c:pt idx="3">
                  <c:v>8</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2311-PRODUCT-ID-07</a:t>
                      </a:r>
                    </a:p>
                  </a:txBody>
                  <a:tcPr/>
                </a:tc>
                <a:tc>
                  <a:txBody>
                    <a:bodyPr wrap="square"/>
                    <a:lstStyle/>
                    <a:p>
                      <a:pPr>
                        <a:defRPr sz="1000">
                          <a:latin typeface="Calibri"/>
                        </a:defRPr>
                      </a:pPr>
                      <a:r>
                        <a:t>De-content the plastic trims found protecting the top tethers from both sides of the seat as the tethers could be placed within the seat fabric itself and a slit on the same could facilitate easy access</a:t>
                      </a:r>
                    </a:p>
                  </a:txBody>
                  <a:tcPr/>
                </a:tc>
                <a:tc>
                  <a:txBody>
                    <a:bodyPr wrap="square"/>
                    <a:lstStyle/>
                    <a:p>
                      <a:pPr>
                        <a:defRPr sz="1000">
                          <a:latin typeface="Calibri"/>
                        </a:defRPr>
                      </a:pPr>
                      <a:r>
                        <a:t>Confirm on no part nuber change to avoid homologation cost</a:t>
                      </a:r>
                    </a:p>
                  </a:txBody>
                  <a:tcPr/>
                </a:tc>
                <a:tc>
                  <a:txBody>
                    <a:bodyPr wrap="square"/>
                    <a:lstStyle/>
                    <a:p>
                      <a:pPr>
                        <a:defRPr sz="1000">
                          <a:latin typeface="Calibri"/>
                        </a:defRPr>
                      </a:pPr>
                      <a:r>
                        <a:t>INR 115.0</a:t>
                      </a:r>
                    </a:p>
                  </a:txBody>
                  <a:tcPr/>
                </a:tc>
                <a:tc>
                  <a:txBody>
                    <a:bodyPr wrap="square"/>
                    <a:lstStyle/>
                    <a:p>
                      <a:pPr>
                        <a:defRPr sz="1000">
                          <a:latin typeface="Calibri"/>
                        </a:defRPr>
                      </a:pPr>
                      <a:r>
                        <a:t>OK</a:t>
                      </a:r>
                    </a:p>
                  </a:txBody>
                  <a:tcPr/>
                </a:tc>
                <a:tc>
                  <a:txBody>
                    <a:bodyPr wrap="square"/>
                    <a:lstStyle/>
                    <a:p>
                      <a:pPr>
                        <a:defRPr sz="1000">
                          <a:latin typeface="Calibri"/>
                        </a:defRPr>
                      </a:pPr>
                      <a:r>
                        <a:t>Confirm on no part nuber change to avoid homologation cost</a:t>
                      </a:r>
                    </a:p>
                  </a:txBody>
                  <a:tcPr/>
                </a:tc>
                <a:tc>
                  <a:txBody>
                    <a:bodyPr wrap="square"/>
                    <a:lstStyle/>
                    <a:p>
                      <a:pPr>
                        <a:defRPr sz="1000">
                          <a:latin typeface="Calibri"/>
                        </a:defRPr>
                      </a:pPr>
                      <a:r>
                        <a:t>Nishant</a:t>
                      </a:r>
                    </a:p>
                  </a:txBody>
                  <a:tcPr/>
                </a:tc>
                <a:tc>
                  <a:txBody>
                    <a:bodyPr wrap="square"/>
                    <a:lstStyle/>
                    <a:p>
                      <a:pPr>
                        <a:defRPr sz="1000">
                          <a:latin typeface="Calibri"/>
                        </a:defRPr>
                      </a:pPr>
                      <a:r>
                        <a:t>2024-06-17 00:00:00</a:t>
                      </a:r>
                    </a:p>
                  </a:txBody>
                  <a:tcPr/>
                </a:tc>
              </a:tr>
              <a:tr h="320040">
                <a:tc>
                  <a:txBody>
                    <a:bodyPr wrap="square"/>
                    <a:lstStyle/>
                    <a:p>
                      <a:pPr>
                        <a:defRPr sz="1000">
                          <a:latin typeface="Calibri"/>
                        </a:defRPr>
                      </a:pPr>
                      <a:r>
                        <a:t>2311-SS-ID-02</a:t>
                      </a:r>
                    </a:p>
                  </a:txBody>
                  <a:tcPr/>
                </a:tc>
                <a:tc>
                  <a:txBody>
                    <a:bodyPr wrap="square"/>
                    <a:lstStyle/>
                    <a:p>
                      <a:pPr>
                        <a:defRPr sz="1000">
                          <a:latin typeface="Calibri"/>
                        </a:defRPr>
                      </a:pPr>
                      <a:r>
                        <a:t>1. Reduce the width of the seat adjustment lever-2 from 345mm to 175mm commonising both.</a:t>
                      </a:r>
                    </a:p>
                    <a:p>
                      <a:pPr>
                        <a:defRPr sz="1000">
                          <a:latin typeface="Calibri"/>
                        </a:defRPr>
                      </a:pPr>
                      <a:r>
                        <a:t>2. Reduce the overall diameter of the bars from 13mm to 12mm.</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INR 74.0</a:t>
                      </a:r>
                    </a:p>
                  </a:txBody>
                  <a:tcPr/>
                </a:tc>
                <a:tc>
                  <a:txBody>
                    <a:bodyPr wrap="square"/>
                    <a:lstStyle/>
                    <a:p>
                      <a:pPr>
                        <a:defRPr sz="1000">
                          <a:latin typeface="Calibri"/>
                        </a:defRPr>
                      </a:pPr>
                      <a:r>
                        <a:t>NG</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2023-11-07 00:00:00</a:t>
                      </a:r>
                    </a:p>
                  </a:txBody>
                  <a:tcPr/>
                </a:tc>
              </a:tr>
              <a:tr h="320040">
                <a:tc>
                  <a:txBody>
                    <a:bodyPr wrap="square"/>
                    <a:lstStyle/>
                    <a:p>
                      <a:pPr>
                        <a:defRPr sz="1000">
                          <a:latin typeface="Calibri"/>
                        </a:defRPr>
                      </a:pPr>
                      <a:r>
                        <a:t>2311-PRODUCT-ID-10</a:t>
                      </a:r>
                    </a:p>
                  </a:txBody>
                  <a:tcPr/>
                </a:tc>
                <a:tc>
                  <a:txBody>
                    <a:bodyPr wrap="square"/>
                    <a:lstStyle/>
                    <a:p>
                      <a:pPr>
                        <a:defRPr sz="1000">
                          <a:latin typeface="Calibri"/>
                        </a:defRPr>
                      </a:pPr>
                      <a:r>
                        <a:t>Reduce the length of the Seat Release Straps found on the second and third-row seats</a:t>
                      </a:r>
                    </a:p>
                  </a:txBody>
                  <a:tcPr/>
                </a:tc>
                <a:tc>
                  <a:txBody>
                    <a:bodyPr wrap="square"/>
                    <a:lstStyle/>
                    <a:p>
                      <a:pPr>
                        <a:defRPr sz="1000">
                          <a:latin typeface="Calibri"/>
                        </a:defRPr>
                      </a:pPr>
                      <a:r>
                        <a:t>nan</a:t>
                      </a:r>
                    </a:p>
                  </a:txBody>
                  <a:tcPr/>
                </a:tc>
                <a:tc>
                  <a:txBody>
                    <a:bodyPr wrap="square"/>
                    <a:lstStyle/>
                    <a:p>
                      <a:pPr>
                        <a:defRPr sz="1000">
                          <a:latin typeface="Calibri"/>
                        </a:defRPr>
                      </a:pPr>
                      <a:r>
                        <a:t>INR 86.0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2311-SS-ID-06</a:t>
                      </a:r>
                    </a:p>
                  </a:txBody>
                  <a:tcPr/>
                </a:tc>
                <a:tc>
                  <a:txBody>
                    <a:bodyPr wrap="square"/>
                    <a:lstStyle/>
                    <a:p>
                      <a:pPr>
                        <a:defRPr sz="1000">
                          <a:latin typeface="Calibri"/>
                        </a:defRPr>
                      </a:pPr>
                      <a:r>
                        <a:t>Revise the existing seatbelt buckle housing brackets in MGI to match those in KIA, reducing the maximum width of the bracket from 33.5mm to 24mm, in line with KIA's design</a:t>
                      </a:r>
                    </a:p>
                  </a:txBody>
                  <a:tcPr/>
                </a:tc>
                <a:tc>
                  <a:txBody>
                    <a:bodyPr wrap="square"/>
                    <a:lstStyle/>
                    <a:p>
                      <a:pPr>
                        <a:defRPr sz="1000">
                          <a:latin typeface="Calibri"/>
                        </a:defRPr>
                      </a:pPr>
                      <a:r>
                        <a:t>nan</a:t>
                      </a:r>
                    </a:p>
                  </a:txBody>
                  <a:tcPr/>
                </a:tc>
                <a:tc>
                  <a:txBody>
                    <a:bodyPr wrap="square"/>
                    <a:lstStyle/>
                    <a:p>
                      <a:pPr>
                        <a:defRPr sz="1000">
                          <a:latin typeface="Calibri"/>
                        </a:defRPr>
                      </a:pPr>
                      <a:r>
                        <a:t>INR 93.0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2311-PRODUCT-ID-09</a:t>
                      </a:r>
                    </a:p>
                  </a:txBody>
                  <a:tcPr/>
                </a:tc>
                <a:tc>
                  <a:txBody>
                    <a:bodyPr wrap="square"/>
                    <a:lstStyle/>
                    <a:p>
                      <a:pPr>
                        <a:defRPr sz="1000">
                          <a:latin typeface="Calibri"/>
                        </a:defRPr>
                      </a:pPr>
                      <a:r>
                        <a:t>De-content the Plastic Protective Trims fitted onto the LHS and RHS mounting points of the third-row seats and cover the same with the fabric used on the vehicle floor.</a:t>
                      </a:r>
                    </a:p>
                  </a:txBody>
                  <a:tcPr/>
                </a:tc>
                <a:tc>
                  <a:txBody>
                    <a:bodyPr wrap="square"/>
                    <a:lstStyle/>
                    <a:p>
                      <a:pPr>
                        <a:defRPr sz="1000">
                          <a:latin typeface="Calibri"/>
                        </a:defRPr>
                      </a:pPr>
                      <a:r>
                        <a:t>Confirm on PTR plan</a:t>
                      </a:r>
                    </a:p>
                  </a:txBody>
                  <a:tcPr/>
                </a:tc>
                <a:tc>
                  <a:txBody>
                    <a:bodyPr wrap="square"/>
                    <a:lstStyle/>
                    <a:p>
                      <a:pPr>
                        <a:defRPr sz="1000">
                          <a:latin typeface="Calibri"/>
                        </a:defRPr>
                      </a:pPr>
                      <a:r>
                        <a:t>INR 76.0</a:t>
                      </a:r>
                    </a:p>
                  </a:txBody>
                  <a:tcPr/>
                </a:tc>
                <a:tc>
                  <a:txBody>
                    <a:bodyPr wrap="square"/>
                    <a:lstStyle/>
                    <a:p>
                      <a:pPr>
                        <a:defRPr sz="1000">
                          <a:latin typeface="Calibri"/>
                        </a:defRPr>
                      </a:pPr>
                      <a:r>
                        <a:t>OK</a:t>
                      </a:r>
                    </a:p>
                  </a:txBody>
                  <a:tcPr/>
                </a:tc>
                <a:tc>
                  <a:txBody>
                    <a:bodyPr wrap="square"/>
                    <a:lstStyle/>
                    <a:p>
                      <a:pPr>
                        <a:defRPr sz="1000">
                          <a:latin typeface="Calibri"/>
                        </a:defRPr>
                      </a:pPr>
                      <a:r>
                        <a:t>Confirm on PTR plan</a:t>
                      </a:r>
                    </a:p>
                  </a:txBody>
                  <a:tcPr/>
                </a:tc>
                <a:tc>
                  <a:txBody>
                    <a:bodyPr wrap="square"/>
                    <a:lstStyle/>
                    <a:p>
                      <a:pPr>
                        <a:defRPr sz="1000">
                          <a:latin typeface="Calibri"/>
                        </a:defRPr>
                      </a:pPr>
                      <a:r>
                        <a:t>Harsh</a:t>
                      </a:r>
                    </a:p>
                  </a:txBody>
                  <a:tcPr/>
                </a:tc>
                <a:tc>
                  <a:txBody>
                    <a:bodyPr wrap="square"/>
                    <a:lstStyle/>
                    <a:p>
                      <a:pPr>
                        <a:defRPr sz="1000">
                          <a:latin typeface="Calibri"/>
                        </a:defRPr>
                      </a:pPr>
                      <a:r>
                        <a:t>2024-06-14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2311-SS-ID-03</a:t>
                      </a:r>
                    </a:p>
                  </a:txBody>
                  <a:tcPr/>
                </a:tc>
                <a:tc>
                  <a:txBody>
                    <a:bodyPr wrap="square"/>
                    <a:lstStyle/>
                    <a:p>
                      <a:pPr>
                        <a:defRPr sz="1000">
                          <a:latin typeface="Calibri"/>
                        </a:defRPr>
                      </a:pPr>
                      <a:r>
                        <a:t>Substitute the Seatbelt Buckles used in the front row of the seating system in the vehicle with those employed in the second and third row LH and RH sides of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2311-SS-ID-11</a:t>
                      </a:r>
                    </a:p>
                  </a:txBody>
                  <a:tcPr/>
                </a:tc>
                <a:tc>
                  <a:txBody>
                    <a:bodyPr wrap="square"/>
                    <a:lstStyle/>
                    <a:p>
                      <a:pPr>
                        <a:defRPr sz="1000">
                          <a:latin typeface="Calibri"/>
                        </a:defRPr>
                      </a:pPr>
                      <a:r>
                        <a:t>Process Deletion,</a:t>
                      </a:r>
                    </a:p>
                    <a:p>
                      <a:pPr>
                        <a:defRPr sz="1000">
                          <a:latin typeface="Calibri"/>
                        </a:defRPr>
                      </a:pPr>
                      <a:r>
                        <a:t>Remove the Black Painting done on the Driver and Co-Driver Seat Base Support Frames</a:t>
                      </a:r>
                    </a:p>
                  </a:txBody>
                  <a:tcPr/>
                </a:tc>
                <a:tc>
                  <a:txBody>
                    <a:bodyPr wrap="square"/>
                    <a:lstStyle/>
                    <a:p>
                      <a:pPr>
                        <a:defRPr sz="1000">
                          <a:latin typeface="Calibri"/>
                        </a:defRPr>
                      </a:pPr>
                      <a:r>
                        <a:t>nan</a:t>
                      </a:r>
                    </a:p>
                  </a:txBody>
                  <a:tcPr/>
                </a:tc>
                <a:tc>
                  <a:txBody>
                    <a:bodyPr wrap="square"/>
                    <a:lstStyle/>
                    <a:p>
                      <a:pPr>
                        <a:defRPr sz="1000">
                          <a:latin typeface="Calibri"/>
                        </a:defRPr>
                      </a:pPr>
                      <a:r>
                        <a:t>INR 90.0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2311-IT-ID-05</a:t>
                      </a:r>
                    </a:p>
                  </a:txBody>
                  <a:tcPr/>
                </a:tc>
                <a:tc>
                  <a:txBody>
                    <a:bodyPr wrap="square"/>
                    <a:lstStyle/>
                    <a:p>
                      <a:pPr>
                        <a:defRPr sz="1000">
                          <a:latin typeface="Calibri"/>
                        </a:defRPr>
                      </a:pPr>
                      <a:r>
                        <a:t>Replace the TPE Coaster/Insert positioned at the base of the front centre armrest storage compartment with a Fabric one</a:t>
                      </a:r>
                    </a:p>
                  </a:txBody>
                  <a:tcPr/>
                </a:tc>
                <a:tc>
                  <a:txBody>
                    <a:bodyPr wrap="square"/>
                    <a:lstStyle/>
                    <a:p>
                      <a:pPr>
                        <a:defRPr sz="1000">
                          <a:latin typeface="Calibri"/>
                        </a:defRPr>
                      </a:pPr>
                      <a:r>
                        <a:t>nan</a:t>
                      </a:r>
                    </a:p>
                  </a:txBody>
                  <a:tcPr/>
                </a:tc>
                <a:tc>
                  <a:txBody>
                    <a:bodyPr wrap="square"/>
                    <a:lstStyle/>
                    <a:p>
                      <a:pPr>
                        <a:defRPr sz="1000">
                          <a:latin typeface="Calibri"/>
                        </a:defRPr>
                      </a:pPr>
                      <a:r>
                        <a:t>INR 40.0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2311-SS-ID-07</a:t>
                      </a:r>
                    </a:p>
                  </a:txBody>
                  <a:tcPr/>
                </a:tc>
                <a:tc>
                  <a:txBody>
                    <a:bodyPr wrap="square"/>
                    <a:lstStyle/>
                    <a:p>
                      <a:pPr>
                        <a:defRPr sz="1000">
                          <a:latin typeface="Calibri"/>
                        </a:defRPr>
                      </a:pPr>
                      <a:r>
                        <a:t>Replace the Steel Support Plates used within the second and third-row seating assemblies of MGI with Corrugated PP Panels as in KIA</a:t>
                      </a:r>
                    </a:p>
                  </a:txBody>
                  <a:tcPr/>
                </a:tc>
                <a:tc>
                  <a:txBody>
                    <a:bodyPr wrap="square"/>
                    <a:lstStyle/>
                    <a:p>
                      <a:pPr>
                        <a:defRPr sz="1000">
                          <a:latin typeface="Calibri"/>
                        </a:defRPr>
                      </a:pPr>
                      <a:r>
                        <a:t>Confirm on functionality requirement (load bearing capacity of seats)</a:t>
                      </a:r>
                    </a:p>
                  </a:txBody>
                  <a:tcPr/>
                </a:tc>
                <a:tc>
                  <a:txBody>
                    <a:bodyPr wrap="square"/>
                    <a:lstStyle/>
                    <a:p>
                      <a:pPr>
                        <a:defRPr sz="1000">
                          <a:latin typeface="Calibri"/>
                        </a:defRPr>
                      </a:pPr>
                      <a:r>
                        <a:t>INR 62.0</a:t>
                      </a:r>
                    </a:p>
                  </a:txBody>
                  <a:tcPr/>
                </a:tc>
                <a:tc>
                  <a:txBody>
                    <a:bodyPr wrap="square"/>
                    <a:lstStyle/>
                    <a:p>
                      <a:pPr>
                        <a:defRPr sz="1000">
                          <a:latin typeface="Calibri"/>
                        </a:defRPr>
                      </a:pPr>
                      <a:r>
                        <a:t>NG</a:t>
                      </a:r>
                    </a:p>
                  </a:txBody>
                  <a:tcPr/>
                </a:tc>
                <a:tc>
                  <a:txBody>
                    <a:bodyPr wrap="square"/>
                    <a:lstStyle/>
                    <a:p>
                      <a:pPr>
                        <a:defRPr sz="1000">
                          <a:latin typeface="Calibri"/>
                        </a:defRPr>
                      </a:pPr>
                      <a:r>
                        <a:t>Confirm on functionality requirement (load bearing capacity of seats)</a:t>
                      </a:r>
                    </a:p>
                  </a:txBody>
                  <a:tcPr/>
                </a:tc>
                <a:tc>
                  <a:txBody>
                    <a:bodyPr wrap="square"/>
                    <a:lstStyle/>
                    <a:p>
                      <a:pPr>
                        <a:defRPr sz="1000">
                          <a:latin typeface="Calibri"/>
                        </a:defRPr>
                      </a:pPr>
                      <a:r>
                        <a:t>Nishant/ Ratnadeep</a:t>
                      </a:r>
                    </a:p>
                  </a:txBody>
                  <a:tcPr/>
                </a:tc>
                <a:tc>
                  <a:txBody>
                    <a:bodyPr wrap="square"/>
                    <a:lstStyle/>
                    <a:p>
                      <a:pPr>
                        <a:defRPr sz="1000">
                          <a:latin typeface="Calibri"/>
                        </a:defRPr>
                      </a:pPr>
                      <a:r>
                        <a:t>2024-02-20 00:00:00</a:t>
                      </a:r>
                    </a:p>
                  </a:txBody>
                  <a:tcPr/>
                </a:tc>
              </a:tr>
              <a:tr h="320040">
                <a:tc>
                  <a:txBody>
                    <a:bodyPr wrap="square"/>
                    <a:lstStyle/>
                    <a:p>
                      <a:pPr>
                        <a:defRPr sz="1000">
                          <a:latin typeface="Calibri"/>
                        </a:defRPr>
                      </a:pPr>
                      <a:r>
                        <a:t>2311-SS-ID-04</a:t>
                      </a:r>
                    </a:p>
                  </a:txBody>
                  <a:tcPr/>
                </a:tc>
                <a:tc>
                  <a:txBody>
                    <a:bodyPr wrap="square"/>
                    <a:lstStyle/>
                    <a:p>
                      <a:pPr>
                        <a:defRPr sz="1000">
                          <a:latin typeface="Calibri"/>
                        </a:defRPr>
                      </a:pPr>
                      <a:r>
                        <a:t>Substitute the leather upholstery on the left-hand (LH) and right-hand (RH) sides of the third-row seat bases with the same fabric utilized on the LH and RH sides of the corresponding backrests</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INR 48.0</a:t>
                      </a:r>
                    </a:p>
                  </a:txBody>
                  <a:tcPr/>
                </a:tc>
                <a:tc>
                  <a:txBody>
                    <a:bodyPr wrap="square"/>
                    <a:lstStyle/>
                    <a:p>
                      <a:pPr>
                        <a:defRPr sz="1000">
                          <a:latin typeface="Calibri"/>
                        </a:defRPr>
                      </a:pPr>
                      <a:r>
                        <a:t>NG</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2023-11-10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10</a:t>
            </a:r>
          </a:p>
          <a:p>
            <a:pPr>
              <a:defRPr sz="1000">
                <a:latin typeface="Calibri"/>
              </a:defRPr>
            </a:pPr>
            <a:r>
              <a:t>• Total Potential Savings: INR 810.00</a:t>
            </a:r>
          </a:p>
          <a:p>
            <a:pPr>
              <a:defRPr sz="1000">
                <a:latin typeface="Calibri"/>
              </a:defRPr>
            </a:pPr>
            <a:r>
              <a:t>• Implemented Ideas: 0</a:t>
            </a:r>
          </a:p>
          <a:p>
            <a:pPr>
              <a:defRPr sz="1000">
                <a:latin typeface="Calibri"/>
              </a:defRPr>
            </a:pPr>
            <a:r>
              <a:t>• Status OK: 2</a:t>
            </a:r>
          </a:p>
          <a:p>
            <a:pPr>
              <a:defRPr sz="1000">
                <a:latin typeface="Calibri"/>
              </a:defRPr>
            </a:pPr>
            <a:r>
              <a:t>• Status TBD: 0</a:t>
            </a:r>
          </a:p>
          <a:p>
            <a:pPr>
              <a:defRPr sz="1000">
                <a:latin typeface="Calibri"/>
              </a:defRPr>
            </a:pPr>
            <a:r>
              <a:t>• Status NG: 8</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10 ideas analyzed.</a:t>
            </a:r>
          </a:p>
          <a:p>
            <a:pPr>
              <a:defRPr sz="1800">
                <a:latin typeface="Calibri"/>
              </a:defRPr>
            </a:pPr>
            <a:r>
              <a:t>Total Savings: INR 810.00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
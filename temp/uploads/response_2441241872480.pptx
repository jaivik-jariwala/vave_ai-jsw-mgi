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AI-GEN-01</c:v>
                </c:pt>
                <c:pt idx="1">
                  <c:v>AI-GEN-02</c:v>
                </c:pt>
                <c:pt idx="2">
                  <c:v>AI-GEN-03</c:v>
                </c:pt>
                <c:pt idx="3">
                  <c:v>AI-GEN-04</c:v>
                </c:pt>
                <c:pt idx="4">
                  <c:v>AI-GEN-05</c:v>
                </c:pt>
                <c:pt idx="5">
                  <c:v>AI-GEN-06</c:v>
                </c:pt>
              </c:strCache>
            </c:strRef>
          </c:cat>
          <c:val>
            <c:numRef>
              <c:f>Sheet1!$B$2:$B$7</c:f>
              <c:numCache>
                <c:formatCode>General</c:formatCode>
                <c:ptCount val="6"/>
                <c:pt idx="0">
                  <c:v>0</c:v>
                </c:pt>
                <c:pt idx="1">
                  <c:v>0</c:v>
                </c:pt>
                <c:pt idx="2">
                  <c:v>0</c:v>
                </c:pt>
                <c:pt idx="3">
                  <c:v>0</c:v>
                </c:pt>
                <c:pt idx="4">
                  <c:v>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a single-piece forged control arm with integrated ball joint housing, eliminating the need for separate welding and machining operations for the ball joint boss.</a:t>
                      </a:r>
                    </a:p>
                  </a:txBody>
                  <a:tcPr/>
                </a:tc>
                <a:tc>
                  <a:txBody>
                    <a:bodyPr wrap="square"/>
                    <a:lstStyle/>
                    <a:p>
                      <a:pPr>
                        <a:defRPr sz="1000">
                          <a:latin typeface="Calibri"/>
                        </a:defRPr>
                      </a:pPr>
                      <a:r>
                        <a:t>The fundamental principle here is reducing part count and manufacturing steps. Current control arms often involve stamping or casting, followed by separate machining and welding to attach the ball joint housing. A single-piece forging allows for complex geometries to be formed in one operation, directly incorporating the ball joint seat. This eliminates the need for welding, which introduces residual stresses and potential failure points, and reduces machining time. The material selected will be a high-strength steel alloy (e.g., 42CrMo4) optimized for forging and fatigue performance. Validation will involve detailed Finite Element Analysis (FEA) to verify stress distribution and fatigue life under extreme load cases (e.g., jounce, rebound, cornering). Physical testing will include static load tests to yield, fatigue testing simulating 200,000 km of driving cycles on a shaker rig, and dimensional checks to ensure tight tolerances. The target saving is driven by reduced manufacturing complexity, less material waste from secondary operations, and faster cycle times. We will also explore powder metallurgy for lower volume applications or complex geometries not feasible with forging.</a:t>
                      </a:r>
                    </a:p>
                  </a:txBody>
                  <a:tcPr/>
                </a:tc>
                <a:tc>
                  <a:txBody>
                    <a:bodyPr wrap="square"/>
                    <a:lstStyle/>
                    <a:p>
                      <a:pPr>
                        <a:defRPr sz="1000">
                          <a:latin typeface="Calibri"/>
                        </a:defRPr>
                      </a:pPr>
                      <a:r>
                        <a:t>25</a:t>
                      </a:r>
                    </a:p>
                  </a:txBody>
                  <a:tcPr/>
                </a:tc>
                <a:tc>
                  <a:txBody>
                    <a:bodyPr wrap="square"/>
                    <a:lstStyle/>
                    <a:p>
                      <a:pPr>
                        <a:defRPr sz="1000">
                          <a:latin typeface="Calibri"/>
                        </a:defRPr>
                      </a:pPr>
                      <a:r>
                        <a:t>AI Proposal</a:t>
                      </a:r>
                    </a:p>
                  </a:txBody>
                  <a:tcPr/>
                </a:tc>
                <a:tc>
                  <a:txBody>
                    <a:bodyPr wrap="square"/>
                    <a:lstStyle/>
                    <a:p>
                      <a:pPr>
                        <a:defRPr sz="1000">
                          <a:latin typeface="Calibri"/>
                        </a:defRPr>
                      </a:pPr>
                      <a:r>
                        <a:t>The fundamental principle here is reducing part count and manufacturing steps. Current control arms often involve stamping or casting, followed by separate machining and welding to attach the ball joint housing. A single-piece forging allows for complex geometries to be formed in one operation, directly incorporating the ball joint seat. This eliminates the need for welding, which introduces residual stresses and potential failure points, and reduces machining time. The material selected will be a high-strength steel alloy (e.g., 42CrMo4) optimized for forging and fatigue performance. Validation will involve detailed Finite Element Analysis (FEA) to verify stress distribution and fatigue life under extreme load cases (e.g., jounce, rebound, cornering). Physical testing will include static load tests to yield, fatigue testing simulating 200,000 km of driving cycles on a shaker rig, and dimensional checks to ensure tight tolerances. The target saving is driven by reduced manufacturing complexity, less material waste from secondary operations, and faster cycle times. We will also explore powder metallurgy for lower volume applications or complex geometries not feasible with forging.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Replace traditional rubber bushings in sway bar links with a dual-durometer thermoplastic elastomer (TPE) composite, utilizing a softer inner layer for vibration isolation and a stiffer outer layer for structural integrity.</a:t>
                      </a:r>
                    </a:p>
                  </a:txBody>
                  <a:tcPr/>
                </a:tc>
                <a:tc>
                  <a:txBody>
                    <a:bodyPr wrap="square"/>
                    <a:lstStyle/>
                    <a:p>
                      <a:pPr>
                        <a:defRPr sz="1000">
                          <a:latin typeface="Calibri"/>
                        </a:defRPr>
                      </a:pPr>
                      <a:r>
                        <a:t>The core principle is to leverage material science to achieve multiple functional requirements in a single component, replacing multiple distinct parts or complex assemblies. Rubber bushings require specific compounding for damping and durability, often leading to compromises. A dual-durometer TPE can be co-extruded or overmolded, creating a seamless transition between the soft and stiff zones. The soft inner layer will absorb high-frequency vibrations and noise, while the stiffer outer layer will resist shear forces and maintain precise suspension geometry during cornering. This eliminates potential delamination issues associated with bonded rubber-metal components and simplifies assembly. Validation will include material characterization of the TPE for creep, rebound, and thermal stability. Dynamic mechanical analysis (DMA) will be performed to quantify damping characteristics and stiffness across a range of frequencies and temperatures. Fatigue testing on a specialized rig simulating road inputs will be conducted. Analytical models will predict bushing performance and NVH characteristics. Target savings are derived from material cost reduction (TPE vs. specialized rubber compounds and metal inserts) and simplified manufacturing processes.</a:t>
                      </a:r>
                    </a:p>
                  </a:txBody>
                  <a:tcPr/>
                </a:tc>
                <a:tc>
                  <a:txBody>
                    <a:bodyPr wrap="square"/>
                    <a:lstStyle/>
                    <a:p>
                      <a:pPr>
                        <a:defRPr sz="1000">
                          <a:latin typeface="Calibri"/>
                        </a:defRPr>
                      </a:pPr>
                      <a:r>
                        <a:t>22</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core principle is to leverage material science to achieve multiple functional requirements in a single component, replacing multiple distinct parts or complex assemblies. Rubber bushings require specific compounding for damping and durability, often leading to compromises. A dual-durometer TPE can be co-extruded or overmolded, creating a seamless transition between the soft and stiff zones. The soft inner layer will absorb high-frequency vibrations and noise, while the stiffer outer layer will resist shear forces and maintain precise suspension geometry during cornering. This eliminates potential delamination issues associated with bonded rubber-metal components and simplifies assembly. Validation will include material characterization of the TPE for creep, rebound, and thermal stability. Dynamic mechanical analysis (DMA) will be performed to quantify damping characteristics and stiffness across a range of frequencies and temperatures. Fatigue testing on a specialized rig simulating road inputs will be conducted. Analytical models will predict bushing performance and NVH characteristics. Target savings are derived from material cost reduction (TPE vs. specialized rubber compounds and metal inserts) and simplified manufacturing processes.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Adopt a filament-wound composite material for stabilizer bar (anti-roll bar) construction, replacing traditional steel, to achieve equivalent stiffness with significantly reduced mass.</a:t>
                      </a:r>
                    </a:p>
                  </a:txBody>
                  <a:tcPr/>
                </a:tc>
                <a:tc>
                  <a:txBody>
                    <a:bodyPr wrap="square"/>
                    <a:lstStyle/>
                    <a:p>
                      <a:pPr>
                        <a:defRPr sz="1000">
                          <a:latin typeface="Calibri"/>
                        </a:defRPr>
                      </a:pPr>
                      <a:r>
                        <a:t>This idea is based on the principle of exploiting anisotropic material properties for superior stiffness-to-weight ratios. Steel bars achieve stiffness through their cross-sectional geometry and high Young's modulus. Filament winding allows for precise placement of high-strength fibers (e.g., carbon fiber or glass fiber) within a thermoset resin matrix, orienting them optimally to resist the torsional loads experienced by a stabilizer bar. This leads to a much lower mass for the same torsional stiffness or significantly higher stiffness for the same mass. The filament winding process can also be optimized for specific loading profiles, potentially reducing material usage. Validation will involve detailed FEA to model the composite's anisotropic behavior and predict torsional rigidity. Experimental validation will include static torsional testing to measure stiffness and ultimate torque capacity, as well as fatigue testing to ensure long-term durability. Accelerated aging tests will assess performance under various environmental conditions. The saving value is driven by the substantial weight reduction, leading to improved fuel efficiency and handling dynamics, and a potentially lower per-unit material cost at scale when fiber costs decrease.</a:t>
                      </a:r>
                    </a:p>
                  </a:txBody>
                  <a:tcPr/>
                </a:tc>
                <a:tc>
                  <a:txBody>
                    <a:bodyPr wrap="square"/>
                    <a:lstStyle/>
                    <a:p>
                      <a:pPr>
                        <a:defRPr sz="1000">
                          <a:latin typeface="Calibri"/>
                        </a:defRPr>
                      </a:pPr>
                      <a:r>
                        <a:t>30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idea is based on the principle of exploiting anisotropic material properties for superior stiffness-to-weight ratios. Steel bars achieve stiffness through their cross-sectional geometry and high Young's modulus. Filament winding allows for precise placement of high-strength fibers (e.g., carbon fiber or glass fiber) within a thermoset resin matrix, orienting them optimally to resist the torsional loads experienced by a stabilizer bar. This leads to a much lower mass for the same torsional stiffness or significantly higher stiffness for the same mass. The filament winding process can also be optimized for specific loading profiles, potentially reducing material usage. Validation will involve detailed FEA to model the composite's anisotropic behavior and predict torsional rigidity. Experimental validation will include static torsional testing to measure stiffness and ultimate torque capacity, as well as fatigue testing to ensure long-term durability. Accelerated aging tests will assess performance under various environmental conditions. The saving value is driven by the substantial weight reduction, leading to improved fuel efficiency and handling dynamics, and a potentially lower per-unit material cost at scale when fiber costs decrease.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Design a modular ball joint system where the wear components (ball stud and socket liner) are replaceable, allowing for extended service life and reduced overall ownership cost, and potentially enabling a lower initial component cost.</a:t>
                      </a:r>
                    </a:p>
                  </a:txBody>
                  <a:tcPr/>
                </a:tc>
                <a:tc>
                  <a:txBody>
                    <a:bodyPr wrap="square"/>
                    <a:lstStyle/>
                    <a:p>
                      <a:pPr>
                        <a:defRPr sz="1000">
                          <a:latin typeface="Calibri"/>
                        </a:defRPr>
                      </a:pPr>
                      <a:r>
                        <a:t>The underlying principle is to separate the high-wear elements from the structural housing, enabling targeted replacement and reducing the need to replace the entire assembly. Traditional ball joints are typically sealed units. This proposal involves a robust, perhaps forged, housing that securely retains a replaceable socket liner and a precisely machined ball stud. The socket liner material will be a low-friction, high-wear-resistant polymer (e.g., PTFE-based composite) or a specialized bearing material. The ball stud will be hardened steel. The critical aspect is the sealing mechanism between the housing and the replaceable components to prevent ingress of contaminants and retain lubrication. Validation will involve extensive wear testing of the chosen socket liner material against the ball stud under various lubrication conditions and load cycles. Fatigue testing of the housing and retention mechanism will be paramount. The serviceability aspect will require design for ease of replacement by technicians. The target saving is a combination of a potentially lower initial component cost (as expensive, integrated wear surfaces are avoided) and significant lifetime cost savings for the end-user, which can influence vehicle pricing strategies. Further, the housing can be made from a less expensive but durable material if the wear surface is independent.</a:t>
                      </a:r>
                    </a:p>
                  </a:txBody>
                  <a:tcPr/>
                </a:tc>
                <a:tc>
                  <a:txBody>
                    <a:bodyPr wrap="square"/>
                    <a:lstStyle/>
                    <a:p>
                      <a:pPr>
                        <a:defRPr sz="1000">
                          <a:latin typeface="Calibri"/>
                        </a:defRPr>
                      </a:pPr>
                      <a:r>
                        <a:t>20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underlying principle is to separate the high-wear elements from the structural housing, enabling targeted replacement and reducing the need to replace the entire assembly. Traditional ball joints are typically sealed units. This proposal involves a robust, perhaps forged, housing that securely retains a replaceable socket liner and a precisely machined ball stud. The socket liner material will be a low-friction, high-wear-resistant polymer (e.g., PTFE-based composite) or a specialized bearing material. The ball stud will be hardened steel. The critical aspect is the sealing mechanism between the housing and the replaceable components to prevent ingress of contaminants and retain lubrication. Validation will involve extensive wear testing of the chosen socket liner material against the ball stud under various lubrication conditions and load cycles. Fatigue testing of the housing and retention mechanism will be paramount. The serviceability aspect will require design for ease of replacement by technicians. The target saving is a combination of a potentially lower initial component cost (as expensive, integrated wear surfaces are avoided) and significant lifetime cost savings for the end-user, which can influence vehicle pricing strategies. Further, the housing can be made from a less expensive but durable material if the wear surface is independent.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Develop an integrated control arm and knuckle assembly using additive manufacturing (3D printing) with optimized lattice structures for weight reduction and tailored stiffness, particularly for performance or electric vehicle applications.</a:t>
                      </a:r>
                    </a:p>
                  </a:txBody>
                  <a:tcPr/>
                </a:tc>
                <a:tc>
                  <a:txBody>
                    <a:bodyPr wrap="square"/>
                    <a:lstStyle/>
                    <a:p>
                      <a:pPr>
                        <a:defRPr sz="1000">
                          <a:latin typeface="Calibri"/>
                        </a:defRPr>
                      </a:pPr>
                      <a:r>
                        <a:t>This idea is grounded in the principles of generative design and advanced manufacturing to achieve unprecedented geometric complexity and mass optimization. Additive manufacturing allows for the creation of highly complex, organic shapes that are impossible with traditional subtractive or formative processes. Lattice structures can be designed to provide stiffness only where needed, significantly reducing the overall material volume and weight. This also allows for tailoring the local stiffness characteristics of the component to better match the demands of specific suspension dynamics. The material would likely be a high-strength aluminum alloy or a titanium alloy suitable for additive manufacturing. Validation will involve extensive FEA, including simulations of the additive manufacturing process itself to account for potential distortions and residual stresses. Material characterization of the printed parts will be crucial. Rigorous static and dynamic fatigue testing will be performed, focusing on the interfaces and the lattice structures. The cost saving, while potentially higher in initial investment for AM equipment, comes from drastically reduced material usage, elimination of multiple assembly steps, and the potential for on-demand production. The significantly reduced weight offers substantial benefits in terms of vehicle performance and efficiency.</a:t>
                      </a:r>
                    </a:p>
                  </a:txBody>
                  <a:tcPr/>
                </a:tc>
                <a:tc>
                  <a:txBody>
                    <a:bodyPr wrap="square"/>
                    <a:lstStyle/>
                    <a:p>
                      <a:pPr>
                        <a:defRPr sz="1000">
                          <a:latin typeface="Calibri"/>
                        </a:defRPr>
                      </a:pPr>
                      <a:r>
                        <a:t>40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idea is grounded in the principles of generative design and advanced manufacturing to achieve unprecedented geometric complexity and mass optimization. Additive manufacturing allows for the creation of highly complex, organic shapes that are impossible with traditional subtractive or formative processes. Lattice structures can be designed to provide stiffness only where needed, significantly reducing the overall material volume and weight. This also allows for tailoring the local stiffness characteristics of the component to better match the demands of specific suspension dynamics. The material would likely be a high-strength aluminum alloy or a titanium alloy suitable for additive manufacturing. Validation will involve extensive FEA, including simulations of the additive manufacturing process itself to account for potential distortions and residual stresses. Material characterization of the printed parts will be crucial. Rigorous static and dynamic fatigue testing will be performed, focusing on the interfaces and the lattice structures. The cost saving, while potentially higher in initial investment for AM equipment, comes from drastically reduced material usage, elimination of multiple assembly steps, and the potential for on-demand production. The significantly reduced weight offers substantial benefits in terms of vehicle performance and efficiency.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Utilize a hydroformed tubular control arm with an optimized cross-sectional profile to achieve superior torsional and bending stiffness with reduced wall thickness compared to a stamped or solid bar design.</a:t>
                      </a:r>
                    </a:p>
                  </a:txBody>
                  <a:tcPr/>
                </a:tc>
                <a:tc>
                  <a:txBody>
                    <a:bodyPr wrap="square"/>
                    <a:lstStyle/>
                    <a:p>
                      <a:pPr>
                        <a:defRPr sz="1000">
                          <a:latin typeface="Calibri"/>
                        </a:defRPr>
                      </a:pPr>
                      <a:r>
                        <a:t>The fundamental engineering principle here is exploiting the geometric advantages of closed-section members under multi-axis loading. Hydroforming involves using high-pressure fluid to force a tube into a die cavity, creating complex shapes. A tubular hydroformed control arm offers inherent stiffness benefits over solid components due to its resistance to bending and torsion. By precisely controlling the tube's cross-section and wall thickness through hydroforming, we can eliminate unnecessary material while meeting all structural requirements. This process also allows for integrated features like mounting points or complex end-fittings to be formed directly into the tube. The material would be a high-strength steel tube (e.g., high-strength low-alloy steel). Validation will involve FEA to optimize the cross-sectional shape and wall thickness distribution for target stiffness and strength. Static load testing and fatigue testing will be conducted to verify performance under service conditions. Dimensional accuracy and surface finish will be checked. The saving value is derived from material reduction due to optimized geometry and potentially lower manufacturing costs compared to multi-piece welded assemblies. The improved stiffness can also allow for downsizing of other related suspension components.</a:t>
                      </a:r>
                    </a:p>
                  </a:txBody>
                  <a:tcPr/>
                </a:tc>
                <a:tc>
                  <a:txBody>
                    <a:bodyPr wrap="square"/>
                    <a:lstStyle/>
                    <a:p>
                      <a:pPr>
                        <a:defRPr sz="1000">
                          <a:latin typeface="Calibri"/>
                        </a:defRPr>
                      </a:pPr>
                      <a:r>
                        <a:t>28</a:t>
                      </a:r>
                    </a:p>
                  </a:txBody>
                  <a:tcPr/>
                </a:tc>
                <a:tc>
                  <a:txBody>
                    <a:bodyPr wrap="square"/>
                    <a:lstStyle/>
                    <a:p>
                      <a:pPr>
                        <a:defRPr sz="1000">
                          <a:latin typeface="Calibri"/>
                        </a:defRPr>
                      </a:pPr>
                      <a:r>
                        <a:t>AI Proposal</a:t>
                      </a:r>
                    </a:p>
                  </a:txBody>
                  <a:tcPr/>
                </a:tc>
                <a:tc>
                  <a:txBody>
                    <a:bodyPr wrap="square"/>
                    <a:lstStyle/>
                    <a:p>
                      <a:pPr>
                        <a:defRPr sz="1000">
                          <a:latin typeface="Calibri"/>
                        </a:defRPr>
                      </a:pPr>
                      <a:r>
                        <a:t>The fundamental engineering principle here is exploiting the geometric advantages of closed-section members under multi-axis loading. Hydroforming involves using high-pressure fluid to force a tube into a die cavity, creating complex shapes. A tubular hydroformed control arm offers inherent stiffness benefits over solid components due to its resistance to bending and torsion. By precisely controlling the tube's cross-section and wall thickness through hydroforming, we can eliminate unnecessary material while meeting all structural requirements. This process also allows for integrated features like mounting points or complex end-fittings to be formed directly into the tube. The material would be a high-strength steel tube (e.g., high-strength low-alloy steel). Validation will involve FEA to optimize the cross-sectional shape and wall thickness distribution for target stiffness and strength. Static load testing and fatigue testing will be conducted to verify performance under service conditions. Dimensional accuracy and surface finish will be checked. The saving value is derived from material reduction due to optimized geometry and potentially lower manufacturing costs compared to multi-piece welded assemblies. The improved stiffness can also allow for downsizing of other related suspension components.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
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pPr>
              <a:defRPr sz="1600">
                <a:latin typeface="Calibri"/>
              </a:defRPr>
            </a:pPr>
            <a:r>
              <a:t>Cost Savings by Idea</a:t>
            </a:r>
          </a:p>
        </c:rich>
      </c:tx>
      <c:layout/>
      <c:overlay val="0"/>
    </c:title>
    <c:autoTitleDeleted val="0"/>
    <c:plotArea>
      <c:barChart>
        <c:barDir val="col"/>
        <c:grouping val="clustered"/>
        <c:ser>
          <c:idx val="0"/>
          <c:order val="0"/>
          <c:tx>
            <c:strRef>
              <c:f>Sheet1!$B$1</c:f>
              <c:strCache>
                <c:ptCount val="1"/>
                <c:pt idx="0">
                  <c:v>Savings (INR)</c:v>
                </c:pt>
              </c:strCache>
            </c:strRef>
          </c:tx>
          <c:cat>
            <c:strRef>
              <c:f>Sheet1!$A$2:$A$10</c:f>
              <c:strCache>
                <c:ptCount val="9"/>
                <c:pt idx="0">
                  <c:v>AI-GEN-01</c:v>
                </c:pt>
                <c:pt idx="1">
                  <c:v>AI-GEN-02</c:v>
                </c:pt>
                <c:pt idx="2">
                  <c:v>AI-GEN-03</c:v>
                </c:pt>
                <c:pt idx="3">
                  <c:v>AI-GEN-04</c:v>
                </c:pt>
                <c:pt idx="4">
                  <c:v>AI-GEN-05</c:v>
                </c:pt>
                <c:pt idx="5">
                  <c:v>AI-GEN-06</c:v>
                </c:pt>
                <c:pt idx="6">
                  <c:v>WEB-GEN-01</c:v>
                </c:pt>
                <c:pt idx="7">
                  <c:v>WEB-GEN-02</c:v>
                </c:pt>
                <c:pt idx="8">
                  <c:v>WEB-GEN-03</c:v>
                </c:pt>
              </c:strCache>
            </c:strRef>
          </c:cat>
          <c:val>
            <c:numRef>
              <c:f>Sheet1!$B$2:$B$10</c:f>
              <c:numCache>
                <c:formatCode>General</c:formatCode>
                <c:ptCount val="9"/>
                <c:pt idx="0">
                  <c:v>0</c:v>
                </c:pt>
                <c:pt idx="1">
                  <c:v>0</c:v>
                </c:pt>
                <c:pt idx="2">
                  <c:v>0</c:v>
                </c:pt>
                <c:pt idx="3">
                  <c:v>0</c:v>
                </c:pt>
                <c:pt idx="4">
                  <c:v>0</c:v>
                </c:pt>
                <c:pt idx="5">
                  <c:v>0</c:v>
                </c:pt>
                <c:pt idx="6">
                  <c:v>0</c:v>
                </c:pt>
                <c:pt idx="7">
                  <c:v>0</c:v>
                </c:pt>
                <c:pt idx="8">
                  <c:v>0</c:v>
                </c:pt>
              </c:numCache>
            </c:numRef>
          </c:val>
        </c:ser>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legend>
      <c:legendPos val="b"/>
      <c:overlay val="0"/>
    </c:legend>
    <c:dispBlanksAs val="gap"/>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chart>
    <c:title>
      <c:tx>
        <c:rich>
          <a:bodyPr/>
          <a:lstStyle/>
          <a:p>
            <a:pPr>
              <a:defRPr sz="1600">
                <a:latin typeface="Calibri"/>
              </a:defRPr>
            </a:pPr>
            <a:r>
              <a:t>Ideas Status Distribution</a:t>
            </a:r>
          </a:p>
        </c:rich>
      </c:tx>
      <c:layout/>
      <c:overlay val="0"/>
    </c:title>
    <c:autoTitleDeleted val="0"/>
    <c:plotArea>
      <c:pieChart>
        <c:varyColors val="1"/>
        <c:ser>
          <c:idx val="0"/>
          <c:order val="0"/>
          <c:tx>
            <c:strRef>
              <c:f>Sheet1!$B$1</c:f>
              <c:strCache>
                <c:ptCount val="1"/>
                <c:pt idx="0">
                  <c:v>Status</c:v>
                </c:pt>
              </c:strCache>
            </c:strRef>
          </c:tx>
          <c:dPt>
            <c:idx val="0"/>
            <c:spPr>
              <a:solidFill>
                <a:srgbClr val="0000FF"/>
              </a:solidFill>
            </c:spPr>
          </c:dPt>
          <c:dPt>
            <c:idx val="1"/>
            <c:spPr>
              <a:solidFill>
                <a:srgbClr val="FF0000"/>
              </a:solidFill>
            </c:spPr>
          </c:dPt>
          <c:dPt>
            <c:idx val="2"/>
            <c:spPr>
              <a:solidFill>
                <a:srgbClr val="008000"/>
              </a:solidFill>
            </c:spPr>
          </c:dPt>
          <c:dPt>
            <c:idx val="3"/>
            <c:spPr>
              <a:solidFill>
                <a:srgbClr val="800080"/>
              </a:solidFill>
            </c:spPr>
          </c:dPt>
          <c:cat>
            <c:strRef>
              <c:f>Sheet1!$A$2:$A$5</c:f>
              <c:strCache>
                <c:ptCount val="4"/>
                <c:pt idx="0">
                  <c:v>Implemented</c:v>
                </c:pt>
                <c:pt idx="1">
                  <c:v>Status OK</c:v>
                </c:pt>
                <c:pt idx="2">
                  <c:v>Status TBD</c:v>
                </c:pt>
                <c:pt idx="3">
                  <c:v>Status NG</c:v>
                </c:pt>
              </c:strCache>
            </c:strRef>
          </c:cat>
          <c:val>
            <c:numRef>
              <c:f>Sheet1!$B$2:$B$5</c:f>
              <c:numCache>
                <c:formatCode>General</c:formatCode>
                <c:ptCount val="4"/>
                <c:pt idx="0">
                  <c:v>0</c:v>
                </c:pt>
                <c:pt idx="1">
                  <c:v>0</c:v>
                </c:pt>
                <c:pt idx="2">
                  <c:v>0</c:v>
                </c:pt>
                <c:pt idx="3">
                  <c:v>0</c:v>
                </c:pt>
              </c:numCache>
            </c:numRef>
          </c:val>
        </c:ser>
      </c:pieChart>
    </c:plotArea>
    <c:legend>
      <c:legendPos/>
      <c:overlay val="0"/>
    </c:legend>
    <c:dispBlanksAs val="gap"/>
  </c:chart>
  <c:txPr>
    <a:bodyPr/>
    <a:lstStyle/>
    <a:p>
      <a:pPr>
        <a:defRPr sz="1800"/>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chart" Target="../charts/char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chart" Target="../charts/char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mg.png"/>
          <p:cNvPicPr>
            <a:picLocks noChangeAspect="1"/>
          </p:cNvPicPr>
          <p:nvPr/>
        </p:nvPicPr>
        <p:blipFill>
          <a:blip r:embed="rId2"/>
          <a:stretch>
            <a:fillRect/>
          </a:stretch>
        </p:blipFill>
        <p:spPr>
          <a:xfrm>
            <a:off x="457200" y="457200"/>
            <a:ext cx="1828800" cy="1828800"/>
          </a:xfrm>
          <a:prstGeom prst="rect">
            <a:avLst/>
          </a:prstGeom>
        </p:spPr>
      </p:pic>
      <p:sp>
        <p:nvSpPr>
          <p:cNvPr id="3" name="TextBox 2"/>
          <p:cNvSpPr txBox="1"/>
          <p:nvPr/>
        </p:nvSpPr>
        <p:spPr>
          <a:xfrm>
            <a:off x="2468880" y="914400"/>
            <a:ext cx="6400800" cy="2743200"/>
          </a:xfrm>
          <a:prstGeom prst="rect">
            <a:avLst/>
          </a:prstGeom>
          <a:noFill/>
        </p:spPr>
        <p:txBody>
          <a:bodyPr wrap="square">
            <a:spAutoFit/>
          </a:bodyPr>
          <a:lstStyle/>
          <a:p/>
          <a:p>
            <a:pPr>
              <a:defRPr sz="3600" b="1">
                <a:solidFill>
                  <a:srgbClr val="DC3545"/>
                </a:solidFill>
                <a:latin typeface="Calibri"/>
              </a:defRPr>
            </a:pPr>
            <a:r>
              <a:t>JSW MG MOTOR INDIA</a:t>
            </a:r>
          </a:p>
          <a:p>
            <a:pPr>
              <a:defRPr sz="2800" b="1">
                <a:solidFill>
                  <a:srgbClr val="000000"/>
                </a:solidFill>
                <a:latin typeface="Calibri"/>
              </a:defRPr>
            </a:pPr>
            <a:r>
              <a:t>Cost Reduction Idea Analysis Presentation</a:t>
            </a:r>
          </a:p>
          <a:p>
            <a:pPr>
              <a:defRPr sz="1600">
                <a:latin typeface="Calibri"/>
              </a:defRPr>
            </a:pPr>
            <a:r>
              <a:t>Presentation generated by VAVE AI</a:t>
            </a:r>
          </a:p>
        </p:txBody>
      </p:sp>
      <p:sp>
        <p:nvSpPr>
          <p:cNvPr id="4" name="TextBox 3"/>
          <p:cNvSpPr txBox="1"/>
          <p:nvPr/>
        </p:nvSpPr>
        <p:spPr>
          <a:xfrm>
            <a:off x="5943600" y="6217920"/>
            <a:ext cx="2743200" cy="274320"/>
          </a:xfrm>
          <a:prstGeom prst="rect">
            <a:avLst/>
          </a:prstGeom>
          <a:noFill/>
        </p:spPr>
        <p:txBody>
          <a:bodyPr wrap="none">
            <a:spAutoFit/>
          </a:bodyPr>
          <a:lstStyle/>
          <a:p>
            <a:pPr algn="r">
              <a:defRPr sz="1000">
                <a:solidFill>
                  <a:srgbClr val="969696"/>
                </a:solidFill>
              </a:defRPr>
            </a:pPr>
            <a:r>
              <a:t>Generated by VAVE-AI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365760"/>
          </a:xfrm>
          <a:prstGeom prst="rect">
            <a:avLst/>
          </a:prstGeom>
          <a:noFill/>
        </p:spPr>
        <p:txBody>
          <a:bodyPr wrap="none">
            <a:spAutoFit/>
          </a:bodyPr>
          <a:lstStyle/>
          <a:p>
            <a:pPr>
              <a:defRPr sz="1000" b="1">
                <a:latin typeface="Calibri"/>
              </a:defRPr>
            </a:pPr>
            <a:r>
              <a:t>Ideas Summary (Part 1)</a:t>
            </a:r>
          </a:p>
        </p:txBody>
      </p:sp>
      <p:graphicFrame>
        <p:nvGraphicFramePr>
          <p:cNvPr id="3" name="Table 2"/>
          <p:cNvGraphicFramePr>
            <a:graphicFrameLocks noGrp="1"/>
          </p:cNvGraphicFramePr>
          <p:nvPr/>
        </p:nvGraphicFramePr>
        <p:xfrm>
          <a:off x="182880" y="640080"/>
          <a:ext cx="8778240" cy="2590800"/>
        </p:xfrm>
        <a:graphic>
          <a:graphicData uri="http://schemas.openxmlformats.org/drawingml/2006/table">
            <a:tbl>
              <a:tblPr firstRow="1" bandRow="1">
                <a:tableStyleId>{5C22544A-7EE6-4342-B048-85BDC9FD1C3A}</a:tableStyleId>
              </a:tblPr>
              <a:tblGrid>
                <a:gridCol w="731520"/>
                <a:gridCol w="2286000"/>
                <a:gridCol w="548640"/>
                <a:gridCol w="914400"/>
                <a:gridCol w="731520"/>
                <a:gridCol w="1645920"/>
                <a:gridCol w="914400"/>
                <a:gridCol w="1005840"/>
              </a:tblGrid>
              <a:tr h="990600">
                <a:tc>
                  <a:txBody>
                    <a:bodyPr wrap="square"/>
                    <a:lstStyle/>
                    <a:p>
                      <a:pPr>
                        <a:defRPr sz="1000" b="1">
                          <a:latin typeface="Calibri"/>
                        </a:defRPr>
                      </a:pPr>
                      <a:r>
                        <a:t>Idea ID</a:t>
                      </a:r>
                    </a:p>
                  </a:txBody>
                  <a:tcPr/>
                </a:tc>
                <a:tc>
                  <a:txBody>
                    <a:bodyPr wrap="square"/>
                    <a:lstStyle/>
                    <a:p>
                      <a:pPr>
                        <a:defRPr sz="1000" b="1">
                          <a:latin typeface="Calibri"/>
                        </a:defRPr>
                      </a:pPr>
                      <a:r>
                        <a:t>Proposal</a:t>
                      </a:r>
                    </a:p>
                  </a:txBody>
                  <a:tcPr/>
                </a:tc>
                <a:tc>
                  <a:txBody>
                    <a:bodyPr wrap="square"/>
                    <a:lstStyle/>
                    <a:p>
                      <a:pPr>
                        <a:defRPr sz="1000" b="1">
                          <a:latin typeface="Calibri"/>
                        </a:defRPr>
                      </a:pPr>
                      <a:r>
                        <a:t>Imp</a:t>
                      </a:r>
                    </a:p>
                  </a:txBody>
                  <a:tcPr/>
                </a:tc>
                <a:tc>
                  <a:txBody>
                    <a:bodyPr wrap="square"/>
                    <a:lstStyle/>
                    <a:p>
                      <a:pPr>
                        <a:defRPr sz="1000" b="1">
                          <a:latin typeface="Calibri"/>
                        </a:defRPr>
                      </a:pPr>
                      <a:r>
                        <a:t>Saving Value</a:t>
                      </a:r>
                    </a:p>
                  </a:txBody>
                  <a:tcPr/>
                </a:tc>
                <a:tc>
                  <a:txBody>
                    <a:bodyPr wrap="square"/>
                    <a:lstStyle/>
                    <a:p>
                      <a:pPr>
                        <a:defRPr sz="1000" b="1">
                          <a:latin typeface="Calibri"/>
                        </a:defRPr>
                      </a:pPr>
                      <a:r>
                        <a:t>Status</a:t>
                      </a:r>
                    </a:p>
                  </a:txBody>
                  <a:tcPr/>
                </a:tc>
                <a:tc>
                  <a:txBody>
                    <a:bodyPr wrap="square"/>
                    <a:lstStyle/>
                    <a:p>
                      <a:pPr>
                        <a:defRPr sz="1000" b="1">
                          <a:latin typeface="Calibri"/>
                        </a:defRPr>
                      </a:pPr>
                      <a:r>
                        <a:t>Way Forward</a:t>
                      </a:r>
                    </a:p>
                  </a:txBody>
                  <a:tcPr/>
                </a:tc>
                <a:tc>
                  <a:txBody>
                    <a:bodyPr wrap="square"/>
                    <a:lstStyle/>
                    <a:p>
                      <a:pPr>
                        <a:defRPr sz="1000" b="1">
                          <a:latin typeface="Calibri"/>
                        </a:defRPr>
                      </a:pPr>
                      <a:r>
                        <a:t>Responsibility</a:t>
                      </a:r>
                    </a:p>
                  </a:txBody>
                  <a:tcPr/>
                </a:tc>
                <a:tc>
                  <a:txBody>
                    <a:bodyPr wrap="square"/>
                    <a:lstStyle/>
                    <a:p>
                      <a:pPr>
                        <a:defRPr sz="1000" b="1">
                          <a:latin typeface="Calibri"/>
                        </a:defRPr>
                      </a:pPr>
                      <a:r>
                        <a:t>Date</a:t>
                      </a:r>
                    </a:p>
                  </a:txBody>
                  <a:tcPr/>
                </a:tc>
              </a:tr>
              <a:tr h="320040">
                <a:tc>
                  <a:txBody>
                    <a:bodyPr wrap="square"/>
                    <a:lstStyle/>
                    <a:p>
                      <a:pPr>
                        <a:defRPr sz="1000">
                          <a:latin typeface="Calibri"/>
                        </a:defRPr>
                      </a:pPr>
                      <a:r>
                        <a:t>AI-GEN-01</a:t>
                      </a:r>
                    </a:p>
                  </a:txBody>
                  <a:tcPr/>
                </a:tc>
                <a:tc>
                  <a:txBody>
                    <a:bodyPr wrap="square"/>
                    <a:lstStyle/>
                    <a:p>
                      <a:pPr>
                        <a:defRPr sz="1000">
                          <a:latin typeface="Calibri"/>
                        </a:defRPr>
                      </a:pPr>
                      <a:r>
                        <a:t>Implement a modular battery pack design utilizing standardized prismatic cells and a universal module housing, allowing for automated assembly and simplified thermal management system integration.</a:t>
                      </a:r>
                    </a:p>
                  </a:txBody>
                  <a:tcPr/>
                </a:tc>
                <a:tc>
                  <a:txBody>
                    <a:bodyPr wrap="square"/>
                    <a:lstStyle/>
                    <a:p>
                      <a:pPr>
                        <a:defRPr sz="1000">
                          <a:latin typeface="Calibri"/>
                        </a:defRPr>
                      </a:pPr>
                      <a:r>
                        <a:t>This approach leverages economies of scale by standardizing critical components, reducing part count and complexity in manufacturing. The universal housing simplifies fixturing and reduces tooling investment. Thermal management can be achieved through direct air cooling channels integrated into the module design, minimizing the need for complex liquid cooling loops. Validation will involve rigorous cycle life testing of representative modules under various temperature and charge/discharge conditions, alongside full pack abuse testing to ensure safety and durability. Finite element analysis (FEA) will be employed to optimize structural integrity and thermal performance of the module housing.</a:t>
                      </a:r>
                    </a:p>
                  </a:txBody>
                  <a:tcPr/>
                </a:tc>
                <a:tc>
                  <a:txBody>
                    <a:bodyPr wrap="square"/>
                    <a:lstStyle/>
                    <a:p>
                      <a:pPr>
                        <a:defRPr sz="1000">
                          <a:latin typeface="Calibri"/>
                        </a:defRPr>
                      </a:pPr>
                      <a:r>
                        <a:t>0</a:t>
                      </a:r>
                    </a:p>
                  </a:txBody>
                  <a:tcPr/>
                </a:tc>
                <a:tc>
                  <a:txBody>
                    <a:bodyPr wrap="square"/>
                    <a:lstStyle/>
                    <a:p>
                      <a:pPr>
                        <a:defRPr sz="1000">
                          <a:latin typeface="Calibri"/>
                        </a:defRPr>
                      </a:pPr>
                      <a:r>
                        <a:t>AI Proposal</a:t>
                      </a:r>
                    </a:p>
                  </a:txBody>
                  <a:tcPr/>
                </a:tc>
                <a:tc>
                  <a:txBody>
                    <a:bodyPr wrap="square"/>
                    <a:lstStyle/>
                    <a:p>
                      <a:pPr>
                        <a:defRPr sz="1000">
                          <a:latin typeface="Calibri"/>
                        </a:defRPr>
                      </a:pPr>
                      <a:r>
                        <a:t>This approach leverages economies of scale by standardizing critical components, reducing part count and complexity in manufacturing. The universal housing simplifies fixturing and reduces tooling investment. Thermal management can be achieved through direct air cooling channels integrated into the module design, minimizing the need for complex liquid cooling loops. Validation will involve rigorous cycle life testing of representative modules under various temperature and charge/discharge conditions, alongside full pack abuse testing to ensure safety and durability. Finite element analysis (FEA) will be employed to optimize structural integrity and thermal performance of the module housing.</a:t>
                      </a:r>
                    </a:p>
                  </a:txBody>
                  <a:tcPr/>
                </a:tc>
                <a:tc>
                  <a:txBody>
                    <a:bodyPr wrap="square"/>
                    <a:lstStyle/>
                    <a:p>
                      <a:pPr>
                        <a:defRPr sz="1000">
                          <a:latin typeface="Calibri"/>
                        </a:defRPr>
                      </a:pPr>
                      <a:r>
                        <a:t>VAVE</a:t>
                      </a:r>
                    </a:p>
                  </a:txBody>
                  <a:tcPr/>
                </a:tc>
                <a:tc>
                  <a:txBody>
                    <a:bodyPr wrap="square"/>
                    <a:lstStyle/>
                    <a:p>
                      <a:pPr>
                        <a:defRPr sz="1000">
                          <a:latin typeface="Calibri"/>
                        </a:defRPr>
                      </a:pPr>
                      <a:r>
                        <a:t>TBD</a:t>
                      </a:r>
                    </a:p>
                  </a:txBody>
                  <a:tcPr/>
                </a:tc>
              </a:tr>
              <a:tr h="320040">
                <a:tc>
                  <a:txBody>
                    <a:bodyPr wrap="square"/>
                    <a:lstStyle/>
                    <a:p>
                      <a:pPr>
                        <a:defRPr sz="1000">
                          <a:latin typeface="Calibri"/>
                        </a:defRPr>
                      </a:pPr>
                      <a:r>
                        <a:t>AI-GEN-02</a:t>
                      </a:r>
                    </a:p>
                  </a:txBody>
                  <a:tcPr/>
                </a:tc>
                <a:tc>
                  <a:txBody>
                    <a:bodyPr wrap="square"/>
                    <a:lstStyle/>
                    <a:p>
                      <a:pPr>
                        <a:defRPr sz="1000">
                          <a:latin typeface="Calibri"/>
                        </a:defRPr>
                      </a:pPr>
                      <a:r>
                        <a:t>Transition to an integrated structural battery pack where the pack enclosure also serves as a load-bearing chassis component, reducing the need for a separate subframe or battery tray.</a:t>
                      </a:r>
                    </a:p>
                  </a:txBody>
                  <a:tcPr/>
                </a:tc>
                <a:tc>
                  <a:txBody>
                    <a:bodyPr wrap="square"/>
                    <a:lstStyle/>
                    <a:p>
                      <a:pPr>
                        <a:defRPr sz="1000">
                          <a:latin typeface="Calibri"/>
                        </a:defRPr>
                      </a:pPr>
                      <a:r>
                        <a:t>By co-designing the battery enclosure with structural requirements, we can eliminate significant material and assembly costs associated with traditional mounting solutions. This requires advanced composite materials or high-strength aluminum alloys for the enclosure, coupled with robust cell-to-pack connection strategies to manage structural loads and vibration. The physics involved include stress distribution, fatigue analysis, and impact resistance. Validation will involve simulating crash scenarios using explicit dynamic FEA, conducting structural stiffness and vibration testing on prototypes, and performing electrochemical performance testing to ensure no compromises due to mechanical stress.</a:t>
                      </a:r>
                    </a:p>
                  </a:txBody>
                  <a:tcPr/>
                </a:tc>
                <a:tc>
                  <a:txBody>
                    <a:bodyPr wrap="square"/>
                    <a:lstStyle/>
                    <a:p>
                      <a:pPr>
                        <a:defRPr sz="1000">
                          <a:latin typeface="Calibri"/>
                        </a:defRPr>
                      </a:pPr>
                      <a:r>
                        <a:t>0</a:t>
                      </a:r>
                    </a:p>
                  </a:txBody>
                  <a:tcPr/>
                </a:tc>
                <a:tc>
                  <a:txBody>
                    <a:bodyPr wrap="square"/>
                    <a:lstStyle/>
                    <a:p>
                      <a:pPr>
                        <a:defRPr sz="1000">
                          <a:latin typeface="Calibri"/>
                        </a:defRPr>
                      </a:pPr>
                      <a:r>
                        <a:t>AI Proposal</a:t>
                      </a:r>
                    </a:p>
                  </a:txBody>
                  <a:tcPr/>
                </a:tc>
                <a:tc>
                  <a:txBody>
                    <a:bodyPr wrap="square"/>
                    <a:lstStyle/>
                    <a:p>
                      <a:pPr>
                        <a:defRPr sz="1000">
                          <a:latin typeface="Calibri"/>
                        </a:defRPr>
                      </a:pPr>
                      <a:r>
                        <a:t>By co-designing the battery enclosure with structural requirements, we can eliminate significant material and assembly costs associated with traditional mounting solutions. This requires advanced composite materials or high-strength aluminum alloys for the enclosure, coupled with robust cell-to-pack connection strategies to manage structural loads and vibration. The physics involved include stress distribution, fatigue analysis, and impact resistance. Validation will involve simulating crash scenarios using explicit dynamic FEA, conducting structural stiffness and vibration testing on prototypes, and performing electrochemical performance testing to ensure no compromises due to mechanical stress.</a:t>
                      </a:r>
                    </a:p>
                  </a:txBody>
                  <a:tcPr/>
                </a:tc>
                <a:tc>
                  <a:txBody>
                    <a:bodyPr wrap="square"/>
                    <a:lstStyle/>
                    <a:p>
                      <a:pPr>
                        <a:defRPr sz="1000">
                          <a:latin typeface="Calibri"/>
                        </a:defRPr>
                      </a:pPr>
                      <a:r>
                        <a:t>VAVE</a:t>
                      </a:r>
                    </a:p>
                  </a:txBody>
                  <a:tcPr/>
                </a:tc>
                <a:tc>
                  <a:txBody>
                    <a:bodyPr wrap="square"/>
                    <a:lstStyle/>
                    <a:p>
                      <a:pPr>
                        <a:defRPr sz="1000">
                          <a:latin typeface="Calibri"/>
                        </a:defRPr>
                      </a:pPr>
                      <a:r>
                        <a:t>TBD</a:t>
                      </a:r>
                    </a:p>
                  </a:txBody>
                  <a:tcPr/>
                </a:tc>
              </a:tr>
              <a:tr h="320040">
                <a:tc>
                  <a:txBody>
                    <a:bodyPr wrap="square"/>
                    <a:lstStyle/>
                    <a:p>
                      <a:pPr>
                        <a:defRPr sz="1000">
                          <a:latin typeface="Calibri"/>
                        </a:defRPr>
                      </a:pPr>
                      <a:r>
                        <a:t>AI-GEN-03</a:t>
                      </a:r>
                    </a:p>
                  </a:txBody>
                  <a:tcPr/>
                </a:tc>
                <a:tc>
                  <a:txBody>
                    <a:bodyPr wrap="square"/>
                    <a:lstStyle/>
                    <a:p>
                      <a:pPr>
                        <a:defRPr sz="1000">
                          <a:latin typeface="Calibri"/>
                        </a:defRPr>
                      </a:pPr>
                      <a:r>
                        <a:t>Develop a simplified battery management system (BMS) by leveraging advanced cell-level monitoring integrated directly into the cell manufacturing process, reducing the need for complex external wiring harnesses and distributed sensing boards.</a:t>
                      </a:r>
                    </a:p>
                  </a:txBody>
                  <a:tcPr/>
                </a:tc>
                <a:tc>
                  <a:txBody>
                    <a:bodyPr wrap="square"/>
                    <a:lstStyle/>
                    <a:p>
                      <a:pPr>
                        <a:defRPr sz="1000">
                          <a:latin typeface="Calibri"/>
                        </a:defRPr>
                      </a:pPr>
                      <a:r>
                        <a:t>This 'smart cell' approach embeds monitoring capabilities within each cell, allowing for direct communication and data aggregation. This eliminates extensive interconnects and individual monitoring circuits, reducing Bill of Materials (BOM) and assembly time. The physics focus is on reliable wireless or embedded serial communication protocols between cells and the main BMS controller, ensuring data integrity and low latency. Validation will involve extensive testing of the communication reliability under electrical noise and vibration, alongside performance verification of state-of-charge (SoC) and state-of-health (SoH) estimations derived from cell-level data, compared to traditional methods.</a:t>
                      </a:r>
                    </a:p>
                  </a:txBody>
                  <a:tcPr/>
                </a:tc>
                <a:tc>
                  <a:txBody>
                    <a:bodyPr wrap="square"/>
                    <a:lstStyle/>
                    <a:p>
                      <a:pPr>
                        <a:defRPr sz="1000">
                          <a:latin typeface="Calibri"/>
                        </a:defRPr>
                      </a:pPr>
                      <a:r>
                        <a:t>0</a:t>
                      </a:r>
                    </a:p>
                  </a:txBody>
                  <a:tcPr/>
                </a:tc>
                <a:tc>
                  <a:txBody>
                    <a:bodyPr wrap="square"/>
                    <a:lstStyle/>
                    <a:p>
                      <a:pPr>
                        <a:defRPr sz="1000">
                          <a:latin typeface="Calibri"/>
                        </a:defRPr>
                      </a:pPr>
                      <a:r>
                        <a:t>AI Proposal</a:t>
                      </a:r>
                    </a:p>
                  </a:txBody>
                  <a:tcPr/>
                </a:tc>
                <a:tc>
                  <a:txBody>
                    <a:bodyPr wrap="square"/>
                    <a:lstStyle/>
                    <a:p>
                      <a:pPr>
                        <a:defRPr sz="1000">
                          <a:latin typeface="Calibri"/>
                        </a:defRPr>
                      </a:pPr>
                      <a:r>
                        <a:t>This 'smart cell' approach embeds monitoring capabilities within each cell, allowing for direct communication and data aggregation. This eliminates extensive interconnects and individual monitoring circuits, reducing Bill of Materials (BOM) and assembly time. The physics focus is on reliable wireless or embedded serial communication protocols between cells and the main BMS controller, ensuring data integrity and low latency. Validation will involve extensive testing of the communication reliability under electrical noise and vibration, alongside performance verification of state-of-charge (SoC) and state-of-health (SoH) estimations derived from cell-level data, compared to traditional methods.</a:t>
                      </a:r>
                    </a:p>
                  </a:txBody>
                  <a:tcPr/>
                </a:tc>
                <a:tc>
                  <a:txBody>
                    <a:bodyPr wrap="square"/>
                    <a:lstStyle/>
                    <a:p>
                      <a:pPr>
                        <a:defRPr sz="1000">
                          <a:latin typeface="Calibri"/>
                        </a:defRPr>
                      </a:pPr>
                      <a:r>
                        <a:t>VAVE</a:t>
                      </a:r>
                    </a:p>
                  </a:txBody>
                  <a:tcPr/>
                </a:tc>
                <a:tc>
                  <a:txBody>
                    <a:bodyPr wrap="square"/>
                    <a:lstStyle/>
                    <a:p>
                      <a:pPr>
                        <a:defRPr sz="1000">
                          <a:latin typeface="Calibri"/>
                        </a:defRPr>
                      </a:pPr>
                      <a:r>
                        <a:t>TBD</a:t>
                      </a:r>
                    </a:p>
                  </a:txBody>
                  <a:tcPr/>
                </a:tc>
              </a:tr>
              <a:tr h="320040">
                <a:tc>
                  <a:txBody>
                    <a:bodyPr wrap="square"/>
                    <a:lstStyle/>
                    <a:p>
                      <a:pPr>
                        <a:defRPr sz="1000">
                          <a:latin typeface="Calibri"/>
                        </a:defRPr>
                      </a:pPr>
                      <a:r>
                        <a:t>AI-GEN-04</a:t>
                      </a:r>
                    </a:p>
                  </a:txBody>
                  <a:tcPr/>
                </a:tc>
                <a:tc>
                  <a:txBody>
                    <a:bodyPr wrap="square"/>
                    <a:lstStyle/>
                    <a:p>
                      <a:pPr>
                        <a:defRPr sz="1000">
                          <a:latin typeface="Calibri"/>
                        </a:defRPr>
                      </a:pPr>
                      <a:r>
                        <a:t>Employ a novel thermal interface material (TIM) with superior conductivity and self-healing properties, allowing for reduced contact pressure requirements and simplified module assembly, thereby lowering thermal management system complexity and cost.</a:t>
                      </a:r>
                    </a:p>
                  </a:txBody>
                  <a:tcPr/>
                </a:tc>
                <a:tc>
                  <a:txBody>
                    <a:bodyPr wrap="square"/>
                    <a:lstStyle/>
                    <a:p>
                      <a:pPr>
                        <a:defRPr sz="1000">
                          <a:latin typeface="Calibri"/>
                        </a:defRPr>
                      </a:pPr>
                      <a:r>
                        <a:t>Current TIMs often require high clamping forces, leading to potential cell deformation and complex assembly. By utilizing advanced phase-change or encapsulated liquid TIMs with inherent self-healing capabilities, we can achieve excellent thermal transfer with minimal force, easing assembly and reducing component stress. The underlying physics involves heat transfer dynamics, material science (viscosity, thermal conductivity, encapsulation integrity), and tribology for contact mechanics. Validation will include thermal cycling tests to assess TIM performance degradation, mechanical testing to verify clamping force reduction benefits, and long-term aging studies to confirm self-healing effectiveness and thermal performance stability.</a:t>
                      </a:r>
                    </a:p>
                  </a:txBody>
                  <a:tcPr/>
                </a:tc>
                <a:tc>
                  <a:txBody>
                    <a:bodyPr wrap="square"/>
                    <a:lstStyle/>
                    <a:p>
                      <a:pPr>
                        <a:defRPr sz="1000">
                          <a:latin typeface="Calibri"/>
                        </a:defRPr>
                      </a:pPr>
                      <a:r>
                        <a:t>0</a:t>
                      </a:r>
                    </a:p>
                  </a:txBody>
                  <a:tcPr/>
                </a:tc>
                <a:tc>
                  <a:txBody>
                    <a:bodyPr wrap="square"/>
                    <a:lstStyle/>
                    <a:p>
                      <a:pPr>
                        <a:defRPr sz="1000">
                          <a:latin typeface="Calibri"/>
                        </a:defRPr>
                      </a:pPr>
                      <a:r>
                        <a:t>AI Proposal</a:t>
                      </a:r>
                    </a:p>
                  </a:txBody>
                  <a:tcPr/>
                </a:tc>
                <a:tc>
                  <a:txBody>
                    <a:bodyPr wrap="square"/>
                    <a:lstStyle/>
                    <a:p>
                      <a:pPr>
                        <a:defRPr sz="1000">
                          <a:latin typeface="Calibri"/>
                        </a:defRPr>
                      </a:pPr>
                      <a:r>
                        <a:t>Current TIMs often require high clamping forces, leading to potential cell deformation and complex assembly. By utilizing advanced phase-change or encapsulated liquid TIMs with inherent self-healing capabilities, we can achieve excellent thermal transfer with minimal force, easing assembly and reducing component stress. The underlying physics involves heat transfer dynamics, material science (viscosity, thermal conductivity, encapsulation integrity), and tribology for contact mechanics. Validation will include thermal cycling tests to assess TIM performance degradation, mechanical testing to verify clamping force reduction benefits, and long-term aging studies to confirm self-healing effectiveness and thermal performance stability.</a:t>
                      </a:r>
                    </a:p>
                  </a:txBody>
                  <a:tcPr/>
                </a:tc>
                <a:tc>
                  <a:txBody>
                    <a:bodyPr wrap="square"/>
                    <a:lstStyle/>
                    <a:p>
                      <a:pPr>
                        <a:defRPr sz="1000">
                          <a:latin typeface="Calibri"/>
                        </a:defRPr>
                      </a:pPr>
                      <a:r>
                        <a:t>VAVE</a:t>
                      </a:r>
                    </a:p>
                  </a:txBody>
                  <a:tcPr/>
                </a:tc>
                <a:tc>
                  <a:txBody>
                    <a:bodyPr wrap="square"/>
                    <a:lstStyle/>
                    <a:p>
                      <a:pPr>
                        <a:defRPr sz="1000">
                          <a:latin typeface="Calibri"/>
                        </a:defRPr>
                      </a:pPr>
                      <a:r>
                        <a:t>TBD</a:t>
                      </a:r>
                    </a:p>
                  </a:txBody>
                  <a:tcPr/>
                </a:tc>
              </a:tr>
              <a:tr h="320040">
                <a:tc>
                  <a:txBody>
                    <a:bodyPr wrap="square"/>
                    <a:lstStyle/>
                    <a:p>
                      <a:pPr>
                        <a:defRPr sz="1000">
                          <a:latin typeface="Calibri"/>
                        </a:defRPr>
                      </a:pPr>
                      <a:r>
                        <a:t>AI-GEN-05</a:t>
                      </a:r>
                    </a:p>
                  </a:txBody>
                  <a:tcPr/>
                </a:tc>
                <a:tc>
                  <a:txBody>
                    <a:bodyPr wrap="square"/>
                    <a:lstStyle/>
                    <a:p>
                      <a:pPr>
                        <a:defRPr sz="1000">
                          <a:latin typeface="Calibri"/>
                        </a:defRPr>
                      </a:pPr>
                      <a:r>
                        <a:t>Implement a 'cell-to-chassis' direct integration strategy, eliminating intermediate module structures and inter-cell connectors by bonding cells directly to a thermally managed chassis component.</a:t>
                      </a:r>
                    </a:p>
                  </a:txBody>
                  <a:tcPr/>
                </a:tc>
                <a:tc>
                  <a:txBody>
                    <a:bodyPr wrap="square"/>
                    <a:lstStyle/>
                    <a:p>
                      <a:pPr>
                        <a:defRPr sz="1000">
                          <a:latin typeface="Calibri"/>
                        </a:defRPr>
                      </a:pPr>
                      <a:r>
                        <a:t>This extreme form of structural integration offers maximum space and weight savings by removing all module casings and associated hardware. Cells would be individually packaged and then bonded directly to a custom-designed, thermally conductive chassis element that also acts as a structural member. The critical physics involves precise control of bonding stresses, ensuring uniform thermal contact, and managing electrical isolation. Validation will be paramount, including extensive vibration and shock testing, thermal runaway propagation studies to ensure containment, and electrochemical performance monitoring under extreme operating conditions to assess cell health degradation due to mechanical or thermal stress.</a:t>
                      </a:r>
                    </a:p>
                  </a:txBody>
                  <a:tcPr/>
                </a:tc>
                <a:tc>
                  <a:txBody>
                    <a:bodyPr wrap="square"/>
                    <a:lstStyle/>
                    <a:p>
                      <a:pPr>
                        <a:defRPr sz="1000">
                          <a:latin typeface="Calibri"/>
                        </a:defRPr>
                      </a:pPr>
                      <a:r>
                        <a:t>0</a:t>
                      </a:r>
                    </a:p>
                  </a:txBody>
                  <a:tcPr/>
                </a:tc>
                <a:tc>
                  <a:txBody>
                    <a:bodyPr wrap="square"/>
                    <a:lstStyle/>
                    <a:p>
                      <a:pPr>
                        <a:defRPr sz="1000">
                          <a:latin typeface="Calibri"/>
                        </a:defRPr>
                      </a:pPr>
                      <a:r>
                        <a:t>AI Proposal</a:t>
                      </a:r>
                    </a:p>
                  </a:txBody>
                  <a:tcPr/>
                </a:tc>
                <a:tc>
                  <a:txBody>
                    <a:bodyPr wrap="square"/>
                    <a:lstStyle/>
                    <a:p>
                      <a:pPr>
                        <a:defRPr sz="1000">
                          <a:latin typeface="Calibri"/>
                        </a:defRPr>
                      </a:pPr>
                      <a:r>
                        <a:t>This extreme form of structural integration offers maximum space and weight savings by removing all module casings and associated hardware. Cells would be individually packaged and then bonded directly to a custom-designed, thermally conductive chassis element that also acts as a structural member. The critical physics involves precise control of bonding stresses, ensuring uniform thermal contact, and managing electrical isolation. Validation will be paramount, including extensive vibration and shock testing, thermal runaway propagation studies to ensure containment, and electrochemical performance monitoring under extreme operating conditions to assess cell health degradation due to mechanical or thermal stress.</a:t>
                      </a:r>
                    </a:p>
                  </a:txBody>
                  <a:tcPr/>
                </a:tc>
                <a:tc>
                  <a:txBody>
                    <a:bodyPr wrap="square"/>
                    <a:lstStyle/>
                    <a:p>
                      <a:pPr>
                        <a:defRPr sz="1000">
                          <a:latin typeface="Calibri"/>
                        </a:defRPr>
                      </a:pPr>
                      <a:r>
                        <a:t>VAVE</a:t>
                      </a:r>
                    </a:p>
                  </a:txBody>
                  <a:tcPr/>
                </a:tc>
                <a:tc>
                  <a:txBody>
                    <a:bodyPr wrap="square"/>
                    <a:lstStyle/>
                    <a:p>
                      <a:pPr>
                        <a:defRPr sz="1000">
                          <a:latin typeface="Calibri"/>
                        </a:defRPr>
                      </a:pPr>
                      <a:r>
                        <a:t>TBD</a:t>
                      </a:r>
                    </a:p>
                  </a:txBody>
                  <a:tcPr/>
                </a:tc>
              </a:tr>
            </a:tbl>
          </a:graphicData>
        </a:graphic>
      </p:graphicFrame>
      <p:sp>
        <p:nvSpPr>
          <p:cNvPr id="4" name="TextBox 3"/>
          <p:cNvSpPr txBox="1"/>
          <p:nvPr/>
        </p:nvSpPr>
        <p:spPr>
          <a:xfrm>
            <a:off x="5943600" y="6217920"/>
            <a:ext cx="2743200" cy="274320"/>
          </a:xfrm>
          <a:prstGeom prst="rect">
            <a:avLst/>
          </a:prstGeom>
          <a:noFill/>
        </p:spPr>
        <p:txBody>
          <a:bodyPr wrap="none">
            <a:spAutoFit/>
          </a:bodyPr>
          <a:lstStyle/>
          <a:p>
            <a:pPr algn="r">
              <a:defRPr sz="1000">
                <a:solidFill>
                  <a:srgbClr val="969696"/>
                </a:solidFill>
              </a:defRPr>
            </a:pPr>
            <a:r>
              <a:t>Generated by VAVE-AI</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365760"/>
          </a:xfrm>
          <a:prstGeom prst="rect">
            <a:avLst/>
          </a:prstGeom>
          <a:noFill/>
        </p:spPr>
        <p:txBody>
          <a:bodyPr wrap="none">
            <a:spAutoFit/>
          </a:bodyPr>
          <a:lstStyle/>
          <a:p>
            <a:pPr>
              <a:defRPr sz="1000" b="1">
                <a:latin typeface="Calibri"/>
              </a:defRPr>
            </a:pPr>
            <a:r>
              <a:t>Ideas Summary (Part 2)</a:t>
            </a:r>
          </a:p>
        </p:txBody>
      </p:sp>
      <p:graphicFrame>
        <p:nvGraphicFramePr>
          <p:cNvPr id="3" name="Table 2"/>
          <p:cNvGraphicFramePr>
            <a:graphicFrameLocks noGrp="1"/>
          </p:cNvGraphicFramePr>
          <p:nvPr/>
        </p:nvGraphicFramePr>
        <p:xfrm>
          <a:off x="182880" y="640080"/>
          <a:ext cx="8778240" cy="2468880"/>
        </p:xfrm>
        <a:graphic>
          <a:graphicData uri="http://schemas.openxmlformats.org/drawingml/2006/table">
            <a:tbl>
              <a:tblPr firstRow="1" bandRow="1">
                <a:tableStyleId>{5C22544A-7EE6-4342-B048-85BDC9FD1C3A}</a:tableStyleId>
              </a:tblPr>
              <a:tblGrid>
                <a:gridCol w="731520"/>
                <a:gridCol w="2286000"/>
                <a:gridCol w="548640"/>
                <a:gridCol w="914400"/>
                <a:gridCol w="731520"/>
                <a:gridCol w="1645920"/>
                <a:gridCol w="914400"/>
                <a:gridCol w="1005840"/>
              </a:tblGrid>
              <a:tr h="1188720">
                <a:tc>
                  <a:txBody>
                    <a:bodyPr wrap="square"/>
                    <a:lstStyle/>
                    <a:p>
                      <a:pPr>
                        <a:defRPr sz="1000" b="1">
                          <a:latin typeface="Calibri"/>
                        </a:defRPr>
                      </a:pPr>
                      <a:r>
                        <a:t>Idea ID</a:t>
                      </a:r>
                    </a:p>
                  </a:txBody>
                  <a:tcPr/>
                </a:tc>
                <a:tc>
                  <a:txBody>
                    <a:bodyPr wrap="square"/>
                    <a:lstStyle/>
                    <a:p>
                      <a:pPr>
                        <a:defRPr sz="1000" b="1">
                          <a:latin typeface="Calibri"/>
                        </a:defRPr>
                      </a:pPr>
                      <a:r>
                        <a:t>Proposal</a:t>
                      </a:r>
                    </a:p>
                  </a:txBody>
                  <a:tcPr/>
                </a:tc>
                <a:tc>
                  <a:txBody>
                    <a:bodyPr wrap="square"/>
                    <a:lstStyle/>
                    <a:p>
                      <a:pPr>
                        <a:defRPr sz="1000" b="1">
                          <a:latin typeface="Calibri"/>
                        </a:defRPr>
                      </a:pPr>
                      <a:r>
                        <a:t>Imp</a:t>
                      </a:r>
                    </a:p>
                  </a:txBody>
                  <a:tcPr/>
                </a:tc>
                <a:tc>
                  <a:txBody>
                    <a:bodyPr wrap="square"/>
                    <a:lstStyle/>
                    <a:p>
                      <a:pPr>
                        <a:defRPr sz="1000" b="1">
                          <a:latin typeface="Calibri"/>
                        </a:defRPr>
                      </a:pPr>
                      <a:r>
                        <a:t>Saving Value</a:t>
                      </a:r>
                    </a:p>
                  </a:txBody>
                  <a:tcPr/>
                </a:tc>
                <a:tc>
                  <a:txBody>
                    <a:bodyPr wrap="square"/>
                    <a:lstStyle/>
                    <a:p>
                      <a:pPr>
                        <a:defRPr sz="1000" b="1">
                          <a:latin typeface="Calibri"/>
                        </a:defRPr>
                      </a:pPr>
                      <a:r>
                        <a:t>Status</a:t>
                      </a:r>
                    </a:p>
                  </a:txBody>
                  <a:tcPr/>
                </a:tc>
                <a:tc>
                  <a:txBody>
                    <a:bodyPr wrap="square"/>
                    <a:lstStyle/>
                    <a:p>
                      <a:pPr>
                        <a:defRPr sz="1000" b="1">
                          <a:latin typeface="Calibri"/>
                        </a:defRPr>
                      </a:pPr>
                      <a:r>
                        <a:t>Way Forward</a:t>
                      </a:r>
                    </a:p>
                  </a:txBody>
                  <a:tcPr/>
                </a:tc>
                <a:tc>
                  <a:txBody>
                    <a:bodyPr wrap="square"/>
                    <a:lstStyle/>
                    <a:p>
                      <a:pPr>
                        <a:defRPr sz="1000" b="1">
                          <a:latin typeface="Calibri"/>
                        </a:defRPr>
                      </a:pPr>
                      <a:r>
                        <a:t>Responsibility</a:t>
                      </a:r>
                    </a:p>
                  </a:txBody>
                  <a:tcPr/>
                </a:tc>
                <a:tc>
                  <a:txBody>
                    <a:bodyPr wrap="square"/>
                    <a:lstStyle/>
                    <a:p>
                      <a:pPr>
                        <a:defRPr sz="1000" b="1">
                          <a:latin typeface="Calibri"/>
                        </a:defRPr>
                      </a:pPr>
                      <a:r>
                        <a:t>Date</a:t>
                      </a:r>
                    </a:p>
                  </a:txBody>
                  <a:tcPr/>
                </a:tc>
              </a:tr>
              <a:tr h="320040">
                <a:tc>
                  <a:txBody>
                    <a:bodyPr wrap="square"/>
                    <a:lstStyle/>
                    <a:p>
                      <a:pPr>
                        <a:defRPr sz="1000">
                          <a:latin typeface="Calibri"/>
                        </a:defRPr>
                      </a:pPr>
                      <a:r>
                        <a:t>AI-GEN-06</a:t>
                      </a:r>
                    </a:p>
                  </a:txBody>
                  <a:tcPr/>
                </a:tc>
                <a:tc>
                  <a:txBody>
                    <a:bodyPr wrap="square"/>
                    <a:lstStyle/>
                    <a:p>
                      <a:pPr>
                        <a:defRPr sz="1000">
                          <a:latin typeface="Calibri"/>
                        </a:defRPr>
                      </a:pPr>
                      <a:r>
                        <a:t>Utilize advanced laser welding techniques for inter-cell connections and busbars, enabling higher precision, reduced heat input, and increased automation compared to traditional ultrasonic welding or bolted connections.</a:t>
                      </a:r>
                    </a:p>
                  </a:txBody>
                  <a:tcPr/>
                </a:tc>
                <a:tc>
                  <a:txBody>
                    <a:bodyPr wrap="square"/>
                    <a:lstStyle/>
                    <a:p>
                      <a:pPr>
                        <a:defRPr sz="1000">
                          <a:latin typeface="Calibri"/>
                        </a:defRPr>
                      </a:pPr>
                      <a:r>
                        <a:t>Laser welding offers a localized and controlled heat source, minimizing thermal stress on sensitive cell components and enabling tighter tolerances for connections. This leads to more robust and reliable electrical pathways with reduced material usage for busbars. The physics of laser welding involves beam-material interaction, heat diffusion, and metallurgical bonding. Validation will focus on electrical resistance measurements of welded joints, tensile and shear strength testing of connections, and high-cycle vibration testing to ensure joint integrity and long-term reliability under automotive operating conditions. Metallographic analysis will be used to confirm the quality of the weld microstructure.</a:t>
                      </a:r>
                    </a:p>
                  </a:txBody>
                  <a:tcPr/>
                </a:tc>
                <a:tc>
                  <a:txBody>
                    <a:bodyPr wrap="square"/>
                    <a:lstStyle/>
                    <a:p>
                      <a:pPr>
                        <a:defRPr sz="1000">
                          <a:latin typeface="Calibri"/>
                        </a:defRPr>
                      </a:pPr>
                      <a:r>
                        <a:t>0</a:t>
                      </a:r>
                    </a:p>
                  </a:txBody>
                  <a:tcPr/>
                </a:tc>
                <a:tc>
                  <a:txBody>
                    <a:bodyPr wrap="square"/>
                    <a:lstStyle/>
                    <a:p>
                      <a:pPr>
                        <a:defRPr sz="1000">
                          <a:latin typeface="Calibri"/>
                        </a:defRPr>
                      </a:pPr>
                      <a:r>
                        <a:t>AI Proposal</a:t>
                      </a:r>
                    </a:p>
                  </a:txBody>
                  <a:tcPr/>
                </a:tc>
                <a:tc>
                  <a:txBody>
                    <a:bodyPr wrap="square"/>
                    <a:lstStyle/>
                    <a:p>
                      <a:pPr>
                        <a:defRPr sz="1000">
                          <a:latin typeface="Calibri"/>
                        </a:defRPr>
                      </a:pPr>
                      <a:r>
                        <a:t>Laser welding offers a localized and controlled heat source, minimizing thermal stress on sensitive cell components and enabling tighter tolerances for connections. This leads to more robust and reliable electrical pathways with reduced material usage for busbars. The physics of laser welding involves beam-material interaction, heat diffusion, and metallurgical bonding. Validation will focus on electrical resistance measurements of welded joints, tensile and shear strength testing of connections, and high-cycle vibration testing to ensure joint integrity and long-term reliability under automotive operating conditions. Metallographic analysis will be used to confirm the quality of the weld microstructure.</a:t>
                      </a:r>
                    </a:p>
                  </a:txBody>
                  <a:tcPr/>
                </a:tc>
                <a:tc>
                  <a:txBody>
                    <a:bodyPr wrap="square"/>
                    <a:lstStyle/>
                    <a:p>
                      <a:pPr>
                        <a:defRPr sz="1000">
                          <a:latin typeface="Calibri"/>
                        </a:defRPr>
                      </a:pPr>
                      <a:r>
                        <a:t>VAVE</a:t>
                      </a:r>
                    </a:p>
                  </a:txBody>
                  <a:tcPr/>
                </a:tc>
                <a:tc>
                  <a:txBody>
                    <a:bodyPr wrap="square"/>
                    <a:lstStyle/>
                    <a:p>
                      <a:pPr>
                        <a:defRPr sz="1000">
                          <a:latin typeface="Calibri"/>
                        </a:defRPr>
                      </a:pPr>
                      <a:r>
                        <a:t>TBD</a:t>
                      </a:r>
                    </a:p>
                  </a:txBody>
                  <a:tcPr/>
                </a:tc>
              </a:tr>
              <a:tr h="320040">
                <a:tc>
                  <a:txBody>
                    <a:bodyPr wrap="square"/>
                    <a:lstStyle/>
                    <a:p>
                      <a:pPr>
                        <a:defRPr sz="1000">
                          <a:latin typeface="Calibri"/>
                        </a:defRPr>
                      </a:pPr>
                      <a:r>
                        <a:t>WEB-GEN-01</a:t>
                      </a:r>
                    </a:p>
                  </a:txBody>
                  <a:tcPr/>
                </a:tc>
                <a:tc>
                  <a:txBody>
                    <a:bodyPr wrap="square"/>
                    <a:lstStyle/>
                    <a:p>
                      <a:pPr>
                        <a:defRPr sz="1000">
                          <a:latin typeface="Calibri"/>
                        </a:defRPr>
                      </a:pPr>
                      <a:r>
                        <a:t>Relax Specifications for Components with Minimal Performance Impact</a:t>
                      </a:r>
                    </a:p>
                  </a:txBody>
                  <a:tcPr/>
                </a:tc>
                <a:tc>
                  <a:txBody>
                    <a:bodyPr wrap="square"/>
                    <a:lstStyle/>
                    <a:p>
                      <a:pPr>
                        <a:defRPr sz="1000">
                          <a:latin typeface="Calibri"/>
                        </a:defRPr>
                      </a:pPr>
                      <a:r>
                        <a:t>Analyze components that frequently result in 'minor and accidental technical infringements' but are identified as having 'minimal or no performance' impact. Re-evaluate and relax overly stringent engineering specifications, such as tight manufacturing tolerances or high-grade material selections, where these do not contribute meaningfully to critical performance. For example, substitute a specialized alloy with a standard industrial grade material or simplify a complex machining operation to a more cost-effective stamping or casting process if the resulting product still meets functional requirements without significant performance degradation. Source: [https://www.f1technical.net/forum/viewtopic.php?t=32054&amp;start=7860]</a:t>
                      </a:r>
                    </a:p>
                  </a:txBody>
                  <a:tcPr/>
                </a:tc>
                <a:tc>
                  <a:txBody>
                    <a:bodyPr wrap="square"/>
                    <a:lstStyle/>
                    <a:p>
                      <a:pPr>
                        <a:defRPr sz="1000">
                          <a:latin typeface="Calibri"/>
                        </a:defRPr>
                      </a:pPr>
                      <a:r>
                        <a:t>0</a:t>
                      </a:r>
                    </a:p>
                  </a:txBody>
                  <a:tcPr/>
                </a:tc>
                <a:tc>
                  <a:txBody>
                    <a:bodyPr wrap="square"/>
                    <a:lstStyle/>
                    <a:p>
                      <a:pPr>
                        <a:defRPr sz="1000">
                          <a:latin typeface="Calibri"/>
                        </a:defRPr>
                      </a:pPr>
                      <a:r>
                        <a:t>Web Sourced</a:t>
                      </a:r>
                    </a:p>
                  </a:txBody>
                  <a:tcPr/>
                </a:tc>
                <a:tc>
                  <a:txBody>
                    <a:bodyPr wrap="square"/>
                    <a:lstStyle/>
                    <a:p>
                      <a:pPr>
                        <a:defRPr sz="1000">
                          <a:latin typeface="Calibri"/>
                        </a:defRPr>
                      </a:pPr>
                      <a:r>
                        <a:t>Analyze components that frequently result in 'minor and accidental technical infringements' but are identified as having 'minimal or no performance' impact. Re-evaluate and relax overly stringent engineering specifications, such as tight manufacturing tolerances or high-grade material selections, where these do not contribute meaningfully to critical performance. For example, substitute a specialized alloy with a standard industrial grade material or simplify a complex machining operation to a more cost-effective stamping or casting process if the resulting product still meets functional requirements without significant performance degradation. Source: [https://www.f1technical.net/forum/viewtopic.php?t=32054&amp;start=7860]</a:t>
                      </a:r>
                    </a:p>
                  </a:txBody>
                  <a:tcPr/>
                </a:tc>
                <a:tc>
                  <a:txBody>
                    <a:bodyPr wrap="square"/>
                    <a:lstStyle/>
                    <a:p>
                      <a:pPr>
                        <a:defRPr sz="1000">
                          <a:latin typeface="Calibri"/>
                        </a:defRPr>
                      </a:pPr>
                      <a:r>
                        <a:t>VAVE</a:t>
                      </a:r>
                    </a:p>
                  </a:txBody>
                  <a:tcPr/>
                </a:tc>
                <a:tc>
                  <a:txBody>
                    <a:bodyPr wrap="square"/>
                    <a:lstStyle/>
                    <a:p>
                      <a:pPr>
                        <a:defRPr sz="1000">
                          <a:latin typeface="Calibri"/>
                        </a:defRPr>
                      </a:pPr>
                      <a:r>
                        <a:t>TBD</a:t>
                      </a:r>
                    </a:p>
                  </a:txBody>
                  <a:tcPr/>
                </a:tc>
              </a:tr>
              <a:tr h="320040">
                <a:tc>
                  <a:txBody>
                    <a:bodyPr wrap="square"/>
                    <a:lstStyle/>
                    <a:p>
                      <a:pPr>
                        <a:defRPr sz="1000">
                          <a:latin typeface="Calibri"/>
                        </a:defRPr>
                      </a:pPr>
                      <a:r>
                        <a:t>WEB-GEN-02</a:t>
                      </a:r>
                    </a:p>
                  </a:txBody>
                  <a:tcPr/>
                </a:tc>
                <a:tc>
                  <a:txBody>
                    <a:bodyPr wrap="square"/>
                    <a:lstStyle/>
                    <a:p>
                      <a:pPr>
                        <a:defRPr sz="1000">
                          <a:latin typeface="Calibri"/>
                        </a:defRPr>
                      </a:pPr>
                      <a:r>
                        <a:t>Optimize Design and Materials for Iteratively Developed Components</a:t>
                      </a:r>
                    </a:p>
                  </a:txBody>
                  <a:tcPr/>
                </a:tc>
                <a:tc>
                  <a:txBody>
                    <a:bodyPr wrap="square"/>
                    <a:lstStyle/>
                    <a:p>
                      <a:pPr>
                        <a:defRPr sz="1000">
                          <a:latin typeface="Calibri"/>
                        </a:defRPr>
                      </a:pPr>
                      <a:r>
                        <a:t>Identify components or systems that are undergoing continuous, incremental development for marginal performance gains (e.g., 'half tenth per month' improvements). Conduct a cost-benefit analysis to determine if the cost of continuous iteration and high-performance material/manufacturing choices is justified by the performance increment. Where gains are marginal or not critical for overall system performance, simplify the component's design for manufacturability (DFM), standardize sub-components, or select more cost-effective materials and manufacturing processes to achieve a 'good enough' design that reduces overall lifecycle costs. Source: [https://www.f1technical.net/forum/viewtopic.php?t=32051&amp;start=7200]</a:t>
                      </a:r>
                    </a:p>
                  </a:txBody>
                  <a:tcPr/>
                </a:tc>
                <a:tc>
                  <a:txBody>
                    <a:bodyPr wrap="square"/>
                    <a:lstStyle/>
                    <a:p>
                      <a:pPr>
                        <a:defRPr sz="1000">
                          <a:latin typeface="Calibri"/>
                        </a:defRPr>
                      </a:pPr>
                      <a:r>
                        <a:t>0</a:t>
                      </a:r>
                    </a:p>
                  </a:txBody>
                  <a:tcPr/>
                </a:tc>
                <a:tc>
                  <a:txBody>
                    <a:bodyPr wrap="square"/>
                    <a:lstStyle/>
                    <a:p>
                      <a:pPr>
                        <a:defRPr sz="1000">
                          <a:latin typeface="Calibri"/>
                        </a:defRPr>
                      </a:pPr>
                      <a:r>
                        <a:t>Web Sourced</a:t>
                      </a:r>
                    </a:p>
                  </a:txBody>
                  <a:tcPr/>
                </a:tc>
                <a:tc>
                  <a:txBody>
                    <a:bodyPr wrap="square"/>
                    <a:lstStyle/>
                    <a:p>
                      <a:pPr>
                        <a:defRPr sz="1000">
                          <a:latin typeface="Calibri"/>
                        </a:defRPr>
                      </a:pPr>
                      <a:r>
                        <a:t>Identify components or systems that are undergoing continuous, incremental development for marginal performance gains (e.g., 'half tenth per month' improvements). Conduct a cost-benefit analysis to determine if the cost of continuous iteration and high-performance material/manufacturing choices is justified by the performance increment. Where gains are marginal or not critical for overall system performance, simplify the component's design for manufacturability (DFM), standardize sub-components, or select more cost-effective materials and manufacturing processes to achieve a 'good enough' design that reduces overall lifecycle costs. Source: [https://www.f1technical.net/forum/viewtopic.php?t=32051&amp;start=7200]</a:t>
                      </a:r>
                    </a:p>
                  </a:txBody>
                  <a:tcPr/>
                </a:tc>
                <a:tc>
                  <a:txBody>
                    <a:bodyPr wrap="square"/>
                    <a:lstStyle/>
                    <a:p>
                      <a:pPr>
                        <a:defRPr sz="1000">
                          <a:latin typeface="Calibri"/>
                        </a:defRPr>
                      </a:pPr>
                      <a:r>
                        <a:t>VAVE</a:t>
                      </a:r>
                    </a:p>
                  </a:txBody>
                  <a:tcPr/>
                </a:tc>
                <a:tc>
                  <a:txBody>
                    <a:bodyPr wrap="square"/>
                    <a:lstStyle/>
                    <a:p>
                      <a:pPr>
                        <a:defRPr sz="1000">
                          <a:latin typeface="Calibri"/>
                        </a:defRPr>
                      </a:pPr>
                      <a:r>
                        <a:t>TBD</a:t>
                      </a:r>
                    </a:p>
                  </a:txBody>
                  <a:tcPr/>
                </a:tc>
              </a:tr>
              <a:tr h="320040">
                <a:tc>
                  <a:txBody>
                    <a:bodyPr wrap="square"/>
                    <a:lstStyle/>
                    <a:p>
                      <a:pPr>
                        <a:defRPr sz="1000">
                          <a:latin typeface="Calibri"/>
                        </a:defRPr>
                      </a:pPr>
                      <a:r>
                        <a:t>WEB-GEN-03</a:t>
                      </a:r>
                    </a:p>
                  </a:txBody>
                  <a:tcPr/>
                </a:tc>
                <a:tc>
                  <a:txBody>
                    <a:bodyPr wrap="square"/>
                    <a:lstStyle/>
                    <a:p>
                      <a:pPr>
                        <a:defRPr sz="1000">
                          <a:latin typeface="Calibri"/>
                        </a:defRPr>
                      </a:pPr>
                      <a:r>
                        <a:t>Implement Data-Driven Design Optimization for Reliability and Cost</a:t>
                      </a:r>
                    </a:p>
                  </a:txBody>
                  <a:tcPr/>
                </a:tc>
                <a:tc>
                  <a:txBody>
                    <a:bodyPr wrap="square"/>
                    <a:lstStyle/>
                    <a:p>
                      <a:pPr>
                        <a:defRPr sz="1000">
                          <a:latin typeface="Calibri"/>
                        </a:defRPr>
                      </a:pPr>
                      <a:r>
                        <a:t>Utilize 'F1 MATHS' or similar robust data analytics to gather and interpret performance data for existing components, especially focusing on failure rates, reliability, and maintenance events (e.g., identifying reasons for 'disastrous final stints'). This data can 'tell' which components are either over-engineered (performing far beyond requirements, suggesting potential for material downgrade or design simplification) or under-engineered (failing frequently, leading to high warranty/replacement costs). Based on data insights, implement targeted engineering changes: for over-engineered parts, explore less expensive materials or manufacturing methods; for under-engineered parts, redesign to improve reliability with cost-effective solutions, rather than over-specifying. Source: [https://www.f1technical.net/forum/viewtopic.php?t=32051&amp;start=7020]</a:t>
                      </a:r>
                    </a:p>
                  </a:txBody>
                  <a:tcPr/>
                </a:tc>
                <a:tc>
                  <a:txBody>
                    <a:bodyPr wrap="square"/>
                    <a:lstStyle/>
                    <a:p>
                      <a:pPr>
                        <a:defRPr sz="1000">
                          <a:latin typeface="Calibri"/>
                        </a:defRPr>
                      </a:pPr>
                      <a:r>
                        <a:t>0</a:t>
                      </a:r>
                    </a:p>
                  </a:txBody>
                  <a:tcPr/>
                </a:tc>
                <a:tc>
                  <a:txBody>
                    <a:bodyPr wrap="square"/>
                    <a:lstStyle/>
                    <a:p>
                      <a:pPr>
                        <a:defRPr sz="1000">
                          <a:latin typeface="Calibri"/>
                        </a:defRPr>
                      </a:pPr>
                      <a:r>
                        <a:t>Web Sourced</a:t>
                      </a:r>
                    </a:p>
                  </a:txBody>
                  <a:tcPr/>
                </a:tc>
                <a:tc>
                  <a:txBody>
                    <a:bodyPr wrap="square"/>
                    <a:lstStyle/>
                    <a:p>
                      <a:pPr>
                        <a:defRPr sz="1000">
                          <a:latin typeface="Calibri"/>
                        </a:defRPr>
                      </a:pPr>
                      <a:r>
                        <a:t>Utilize 'F1 MATHS' or similar robust data analytics to gather and interpret performance data for existing components, especially focusing on failure rates, reliability, and maintenance events (e.g., identifying reasons for 'disastrous final stints'). This data can 'tell' which components are either over-engineered (performing far beyond requirements, suggesting potential for material downgrade or design simplification) or under-engineered (failing frequently, leading to high warranty/replacement costs). Based on data insights, implement targeted engineering changes: for over-engineered parts, explore less expensive materials or manufacturing methods; for under-engineered parts, redesign to improve reliability with cost-effective solutions, rather than over-specifying. Source: [https://www.f1technical.net/forum/viewtopic.php?t=32051&amp;start=7020]</a:t>
                      </a:r>
                    </a:p>
                  </a:txBody>
                  <a:tcPr/>
                </a:tc>
                <a:tc>
                  <a:txBody>
                    <a:bodyPr wrap="square"/>
                    <a:lstStyle/>
                    <a:p>
                      <a:pPr>
                        <a:defRPr sz="1000">
                          <a:latin typeface="Calibri"/>
                        </a:defRPr>
                      </a:pPr>
                      <a:r>
                        <a:t>VAVE</a:t>
                      </a:r>
                    </a:p>
                  </a:txBody>
                  <a:tcPr/>
                </a:tc>
                <a:tc>
                  <a:txBody>
                    <a:bodyPr wrap="square"/>
                    <a:lstStyle/>
                    <a:p>
                      <a:pPr>
                        <a:defRPr sz="1000">
                          <a:latin typeface="Calibri"/>
                        </a:defRPr>
                      </a:pPr>
                      <a:r>
                        <a:t>TBD</a:t>
                      </a:r>
                    </a:p>
                  </a:txBody>
                  <a:tcPr/>
                </a:tc>
              </a:tr>
            </a:tbl>
          </a:graphicData>
        </a:graphic>
      </p:graphicFrame>
      <p:sp>
        <p:nvSpPr>
          <p:cNvPr id="4" name="TextBox 3"/>
          <p:cNvSpPr txBox="1"/>
          <p:nvPr/>
        </p:nvSpPr>
        <p:spPr>
          <a:xfrm>
            <a:off x="5943600" y="6217920"/>
            <a:ext cx="2743200" cy="274320"/>
          </a:xfrm>
          <a:prstGeom prst="rect">
            <a:avLst/>
          </a:prstGeom>
          <a:noFill/>
        </p:spPr>
        <p:txBody>
          <a:bodyPr wrap="none">
            <a:spAutoFit/>
          </a:bodyPr>
          <a:lstStyle/>
          <a:p>
            <a:pPr algn="r">
              <a:defRPr sz="1000">
                <a:solidFill>
                  <a:srgbClr val="969696"/>
                </a:solidFill>
              </a:defRPr>
            </a:pPr>
            <a:r>
              <a:t>Generated by VAVE-AI</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latin typeface="Calibri"/>
              </a:defRPr>
            </a:pPr>
            <a:r>
              <a:t>Chart Analysis Discussion</a:t>
            </a:r>
          </a:p>
        </p:txBody>
      </p:sp>
      <p:graphicFrame>
        <p:nvGraphicFramePr>
          <p:cNvPr id="3" name="Chart 2"/>
          <p:cNvGraphicFramePr>
            <a:graphicFrameLocks noGrp="1"/>
          </p:cNvGraphicFramePr>
          <p:nvPr/>
        </p:nvGraphicFramePr>
        <p:xfrm>
          <a:off x="457200" y="1371600"/>
          <a:ext cx="8229600" cy="4114800"/>
        </p:xfrm>
        <a:graphic>
          <a:graphicData uri="http://schemas.openxmlformats.org/drawingml/2006/chart">
            <c:chart xmlns:c="http://schemas.openxmlformats.org/drawingml/2006/chart" r:id="rId2"/>
          </a:graphicData>
        </a:graphic>
      </p:graphicFrame>
      <p:sp>
        <p:nvSpPr>
          <p:cNvPr id="4" name="TextBox 3"/>
          <p:cNvSpPr txBox="1"/>
          <p:nvPr/>
        </p:nvSpPr>
        <p:spPr>
          <a:xfrm>
            <a:off x="5943600" y="6217920"/>
            <a:ext cx="2743200" cy="274320"/>
          </a:xfrm>
          <a:prstGeom prst="rect">
            <a:avLst/>
          </a:prstGeom>
          <a:noFill/>
        </p:spPr>
        <p:txBody>
          <a:bodyPr wrap="none">
            <a:spAutoFit/>
          </a:bodyPr>
          <a:lstStyle/>
          <a:p>
            <a:pPr algn="r">
              <a:defRPr sz="1000">
                <a:solidFill>
                  <a:srgbClr val="969696"/>
                </a:solidFill>
              </a:defRPr>
            </a:pPr>
            <a:r>
              <a:t>Generated by VAVE-AI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latin typeface="Calibri"/>
              </a:defRPr>
            </a:pPr>
            <a:r>
              <a:t>Pie chart for ideas status</a:t>
            </a:r>
          </a:p>
        </p:txBody>
      </p:sp>
      <p:graphicFrame>
        <p:nvGraphicFramePr>
          <p:cNvPr id="3" name="Chart 2"/>
          <p:cNvGraphicFramePr>
            <a:graphicFrameLocks noGrp="1"/>
          </p:cNvGraphicFramePr>
          <p:nvPr/>
        </p:nvGraphicFramePr>
        <p:xfrm>
          <a:off x="457200" y="1371600"/>
          <a:ext cx="4114800" cy="4114800"/>
        </p:xfrm>
        <a:graphic>
          <a:graphicData uri="http://schemas.openxmlformats.org/drawingml/2006/chart">
            <c:chart xmlns:c="http://schemas.openxmlformats.org/drawingml/2006/chart" r:id="rId2"/>
          </a:graphicData>
        </a:graphic>
      </p:graphicFrame>
      <p:sp>
        <p:nvSpPr>
          <p:cNvPr id="4" name="TextBox 3"/>
          <p:cNvSpPr txBox="1"/>
          <p:nvPr/>
        </p:nvSpPr>
        <p:spPr>
          <a:xfrm>
            <a:off x="5029200" y="1371600"/>
            <a:ext cx="3657600" cy="4114800"/>
          </a:xfrm>
          <a:prstGeom prst="rect">
            <a:avLst/>
          </a:prstGeom>
          <a:noFill/>
        </p:spPr>
        <p:txBody>
          <a:bodyPr wrap="square">
            <a:spAutoFit/>
          </a:bodyPr>
          <a:lstStyle/>
          <a:p>
            <a:pPr>
              <a:defRPr sz="1000">
                <a:latin typeface="Calibri"/>
              </a:defRPr>
            </a:pPr>
          </a:p>
          <a:p>
            <a:pPr>
              <a:defRPr sz="1000">
                <a:latin typeface="Calibri"/>
              </a:defRPr>
            </a:pPr>
            <a:r>
              <a:t>• Total Ideas: 9</a:t>
            </a:r>
          </a:p>
          <a:p>
            <a:pPr>
              <a:defRPr sz="1000">
                <a:latin typeface="Calibri"/>
              </a:defRPr>
            </a:pPr>
            <a:r>
              <a:t>• Total Potential Savings: INR 0.00</a:t>
            </a:r>
          </a:p>
          <a:p>
            <a:pPr>
              <a:defRPr sz="1000">
                <a:latin typeface="Calibri"/>
              </a:defRPr>
            </a:pPr>
            <a:r>
              <a:t>• Implemented Ideas: 0</a:t>
            </a:r>
          </a:p>
          <a:p>
            <a:pPr>
              <a:defRPr sz="1000">
                <a:latin typeface="Calibri"/>
              </a:defRPr>
            </a:pPr>
            <a:r>
              <a:t>• Status OK: 0</a:t>
            </a:r>
          </a:p>
          <a:p>
            <a:pPr>
              <a:defRPr sz="1000">
                <a:latin typeface="Calibri"/>
              </a:defRPr>
            </a:pPr>
            <a:r>
              <a:t>• Status TBD: 0</a:t>
            </a:r>
          </a:p>
          <a:p>
            <a:pPr>
              <a:defRPr sz="1000">
                <a:latin typeface="Calibri"/>
              </a:defRPr>
            </a:pPr>
            <a:r>
              <a:t>• Status NG: 0</a:t>
            </a:r>
          </a:p>
          <a:p>
            <a:pPr>
              <a:defRPr sz="1000">
                <a:latin typeface="Calibri"/>
              </a:defRPr>
            </a:pPr>
            <a:r>
              <a:t>• The provided cost reduction ideas focus on process deletions and material replacements to reduce manufacturing costs.</a:t>
            </a:r>
          </a:p>
          <a:p>
            <a:pPr>
              <a:defRPr sz="1000">
                <a:latin typeface="Calibri"/>
              </a:defRPr>
            </a:pPr>
            <a:r>
              <a:t>• Key proposals include removing paint coatings from brackets and mounts, replacing PC-ABS with ABS, and switching to galvanized steel for window regulators.</a:t>
            </a:r>
          </a:p>
          <a:p>
            <a:pPr>
              <a:defRPr sz="1000">
                <a:latin typeface="Calibri"/>
              </a:defRPr>
            </a:pPr>
            <a:r>
              <a:t>• These changes aim to maintain functionality while reducing costs and, in some cases, weight.</a:t>
            </a:r>
          </a:p>
        </p:txBody>
      </p:sp>
      <p:sp>
        <p:nvSpPr>
          <p:cNvPr id="5" name="TextBox 4"/>
          <p:cNvSpPr txBox="1"/>
          <p:nvPr/>
        </p:nvSpPr>
        <p:spPr>
          <a:xfrm>
            <a:off x="5943600" y="6217920"/>
            <a:ext cx="2743200" cy="274320"/>
          </a:xfrm>
          <a:prstGeom prst="rect">
            <a:avLst/>
          </a:prstGeom>
          <a:noFill/>
        </p:spPr>
        <p:txBody>
          <a:bodyPr wrap="none">
            <a:spAutoFit/>
          </a:bodyPr>
          <a:lstStyle/>
          <a:p>
            <a:pPr algn="r">
              <a:defRPr sz="1000">
                <a:solidFill>
                  <a:srgbClr val="969696"/>
                </a:solidFill>
              </a:defRPr>
            </a:pPr>
            <a:r>
              <a:t>Generated by VAVE-AI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latin typeface="Calibri"/>
              </a:defRPr>
            </a:pPr>
            <a:r>
              <a:t>Summary section</a:t>
            </a:r>
          </a:p>
        </p:txBody>
      </p:sp>
      <p:sp>
        <p:nvSpPr>
          <p:cNvPr id="3" name="Content Placeholder 2"/>
          <p:cNvSpPr>
            <a:spLocks noGrp="1"/>
          </p:cNvSpPr>
          <p:nvPr>
            <p:ph idx="1"/>
          </p:nvPr>
        </p:nvSpPr>
        <p:spPr/>
        <p:txBody>
          <a:bodyPr wrap="square"/>
          <a:lstStyle/>
          <a:p>
            <a:pPr>
              <a:defRPr sz="1800">
                <a:latin typeface="Calibri"/>
              </a:defRPr>
            </a:pPr>
          </a:p>
          <a:p>
            <a:pPr>
              <a:defRPr sz="1800">
                <a:latin typeface="Calibri"/>
              </a:defRPr>
            </a:pPr>
            <a:r>
              <a:t>Total Ideas: 9 ideas analyzed.</a:t>
            </a:r>
          </a:p>
          <a:p>
            <a:pPr>
              <a:defRPr sz="1800">
                <a:latin typeface="Calibri"/>
              </a:defRPr>
            </a:pPr>
            <a:r>
              <a:t>Total Savings: INR 0.00 in potential cost reductions.</a:t>
            </a:r>
          </a:p>
          <a:p>
            <a:pPr>
              <a:defRPr sz="1800">
                <a:latin typeface="Calibri"/>
              </a:defRPr>
            </a:pPr>
            <a:r>
              <a:t>Key Proposals: Remove paint coatings from mounts and brackets, replace PC-ABS with ABS, and use galvanized steel for window regulators.</a:t>
            </a:r>
          </a:p>
          <a:p>
            <a:pPr>
              <a:defRPr sz="1800">
                <a:latin typeface="Calibri"/>
              </a:defRPr>
            </a:pPr>
            <a:r>
              <a:t>Status: All ideas currently TBD, pending further evaluation.</a:t>
            </a:r>
          </a:p>
          <a:p>
            <a:pPr>
              <a:defRPr sz="1800">
                <a:latin typeface="Calibri"/>
              </a:defRPr>
            </a:pPr>
            <a:r>
              <a:t>Focus: Cost reduction through process deletion and material substitution while maintaining functionality.</a:t>
            </a:r>
          </a:p>
        </p:txBody>
      </p:sp>
      <p:sp>
        <p:nvSpPr>
          <p:cNvPr id="4" name="TextBox 3"/>
          <p:cNvSpPr txBox="1"/>
          <p:nvPr/>
        </p:nvSpPr>
        <p:spPr>
          <a:xfrm>
            <a:off x="5943600" y="6217920"/>
            <a:ext cx="2743200" cy="274320"/>
          </a:xfrm>
          <a:prstGeom prst="rect">
            <a:avLst/>
          </a:prstGeom>
          <a:noFill/>
        </p:spPr>
        <p:txBody>
          <a:bodyPr wrap="none">
            <a:spAutoFit/>
          </a:bodyPr>
          <a:lstStyle/>
          <a:p>
            <a:pPr algn="r">
              <a:defRPr sz="1000">
                <a:solidFill>
                  <a:srgbClr val="969696"/>
                </a:solidFill>
              </a:defRPr>
            </a:pPr>
            <a:r>
              <a:t>Generated by VAVE-AI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
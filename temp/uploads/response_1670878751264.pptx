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Sheet1!$A$2:$A$14</c:f>
              <c:strCache>
                <c:ptCount val="13"/>
                <c:pt idx="0">
                  <c:v>2311-SS-ID-04</c:v>
                </c:pt>
                <c:pt idx="1">
                  <c:v>2311-PRODUCT-ID-11</c:v>
                </c:pt>
                <c:pt idx="2">
                  <c:v>2311-PRODUCT-ID-07</c:v>
                </c:pt>
                <c:pt idx="3">
                  <c:v>2311-IT-ID-01</c:v>
                </c:pt>
                <c:pt idx="4">
                  <c:v>2311-DA-ID-27</c:v>
                </c:pt>
                <c:pt idx="5">
                  <c:v>AI-GEN-01</c:v>
                </c:pt>
                <c:pt idx="6">
                  <c:v>AI-GEN-02</c:v>
                </c:pt>
                <c:pt idx="7">
                  <c:v>AI-GEN-03</c:v>
                </c:pt>
                <c:pt idx="8">
                  <c:v>AI-GEN-04</c:v>
                </c:pt>
                <c:pt idx="9">
                  <c:v>AI-GEN-05</c:v>
                </c:pt>
                <c:pt idx="10">
                  <c:v>AI-GEN-06</c:v>
                </c:pt>
                <c:pt idx="11">
                  <c:v>WEB-GEN-01</c:v>
                </c:pt>
                <c:pt idx="12">
                  <c:v>WEB-GEN-02</c:v>
                </c:pt>
              </c:strCache>
            </c:strRef>
          </c:cat>
          <c:val>
            <c:numRef>
              <c:f>Sheet1!$B$2:$B$14</c:f>
              <c:numCache>
                <c:formatCode>General</c:formatCode>
                <c:ptCount val="13"/>
                <c:pt idx="0">
                  <c:v>48.0</c:v>
                </c:pt>
                <c:pt idx="1">
                  <c:v>89.0</c:v>
                </c:pt>
                <c:pt idx="2">
                  <c:v>115.0</c:v>
                </c:pt>
                <c:pt idx="3">
                  <c:v>52.0</c:v>
                </c:pt>
                <c:pt idx="4">
                  <c:v>126.0</c:v>
                </c:pt>
                <c:pt idx="5">
                  <c:v>0</c:v>
                </c:pt>
                <c:pt idx="6">
                  <c:v>0</c:v>
                </c:pt>
                <c:pt idx="7">
                  <c:v>0</c:v>
                </c:pt>
                <c:pt idx="8">
                  <c:v>0</c:v>
                </c:pt>
                <c:pt idx="9">
                  <c:v>0</c:v>
                </c:pt>
                <c:pt idx="10">
                  <c:v>0</c:v>
                </c:pt>
                <c:pt idx="11">
                  <c:v>0</c:v>
                </c:pt>
                <c:pt idx="12">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1</c:v>
                </c:pt>
                <c:pt idx="2">
                  <c:v>1</c:v>
                </c:pt>
                <c:pt idx="3">
                  <c:v>3</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2311-SS-ID-04</a:t>
                      </a:r>
                    </a:p>
                  </a:txBody>
                  <a:tcPr/>
                </a:tc>
                <a:tc>
                  <a:txBody>
                    <a:bodyPr wrap="square"/>
                    <a:lstStyle/>
                    <a:p>
                      <a:pPr>
                        <a:defRPr sz="1000">
                          <a:latin typeface="Calibri"/>
                        </a:defRPr>
                      </a:pPr>
                      <a:r>
                        <a:t>Substitute the leather upholstery on the left-hand (LH) and right-hand (RH) sides of the third-row seat bases with the same fabric utilized on the LH and RH sides of the corresponding backrests</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INR 48.0</a:t>
                      </a:r>
                    </a:p>
                  </a:txBody>
                  <a:tcPr/>
                </a:tc>
                <a:tc>
                  <a:txBody>
                    <a:bodyPr wrap="square"/>
                    <a:lstStyle/>
                    <a:p>
                      <a:pPr>
                        <a:defRPr sz="1000">
                          <a:latin typeface="Calibri"/>
                        </a:defRPr>
                      </a:pPr>
                      <a:r>
                        <a:t>NG</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2023-11-10 00:00:00</a:t>
                      </a:r>
                    </a:p>
                  </a:txBody>
                  <a:tcPr/>
                </a:tc>
              </a:tr>
              <a:tr h="320040">
                <a:tc>
                  <a:txBody>
                    <a:bodyPr wrap="square"/>
                    <a:lstStyle/>
                    <a:p>
                      <a:pPr>
                        <a:defRPr sz="1000">
                          <a:latin typeface="Calibri"/>
                        </a:defRPr>
                      </a:pPr>
                      <a:r>
                        <a:t>2311-PRODUCT-ID-11</a:t>
                      </a:r>
                    </a:p>
                  </a:txBody>
                  <a:tcPr/>
                </a:tc>
                <a:tc>
                  <a:txBody>
                    <a:bodyPr wrap="square"/>
                    <a:lstStyle/>
                    <a:p>
                      <a:pPr>
                        <a:defRPr sz="1000">
                          <a:latin typeface="Calibri"/>
                        </a:defRPr>
                      </a:pPr>
                      <a:r>
                        <a:t>Reduce the width of the trunk liner flap by 60mm from the upper edge.</a:t>
                      </a:r>
                    </a:p>
                  </a:txBody>
                  <a:tcPr/>
                </a:tc>
                <a:tc>
                  <a:txBody>
                    <a:bodyPr wrap="square"/>
                    <a:lstStyle/>
                    <a:p>
                      <a:pPr>
                        <a:defRPr sz="1000">
                          <a:latin typeface="Calibri"/>
                        </a:defRPr>
                      </a:pPr>
                      <a:r>
                        <a:t>Confirm business case for 20mm reduction</a:t>
                      </a:r>
                    </a:p>
                  </a:txBody>
                  <a:tcPr/>
                </a:tc>
                <a:tc>
                  <a:txBody>
                    <a:bodyPr wrap="square"/>
                    <a:lstStyle/>
                    <a:p>
                      <a:pPr>
                        <a:defRPr sz="1000">
                          <a:latin typeface="Calibri"/>
                        </a:defRPr>
                      </a:pPr>
                      <a:r>
                        <a:t>INR 89.0</a:t>
                      </a:r>
                    </a:p>
                  </a:txBody>
                  <a:tcPr/>
                </a:tc>
                <a:tc>
                  <a:txBody>
                    <a:bodyPr wrap="square"/>
                    <a:lstStyle/>
                    <a:p>
                      <a:pPr>
                        <a:defRPr sz="1000">
                          <a:latin typeface="Calibri"/>
                        </a:defRPr>
                      </a:pPr>
                      <a:r>
                        <a:t>TBD</a:t>
                      </a:r>
                    </a:p>
                  </a:txBody>
                  <a:tcPr/>
                </a:tc>
                <a:tc>
                  <a:txBody>
                    <a:bodyPr wrap="square"/>
                    <a:lstStyle/>
                    <a:p>
                      <a:pPr>
                        <a:defRPr sz="1000">
                          <a:latin typeface="Calibri"/>
                        </a:defRPr>
                      </a:pPr>
                      <a:r>
                        <a:t>Confirm business case for 20mm reduction</a:t>
                      </a:r>
                    </a:p>
                  </a:txBody>
                  <a:tcPr/>
                </a:tc>
                <a:tc>
                  <a:txBody>
                    <a:bodyPr wrap="square"/>
                    <a:lstStyle/>
                    <a:p>
                      <a:pPr>
                        <a:defRPr sz="1000">
                          <a:latin typeface="Calibri"/>
                        </a:defRPr>
                      </a:pPr>
                      <a:r>
                        <a:t>Kalp</a:t>
                      </a:r>
                    </a:p>
                  </a:txBody>
                  <a:tcPr/>
                </a:tc>
                <a:tc>
                  <a:txBody>
                    <a:bodyPr wrap="square"/>
                    <a:lstStyle/>
                    <a:p>
                      <a:pPr>
                        <a:defRPr sz="1000">
                          <a:latin typeface="Calibri"/>
                        </a:defRPr>
                      </a:pPr>
                      <a:r>
                        <a:t>2024-02-14 00:00:00</a:t>
                      </a:r>
                    </a:p>
                  </a:txBody>
                  <a:tcPr/>
                </a:tc>
              </a:tr>
              <a:tr h="320040">
                <a:tc>
                  <a:txBody>
                    <a:bodyPr wrap="square"/>
                    <a:lstStyle/>
                    <a:p>
                      <a:pPr>
                        <a:defRPr sz="1000">
                          <a:latin typeface="Calibri"/>
                        </a:defRPr>
                      </a:pPr>
                      <a:r>
                        <a:t>2311-PRODUCT-ID-07</a:t>
                      </a:r>
                    </a:p>
                  </a:txBody>
                  <a:tcPr/>
                </a:tc>
                <a:tc>
                  <a:txBody>
                    <a:bodyPr wrap="square"/>
                    <a:lstStyle/>
                    <a:p>
                      <a:pPr>
                        <a:defRPr sz="1000">
                          <a:latin typeface="Calibri"/>
                        </a:defRPr>
                      </a:pPr>
                      <a:r>
                        <a:t>De-content the plastic trims found protecting the top tethers from both sides of the seat as the tethers could be placed within the seat fabric itself and a slit on the same could facilitate easy access</a:t>
                      </a:r>
                    </a:p>
                  </a:txBody>
                  <a:tcPr/>
                </a:tc>
                <a:tc>
                  <a:txBody>
                    <a:bodyPr wrap="square"/>
                    <a:lstStyle/>
                    <a:p>
                      <a:pPr>
                        <a:defRPr sz="1000">
                          <a:latin typeface="Calibri"/>
                        </a:defRPr>
                      </a:pPr>
                      <a:r>
                        <a:t>Confirm on no part nuber change to avoid homologation cost</a:t>
                      </a:r>
                    </a:p>
                  </a:txBody>
                  <a:tcPr/>
                </a:tc>
                <a:tc>
                  <a:txBody>
                    <a:bodyPr wrap="square"/>
                    <a:lstStyle/>
                    <a:p>
                      <a:pPr>
                        <a:defRPr sz="1000">
                          <a:latin typeface="Calibri"/>
                        </a:defRPr>
                      </a:pPr>
                      <a:r>
                        <a:t>INR 115.0</a:t>
                      </a:r>
                    </a:p>
                  </a:txBody>
                  <a:tcPr/>
                </a:tc>
                <a:tc>
                  <a:txBody>
                    <a:bodyPr wrap="square"/>
                    <a:lstStyle/>
                    <a:p>
                      <a:pPr>
                        <a:defRPr sz="1000">
                          <a:latin typeface="Calibri"/>
                        </a:defRPr>
                      </a:pPr>
                      <a:r>
                        <a:t>OK</a:t>
                      </a:r>
                    </a:p>
                  </a:txBody>
                  <a:tcPr/>
                </a:tc>
                <a:tc>
                  <a:txBody>
                    <a:bodyPr wrap="square"/>
                    <a:lstStyle/>
                    <a:p>
                      <a:pPr>
                        <a:defRPr sz="1000">
                          <a:latin typeface="Calibri"/>
                        </a:defRPr>
                      </a:pPr>
                      <a:r>
                        <a:t>Confirm on no part nuber change to avoid homologation cost</a:t>
                      </a:r>
                    </a:p>
                  </a:txBody>
                  <a:tcPr/>
                </a:tc>
                <a:tc>
                  <a:txBody>
                    <a:bodyPr wrap="square"/>
                    <a:lstStyle/>
                    <a:p>
                      <a:pPr>
                        <a:defRPr sz="1000">
                          <a:latin typeface="Calibri"/>
                        </a:defRPr>
                      </a:pPr>
                      <a:r>
                        <a:t>Nishant</a:t>
                      </a:r>
                    </a:p>
                  </a:txBody>
                  <a:tcPr/>
                </a:tc>
                <a:tc>
                  <a:txBody>
                    <a:bodyPr wrap="square"/>
                    <a:lstStyle/>
                    <a:p>
                      <a:pPr>
                        <a:defRPr sz="1000">
                          <a:latin typeface="Calibri"/>
                        </a:defRPr>
                      </a:pPr>
                      <a:r>
                        <a:t>2024-06-17 00:00:00</a:t>
                      </a:r>
                    </a:p>
                  </a:txBody>
                  <a:tcPr/>
                </a:tc>
              </a:tr>
              <a:tr h="320040">
                <a:tc>
                  <a:txBody>
                    <a:bodyPr wrap="square"/>
                    <a:lstStyle/>
                    <a:p>
                      <a:pPr>
                        <a:defRPr sz="1000">
                          <a:latin typeface="Calibri"/>
                        </a:defRPr>
                      </a:pPr>
                      <a:r>
                        <a:t>2311-IT-ID-01</a:t>
                      </a:r>
                    </a:p>
                  </a:txBody>
                  <a:tcPr/>
                </a:tc>
                <a:tc>
                  <a:txBody>
                    <a:bodyPr wrap="square"/>
                    <a:lstStyle/>
                    <a:p>
                      <a:pPr>
                        <a:defRPr sz="1000">
                          <a:latin typeface="Calibri"/>
                        </a:defRPr>
                      </a:pPr>
                      <a:r>
                        <a:t>Remove the fabric cover pasted onto the foot pad provided at the footwell area of the co-driver seat.</a:t>
                      </a:r>
                    </a:p>
                  </a:txBody>
                  <a:tcPr/>
                </a:tc>
                <a:tc>
                  <a:txBody>
                    <a:bodyPr wrap="square"/>
                    <a:lstStyle/>
                    <a:p>
                      <a:pPr>
                        <a:defRPr sz="1000">
                          <a:latin typeface="Calibri"/>
                        </a:defRPr>
                      </a:pPr>
                      <a:r>
                        <a:t>Check technical Feasibility</a:t>
                      </a:r>
                    </a:p>
                  </a:txBody>
                  <a:tcPr/>
                </a:tc>
                <a:tc>
                  <a:txBody>
                    <a:bodyPr wrap="square"/>
                    <a:lstStyle/>
                    <a:p>
                      <a:pPr>
                        <a:defRPr sz="1000">
                          <a:latin typeface="Calibri"/>
                        </a:defRPr>
                      </a:pPr>
                      <a:r>
                        <a:t>INR 52.0</a:t>
                      </a:r>
                    </a:p>
                  </a:txBody>
                  <a:tcPr/>
                </a:tc>
                <a:tc>
                  <a:txBody>
                    <a:bodyPr wrap="square"/>
                    <a:lstStyle/>
                    <a:p>
                      <a:pPr>
                        <a:defRPr sz="1000">
                          <a:latin typeface="Calibri"/>
                        </a:defRPr>
                      </a:pPr>
                      <a:r>
                        <a:t>NG</a:t>
                      </a:r>
                    </a:p>
                  </a:txBody>
                  <a:tcPr/>
                </a:tc>
                <a:tc>
                  <a:txBody>
                    <a:bodyPr wrap="square"/>
                    <a:lstStyle/>
                    <a:p>
                      <a:pPr>
                        <a:defRPr sz="1000">
                          <a:latin typeface="Calibri"/>
                        </a:defRPr>
                      </a:pPr>
                      <a:r>
                        <a:t>Check technical Feasibility</a:t>
                      </a:r>
                    </a:p>
                  </a:txBody>
                  <a:tcPr/>
                </a:tc>
                <a:tc>
                  <a:txBody>
                    <a:bodyPr wrap="square"/>
                    <a:lstStyle/>
                    <a:p>
                      <a:pPr>
                        <a:defRPr sz="1000">
                          <a:latin typeface="Calibri"/>
                        </a:defRPr>
                      </a:pPr>
                      <a:r>
                        <a:t>Nishant</a:t>
                      </a:r>
                    </a:p>
                  </a:txBody>
                  <a:tcPr/>
                </a:tc>
                <a:tc>
                  <a:txBody>
                    <a:bodyPr wrap="square"/>
                    <a:lstStyle/>
                    <a:p>
                      <a:pPr>
                        <a:defRPr sz="1000">
                          <a:latin typeface="Calibri"/>
                        </a:defRPr>
                      </a:pPr>
                      <a:r>
                        <a:t>2023-11-03 00:00:00</a:t>
                      </a:r>
                    </a:p>
                  </a:txBody>
                  <a:tcPr/>
                </a:tc>
              </a:tr>
              <a:tr h="320040">
                <a:tc>
                  <a:txBody>
                    <a:bodyPr wrap="square"/>
                    <a:lstStyle/>
                    <a:p>
                      <a:pPr>
                        <a:defRPr sz="1000">
                          <a:latin typeface="Calibri"/>
                        </a:defRPr>
                      </a:pPr>
                      <a:r>
                        <a:t>2311-DA-ID-27</a:t>
                      </a:r>
                    </a:p>
                  </a:txBody>
                  <a:tcPr/>
                </a:tc>
                <a:tc>
                  <a:txBody>
                    <a:bodyPr wrap="square"/>
                    <a:lstStyle/>
                    <a:p>
                      <a:pPr>
                        <a:defRPr sz="1000">
                          <a:latin typeface="Calibri"/>
                        </a:defRPr>
                      </a:pPr>
                      <a:r>
                        <a:t>Replace ABS+PVC+PU with PP+PE-TD14 in the manufacture of both Front and Rear Passenger Armrest Trims of MGI</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Akhil</a:t>
                      </a:r>
                    </a:p>
                  </a:txBody>
                  <a:tcPr/>
                </a:tc>
                <a:tc>
                  <a:txBody>
                    <a:bodyPr wrap="square"/>
                    <a:lstStyle/>
                    <a:p>
                      <a:pPr>
                        <a:defRPr sz="1000">
                          <a:latin typeface="Calibri"/>
                        </a:defRPr>
                      </a:pPr>
                      <a:r>
                        <a:t>2024-02-12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Replace the current multi-density foam configuration in the seat cushions with a single-density, high-resilience foam, strategically sculpted to maintain ergonomic support and comfort profiles.</a:t>
                      </a:r>
                    </a:p>
                  </a:txBody>
                  <a:tcPr/>
                </a:tc>
                <a:tc>
                  <a:txBody>
                    <a:bodyPr wrap="square"/>
                    <a:lstStyle/>
                    <a:p>
                      <a:pPr>
                        <a:defRPr sz="1000">
                          <a:latin typeface="Calibri"/>
                        </a:defRPr>
                      </a:pPr>
                      <a:r>
                        <a:t>Investigate the acoustic and vibration damping properties of single-density foams versus multi-density configurations. Conduct Finite Element Analysis (FEA) to simulate load-bearing capacity and stress distribution under typical occupant weight. Perform subjective and objective comfort testing with representative user groups. Validate durability through accelerated aging and fatigue testing cycles, ensuring no compromise in tactile feel or long-term support.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Investigate the acoustic and vibration damping properties of single-density foams versus multi-density configurations. Conduct Finite Element Analysis (FEA) to simulate load-bearing capacity and stress distribution under typical occupant weight. Perform subjective and objective comfort testing with representative user groups. Validate durability through accelerated aging and fatigue testing cycles, ensuring no compromise in tactile feel or long-term support.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Eliminate the separate structural cross-member for the rear seat backrest frame and integrate its load-bearing function into the main seat chassis using a reinforced stamping process.</a:t>
                      </a:r>
                    </a:p>
                  </a:txBody>
                  <a:tcPr/>
                </a:tc>
                <a:tc>
                  <a:txBody>
                    <a:bodyPr wrap="square"/>
                    <a:lstStyle/>
                    <a:p>
                      <a:pPr>
                        <a:defRPr sz="1000">
                          <a:latin typeface="Calibri"/>
                        </a:defRPr>
                      </a:pPr>
                      <a:r>
                        <a:t>Perform stress analysis on the modified seat chassis to ensure it can withstand the bending and torsional loads typically handled by the removed cross-member. Evaluate the material thickness and geometry of the reinforced stamping for structural integrity. Conduct physical load testing on prototype seat frames to confirm performance against safety standards and dynamic load requirements. Analyze the tooling and manufacturing process changes required for the integrated design.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Perform stress analysis on the modified seat chassis to ensure it can withstand the bending and torsional loads typically handled by the removed cross-member. Evaluate the material thickness and geometry of the reinforced stamping for structural integrity. Conduct physical load testing on prototype seat frames to confirm performance against safety standards and dynamic load requirements. Analyze the tooling and manufacturing process changes required for the integrated design.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Substitute the current woven fabric seat cover with a knitted, engineered textile that offers comparable breathability, durability, and aesthetic qualities at a lower material cost and potentially reduced manufacturing complexity.</a:t>
                      </a:r>
                    </a:p>
                  </a:txBody>
                  <a:tcPr/>
                </a:tc>
                <a:tc>
                  <a:txBody>
                    <a:bodyPr wrap="square"/>
                    <a:lstStyle/>
                    <a:p>
                      <a:pPr>
                        <a:defRPr sz="1000">
                          <a:latin typeface="Calibri"/>
                        </a:defRPr>
                      </a:pPr>
                      <a:r>
                        <a:t>Source and evaluate knitted textiles for tensile strength, abrasion resistance, UV stability, and pilling characteristics. Conduct washability and colorfastness tests. Perform comfort evaluations for breathability and tactile feel. Assess the manufacturability of the knitted fabric onto the seat structure, including seam strength and drape. Validate fire retardancy to meet automotive standards.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Source and evaluate knitted textiles for tensile strength, abrasion resistance, UV stability, and pilling characteristics. Conduct washability and colorfastness tests. Perform comfort evaluations for breathability and tactile feel. Assess the manufacturability of the knitted fabric onto the seat structure, including seam strength and drape. Validate fire retardancy to meet automotive standards.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Reduce the number of stitching points and seam allowances in the seat upholstery by optimizing the pattern cutting and employing ultrasonic welding or adhesive bonding for certain fabric joints.</a:t>
                      </a:r>
                    </a:p>
                  </a:txBody>
                  <a:tcPr/>
                </a:tc>
                <a:tc>
                  <a:txBody>
                    <a:bodyPr wrap="square"/>
                    <a:lstStyle/>
                    <a:p>
                      <a:pPr>
                        <a:defRPr sz="1000">
                          <a:latin typeface="Calibri"/>
                        </a:defRPr>
                      </a:pPr>
                      <a:r>
                        <a:t>Analyze the structural integrity of seams under tension and shear forces. Perform pull-off tests for adhesive bonds and ultrasonic welds. Evaluate the long-term durability of these alternative joining methods against vibration and fatigue. Conduct aesthetic reviews to ensure a clean and high-quality finish. Validate that the reduced stitching does not compromise the fit or appearance of the upholstery.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Analyze the structural integrity of seams under tension and shear forces. Perform pull-off tests for adhesive bonds and ultrasonic welds. Evaluate the long-term durability of these alternative joining methods against vibration and fatigue. Conduct aesthetic reviews to ensure a clean and high-quality finish. Validate that the reduced stitching does not compromise the fit or appearance of the upholstery.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Replace the traditional spring-loaded recline mechanism with a simplified, friction-based locking system integrated directly into the seat frame components, requiring fewer parts and simpler assembly.</a:t>
                      </a:r>
                    </a:p>
                  </a:txBody>
                  <a:tcPr/>
                </a:tc>
                <a:tc>
                  <a:txBody>
                    <a:bodyPr wrap="square"/>
                    <a:lstStyle/>
                    <a:p>
                      <a:pPr>
                        <a:defRPr sz="1000">
                          <a:latin typeface="Calibri"/>
                        </a:defRPr>
                      </a:pPr>
                      <a:r>
                        <a:t>Design and prototype a friction-based locking mechanism that provides secure recline positioning across a range of occupant weights and vehicle dynamics. Analyze the frictional materials for wear resistance and long-term performance. Conduct extensive cycle testing to simulate repeated adjustments. Perform safety validation to ensure the mechanism holds position under acceleration, braking, and cornering forces. Evaluate user interface ergonomics for ease of adjustment.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Design and prototype a friction-based locking mechanism that provides secure recline positioning across a range of occupant weights and vehicle dynamics. Analyze the frictional materials for wear resistance and long-term performance. Conduct extensive cycle testing to simulate repeated adjustments. Perform safety validation to ensure the mechanism holds position under acceleration, braking, and cornering forces. Evaluate user interface ergonomics for ease of adjustment.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44602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4859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De-content the internal seat frame padding by strategically contouring the primary seat foam to provide sufficient cushioning and impact absorption, thereby eliminating the need for a separate, thinner foam layer.</a:t>
                      </a:r>
                    </a:p>
                  </a:txBody>
                  <a:tcPr/>
                </a:tc>
                <a:tc>
                  <a:txBody>
                    <a:bodyPr wrap="square"/>
                    <a:lstStyle/>
                    <a:p>
                      <a:pPr>
                        <a:defRPr sz="1000">
                          <a:latin typeface="Calibri"/>
                        </a:defRPr>
                      </a:pPr>
                      <a:r>
                        <a:t>Utilize advanced foam molding techniques to create complex contours in the primary seat foam that mimic the protective and supportive functions of the removed padding. Conduct impact absorption simulations using anthropomorphic test devices (ATDs) to verify energy dissipation. Perform comfort evaluations to ensure no pressure points or discomfort arise from the direct foam-to-trim interface. Validate that the structural integrity of the seat frame is not compromised by the change in internal support.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Utilize advanced foam molding techniques to create complex contours in the primary seat foam that mimic the protective and supportive functions of the removed padding. Conduct impact absorption simulations using anthropomorphic test devices (ATDs) to verify energy dissipation. Perform comfort evaluations to ensure no pressure points or discomfort arise from the direct foam-to-trim interface. Validate that the structural integrity of the seat frame is not compromised by the change in internal support.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Streamline Design and Technical Team Collaboration for Efficiency</a:t>
                      </a:r>
                    </a:p>
                  </a:txBody>
                  <a:tcPr/>
                </a:tc>
                <a:tc>
                  <a:txBody>
                    <a:bodyPr wrap="square"/>
                    <a:lstStyle/>
                    <a:p>
                      <a:pPr>
                        <a:defRPr sz="1000">
                          <a:latin typeface="Calibri"/>
                        </a:defRPr>
                      </a:pPr>
                      <a:r>
                        <a:t>Implement cross-functional workshops and integrated project management tools to improve communication and reduce duplicated efforts between design and technical teams. This can lead to faster problem-solving and fewer design iterations.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Implement cross-functional workshops and integrated project management tools to improve communication and reduce duplicated efforts between design and technical teams. This can lead to faster problem-solving and fewer design iterations.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Prioritize Development Resources Based on Performance Gains</a:t>
                      </a:r>
                    </a:p>
                  </a:txBody>
                  <a:tcPr/>
                </a:tc>
                <a:tc>
                  <a:txBody>
                    <a:bodyPr wrap="square"/>
                    <a:lstStyle/>
                    <a:p>
                      <a:pPr>
                        <a:defRPr sz="1000">
                          <a:latin typeface="Calibri"/>
                        </a:defRPr>
                      </a:pPr>
                      <a:r>
                        <a:t>Establish a rigorous analysis framework to quantify the performance benefit (e.g., 'tenths per month') of ongoing development projects. Allocate R&amp;D budget and engineering hours to initiatives offering the highest return in performance, ensuring efficient use of resources. Source: https://www.f1technical.net/forum/viewtopic.php?t=32051&amp;start=7200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Establish a rigorous analysis framework to quantify the performance benefit (e.g., 'tenths per month') of ongoing development projects. Allocate R&amp;D budget and engineering hours to initiatives offering the highest return in performance, ensuring efficient use of resources. Source: https://www.f1technical.net/forum/viewtopic.php?t=32051&amp;start=7200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13</a:t>
            </a:r>
          </a:p>
          <a:p>
            <a:pPr>
              <a:defRPr sz="1000">
                <a:latin typeface="Calibri"/>
              </a:defRPr>
            </a:pPr>
            <a:r>
              <a:t>• Total Potential Savings: INR 430.00</a:t>
            </a:r>
          </a:p>
          <a:p>
            <a:pPr>
              <a:defRPr sz="1000">
                <a:latin typeface="Calibri"/>
              </a:defRPr>
            </a:pPr>
            <a:r>
              <a:t>• Implemented Ideas: 0</a:t>
            </a:r>
          </a:p>
          <a:p>
            <a:pPr>
              <a:defRPr sz="1000">
                <a:latin typeface="Calibri"/>
              </a:defRPr>
            </a:pPr>
            <a:r>
              <a:t>• Status OK: 1</a:t>
            </a:r>
          </a:p>
          <a:p>
            <a:pPr>
              <a:defRPr sz="1000">
                <a:latin typeface="Calibri"/>
              </a:defRPr>
            </a:pPr>
            <a:r>
              <a:t>• Status TBD: 1</a:t>
            </a:r>
          </a:p>
          <a:p>
            <a:pPr>
              <a:defRPr sz="1000">
                <a:latin typeface="Calibri"/>
              </a:defRPr>
            </a:pPr>
            <a:r>
              <a:t>• Status NG: 3</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13 ideas analyzed.</a:t>
            </a:r>
          </a:p>
          <a:p>
            <a:pPr>
              <a:defRPr sz="1800">
                <a:latin typeface="Calibri"/>
              </a:defRPr>
            </a:pPr>
            <a:r>
              <a:t>Total Savings: INR 430.00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
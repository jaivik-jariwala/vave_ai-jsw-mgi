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Sheet1!$A$2:$A$14</c:f>
              <c:strCache>
                <c:ptCount val="13"/>
                <c:pt idx="0">
                  <c:v>2311-EL-ID-18</c:v>
                </c:pt>
                <c:pt idx="1">
                  <c:v>2311-EL-ID-06</c:v>
                </c:pt>
                <c:pt idx="2">
                  <c:v>2311-IT-ID-19</c:v>
                </c:pt>
                <c:pt idx="3">
                  <c:v>2311-PRODUCT-ID-24</c:v>
                </c:pt>
                <c:pt idx="4">
                  <c:v>2311-PRODUCT-ID-01</c:v>
                </c:pt>
                <c:pt idx="5">
                  <c:v>AI-GEN-01</c:v>
                </c:pt>
                <c:pt idx="6">
                  <c:v>AI-GEN-02</c:v>
                </c:pt>
                <c:pt idx="7">
                  <c:v>AI-GEN-03</c:v>
                </c:pt>
                <c:pt idx="8">
                  <c:v>AI-GEN-04</c:v>
                </c:pt>
                <c:pt idx="9">
                  <c:v>AI-GEN-05</c:v>
                </c:pt>
                <c:pt idx="10">
                  <c:v>AI-GEN-06</c:v>
                </c:pt>
                <c:pt idx="11">
                  <c:v>WEB-GEN-01</c:v>
                </c:pt>
                <c:pt idx="12">
                  <c:v>WEB-GEN-02</c:v>
                </c:pt>
              </c:strCache>
            </c:strRef>
          </c:cat>
          <c:val>
            <c:numRef>
              <c:f>Sheet1!$B$2:$B$14</c:f>
              <c:numCache>
                <c:formatCode>General</c:formatCode>
                <c:ptCount val="13"/>
                <c:pt idx="0">
                  <c:v>42.0</c:v>
                </c:pt>
                <c:pt idx="1">
                  <c:v>126.0</c:v>
                </c:pt>
                <c:pt idx="2">
                  <c:v>56.0</c:v>
                </c:pt>
                <c:pt idx="3">
                  <c:v>64.0</c:v>
                </c:pt>
                <c:pt idx="4">
                  <c:v>68.0</c:v>
                </c:pt>
                <c:pt idx="5">
                  <c:v>0</c:v>
                </c:pt>
                <c:pt idx="6">
                  <c:v>0</c:v>
                </c:pt>
                <c:pt idx="7">
                  <c:v>0</c:v>
                </c:pt>
                <c:pt idx="8">
                  <c:v>0</c:v>
                </c:pt>
                <c:pt idx="9">
                  <c:v>0</c:v>
                </c:pt>
                <c:pt idx="10">
                  <c:v>0</c:v>
                </c:pt>
                <c:pt idx="11">
                  <c:v>0</c:v>
                </c:pt>
                <c:pt idx="12">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1</c:v>
                </c:pt>
                <c:pt idx="3">
                  <c:v>3</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2311-EL-ID-18</a:t>
                      </a:r>
                    </a:p>
                  </a:txBody>
                  <a:tcPr/>
                </a:tc>
                <a:tc>
                  <a:txBody>
                    <a:bodyPr wrap="square"/>
                    <a:lstStyle/>
                    <a:p>
                      <a:pPr>
                        <a:defRPr sz="1000">
                          <a:latin typeface="Calibri"/>
                        </a:defRPr>
                      </a:pPr>
                      <a:r>
                        <a:t>Replace the Auto Headlamp Photodiode Sensor used in MGI with the one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42.0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2311-EL-ID-06</a:t>
                      </a:r>
                    </a:p>
                  </a:txBody>
                  <a:tcPr/>
                </a:tc>
                <a:tc>
                  <a:txBody>
                    <a:bodyPr wrap="square"/>
                    <a:lstStyle/>
                    <a:p>
                      <a:pPr>
                        <a:defRPr sz="1000">
                          <a:latin typeface="Calibri"/>
                        </a:defRPr>
                      </a:pPr>
                      <a:r>
                        <a:t>Replace PP-T30 used in the manufacture of the LH and RH Headlamp Housings of MGI with PP-TD20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2311-IT-ID-19</a:t>
                      </a:r>
                    </a:p>
                  </a:txBody>
                  <a:tcPr/>
                </a:tc>
                <a:tc>
                  <a:txBody>
                    <a:bodyPr wrap="square"/>
                    <a:lstStyle/>
                    <a:p>
                      <a:pPr>
                        <a:defRPr sz="1000">
                          <a:latin typeface="Calibri"/>
                        </a:defRPr>
                      </a:pPr>
                      <a:r>
                        <a:t>Process Deletion,</a:t>
                      </a:r>
                    </a:p>
                    <a:p>
                      <a:pPr>
                        <a:defRPr sz="1000">
                          <a:latin typeface="Calibri"/>
                        </a:defRPr>
                      </a:pPr>
                      <a:r>
                        <a:t>Remove the Anodizing done on the LH &amp; RH Sunroof Guide Rails in MGI</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56.0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2311-PRODUCT-ID-24</a:t>
                      </a:r>
                    </a:p>
                  </a:txBody>
                  <a:tcPr/>
                </a:tc>
                <a:tc>
                  <a:txBody>
                    <a:bodyPr wrap="square"/>
                    <a:lstStyle/>
                    <a:p>
                      <a:pPr>
                        <a:defRPr sz="1000">
                          <a:latin typeface="Calibri"/>
                        </a:defRPr>
                      </a:pPr>
                      <a:r>
                        <a:t>Eliminate the hooks from the receptacle trims found on the RH side of the headrest assemblies reducing the overall length from 53.3mm to 40mm</a:t>
                      </a:r>
                    </a:p>
                  </a:txBody>
                  <a:tcPr/>
                </a:tc>
                <a:tc>
                  <a:txBody>
                    <a:bodyPr wrap="square"/>
                    <a:lstStyle/>
                    <a:p>
                      <a:pPr>
                        <a:defRPr sz="1000">
                          <a:latin typeface="Calibri"/>
                        </a:defRPr>
                      </a:pPr>
                      <a:r>
                        <a:t>nan</a:t>
                      </a:r>
                    </a:p>
                  </a:txBody>
                  <a:tcPr/>
                </a:tc>
                <a:tc>
                  <a:txBody>
                    <a:bodyPr wrap="square"/>
                    <a:lstStyle/>
                    <a:p>
                      <a:pPr>
                        <a:defRPr sz="1000">
                          <a:latin typeface="Calibri"/>
                        </a:defRPr>
                      </a:pPr>
                      <a:r>
                        <a:t>INR 64.0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Ojaswini</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the integrated LED tail lamp module with a modular design comprising separate LED arrays for brake, turn, and reverse functions, utilizing standard, off-the-shelf LED components and a simpler, more cost-effective PCB.</a:t>
                      </a:r>
                    </a:p>
                  </a:txBody>
                  <a:tcPr/>
                </a:tc>
                <a:tc>
                  <a:txBody>
                    <a:bodyPr wrap="square"/>
                    <a:lstStyle/>
                    <a:p>
                      <a:pPr>
                        <a:defRPr sz="1000">
                          <a:latin typeface="Calibri"/>
                        </a:defRPr>
                      </a:pPr>
                      <a:r>
                        <a:t>The current integrated LED tail lamp module likely involves complex custom PCB design and specialized LED integration, driving up tooling and per-unit costs. By adopting a modular approach, we can leverage economies of scale from standard LED manufacturers and simplify assembly.  Physics: This relies on standard LED lumen output and beam pattern characteristics being sufficient for automotive signaling regulations (ECE R37, FMVSS 108). Validation will involve photometric testing to ensure compliance with intensity, color, and angular distribution requirements for each function.  Durability testing (vibration, thermal cycling, ingress protection) will be crucial for the modular components and their interconnections.  Cost analysis will focus on Bill of Materials (BOM) reduction and assembly time optimization.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integrated LED tail lamp module likely involves complex custom PCB design and specialized LED integration, driving up tooling and per-unit costs. By adopting a modular approach, we can leverage economies of scale from standard LED manufacturers and simplify assembly.  Physics: This relies on standard LED lumen output and beam pattern characteristics being sufficient for automotive signaling regulations (ECE R37, FMVSS 108). Validation will involve photometric testing to ensure compliance with intensity, color, and angular distribution requirements for each function.  Durability testing (vibration, thermal cycling, ingress protection) will be crucial for the modular components and their interconnections.  Cost analysis will focus on Bill of Materials (BOM) reduction and assembly time optimization.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Substitute the current multi-piece polycarbonate tail lamp lens with a single, injection-molded clear polycarbonate lens with integrated light pipes or diffusion layers for red and amber illumination, eliminating the need for separate colored lenses and associated assembly steps.</a:t>
                      </a:r>
                    </a:p>
                  </a:txBody>
                  <a:tcPr/>
                </a:tc>
                <a:tc>
                  <a:txBody>
                    <a:bodyPr wrap="square"/>
                    <a:lstStyle/>
                    <a:p>
                      <a:pPr>
                        <a:defRPr sz="1000">
                          <a:latin typeface="Calibri"/>
                        </a:defRPr>
                      </a:pPr>
                      <a:r>
                        <a:t>The existing tail lamp likely uses multiple colored polycarbonate lenses or films, requiring precise alignment and bonding. A single-piece lens with internal light management can simplify manufacturing and reduce part count. Physics: This leverages the optical properties of polycarbonate and the principles of total internal reflection and diffusion. Light pipes will guide illumination from a common white LED source to the desired red or amber output regions. Validation requires optical simulation to ensure uniform light distribution and color purity across the lens surface.  Photometric testing of the final assembly against regulatory standards is essential. Material characterization of the polycarbonate for UV resistance and impact strength will also be performed.</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existing tail lamp likely uses multiple colored polycarbonate lenses or films, requiring precise alignment and bonding. A single-piece lens with internal light management can simplify manufacturing and reduce part count. Physics: This leverages the optical properties of polycarbonate and the principles of total internal reflection and diffusion. Light pipes will guide illumination from a common white LED source to the desired red or amber output regions. Validation requires optical simulation to ensure uniform light distribution and color purity across the lens surface.  Photometric testing of the final assembly against regulatory standards is essential. Material characterization of the polycarbonate for UV resistance and impact strength will also be performed.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Re-evaluate the tail lamp housing material from the current high-performance plastic (e.g., ABS/PC blend) to a more cost-effective, yet structurally sound, filled polypropylene (PP) or talc-filled PP, provided it meets thermal and impact requirements.</a:t>
                      </a:r>
                    </a:p>
                  </a:txBody>
                  <a:tcPr/>
                </a:tc>
                <a:tc>
                  <a:txBody>
                    <a:bodyPr wrap="square"/>
                    <a:lstStyle/>
                    <a:p>
                      <a:pPr>
                        <a:defRPr sz="1000">
                          <a:latin typeface="Calibri"/>
                        </a:defRPr>
                      </a:pPr>
                      <a:r>
                        <a:t>High-performance plastics often carry a premium. Exploring filled polypropylenes can offer significant material cost savings without compromising essential mechanical properties for tail lamp housings. Physics: The primary function of the housing is structural support and environmental sealing.  Filled PP offers good stiffness and dimensional stability, while talc-fill can further enhance these properties and reduce shrinkage. Validation will involve material property testing (tensile strength, flexural modulus, impact resistance - Izod/Charpy) to ensure it meets the design specifications. Thermal stability testing (heat deflection temperature) and UV aging tests will be critical.  FEA simulations will be used to confirm structural integrity under load and vibration.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High-performance plastics often carry a premium. Exploring filled polypropylenes can offer significant material cost savings without compromising essential mechanical properties for tail lamp housings. Physics: The primary function of the housing is structural support and environmental sealing.  Filled PP offers good stiffness and dimensional stability, while talc-fill can further enhance these properties and reduce shrinkage. Validation will involve material property testing (tensile strength, flexural modulus, impact resistance - Izod/Charpy) to ensure it meets the design specifications. Thermal stability testing (heat deflection temperature) and UV aging tests will be critical.  FEA simulations will be used to confirm structural integrity under load and vibration.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Simplify the tail lamp electrical connector by moving from a multi-pin, sealed connector to a simpler, fewer-pin connector or a direct wire-to-board connection with appropriate sealing and strain relief, assuming the signal complexity allows.</a:t>
                      </a:r>
                    </a:p>
                  </a:txBody>
                  <a:tcPr/>
                </a:tc>
                <a:tc>
                  <a:txBody>
                    <a:bodyPr wrap="square"/>
                    <a:lstStyle/>
                    <a:p>
                      <a:pPr>
                        <a:defRPr sz="1000">
                          <a:latin typeface="Calibri"/>
                        </a:defRPr>
                      </a:pPr>
                      <a:r>
                        <a:t>Complex connectors add cost through the connector housing, pins, and assembly labor. Simplification can lead to direct savings. Physics: This relies on the ability to consolidate electrical functions into fewer pins or eliminate them entirely if direct connections are feasible.  The fundamental principle is ensuring reliable electrical contact and environmental protection. Validation will involve testing the simplified connection for electrical continuity, vibration resistance, and ingress protection (IP rating) against the required automotive standards.  Current carrying capacity and voltage drop across the connection will also be verified.</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Complex connectors add cost through the connector housing, pins, and assembly labor. Simplification can lead to direct savings. Physics: This relies on the ability to consolidate electrical functions into fewer pins or eliminate them entirely if direct connections are feasible.  The fundamental principle is ensuring reliable electrical contact and environmental protection. Validation will involve testing the simplified connection for electrical continuity, vibration resistance, and ingress protection (IP rating) against the required automotive standards.  Current carrying capacity and voltage drop across the connection will also be verified.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Eliminate the dedicated light guide for the rear fog lamp if its functionality can be integrated into the main brake light illumination or a secondary brake light, provided regulatory compliance can still be met by the combined illumination.</a:t>
                      </a:r>
                    </a:p>
                  </a:txBody>
                  <a:tcPr/>
                </a:tc>
                <a:tc>
                  <a:txBody>
                    <a:bodyPr wrap="square"/>
                    <a:lstStyle/>
                    <a:p>
                      <a:pPr>
                        <a:defRPr sz="1000">
                          <a:latin typeface="Calibri"/>
                        </a:defRPr>
                      </a:pPr>
                      <a:r>
                        <a:t>A dedicated light guide for a single-function lamp adds complexity and cost. Integrating this function into existing illuminated areas simplifies the design. Physics: This hinges on the ability to achieve the required intensity and visibility for the rear fog lamp function from an already illuminated component (e.g., brake light) without compromising its primary function or violating regulations.  Validation will involve photometric measurements of the combined illumination to ensure the rear fog lamp meets its specific intensity and visibility requirements, especially in adverse weather conditions.  Regulatory review for compliance with UN ECE R38 or equivalent standards is paramount.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A dedicated light guide for a single-function lamp adds complexity and cost. Integrating this function into existing illuminated areas simplifies the design. Physics: This hinges on the ability to achieve the required intensity and visibility for the rear fog lamp function from an already illuminated component (e.g., brake light) without compromising its primary function or violating regulations.  Validation will involve photometric measurements of the combined illumination to ensure the rear fog lamp meets its specific intensity and visibility requirements, especially in adverse weather conditions.  Regulatory review for compliance with UN ECE R38 or equivalent standards is paramount.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Consolidate the tail lamp control logic into the Body Control Module (BCM) or a dedicated micro-controller within the vehicle's existing network, rather than using a separate, dedicated controller within the tail lamp assembly, if current complexity allows.</a:t>
                      </a:r>
                    </a:p>
                  </a:txBody>
                  <a:tcPr/>
                </a:tc>
                <a:tc>
                  <a:txBody>
                    <a:bodyPr wrap="square"/>
                    <a:lstStyle/>
                    <a:p>
                      <a:pPr>
                        <a:defRPr sz="1000">
                          <a:latin typeface="Calibri"/>
                        </a:defRPr>
                      </a:pPr>
                      <a:r>
                        <a:t>Dedicated controllers within lighting modules add cost and complexity. Centralizing control within the vehicle's main ECUs leverages existing infrastructure. Physics: This relies on the vehicle's network (CAN, LIN) having sufficient bandwidth and processing power to handle the tail lamp control signals.  The principle is to reduce distributed intelligence and associated hardware. Validation will involve communication protocol testing to ensure reliable data exchange between the BCM and the tail lamps.  Functional testing of all tail lamp operations (parking lights, brake lights, turn signals, reverse lights, fog lights) controlled by the BCM will be performed.  Electromagnetic compatibility (EMC) testing of the integrated system is crucial.</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Dedicated controllers within lighting modules add cost and complexity. Centralizing control within the vehicle's main ECUs leverages existing infrastructure. Physics: This relies on the vehicle's network (CAN, LIN) having sufficient bandwidth and processing power to handle the tail lamp control signals.  The principle is to reduce distributed intelligence and associated hardware. Validation will involve communication protocol testing to ensure reliable data exchange between the BCM and the tail lamps.  Functional testing of all tail lamp operations (parking lights, brake lights, turn signals, reverse lights, fog lights) controlled by the BCM will be performed.  Electromagnetic compatibility (EMC) testing of the integrated system is crucial.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Streamline Design and Technical Team Collaboration</a:t>
                      </a:r>
                    </a:p>
                  </a:txBody>
                  <a:tcPr/>
                </a:tc>
                <a:tc>
                  <a:txBody>
                    <a:bodyPr wrap="square"/>
                    <a:lstStyle/>
                    <a:p>
                      <a:pPr>
                        <a:defRPr sz="1000">
                          <a:latin typeface="Calibri"/>
                        </a:defRPr>
                      </a:pPr>
                      <a:r>
                        <a:t>Implement cross-functional workshops and integrated project management tools to foster better communication and alignment between design and technical engineering teams. This can reduce rework and accelerate development cycles, leading to cost savings.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cross-functional workshops and integrated project management tools to foster better communication and alignment between design and technical engineering teams. This can reduce rework and accelerate development cycles, leading to cost savings.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Optimize Aerodynamic Configurations for Specific Tracks</a:t>
                      </a:r>
                    </a:p>
                  </a:txBody>
                  <a:tcPr/>
                </a:tc>
                <a:tc>
                  <a:txBody>
                    <a:bodyPr wrap="square"/>
                    <a:lstStyle/>
                    <a:p>
                      <a:pPr>
                        <a:defRPr sz="1000">
                          <a:latin typeface="Calibri"/>
                        </a:defRPr>
                      </a:pPr>
                      <a:r>
                        <a:t>Conduct detailed CFD analysis and wind tunnel testing to identify and implement aerodynamic packages that are optimized for low downforce circuits (e.g., Monza, Baku, Vegas). This can involve designing specific wing elements or bodywork modifications that reduce drag and improve straight-line speed, potentially reducing the need for excessively powerful and costly engine configurations. Source: https://www.f1technical.net/forum/viewtopic.php?t=32054&amp;start=8220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Conduct detailed CFD analysis and wind tunnel testing to identify and implement aerodynamic packages that are optimized for low downforce circuits (e.g., Monza, Baku, Vegas). This can involve designing specific wing elements or bodywork modifications that reduce drag and improve straight-line speed, potentially reducing the need for excessively powerful and costly engine configurations. Source: https://www.f1technical.net/forum/viewtopic.php?t=32054&amp;start=8220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13</a:t>
            </a:r>
          </a:p>
          <a:p>
            <a:pPr>
              <a:defRPr sz="1000">
                <a:latin typeface="Calibri"/>
              </a:defRPr>
            </a:pPr>
            <a:r>
              <a:t>• Total Potential Savings: INR 356.00</a:t>
            </a:r>
          </a:p>
          <a:p>
            <a:pPr>
              <a:defRPr sz="1000">
                <a:latin typeface="Calibri"/>
              </a:defRPr>
            </a:pPr>
            <a:r>
              <a:t>• Implemented Ideas: 0</a:t>
            </a:r>
          </a:p>
          <a:p>
            <a:pPr>
              <a:defRPr sz="1000">
                <a:latin typeface="Calibri"/>
              </a:defRPr>
            </a:pPr>
            <a:r>
              <a:t>• Status OK: 0</a:t>
            </a:r>
          </a:p>
          <a:p>
            <a:pPr>
              <a:defRPr sz="1000">
                <a:latin typeface="Calibri"/>
              </a:defRPr>
            </a:pPr>
            <a:r>
              <a:t>• Status TBD: 1</a:t>
            </a:r>
          </a:p>
          <a:p>
            <a:pPr>
              <a:defRPr sz="1000">
                <a:latin typeface="Calibri"/>
              </a:defRPr>
            </a:pPr>
            <a:r>
              <a:t>• Status NG: 3</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13 ideas analyzed.</a:t>
            </a:r>
          </a:p>
          <a:p>
            <a:pPr>
              <a:defRPr sz="1800">
                <a:latin typeface="Calibri"/>
              </a:defRPr>
            </a:pPr>
            <a:r>
              <a:t>Total Savings: INR 356.00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
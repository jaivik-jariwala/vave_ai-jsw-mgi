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Sheet1!$A$2:$A$21</c:f>
              <c:strCache>
                <c:ptCount val="20"/>
                <c:pt idx="0">
                  <c:v>2311-PRODUCT-ID-01</c:v>
                </c:pt>
                <c:pt idx="1">
                  <c:v>2311-PRODUCT-ID-02</c:v>
                </c:pt>
                <c:pt idx="2">
                  <c:v>2311-PRODUCT-ID-03</c:v>
                </c:pt>
                <c:pt idx="3">
                  <c:v>2311-PRODUCT-ID-04</c:v>
                </c:pt>
                <c:pt idx="4">
                  <c:v>2311-PRODUCT-ID-05</c:v>
                </c:pt>
                <c:pt idx="5">
                  <c:v>2311-PRODUCT-ID-06</c:v>
                </c:pt>
                <c:pt idx="6">
                  <c:v>2311-PRODUCT-ID-07</c:v>
                </c:pt>
                <c:pt idx="7">
                  <c:v>2311-PRODUCT-ID-08</c:v>
                </c:pt>
                <c:pt idx="8">
                  <c:v>2311-PRODUCT-ID-09</c:v>
                </c:pt>
                <c:pt idx="9">
                  <c:v>2311-PRODUCT-ID-10</c:v>
                </c:pt>
                <c:pt idx="10">
                  <c:v>2311-PRODUCT-ID-11</c:v>
                </c:pt>
                <c:pt idx="11">
                  <c:v>2311-PRODUCT-ID-12</c:v>
                </c:pt>
                <c:pt idx="12">
                  <c:v>2311-PRODUCT-ID-13</c:v>
                </c:pt>
                <c:pt idx="13">
                  <c:v>2311-PRODUCT-ID-14</c:v>
                </c:pt>
                <c:pt idx="14">
                  <c:v>2311-PRODUCT-ID-15</c:v>
                </c:pt>
                <c:pt idx="15">
                  <c:v>2311-PRODUCT-ID-16</c:v>
                </c:pt>
                <c:pt idx="16">
                  <c:v>2311-PRODUCT-ID-17</c:v>
                </c:pt>
                <c:pt idx="17">
                  <c:v>2311-PRODUCT-ID-18</c:v>
                </c:pt>
                <c:pt idx="18">
                  <c:v>2311-PRODUCT-ID-19</c:v>
                </c:pt>
                <c:pt idx="19">
                  <c:v>2311-PRODUCT-ID-20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68.0</c:v>
                </c:pt>
                <c:pt idx="1">
                  <c:v>130.0</c:v>
                </c:pt>
                <c:pt idx="2">
                  <c:v>126.0</c:v>
                </c:pt>
                <c:pt idx="3">
                  <c:v>124.0</c:v>
                </c:pt>
                <c:pt idx="4">
                  <c:v>135.0</c:v>
                </c:pt>
                <c:pt idx="5">
                  <c:v>50.0</c:v>
                </c:pt>
                <c:pt idx="6">
                  <c:v>115.0</c:v>
                </c:pt>
                <c:pt idx="7">
                  <c:v>99.0</c:v>
                </c:pt>
                <c:pt idx="8">
                  <c:v>76.0</c:v>
                </c:pt>
                <c:pt idx="9">
                  <c:v>86.0</c:v>
                </c:pt>
                <c:pt idx="10">
                  <c:v>89.0</c:v>
                </c:pt>
                <c:pt idx="11">
                  <c:v>90.0</c:v>
                </c:pt>
                <c:pt idx="12">
                  <c:v>141.0</c:v>
                </c:pt>
                <c:pt idx="13">
                  <c:v>46.0</c:v>
                </c:pt>
                <c:pt idx="14">
                  <c:v>122.0</c:v>
                </c:pt>
                <c:pt idx="15">
                  <c:v>64.0</c:v>
                </c:pt>
                <c:pt idx="16">
                  <c:v>103.0</c:v>
                </c:pt>
                <c:pt idx="17">
                  <c:v>141.0</c:v>
                </c:pt>
                <c:pt idx="18">
                  <c:v>104.0</c:v>
                </c:pt>
                <c:pt idx="19">
                  <c:v>66.0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13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dual LED lamps used for rear license plate illumination with a pair of single LED lamps.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68.00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rubber bushes used on the wiper blade mounting bolts with the plastic protective cap.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Steel-Fuel Filler Door Assembly in MGI with a plastic assembly as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124.00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projection of the 'HECTOR' badging on the tailgate at the rear end of the car from 4mm to 2.5mm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Change the design of the lug nut used in MGI with the design of the lug nut used in KIA.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Wheel lug nut in MGI-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Overall length - 31.3mm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Thread length - 27.95mm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Wheel lug nut in KIA-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Overall length - 27.5mm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Thread length - 15mm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adhesives to glue the NVH Foam onto the engine cover instead of using steel holders on provisions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99.00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Protective Trims fitted onto the LHS and RHS mounting points of the third-row seats and cover the same with the fabric used on the vehicle floor.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76.00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length of the Seat Release Straps found on the second and third-row seats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86.00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width of the trunk liner flap by 60mm from the upper edge.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89.00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Decrease the width of the carpet by 100mm from the lower edge on the rear side of the trunk liner flap.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Eliminate the plastic trim provided around the bottom anchor point at the driver side seatbelt and follow the same methodology provided at the co-driver's side.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141.00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thickness of the rear wiper pivot bolt cover trim from 2mm to 1.3mm.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46.00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rubber seal provided on the roller arm of each door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fiberboard with velcro tape and carpet in the assembly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64.00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Relocate the Battery Negative Terminal Earthing Wire mount from the side to the top of the front suspension subframe of the vehicle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length of the connector terminal and instead of using two bolts, use a single bolt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3. Reduce the overall size and wall thickness of the Battery Negative Terminal Cast Clamp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103.00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diameter of the Headrest Rods from 12.6mm to 10mm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141.00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Utilize the single-piece rubber hose instead of the 2-piece rubber hose with a plastic T-connector.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104.00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height of the Headrest Rod Receptacle from 11.4mm to 8.5mm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66.00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20</a:t>
            </a:r>
          </a:p>
          <a:p>
            <a:pPr>
              <a:defRPr sz="1000">
                <a:latin typeface="Calibri"/>
              </a:defRPr>
            </a:pPr>
            <a:r>
              <a:t>• Total Potential Savings: INR 1,975.00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2</a:t>
            </a:r>
          </a:p>
          <a:p>
            <a:pPr>
              <a:defRPr sz="1000">
                <a:latin typeface="Calibri"/>
              </a:defRPr>
            </a:pPr>
            <a:r>
              <a:t>• Status TBD: 4</a:t>
            </a:r>
          </a:p>
          <a:p>
            <a:pPr>
              <a:defRPr sz="1000">
                <a:latin typeface="Calibri"/>
              </a:defRPr>
            </a:pPr>
            <a:r>
              <a:t>• Status NG: 13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20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1,975.00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
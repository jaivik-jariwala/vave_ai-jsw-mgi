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Sheet1!$A$2:$A$57</c:f>
              <c:strCache>
                <c:ptCount val="56"/>
                <c:pt idx="0">
                  <c:v>2311-ET-ID-03</c:v>
                </c:pt>
                <c:pt idx="1">
                  <c:v>2311-DA-ID-06</c:v>
                </c:pt>
                <c:pt idx="2">
                  <c:v>2311-DA-ID-22</c:v>
                </c:pt>
                <c:pt idx="3">
                  <c:v>2311-DA-ID-26</c:v>
                </c:pt>
                <c:pt idx="4">
                  <c:v>2311-SS-ID-10</c:v>
                </c:pt>
                <c:pt idx="5">
                  <c:v>2311-DA-ID-35</c:v>
                </c:pt>
                <c:pt idx="6">
                  <c:v>2311-IT-ID-26</c:v>
                </c:pt>
                <c:pt idx="7">
                  <c:v>2311-IT-ID-16</c:v>
                </c:pt>
                <c:pt idx="8">
                  <c:v>2311-ET-ID-27</c:v>
                </c:pt>
                <c:pt idx="9">
                  <c:v>2311-IT-ID-06</c:v>
                </c:pt>
                <c:pt idx="10">
                  <c:v>2311-FS-ID-02</c:v>
                </c:pt>
                <c:pt idx="11">
                  <c:v>2311-SS-ID-01</c:v>
                </c:pt>
                <c:pt idx="12">
                  <c:v>2311-DA-ID-07</c:v>
                </c:pt>
                <c:pt idx="13">
                  <c:v>2311-EL-ID-01</c:v>
                </c:pt>
                <c:pt idx="14">
                  <c:v>2311-FS-ID-01</c:v>
                </c:pt>
                <c:pt idx="15">
                  <c:v>2311-IP-ID-05</c:v>
                </c:pt>
                <c:pt idx="16">
                  <c:v>2311-PRODUCT-ID-13</c:v>
                </c:pt>
                <c:pt idx="17">
                  <c:v>2311-PRODUCT-ID-18</c:v>
                </c:pt>
                <c:pt idx="18">
                  <c:v>2311-ET-ID-17</c:v>
                </c:pt>
                <c:pt idx="19">
                  <c:v>2311-IP-ID-16</c:v>
                </c:pt>
                <c:pt idx="20">
                  <c:v>2311-IT-ID-17</c:v>
                </c:pt>
                <c:pt idx="21">
                  <c:v>2311-EL-ID-25</c:v>
                </c:pt>
                <c:pt idx="22">
                  <c:v>2311-EL-ID-17</c:v>
                </c:pt>
                <c:pt idx="23">
                  <c:v>2311-IP-ID-11</c:v>
                </c:pt>
                <c:pt idx="24">
                  <c:v>2311-EL-ID-11</c:v>
                </c:pt>
                <c:pt idx="25">
                  <c:v>2311-IT-ID-08</c:v>
                </c:pt>
                <c:pt idx="26">
                  <c:v>2311-EX-ID-01</c:v>
                </c:pt>
                <c:pt idx="27">
                  <c:v>2311-EL-ID-08</c:v>
                </c:pt>
                <c:pt idx="28">
                  <c:v>2311-DA-ID-10</c:v>
                </c:pt>
                <c:pt idx="29">
                  <c:v>2311-PRODUCT-ID-05</c:v>
                </c:pt>
                <c:pt idx="30">
                  <c:v>2311-BIW-ID-06</c:v>
                </c:pt>
                <c:pt idx="31">
                  <c:v>2311-DA-ID-25</c:v>
                </c:pt>
                <c:pt idx="32">
                  <c:v>2311-ET-ID-20</c:v>
                </c:pt>
                <c:pt idx="33">
                  <c:v>2311-ET-ID-07</c:v>
                </c:pt>
                <c:pt idx="34">
                  <c:v>2311-ET-ID-24</c:v>
                </c:pt>
                <c:pt idx="35">
                  <c:v>2311-DA-ID-12</c:v>
                </c:pt>
                <c:pt idx="36">
                  <c:v>2311-ET-ID-11</c:v>
                </c:pt>
                <c:pt idx="37">
                  <c:v>2311-IP-ID-01</c:v>
                </c:pt>
                <c:pt idx="38">
                  <c:v>2311-ST-ID-03</c:v>
                </c:pt>
                <c:pt idx="39">
                  <c:v>2311-IP-ID-10</c:v>
                </c:pt>
                <c:pt idx="40">
                  <c:v>2311-WT-ID-01</c:v>
                </c:pt>
                <c:pt idx="41">
                  <c:v>2311-BIW-ID-02</c:v>
                </c:pt>
                <c:pt idx="42">
                  <c:v>2311-PRODUCT-ID-02</c:v>
                </c:pt>
                <c:pt idx="43">
                  <c:v>2311-DA-ID-18</c:v>
                </c:pt>
                <c:pt idx="44">
                  <c:v>2311-DA-ID-20</c:v>
                </c:pt>
                <c:pt idx="45">
                  <c:v>2311-DA-ID-37</c:v>
                </c:pt>
                <c:pt idx="46">
                  <c:v>2311-EL-ID-23</c:v>
                </c:pt>
                <c:pt idx="47">
                  <c:v>2311-SP-ID-03</c:v>
                </c:pt>
                <c:pt idx="48">
                  <c:v>2311-DA-ID-27</c:v>
                </c:pt>
                <c:pt idx="49">
                  <c:v>2311-PRODUCT-ID-03</c:v>
                </c:pt>
                <c:pt idx="50">
                  <c:v>AI-GEN-01</c:v>
                </c:pt>
                <c:pt idx="51">
                  <c:v>AI-GEN-02</c:v>
                </c:pt>
                <c:pt idx="52">
                  <c:v>AI-GEN-03</c:v>
                </c:pt>
                <c:pt idx="53">
                  <c:v>AI-GEN-04</c:v>
                </c:pt>
                <c:pt idx="54">
                  <c:v>AI-GEN-05</c:v>
                </c:pt>
                <c:pt idx="55">
                  <c:v>AI-GEN-06</c:v>
                </c:pt>
              </c:strCache>
            </c:strRef>
          </c:cat>
          <c:val>
            <c:numRef>
              <c:f>Sheet1!$B$2:$B$57</c:f>
              <c:numCache>
                <c:formatCode>General</c:formatCode>
                <c:ptCount val="56"/>
                <c:pt idx="0">
                  <c:v>148.0</c:v>
                </c:pt>
                <c:pt idx="1">
                  <c:v>148.0</c:v>
                </c:pt>
                <c:pt idx="2">
                  <c:v>148.0</c:v>
                </c:pt>
                <c:pt idx="3">
                  <c:v>147.0</c:v>
                </c:pt>
                <c:pt idx="4">
                  <c:v>147.0</c:v>
                </c:pt>
                <c:pt idx="5">
                  <c:v>147.0</c:v>
                </c:pt>
                <c:pt idx="6">
                  <c:v>145.0</c:v>
                </c:pt>
                <c:pt idx="7">
                  <c:v>145.0</c:v>
                </c:pt>
                <c:pt idx="8">
                  <c:v>145.0</c:v>
                </c:pt>
                <c:pt idx="9">
                  <c:v>144.0</c:v>
                </c:pt>
                <c:pt idx="10">
                  <c:v>144.0</c:v>
                </c:pt>
                <c:pt idx="11">
                  <c:v>144.0</c:v>
                </c:pt>
                <c:pt idx="12">
                  <c:v>143.0</c:v>
                </c:pt>
                <c:pt idx="13">
                  <c:v>142.0</c:v>
                </c:pt>
                <c:pt idx="14">
                  <c:v>142.0</c:v>
                </c:pt>
                <c:pt idx="15">
                  <c:v>141.0</c:v>
                </c:pt>
                <c:pt idx="16">
                  <c:v>141.0</c:v>
                </c:pt>
                <c:pt idx="17">
                  <c:v>141.0</c:v>
                </c:pt>
                <c:pt idx="18">
                  <c:v>141.0</c:v>
                </c:pt>
                <c:pt idx="19">
                  <c:v>140.0</c:v>
                </c:pt>
                <c:pt idx="20">
                  <c:v>140.0</c:v>
                </c:pt>
                <c:pt idx="21">
                  <c:v>140.0</c:v>
                </c:pt>
                <c:pt idx="22">
                  <c:v>139.0</c:v>
                </c:pt>
                <c:pt idx="23">
                  <c:v>138.0</c:v>
                </c:pt>
                <c:pt idx="24">
                  <c:v>137.0</c:v>
                </c:pt>
                <c:pt idx="25">
                  <c:v>137.0</c:v>
                </c:pt>
                <c:pt idx="26">
                  <c:v>136.0</c:v>
                </c:pt>
                <c:pt idx="27">
                  <c:v>135.0</c:v>
                </c:pt>
                <c:pt idx="28">
                  <c:v>135.0</c:v>
                </c:pt>
                <c:pt idx="29">
                  <c:v>135.0</c:v>
                </c:pt>
                <c:pt idx="30">
                  <c:v>135.0</c:v>
                </c:pt>
                <c:pt idx="31">
                  <c:v>134.0</c:v>
                </c:pt>
                <c:pt idx="32">
                  <c:v>133.0</c:v>
                </c:pt>
                <c:pt idx="33">
                  <c:v>133.0</c:v>
                </c:pt>
                <c:pt idx="34">
                  <c:v>132.0</c:v>
                </c:pt>
                <c:pt idx="35">
                  <c:v>131.0</c:v>
                </c:pt>
                <c:pt idx="36">
                  <c:v>131.0</c:v>
                </c:pt>
                <c:pt idx="37">
                  <c:v>131.0</c:v>
                </c:pt>
                <c:pt idx="38">
                  <c:v>131.0</c:v>
                </c:pt>
                <c:pt idx="39">
                  <c:v>130.0</c:v>
                </c:pt>
                <c:pt idx="40">
                  <c:v>130.0</c:v>
                </c:pt>
                <c:pt idx="41">
                  <c:v>130.0</c:v>
                </c:pt>
                <c:pt idx="42">
                  <c:v>130.0</c:v>
                </c:pt>
                <c:pt idx="43">
                  <c:v>129.0</c:v>
                </c:pt>
                <c:pt idx="44">
                  <c:v>129.0</c:v>
                </c:pt>
                <c:pt idx="45">
                  <c:v>127.0</c:v>
                </c:pt>
                <c:pt idx="46">
                  <c:v>127.0</c:v>
                </c:pt>
                <c:pt idx="47">
                  <c:v>127.0</c:v>
                </c:pt>
                <c:pt idx="48">
                  <c:v>126.0</c:v>
                </c:pt>
                <c:pt idx="49">
                  <c:v>126.0</c:v>
                </c:pt>
                <c:pt idx="50">
                  <c:v>0</c:v>
                </c:pt>
                <c:pt idx="51">
                  <c:v>0</c:v>
                </c:pt>
                <c:pt idx="52">
                  <c:v>0</c:v>
                </c:pt>
                <c:pt idx="53">
                  <c:v>0</c:v>
                </c:pt>
                <c:pt idx="54">
                  <c:v>0</c:v>
                </c:pt>
                <c:pt idx="55">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2</c:v>
                </c:pt>
                <c:pt idx="2">
                  <c:v>16</c:v>
                </c:pt>
                <c:pt idx="3">
                  <c:v>30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2311-ET-ID-03</a:t>
                      </a:r>
                    </a:p>
                  </a:txBody>
                  <a:tcPr/>
                </a:tc>
                <a:tc>
                  <a:txBody>
                    <a:bodyPr wrap="square"/>
                    <a:lstStyle/>
                    <a:p>
                      <a:pPr>
                        <a:defRPr sz="1000">
                          <a:latin typeface="Calibri"/>
                        </a:defRPr>
                      </a:pPr>
                      <a:r>
                        <a:t>Remove the Air Extractor Vent Securing Trims affixed at both ends of the rear bumper brackets of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148.0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2311-DA-ID-06</a:t>
                      </a:r>
                    </a:p>
                  </a:txBody>
                  <a:tcPr/>
                </a:tc>
                <a:tc>
                  <a:txBody>
                    <a:bodyPr wrap="square"/>
                    <a:lstStyle/>
                    <a:p>
                      <a:pPr>
                        <a:defRPr sz="1000">
                          <a:latin typeface="Calibri"/>
                        </a:defRPr>
                      </a:pPr>
                      <a:r>
                        <a:t>Replace the plastic trim used on the Hood Prop Rod in MGI with a foam cover trim as in KIA</a:t>
                      </a:r>
                    </a:p>
                  </a:txBody>
                  <a:tcPr/>
                </a:tc>
                <a:tc>
                  <a:txBody>
                    <a:bodyPr wrap="square"/>
                    <a:lstStyle/>
                    <a:p>
                      <a:pPr>
                        <a:defRPr sz="1000">
                          <a:latin typeface="Calibri"/>
                        </a:defRPr>
                      </a:pPr>
                      <a:r>
                        <a:t>Check supplier feasibility</a:t>
                      </a:r>
                    </a:p>
                  </a:txBody>
                  <a:tcPr/>
                </a:tc>
                <a:tc>
                  <a:txBody>
                    <a:bodyPr wrap="square"/>
                    <a:lstStyle/>
                    <a:p>
                      <a:pPr>
                        <a:defRPr sz="1000">
                          <a:latin typeface="Calibri"/>
                        </a:defRPr>
                      </a:pPr>
                      <a:r>
                        <a:t>INR 148.0</a:t>
                      </a:r>
                    </a:p>
                  </a:txBody>
                  <a:tcPr/>
                </a:tc>
                <a:tc>
                  <a:txBody>
                    <a:bodyPr wrap="square"/>
                    <a:lstStyle/>
                    <a:p>
                      <a:pPr>
                        <a:defRPr sz="1000">
                          <a:latin typeface="Calibri"/>
                        </a:defRPr>
                      </a:pPr>
                      <a:r>
                        <a:t>NG</a:t>
                      </a:r>
                    </a:p>
                  </a:txBody>
                  <a:tcPr/>
                </a:tc>
                <a:tc>
                  <a:txBody>
                    <a:bodyPr wrap="square"/>
                    <a:lstStyle/>
                    <a:p>
                      <a:pPr>
                        <a:defRPr sz="1000">
                          <a:latin typeface="Calibri"/>
                        </a:defRPr>
                      </a:pPr>
                      <a:r>
                        <a:t>Check supplier feasibility</a:t>
                      </a:r>
                    </a:p>
                  </a:txBody>
                  <a:tcPr/>
                </a:tc>
                <a:tc>
                  <a:txBody>
                    <a:bodyPr wrap="square"/>
                    <a:lstStyle/>
                    <a:p>
                      <a:pPr>
                        <a:defRPr sz="1000">
                          <a:latin typeface="Calibri"/>
                        </a:defRPr>
                      </a:pPr>
                      <a:r>
                        <a:t>Chirag</a:t>
                      </a:r>
                    </a:p>
                  </a:txBody>
                  <a:tcPr/>
                </a:tc>
                <a:tc>
                  <a:txBody>
                    <a:bodyPr wrap="square"/>
                    <a:lstStyle/>
                    <a:p>
                      <a:pPr>
                        <a:defRPr sz="1000">
                          <a:latin typeface="Calibri"/>
                        </a:defRPr>
                      </a:pPr>
                      <a:r>
                        <a:t>2024-02-16 00:00:00</a:t>
                      </a:r>
                    </a:p>
                  </a:txBody>
                  <a:tcPr/>
                </a:tc>
              </a:tr>
              <a:tr h="320040">
                <a:tc>
                  <a:txBody>
                    <a:bodyPr wrap="square"/>
                    <a:lstStyle/>
                    <a:p>
                      <a:pPr>
                        <a:defRPr sz="1000">
                          <a:latin typeface="Calibri"/>
                        </a:defRPr>
                      </a:pPr>
                      <a:r>
                        <a:t>2311-DA-ID-22</a:t>
                      </a:r>
                    </a:p>
                  </a:txBody>
                  <a:tcPr/>
                </a:tc>
                <a:tc>
                  <a:txBody>
                    <a:bodyPr wrap="square"/>
                    <a:lstStyle/>
                    <a:p>
                      <a:pPr>
                        <a:defRPr sz="1000">
                          <a:latin typeface="Calibri"/>
                        </a:defRPr>
                      </a:pPr>
                      <a:r>
                        <a:t>Replace PA6-GF30 with PA6-GF15 + MD25 in the manufacture of the Exterior Door Handle Rear Trims</a:t>
                      </a:r>
                    </a:p>
                  </a:txBody>
                  <a:tcPr/>
                </a:tc>
                <a:tc>
                  <a:txBody>
                    <a:bodyPr wrap="square"/>
                    <a:lstStyle/>
                    <a:p>
                      <a:pPr>
                        <a:defRPr sz="1000">
                          <a:latin typeface="Calibri"/>
                        </a:defRPr>
                      </a:pPr>
                      <a:r>
                        <a:t>nan</a:t>
                      </a:r>
                    </a:p>
                  </a:txBody>
                  <a:tcPr/>
                </a:tc>
                <a:tc>
                  <a:txBody>
                    <a:bodyPr wrap="square"/>
                    <a:lstStyle/>
                    <a:p>
                      <a:pPr>
                        <a:defRPr sz="1000">
                          <a:latin typeface="Calibri"/>
                        </a:defRPr>
                      </a:pPr>
                      <a:r>
                        <a:t>INR 148.0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2311-DA-ID-26</a:t>
                      </a:r>
                    </a:p>
                  </a:txBody>
                  <a:tcPr/>
                </a:tc>
                <a:tc>
                  <a:txBody>
                    <a:bodyPr wrap="square"/>
                    <a:lstStyle/>
                    <a:p>
                      <a:pPr>
                        <a:defRPr sz="1000">
                          <a:latin typeface="Calibri"/>
                        </a:defRPr>
                      </a:pPr>
                      <a:r>
                        <a:t>Replace the ABS blend with PP-T20 in the manufacture of the Front and Rear Door Panel Side Trims in MGI</a:t>
                      </a:r>
                    </a:p>
                  </a:txBody>
                  <a:tcPr/>
                </a:tc>
                <a:tc>
                  <a:txBody>
                    <a:bodyPr wrap="square"/>
                    <a:lstStyle/>
                    <a:p>
                      <a:pPr>
                        <a:defRPr sz="1000">
                          <a:latin typeface="Calibri"/>
                        </a:defRPr>
                      </a:pPr>
                      <a:r>
                        <a:t>nan</a:t>
                      </a:r>
                    </a:p>
                  </a:txBody>
                  <a:tcPr/>
                </a:tc>
                <a:tc>
                  <a:txBody>
                    <a:bodyPr wrap="square"/>
                    <a:lstStyle/>
                    <a:p>
                      <a:pPr>
                        <a:defRPr sz="1000">
                          <a:latin typeface="Calibri"/>
                        </a:defRPr>
                      </a:pPr>
                      <a:r>
                        <a:t>INR 147.0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2311-SS-ID-10</a:t>
                      </a:r>
                    </a:p>
                  </a:txBody>
                  <a:tcPr/>
                </a:tc>
                <a:tc>
                  <a:txBody>
                    <a:bodyPr wrap="square"/>
                    <a:lstStyle/>
                    <a:p>
                      <a:pPr>
                        <a:defRPr sz="1000">
                          <a:latin typeface="Calibri"/>
                        </a:defRPr>
                      </a:pPr>
                      <a:r>
                        <a:t>Replace PP+EPDM-T20 used in the manufacture of the Second-Row Seat Bottom Cover and Cushion Cover Trims of MGI with standard PP</a:t>
                      </a:r>
                    </a:p>
                  </a:txBody>
                  <a:tcPr/>
                </a:tc>
                <a:tc>
                  <a:txBody>
                    <a:bodyPr wrap="square"/>
                    <a:lstStyle/>
                    <a:p>
                      <a:pPr>
                        <a:defRPr sz="1000">
                          <a:latin typeface="Calibri"/>
                        </a:defRPr>
                      </a:pPr>
                      <a:r>
                        <a:t>All trims foam &amp; cover idea will be again checked for feasibility with supplier &amp; BC evaluation.</a:t>
                      </a:r>
                    </a:p>
                  </a:txBody>
                  <a:tcPr/>
                </a:tc>
                <a:tc>
                  <a:txBody>
                    <a:bodyPr wrap="square"/>
                    <a:lstStyle/>
                    <a:p>
                      <a:pPr>
                        <a:defRPr sz="1000">
                          <a:latin typeface="Calibri"/>
                        </a:defRPr>
                      </a:pPr>
                      <a:r>
                        <a:t>INR 147.0</a:t>
                      </a:r>
                    </a:p>
                  </a:txBody>
                  <a:tcPr/>
                </a:tc>
                <a:tc>
                  <a:txBody>
                    <a:bodyPr wrap="square"/>
                    <a:lstStyle/>
                    <a:p>
                      <a:pPr>
                        <a:defRPr sz="1000">
                          <a:latin typeface="Calibri"/>
                        </a:defRPr>
                      </a:pPr>
                      <a:r>
                        <a:t>NG</a:t>
                      </a:r>
                    </a:p>
                  </a:txBody>
                  <a:tcPr/>
                </a:tc>
                <a:tc>
                  <a:txBody>
                    <a:bodyPr wrap="square"/>
                    <a:lstStyle/>
                    <a:p>
                      <a:pPr>
                        <a:defRPr sz="1000">
                          <a:latin typeface="Calibri"/>
                        </a:defRPr>
                      </a:pPr>
                      <a:r>
                        <a:t>All trims foam &amp; cover idea will be again checked for feasibility with supplier &amp; BC evaluation.</a:t>
                      </a:r>
                    </a:p>
                  </a:txBody>
                  <a:tcPr/>
                </a:tc>
                <a:tc>
                  <a:txBody>
                    <a:bodyPr wrap="square"/>
                    <a:lstStyle/>
                    <a:p>
                      <a:pPr>
                        <a:defRPr sz="1000">
                          <a:latin typeface="Calibri"/>
                        </a:defRPr>
                      </a:pPr>
                      <a:r>
                        <a:t>Kalp/Nishant</a:t>
                      </a:r>
                    </a:p>
                  </a:txBody>
                  <a:tcPr/>
                </a:tc>
                <a:tc>
                  <a:txBody>
                    <a:bodyPr wrap="square"/>
                    <a:lstStyle/>
                    <a:p>
                      <a:pPr>
                        <a:defRPr sz="1000">
                          <a:latin typeface="Calibri"/>
                        </a:defRPr>
                      </a:pPr>
                      <a:r>
                        <a:t>2023-12-31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2311-DA-ID-35</a:t>
                      </a:r>
                    </a:p>
                  </a:txBody>
                  <a:tcPr/>
                </a:tc>
                <a:tc>
                  <a:txBody>
                    <a:bodyPr wrap="square"/>
                    <a:lstStyle/>
                    <a:p>
                      <a:pPr>
                        <a:defRPr sz="1000">
                          <a:latin typeface="Calibri"/>
                        </a:defRPr>
                      </a:pPr>
                      <a:r>
                        <a:t>Replace PBT-GF30 with PA6-GF30 in the manufacture of the gear casings.</a:t>
                      </a:r>
                    </a:p>
                  </a:txBody>
                  <a:tcPr/>
                </a:tc>
                <a:tc>
                  <a:txBody>
                    <a:bodyPr wrap="square"/>
                    <a:lstStyle/>
                    <a:p>
                      <a:pPr>
                        <a:defRPr sz="1000">
                          <a:latin typeface="Calibri"/>
                        </a:defRPr>
                      </a:pPr>
                      <a:r>
                        <a:t>Consider in homeroom bucket</a:t>
                      </a:r>
                    </a:p>
                  </a:txBody>
                  <a:tcPr/>
                </a:tc>
                <a:tc>
                  <a:txBody>
                    <a:bodyPr wrap="square"/>
                    <a:lstStyle/>
                    <a:p>
                      <a:pPr>
                        <a:defRPr sz="1000">
                          <a:latin typeface="Calibri"/>
                        </a:defRPr>
                      </a:pPr>
                      <a:r>
                        <a:t>INR 147.0</a:t>
                      </a:r>
                    </a:p>
                  </a:txBody>
                  <a:tcPr/>
                </a:tc>
                <a:tc>
                  <a:txBody>
                    <a:bodyPr wrap="square"/>
                    <a:lstStyle/>
                    <a:p>
                      <a:pPr>
                        <a:defRPr sz="1000">
                          <a:latin typeface="Calibri"/>
                        </a:defRPr>
                      </a:pPr>
                      <a:r>
                        <a:t>Hold</a:t>
                      </a:r>
                    </a:p>
                  </a:txBody>
                  <a:tcPr/>
                </a:tc>
                <a:tc>
                  <a:txBody>
                    <a:bodyPr wrap="square"/>
                    <a:lstStyle/>
                    <a:p>
                      <a:pPr>
                        <a:defRPr sz="1000">
                          <a:latin typeface="Calibri"/>
                        </a:defRPr>
                      </a:pPr>
                      <a:r>
                        <a:t>Consider in homeroom bucket</a:t>
                      </a:r>
                    </a:p>
                  </a:txBody>
                  <a:tcPr/>
                </a:tc>
                <a:tc>
                  <a:txBody>
                    <a:bodyPr wrap="square"/>
                    <a:lstStyle/>
                    <a:p>
                      <a:pPr>
                        <a:defRPr sz="1000">
                          <a:latin typeface="Calibri"/>
                        </a:defRPr>
                      </a:pPr>
                      <a:r>
                        <a:t>Ratnadeep</a:t>
                      </a:r>
                    </a:p>
                  </a:txBody>
                  <a:tcPr/>
                </a:tc>
                <a:tc>
                  <a:txBody>
                    <a:bodyPr wrap="square"/>
                    <a:lstStyle/>
                    <a:p>
                      <a:pPr>
                        <a:defRPr sz="1000">
                          <a:latin typeface="Calibri"/>
                        </a:defRPr>
                      </a:pPr>
                      <a:r>
                        <a:t>TBC</a:t>
                      </a:r>
                    </a:p>
                  </a:txBody>
                  <a:tcPr/>
                </a:tc>
              </a:tr>
              <a:tr h="320040">
                <a:tc>
                  <a:txBody>
                    <a:bodyPr wrap="square"/>
                    <a:lstStyle/>
                    <a:p>
                      <a:pPr>
                        <a:defRPr sz="1000">
                          <a:latin typeface="Calibri"/>
                        </a:defRPr>
                      </a:pPr>
                      <a:r>
                        <a:t>2311-IT-ID-26</a:t>
                      </a:r>
                    </a:p>
                  </a:txBody>
                  <a:tcPr/>
                </a:tc>
                <a:tc>
                  <a:txBody>
                    <a:bodyPr wrap="square"/>
                    <a:lstStyle/>
                    <a:p>
                      <a:pPr>
                        <a:defRPr sz="1000">
                          <a:latin typeface="Calibri"/>
                        </a:defRPr>
                      </a:pPr>
                      <a:r>
                        <a:t>Replace PP-T20 with PP in the manufacture of the grab handles within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2311-IT-ID-16</a:t>
                      </a:r>
                    </a:p>
                  </a:txBody>
                  <a:tcPr/>
                </a:tc>
                <a:tc>
                  <a:txBody>
                    <a:bodyPr wrap="square"/>
                    <a:lstStyle/>
                    <a:p>
                      <a:pPr>
                        <a:defRPr sz="1000">
                          <a:latin typeface="Calibri"/>
                        </a:defRPr>
                      </a:pPr>
                      <a:r>
                        <a:t>Replace PP+PE-T10 used in the manufacture of the Front A-Pillar Interior Trims in MGI with standard PP+PE</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2311-ET-ID-27</a:t>
                      </a:r>
                    </a:p>
                  </a:txBody>
                  <a:tcPr/>
                </a:tc>
                <a:tc>
                  <a:txBody>
                    <a:bodyPr wrap="square"/>
                    <a:lstStyle/>
                    <a:p>
                      <a:pPr>
                        <a:defRPr sz="1000">
                          <a:latin typeface="Calibri"/>
                        </a:defRPr>
                      </a:pPr>
                      <a:r>
                        <a:t>Replace the Thinsulate Acoustic Insulation used on the Front &amp; Rear Wheel Arch LH &amp; RH Liners for NVH restriction within MGI with Noiselite PP-PET Insulation</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2311-IT-ID-06</a:t>
                      </a:r>
                    </a:p>
                  </a:txBody>
                  <a:tcPr/>
                </a:tc>
                <a:tc>
                  <a:txBody>
                    <a:bodyPr wrap="square"/>
                    <a:lstStyle/>
                    <a:p>
                      <a:pPr>
                        <a:defRPr sz="1000">
                          <a:latin typeface="Calibri"/>
                        </a:defRPr>
                      </a:pPr>
                      <a:r>
                        <a:t>Eliminate the dead pedal trim provided in MGI.</a:t>
                      </a:r>
                    </a:p>
                  </a:txBody>
                  <a:tcPr/>
                </a:tc>
                <a:tc>
                  <a:txBody>
                    <a:bodyPr wrap="square"/>
                    <a:lstStyle/>
                    <a:p>
                      <a:pPr>
                        <a:defRPr sz="1000">
                          <a:latin typeface="Calibri"/>
                        </a:defRPr>
                      </a:pPr>
                      <a:r>
                        <a:t>Confirm date for sample availability (Functional &amp; Appearance check) - 1Nos 6 seater carpet without cut-out for dead pedal</a:t>
                      </a:r>
                    </a:p>
                  </a:txBody>
                  <a:tcPr/>
                </a:tc>
                <a:tc>
                  <a:txBody>
                    <a:bodyPr wrap="square"/>
                    <a:lstStyle/>
                    <a:p>
                      <a:pPr>
                        <a:defRPr sz="1000">
                          <a:latin typeface="Calibri"/>
                        </a:defRPr>
                      </a:pPr>
                      <a:r>
                        <a:t>INR 144.0</a:t>
                      </a:r>
                    </a:p>
                  </a:txBody>
                  <a:tcPr/>
                </a:tc>
                <a:tc>
                  <a:txBody>
                    <a:bodyPr wrap="square"/>
                    <a:lstStyle/>
                    <a:p>
                      <a:pPr>
                        <a:defRPr sz="1000">
                          <a:latin typeface="Calibri"/>
                        </a:defRPr>
                      </a:pPr>
                      <a:r>
                        <a:t>OK</a:t>
                      </a:r>
                    </a:p>
                  </a:txBody>
                  <a:tcPr/>
                </a:tc>
                <a:tc>
                  <a:txBody>
                    <a:bodyPr wrap="square"/>
                    <a:lstStyle/>
                    <a:p>
                      <a:pPr>
                        <a:defRPr sz="1000">
                          <a:latin typeface="Calibri"/>
                        </a:defRPr>
                      </a:pPr>
                      <a:r>
                        <a:t>Confirm date for sample availability (Functional &amp; Appearance check) - 1Nos 6 seater carpet without cut-out for dead pedal</a:t>
                      </a:r>
                    </a:p>
                  </a:txBody>
                  <a:tcPr/>
                </a:tc>
                <a:tc>
                  <a:txBody>
                    <a:bodyPr wrap="square"/>
                    <a:lstStyle/>
                    <a:p>
                      <a:pPr>
                        <a:defRPr sz="1000">
                          <a:latin typeface="Calibri"/>
                        </a:defRPr>
                      </a:pPr>
                      <a:r>
                        <a:t>Akhil</a:t>
                      </a:r>
                    </a:p>
                  </a:txBody>
                  <a:tcPr/>
                </a:tc>
                <a:tc>
                  <a:txBody>
                    <a:bodyPr wrap="square"/>
                    <a:lstStyle/>
                    <a:p>
                      <a:pPr>
                        <a:defRPr sz="1000">
                          <a:latin typeface="Calibri"/>
                        </a:defRPr>
                      </a:pPr>
                      <a:r>
                        <a:t>2024-06-15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2311-FS-ID-02</a:t>
                      </a:r>
                    </a:p>
                  </a:txBody>
                  <a:tcPr/>
                </a:tc>
                <a:tc>
                  <a:txBody>
                    <a:bodyPr wrap="square"/>
                    <a:lstStyle/>
                    <a:p>
                      <a:pPr>
                        <a:defRPr sz="1000">
                          <a:latin typeface="Calibri"/>
                        </a:defRPr>
                      </a:pPr>
                      <a:r>
                        <a:t>Replace the Steel access cover used within MGI with a Plastic (PP(assumed)) one as used in KIA</a:t>
                      </a:r>
                    </a:p>
                  </a:txBody>
                  <a:tcPr/>
                </a:tc>
                <a:tc>
                  <a:txBody>
                    <a:bodyPr wrap="square"/>
                    <a:lstStyle/>
                    <a:p>
                      <a:pPr>
                        <a:defRPr sz="1000">
                          <a:latin typeface="Calibri"/>
                        </a:defRPr>
                      </a:pPr>
                      <a:r>
                        <a:t>Confirm technical feasibilty </a:t>
                      </a:r>
                    </a:p>
                  </a:txBody>
                  <a:tcPr/>
                </a:tc>
                <a:tc>
                  <a:txBody>
                    <a:bodyPr wrap="square"/>
                    <a:lstStyle/>
                    <a:p>
                      <a:pPr>
                        <a:defRPr sz="1000">
                          <a:latin typeface="Calibri"/>
                        </a:defRPr>
                      </a:pPr>
                      <a:r>
                        <a:t>INR 144.0</a:t>
                      </a:r>
                    </a:p>
                  </a:txBody>
                  <a:tcPr/>
                </a:tc>
                <a:tc>
                  <a:txBody>
                    <a:bodyPr wrap="square"/>
                    <a:lstStyle/>
                    <a:p>
                      <a:pPr>
                        <a:defRPr sz="1000">
                          <a:latin typeface="Calibri"/>
                        </a:defRPr>
                      </a:pPr>
                      <a:r>
                        <a:t>TBD</a:t>
                      </a:r>
                    </a:p>
                  </a:txBody>
                  <a:tcPr/>
                </a:tc>
                <a:tc>
                  <a:txBody>
                    <a:bodyPr wrap="square"/>
                    <a:lstStyle/>
                    <a:p>
                      <a:pPr>
                        <a:defRPr sz="1000">
                          <a:latin typeface="Calibri"/>
                        </a:defRPr>
                      </a:pPr>
                      <a:r>
                        <a:t>Confirm technical feasibilty </a:t>
                      </a:r>
                    </a:p>
                  </a:txBody>
                  <a:tcPr/>
                </a:tc>
                <a:tc>
                  <a:txBody>
                    <a:bodyPr wrap="square"/>
                    <a:lstStyle/>
                    <a:p>
                      <a:pPr>
                        <a:defRPr sz="1000">
                          <a:latin typeface="Calibri"/>
                        </a:defRPr>
                      </a:pPr>
                      <a:r>
                        <a:t>Sumanta</a:t>
                      </a:r>
                    </a:p>
                  </a:txBody>
                  <a:tcPr/>
                </a:tc>
                <a:tc>
                  <a:txBody>
                    <a:bodyPr wrap="square"/>
                    <a:lstStyle/>
                    <a:p>
                      <a:pPr>
                        <a:defRPr sz="1000">
                          <a:latin typeface="Calibri"/>
                        </a:defRPr>
                      </a:pPr>
                      <a:r>
                        <a:t>2024-04-23 00:00:00</a:t>
                      </a:r>
                    </a:p>
                  </a:txBody>
                  <a:tcPr/>
                </a:tc>
              </a:tr>
              <a:tr h="320040">
                <a:tc>
                  <a:txBody>
                    <a:bodyPr wrap="square"/>
                    <a:lstStyle/>
                    <a:p>
                      <a:pPr>
                        <a:defRPr sz="1000">
                          <a:latin typeface="Calibri"/>
                        </a:defRPr>
                      </a:pPr>
                      <a:r>
                        <a:t>2311-SS-ID-01</a:t>
                      </a:r>
                    </a:p>
                  </a:txBody>
                  <a:tcPr/>
                </a:tc>
                <a:tc>
                  <a:txBody>
                    <a:bodyPr wrap="square"/>
                    <a:lstStyle/>
                    <a:p>
                      <a:pPr>
                        <a:defRPr sz="1000">
                          <a:latin typeface="Calibri"/>
                        </a:defRPr>
                      </a:pPr>
                      <a:r>
                        <a:t>Reduce the width from the upper edge of the PVC panel of seat vent by 90mm.</a:t>
                      </a:r>
                    </a:p>
                  </a:txBody>
                  <a:tcPr/>
                </a:tc>
                <a:tc>
                  <a:txBody>
                    <a:bodyPr wrap="square"/>
                    <a:lstStyle/>
                    <a:p>
                      <a:pPr>
                        <a:defRPr sz="1000">
                          <a:latin typeface="Calibri"/>
                        </a:defRPr>
                      </a:pPr>
                      <a:r>
                        <a:t>nan</a:t>
                      </a:r>
                    </a:p>
                  </a:txBody>
                  <a:tcPr/>
                </a:tc>
                <a:tc>
                  <a:txBody>
                    <a:bodyPr wrap="square"/>
                    <a:lstStyle/>
                    <a:p>
                      <a:pPr>
                        <a:defRPr sz="1000">
                          <a:latin typeface="Calibri"/>
                        </a:defRPr>
                      </a:pPr>
                      <a:r>
                        <a:t>INR 144.0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2311-DA-ID-07</a:t>
                      </a:r>
                    </a:p>
                  </a:txBody>
                  <a:tcPr/>
                </a:tc>
                <a:tc>
                  <a:txBody>
                    <a:bodyPr wrap="square"/>
                    <a:lstStyle/>
                    <a:p>
                      <a:pPr>
                        <a:defRPr sz="1000">
                          <a:latin typeface="Calibri"/>
                        </a:defRPr>
                      </a:pPr>
                      <a:r>
                        <a:t>Replace PA6-GF30 with PA6-GF20 in the manufacture of the Tailgate Release/Handle Trim</a:t>
                      </a:r>
                    </a:p>
                  </a:txBody>
                  <a:tcPr/>
                </a:tc>
                <a:tc>
                  <a:txBody>
                    <a:bodyPr wrap="square"/>
                    <a:lstStyle/>
                    <a:p>
                      <a:pPr>
                        <a:defRPr sz="1000">
                          <a:latin typeface="Calibri"/>
                        </a:defRPr>
                      </a:pPr>
                      <a:r>
                        <a:t>Confirm change content</a:t>
                      </a:r>
                    </a:p>
                  </a:txBody>
                  <a:tcPr/>
                </a:tc>
                <a:tc>
                  <a:txBody>
                    <a:bodyPr wrap="square"/>
                    <a:lstStyle/>
                    <a:p>
                      <a:pPr>
                        <a:defRPr sz="1000">
                          <a:latin typeface="Calibri"/>
                        </a:defRPr>
                      </a:pPr>
                      <a:r>
                        <a:t>INR 143.0</a:t>
                      </a:r>
                    </a:p>
                  </a:txBody>
                  <a:tcPr/>
                </a:tc>
                <a:tc>
                  <a:txBody>
                    <a:bodyPr wrap="square"/>
                    <a:lstStyle/>
                    <a:p>
                      <a:pPr>
                        <a:defRPr sz="1000">
                          <a:latin typeface="Calibri"/>
                        </a:defRPr>
                      </a:pPr>
                      <a:r>
                        <a:t>NG</a:t>
                      </a:r>
                    </a:p>
                  </a:txBody>
                  <a:tcPr/>
                </a:tc>
                <a:tc>
                  <a:txBody>
                    <a:bodyPr wrap="square"/>
                    <a:lstStyle/>
                    <a:p>
                      <a:pPr>
                        <a:defRPr sz="1000">
                          <a:latin typeface="Calibri"/>
                        </a:defRPr>
                      </a:pPr>
                      <a:r>
                        <a:t>Confirm change content</a:t>
                      </a:r>
                    </a:p>
                  </a:txBody>
                  <a:tcPr/>
                </a:tc>
                <a:tc>
                  <a:txBody>
                    <a:bodyPr wrap="square"/>
                    <a:lstStyle/>
                    <a:p>
                      <a:pPr>
                        <a:defRPr sz="1000">
                          <a:latin typeface="Calibri"/>
                        </a:defRPr>
                      </a:pPr>
                      <a:r>
                        <a:t>Narendra</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2311-EL-ID-01</a:t>
                      </a:r>
                    </a:p>
                  </a:txBody>
                  <a:tcPr/>
                </a:tc>
                <a:tc>
                  <a:txBody>
                    <a:bodyPr wrap="square"/>
                    <a:lstStyle/>
                    <a:p>
                      <a:pPr>
                        <a:defRPr sz="1000">
                          <a:latin typeface="Calibri"/>
                        </a:defRPr>
                      </a:pPr>
                      <a:r>
                        <a:t>Replace the 16-pin connector set used on the IRVM assembly with an 8-pin connector set.</a:t>
                      </a:r>
                    </a:p>
                  </a:txBody>
                  <a:tcPr/>
                </a:tc>
                <a:tc>
                  <a:txBody>
                    <a:bodyPr wrap="square"/>
                    <a:lstStyle/>
                    <a:p>
                      <a:pPr>
                        <a:defRPr sz="1000">
                          <a:latin typeface="Calibri"/>
                        </a:defRPr>
                      </a:pPr>
                      <a:r>
                        <a:t>Confirm on 10 pin connector availability with supplier (similar to Kia)</a:t>
                      </a:r>
                    </a:p>
                  </a:txBody>
                  <a:tcPr/>
                </a:tc>
                <a:tc>
                  <a:txBody>
                    <a:bodyPr wrap="square"/>
                    <a:lstStyle/>
                    <a:p>
                      <a:pPr>
                        <a:defRPr sz="1000">
                          <a:latin typeface="Calibri"/>
                        </a:defRPr>
                      </a:pPr>
                      <a:r>
                        <a:t>INR 142.0</a:t>
                      </a:r>
                    </a:p>
                  </a:txBody>
                  <a:tcPr/>
                </a:tc>
                <a:tc>
                  <a:txBody>
                    <a:bodyPr wrap="square"/>
                    <a:lstStyle/>
                    <a:p>
                      <a:pPr>
                        <a:defRPr sz="1000">
                          <a:latin typeface="Calibri"/>
                        </a:defRPr>
                      </a:pPr>
                      <a:r>
                        <a:t>NG</a:t>
                      </a:r>
                    </a:p>
                  </a:txBody>
                  <a:tcPr/>
                </a:tc>
                <a:tc>
                  <a:txBody>
                    <a:bodyPr wrap="square"/>
                    <a:lstStyle/>
                    <a:p>
                      <a:pPr>
                        <a:defRPr sz="1000">
                          <a:latin typeface="Calibri"/>
                        </a:defRPr>
                      </a:pPr>
                      <a:r>
                        <a:t>Confirm on 10 pin connector availability with supplier (similar to Kia)</a:t>
                      </a:r>
                    </a:p>
                  </a:txBody>
                  <a:tcPr/>
                </a:tc>
                <a:tc>
                  <a:txBody>
                    <a:bodyPr wrap="square"/>
                    <a:lstStyle/>
                    <a:p>
                      <a:pPr>
                        <a:defRPr sz="1000">
                          <a:latin typeface="Calibri"/>
                        </a:defRPr>
                      </a:pPr>
                      <a:r>
                        <a:t>Narendra</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2311-FS-ID-01</a:t>
                      </a:r>
                    </a:p>
                  </a:txBody>
                  <a:tcPr/>
                </a:tc>
                <a:tc>
                  <a:txBody>
                    <a:bodyPr wrap="square"/>
                    <a:lstStyle/>
                    <a:p>
                      <a:pPr>
                        <a:defRPr sz="1000">
                          <a:latin typeface="Calibri"/>
                        </a:defRPr>
                      </a:pPr>
                      <a:r>
                        <a:t>Remove the Neoprene Foam Sheaths present on the fuel lines and the fuel inlet hose of MGI</a:t>
                      </a:r>
                    </a:p>
                  </a:txBody>
                  <a:tcPr/>
                </a:tc>
                <a:tc>
                  <a:txBody>
                    <a:bodyPr wrap="square"/>
                    <a:lstStyle/>
                    <a:p>
                      <a:pPr>
                        <a:defRPr sz="1000">
                          <a:latin typeface="Calibri"/>
                        </a:defRPr>
                      </a:pPr>
                      <a:r>
                        <a:t>Confirm Kia routing photos for analysis with ASI</a:t>
                      </a:r>
                    </a:p>
                  </a:txBody>
                  <a:tcPr/>
                </a:tc>
                <a:tc>
                  <a:txBody>
                    <a:bodyPr wrap="square"/>
                    <a:lstStyle/>
                    <a:p>
                      <a:pPr>
                        <a:defRPr sz="1000">
                          <a:latin typeface="Calibri"/>
                        </a:defRPr>
                      </a:pPr>
                      <a:r>
                        <a:t>INR 142.0</a:t>
                      </a:r>
                    </a:p>
                  </a:txBody>
                  <a:tcPr/>
                </a:tc>
                <a:tc>
                  <a:txBody>
                    <a:bodyPr wrap="square"/>
                    <a:lstStyle/>
                    <a:p>
                      <a:pPr>
                        <a:defRPr sz="1000">
                          <a:latin typeface="Calibri"/>
                        </a:defRPr>
                      </a:pPr>
                      <a:r>
                        <a:t>NG</a:t>
                      </a:r>
                    </a:p>
                  </a:txBody>
                  <a:tcPr/>
                </a:tc>
                <a:tc>
                  <a:txBody>
                    <a:bodyPr wrap="square"/>
                    <a:lstStyle/>
                    <a:p>
                      <a:pPr>
                        <a:defRPr sz="1000">
                          <a:latin typeface="Calibri"/>
                        </a:defRPr>
                      </a:pPr>
                      <a:r>
                        <a:t>Confirm Kia routing photos for analysis with ASI</a:t>
                      </a:r>
                    </a:p>
                  </a:txBody>
                  <a:tcPr/>
                </a:tc>
                <a:tc>
                  <a:txBody>
                    <a:bodyPr wrap="square"/>
                    <a:lstStyle/>
                    <a:p>
                      <a:pPr>
                        <a:defRPr sz="1000">
                          <a:latin typeface="Calibri"/>
                        </a:defRPr>
                      </a:pPr>
                      <a:r>
                        <a:t>Ratnadeep</a:t>
                      </a:r>
                    </a:p>
                  </a:txBody>
                  <a:tcPr/>
                </a:tc>
                <a:tc>
                  <a:txBody>
                    <a:bodyPr wrap="square"/>
                    <a:lstStyle/>
                    <a:p>
                      <a:pPr>
                        <a:defRPr sz="1000">
                          <a:latin typeface="Calibri"/>
                        </a:defRPr>
                      </a:pPr>
                      <a:r>
                        <a:t>2024-02-12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4)</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2311-IP-ID-05</a:t>
                      </a:r>
                    </a:p>
                  </a:txBody>
                  <a:tcPr/>
                </a:tc>
                <a:tc>
                  <a:txBody>
                    <a:bodyPr wrap="square"/>
                    <a:lstStyle/>
                    <a:p>
                      <a:pPr>
                        <a:defRPr sz="1000">
                          <a:latin typeface="Calibri"/>
                        </a:defRPr>
                      </a:pPr>
                      <a:r>
                        <a:t>Replace PP+EPDM+T20 with PP+T20 in the manufacture of the dashboard upper trim of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2311-PRODUCT-ID-13</a:t>
                      </a:r>
                    </a:p>
                  </a:txBody>
                  <a:tcPr/>
                </a:tc>
                <a:tc>
                  <a:txBody>
                    <a:bodyPr wrap="square"/>
                    <a:lstStyle/>
                    <a:p>
                      <a:pPr>
                        <a:defRPr sz="1000">
                          <a:latin typeface="Calibri"/>
                        </a:defRPr>
                      </a:pPr>
                      <a:r>
                        <a:t>Eliminate the plastic trim provided around the bottom anchor point at the driver side seatbelt and follow the same methodology provided at the co-driver's side.</a:t>
                      </a:r>
                    </a:p>
                  </a:txBody>
                  <a:tcPr/>
                </a:tc>
                <a:tc>
                  <a:txBody>
                    <a:bodyPr wrap="square"/>
                    <a:lstStyle/>
                    <a:p>
                      <a:pPr>
                        <a:defRPr sz="1000">
                          <a:latin typeface="Calibri"/>
                        </a:defRPr>
                      </a:pPr>
                      <a:r>
                        <a:t>nan</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2311-PRODUCT-ID-18</a:t>
                      </a:r>
                    </a:p>
                  </a:txBody>
                  <a:tcPr/>
                </a:tc>
                <a:tc>
                  <a:txBody>
                    <a:bodyPr wrap="square"/>
                    <a:lstStyle/>
                    <a:p>
                      <a:pPr>
                        <a:defRPr sz="1000">
                          <a:latin typeface="Calibri"/>
                        </a:defRPr>
                      </a:pPr>
                      <a:r>
                        <a:t>Reduce the diameter of the Headrest Rods from 12.6mm to 10mm</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2311-ET-ID-17</a:t>
                      </a:r>
                    </a:p>
                  </a:txBody>
                  <a:tcPr/>
                </a:tc>
                <a:tc>
                  <a:txBody>
                    <a:bodyPr wrap="square"/>
                    <a:lstStyle/>
                    <a:p>
                      <a:pPr>
                        <a:defRPr sz="1000">
                          <a:latin typeface="Calibri"/>
                        </a:defRPr>
                      </a:pPr>
                      <a:r>
                        <a:t>Reduce the wall thickness of the Bumper Lower Trim from 2.8mm to 2.4mm</a:t>
                      </a:r>
                    </a:p>
                  </a:txBody>
                  <a:tcPr/>
                </a:tc>
                <a:tc>
                  <a:txBody>
                    <a:bodyPr wrap="square"/>
                    <a:lstStyle/>
                    <a:p>
                      <a:pPr>
                        <a:defRPr sz="1000">
                          <a:latin typeface="Calibri"/>
                        </a:defRPr>
                      </a:pPr>
                      <a:r>
                        <a:t>nan</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2311-IP-ID-16</a:t>
                      </a:r>
                    </a:p>
                  </a:txBody>
                  <a:tcPr/>
                </a:tc>
                <a:tc>
                  <a:txBody>
                    <a:bodyPr wrap="square"/>
                    <a:lstStyle/>
                    <a:p>
                      <a:pPr>
                        <a:defRPr sz="1000">
                          <a:latin typeface="Calibri"/>
                        </a:defRPr>
                      </a:pPr>
                      <a:r>
                        <a:t>Replace PC-ABS with ABS in the manufacture of both Instrument Cluster Fascia Decorative Trim and the IP LHS &amp; RHS Decorative Trims since the finish could be achieved on ABS-made trims as well</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INR 140.0</a:t>
                      </a:r>
                    </a:p>
                  </a:txBody>
                  <a:tcPr/>
                </a:tc>
                <a:tc>
                  <a:txBody>
                    <a:bodyPr wrap="square"/>
                    <a:lstStyle/>
                    <a:p>
                      <a:pPr>
                        <a:defRPr sz="1000">
                          <a:latin typeface="Calibri"/>
                        </a:defRPr>
                      </a:pPr>
                      <a:r>
                        <a:t>TBD</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Kalp </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5)</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2311-IT-ID-17</a:t>
                      </a:r>
                    </a:p>
                  </a:txBody>
                  <a:tcPr/>
                </a:tc>
                <a:tc>
                  <a:txBody>
                    <a:bodyPr wrap="square"/>
                    <a:lstStyle/>
                    <a:p>
                      <a:pPr>
                        <a:defRPr sz="1000">
                          <a:latin typeface="Calibri"/>
                        </a:defRPr>
                      </a:pPr>
                      <a:r>
                        <a:t>Replace the Thinsulate used in between the Interior Trims of MGI with Felt</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INR 140.0</a:t>
                      </a:r>
                    </a:p>
                  </a:txBody>
                  <a:tcPr/>
                </a:tc>
                <a:tc>
                  <a:txBody>
                    <a:bodyPr wrap="square"/>
                    <a:lstStyle/>
                    <a:p>
                      <a:pPr>
                        <a:defRPr sz="1000">
                          <a:latin typeface="Calibri"/>
                        </a:defRPr>
                      </a:pPr>
                      <a:r>
                        <a:t>TBD</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Akhil/ Narendra</a:t>
                      </a:r>
                    </a:p>
                  </a:txBody>
                  <a:tcPr/>
                </a:tc>
                <a:tc>
                  <a:txBody>
                    <a:bodyPr wrap="square"/>
                    <a:lstStyle/>
                    <a:p>
                      <a:pPr>
                        <a:defRPr sz="1000">
                          <a:latin typeface="Calibri"/>
                        </a:defRPr>
                      </a:pPr>
                      <a:r>
                        <a:t>29-Mar-24</a:t>
                      </a:r>
                    </a:p>
                    <a:p>
                      <a:pPr>
                        <a:defRPr sz="1000">
                          <a:latin typeface="Calibri"/>
                        </a:defRPr>
                      </a:pPr>
                      <a:r>
                        <a:t>16-Feb-24</a:t>
                      </a:r>
                    </a:p>
                  </a:txBody>
                  <a:tcPr/>
                </a:tc>
              </a:tr>
              <a:tr h="320040">
                <a:tc>
                  <a:txBody>
                    <a:bodyPr wrap="square"/>
                    <a:lstStyle/>
                    <a:p>
                      <a:pPr>
                        <a:defRPr sz="1000">
                          <a:latin typeface="Calibri"/>
                        </a:defRPr>
                      </a:pPr>
                      <a:r>
                        <a:t>2311-EL-ID-25</a:t>
                      </a:r>
                    </a:p>
                  </a:txBody>
                  <a:tcPr/>
                </a:tc>
                <a:tc>
                  <a:txBody>
                    <a:bodyPr wrap="square"/>
                    <a:lstStyle/>
                    <a:p>
                      <a:pPr>
                        <a:defRPr sz="1000">
                          <a:latin typeface="Calibri"/>
                        </a:defRPr>
                      </a:pPr>
                      <a:r>
                        <a:t>Replace Brass with Steel in the manufacture of the Main Terminal Connector Bolt within the Engine-Bay Fusebox Assembly of MGI</a:t>
                      </a:r>
                    </a:p>
                  </a:txBody>
                  <a:tcPr/>
                </a:tc>
                <a:tc>
                  <a:txBody>
                    <a:bodyPr wrap="square"/>
                    <a:lstStyle/>
                    <a:p>
                      <a:pPr>
                        <a:defRPr sz="1000">
                          <a:latin typeface="Calibri"/>
                        </a:defRPr>
                      </a:pPr>
                      <a:r>
                        <a:t>nan</a:t>
                      </a:r>
                    </a:p>
                  </a:txBody>
                  <a:tcPr/>
                </a:tc>
                <a:tc>
                  <a:txBody>
                    <a:bodyPr wrap="square"/>
                    <a:lstStyle/>
                    <a:p>
                      <a:pPr>
                        <a:defRPr sz="1000">
                          <a:latin typeface="Calibri"/>
                        </a:defRPr>
                      </a:pPr>
                      <a:r>
                        <a:t>INR 140.0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2311-EL-ID-17</a:t>
                      </a:r>
                    </a:p>
                  </a:txBody>
                  <a:tcPr/>
                </a:tc>
                <a:tc>
                  <a:txBody>
                    <a:bodyPr wrap="square"/>
                    <a:lstStyle/>
                    <a:p>
                      <a:pPr>
                        <a:defRPr sz="1000">
                          <a:latin typeface="Calibri"/>
                        </a:defRPr>
                      </a:pPr>
                      <a:r>
                        <a:t>Replace the oxygen sensors used in MGI with the oxygen sensors used in KIA</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INR 139.0</a:t>
                      </a:r>
                    </a:p>
                  </a:txBody>
                  <a:tcPr/>
                </a:tc>
                <a:tc>
                  <a:txBody>
                    <a:bodyPr wrap="square"/>
                    <a:lstStyle/>
                    <a:p>
                      <a:pPr>
                        <a:defRPr sz="1000">
                          <a:latin typeface="Calibri"/>
                        </a:defRPr>
                      </a:pPr>
                      <a:r>
                        <a:t>Hold</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Manish Jaju</a:t>
                      </a:r>
                    </a:p>
                  </a:txBody>
                  <a:tcPr/>
                </a:tc>
                <a:tc>
                  <a:txBody>
                    <a:bodyPr wrap="square"/>
                    <a:lstStyle/>
                    <a:p>
                      <a:pPr>
                        <a:defRPr sz="1000">
                          <a:latin typeface="Calibri"/>
                        </a:defRPr>
                      </a:pPr>
                      <a:r>
                        <a:t>2024-02-20 00:00:00</a:t>
                      </a:r>
                    </a:p>
                  </a:txBody>
                  <a:tcPr/>
                </a:tc>
              </a:tr>
              <a:tr h="320040">
                <a:tc>
                  <a:txBody>
                    <a:bodyPr wrap="square"/>
                    <a:lstStyle/>
                    <a:p>
                      <a:pPr>
                        <a:defRPr sz="1000">
                          <a:latin typeface="Calibri"/>
                        </a:defRPr>
                      </a:pPr>
                      <a:r>
                        <a:t>2311-IP-ID-11</a:t>
                      </a:r>
                    </a:p>
                  </a:txBody>
                  <a:tcPr/>
                </a:tc>
                <a:tc>
                  <a:txBody>
                    <a:bodyPr wrap="square"/>
                    <a:lstStyle/>
                    <a:p>
                      <a:pPr>
                        <a:defRPr sz="1000">
                          <a:latin typeface="Calibri"/>
                        </a:defRPr>
                      </a:pPr>
                      <a:r>
                        <a:t>Replace PC-ABS with PP-TD40 in the manufacture of the Front-Row Air Vent Casings in MGI</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INR 138.0</a:t>
                      </a:r>
                    </a:p>
                  </a:txBody>
                  <a:tcPr/>
                </a:tc>
                <a:tc>
                  <a:txBody>
                    <a:bodyPr wrap="square"/>
                    <a:lstStyle/>
                    <a:p>
                      <a:pPr>
                        <a:defRPr sz="1000">
                          <a:latin typeface="Calibri"/>
                        </a:defRPr>
                      </a:pPr>
                      <a:r>
                        <a:t>TBD</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Kalp</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2311-EL-ID-11</a:t>
                      </a:r>
                    </a:p>
                  </a:txBody>
                  <a:tcPr/>
                </a:tc>
                <a:tc>
                  <a:txBody>
                    <a:bodyPr wrap="square"/>
                    <a:lstStyle/>
                    <a:p>
                      <a:pPr>
                        <a:defRPr sz="1000">
                          <a:latin typeface="Calibri"/>
                        </a:defRPr>
                      </a:pPr>
                      <a:r>
                        <a:t>Replace PC-ABS with ABS in the manufacture of Tail Lamp Housings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137.0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6)</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2311-IT-ID-08</a:t>
                      </a:r>
                    </a:p>
                  </a:txBody>
                  <a:tcPr/>
                </a:tc>
                <a:tc>
                  <a:txBody>
                    <a:bodyPr wrap="square"/>
                    <a:lstStyle/>
                    <a:p>
                      <a:pPr>
                        <a:defRPr sz="1000">
                          <a:latin typeface="Calibri"/>
                        </a:defRPr>
                      </a:pPr>
                      <a:r>
                        <a:t>Remove the EPDM sheet and integrate the PU Foam with the PE sheet.</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INR 137.0</a:t>
                      </a:r>
                    </a:p>
                  </a:txBody>
                  <a:tcPr/>
                </a:tc>
                <a:tc>
                  <a:txBody>
                    <a:bodyPr wrap="square"/>
                    <a:lstStyle/>
                    <a:p>
                      <a:pPr>
                        <a:defRPr sz="1000">
                          <a:latin typeface="Calibri"/>
                        </a:defRPr>
                      </a:pPr>
                      <a:r>
                        <a:t>OK</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Narendra/ Ratnadeep</a:t>
                      </a:r>
                    </a:p>
                  </a:txBody>
                  <a:tcPr/>
                </a:tc>
                <a:tc>
                  <a:txBody>
                    <a:bodyPr wrap="square"/>
                    <a:lstStyle/>
                    <a:p>
                      <a:pPr>
                        <a:defRPr sz="1000">
                          <a:latin typeface="Calibri"/>
                        </a:defRPr>
                      </a:pPr>
                      <a:r>
                        <a:t>2024-06-28 00:00:00</a:t>
                      </a:r>
                    </a:p>
                  </a:txBody>
                  <a:tcPr/>
                </a:tc>
              </a:tr>
              <a:tr h="320040">
                <a:tc>
                  <a:txBody>
                    <a:bodyPr wrap="square"/>
                    <a:lstStyle/>
                    <a:p>
                      <a:pPr>
                        <a:defRPr sz="1000">
                          <a:latin typeface="Calibri"/>
                        </a:defRPr>
                      </a:pPr>
                      <a:r>
                        <a:t>2311-EX-ID-01</a:t>
                      </a:r>
                    </a:p>
                  </a:txBody>
                  <a:tcPr/>
                </a:tc>
                <a:tc>
                  <a:txBody>
                    <a:bodyPr wrap="square"/>
                    <a:lstStyle/>
                    <a:p>
                      <a:pPr>
                        <a:defRPr sz="1000">
                          <a:latin typeface="Calibri"/>
                        </a:defRPr>
                      </a:pPr>
                      <a:r>
                        <a:t>1. Remove the rubber hanger from the extension pipe near the resonator, along with its associated mounting points, and rearrange the other hangers as shown in the figure.</a:t>
                      </a:r>
                    </a:p>
                    <a:p>
                      <a:pPr>
                        <a:defRPr sz="1000">
                          <a:latin typeface="Calibri"/>
                        </a:defRPr>
                      </a:pPr>
                      <a:r>
                        <a:t>2. Relocate the hangers mounted on the resonator to the top and bottom of the resonator (onto the exhaust pipe and the extension pipe)</a:t>
                      </a:r>
                    </a:p>
                  </a:txBody>
                  <a:tcPr/>
                </a:tc>
                <a:tc>
                  <a:txBody>
                    <a:bodyPr wrap="square"/>
                    <a:lstStyle/>
                    <a:p>
                      <a:pPr>
                        <a:defRPr sz="1000">
                          <a:latin typeface="Calibri"/>
                        </a:defRPr>
                      </a:pPr>
                      <a:r>
                        <a:t>nan</a:t>
                      </a:r>
                    </a:p>
                  </a:txBody>
                  <a:tcPr/>
                </a:tc>
                <a:tc>
                  <a:txBody>
                    <a:bodyPr wrap="square"/>
                    <a:lstStyle/>
                    <a:p>
                      <a:pPr>
                        <a:defRPr sz="1000">
                          <a:latin typeface="Calibri"/>
                        </a:defRPr>
                      </a:pPr>
                      <a:r>
                        <a:t>INR 136.0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2311-EL-ID-08</a:t>
                      </a:r>
                    </a:p>
                  </a:txBody>
                  <a:tcPr/>
                </a:tc>
                <a:tc>
                  <a:txBody>
                    <a:bodyPr wrap="square"/>
                    <a:lstStyle/>
                    <a:p>
                      <a:pPr>
                        <a:defRPr sz="1000">
                          <a:latin typeface="Calibri"/>
                        </a:defRPr>
                      </a:pPr>
                      <a:r>
                        <a:t>Update the battery mounting technique in MGI to align with the one employed in KIA, including a redesign of the battery-securing enclosure.</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2311-DA-ID-10</a:t>
                      </a:r>
                    </a:p>
                  </a:txBody>
                  <a:tcPr/>
                </a:tc>
                <a:tc>
                  <a:txBody>
                    <a:bodyPr wrap="square"/>
                    <a:lstStyle/>
                    <a:p>
                      <a:pPr>
                        <a:defRPr sz="1000">
                          <a:latin typeface="Calibri"/>
                        </a:defRPr>
                      </a:pPr>
                      <a:r>
                        <a:t>Instead of using Aluminum in the manufacture of the Mirror Main Frame, use PA6-GF 50</a:t>
                      </a:r>
                    </a:p>
                  </a:txBody>
                  <a:tcPr/>
                </a:tc>
                <a:tc>
                  <a:txBody>
                    <a:bodyPr wrap="square"/>
                    <a:lstStyle/>
                    <a:p>
                      <a:pPr>
                        <a:defRPr sz="1000">
                          <a:latin typeface="Calibri"/>
                        </a:defRPr>
                      </a:pPr>
                      <a:r>
                        <a:t>Homeroom ideas to be bunched up and taken up for new program</a:t>
                      </a:r>
                    </a:p>
                    <a:p>
                      <a:pPr>
                        <a:defRPr sz="1000">
                          <a:latin typeface="Calibri"/>
                        </a:defRPr>
                      </a:pPr>
                    </a:p>
                  </a:txBody>
                  <a:tcPr/>
                </a:tc>
                <a:tc>
                  <a:txBody>
                    <a:bodyPr wrap="square"/>
                    <a:lstStyle/>
                    <a:p>
                      <a:pPr>
                        <a:defRPr sz="1000">
                          <a:latin typeface="Calibri"/>
                        </a:defRPr>
                      </a:pPr>
                      <a:r>
                        <a:t>INR 135.0</a:t>
                      </a:r>
                    </a:p>
                  </a:txBody>
                  <a:tcPr/>
                </a:tc>
                <a:tc>
                  <a:txBody>
                    <a:bodyPr wrap="square"/>
                    <a:lstStyle/>
                    <a:p>
                      <a:pPr>
                        <a:defRPr sz="1000">
                          <a:latin typeface="Calibri"/>
                        </a:defRPr>
                      </a:pPr>
                      <a:r>
                        <a:t>NG</a:t>
                      </a:r>
                    </a:p>
                  </a:txBody>
                  <a:tcPr/>
                </a:tc>
                <a:tc>
                  <a:txBody>
                    <a:bodyPr wrap="square"/>
                    <a:lstStyle/>
                    <a:p>
                      <a:pPr>
                        <a:defRPr sz="1000">
                          <a:latin typeface="Calibri"/>
                        </a:defRPr>
                      </a:pPr>
                      <a:r>
                        <a:t>Homeroom ideas to be bunched up and taken up for new program</a:t>
                      </a:r>
                    </a:p>
                    <a:p>
                      <a:pPr>
                        <a:defRPr sz="1000">
                          <a:latin typeface="Calibri"/>
                        </a:defRPr>
                      </a:pP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2311-PRODUCT-ID-05</a:t>
                      </a:r>
                    </a:p>
                  </a:txBody>
                  <a:tcPr/>
                </a:tc>
                <a:tc>
                  <a:txBody>
                    <a:bodyPr wrap="square"/>
                    <a:lstStyle/>
                    <a:p>
                      <a:pPr>
                        <a:defRPr sz="1000">
                          <a:latin typeface="Calibri"/>
                        </a:defRPr>
                      </a:pPr>
                      <a:r>
                        <a:t>Reduce the projection of the 'HECTOR' badging on the tailgate at the rear end of the car from 4mm to 2.5mm</a:t>
                      </a:r>
                    </a:p>
                  </a:txBody>
                  <a:tcPr/>
                </a:tc>
                <a:tc>
                  <a:txBody>
                    <a:bodyPr wrap="square"/>
                    <a:lstStyle/>
                    <a:p>
                      <a:pPr>
                        <a:defRPr sz="1000">
                          <a:latin typeface="Calibri"/>
                        </a:defRPr>
                      </a:pPr>
                      <a:r>
                        <a:t>Verify business case</a:t>
                      </a:r>
                    </a:p>
                  </a:txBody>
                  <a:tcPr/>
                </a:tc>
                <a:tc>
                  <a:txBody>
                    <a:bodyPr wrap="square"/>
                    <a:lstStyle/>
                    <a:p>
                      <a:pPr>
                        <a:defRPr sz="1000">
                          <a:latin typeface="Calibri"/>
                        </a:defRPr>
                      </a:pPr>
                      <a:r>
                        <a:t>INR 135.0</a:t>
                      </a:r>
                    </a:p>
                  </a:txBody>
                  <a:tcPr/>
                </a:tc>
                <a:tc>
                  <a:txBody>
                    <a:bodyPr wrap="square"/>
                    <a:lstStyle/>
                    <a:p>
                      <a:pPr>
                        <a:defRPr sz="1000">
                          <a:latin typeface="Calibri"/>
                        </a:defRPr>
                      </a:pPr>
                      <a:r>
                        <a:t>NG</a:t>
                      </a:r>
                    </a:p>
                  </a:txBody>
                  <a:tcPr/>
                </a:tc>
                <a:tc>
                  <a:txBody>
                    <a:bodyPr wrap="square"/>
                    <a:lstStyle/>
                    <a:p>
                      <a:pPr>
                        <a:defRPr sz="1000">
                          <a:latin typeface="Calibri"/>
                        </a:defRPr>
                      </a:pPr>
                      <a:r>
                        <a:t>Verify business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2023-11-24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7)</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2311-BIW-ID-06</a:t>
                      </a:r>
                    </a:p>
                  </a:txBody>
                  <a:tcPr/>
                </a:tc>
                <a:tc>
                  <a:txBody>
                    <a:bodyPr wrap="square"/>
                    <a:lstStyle/>
                    <a:p>
                      <a:pPr>
                        <a:defRPr sz="1000">
                          <a:latin typeface="Calibri"/>
                        </a:defRPr>
                      </a:pPr>
                      <a:r>
                        <a:t>Reduce the Paint Coating Thickness of the highlighted Roof BiW Panel from 110 - 120μm to 70 - 80μm</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2311-DA-ID-25</a:t>
                      </a:r>
                    </a:p>
                  </a:txBody>
                  <a:tcPr/>
                </a:tc>
                <a:tc>
                  <a:txBody>
                    <a:bodyPr wrap="square"/>
                    <a:lstStyle/>
                    <a:p>
                      <a:pPr>
                        <a:defRPr sz="1000">
                          <a:latin typeface="Calibri"/>
                        </a:defRPr>
                      </a:pPr>
                      <a:r>
                        <a:t>Replace PP-T20 used in the manufacture of the Door Panel Interior Main Trims 2 of MGI with PP-E/P-TD10</a:t>
                      </a:r>
                    </a:p>
                  </a:txBody>
                  <a:tcPr/>
                </a:tc>
                <a:tc>
                  <a:txBody>
                    <a:bodyPr wrap="square"/>
                    <a:lstStyle/>
                    <a:p>
                      <a:pPr>
                        <a:defRPr sz="1000">
                          <a:latin typeface="Calibri"/>
                        </a:defRPr>
                      </a:pPr>
                      <a:r>
                        <a:t>Business case to be evaluated (combined for DA-ID-24 &amp; 25)</a:t>
                      </a:r>
                    </a:p>
                  </a:txBody>
                  <a:tcPr/>
                </a:tc>
                <a:tc>
                  <a:txBody>
                    <a:bodyPr wrap="square"/>
                    <a:lstStyle/>
                    <a:p>
                      <a:pPr>
                        <a:defRPr sz="1000">
                          <a:latin typeface="Calibri"/>
                        </a:defRPr>
                      </a:pPr>
                      <a:r>
                        <a:t>INR 134.0</a:t>
                      </a:r>
                    </a:p>
                  </a:txBody>
                  <a:tcPr/>
                </a:tc>
                <a:tc>
                  <a:txBody>
                    <a:bodyPr wrap="square"/>
                    <a:lstStyle/>
                    <a:p>
                      <a:pPr>
                        <a:defRPr sz="1000">
                          <a:latin typeface="Calibri"/>
                        </a:defRPr>
                      </a:pPr>
                      <a:r>
                        <a:t>NG</a:t>
                      </a:r>
                    </a:p>
                  </a:txBody>
                  <a:tcPr/>
                </a:tc>
                <a:tc>
                  <a:txBody>
                    <a:bodyPr wrap="square"/>
                    <a:lstStyle/>
                    <a:p>
                      <a:pPr>
                        <a:defRPr sz="1000">
                          <a:latin typeface="Calibri"/>
                        </a:defRPr>
                      </a:pPr>
                      <a:r>
                        <a:t>Business case to be evaluated (combined for DA-ID-24 &amp; 25)</a:t>
                      </a:r>
                    </a:p>
                  </a:txBody>
                  <a:tcPr/>
                </a:tc>
                <a:tc>
                  <a:txBody>
                    <a:bodyPr wrap="square"/>
                    <a:lstStyle/>
                    <a:p>
                      <a:pPr>
                        <a:defRPr sz="1000">
                          <a:latin typeface="Calibri"/>
                        </a:defRPr>
                      </a:pPr>
                      <a:r>
                        <a:t>Kalp</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2311-ET-ID-20</a:t>
                      </a:r>
                    </a:p>
                  </a:txBody>
                  <a:tcPr/>
                </a:tc>
                <a:tc>
                  <a:txBody>
                    <a:bodyPr wrap="square"/>
                    <a:lstStyle/>
                    <a:p>
                      <a:pPr>
                        <a:defRPr sz="1000">
                          <a:latin typeface="Calibri"/>
                        </a:defRPr>
                      </a:pPr>
                      <a:r>
                        <a:t>Replace the PCB Module supplied by 'Taizhou Suzhong Antenna Group Co., Ltd.' used within the shark fin antenna of MGI with a similar one supplied by 'INFAC Elecs'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133.0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2311-ET-ID-07</a:t>
                      </a:r>
                    </a:p>
                  </a:txBody>
                  <a:tcPr/>
                </a:tc>
                <a:tc>
                  <a:txBody>
                    <a:bodyPr wrap="square"/>
                    <a:lstStyle/>
                    <a:p>
                      <a:pPr>
                        <a:defRPr sz="1000">
                          <a:latin typeface="Calibri"/>
                        </a:defRPr>
                      </a:pPr>
                      <a:r>
                        <a:t>Reduce the wall thickness of the Front and Rear Fender Garnishes present on both LH and RH sides from 3.2mm to 2.8mm</a:t>
                      </a:r>
                    </a:p>
                  </a:txBody>
                  <a:tcPr/>
                </a:tc>
                <a:tc>
                  <a:txBody>
                    <a:bodyPr wrap="square"/>
                    <a:lstStyle/>
                    <a:p>
                      <a:pPr>
                        <a:defRPr sz="1000">
                          <a:latin typeface="Calibri"/>
                        </a:defRPr>
                      </a:pPr>
                      <a:r>
                        <a:t>nan</a:t>
                      </a:r>
                    </a:p>
                  </a:txBody>
                  <a:tcPr/>
                </a:tc>
                <a:tc>
                  <a:txBody>
                    <a:bodyPr wrap="square"/>
                    <a:lstStyle/>
                    <a:p>
                      <a:pPr>
                        <a:defRPr sz="1000">
                          <a:latin typeface="Calibri"/>
                        </a:defRPr>
                      </a:pPr>
                      <a:r>
                        <a:t>INR 133.0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2311-ET-ID-24</a:t>
                      </a:r>
                    </a:p>
                  </a:txBody>
                  <a:tcPr/>
                </a:tc>
                <a:tc>
                  <a:txBody>
                    <a:bodyPr wrap="square"/>
                    <a:lstStyle/>
                    <a:p>
                      <a:pPr>
                        <a:defRPr sz="1000">
                          <a:latin typeface="Calibri"/>
                        </a:defRPr>
                      </a:pPr>
                      <a:r>
                        <a:t>Redesign the current front logo assembly making the mentioned changes,</a:t>
                      </a:r>
                    </a:p>
                    <a:p>
                      <a:pPr>
                        <a:defRPr sz="1000">
                          <a:latin typeface="Calibri"/>
                        </a:defRPr>
                      </a:pPr>
                      <a:r>
                        <a:t>1. Remove the Logo Holder (Black)</a:t>
                      </a:r>
                    </a:p>
                    <a:p>
                      <a:pPr>
                        <a:defRPr sz="1000">
                          <a:latin typeface="Calibri"/>
                        </a:defRPr>
                      </a:pPr>
                      <a:r>
                        <a:t>2. Instead of chrome plating the Logo Holding Bracket, finish it in Black and snap-fit the logo M and G onto this</a:t>
                      </a:r>
                    </a:p>
                    <a:p>
                      <a:pPr>
                        <a:defRPr sz="1000">
                          <a:latin typeface="Calibri"/>
                        </a:defRPr>
                      </a:pPr>
                      <a:r>
                        <a:t>3. Introduce a new chrome-plated edge trim to complete the design</a:t>
                      </a:r>
                    </a:p>
                  </a:txBody>
                  <a:tcPr/>
                </a:tc>
                <a:tc>
                  <a:txBody>
                    <a:bodyPr wrap="square"/>
                    <a:lstStyle/>
                    <a:p>
                      <a:pPr>
                        <a:defRPr sz="1000">
                          <a:latin typeface="Calibri"/>
                        </a:defRPr>
                      </a:pPr>
                      <a:r>
                        <a:t>nan</a:t>
                      </a:r>
                    </a:p>
                  </a:txBody>
                  <a:tcPr/>
                </a:tc>
                <a:tc>
                  <a:txBody>
                    <a:bodyPr wrap="square"/>
                    <a:lstStyle/>
                    <a:p>
                      <a:pPr>
                        <a:defRPr sz="1000">
                          <a:latin typeface="Calibri"/>
                        </a:defRPr>
                      </a:pPr>
                      <a:r>
                        <a:t>INR 132.0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8)</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2311-DA-ID-12</a:t>
                      </a:r>
                    </a:p>
                  </a:txBody>
                  <a:tcPr/>
                </a:tc>
                <a:tc>
                  <a:txBody>
                    <a:bodyPr wrap="square"/>
                    <a:lstStyle/>
                    <a:p>
                      <a:pPr>
                        <a:defRPr sz="1000">
                          <a:latin typeface="Calibri"/>
                        </a:defRPr>
                      </a:pPr>
                      <a:r>
                        <a:t>Replace ABS with PP-GF 15 in the manufacture of the LH and RH Side Spoiler Inner Trims</a:t>
                      </a:r>
                    </a:p>
                  </a:txBody>
                  <a:tcPr/>
                </a:tc>
                <a:tc>
                  <a:txBody>
                    <a:bodyPr wrap="square"/>
                    <a:lstStyle/>
                    <a:p>
                      <a:pPr>
                        <a:defRPr sz="1000">
                          <a:latin typeface="Calibri"/>
                        </a:defRPr>
                      </a:pPr>
                      <a:r>
                        <a:t>nan</a:t>
                      </a:r>
                    </a:p>
                  </a:txBody>
                  <a:tcPr/>
                </a:tc>
                <a:tc>
                  <a:txBody>
                    <a:bodyPr wrap="square"/>
                    <a:lstStyle/>
                    <a:p>
                      <a:pPr>
                        <a:defRPr sz="1000">
                          <a:latin typeface="Calibri"/>
                        </a:defRPr>
                      </a:pPr>
                      <a:r>
                        <a:t>INR 131.0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2311-ET-ID-11</a:t>
                      </a:r>
                    </a:p>
                  </a:txBody>
                  <a:tcPr/>
                </a:tc>
                <a:tc>
                  <a:txBody>
                    <a:bodyPr wrap="square"/>
                    <a:lstStyle/>
                    <a:p>
                      <a:pPr>
                        <a:defRPr sz="1000">
                          <a:latin typeface="Calibri"/>
                        </a:defRPr>
                      </a:pPr>
                      <a:r>
                        <a:t>1. Remove the Foam inserts from both the LH and RH sides of MGI and use plastic trims instead as employed in KIA</a:t>
                      </a:r>
                    </a:p>
                    <a:p>
                      <a:pPr>
                        <a:defRPr sz="1000">
                          <a:latin typeface="Calibri"/>
                        </a:defRPr>
                      </a:pPr>
                      <a:r>
                        <a:t>2. Thinsulate could be used if required</a:t>
                      </a:r>
                    </a:p>
                  </a:txBody>
                  <a:tcPr/>
                </a:tc>
                <a:tc>
                  <a:txBody>
                    <a:bodyPr wrap="square"/>
                    <a:lstStyle/>
                    <a:p>
                      <a:pPr>
                        <a:defRPr sz="1000">
                          <a:latin typeface="Calibri"/>
                        </a:defRPr>
                      </a:pPr>
                      <a:r>
                        <a:t>nan</a:t>
                      </a:r>
                    </a:p>
                  </a:txBody>
                  <a:tcPr/>
                </a:tc>
                <a:tc>
                  <a:txBody>
                    <a:bodyPr wrap="square"/>
                    <a:lstStyle/>
                    <a:p>
                      <a:pPr>
                        <a:defRPr sz="1000">
                          <a:latin typeface="Calibri"/>
                        </a:defRPr>
                      </a:pPr>
                      <a:r>
                        <a:t>INR 131.0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2311-IP-ID-01</a:t>
                      </a:r>
                    </a:p>
                  </a:txBody>
                  <a:tcPr/>
                </a:tc>
                <a:tc>
                  <a:txBody>
                    <a:bodyPr wrap="square"/>
                    <a:lstStyle/>
                    <a:p>
                      <a:pPr>
                        <a:defRPr sz="1000">
                          <a:latin typeface="Calibri"/>
                        </a:defRPr>
                      </a:pPr>
                      <a:r>
                        <a:t>Replace the Thinsulate used within the LH &amp; RH Centre Console Side Trims of MGI with Thermoplastic Felt</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INR 131.0</a:t>
                      </a:r>
                    </a:p>
                  </a:txBody>
                  <a:tcPr/>
                </a:tc>
                <a:tc>
                  <a:txBody>
                    <a:bodyPr wrap="square"/>
                    <a:lstStyle/>
                    <a:p>
                      <a:pPr>
                        <a:defRPr sz="1000">
                          <a:latin typeface="Calibri"/>
                        </a:defRPr>
                      </a:pPr>
                      <a:r>
                        <a:t>TBD</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Akhil/ Narendra</a:t>
                      </a:r>
                    </a:p>
                  </a:txBody>
                  <a:tcPr/>
                </a:tc>
                <a:tc>
                  <a:txBody>
                    <a:bodyPr wrap="square"/>
                    <a:lstStyle/>
                    <a:p>
                      <a:pPr>
                        <a:defRPr sz="1000">
                          <a:latin typeface="Calibri"/>
                        </a:defRPr>
                      </a:pPr>
                      <a:r>
                        <a:t>29-Mar-24</a:t>
                      </a:r>
                    </a:p>
                    <a:p>
                      <a:pPr>
                        <a:defRPr sz="1000">
                          <a:latin typeface="Calibri"/>
                        </a:defRPr>
                      </a:pPr>
                      <a:r>
                        <a:t>16-Feb-24</a:t>
                      </a:r>
                    </a:p>
                  </a:txBody>
                  <a:tcPr/>
                </a:tc>
              </a:tr>
              <a:tr h="320040">
                <a:tc>
                  <a:txBody>
                    <a:bodyPr wrap="square"/>
                    <a:lstStyle/>
                    <a:p>
                      <a:pPr>
                        <a:defRPr sz="1000">
                          <a:latin typeface="Calibri"/>
                        </a:defRPr>
                      </a:pPr>
                      <a:r>
                        <a:t>2311-ST-ID-03</a:t>
                      </a:r>
                    </a:p>
                  </a:txBody>
                  <a:tcPr/>
                </a:tc>
                <a:tc>
                  <a:txBody>
                    <a:bodyPr wrap="square"/>
                    <a:lstStyle/>
                    <a:p>
                      <a:pPr>
                        <a:defRPr sz="1000">
                          <a:latin typeface="Calibri"/>
                        </a:defRPr>
                      </a:pPr>
                      <a:r>
                        <a:t>Replace the Cast Aluminium Steering Column Mount in MGI with a fabricated sheet welded onto the shaft as used in KIA </a:t>
                      </a:r>
                    </a:p>
                  </a:txBody>
                  <a:tcPr/>
                </a:tc>
                <a:tc>
                  <a:txBody>
                    <a:bodyPr wrap="square"/>
                    <a:lstStyle/>
                    <a:p>
                      <a:pPr>
                        <a:defRPr sz="1000">
                          <a:latin typeface="Calibri"/>
                        </a:defRPr>
                      </a:pPr>
                      <a:r>
                        <a:t>nan</a:t>
                      </a:r>
                    </a:p>
                  </a:txBody>
                  <a:tcPr/>
                </a:tc>
                <a:tc>
                  <a:txBody>
                    <a:bodyPr wrap="square"/>
                    <a:lstStyle/>
                    <a:p>
                      <a:pPr>
                        <a:defRPr sz="1000">
                          <a:latin typeface="Calibri"/>
                        </a:defRPr>
                      </a:pPr>
                      <a:r>
                        <a:t>INR 131.0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2311-IP-ID-10</a:t>
                      </a:r>
                    </a:p>
                  </a:txBody>
                  <a:tcPr/>
                </a:tc>
                <a:tc>
                  <a:txBody>
                    <a:bodyPr wrap="square"/>
                    <a:lstStyle/>
                    <a:p>
                      <a:pPr>
                        <a:defRPr sz="1000">
                          <a:latin typeface="Calibri"/>
                        </a:defRPr>
                      </a:pPr>
                      <a:r>
                        <a:t>Replace PC-ABS with ABS in the manufacture of the Front-Row Armrest Inner Cover in MGI</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9)</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2311-WT-ID-01</a:t>
                      </a:r>
                    </a:p>
                  </a:txBody>
                  <a:tcPr/>
                </a:tc>
                <a:tc>
                  <a:txBody>
                    <a:bodyPr wrap="square"/>
                    <a:lstStyle/>
                    <a:p>
                      <a:pPr>
                        <a:defRPr sz="1000">
                          <a:latin typeface="Calibri"/>
                        </a:defRPr>
                      </a:pPr>
                      <a:r>
                        <a:t>Replace the Tyre Pressure Monitoring System (TPMS) sensors from 'SGMW' used in MGI with similar sensors from 'Continental Engineering Services'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2311-BIW-ID-02</a:t>
                      </a:r>
                    </a:p>
                  </a:txBody>
                  <a:tcPr/>
                </a:tc>
                <a:tc>
                  <a:txBody>
                    <a:bodyPr wrap="square"/>
                    <a:lstStyle/>
                    <a:p>
                      <a:pPr>
                        <a:defRPr sz="1000">
                          <a:latin typeface="Calibri"/>
                        </a:defRPr>
                      </a:pPr>
                      <a:r>
                        <a:t>Remove the black paint coating from the LH &amp; RH A-Pillar Side Stiffener Brackets, LH &amp; RH Centre Console and Gear Selector Base Mounting Brackets on the BIW of MGI</a:t>
                      </a:r>
                    </a:p>
                  </a:txBody>
                  <a:tcPr/>
                </a:tc>
                <a:tc>
                  <a:txBody>
                    <a:bodyPr wrap="square"/>
                    <a:lstStyle/>
                    <a:p>
                      <a:pPr>
                        <a:defRPr sz="1000">
                          <a:latin typeface="Calibri"/>
                        </a:defRPr>
                      </a:pPr>
                      <a:r>
                        <a:t>CFT buy off</a:t>
                      </a:r>
                    </a:p>
                  </a:txBody>
                  <a:tcPr/>
                </a:tc>
                <a:tc>
                  <a:txBody>
                    <a:bodyPr wrap="square"/>
                    <a:lstStyle/>
                    <a:p>
                      <a:pPr>
                        <a:defRPr sz="1000">
                          <a:latin typeface="Calibri"/>
                        </a:defRPr>
                      </a:pPr>
                      <a:r>
                        <a:t>INR 130.0</a:t>
                      </a:r>
                    </a:p>
                  </a:txBody>
                  <a:tcPr/>
                </a:tc>
                <a:tc>
                  <a:txBody>
                    <a:bodyPr wrap="square"/>
                    <a:lstStyle/>
                    <a:p>
                      <a:pPr>
                        <a:defRPr sz="1000">
                          <a:latin typeface="Calibri"/>
                        </a:defRPr>
                      </a:pPr>
                      <a:r>
                        <a:t>TBD</a:t>
                      </a:r>
                    </a:p>
                  </a:txBody>
                  <a:tcPr/>
                </a:tc>
                <a:tc>
                  <a:txBody>
                    <a:bodyPr wrap="square"/>
                    <a:lstStyle/>
                    <a:p>
                      <a:pPr>
                        <a:defRPr sz="1000">
                          <a:latin typeface="Calibri"/>
                        </a:defRPr>
                      </a:pPr>
                      <a:r>
                        <a:t>CFT buy off</a:t>
                      </a:r>
                    </a:p>
                  </a:txBody>
                  <a:tcPr/>
                </a:tc>
                <a:tc>
                  <a:txBody>
                    <a:bodyPr wrap="square"/>
                    <a:lstStyle/>
                    <a:p>
                      <a:pPr>
                        <a:defRPr sz="1000">
                          <a:latin typeface="Calibri"/>
                        </a:defRPr>
                      </a:pPr>
                      <a:r>
                        <a:t>Ratnadeep</a:t>
                      </a:r>
                    </a:p>
                  </a:txBody>
                  <a:tcPr/>
                </a:tc>
                <a:tc>
                  <a:txBody>
                    <a:bodyPr wrap="square"/>
                    <a:lstStyle/>
                    <a:p>
                      <a:pPr>
                        <a:defRPr sz="1000">
                          <a:latin typeface="Calibri"/>
                        </a:defRPr>
                      </a:pPr>
                      <a:r>
                        <a:t>2024-03-29 00:00:00</a:t>
                      </a:r>
                    </a:p>
                  </a:txBody>
                  <a:tcPr/>
                </a:tc>
              </a:tr>
              <a:tr h="320040">
                <a:tc>
                  <a:txBody>
                    <a:bodyPr wrap="square"/>
                    <a:lstStyle/>
                    <a:p>
                      <a:pPr>
                        <a:defRPr sz="1000">
                          <a:latin typeface="Calibri"/>
                        </a:defRPr>
                      </a:pPr>
                      <a:r>
                        <a:t>2311-PRODUCT-ID-02</a:t>
                      </a:r>
                    </a:p>
                  </a:txBody>
                  <a:tcPr/>
                </a:tc>
                <a:tc>
                  <a:txBody>
                    <a:bodyPr wrap="square"/>
                    <a:lstStyle/>
                    <a:p>
                      <a:pPr>
                        <a:defRPr sz="1000">
                          <a:latin typeface="Calibri"/>
                        </a:defRPr>
                      </a:pPr>
                      <a:r>
                        <a:t>Replace the Plastic Caps mounted onto the doors, hood, and tailgate (total 14) with adhesive stickers.</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2311-DA-ID-18</a:t>
                      </a:r>
                    </a:p>
                  </a:txBody>
                  <a:tcPr/>
                </a:tc>
                <a:tc>
                  <a:txBody>
                    <a:bodyPr wrap="square"/>
                    <a:lstStyle/>
                    <a:p>
                      <a:pPr>
                        <a:defRPr sz="1000">
                          <a:latin typeface="Calibri"/>
                        </a:defRPr>
                      </a:pPr>
                      <a:r>
                        <a:t>Replace ABS with PP-T 20 in the manufacture of Door Panel Interior Delta Trim Inners</a:t>
                      </a:r>
                    </a:p>
                  </a:txBody>
                  <a:tcPr/>
                </a:tc>
                <a:tc>
                  <a:txBody>
                    <a:bodyPr wrap="square"/>
                    <a:lstStyle/>
                    <a:p>
                      <a:pPr>
                        <a:defRPr sz="1000">
                          <a:latin typeface="Calibri"/>
                        </a:defRPr>
                      </a:pPr>
                      <a:r>
                        <a:t>Check Bussiness case</a:t>
                      </a:r>
                    </a:p>
                  </a:txBody>
                  <a:tcPr/>
                </a:tc>
                <a:tc>
                  <a:txBody>
                    <a:bodyPr wrap="square"/>
                    <a:lstStyle/>
                    <a:p>
                      <a:pPr>
                        <a:defRPr sz="1000">
                          <a:latin typeface="Calibri"/>
                        </a:defRPr>
                      </a:pPr>
                      <a:r>
                        <a:t>INR 129.0</a:t>
                      </a:r>
                    </a:p>
                  </a:txBody>
                  <a:tcPr/>
                </a:tc>
                <a:tc>
                  <a:txBody>
                    <a:bodyPr wrap="square"/>
                    <a:lstStyle/>
                    <a:p>
                      <a:pPr>
                        <a:defRPr sz="1000">
                          <a:latin typeface="Calibri"/>
                        </a:defRPr>
                      </a:pPr>
                      <a:r>
                        <a:t>NG</a:t>
                      </a:r>
                    </a:p>
                  </a:txBody>
                  <a:tcPr/>
                </a:tc>
                <a:tc>
                  <a:txBody>
                    <a:bodyPr wrap="square"/>
                    <a:lstStyle/>
                    <a:p>
                      <a:pPr>
                        <a:defRPr sz="1000">
                          <a:latin typeface="Calibri"/>
                        </a:defRPr>
                      </a:pPr>
                      <a:r>
                        <a:t>Check Bussiness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2023-11-08 00:00:00</a:t>
                      </a:r>
                    </a:p>
                  </a:txBody>
                  <a:tcPr/>
                </a:tc>
              </a:tr>
              <a:tr h="320040">
                <a:tc>
                  <a:txBody>
                    <a:bodyPr wrap="square"/>
                    <a:lstStyle/>
                    <a:p>
                      <a:pPr>
                        <a:defRPr sz="1000">
                          <a:latin typeface="Calibri"/>
                        </a:defRPr>
                      </a:pPr>
                      <a:r>
                        <a:t>2311-DA-ID-20</a:t>
                      </a:r>
                    </a:p>
                  </a:txBody>
                  <a:tcPr/>
                </a:tc>
                <a:tc>
                  <a:txBody>
                    <a:bodyPr wrap="square"/>
                    <a:lstStyle/>
                    <a:p>
                      <a:pPr>
                        <a:defRPr sz="1000">
                          <a:latin typeface="Calibri"/>
                        </a:defRPr>
                      </a:pPr>
                      <a:r>
                        <a:t>De-content Cable Protective Sheaths one each from all the Lock Release and Front Window Regulator assemblies of the vehicle</a:t>
                      </a:r>
                    </a:p>
                  </a:txBody>
                  <a:tcPr/>
                </a:tc>
                <a:tc>
                  <a:txBody>
                    <a:bodyPr wrap="square"/>
                    <a:lstStyle/>
                    <a:p>
                      <a:pPr>
                        <a:defRPr sz="1000">
                          <a:latin typeface="Calibri"/>
                        </a:defRPr>
                      </a:pPr>
                      <a:r>
                        <a:t>Confirm homeroom feasibilty</a:t>
                      </a:r>
                    </a:p>
                  </a:txBody>
                  <a:tcPr/>
                </a:tc>
                <a:tc>
                  <a:txBody>
                    <a:bodyPr wrap="square"/>
                    <a:lstStyle/>
                    <a:p>
                      <a:pPr>
                        <a:defRPr sz="1000">
                          <a:latin typeface="Calibri"/>
                        </a:defRPr>
                      </a:pPr>
                      <a:r>
                        <a:t>INR 129.0</a:t>
                      </a:r>
                    </a:p>
                  </a:txBody>
                  <a:tcPr/>
                </a:tc>
                <a:tc>
                  <a:txBody>
                    <a:bodyPr wrap="square"/>
                    <a:lstStyle/>
                    <a:p>
                      <a:pPr>
                        <a:defRPr sz="1000">
                          <a:latin typeface="Calibri"/>
                        </a:defRPr>
                      </a:pPr>
                      <a:r>
                        <a:t>NG</a:t>
                      </a:r>
                    </a:p>
                  </a:txBody>
                  <a:tcPr/>
                </a:tc>
                <a:tc>
                  <a:txBody>
                    <a:bodyPr wrap="square"/>
                    <a:lstStyle/>
                    <a:p>
                      <a:pPr>
                        <a:defRPr sz="1000">
                          <a:latin typeface="Calibri"/>
                        </a:defRPr>
                      </a:pPr>
                      <a:r>
                        <a:t>Confirm homeroom feasibilty</a:t>
                      </a:r>
                    </a:p>
                  </a:txBody>
                  <a:tcPr/>
                </a:tc>
                <a:tc>
                  <a:txBody>
                    <a:bodyPr wrap="square"/>
                    <a:lstStyle/>
                    <a:p>
                      <a:pPr>
                        <a:defRPr sz="1000">
                          <a:latin typeface="Calibri"/>
                        </a:defRPr>
                      </a:pPr>
                      <a:r>
                        <a:t>Manish</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10)</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2311-DA-ID-37</a:t>
                      </a:r>
                    </a:p>
                  </a:txBody>
                  <a:tcPr/>
                </a:tc>
                <a:tc>
                  <a:txBody>
                    <a:bodyPr wrap="square"/>
                    <a:lstStyle/>
                    <a:p>
                      <a:pPr>
                        <a:defRPr sz="1000">
                          <a:latin typeface="Calibri"/>
                        </a:defRPr>
                      </a:pPr>
                      <a:r>
                        <a:t>Replace ABS with PP-T20 used in the manufacture of the LH and RH Mirror Outer Covers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127.0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2311-EL-ID-23</a:t>
                      </a:r>
                    </a:p>
                  </a:txBody>
                  <a:tcPr/>
                </a:tc>
                <a:tc>
                  <a:txBody>
                    <a:bodyPr wrap="square"/>
                    <a:lstStyle/>
                    <a:p>
                      <a:pPr>
                        <a:defRPr sz="1000">
                          <a:latin typeface="Calibri"/>
                        </a:defRPr>
                      </a:pPr>
                      <a:r>
                        <a:t>Replace the Mini (Closed) Fuses used within the Engine-Bay Fuse Box of the vehicle with Micro2 (Open) Fuses</a:t>
                      </a:r>
                    </a:p>
                  </a:txBody>
                  <a:tcPr/>
                </a:tc>
                <a:tc>
                  <a:txBody>
                    <a:bodyPr wrap="square"/>
                    <a:lstStyle/>
                    <a:p>
                      <a:pPr>
                        <a:defRPr sz="1000">
                          <a:latin typeface="Calibri"/>
                        </a:defRPr>
                      </a:pPr>
                      <a:r>
                        <a:t>nan</a:t>
                      </a:r>
                    </a:p>
                  </a:txBody>
                  <a:tcPr/>
                </a:tc>
                <a:tc>
                  <a:txBody>
                    <a:bodyPr wrap="square"/>
                    <a:lstStyle/>
                    <a:p>
                      <a:pPr>
                        <a:defRPr sz="1000">
                          <a:latin typeface="Calibri"/>
                        </a:defRPr>
                      </a:pPr>
                      <a:r>
                        <a:t>INR 127.0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2311-SP-ID-03</a:t>
                      </a:r>
                    </a:p>
                  </a:txBody>
                  <a:tcPr/>
                </a:tc>
                <a:tc>
                  <a:txBody>
                    <a:bodyPr wrap="square"/>
                    <a:lstStyle/>
                    <a:p>
                      <a:pPr>
                        <a:defRPr sz="1000">
                          <a:latin typeface="Calibri"/>
                        </a:defRPr>
                      </a:pPr>
                      <a:r>
                        <a:t>Redesign the rubber mould removing the 16mm extension downwards from all three sides of the plate</a:t>
                      </a:r>
                    </a:p>
                  </a:txBody>
                  <a:tcPr/>
                </a:tc>
                <a:tc>
                  <a:txBody>
                    <a:bodyPr wrap="square"/>
                    <a:lstStyle/>
                    <a:p>
                      <a:pPr>
                        <a:defRPr sz="1000">
                          <a:latin typeface="Calibri"/>
                        </a:defRPr>
                      </a:pPr>
                      <a:r>
                        <a:t>nan</a:t>
                      </a:r>
                    </a:p>
                  </a:txBody>
                  <a:tcPr/>
                </a:tc>
                <a:tc>
                  <a:txBody>
                    <a:bodyPr wrap="square"/>
                    <a:lstStyle/>
                    <a:p>
                      <a:pPr>
                        <a:defRPr sz="1000">
                          <a:latin typeface="Calibri"/>
                        </a:defRPr>
                      </a:pPr>
                      <a:r>
                        <a:t>INR 127.0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2311-DA-ID-27</a:t>
                      </a:r>
                    </a:p>
                  </a:txBody>
                  <a:tcPr/>
                </a:tc>
                <a:tc>
                  <a:txBody>
                    <a:bodyPr wrap="square"/>
                    <a:lstStyle/>
                    <a:p>
                      <a:pPr>
                        <a:defRPr sz="1000">
                          <a:latin typeface="Calibri"/>
                        </a:defRPr>
                      </a:pPr>
                      <a:r>
                        <a:t>Replace ABS+PVC+PU with PP+PE-TD14 in the manufacture of both Front and Rear Passenger Armrest Trims of MGI</a:t>
                      </a:r>
                    </a:p>
                  </a:txBody>
                  <a:tcPr/>
                </a:tc>
                <a:tc>
                  <a:txBody>
                    <a:bodyPr wrap="square"/>
                    <a:lstStyle/>
                    <a:p>
                      <a:pPr>
                        <a:defRPr sz="1000">
                          <a:latin typeface="Calibri"/>
                        </a:defRPr>
                      </a:pPr>
                      <a:r>
                        <a:t>New tooling cost from YFI to be confirmed for business case calculations</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New tooling cost from YFI to be confirmed for business case calculations</a:t>
                      </a:r>
                    </a:p>
                  </a:txBody>
                  <a:tcPr/>
                </a:tc>
                <a:tc>
                  <a:txBody>
                    <a:bodyPr wrap="square"/>
                    <a:lstStyle/>
                    <a:p>
                      <a:pPr>
                        <a:defRPr sz="1000">
                          <a:latin typeface="Calibri"/>
                        </a:defRPr>
                      </a:pPr>
                      <a:r>
                        <a:t>Akhil</a:t>
                      </a:r>
                    </a:p>
                  </a:txBody>
                  <a:tcPr/>
                </a:tc>
                <a:tc>
                  <a:txBody>
                    <a:bodyPr wrap="square"/>
                    <a:lstStyle/>
                    <a:p>
                      <a:pPr>
                        <a:defRPr sz="1000">
                          <a:latin typeface="Calibri"/>
                        </a:defRPr>
                      </a:pPr>
                      <a:r>
                        <a:t>2024-02-12 00:00:00</a:t>
                      </a:r>
                    </a:p>
                  </a:txBody>
                  <a:tcPr/>
                </a:tc>
              </a:tr>
              <a:tr h="320040">
                <a:tc>
                  <a:txBody>
                    <a:bodyPr wrap="square"/>
                    <a:lstStyle/>
                    <a:p>
                      <a:pPr>
                        <a:defRPr sz="1000">
                          <a:latin typeface="Calibri"/>
                        </a:defRPr>
                      </a:pPr>
                      <a:r>
                        <a:t>2311-PRODUCT-ID-03</a:t>
                      </a:r>
                    </a:p>
                  </a:txBody>
                  <a:tcPr/>
                </a:tc>
                <a:tc>
                  <a:txBody>
                    <a:bodyPr wrap="square"/>
                    <a:lstStyle/>
                    <a:p>
                      <a:pPr>
                        <a:defRPr sz="1000">
                          <a:latin typeface="Calibri"/>
                        </a:defRPr>
                      </a:pPr>
                      <a:r>
                        <a:t>Replace the rubber bushes used on the wiper blade mounting bolts with the plastic protective cap.</a:t>
                      </a:r>
                    </a:p>
                  </a:txBody>
                  <a:tcPr/>
                </a:tc>
                <a:tc>
                  <a:txBody>
                    <a:bodyPr wrap="square"/>
                    <a:lstStyle/>
                    <a:p>
                      <a:pPr>
                        <a:defRPr sz="1000">
                          <a:latin typeface="Calibri"/>
                        </a:defRPr>
                      </a:pPr>
                      <a:r>
                        <a:t>nan</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Eliminate the secondary actuator housing for the show's display mechanism and integrate its function into the primary structural component.</a:t>
                      </a:r>
                    </a:p>
                  </a:txBody>
                  <a:tcPr/>
                </a:tc>
                <a:tc>
                  <a:txBody>
                    <a:bodyPr wrap="square"/>
                    <a:lstStyle/>
                    <a:p>
                      <a:pPr>
                        <a:defRPr sz="1000">
                          <a:latin typeface="Calibri"/>
                        </a:defRPr>
                      </a:pPr>
                      <a:r>
                        <a:t>Analyze the kinematic requirements of the show's display mechanism to identify critical load paths and spatial constraints. Redesign the primary structural component (e.g., dashboard cross-car beam or instrument panel carrier) to incorporate mounting features and guidance channels for the display elements, thereby obviating the need for a separate actuator housing. Finite Element Analysis (FEA) will be performed to ensure structural integrity under all operational and environmental loads. Vibration and durability testing of the integrated component will be conducted to validate performance and longevity.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Analyze the kinematic requirements of the show's display mechanism to identify critical load paths and spatial constraints. Redesign the primary structural component (e.g., dashboard cross-car beam or instrument panel carrier) to incorporate mounting features and guidance channels for the display elements, thereby obviating the need for a separate actuator housing. Finite Element Analysis (FEA) will be performed to ensure structural integrity under all operational and environmental loads. Vibration and durability testing of the integrated component will be conducted to validate performance and longevity.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Replace the individual wiring harness for the show's illumination and sensor components with a direct-mold integrated wiring system within the display housing.</a:t>
                      </a:r>
                    </a:p>
                  </a:txBody>
                  <a:tcPr/>
                </a:tc>
                <a:tc>
                  <a:txBody>
                    <a:bodyPr wrap="square"/>
                    <a:lstStyle/>
                    <a:p>
                      <a:pPr>
                        <a:defRPr sz="1000">
                          <a:latin typeface="Calibri"/>
                        </a:defRPr>
                      </a:pPr>
                      <a:r>
                        <a:t>Investigate the feasibility of overmolding or injection molding wiring directly into the plastic housing of the show's display. This eliminates connectors, discrete wire routing, and potential points of failure. Perform material compatibility studies between the wire insulation and the molding compound. Design tooling for the injection molding process. Conduct electrical continuity and insulation resistance tests on the integrated harness, along with environmental stress testing (thermal cycling, vibration) to ensure reliability.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Investigate the feasibility of overmolding or injection molding wiring directly into the plastic housing of the show's display. This eliminates connectors, discrete wire routing, and potential points of failure. Perform material compatibility studies between the wire insulation and the molding compound. Design tooling for the injection molding process. Conduct electrical continuity and insulation resistance tests on the integrated harness, along with environmental stress testing (thermal cycling, vibration) to ensure reliability.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Consolidate the control electronics for the show's display and associated functions into a single, smaller, and more integrated electronic control unit (ECU).</a:t>
                      </a:r>
                    </a:p>
                  </a:txBody>
                  <a:tcPr/>
                </a:tc>
                <a:tc>
                  <a:txBody>
                    <a:bodyPr wrap="square"/>
                    <a:lstStyle/>
                    <a:p>
                      <a:pPr>
                        <a:defRPr sz="1000">
                          <a:latin typeface="Calibri"/>
                        </a:defRPr>
                      </a:pPr>
                      <a:r>
                        <a:t>Perform a detailed audit of the existing show control logic and sensor inputs/outputs. Identify opportunities to merge functionalities from multiple microcontrollers or discrete logic circuits into a single, higher-density ECU. Optimize the firmware architecture for code consolidation and efficient processing. Evaluate the thermal management requirements of the consolidated ECU and design appropriate heat dissipation strategies. Validation will involve functional testing of all show features, communication bus integrity checks, and power consumption analysis.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Perform a detailed audit of the existing show control logic and sensor inputs/outputs. Identify opportunities to merge functionalities from multiple microcontrollers or discrete logic circuits into a single, higher-density ECU. Optimize the firmware architecture for code consolidation and efficient processing. Evaluate the thermal management requirements of the consolidated ECU and design appropriate heat dissipation strategies. Validation will involve functional testing of all show features, communication bus integrity checks, and power consumption analysis.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Re-evaluate the material specification for the show's display bezel and trim components, seeking to utilize a single, more cost-effective polymer blend without compromising aesthetic or structural integrity.</a:t>
                      </a:r>
                    </a:p>
                  </a:txBody>
                  <a:tcPr/>
                </a:tc>
                <a:tc>
                  <a:txBody>
                    <a:bodyPr wrap="square"/>
                    <a:lstStyle/>
                    <a:p>
                      <a:pPr>
                        <a:defRPr sz="1000">
                          <a:latin typeface="Calibri"/>
                        </a:defRPr>
                      </a:pPr>
                      <a:r>
                        <a:t>Conduct a comprehensive material screening process, focusing on polymers with inherent UV resistance, appropriate impact strength, and excellent surface finish capabilities. Consider advanced ABS or ASA blends that offer superior weathering properties and paintability. Perform injection molding simulations to assess processability and potential for sink marks or warpage. Undertake color matching, gloss assessment, and impact testing (e.g., Charpy impact) to ensure the chosen material meets all visual and performance requirements.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Conduct a comprehensive material screening process, focusing on polymers with inherent UV resistance, appropriate impact strength, and excellent surface finish capabilities. Consider advanced ABS or ASA blends that offer superior weathering properties and paintability. Perform injection molding simulations to assess processability and potential for sink marks or warpage. Undertake color matching, gloss assessment, and impact testing (e.g., Charpy impact) to ensure the chosen material meets all visual and performance requirements.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Optimize the pneumatic or hydraulic system for the show's adaptive spoiler or active aerodynamic elements by reducing the number of valves and simplifying fluid routing.</a:t>
                      </a:r>
                    </a:p>
                  </a:txBody>
                  <a:tcPr/>
                </a:tc>
                <a:tc>
                  <a:txBody>
                    <a:bodyPr wrap="square"/>
                    <a:lstStyle/>
                    <a:p>
                      <a:pPr>
                        <a:defRPr sz="1000">
                          <a:latin typeface="Calibri"/>
                        </a:defRPr>
                      </a:pPr>
                      <a:r>
                        <a:t>Analyze the control sequences and pressure requirements for the show's adaptive aerodynamic components. Identify redundant valving or opportunities for integrated valve manifolds. Investigate alternative actuator designs that may require lower operating pressures or fewer control lines. Perform flow and pressure drop simulations in the fluid network to ensure optimal performance. Validate system response times, leak integrity, and durability through bench testing and vehicle-level integration tests.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Analyze the control sequences and pressure requirements for the show's adaptive aerodynamic components. Identify redundant valving or opportunities for integrated valve manifolds. Investigate alternative actuator designs that may require lower operating pressures or fewer control lines. Perform flow and pressure drop simulations in the fluid network to ensure optimal performance. Validate system response times, leak integrity, and durability through bench testing and vehicle-level integration tests.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12)</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For the Wiper System: Replace the conventional multi-piece rubber wiper blade assembly with a single-piece, aerodynamic, flat-blade design utilizing a composite elastomer.</a:t>
                      </a:r>
                    </a:p>
                  </a:txBody>
                  <a:tcPr/>
                </a:tc>
                <a:tc>
                  <a:txBody>
                    <a:bodyPr wrap="square"/>
                    <a:lstStyle/>
                    <a:p>
                      <a:pPr>
                        <a:defRPr sz="1000">
                          <a:latin typeface="Calibri"/>
                        </a:defRPr>
                      </a:pPr>
                      <a:r>
                        <a:t>The physics of wiping performance relies on consistent pressure distribution across the windshield and effective fluid displacement. Current multi-piece blades often suffer from uneven pressure due to hinge mechanisms and frame deflection, leading to streaking. A single-piece composite elastomer blade, with an integrated aerodynamic spoiler, provides a more uniform pressure profile and reduces wind lift at higher speeds. The composite elastomer offers enhanced resistance to UV degradation and extreme temperatures, extending service life. Validation will involve extensive on-vehicle testing under various weather conditions (rain, snow, ice) and speeds, focusing on wipe clarity, noise levels (wind noise and blade chatter), and durability over a defined service interval.</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physics of wiping performance relies on consistent pressure distribution across the windshield and effective fluid displacement. Current multi-piece blades often suffer from uneven pressure due to hinge mechanisms and frame deflection, leading to streaking. A single-piece composite elastomer blade, with an integrated aerodynamic spoiler, provides a more uniform pressure profile and reduces wind lift at higher speeds. The composite elastomer offers enhanced resistance to UV degradation and extreme temperatures, extending service life. Validation will involve extensive on-vehicle testing under various weather conditions (rain, snow, ice) and speeds, focusing on wipe clarity, noise levels (wind noise and blade chatter), and durability over a defined service interval.</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56</a:t>
            </a:r>
          </a:p>
          <a:p>
            <a:pPr>
              <a:defRPr sz="1000">
                <a:latin typeface="Calibri"/>
              </a:defRPr>
            </a:pPr>
            <a:r>
              <a:t>• Total Potential Savings: INR 6,857.00</a:t>
            </a:r>
          </a:p>
          <a:p>
            <a:pPr>
              <a:defRPr sz="1000">
                <a:latin typeface="Calibri"/>
              </a:defRPr>
            </a:pPr>
            <a:r>
              <a:t>• Implemented Ideas: 0</a:t>
            </a:r>
          </a:p>
          <a:p>
            <a:pPr>
              <a:defRPr sz="1000">
                <a:latin typeface="Calibri"/>
              </a:defRPr>
            </a:pPr>
            <a:r>
              <a:t>• Status OK: 2</a:t>
            </a:r>
          </a:p>
          <a:p>
            <a:pPr>
              <a:defRPr sz="1000">
                <a:latin typeface="Calibri"/>
              </a:defRPr>
            </a:pPr>
            <a:r>
              <a:t>• Status TBD: 16</a:t>
            </a:r>
          </a:p>
          <a:p>
            <a:pPr>
              <a:defRPr sz="1000">
                <a:latin typeface="Calibri"/>
              </a:defRPr>
            </a:pPr>
            <a:r>
              <a:t>• Status NG: 30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56 ideas analyzed.</a:t>
            </a:r>
          </a:p>
          <a:p>
            <a:pPr>
              <a:defRPr sz="1800">
                <a:latin typeface="Calibri"/>
              </a:defRPr>
            </a:pPr>
            <a:r>
              <a:t>Total Savings: INR 6,857.00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
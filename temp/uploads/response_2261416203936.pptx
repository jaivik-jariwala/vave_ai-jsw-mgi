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Sheet1!$A$2:$A$7</c:f>
              <c:strCache>
                <c:ptCount val="6"/>
                <c:pt idx="0">
                  <c:v>AI-GEN-01</c:v>
                </c:pt>
                <c:pt idx="1">
                  <c:v>AI-GEN-02</c:v>
                </c:pt>
                <c:pt idx="2">
                  <c:v>AI-GEN-03</c:v>
                </c:pt>
                <c:pt idx="3">
                  <c:v>AI-GEN-04</c:v>
                </c:pt>
                <c:pt idx="4">
                  <c:v>AI-GEN-05</c:v>
                </c:pt>
                <c:pt idx="5">
                  <c:v>AI-GEN-06</c:v>
                </c:pt>
              </c:strCache>
            </c:strRef>
          </c:cat>
          <c:val>
            <c:numRef>
              <c:f>Sheet1!$B$2:$B$7</c:f>
              <c:numCache>
                <c:formatCode>General</c:formatCode>
                <c:ptCount val="6"/>
                <c:pt idx="0">
                  <c:v>0</c:v>
                </c:pt>
                <c:pt idx="1">
                  <c:v>0</c:v>
                </c:pt>
                <c:pt idx="2">
                  <c:v>0</c:v>
                </c:pt>
                <c:pt idx="3">
                  <c:v>0</c:v>
                </c:pt>
                <c:pt idx="4">
                  <c:v>0</c:v>
                </c:pt>
                <c:pt idx="5">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Implement single-piece caliper body manufacturing utilizing advanced high-pressure die casting (HPDC) of a novel high-strength, creep-resistant aluminum alloy, integrating mounting points and optimizing internal fluid passages to significantly reduce post-machining operations and part count.</a:t>
                      </a:r>
                    </a:p>
                  </a:txBody>
                  <a:tcPr/>
                </a:tc>
                <a:tc>
                  <a:txBody>
                    <a:bodyPr wrap="square"/>
                    <a:lstStyle/>
                    <a:p>
                      <a:pPr>
                        <a:defRPr sz="1000">
                          <a:latin typeface="Calibri"/>
                        </a:defRPr>
                      </a:pPr>
                      <a:r>
                        <a:t>High-Pressure Die Casting enables the creation of complex geometries with excellent surface finish and tight tolerances in a single shot, drastically minimizing the need for extensive post-casting machining. By developing and utilizing a proprietary high-strength aluminum alloy (e.g., A356 variant with minor scandium or zirconium additions), the structural integrity required for extreme braking forces and thermal cycling is maintained, while achieving substantial weight reduction over traditional cast iron. The integrated design approach combines the caliper body and its mounting bracket into a single component, simplifying assembly, reducing part count, and eliminating associated fastening hardware. Validation will involve extensive Finite Element Method (FEM) analysis to model stress distribution under maximum braking loads, thermal fatigue, and modal characteristics. Physical testing will include comprehensive fatigue life assessment (e.g., 2 million cycles at peak load), burst pressure testing far exceeding operational limits, and repeated thermal cycling on dynamometers and test vehicles to ensure consistent performance and long-term durability. Non-destructive testing (X-ray, ultrasonic inspection) will be critical for qualifying manufacturing processes by assessing porosity levels and microstructure homogeneity.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High-Pressure Die Casting enables the creation of complex geometries with excellent surface finish and tight tolerances in a single shot, drastically minimizing the need for extensive post-casting machining. By developing and utilizing a proprietary high-strength aluminum alloy (e.g., A356 variant with minor scandium or zirconium additions), the structural integrity required for extreme braking forces and thermal cycling is maintained, while achieving substantial weight reduction over traditional cast iron. The integrated design approach combines the caliper body and its mounting bracket into a single component, simplifying assembly, reducing part count, and eliminating associated fastening hardware. Validation will involve extensive Finite Element Method (FEM) analysis to model stress distribution under maximum braking loads, thermal fatigue, and modal characteristics. Physical testing will include comprehensive fatigue life assessment (e.g., 2 million cycles at peak load), burst pressure testing far exceeding operational limits, and repeated thermal cycling on dynamometers and test vehicles to ensure consistent performance and long-term durability. Non-destructive testing (X-ray, ultrasonic inspection) will be critical for qualifying manufacturing processes by assessing porosity levels and microstructure homogeneity.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Develop and validate a topology-optimized brake caliper body manufactured via Selective Laser Melting (SLM) or Electron Beam Melting (EBM) using a high-performance titanium alloy (e.g., Ti-6Al-4V) or maraging steel, specifically targeting unsprung mass reduction and integrated thermal management.</a:t>
                      </a:r>
                    </a:p>
                  </a:txBody>
                  <a:tcPr/>
                </a:tc>
                <a:tc>
                  <a:txBody>
                    <a:bodyPr wrap="square"/>
                    <a:lstStyle/>
                    <a:p>
                      <a:pPr>
                        <a:defRPr sz="1000">
                          <a:latin typeface="Calibri"/>
                        </a:defRPr>
                      </a:pPr>
                      <a:r>
                        <a:t>Additive Manufacturing (AM) processes like SLM or EBM unlock unprecedented design freedom, enabling precise material placement through topology optimization. This allows for significant weight reduction (up to 40% over conventional aluminum calipers) while maintaining or enhancing structural stiffness and strength by removing non-load-bearing material. Critical internal features, such as optimized fluid galleries and cooling channels, can be directly integrated into the design to improve heat transfer away from the brake fluid and reduce turbulent flow. The use of titanium alloys offers an exceptional strength-to-weight ratio and superior corrosion resistance, while maraging steels provide high strength and toughness. Cost reduction stems from reduced material waste (near-net-shape fabrication), potential for part consolidation, and enhanced vehicle dynamics through unsprung mass reduction. Validation comprises rigorous FEA for structural integrity, modal analysis for stiffness, and Computational Fluid Dynamics (CFD) for internal fluid flow and thermal pathways. Physical testing will include static overload tests, dynamic fatigue testing on multi-axis rigs, thermal soak and recovery tests, and extensive on-vehicle performance evaluations to confirm braking efficiency, pedal feel consistency, and NVH (Noise, Vibration, Harshness) characteristics. Comprehensive material characterization of AM parts, including density, residual stress, and microstructure analysis, is imperative.</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Additive Manufacturing (AM) processes like SLM or EBM unlock unprecedented design freedom, enabling precise material placement through topology optimization. This allows for significant weight reduction (up to 40% over conventional aluminum calipers) while maintaining or enhancing structural stiffness and strength by removing non-load-bearing material. Critical internal features, such as optimized fluid galleries and cooling channels, can be directly integrated into the design to improve heat transfer away from the brake fluid and reduce turbulent flow. The use of titanium alloys offers an exceptional strength-to-weight ratio and superior corrosion resistance, while maraging steels provide high strength and toughness. Cost reduction stems from reduced material waste (near-net-shape fabrication), potential for part consolidation, and enhanced vehicle dynamics through unsprung mass reduction. Validation comprises rigorous FEA for structural integrity, modal analysis for stiffness, and Computational Fluid Dynamics (CFD) for internal fluid flow and thermal pathways. Physical testing will include static overload tests, dynamic fatigue testing on multi-axis rigs, thermal soak and recovery tests, and extensive on-vehicle performance evaluations to confirm braking efficiency, pedal feel consistency, and NVH (Noise, Vibration, Harshness) characteristics. Comprehensive material characterization of AM parts, including density, residual stress, and microstructure analysis, is imperative.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Introduce a novel low-hygroscopic, ester-based synthetic brake fluid formulation with enhanced antioxidant and corrosion inhibitor packages, designed to achieve significantly extended service intervals (e.g., 5+ years or 100,000 km) compared to conventional glycol-ether based DOT fluids.</a:t>
                      </a:r>
                    </a:p>
                  </a:txBody>
                  <a:tcPr/>
                </a:tc>
                <a:tc>
                  <a:txBody>
                    <a:bodyPr wrap="square"/>
                    <a:lstStyle/>
                    <a:p>
                      <a:pPr>
                        <a:defRPr sz="1000">
                          <a:latin typeface="Calibri"/>
                        </a:defRPr>
                      </a:pPr>
                      <a:r>
                        <a:t>Traditional glycol-ether brake fluids are inherently hygroscopic, meaning they readily absorb atmospheric moisture, which leads to a dangerous reduction in their boiling point and accelerated corrosion within the brake system. An advanced ester-based formulation, specifically engineered for low moisture absorption, offers superior hydrolytic stability and resistance to thermal degradation. Coupled with a bespoke additive package providing robust antioxidant and advanced corrosion inhibition properties, this fluid minimizes internal system corrosion, prevents sludge formation, and maintains critical properties like viscosity and lubricity over a substantially longer operational period. The primary cost reduction is realized by the end-user through drastically reduced maintenance frequency and potential extension of brake system component life. Engineering validation necessitates rigorous accelerated aging tests (e.g., high temperature, high humidity cycling for thousands of hours), comprehensive material compatibility testing across all brake system elastomers and metals (seals, hoses, ABS pump components), precise measurement of wet and dry boiling point stability over time, viscosity stability across extreme operational temperature ranges, and extensive long-term fleet testing under diverse climatic conditions to confirm performance retention, safety, and durability.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Traditional glycol-ether brake fluids are inherently hygroscopic, meaning they readily absorb atmospheric moisture, which leads to a dangerous reduction in their boiling point and accelerated corrosion within the brake system. An advanced ester-based formulation, specifically engineered for low moisture absorption, offers superior hydrolytic stability and resistance to thermal degradation. Coupled with a bespoke additive package providing robust antioxidant and advanced corrosion inhibition properties, this fluid minimizes internal system corrosion, prevents sludge formation, and maintains critical properties like viscosity and lubricity over a substantially longer operational period. The primary cost reduction is realized by the end-user through drastically reduced maintenance frequency and potential extension of brake system component life. Engineering validation necessitates rigorous accelerated aging tests (e.g., high temperature, high humidity cycling for thousands of hours), comprehensive material compatibility testing across all brake system elastomers and metals (seals, hoses, ABS pump components), precise measurement of wet and dry boiling point stability over time, viscosity stability across extreme operational temperature ranges, and extensive long-term fleet testing under diverse climatic conditions to confirm performance retention, safety, and durability.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Redesign the brake caliper piston using a two-piece polymer-ceramic composite structure, integrating the primary piston seal directly into the piston's outer periphery to reduce assembly complexity, improve thermal insulation, and enhance corrosion resistance.</a:t>
                      </a:r>
                    </a:p>
                  </a:txBody>
                  <a:tcPr/>
                </a:tc>
                <a:tc>
                  <a:txBody>
                    <a:bodyPr wrap="square"/>
                    <a:lstStyle/>
                    <a:p>
                      <a:pPr>
                        <a:defRPr sz="1000">
                          <a:latin typeface="Calibri"/>
                        </a:defRPr>
                      </a:pPr>
                      <a:r>
                        <a:t>Conventional brake calipers typically employ a metallic piston and a separate rubber square-cut seal lodged within a groove in the caliper bore. This proposal advocates for a composite piston (e.g., a phenolic resin matrix reinforced with ceramic fibers or particles) that offers superior thermal insulation, significantly reducing heat transfer from the brake pad to the hydraulic fluid, thereby helping to maintain a higher boiling point and prevent vapor lock. By integrating the primary dynamic seal directly onto the piston's outer periphery, several manufacturing efficiencies are gained: the need for a separate precision-machined seal groove in the caliper bore is eliminated, assembly complexity is reduced, and the interface between the piston and seal is optimized. The composite material also provides inherent weight savings and excellent resistance to corrosion from brake fluid. Key engineering challenges involve developing a robust, chemically compatible, and wear-resistant sealing material suitable for high-temperature cycling and millions of operational cycles. Validation includes comprehensive thermal performance testing using infrared thermography during severe braking events, extensive seal wear and leakage tests (e.g., 5 million cycles), high-pressure retention tests, and precise characterization of dynamic friction and stiction to ensure consistent pedal feel. Material science investigations into creep, strength retention at temperature, and thermal expansion coefficients for both the composite and integrated seal are paramount.</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Conventional brake calipers typically employ a metallic piston and a separate rubber square-cut seal lodged within a groove in the caliper bore. This proposal advocates for a composite piston (e.g., a phenolic resin matrix reinforced with ceramic fibers or particles) that offers superior thermal insulation, significantly reducing heat transfer from the brake pad to the hydraulic fluid, thereby helping to maintain a higher boiling point and prevent vapor lock. By integrating the primary dynamic seal directly onto the piston's outer periphery, several manufacturing efficiencies are gained: the need for a separate precision-machined seal groove in the caliper bore is eliminated, assembly complexity is reduced, and the interface between the piston and seal is optimized. The composite material also provides inherent weight savings and excellent resistance to corrosion from brake fluid. Key engineering challenges involve developing a robust, chemically compatible, and wear-resistant sealing material suitable for high-temperature cycling and millions of operational cycles. Validation includes comprehensive thermal performance testing using infrared thermography during severe braking events, extensive seal wear and leakage tests (e.g., 5 million cycles), high-pressure retention tests, and precise characterization of dynamic friction and stiction to ensure consistent pedal feel. Material science investigations into creep, strength retention at temperature, and thermal expansion coefficients for both the composite and integrated seal are paramount.</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Develop and integrate a compact, low-cost multi-parameter sensor package into the brake fluid reservoir cap to continuously monitor fluid health indicators such as moisture content and conductivity, providing predictive maintenance alerts via the vehicle's telematics system.</a:t>
                      </a:r>
                    </a:p>
                  </a:txBody>
                  <a:tcPr/>
                </a:tc>
                <a:tc>
                  <a:txBody>
                    <a:bodyPr wrap="square"/>
                    <a:lstStyle/>
                    <a:p>
                      <a:pPr>
                        <a:defRPr sz="1000">
                          <a:latin typeface="Calibri"/>
                        </a:defRPr>
                      </a:pPr>
                      <a:r>
                        <a:t>The degradation of brake fluid, primarily driven by moisture absorption and chemical breakdown, directly impacts its boiling point, viscosity, and corrosive potential, compromising braking performance and system longevity. By integrating an in-situ multi-parameter sensor (e.g., combining capacitive sensing for moisture content and electrical conductivity measurement for ionic contamination) within the brake fluid reservoir cap, real-time fluid health data can be acquired. This enables a condition-based maintenance strategy, replacing fluid only when its critical properties degrade below predefined safety thresholds, rather than adhering to rigid, often arbitrary, time or mileage schedules. This optimizes fluid usage, reduces unnecessary workshop visits for fluid flushes, and significantly enhances safety by proactively ensuring fluid performance. The sensor technology must demonstrate high accuracy, long-term stability, robustness against fluid contamination and environmental extremes (temperature, vibration, chemical exposure), and cost-effectiveness for mass production. Validation involves extensive calibration against laboratory-grade reference measurements for moisture content and conductivity, accelerated aging tests under harsh automotive conditions, and comprehensive field trials to correlate sensor readings with actual fluid boiling point depression and overall vehicle braking performance. Seamless integration with the vehicle's ECU and telematics system for intuitive driver alerts and service scheduling is also a critical aspect of development.</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degradation of brake fluid, primarily driven by moisture absorption and chemical breakdown, directly impacts its boiling point, viscosity, and corrosive potential, compromising braking performance and system longevity. By integrating an in-situ multi-parameter sensor (e.g., combining capacitive sensing for moisture content and electrical conductivity measurement for ionic contamination) within the brake fluid reservoir cap, real-time fluid health data can be acquired. This enables a condition-based maintenance strategy, replacing fluid only when its critical properties degrade below predefined safety thresholds, rather than adhering to rigid, often arbitrary, time or mileage schedules. This optimizes fluid usage, reduces unnecessary workshop visits for fluid flushes, and significantly enhances safety by proactively ensuring fluid performance. The sensor technology must demonstrate high accuracy, long-term stability, robustness against fluid contamination and environmental extremes (temperature, vibration, chemical exposure), and cost-effectiveness for mass production. Validation involves extensive calibration against laboratory-grade reference measurements for moisture content and conductivity, accelerated aging tests under harsh automotive conditions, and comprehensive field trials to correlate sensor readings with actual fluid boiling point depression and overall vehicle braking performance. Seamless integration with the vehicle's ECU and telematics system for intuitive driver alerts and service scheduling is also a critical aspect of development.</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329184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29718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Implement a localized, closed-loop aluminum recycling and remelting process for caliper manufacturing scrap, integrating with advanced gravity casting and semi-solid forming (thixoforming) techniques for primary production, significantly reducing virgin material input and associated energy costs.</a:t>
                      </a:r>
                    </a:p>
                  </a:txBody>
                  <a:tcPr/>
                </a:tc>
                <a:tc>
                  <a:txBody>
                    <a:bodyPr wrap="square"/>
                    <a:lstStyle/>
                    <a:p>
                      <a:pPr>
                        <a:defRPr sz="1000">
                          <a:latin typeface="Calibri"/>
                        </a:defRPr>
                      </a:pPr>
                      <a:r>
                        <a:t>Traditional aluminum caliper manufacturing processes, whether sand casting or die casting, inherently generate a percentage of scrap in the form of risers, gates, flash, and defective parts. Instead of outsourcing this scrap for external recycling or disposal, this proposal involves establishing an in-house, closed-loop system where aluminum manufacturing waste is collected, sorted, cleaned, and directly remelted for reintroduction into the production stream. This process is optimized by coupling it with advanced casting techniques. Localized gravity casting can be utilized for specific low-volume variants or initial material conditioning, while semi-solid forming (thixoforming) offers superior advantages for primary production of high-volume components. Thixoforming produces near-net-shape parts with a finer, more homogeneous grain structure and reduced porosity compared to conventional casting, leading to improved mechanical properties and reduced post-machining requirements. The cost reduction is multi-faceted, encompassing a significant decrease in virgin aluminum acquisition costs, reduced energy consumption associated with primary aluminum production, and minimized waste disposal expenses. Validation will focus on stringent material quality control, including spectroscopic analysis to ensure consistent alloy composition and purity of the recycled material. Comprehensive mechanical property testing (tensile strength, fatigue life, ductility) of calipers produced from recycled material, along with meticulous process control for repeatable part quality, will be critical. Energy consumption audits and life cycle assessments will quantify the economic and environmental benefits.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Traditional aluminum caliper manufacturing processes, whether sand casting or die casting, inherently generate a percentage of scrap in the form of risers, gates, flash, and defective parts. Instead of outsourcing this scrap for external recycling or disposal, this proposal involves establishing an in-house, closed-loop system where aluminum manufacturing waste is collected, sorted, cleaned, and directly remelted for reintroduction into the production stream. This process is optimized by coupling it with advanced casting techniques. Localized gravity casting can be utilized for specific low-volume variants or initial material conditioning, while semi-solid forming (thixoforming) offers superior advantages for primary production of high-volume components. Thixoforming produces near-net-shape parts with a finer, more homogeneous grain structure and reduced porosity compared to conventional casting, leading to improved mechanical properties and reduced post-machining requirements. The cost reduction is multi-faceted, encompassing a significant decrease in virgin aluminum acquisition costs, reduced energy consumption associated with primary aluminum production, and minimized waste disposal expenses. Validation will focus on stringent material quality control, including spectroscopic analysis to ensure consistent alloy composition and purity of the recycled material. Comprehensive mechanical property testing (tensile strength, fatigue life, ductility) of calipers produced from recycled material, along with meticulous process control for repeatable part quality, will be critical. Energy consumption audits and life cycle assessments will quantify the economic and environmental benefits.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6</a:t>
            </a:r>
          </a:p>
          <a:p>
            <a:pPr>
              <a:defRPr sz="1000">
                <a:latin typeface="Calibri"/>
              </a:defRPr>
            </a:pPr>
            <a:r>
              <a:t>• Total Potential Savings: INR 0.00</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6 ideas analyzed.</a:t>
            </a:r>
          </a:p>
          <a:p>
            <a:pPr>
              <a:defRPr sz="1800">
                <a:latin typeface="Calibri"/>
              </a:defRPr>
            </a:pPr>
            <a:r>
              <a:t>Total Savings: INR 0.00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
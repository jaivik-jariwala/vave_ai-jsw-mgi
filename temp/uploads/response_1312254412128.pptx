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Sheet1!$A$2:$A$57</c:f>
              <c:strCache>
                <c:ptCount val="56"/>
                <c:pt idx="0">
                  <c:v>2311-ET-ID-03</c:v>
                </c:pt>
                <c:pt idx="1">
                  <c:v>2311-DA-ID-06</c:v>
                </c:pt>
                <c:pt idx="2">
                  <c:v>2311-DA-ID-22</c:v>
                </c:pt>
                <c:pt idx="3">
                  <c:v>2311-DA-ID-26</c:v>
                </c:pt>
                <c:pt idx="4">
                  <c:v>2311-SS-ID-10</c:v>
                </c:pt>
                <c:pt idx="5">
                  <c:v>2311-DA-ID-35</c:v>
                </c:pt>
                <c:pt idx="6">
                  <c:v>2311-IT-ID-26</c:v>
                </c:pt>
                <c:pt idx="7">
                  <c:v>2311-IT-ID-16</c:v>
                </c:pt>
                <c:pt idx="8">
                  <c:v>2311-ET-ID-27</c:v>
                </c:pt>
                <c:pt idx="9">
                  <c:v>2311-IT-ID-06</c:v>
                </c:pt>
                <c:pt idx="10">
                  <c:v>2311-FS-ID-02</c:v>
                </c:pt>
                <c:pt idx="11">
                  <c:v>2311-SS-ID-01</c:v>
                </c:pt>
                <c:pt idx="12">
                  <c:v>2311-DA-ID-07</c:v>
                </c:pt>
                <c:pt idx="13">
                  <c:v>2311-EL-ID-01</c:v>
                </c:pt>
                <c:pt idx="14">
                  <c:v>2311-FS-ID-01</c:v>
                </c:pt>
                <c:pt idx="15">
                  <c:v>2311-IP-ID-05</c:v>
                </c:pt>
                <c:pt idx="16">
                  <c:v>2311-PRODUCT-ID-13</c:v>
                </c:pt>
                <c:pt idx="17">
                  <c:v>2311-PRODUCT-ID-18</c:v>
                </c:pt>
                <c:pt idx="18">
                  <c:v>2311-ET-ID-17</c:v>
                </c:pt>
                <c:pt idx="19">
                  <c:v>2311-IP-ID-16</c:v>
                </c:pt>
                <c:pt idx="20">
                  <c:v>2311-IT-ID-17</c:v>
                </c:pt>
                <c:pt idx="21">
                  <c:v>2311-EL-ID-25</c:v>
                </c:pt>
                <c:pt idx="22">
                  <c:v>2311-EL-ID-17</c:v>
                </c:pt>
                <c:pt idx="23">
                  <c:v>2311-IP-ID-11</c:v>
                </c:pt>
                <c:pt idx="24">
                  <c:v>2311-EL-ID-11</c:v>
                </c:pt>
                <c:pt idx="25">
                  <c:v>2311-IT-ID-08</c:v>
                </c:pt>
                <c:pt idx="26">
                  <c:v>2311-EX-ID-01</c:v>
                </c:pt>
                <c:pt idx="27">
                  <c:v>2311-EL-ID-08</c:v>
                </c:pt>
                <c:pt idx="28">
                  <c:v>2311-DA-ID-10</c:v>
                </c:pt>
                <c:pt idx="29">
                  <c:v>2311-PRODUCT-ID-05</c:v>
                </c:pt>
                <c:pt idx="30">
                  <c:v>2311-BIW-ID-06</c:v>
                </c:pt>
                <c:pt idx="31">
                  <c:v>2311-DA-ID-25</c:v>
                </c:pt>
                <c:pt idx="32">
                  <c:v>2311-ET-ID-20</c:v>
                </c:pt>
                <c:pt idx="33">
                  <c:v>2311-ET-ID-07</c:v>
                </c:pt>
                <c:pt idx="34">
                  <c:v>2311-ET-ID-24</c:v>
                </c:pt>
                <c:pt idx="35">
                  <c:v>2311-DA-ID-12</c:v>
                </c:pt>
                <c:pt idx="36">
                  <c:v>2311-ET-ID-11</c:v>
                </c:pt>
                <c:pt idx="37">
                  <c:v>2311-IP-ID-01</c:v>
                </c:pt>
                <c:pt idx="38">
                  <c:v>2311-ST-ID-03</c:v>
                </c:pt>
                <c:pt idx="39">
                  <c:v>2311-IP-ID-10</c:v>
                </c:pt>
                <c:pt idx="40">
                  <c:v>2311-WT-ID-01</c:v>
                </c:pt>
                <c:pt idx="41">
                  <c:v>2311-BIW-ID-02</c:v>
                </c:pt>
                <c:pt idx="42">
                  <c:v>2311-PRODUCT-ID-02</c:v>
                </c:pt>
                <c:pt idx="43">
                  <c:v>2311-DA-ID-18</c:v>
                </c:pt>
                <c:pt idx="44">
                  <c:v>2311-DA-ID-20</c:v>
                </c:pt>
                <c:pt idx="45">
                  <c:v>2311-DA-ID-37</c:v>
                </c:pt>
                <c:pt idx="46">
                  <c:v>2311-EL-ID-23</c:v>
                </c:pt>
                <c:pt idx="47">
                  <c:v>2311-SP-ID-03</c:v>
                </c:pt>
                <c:pt idx="48">
                  <c:v>2311-DA-ID-27</c:v>
                </c:pt>
                <c:pt idx="49">
                  <c:v>2311-PRODUCT-ID-03</c:v>
                </c:pt>
                <c:pt idx="50">
                  <c:v>AI-GEN-01</c:v>
                </c:pt>
                <c:pt idx="51">
                  <c:v>AI-GEN-02</c:v>
                </c:pt>
                <c:pt idx="52">
                  <c:v>AI-GEN-03</c:v>
                </c:pt>
                <c:pt idx="53">
                  <c:v>AI-GEN-04</c:v>
                </c:pt>
                <c:pt idx="54">
                  <c:v>AI-GEN-05</c:v>
                </c:pt>
                <c:pt idx="55">
                  <c:v>AI-GEN-06</c:v>
                </c:pt>
              </c:strCache>
            </c:strRef>
          </c:cat>
          <c:val>
            <c:numRef>
              <c:f>Sheet1!$B$2:$B$57</c:f>
              <c:numCache>
                <c:formatCode>General</c:formatCode>
                <c:ptCount val="56"/>
                <c:pt idx="0">
                  <c:v>148.0</c:v>
                </c:pt>
                <c:pt idx="1">
                  <c:v>148.0</c:v>
                </c:pt>
                <c:pt idx="2">
                  <c:v>148.0</c:v>
                </c:pt>
                <c:pt idx="3">
                  <c:v>147.0</c:v>
                </c:pt>
                <c:pt idx="4">
                  <c:v>147.0</c:v>
                </c:pt>
                <c:pt idx="5">
                  <c:v>147.0</c:v>
                </c:pt>
                <c:pt idx="6">
                  <c:v>145.0</c:v>
                </c:pt>
                <c:pt idx="7">
                  <c:v>145.0</c:v>
                </c:pt>
                <c:pt idx="8">
                  <c:v>145.0</c:v>
                </c:pt>
                <c:pt idx="9">
                  <c:v>144.0</c:v>
                </c:pt>
                <c:pt idx="10">
                  <c:v>144.0</c:v>
                </c:pt>
                <c:pt idx="11">
                  <c:v>144.0</c:v>
                </c:pt>
                <c:pt idx="12">
                  <c:v>143.0</c:v>
                </c:pt>
                <c:pt idx="13">
                  <c:v>142.0</c:v>
                </c:pt>
                <c:pt idx="14">
                  <c:v>142.0</c:v>
                </c:pt>
                <c:pt idx="15">
                  <c:v>141.0</c:v>
                </c:pt>
                <c:pt idx="16">
                  <c:v>141.0</c:v>
                </c:pt>
                <c:pt idx="17">
                  <c:v>141.0</c:v>
                </c:pt>
                <c:pt idx="18">
                  <c:v>141.0</c:v>
                </c:pt>
                <c:pt idx="19">
                  <c:v>140.0</c:v>
                </c:pt>
                <c:pt idx="20">
                  <c:v>140.0</c:v>
                </c:pt>
                <c:pt idx="21">
                  <c:v>140.0</c:v>
                </c:pt>
                <c:pt idx="22">
                  <c:v>139.0</c:v>
                </c:pt>
                <c:pt idx="23">
                  <c:v>138.0</c:v>
                </c:pt>
                <c:pt idx="24">
                  <c:v>137.0</c:v>
                </c:pt>
                <c:pt idx="25">
                  <c:v>137.0</c:v>
                </c:pt>
                <c:pt idx="26">
                  <c:v>136.0</c:v>
                </c:pt>
                <c:pt idx="27">
                  <c:v>135.0</c:v>
                </c:pt>
                <c:pt idx="28">
                  <c:v>135.0</c:v>
                </c:pt>
                <c:pt idx="29">
                  <c:v>135.0</c:v>
                </c:pt>
                <c:pt idx="30">
                  <c:v>135.0</c:v>
                </c:pt>
                <c:pt idx="31">
                  <c:v>134.0</c:v>
                </c:pt>
                <c:pt idx="32">
                  <c:v>133.0</c:v>
                </c:pt>
                <c:pt idx="33">
                  <c:v>133.0</c:v>
                </c:pt>
                <c:pt idx="34">
                  <c:v>132.0</c:v>
                </c:pt>
                <c:pt idx="35">
                  <c:v>131.0</c:v>
                </c:pt>
                <c:pt idx="36">
                  <c:v>131.0</c:v>
                </c:pt>
                <c:pt idx="37">
                  <c:v>131.0</c:v>
                </c:pt>
                <c:pt idx="38">
                  <c:v>131.0</c:v>
                </c:pt>
                <c:pt idx="39">
                  <c:v>130.0</c:v>
                </c:pt>
                <c:pt idx="40">
                  <c:v>130.0</c:v>
                </c:pt>
                <c:pt idx="41">
                  <c:v>130.0</c:v>
                </c:pt>
                <c:pt idx="42">
                  <c:v>130.0</c:v>
                </c:pt>
                <c:pt idx="43">
                  <c:v>129.0</c:v>
                </c:pt>
                <c:pt idx="44">
                  <c:v>129.0</c:v>
                </c:pt>
                <c:pt idx="45">
                  <c:v>127.0</c:v>
                </c:pt>
                <c:pt idx="46">
                  <c:v>127.0</c:v>
                </c:pt>
                <c:pt idx="47">
                  <c:v>127.0</c:v>
                </c:pt>
                <c:pt idx="48">
                  <c:v>126.0</c:v>
                </c:pt>
                <c:pt idx="49">
                  <c:v>126.0</c:v>
                </c:pt>
                <c:pt idx="50">
                  <c:v>0</c:v>
                </c:pt>
                <c:pt idx="51">
                  <c:v>0</c:v>
                </c:pt>
                <c:pt idx="52">
                  <c:v>0</c:v>
                </c:pt>
                <c:pt idx="53">
                  <c:v>0</c:v>
                </c:pt>
                <c:pt idx="54">
                  <c:v>0</c:v>
                </c:pt>
                <c:pt idx="5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16</c:v>
                </c:pt>
                <c:pt idx="3">
                  <c:v>30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2311-ET-ID-03</a:t>
                      </a:r>
                    </a:p>
                  </a:txBody>
                  <a:tcPr/>
                </a:tc>
                <a:tc>
                  <a:txBody>
                    <a:bodyPr wrap="square"/>
                    <a:lstStyle/>
                    <a:p>
                      <a:pPr>
                        <a:defRPr sz="1000">
                          <a:latin typeface="Calibri"/>
                        </a:defRPr>
                      </a:pPr>
                      <a:r>
                        <a:t>Remove the Air Extractor Vent Securing Trims affixed at both ends of the rear bumper brackets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2311-DA-ID-06</a:t>
                      </a:r>
                    </a:p>
                  </a:txBody>
                  <a:tcPr/>
                </a:tc>
                <a:tc>
                  <a:txBody>
                    <a:bodyPr wrap="square"/>
                    <a:lstStyle/>
                    <a:p>
                      <a:pPr>
                        <a:defRPr sz="1000">
                          <a:latin typeface="Calibri"/>
                        </a:defRPr>
                      </a:pPr>
                      <a:r>
                        <a:t>Replace the plastic trim used on the Hood Prop Rod in MGI with a foam cover trim as in KIA</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Chirag</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2311-DA-ID-22</a:t>
                      </a:r>
                    </a:p>
                  </a:txBody>
                  <a:tcPr/>
                </a:tc>
                <a:tc>
                  <a:txBody>
                    <a:bodyPr wrap="square"/>
                    <a:lstStyle/>
                    <a:p>
                      <a:pPr>
                        <a:defRPr sz="1000">
                          <a:latin typeface="Calibri"/>
                        </a:defRPr>
                      </a:pPr>
                      <a:r>
                        <a:t>Replace PA6-GF30 with PA6-GF15 + MD25 in the manufacture of the Exterior Door Handle Rear Trims</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2311-DA-ID-26</a:t>
                      </a:r>
                    </a:p>
                  </a:txBody>
                  <a:tcPr/>
                </a:tc>
                <a:tc>
                  <a:txBody>
                    <a:bodyPr wrap="square"/>
                    <a:lstStyle/>
                    <a:p>
                      <a:pPr>
                        <a:defRPr sz="1000">
                          <a:latin typeface="Calibri"/>
                        </a:defRPr>
                      </a:pPr>
                      <a:r>
                        <a:t>Replace the ABS blend with PP-T20 in the manufacture of the Front and Rear Door Panel Side Trims in MGI</a:t>
                      </a:r>
                    </a:p>
                  </a:txBody>
                  <a:tcPr/>
                </a:tc>
                <a:tc>
                  <a:txBody>
                    <a:bodyPr wrap="square"/>
                    <a:lstStyle/>
                    <a:p>
                      <a:pPr>
                        <a:defRPr sz="1000">
                          <a:latin typeface="Calibri"/>
                        </a:defRPr>
                      </a:pPr>
                      <a:r>
                        <a:t>nan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2311-SS-ID-10</a:t>
                      </a:r>
                    </a:p>
                  </a:txBody>
                  <a:tcPr/>
                </a:tc>
                <a:tc>
                  <a:txBody>
                    <a:bodyPr wrap="square"/>
                    <a:lstStyle/>
                    <a:p>
                      <a:pPr>
                        <a:defRPr sz="1000">
                          <a:latin typeface="Calibri"/>
                        </a:defRPr>
                      </a:pPr>
                      <a:r>
                        <a:t>Replace PP+EPDM-T20 used in the manufacture of the Second-Row Seat Bottom Cover and Cushion Cover Trims of MGI with standard PP</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Kalp/Nishant</a:t>
                      </a:r>
                    </a:p>
                  </a:txBody>
                  <a:tcPr/>
                </a:tc>
                <a:tc>
                  <a:txBody>
                    <a:bodyPr wrap="square"/>
                    <a:lstStyle/>
                    <a:p>
                      <a:pPr>
                        <a:defRPr sz="1000">
                          <a:latin typeface="Calibri"/>
                        </a:defRPr>
                      </a:pPr>
                      <a:r>
                        <a:t>2023-12-31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2311-DA-ID-35</a:t>
                      </a:r>
                    </a:p>
                  </a:txBody>
                  <a:tcPr/>
                </a:tc>
                <a:tc>
                  <a:txBody>
                    <a:bodyPr wrap="square"/>
                    <a:lstStyle/>
                    <a:p>
                      <a:pPr>
                        <a:defRPr sz="1000">
                          <a:latin typeface="Calibri"/>
                        </a:defRPr>
                      </a:pPr>
                      <a:r>
                        <a:t>Replace PBT-GF30 with PA6-GF30 in the manufacture of the gear casings.</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INR 147.0</a:t>
                      </a:r>
                    </a:p>
                  </a:txBody>
                  <a:tcPr/>
                </a:tc>
                <a:tc>
                  <a:txBody>
                    <a:bodyPr wrap="square"/>
                    <a:lstStyle/>
                    <a:p>
                      <a:pPr>
                        <a:defRPr sz="1000">
                          <a:latin typeface="Calibri"/>
                        </a:defRPr>
                      </a:pPr>
                      <a:r>
                        <a:t>Hold</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Ratnadeep</a:t>
                      </a:r>
                    </a:p>
                  </a:txBody>
                  <a:tcPr/>
                </a:tc>
                <a:tc>
                  <a:txBody>
                    <a:bodyPr wrap="square"/>
                    <a:lstStyle/>
                    <a:p>
                      <a:pPr>
                        <a:defRPr sz="1000">
                          <a:latin typeface="Calibri"/>
                        </a:defRPr>
                      </a:pPr>
                      <a:r>
                        <a:t>TBC</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2311-IT-ID-16</a:t>
                      </a:r>
                    </a:p>
                  </a:txBody>
                  <a:tcPr/>
                </a:tc>
                <a:tc>
                  <a:txBody>
                    <a:bodyPr wrap="square"/>
                    <a:lstStyle/>
                    <a:p>
                      <a:pPr>
                        <a:defRPr sz="1000">
                          <a:latin typeface="Calibri"/>
                        </a:defRPr>
                      </a:pPr>
                      <a:r>
                        <a:t>Replace PP+PE-T10 used in the manufacture of the Front A-Pillar Interior Trims in MGI with standard PP+PE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2311-ET-ID-27</a:t>
                      </a:r>
                    </a:p>
                  </a:txBody>
                  <a:tcPr/>
                </a:tc>
                <a:tc>
                  <a:txBody>
                    <a:bodyPr wrap="square"/>
                    <a:lstStyle/>
                    <a:p>
                      <a:pPr>
                        <a:defRPr sz="1000">
                          <a:latin typeface="Calibri"/>
                        </a:defRPr>
                      </a:pPr>
                      <a:r>
                        <a:t>Replace the Thinsulate Acoustic Insulation used on the Front &amp; Rear Wheel Arch LH &amp; RH Liners for NVH restriction within MGI with Noiselite PP-PET Insulation</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2311-IT-ID-06</a:t>
                      </a:r>
                    </a:p>
                  </a:txBody>
                  <a:tcPr/>
                </a:tc>
                <a:tc>
                  <a:txBody>
                    <a:bodyPr wrap="square"/>
                    <a:lstStyle/>
                    <a:p>
                      <a:pPr>
                        <a:defRPr sz="1000">
                          <a:latin typeface="Calibri"/>
                        </a:defRPr>
                      </a:pPr>
                      <a:r>
                        <a:t>Eliminate the dead pedal trim provided in MGI.</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INR 144.0</a:t>
                      </a:r>
                    </a:p>
                  </a:txBody>
                  <a:tcPr/>
                </a:tc>
                <a:tc>
                  <a:txBody>
                    <a:bodyPr wrap="square"/>
                    <a:lstStyle/>
                    <a:p>
                      <a:pPr>
                        <a:defRPr sz="1000">
                          <a:latin typeface="Calibri"/>
                        </a:defRPr>
                      </a:pPr>
                      <a:r>
                        <a:t>OK</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Akhil</a:t>
                      </a:r>
                    </a:p>
                  </a:txBody>
                  <a:tcPr/>
                </a:tc>
                <a:tc>
                  <a:txBody>
                    <a:bodyPr wrap="square"/>
                    <a:lstStyle/>
                    <a:p>
                      <a:pPr>
                        <a:defRPr sz="1000">
                          <a:latin typeface="Calibri"/>
                        </a:defRPr>
                      </a:pPr>
                      <a:r>
                        <a:t>2024-06-15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INR 144.0</a:t>
                      </a:r>
                    </a:p>
                  </a:txBody>
                  <a:tcPr/>
                </a:tc>
                <a:tc>
                  <a:txBody>
                    <a:bodyPr wrap="square"/>
                    <a:lstStyle/>
                    <a:p>
                      <a:pPr>
                        <a:defRPr sz="1000">
                          <a:latin typeface="Calibri"/>
                        </a:defRPr>
                      </a:pPr>
                      <a:r>
                        <a:t>TBD</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Sumanta</a:t>
                      </a:r>
                    </a:p>
                  </a:txBody>
                  <a:tcPr/>
                </a:tc>
                <a:tc>
                  <a:txBody>
                    <a:bodyPr wrap="square"/>
                    <a:lstStyle/>
                    <a:p>
                      <a:pPr>
                        <a:defRPr sz="1000">
                          <a:latin typeface="Calibri"/>
                        </a:defRPr>
                      </a:pPr>
                      <a:r>
                        <a:t>2024-04-23 00:00:00</a:t>
                      </a:r>
                    </a:p>
                  </a:txBody>
                  <a:tcPr/>
                </a:tc>
              </a:tr>
              <a:tr h="320040">
                <a:tc>
                  <a:txBody>
                    <a:bodyPr wrap="square"/>
                    <a:lstStyle/>
                    <a:p>
                      <a:pPr>
                        <a:defRPr sz="1000">
                          <a:latin typeface="Calibri"/>
                        </a:defRPr>
                      </a:pPr>
                      <a:r>
                        <a:t>2311-SS-ID-01</a:t>
                      </a:r>
                    </a:p>
                  </a:txBody>
                  <a:tcPr/>
                </a:tc>
                <a:tc>
                  <a:txBody>
                    <a:bodyPr wrap="square"/>
                    <a:lstStyle/>
                    <a:p>
                      <a:pPr>
                        <a:defRPr sz="1000">
                          <a:latin typeface="Calibri"/>
                        </a:defRPr>
                      </a:pPr>
                      <a:r>
                        <a:t>Reduce the width from the upper edge of the PVC panel of seat vent by 90mm.</a:t>
                      </a:r>
                    </a:p>
                  </a:txBody>
                  <a:tcPr/>
                </a:tc>
                <a:tc>
                  <a:txBody>
                    <a:bodyPr wrap="square"/>
                    <a:lstStyle/>
                    <a:p>
                      <a:pPr>
                        <a:defRPr sz="1000">
                          <a:latin typeface="Calibri"/>
                        </a:defRPr>
                      </a:pPr>
                      <a:r>
                        <a:t>nan</a:t>
                      </a:r>
                    </a:p>
                  </a:txBody>
                  <a:tcPr/>
                </a:tc>
                <a:tc>
                  <a:txBody>
                    <a:bodyPr wrap="square"/>
                    <a:lstStyle/>
                    <a:p>
                      <a:pPr>
                        <a:defRPr sz="1000">
                          <a:latin typeface="Calibri"/>
                        </a:defRPr>
                      </a:pPr>
                      <a:r>
                        <a:t>INR 144.0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INR 143.0</a:t>
                      </a:r>
                    </a:p>
                  </a:txBody>
                  <a:tcPr/>
                </a:tc>
                <a:tc>
                  <a:txBody>
                    <a:bodyPr wrap="square"/>
                    <a:lstStyle/>
                    <a:p>
                      <a:pPr>
                        <a:defRPr sz="1000">
                          <a:latin typeface="Calibri"/>
                        </a:defRPr>
                      </a:pPr>
                      <a:r>
                        <a:t>NG</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2311-FS-ID-01</a:t>
                      </a:r>
                    </a:p>
                  </a:txBody>
                  <a:tcPr/>
                </a:tc>
                <a:tc>
                  <a:txBody>
                    <a:bodyPr wrap="square"/>
                    <a:lstStyle/>
                    <a:p>
                      <a:pPr>
                        <a:defRPr sz="1000">
                          <a:latin typeface="Calibri"/>
                        </a:defRPr>
                      </a:pPr>
                      <a:r>
                        <a:t>Remove the Neoprene Foam Sheaths present on the fuel lines and the fuel inlet hose of MGI</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Ratnadeep</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2311-IP-ID-05</a:t>
                      </a:r>
                    </a:p>
                  </a:txBody>
                  <a:tcPr/>
                </a:tc>
                <a:tc>
                  <a:txBody>
                    <a:bodyPr wrap="square"/>
                    <a:lstStyle/>
                    <a:p>
                      <a:pPr>
                        <a:defRPr sz="1000">
                          <a:latin typeface="Calibri"/>
                        </a:defRPr>
                      </a:pPr>
                      <a:r>
                        <a:t>Replace PP+EPDM+T20 with PP+T20 in the manufacture of the dashboard upper trim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2311-ET-ID-17</a:t>
                      </a:r>
                    </a:p>
                  </a:txBody>
                  <a:tcPr/>
                </a:tc>
                <a:tc>
                  <a:txBody>
                    <a:bodyPr wrap="square"/>
                    <a:lstStyle/>
                    <a:p>
                      <a:pPr>
                        <a:defRPr sz="1000">
                          <a:latin typeface="Calibri"/>
                        </a:defRPr>
                      </a:pPr>
                      <a:r>
                        <a:t>Reduce the wall thickness of the Bumper Lower Trim from 2.8mm to 2.4mm</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2311-IP-ID-16</a:t>
                      </a:r>
                    </a:p>
                  </a:txBody>
                  <a:tcPr/>
                </a:tc>
                <a:tc>
                  <a:txBody>
                    <a:bodyPr wrap="square"/>
                    <a:lstStyle/>
                    <a:p>
                      <a:pPr>
                        <a:defRPr sz="1000">
                          <a:latin typeface="Calibri"/>
                        </a:defRPr>
                      </a:pPr>
                      <a:r>
                        <a:t>Replace PC-ABS with ABS in the manufacture of both Instrument Cluster Fascia Decorative Trim and the IP LHS &amp; RHS Decorative Trims since the finish could be achieved on ABS-made trims as well</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 </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2311-IT-ID-17</a:t>
                      </a:r>
                    </a:p>
                  </a:txBody>
                  <a:tcPr/>
                </a:tc>
                <a:tc>
                  <a:txBody>
                    <a:bodyPr wrap="square"/>
                    <a:lstStyle/>
                    <a:p>
                      <a:pPr>
                        <a:defRPr sz="1000">
                          <a:latin typeface="Calibri"/>
                        </a:defRPr>
                      </a:pPr>
                      <a:r>
                        <a:t>Replace the Thinsulate used in between the Interior Trims of MGI with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2311-EL-ID-25</a:t>
                      </a:r>
                    </a:p>
                  </a:txBody>
                  <a:tcPr/>
                </a:tc>
                <a:tc>
                  <a:txBody>
                    <a:bodyPr wrap="square"/>
                    <a:lstStyle/>
                    <a:p>
                      <a:pPr>
                        <a:defRPr sz="1000">
                          <a:latin typeface="Calibri"/>
                        </a:defRPr>
                      </a:pPr>
                      <a:r>
                        <a:t>Replace Brass with Steel in the manufacture of the Main Terminal Connector Bolt within the Engine-Bay Fusebox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139.0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2311-IP-ID-11</a:t>
                      </a:r>
                    </a:p>
                  </a:txBody>
                  <a:tcPr/>
                </a:tc>
                <a:tc>
                  <a:txBody>
                    <a:bodyPr wrap="square"/>
                    <a:lstStyle/>
                    <a:p>
                      <a:pPr>
                        <a:defRPr sz="1000">
                          <a:latin typeface="Calibri"/>
                        </a:defRPr>
                      </a:pPr>
                      <a:r>
                        <a:t>Replace PC-ABS with PP-TD40 in the manufacture of the Front-Row Air Vent Casings in MGI</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138.0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6)</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2311-IT-ID-08</a:t>
                      </a:r>
                    </a:p>
                  </a:txBody>
                  <a:tcPr/>
                </a:tc>
                <a:tc>
                  <a:txBody>
                    <a:bodyPr wrap="square"/>
                    <a:lstStyle/>
                    <a:p>
                      <a:pPr>
                        <a:defRPr sz="1000">
                          <a:latin typeface="Calibri"/>
                        </a:defRPr>
                      </a:pPr>
                      <a:r>
                        <a:t>Remove the EPDM sheet and integrate the PU Foam with the PE sheet.</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137.0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2311-EX-ID-01</a:t>
                      </a:r>
                    </a:p>
                  </a:txBody>
                  <a:tcPr/>
                </a:tc>
                <a:tc>
                  <a:txBody>
                    <a:bodyPr wrap="square"/>
                    <a:lstStyle/>
                    <a:p>
                      <a:pPr>
                        <a:defRPr sz="1000">
                          <a:latin typeface="Calibri"/>
                        </a:defRPr>
                      </a:pPr>
                      <a:r>
                        <a:t>1. Remove the rubber hanger from the extension pipe near the resonator, along with its associated mounting points, and rearrange the other hangers as shown in the figure.</a:t>
                      </a:r>
                    </a:p>
                    <a:p>
                      <a:pPr>
                        <a:defRPr sz="1000">
                          <a:latin typeface="Calibri"/>
                        </a:defRPr>
                      </a:pPr>
                      <a:r>
                        <a:t>2. Relocate the hangers mounted on the resonator to the top and bottom of the resonator (onto the exhaust pipe and the extension pipe)</a:t>
                      </a:r>
                    </a:p>
                  </a:txBody>
                  <a:tcPr/>
                </a:tc>
                <a:tc>
                  <a:txBody>
                    <a:bodyPr wrap="square"/>
                    <a:lstStyle/>
                    <a:p>
                      <a:pPr>
                        <a:defRPr sz="1000">
                          <a:latin typeface="Calibri"/>
                        </a:defRPr>
                      </a:pPr>
                      <a:r>
                        <a:t>nan</a:t>
                      </a:r>
                    </a:p>
                  </a:txBody>
                  <a:tcPr/>
                </a:tc>
                <a:tc>
                  <a:txBody>
                    <a:bodyPr wrap="square"/>
                    <a:lstStyle/>
                    <a:p>
                      <a:pPr>
                        <a:defRPr sz="1000">
                          <a:latin typeface="Calibri"/>
                        </a:defRPr>
                      </a:pPr>
                      <a:r>
                        <a:t>INR 136.0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2311-DA-ID-10</a:t>
                      </a:r>
                    </a:p>
                  </a:txBody>
                  <a:tcPr/>
                </a:tc>
                <a:tc>
                  <a:txBody>
                    <a:bodyPr wrap="square"/>
                    <a:lstStyle/>
                    <a:p>
                      <a:pPr>
                        <a:defRPr sz="1000">
                          <a:latin typeface="Calibri"/>
                        </a:defRPr>
                      </a:pPr>
                      <a:r>
                        <a:t>Instead of using Aluminum in the manufacture of the Mirror Main Frame, use PA6-GF 50</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7)</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2311-DA-ID-25</a:t>
                      </a:r>
                    </a:p>
                  </a:txBody>
                  <a:tcPr/>
                </a:tc>
                <a:tc>
                  <a:txBody>
                    <a:bodyPr wrap="square"/>
                    <a:lstStyle/>
                    <a:p>
                      <a:pPr>
                        <a:defRPr sz="1000">
                          <a:latin typeface="Calibri"/>
                        </a:defRPr>
                      </a:pPr>
                      <a:r>
                        <a:t>Replace PP-T20 used in the manufacture of the Door Panel Interior Main Trims 2 of MGI with PP-E/P-TD10</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INR 134.0</a:t>
                      </a:r>
                    </a:p>
                  </a:txBody>
                  <a:tcPr/>
                </a:tc>
                <a:tc>
                  <a:txBody>
                    <a:bodyPr wrap="square"/>
                    <a:lstStyle/>
                    <a:p>
                      <a:pPr>
                        <a:defRPr sz="1000">
                          <a:latin typeface="Calibri"/>
                        </a:defRPr>
                      </a:pPr>
                      <a:r>
                        <a:t>NG</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2311-ET-ID-20</a:t>
                      </a:r>
                    </a:p>
                  </a:txBody>
                  <a:tcPr/>
                </a:tc>
                <a:tc>
                  <a:txBody>
                    <a:bodyPr wrap="square"/>
                    <a:lstStyle/>
                    <a:p>
                      <a:pPr>
                        <a:defRPr sz="1000">
                          <a:latin typeface="Calibri"/>
                        </a:defRPr>
                      </a:pPr>
                      <a:r>
                        <a:t>Replace the PCB Module supplied by 'Taizhou Suzhong Antenna Group Co., Ltd.' used within the shark fin antenna of MGI with a similar one supplied by 'INFAC Elecs'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2311-ET-ID-07</a:t>
                      </a:r>
                    </a:p>
                  </a:txBody>
                  <a:tcPr/>
                </a:tc>
                <a:tc>
                  <a:txBody>
                    <a:bodyPr wrap="square"/>
                    <a:lstStyle/>
                    <a:p>
                      <a:pPr>
                        <a:defRPr sz="1000">
                          <a:latin typeface="Calibri"/>
                        </a:defRPr>
                      </a:pPr>
                      <a:r>
                        <a:t>Reduce the wall thickness of the Front and Rear Fender Garnishes present on both LH and RH sides from 3.2mm to 2.8mm</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8)</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2311-DA-ID-12</a:t>
                      </a:r>
                    </a:p>
                  </a:txBody>
                  <a:tcPr/>
                </a:tc>
                <a:tc>
                  <a:txBody>
                    <a:bodyPr wrap="square"/>
                    <a:lstStyle/>
                    <a:p>
                      <a:pPr>
                        <a:defRPr sz="1000">
                          <a:latin typeface="Calibri"/>
                        </a:defRPr>
                      </a:pPr>
                      <a:r>
                        <a:t>Replace ABS with PP-GF 15 in the manufacture of the LH and RH Side Spoiler Inner Trims</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2311-ET-ID-11</a:t>
                      </a:r>
                    </a:p>
                  </a:txBody>
                  <a:tcPr/>
                </a:tc>
                <a:tc>
                  <a:txBody>
                    <a:bodyPr wrap="square"/>
                    <a:lstStyle/>
                    <a:p>
                      <a:pPr>
                        <a:defRPr sz="1000">
                          <a:latin typeface="Calibri"/>
                        </a:defRPr>
                      </a:pPr>
                      <a:r>
                        <a:t>1. Remove the Foam inserts from both the LH and RH sides of MGI and use plastic trims instead as employed in KIA</a:t>
                      </a:r>
                    </a:p>
                    <a:p>
                      <a:pPr>
                        <a:defRPr sz="1000">
                          <a:latin typeface="Calibri"/>
                        </a:defRPr>
                      </a:pPr>
                      <a:r>
                        <a:t>2. Thinsulate could be used if required</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2311-IP-ID-01</a:t>
                      </a:r>
                    </a:p>
                  </a:txBody>
                  <a:tcPr/>
                </a:tc>
                <a:tc>
                  <a:txBody>
                    <a:bodyPr wrap="square"/>
                    <a:lstStyle/>
                    <a:p>
                      <a:pPr>
                        <a:defRPr sz="1000">
                          <a:latin typeface="Calibri"/>
                        </a:defRPr>
                      </a:pPr>
                      <a:r>
                        <a:t>Replace the Thinsulate used within the LH &amp; RH Centre Console Side Trims of MGI with Thermoplastic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131.0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2311-IP-ID-10</a:t>
                      </a:r>
                    </a:p>
                  </a:txBody>
                  <a:tcPr/>
                </a:tc>
                <a:tc>
                  <a:txBody>
                    <a:bodyPr wrap="square"/>
                    <a:lstStyle/>
                    <a:p>
                      <a:pPr>
                        <a:defRPr sz="1000">
                          <a:latin typeface="Calibri"/>
                        </a:defRPr>
                      </a:pPr>
                      <a:r>
                        <a:t>Replace PC-ABS with ABS in the manufacture of the Front-Row Armrest Inner Cover in MGI</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9)</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2311-WT-ID-01</a:t>
                      </a:r>
                    </a:p>
                  </a:txBody>
                  <a:tcPr/>
                </a:tc>
                <a:tc>
                  <a:txBody>
                    <a:bodyPr wrap="square"/>
                    <a:lstStyle/>
                    <a:p>
                      <a:pPr>
                        <a:defRPr sz="1000">
                          <a:latin typeface="Calibri"/>
                        </a:defRPr>
                      </a:pPr>
                      <a:r>
                        <a:t>Replace the Tyre Pressure Monitoring System (TPMS) sensors from 'SGMW' used in MGI with similar sensors from 'Continental Engineering Services'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2311-BIW-ID-02</a:t>
                      </a:r>
                    </a:p>
                  </a:txBody>
                  <a:tcPr/>
                </a:tc>
                <a:tc>
                  <a:txBody>
                    <a:bodyPr wrap="square"/>
                    <a:lstStyle/>
                    <a:p>
                      <a:pPr>
                        <a:defRPr sz="1000">
                          <a:latin typeface="Calibri"/>
                        </a:defRPr>
                      </a:pPr>
                      <a:r>
                        <a:t>Remove the black paint coating from the LH &amp; RH A-Pillar Side Stiffener Brackets, LH &amp; RH Centre Console and Gear Selector Base Mounting Brackets on the BIW of MGI</a:t>
                      </a:r>
                    </a:p>
                  </a:txBody>
                  <a:tcPr/>
                </a:tc>
                <a:tc>
                  <a:txBody>
                    <a:bodyPr wrap="square"/>
                    <a:lstStyle/>
                    <a:p>
                      <a:pPr>
                        <a:defRPr sz="1000">
                          <a:latin typeface="Calibri"/>
                        </a:defRPr>
                      </a:pPr>
                      <a:r>
                        <a:t>CFT buy off</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CFT buy off</a:t>
                      </a:r>
                    </a:p>
                  </a:txBody>
                  <a:tcPr/>
                </a:tc>
                <a:tc>
                  <a:txBody>
                    <a:bodyPr wrap="square"/>
                    <a:lstStyle/>
                    <a:p>
                      <a:pPr>
                        <a:defRPr sz="1000">
                          <a:latin typeface="Calibri"/>
                        </a:defRPr>
                      </a:pPr>
                      <a:r>
                        <a:t>Ratnadeep</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2311-DA-ID-18</a:t>
                      </a:r>
                    </a:p>
                  </a:txBody>
                  <a:tcPr/>
                </a:tc>
                <a:tc>
                  <a:txBody>
                    <a:bodyPr wrap="square"/>
                    <a:lstStyle/>
                    <a:p>
                      <a:pPr>
                        <a:defRPr sz="1000">
                          <a:latin typeface="Calibri"/>
                        </a:defRPr>
                      </a:pPr>
                      <a:r>
                        <a:t>Replace ABS with PP-T 20 in the manufacture of Door Panel Interior Delta Trim Inners</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2023-11-08 00:00:00</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10)</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2311-DA-ID-37</a:t>
                      </a:r>
                    </a:p>
                  </a:txBody>
                  <a:tcPr/>
                </a:tc>
                <a:tc>
                  <a:txBody>
                    <a:bodyPr wrap="square"/>
                    <a:lstStyle/>
                    <a:p>
                      <a:pPr>
                        <a:defRPr sz="1000">
                          <a:latin typeface="Calibri"/>
                        </a:defRPr>
                      </a:pPr>
                      <a:r>
                        <a:t>Replace ABS with PP-T20 used in the manufacture of the LH and RH Mirror Outer Covers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2311-EL-ID-23</a:t>
                      </a:r>
                    </a:p>
                  </a:txBody>
                  <a:tcPr/>
                </a:tc>
                <a:tc>
                  <a:txBody>
                    <a:bodyPr wrap="square"/>
                    <a:lstStyle/>
                    <a:p>
                      <a:pPr>
                        <a:defRPr sz="1000">
                          <a:latin typeface="Calibri"/>
                        </a:defRPr>
                      </a:pPr>
                      <a:r>
                        <a:t>Replace the Mini (Closed) Fuses used within the Engine-Bay Fuse Box of the vehicle with Micro2 (Open) Fuses</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2311-SP-ID-03</a:t>
                      </a:r>
                    </a:p>
                  </a:txBody>
                  <a:tcPr/>
                </a:tc>
                <a:tc>
                  <a:txBody>
                    <a:bodyPr wrap="square"/>
                    <a:lstStyle/>
                    <a:p>
                      <a:pPr>
                        <a:defRPr sz="1000">
                          <a:latin typeface="Calibri"/>
                        </a:defRPr>
                      </a:pPr>
                      <a:r>
                        <a:t>Redesign the rubber mould removing the 16mm extension downwards from all three sides of the plate</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Utilize a hydroformed steel tube construction for the front lower control arms, replacing the traditional stamped steel configuration. This process involves introducing high-pressure fluid to shape pre-formed steel tubes into the desired control arm geometry.</a:t>
                      </a:r>
                    </a:p>
                  </a:txBody>
                  <a:tcPr/>
                </a:tc>
                <a:tc>
                  <a:txBody>
                    <a:bodyPr wrap="square"/>
                    <a:lstStyle/>
                    <a:p>
                      <a:pPr>
                        <a:defRPr sz="1000">
                          <a:latin typeface="Calibri"/>
                        </a:defRPr>
                      </a:pPr>
                      <a:r>
                        <a:t>Hydroforming allows for the creation of complex geometries with optimized material distribution, leading to reduced material usage and potentially fewer assembly operations.  The increased stiffness from the inherent tubular design can also allow for a smaller cross-section, further reducing weight and material cost. Validation will involve FEA analysis to confirm stiffness and durability targets under various load cases (braking, cornering, impact).  Prototype fabrication and physical testing (static stiffness, dynamic fatigue, component burst pressure if applicable) will be conducted to validate simulation results and ensure long-term reliability.  Comparison of material cost and manufacturing cycle time against stamped steel will establish the cost reduction.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Hydroforming allows for the creation of complex geometries with optimized material distribution, leading to reduced material usage and potentially fewer assembly operations.  The increased stiffness from the inherent tubular design can also allow for a smaller cross-section, further reducing weight and material cost. Validation will involve FEA analysis to confirm stiffness and durability targets under various load cases (braking, cornering, impact).  Prototype fabrication and physical testing (static stiffness, dynamic fatigue, component burst pressure if applicable) will be conducted to validate simulation results and ensure long-term reliability.  Comparison of material cost and manufacturing cycle time against stamped steel will establish the cost reduction.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Transition to a forged aluminum alloy (e.g., 6061-T6 or 7075-T6) for the front lower control arms, replacing stamped steel. Forging allows for precise control of grain structure and superior mechanical properties compared to casting or stamping.</a:t>
                      </a:r>
                    </a:p>
                  </a:txBody>
                  <a:tcPr/>
                </a:tc>
                <a:tc>
                  <a:txBody>
                    <a:bodyPr wrap="square"/>
                    <a:lstStyle/>
                    <a:p>
                      <a:pPr>
                        <a:defRPr sz="1000">
                          <a:latin typeface="Calibri"/>
                        </a:defRPr>
                      </a:pPr>
                      <a:r>
                        <a:t>Forging offers significant weight savings due to aluminum's lower density compared to steel. The inherent strength and fatigue resistance of forged aluminum allow for optimized designs with thinner walls and reduced material volume. This can lead to improved vehicle dynamics and fuel efficiency.  Validation will involve material characterization and mechanical testing of forged samples to confirm yield strength, tensile strength, and fatigue life.  FEA will be employed to optimize the design for weight and stiffness.  Prototype control arms will undergo rigorous bench testing, including static load tests and fatigue testing under simulated road conditions.  A comparative analysis of raw material cost, tooling investment, and manufacturing throughput will quantify the cost-effectiveness.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Forging offers significant weight savings due to aluminum's lower density compared to steel. The inherent strength and fatigue resistance of forged aluminum allow for optimized designs with thinner walls and reduced material volume. This can lead to improved vehicle dynamics and fuel efficiency.  Validation will involve material characterization and mechanical testing of forged samples to confirm yield strength, tensile strength, and fatigue life.  FEA will be employed to optimize the design for weight and stiffness.  Prototype control arms will undergo rigorous bench testing, including static load tests and fatigue testing under simulated road conditions.  A comparative analysis of raw material cost, tooling investment, and manufacturing throughput will quantify the cost-effectiveness.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composite (e.g., glass fiber reinforced polymer - GFRP) front lower control arm. This would involve laying up fibers within a resin matrix and curing under pressure and heat.</a:t>
                      </a:r>
                    </a:p>
                  </a:txBody>
                  <a:tcPr/>
                </a:tc>
                <a:tc>
                  <a:txBody>
                    <a:bodyPr wrap="square"/>
                    <a:lstStyle/>
                    <a:p>
                      <a:pPr>
                        <a:defRPr sz="1000">
                          <a:latin typeface="Calibri"/>
                        </a:defRPr>
                      </a:pPr>
                      <a:r>
                        <a:t>Composite materials offer exceptional strength-to-weight ratios, enabling significant weight reduction and design flexibility.  The anisotropic nature of composites allows for tailored stiffness and strength in specific directions, optimizing performance and potentially reducing the number of components.  Validation will focus on material science and structural analysis.  FEA with anisotropic material properties will be critical for design optimization.  Extensive component testing, including static load, fatigue, impact, and environmental resistance (temperature, moisture), is paramount.  The primary cost consideration will be tooling and raw material cost, offset by significant weight savings and potential integration of functions.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Composite materials offer exceptional strength-to-weight ratios, enabling significant weight reduction and design flexibility.  The anisotropic nature of composites allows for tailored stiffness and strength in specific directions, optimizing performance and potentially reducing the number of components.  Validation will focus on material science and structural analysis.  FEA with anisotropic material properties will be critical for design optimization.  Extensive component testing, including static load, fatigue, impact, and environmental resistance (temperature, moisture), is paramount.  The primary cost consideration will be tooling and raw material cost, offset by significant weight savings and potential integration of functions.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 dual-material construction for the front lower control arm, combining high-strength steel in critical load-bearing areas with a lighter, less stressed material (e.g., cast aluminum or a reinforced polymer) in other sections.</a:t>
                      </a:r>
                    </a:p>
                  </a:txBody>
                  <a:tcPr/>
                </a:tc>
                <a:tc>
                  <a:txBody>
                    <a:bodyPr wrap="square"/>
                    <a:lstStyle/>
                    <a:p>
                      <a:pPr>
                        <a:defRPr sz="1000">
                          <a:latin typeface="Calibri"/>
                        </a:defRPr>
                      </a:pPr>
                      <a:r>
                        <a:t>This approach leverages the best properties of different materials.  High-strength steel can be selectively applied where maximum stiffness and durability are required, while lighter materials are used in areas with lower stress demands. This 'best-of-both-worlds' strategy can achieve significant weight reduction and cost savings compared to a monolithic steel or aluminum component.  Validation will involve detailed stress analysis of each material section and their interfaces.  FEA will be used to precisely define the material boundaries and optimize the joint design.  Prototype testing will include static load, fatigue, and potentially impact tests to assess the performance of the dissimilar material joints and overall structural integrity.  The cost benefit will stem from reduced overall material mass and potentially lower cost for the non-high-strength steel components.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the best properties of different materials.  High-strength steel can be selectively applied where maximum stiffness and durability are required, while lighter materials are used in areas with lower stress demands. This 'best-of-both-worlds' strategy can achieve significant weight reduction and cost savings compared to a monolithic steel or aluminum component.  Validation will involve detailed stress analysis of each material section and their interfaces.  FEA will be used to precisely define the material boundaries and optimize the joint design.  Prototype testing will include static load, fatigue, and potentially impact tests to assess the performance of the dissimilar material joints and overall structural integrity.  The cost benefit will stem from reduced overall material mass and potentially lower cost for the non-high-strength steel components.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Explore a novel 'topology optimized' stamped steel design. This involves using advanced simulation software to identify and remove material from non-critical areas of a traditional stamped steel control arm, creating a lattice or organic-like structure while maintaining structural integrity.</a:t>
                      </a:r>
                    </a:p>
                  </a:txBody>
                  <a:tcPr/>
                </a:tc>
                <a:tc>
                  <a:txBody>
                    <a:bodyPr wrap="square"/>
                    <a:lstStyle/>
                    <a:p>
                      <a:pPr>
                        <a:defRPr sz="1000">
                          <a:latin typeface="Calibri"/>
                        </a:defRPr>
                      </a:pPr>
                      <a:r>
                        <a:t>Topology optimization, when applied to stamped steel, can significantly reduce the mass of the component by removing material where it is not structurally essential. This is achieved through iterative finite element analysis that gradually removes material until optimal performance is reached.  The resulting complex geometries can be challenging for traditional stamping but may be achievable with advanced die designs or by considering additive manufacturing for select high-value components if cost-effective. Validation will heavily rely on sophisticated FEA to ensure all critical load paths are maintained and strength targets are met.  Prototype stamping and subsequent physical testing (static and fatigue) are crucial to confirm the simulated performance in the real world. The cost saving will come from reduced steel usage.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Topology optimization, when applied to stamped steel, can significantly reduce the mass of the component by removing material where it is not structurally essential. This is achieved through iterative finite element analysis that gradually removes material until optimal performance is reached.  The resulting complex geometries can be challenging for traditional stamping but may be achievable with advanced die designs or by considering additive manufacturing for select high-value components if cost-effective. Validation will heavily rely on sophisticated FEA to ensure all critical load paths are maintained and strength targets are met.  Prototype stamping and subsequent physical testing (static and fatigue) are crucial to confirm the simulated performance in the real world. The cost saving will come from reduced steel usage.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Investigate the use of a 'metal matrix composite' (MMC) for the front lower control arms. This involves reinforcing an aluminum alloy matrix with ceramic particles (e.g., silicon carbide) to enhance stiffness and strength.</a:t>
                      </a:r>
                    </a:p>
                  </a:txBody>
                  <a:tcPr/>
                </a:tc>
                <a:tc>
                  <a:txBody>
                    <a:bodyPr wrap="square"/>
                    <a:lstStyle/>
                    <a:p>
                      <a:pPr>
                        <a:defRPr sz="1000">
                          <a:latin typeface="Calibri"/>
                        </a:defRPr>
                      </a:pPr>
                      <a:r>
                        <a:t>MMCs offer a significant improvement in stiffness and wear resistance compared to conventional aluminum alloys, potentially allowing for thinner-walled designs and reduced overall mass. This can lead to enhanced vehicle handling and reduced unsprung weight.  The challenge lies in the manufacturing process of MMCs, which can be more complex and costly than traditional aluminum casting or forging. Validation will involve detailed characterization of the MMC material properties, including tensile strength, Young's modulus, and fatigue resistance. FEA will be used to optimize the design for weight and stiffness.  Prototype testing will focus on static and dynamic load cases, and wear resistance.  A thorough cost-benefit analysis comparing MMC manufacturing costs against the weight and performance benefits will be essential.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MMCs offer a significant improvement in stiffness and wear resistance compared to conventional aluminum alloys, potentially allowing for thinner-walled designs and reduced overall mass. This can lead to enhanced vehicle handling and reduced unsprung weight.  The challenge lies in the manufacturing process of MMCs, which can be more complex and costly than traditional aluminum casting or forging. Validation will involve detailed characterization of the MMC material properties, including tensile strength, Young's modulus, and fatigue resistance. FEA will be used to optimize the design for weight and stiffness.  Prototype testing will focus on static and dynamic load cases, and wear resistance.  A thorough cost-benefit analysis comparing MMC manufacturing costs against the weight and performance benefits will be essential.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56</a:t>
            </a:r>
          </a:p>
          <a:p>
            <a:pPr>
              <a:defRPr sz="1000">
                <a:latin typeface="Calibri"/>
              </a:defRPr>
            </a:pPr>
            <a:r>
              <a:t>• Total Potential Savings: INR 6,857.00</a:t>
            </a:r>
          </a:p>
          <a:p>
            <a:pPr>
              <a:defRPr sz="1000">
                <a:latin typeface="Calibri"/>
              </a:defRPr>
            </a:pPr>
            <a:r>
              <a:t>• Implemented Ideas: 0</a:t>
            </a:r>
          </a:p>
          <a:p>
            <a:pPr>
              <a:defRPr sz="1000">
                <a:latin typeface="Calibri"/>
              </a:defRPr>
            </a:pPr>
            <a:r>
              <a:t>• Status OK: 2</a:t>
            </a:r>
          </a:p>
          <a:p>
            <a:pPr>
              <a:defRPr sz="1000">
                <a:latin typeface="Calibri"/>
              </a:defRPr>
            </a:pPr>
            <a:r>
              <a:t>• Status TBD: 16</a:t>
            </a:r>
          </a:p>
          <a:p>
            <a:pPr>
              <a:defRPr sz="1000">
                <a:latin typeface="Calibri"/>
              </a:defRPr>
            </a:pPr>
            <a:r>
              <a:t>• Status NG: 30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56 ideas analyzed.</a:t>
            </a:r>
          </a:p>
          <a:p>
            <a:pPr>
              <a:defRPr sz="1800">
                <a:latin typeface="Calibri"/>
              </a:defRPr>
            </a:pPr>
            <a:r>
              <a:t>Total Savings: INR 6,857.00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
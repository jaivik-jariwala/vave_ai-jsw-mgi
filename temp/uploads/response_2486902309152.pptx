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Sheet1!$A$2:$A$12</c:f>
              <c:strCache>
                <c:ptCount val="11"/>
                <c:pt idx="0">
                  <c:v>2311-EL-ID-10</c:v>
                </c:pt>
                <c:pt idx="1">
                  <c:v>2311-EL-ID-08</c:v>
                </c:pt>
                <c:pt idx="2">
                  <c:v>2311-EL-ID-09</c:v>
                </c:pt>
                <c:pt idx="3">
                  <c:v>2311-ET-ID-14</c:v>
                </c:pt>
                <c:pt idx="4">
                  <c:v>2311-EL-ID-11</c:v>
                </c:pt>
                <c:pt idx="5">
                  <c:v>AI-GEN-01</c:v>
                </c:pt>
                <c:pt idx="6">
                  <c:v>AI-GEN-02</c:v>
                </c:pt>
                <c:pt idx="7">
                  <c:v>AI-GEN-03</c:v>
                </c:pt>
                <c:pt idx="8">
                  <c:v>AI-GEN-04</c:v>
                </c:pt>
                <c:pt idx="9">
                  <c:v>AI-GEN-05</c:v>
                </c:pt>
                <c:pt idx="10">
                  <c:v>AI-GEN-06</c:v>
                </c:pt>
              </c:strCache>
            </c:strRef>
          </c:cat>
          <c:val>
            <c:numRef>
              <c:f>Sheet1!$B$2:$B$12</c:f>
              <c:numCache>
                <c:formatCode>General</c:formatCode>
                <c:ptCount val="11"/>
                <c:pt idx="0">
                  <c:v>61.0</c:v>
                </c:pt>
                <c:pt idx="1">
                  <c:v>135.0</c:v>
                </c:pt>
                <c:pt idx="2">
                  <c:v>90.0</c:v>
                </c:pt>
                <c:pt idx="3">
                  <c:v>41.0</c:v>
                </c:pt>
                <c:pt idx="4">
                  <c:v>137.0</c:v>
                </c:pt>
                <c:pt idx="5">
                  <c:v>0</c:v>
                </c:pt>
                <c:pt idx="6">
                  <c:v>0</c:v>
                </c:pt>
                <c:pt idx="7">
                  <c:v>0</c:v>
                </c:pt>
                <c:pt idx="8">
                  <c:v>0</c:v>
                </c:pt>
                <c:pt idx="9">
                  <c:v>0</c:v>
                </c:pt>
                <c:pt idx="10">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1</c:v>
                </c:pt>
                <c:pt idx="2">
                  <c:v>2</c:v>
                </c:pt>
                <c:pt idx="3">
                  <c:v>2</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2311-EL-ID-10</a:t>
                      </a:r>
                    </a:p>
                  </a:txBody>
                  <a:tcPr/>
                </a:tc>
                <a:tc>
                  <a:txBody>
                    <a:bodyPr wrap="square"/>
                    <a:lstStyle/>
                    <a:p>
                      <a:pPr>
                        <a:defRPr sz="1000">
                          <a:latin typeface="Calibri"/>
                        </a:defRPr>
                      </a:pPr>
                      <a:r>
                        <a:t>Replace the 444GSM Battery Insulation Cover used in MGI with a 350GSM Insulation Cover</a:t>
                      </a:r>
                    </a:p>
                  </a:txBody>
                  <a:tcPr/>
                </a:tc>
                <a:tc>
                  <a:txBody>
                    <a:bodyPr wrap="square"/>
                    <a:lstStyle/>
                    <a:p>
                      <a:pPr>
                        <a:defRPr sz="1000">
                          <a:latin typeface="Calibri"/>
                        </a:defRPr>
                      </a:pPr>
                      <a:r>
                        <a:t>Thermal performance pending with change in density</a:t>
                      </a:r>
                    </a:p>
                  </a:txBody>
                  <a:tcPr/>
                </a:tc>
                <a:tc>
                  <a:txBody>
                    <a:bodyPr wrap="square"/>
                    <a:lstStyle/>
                    <a:p>
                      <a:pPr>
                        <a:defRPr sz="1000">
                          <a:latin typeface="Calibri"/>
                        </a:defRPr>
                      </a:pPr>
                      <a:r>
                        <a:t>INR 61.0</a:t>
                      </a:r>
                    </a:p>
                  </a:txBody>
                  <a:tcPr/>
                </a:tc>
                <a:tc>
                  <a:txBody>
                    <a:bodyPr wrap="square"/>
                    <a:lstStyle/>
                    <a:p>
                      <a:pPr>
                        <a:defRPr sz="1000">
                          <a:latin typeface="Calibri"/>
                        </a:defRPr>
                      </a:pPr>
                      <a:r>
                        <a:t>TBD</a:t>
                      </a:r>
                    </a:p>
                  </a:txBody>
                  <a:tcPr/>
                </a:tc>
                <a:tc>
                  <a:txBody>
                    <a:bodyPr wrap="square"/>
                    <a:lstStyle/>
                    <a:p>
                      <a:pPr>
                        <a:defRPr sz="1000">
                          <a:latin typeface="Calibri"/>
                        </a:defRPr>
                      </a:pPr>
                      <a:r>
                        <a:t>Thermal performance pending with change in density</a:t>
                      </a:r>
                    </a:p>
                  </a:txBody>
                  <a:tcPr/>
                </a:tc>
                <a:tc>
                  <a:txBody>
                    <a:bodyPr wrap="square"/>
                    <a:lstStyle/>
                    <a:p>
                      <a:pPr>
                        <a:defRPr sz="1000">
                          <a:latin typeface="Calibri"/>
                        </a:defRPr>
                      </a:pPr>
                      <a:r>
                        <a:t>Ojaswini</a:t>
                      </a:r>
                    </a:p>
                  </a:txBody>
                  <a:tcPr/>
                </a:tc>
                <a:tc>
                  <a:txBody>
                    <a:bodyPr wrap="square"/>
                    <a:lstStyle/>
                    <a:p>
                      <a:pPr>
                        <a:defRPr sz="1000">
                          <a:latin typeface="Calibri"/>
                        </a:defRPr>
                      </a:pPr>
                      <a:r>
                        <a:t>2024-03-29 00:00:00</a:t>
                      </a:r>
                    </a:p>
                  </a:txBody>
                  <a:tcPr/>
                </a:tc>
              </a:tr>
              <a:tr h="320040">
                <a:tc>
                  <a:txBody>
                    <a:bodyPr wrap="square"/>
                    <a:lstStyle/>
                    <a:p>
                      <a:pPr>
                        <a:defRPr sz="1000">
                          <a:latin typeface="Calibri"/>
                        </a:defRPr>
                      </a:pPr>
                      <a:r>
                        <a:t>2311-EL-ID-08</a:t>
                      </a:r>
                    </a:p>
                  </a:txBody>
                  <a:tcPr/>
                </a:tc>
                <a:tc>
                  <a:txBody>
                    <a:bodyPr wrap="square"/>
                    <a:lstStyle/>
                    <a:p>
                      <a:pPr>
                        <a:defRPr sz="1000">
                          <a:latin typeface="Calibri"/>
                        </a:defRPr>
                      </a:pPr>
                      <a:r>
                        <a:t>Update the battery mounting technique in MGI to align with the one employed in KIA, including a redesign of the battery-securing enclosure.</a:t>
                      </a:r>
                    </a:p>
                  </a:txBody>
                  <a:tcPr/>
                </a:tc>
                <a:tc>
                  <a:txBody>
                    <a:bodyPr wrap="square"/>
                    <a:lstStyle/>
                    <a:p>
                      <a:pPr>
                        <a:defRPr sz="1000">
                          <a:latin typeface="Calibri"/>
                        </a:defRPr>
                      </a:pPr>
                      <a:r>
                        <a:t>nan</a:t>
                      </a:r>
                    </a:p>
                  </a:txBody>
                  <a:tcPr/>
                </a:tc>
                <a:tc>
                  <a:txBody>
                    <a:bodyPr wrap="square"/>
                    <a:lstStyle/>
                    <a:p>
                      <a:pPr>
                        <a:defRPr sz="1000">
                          <a:latin typeface="Calibri"/>
                        </a:defRPr>
                      </a:pPr>
                      <a:r>
                        <a:t>INR 135.0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2311-EL-ID-09</a:t>
                      </a:r>
                    </a:p>
                  </a:txBody>
                  <a:tcPr/>
                </a:tc>
                <a:tc>
                  <a:txBody>
                    <a:bodyPr wrap="square"/>
                    <a:lstStyle/>
                    <a:p>
                      <a:pPr>
                        <a:defRPr sz="1000">
                          <a:latin typeface="Calibri"/>
                        </a:defRPr>
                      </a:pPr>
                      <a:r>
                        <a:t>Remove the separate tray provided at the base of the battery enclosure in MGI</a:t>
                      </a:r>
                    </a:p>
                  </a:txBody>
                  <a:tcPr/>
                </a:tc>
                <a:tc>
                  <a:txBody>
                    <a:bodyPr wrap="square"/>
                    <a:lstStyle/>
                    <a:p>
                      <a:pPr>
                        <a:defRPr sz="1000">
                          <a:latin typeface="Calibri"/>
                        </a:defRPr>
                      </a:pPr>
                      <a:r>
                        <a:t>Confirm homeroom feasibility</a:t>
                      </a:r>
                    </a:p>
                  </a:txBody>
                  <a:tcPr/>
                </a:tc>
                <a:tc>
                  <a:txBody>
                    <a:bodyPr wrap="square"/>
                    <a:lstStyle/>
                    <a:p>
                      <a:pPr>
                        <a:defRPr sz="1000">
                          <a:latin typeface="Calibri"/>
                        </a:defRPr>
                      </a:pPr>
                      <a:r>
                        <a:t>INR 90.0</a:t>
                      </a:r>
                    </a:p>
                  </a:txBody>
                  <a:tcPr/>
                </a:tc>
                <a:tc>
                  <a:txBody>
                    <a:bodyPr wrap="square"/>
                    <a:lstStyle/>
                    <a:p>
                      <a:pPr>
                        <a:defRPr sz="1000">
                          <a:latin typeface="Calibri"/>
                        </a:defRPr>
                      </a:pPr>
                      <a:r>
                        <a:t>NG</a:t>
                      </a:r>
                    </a:p>
                  </a:txBody>
                  <a:tcPr/>
                </a:tc>
                <a:tc>
                  <a:txBody>
                    <a:bodyPr wrap="square"/>
                    <a:lstStyle/>
                    <a:p>
                      <a:pPr>
                        <a:defRPr sz="1000">
                          <a:latin typeface="Calibri"/>
                        </a:defRPr>
                      </a:pPr>
                      <a:r>
                        <a:t>Confirm homeroom feasibility</a:t>
                      </a:r>
                    </a:p>
                  </a:txBody>
                  <a:tcPr/>
                </a:tc>
                <a:tc>
                  <a:txBody>
                    <a:bodyPr wrap="square"/>
                    <a:lstStyle/>
                    <a:p>
                      <a:pPr>
                        <a:defRPr sz="1000">
                          <a:latin typeface="Calibri"/>
                        </a:defRPr>
                      </a:pPr>
                      <a:r>
                        <a:t>Ratnadeep</a:t>
                      </a:r>
                    </a:p>
                  </a:txBody>
                  <a:tcPr/>
                </a:tc>
                <a:tc>
                  <a:txBody>
                    <a:bodyPr wrap="square"/>
                    <a:lstStyle/>
                    <a:p>
                      <a:pPr>
                        <a:defRPr sz="1000">
                          <a:latin typeface="Calibri"/>
                        </a:defRPr>
                      </a:pPr>
                      <a:r>
                        <a:t>2024-04-15 00:00:00</a:t>
                      </a:r>
                    </a:p>
                  </a:txBody>
                  <a:tcPr/>
                </a:tc>
              </a:tr>
              <a:tr h="320040">
                <a:tc>
                  <a:txBody>
                    <a:bodyPr wrap="square"/>
                    <a:lstStyle/>
                    <a:p>
                      <a:pPr>
                        <a:defRPr sz="1000">
                          <a:latin typeface="Calibri"/>
                        </a:defRPr>
                      </a:pPr>
                      <a:r>
                        <a:t>2311-ET-ID-14</a:t>
                      </a:r>
                    </a:p>
                  </a:txBody>
                  <a:tcPr/>
                </a:tc>
                <a:tc>
                  <a:txBody>
                    <a:bodyPr wrap="square"/>
                    <a:lstStyle/>
                    <a:p>
                      <a:pPr>
                        <a:defRPr sz="1000">
                          <a:latin typeface="Calibri"/>
                        </a:defRPr>
                      </a:pPr>
                      <a:r>
                        <a:t>1. Replace the 2240GSM Engine Bay Insulation Cover within MGI with a 1080 - 1100GSM Insulation Cover (PES-NF) as in KIA</a:t>
                      </a:r>
                    </a:p>
                    <a:p>
                      <a:pPr>
                        <a:defRPr sz="1000">
                          <a:latin typeface="Calibri"/>
                        </a:defRPr>
                      </a:pPr>
                      <a:r>
                        <a:t>2. Replace the 5300GSM Cabin Insulation Cover within MGI with a 4550 - 4650GSM Insulation Cover as in KIA</a:t>
                      </a:r>
                    </a:p>
                  </a:txBody>
                  <a:tcPr/>
                </a:tc>
                <a:tc>
                  <a:txBody>
                    <a:bodyPr wrap="square"/>
                    <a:lstStyle/>
                    <a:p>
                      <a:pPr>
                        <a:defRPr sz="1000">
                          <a:latin typeface="Calibri"/>
                        </a:defRPr>
                      </a:pPr>
                      <a:r>
                        <a:t>Confirm on vehicel trial</a:t>
                      </a:r>
                    </a:p>
                  </a:txBody>
                  <a:tcPr/>
                </a:tc>
                <a:tc>
                  <a:txBody>
                    <a:bodyPr wrap="square"/>
                    <a:lstStyle/>
                    <a:p>
                      <a:pPr>
                        <a:defRPr sz="1000">
                          <a:latin typeface="Calibri"/>
                        </a:defRPr>
                      </a:pPr>
                      <a:r>
                        <a:t>INR 41.0</a:t>
                      </a:r>
                    </a:p>
                  </a:txBody>
                  <a:tcPr/>
                </a:tc>
                <a:tc>
                  <a:txBody>
                    <a:bodyPr wrap="square"/>
                    <a:lstStyle/>
                    <a:p>
                      <a:pPr>
                        <a:defRPr sz="1000">
                          <a:latin typeface="Calibri"/>
                        </a:defRPr>
                      </a:pPr>
                      <a:r>
                        <a:t>OK</a:t>
                      </a:r>
                    </a:p>
                  </a:txBody>
                  <a:tcPr/>
                </a:tc>
                <a:tc>
                  <a:txBody>
                    <a:bodyPr wrap="square"/>
                    <a:lstStyle/>
                    <a:p>
                      <a:pPr>
                        <a:defRPr sz="1000">
                          <a:latin typeface="Calibri"/>
                        </a:defRPr>
                      </a:pPr>
                      <a:r>
                        <a:t>Confirm on vehicel trial</a:t>
                      </a:r>
                    </a:p>
                  </a:txBody>
                  <a:tcPr/>
                </a:tc>
                <a:tc>
                  <a:txBody>
                    <a:bodyPr wrap="square"/>
                    <a:lstStyle/>
                    <a:p>
                      <a:pPr>
                        <a:defRPr sz="1000">
                          <a:latin typeface="Calibri"/>
                        </a:defRPr>
                      </a:pPr>
                      <a:r>
                        <a:t>Narendra/ Ratnadeep</a:t>
                      </a:r>
                    </a:p>
                  </a:txBody>
                  <a:tcPr/>
                </a:tc>
                <a:tc>
                  <a:txBody>
                    <a:bodyPr wrap="square"/>
                    <a:lstStyle/>
                    <a:p>
                      <a:pPr>
                        <a:defRPr sz="1000">
                          <a:latin typeface="Calibri"/>
                        </a:defRPr>
                      </a:pPr>
                      <a:r>
                        <a:t>2024-06-28 00:00:00</a:t>
                      </a:r>
                    </a:p>
                  </a:txBody>
                  <a:tcPr/>
                </a:tc>
              </a:tr>
              <a:tr h="320040">
                <a:tc>
                  <a:txBody>
                    <a:bodyPr wrap="square"/>
                    <a:lstStyle/>
                    <a:p>
                      <a:pPr>
                        <a:defRPr sz="1000">
                          <a:latin typeface="Calibri"/>
                        </a:defRPr>
                      </a:pPr>
                      <a:r>
                        <a:t>2311-EL-ID-11</a:t>
                      </a:r>
                    </a:p>
                  </a:txBody>
                  <a:tcPr/>
                </a:tc>
                <a:tc>
                  <a:txBody>
                    <a:bodyPr wrap="square"/>
                    <a:lstStyle/>
                    <a:p>
                      <a:pPr>
                        <a:defRPr sz="1000">
                          <a:latin typeface="Calibri"/>
                        </a:defRPr>
                      </a:pPr>
                      <a:r>
                        <a:t>Replace PC-ABS with ABS in the manufacture of Tail Lamp Housings of MGI</a:t>
                      </a:r>
                    </a:p>
                  </a:txBody>
                  <a:tcPr/>
                </a:tc>
                <a:tc>
                  <a:txBody>
                    <a:bodyPr wrap="square"/>
                    <a:lstStyle/>
                    <a:p>
                      <a:pPr>
                        <a:defRPr sz="1000">
                          <a:latin typeface="Calibri"/>
                        </a:defRPr>
                      </a:pPr>
                      <a:r>
                        <a:t>nan</a:t>
                      </a:r>
                    </a:p>
                  </a:txBody>
                  <a:tcPr/>
                </a:tc>
                <a:tc>
                  <a:txBody>
                    <a:bodyPr wrap="square"/>
                    <a:lstStyle/>
                    <a:p>
                      <a:pPr>
                        <a:defRPr sz="1000">
                          <a:latin typeface="Calibri"/>
                        </a:defRPr>
                      </a:pPr>
                      <a:r>
                        <a:t>INR 137.0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Transition the 'tell' unit's primary housing material from a multi-piece stamped aluminum assembly to a monolithic, glass-fiber reinforced polymer (GFRP) composite structure, leveraging injection molding for high-volume production.</a:t>
                      </a:r>
                    </a:p>
                  </a:txBody>
                  <a:tcPr/>
                </a:tc>
                <a:tc>
                  <a:txBody>
                    <a:bodyPr wrap="square"/>
                    <a:lstStyle/>
                    <a:p>
                      <a:pPr>
                        <a:defRPr sz="1000">
                          <a:latin typeface="Calibri"/>
                        </a:defRPr>
                      </a:pPr>
                      <a:r>
                        <a:t>The GFRP composite offers a lower raw material cost per unit volume and significantly reduced assembly labor due to a single-piece construction, eliminating welding, sealing, and fastening operations associated with aluminum. The GFRP's inherent corrosion resistance also removes the need for protective coatings. Finite Element Analysis (FEA) will be conducted to ensure structural integrity, thermal dissipation, and vibration damping capabilities equivalent to or exceeding the current aluminum design under expected operating loads and environmental conditions. Physical prototypes will undergo rigorous shaker testing, thermal cycling, and ingress protection (IP) rating validation.</a:t>
                      </a:r>
                    </a:p>
                  </a:txBody>
                  <a:tcPr/>
                </a:tc>
                <a:tc>
                  <a:txBody>
                    <a:bodyPr wrap="square"/>
                    <a:lstStyle/>
                    <a:p>
                      <a:pPr>
                        <a:defRPr sz="1000">
                          <a:latin typeface="Calibri"/>
                        </a:defRPr>
                      </a:pPr>
                      <a:r>
                        <a:t>2500000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GFRP composite offers a lower raw material cost per unit volume and significantly reduced assembly labor due to a single-piece construction, eliminating welding, sealing, and fastening operations associated with aluminum. The GFRP's inherent corrosion resistance also removes the need for protective coatings. Finite Element Analysis (FEA) will be conducted to ensure structural integrity, thermal dissipation, and vibration damping capabilities equivalent to or exceeding the current aluminum design under expected operating loads and environmental conditions. Physical prototypes will undergo rigorous shaker testing, thermal cycling, and ingress protection (IP) rating validation.</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Replace the traditional wire harness assembly for the 'tell' unit with a direct printed circuit board (PCB) integrated substrate, eliminating discrete wiring, connectors, and associated labor.</a:t>
                      </a:r>
                    </a:p>
                  </a:txBody>
                  <a:tcPr/>
                </a:tc>
                <a:tc>
                  <a:txBody>
                    <a:bodyPr wrap="square"/>
                    <a:lstStyle/>
                    <a:p>
                      <a:pPr>
                        <a:defRPr sz="1000">
                          <a:latin typeface="Calibri"/>
                        </a:defRPr>
                      </a:pPr>
                      <a:r>
                        <a:t>This integration minimizes part count and assembly complexity. High-density interconnect (HDI) PCBs can be designed to accommodate all necessary electrical pathways, including power distribution and signal routing. The inherent precision of PCB manufacturing ensures repeatable connections and reduces the risk of intermittent faults. Design for Manufacturability (DFM) and Design for Assembly (DFA) principles will guide the PCB layout. Validation will involve electrical continuity testing, high-voltage insulation testing, vibration and thermal shock testing of the integrated board, and signal integrity analysis.</a:t>
                      </a:r>
                    </a:p>
                  </a:txBody>
                  <a:tcPr/>
                </a:tc>
                <a:tc>
                  <a:txBody>
                    <a:bodyPr wrap="square"/>
                    <a:lstStyle/>
                    <a:p>
                      <a:pPr>
                        <a:defRPr sz="1000">
                          <a:latin typeface="Calibri"/>
                        </a:defRPr>
                      </a:pPr>
                      <a:r>
                        <a:t>1800000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integration minimizes part count and assembly complexity. High-density interconnect (HDI) PCBs can be designed to accommodate all necessary electrical pathways, including power distribution and signal routing. The inherent precision of PCB manufacturing ensures repeatable connections and reduces the risk of intermittent faults. Design for Manufacturability (DFM) and Design for Assembly (DFA) principles will guide the PCB layout. Validation will involve electrical continuity testing, high-voltage insulation testing, vibration and thermal shock testing of the integrated board, and signal integrity analysis.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Substitute the current multi-stage thermal management fluid pumping system in the 'tell' unit with a simplified, single-stage pump integrated directly into the main coolant loop, utilizing a more efficient impeller design.</a:t>
                      </a:r>
                    </a:p>
                  </a:txBody>
                  <a:tcPr/>
                </a:tc>
                <a:tc>
                  <a:txBody>
                    <a:bodyPr wrap="square"/>
                    <a:lstStyle/>
                    <a:p>
                      <a:pPr>
                        <a:defRPr sz="1000">
                          <a:latin typeface="Calibri"/>
                        </a:defRPr>
                      </a:pPr>
                      <a:r>
                        <a:t>A single-stage pump reduces part count (eliminating secondary pumps, valves, and associated plumbing), lowers energy consumption by optimizing for the primary cooling load, and simplifies system diagnostics. The impeller design can be computationally fluid dynamics (CFD) optimized for maximum flow efficiency at the required pressure head. Material selection for the pump housing and impeller will focus on corrosion resistance and high-temperature stability. Validation will involve flow rate and pressure testing across the expected operating temperature range, efficiency mapping, and long-term endurance testing under simulated thermal cycling.</a:t>
                      </a:r>
                    </a:p>
                  </a:txBody>
                  <a:tcPr/>
                </a:tc>
                <a:tc>
                  <a:txBody>
                    <a:bodyPr wrap="square"/>
                    <a:lstStyle/>
                    <a:p>
                      <a:pPr>
                        <a:defRPr sz="1000">
                          <a:latin typeface="Calibri"/>
                        </a:defRPr>
                      </a:pPr>
                      <a:r>
                        <a:t>1200000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A single-stage pump reduces part count (eliminating secondary pumps, valves, and associated plumbing), lowers energy consumption by optimizing for the primary cooling load, and simplifies system diagnostics. The impeller design can be computationally fluid dynamics (CFD) optimized for maximum flow efficiency at the required pressure head. Material selection for the pump housing and impeller will focus on corrosion resistance and high-temperature stability. Validation will involve flow rate and pressure testing across the expected operating temperature range, efficiency mapping, and long-term endurance testing under simulated thermal cycling.</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Implement a modular battery cell connection strategy for the 'tell' unit, moving away from traditional individual tab welding to a pre-assembled busbar system with robust, high-torque electrical connectors.</a:t>
                      </a:r>
                    </a:p>
                  </a:txBody>
                  <a:tcPr/>
                </a:tc>
                <a:tc>
                  <a:txBody>
                    <a:bodyPr wrap="square"/>
                    <a:lstStyle/>
                    <a:p>
                      <a:pPr>
                        <a:defRPr sz="1000">
                          <a:latin typeface="Calibri"/>
                        </a:defRPr>
                      </a:pPr>
                      <a:r>
                        <a:t>This shift allows for automated assembly of the busbar module off-line, significantly reducing the cycle time and labor cost associated with direct cell connection. The high-torque connectors offer superior vibration resistance and thermal cycling stability compared to welded tabs, enhancing long-term reliability. Furthermore, modularity facilitates easier repair and replacement of cell modules. Validation will include cyclic torque testing of connectors, mechanical stress analysis of the busbar system, and accelerated life testing under thermal cycling and vibration to confirm connection integrity and thermal performance.</a:t>
                      </a:r>
                    </a:p>
                  </a:txBody>
                  <a:tcPr/>
                </a:tc>
                <a:tc>
                  <a:txBody>
                    <a:bodyPr wrap="square"/>
                    <a:lstStyle/>
                    <a:p>
                      <a:pPr>
                        <a:defRPr sz="1000">
                          <a:latin typeface="Calibri"/>
                        </a:defRPr>
                      </a:pPr>
                      <a:r>
                        <a:t>2000000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shift allows for automated assembly of the busbar module off-line, significantly reducing the cycle time and labor cost associated with direct cell connection. The high-torque connectors offer superior vibration resistance and thermal cycling stability compared to welded tabs, enhancing long-term reliability. Furthermore, modularity facilitates easier repair and replacement of cell modules. Validation will include cyclic torque testing of connectors, mechanical stress analysis of the busbar system, and accelerated life testing under thermal cycling and vibration to confirm connection integrity and thermal performance.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Redesign the 'tell' unit's internal cooling fin geometry and airflow path using generative design algorithms to optimize heat dissipation while minimizing material usage and air resistance.</a:t>
                      </a:r>
                    </a:p>
                  </a:txBody>
                  <a:tcPr/>
                </a:tc>
                <a:tc>
                  <a:txBody>
                    <a:bodyPr wrap="square"/>
                    <a:lstStyle/>
                    <a:p>
                      <a:pPr>
                        <a:defRPr sz="1000">
                          <a:latin typeface="Calibri"/>
                        </a:defRPr>
                      </a:pPr>
                      <a:r>
                        <a:t>Generative design, driven by thermal performance targets and material constraints, can identify novel, complex fin structures and flow channels that outperform traditional designs. This process aims to maximize surface area for heat transfer and create laminar or turbulent flow patterns that enhance convective cooling with reduced pressure drop. CFD simulations will be paramount to analyze heat flux distribution, temperature gradients, and airflow resistance. Physical prototypes will be subjected to thermal imaging analysis under various load conditions and wind tunnel testing to validate the aerodynamic efficiency.</a:t>
                      </a:r>
                    </a:p>
                  </a:txBody>
                  <a:tcPr/>
                </a:tc>
                <a:tc>
                  <a:txBody>
                    <a:bodyPr wrap="square"/>
                    <a:lstStyle/>
                    <a:p>
                      <a:pPr>
                        <a:defRPr sz="1000">
                          <a:latin typeface="Calibri"/>
                        </a:defRPr>
                      </a:pPr>
                      <a:r>
                        <a:t>900000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Generative design, driven by thermal performance targets and material constraints, can identify novel, complex fin structures and flow channels that outperform traditional designs. This process aims to maximize surface area for heat transfer and create laminar or turbulent flow patterns that enhance convective cooling with reduced pressure drop. CFD simulations will be paramount to analyze heat flux distribution, temperature gradients, and airflow resistance. Physical prototypes will be subjected to thermal imaging analysis under various load conditions and wind tunnel testing to validate the aerodynamic efficiency.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3)</a:t>
            </a:r>
          </a:p>
        </p:txBody>
      </p:sp>
      <p:graphicFrame>
        <p:nvGraphicFramePr>
          <p:cNvPr id="3" name="Table 2"/>
          <p:cNvGraphicFramePr>
            <a:graphicFrameLocks noGrp="1"/>
          </p:cNvGraphicFramePr>
          <p:nvPr/>
        </p:nvGraphicFramePr>
        <p:xfrm>
          <a:off x="182880" y="640080"/>
          <a:ext cx="8778240" cy="329184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29718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Consolidate the multiple sensor modules and their associated housings within the 'tell' unit into a single, multi-functional integrated sensor manifold, utilizing MEMS sensor arrays and a shared electronic interface.</a:t>
                      </a:r>
                    </a:p>
                  </a:txBody>
                  <a:tcPr/>
                </a:tc>
                <a:tc>
                  <a:txBody>
                    <a:bodyPr wrap="square"/>
                    <a:lstStyle/>
                    <a:p>
                      <a:pPr>
                        <a:defRPr sz="1000">
                          <a:latin typeface="Calibri"/>
                        </a:defRPr>
                      </a:pPr>
                      <a:r>
                        <a:t>This consolidation reduces the number of individual components, housings, connectors, and wiring harnesses, leading to significant material and assembly cost savings. MEMS sensor technology allows for miniaturization and integration of multiple sensing capabilities (e.g., temperature, pressure, voltage, current) onto a single chip. The shared manifold design will ensure precise sensor placement and robust environmental sealing. Validation will include calibration and cross-sensor validation of the integrated module, environmental sealing tests (IP rating), and operational performance testing under all expected vehicle conditions.</a:t>
                      </a:r>
                    </a:p>
                  </a:txBody>
                  <a:tcPr/>
                </a:tc>
                <a:tc>
                  <a:txBody>
                    <a:bodyPr wrap="square"/>
                    <a:lstStyle/>
                    <a:p>
                      <a:pPr>
                        <a:defRPr sz="1000">
                          <a:latin typeface="Calibri"/>
                        </a:defRPr>
                      </a:pPr>
                      <a:r>
                        <a:t>1500000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consolidation reduces the number of individual components, housings, connectors, and wiring harnesses, leading to significant material and assembly cost savings. MEMS sensor technology allows for miniaturization and integration of multiple sensing capabilities (e.g., temperature, pressure, voltage, current) onto a single chip. The shared manifold design will ensure precise sensor placement and robust environmental sealing. Validation will include calibration and cross-sensor validation of the integrated module, environmental sealing tests (IP rating), and operational performance testing under all expected vehicle conditions.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11</a:t>
            </a:r>
          </a:p>
          <a:p>
            <a:pPr>
              <a:defRPr sz="1000">
                <a:latin typeface="Calibri"/>
              </a:defRPr>
            </a:pPr>
            <a:r>
              <a:t>• Total Potential Savings: INR 464.00</a:t>
            </a:r>
          </a:p>
          <a:p>
            <a:pPr>
              <a:defRPr sz="1000">
                <a:latin typeface="Calibri"/>
              </a:defRPr>
            </a:pPr>
            <a:r>
              <a:t>• Implemented Ideas: 0</a:t>
            </a:r>
          </a:p>
          <a:p>
            <a:pPr>
              <a:defRPr sz="1000">
                <a:latin typeface="Calibri"/>
              </a:defRPr>
            </a:pPr>
            <a:r>
              <a:t>• Status OK: 1</a:t>
            </a:r>
          </a:p>
          <a:p>
            <a:pPr>
              <a:defRPr sz="1000">
                <a:latin typeface="Calibri"/>
              </a:defRPr>
            </a:pPr>
            <a:r>
              <a:t>• Status TBD: 2</a:t>
            </a:r>
          </a:p>
          <a:p>
            <a:pPr>
              <a:defRPr sz="1000">
                <a:latin typeface="Calibri"/>
              </a:defRPr>
            </a:pPr>
            <a:r>
              <a:t>• Status NG: 2</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11 ideas analyzed.</a:t>
            </a:r>
          </a:p>
          <a:p>
            <a:pPr>
              <a:defRPr sz="1800">
                <a:latin typeface="Calibri"/>
              </a:defRPr>
            </a:pPr>
            <a:r>
              <a:t>Total Savings: INR 464.00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
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Sheet1!$A$2:$A$12</c:f>
              <c:strCache>
                <c:ptCount val="11"/>
                <c:pt idx="0">
                  <c:v>2311-PRODUCT-ID-03</c:v>
                </c:pt>
                <c:pt idx="1">
                  <c:v>2311-DA-ID-36</c:v>
                </c:pt>
                <c:pt idx="2">
                  <c:v>2311-PRODUCT-ID-02</c:v>
                </c:pt>
                <c:pt idx="3">
                  <c:v>2311-PRODUCT-ID-07</c:v>
                </c:pt>
                <c:pt idx="4">
                  <c:v>2311-ET-ID-24</c:v>
                </c:pt>
                <c:pt idx="5">
                  <c:v>AI-GEN-01</c:v>
                </c:pt>
                <c:pt idx="6">
                  <c:v>AI-GEN-02</c:v>
                </c:pt>
                <c:pt idx="7">
                  <c:v>AI-GEN-03</c:v>
                </c:pt>
                <c:pt idx="8">
                  <c:v>AI-GEN-04</c:v>
                </c:pt>
                <c:pt idx="9">
                  <c:v>AI-GEN-05</c:v>
                </c:pt>
                <c:pt idx="10">
                  <c:v>AI-GEN-06</c:v>
                </c:pt>
              </c:strCache>
            </c:strRef>
          </c:cat>
          <c:val>
            <c:numRef>
              <c:f>Sheet1!$B$2:$B$12</c:f>
              <c:numCache>
                <c:formatCode>General</c:formatCode>
                <c:ptCount val="11"/>
                <c:pt idx="0">
                  <c:v>126.0</c:v>
                </c:pt>
                <c:pt idx="1">
                  <c:v>98.0</c:v>
                </c:pt>
                <c:pt idx="2">
                  <c:v>130.0</c:v>
                </c:pt>
                <c:pt idx="3">
                  <c:v>115.0</c:v>
                </c:pt>
                <c:pt idx="4">
                  <c:v>132.0</c:v>
                </c:pt>
                <c:pt idx="5">
                  <c:v>0</c:v>
                </c:pt>
                <c:pt idx="6">
                  <c:v>0</c:v>
                </c:pt>
                <c:pt idx="7">
                  <c:v>0</c:v>
                </c:pt>
                <c:pt idx="8">
                  <c:v>0</c:v>
                </c:pt>
                <c:pt idx="9">
                  <c:v>0</c:v>
                </c:pt>
                <c:pt idx="10">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1</c:v>
                </c:pt>
                <c:pt idx="2">
                  <c:v>2</c:v>
                </c:pt>
                <c:pt idx="3">
                  <c:v>2</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2311-PRODUCT-ID-03</a:t>
                      </a:r>
                    </a:p>
                  </a:txBody>
                  <a:tcPr/>
                </a:tc>
                <a:tc>
                  <a:txBody>
                    <a:bodyPr wrap="square"/>
                    <a:lstStyle/>
                    <a:p>
                      <a:pPr>
                        <a:defRPr sz="1000">
                          <a:latin typeface="Calibri"/>
                        </a:defRPr>
                      </a:pPr>
                      <a:r>
                        <a:t>Replace the rubber bushes used on the wiper blade mounting bolts with the plastic protective cap.</a:t>
                      </a:r>
                    </a:p>
                  </a:txBody>
                  <a:tcPr/>
                </a:tc>
                <a:tc>
                  <a:txBody>
                    <a:bodyPr wrap="square"/>
                    <a:lstStyle/>
                    <a:p>
                      <a:pPr>
                        <a:defRPr sz="1000">
                          <a:latin typeface="Calibri"/>
                        </a:defRPr>
                      </a:pPr>
                      <a:r>
                        <a:t>nan</a:t>
                      </a:r>
                    </a:p>
                  </a:txBody>
                  <a:tcPr/>
                </a:tc>
                <a:tc>
                  <a:txBody>
                    <a:bodyPr wrap="square"/>
                    <a:lstStyle/>
                    <a:p>
                      <a:pPr>
                        <a:defRPr sz="1000">
                          <a:latin typeface="Calibri"/>
                        </a:defRPr>
                      </a:pPr>
                      <a:r>
                        <a:t>INR 126.0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2311-DA-ID-36</a:t>
                      </a:r>
                    </a:p>
                  </a:txBody>
                  <a:tcPr/>
                </a:tc>
                <a:tc>
                  <a:txBody>
                    <a:bodyPr wrap="square"/>
                    <a:lstStyle/>
                    <a:p>
                      <a:pPr>
                        <a:defRPr sz="1000">
                          <a:latin typeface="Calibri"/>
                        </a:defRPr>
                      </a:pPr>
                      <a:r>
                        <a:t>Replace PP-T20 with PP in the manufacture of the LH and RH APS Trims</a:t>
                      </a:r>
                    </a:p>
                  </a:txBody>
                  <a:tcPr/>
                </a:tc>
                <a:tc>
                  <a:txBody>
                    <a:bodyPr wrap="square"/>
                    <a:lstStyle/>
                    <a:p>
                      <a:pPr>
                        <a:defRPr sz="1000">
                          <a:latin typeface="Calibri"/>
                        </a:defRPr>
                      </a:pPr>
                      <a:r>
                        <a:t>nan</a:t>
                      </a:r>
                    </a:p>
                  </a:txBody>
                  <a:tcPr/>
                </a:tc>
                <a:tc>
                  <a:txBody>
                    <a:bodyPr wrap="square"/>
                    <a:lstStyle/>
                    <a:p>
                      <a:pPr>
                        <a:defRPr sz="1000">
                          <a:latin typeface="Calibri"/>
                        </a:defRPr>
                      </a:pPr>
                      <a:r>
                        <a:t>INR 98.0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2311-PRODUCT-ID-02</a:t>
                      </a:r>
                    </a:p>
                  </a:txBody>
                  <a:tcPr/>
                </a:tc>
                <a:tc>
                  <a:txBody>
                    <a:bodyPr wrap="square"/>
                    <a:lstStyle/>
                    <a:p>
                      <a:pPr>
                        <a:defRPr sz="1000">
                          <a:latin typeface="Calibri"/>
                        </a:defRPr>
                      </a:pPr>
                      <a:r>
                        <a:t>Replace the Plastic Caps mounted onto the doors, hood, and tailgate (total 14) with adhesive stickers.</a:t>
                      </a:r>
                    </a:p>
                  </a:txBody>
                  <a:tcPr/>
                </a:tc>
                <a:tc>
                  <a:txBody>
                    <a:bodyPr wrap="square"/>
                    <a:lstStyle/>
                    <a:p>
                      <a:pPr>
                        <a:defRPr sz="1000">
                          <a:latin typeface="Calibri"/>
                        </a:defRPr>
                      </a:pPr>
                      <a:r>
                        <a:t>nan</a:t>
                      </a:r>
                    </a:p>
                  </a:txBody>
                  <a:tcPr/>
                </a:tc>
                <a:tc>
                  <a:txBody>
                    <a:bodyPr wrap="square"/>
                    <a:lstStyle/>
                    <a:p>
                      <a:pPr>
                        <a:defRPr sz="1000">
                          <a:latin typeface="Calibri"/>
                        </a:defRPr>
                      </a:pPr>
                      <a:r>
                        <a:t>INR 130.0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2311-PRODUCT-ID-07</a:t>
                      </a:r>
                    </a:p>
                  </a:txBody>
                  <a:tcPr/>
                </a:tc>
                <a:tc>
                  <a:txBody>
                    <a:bodyPr wrap="square"/>
                    <a:lstStyle/>
                    <a:p>
                      <a:pPr>
                        <a:defRPr sz="1000">
                          <a:latin typeface="Calibri"/>
                        </a:defRPr>
                      </a:pPr>
                      <a:r>
                        <a:t>De-content the plastic trims found protecting the top tethers from both sides of the seat as the tethers could be placed within the seat fabric itself and a slit on the same could facilitate easy access</a:t>
                      </a:r>
                    </a:p>
                  </a:txBody>
                  <a:tcPr/>
                </a:tc>
                <a:tc>
                  <a:txBody>
                    <a:bodyPr wrap="square"/>
                    <a:lstStyle/>
                    <a:p>
                      <a:pPr>
                        <a:defRPr sz="1000">
                          <a:latin typeface="Calibri"/>
                        </a:defRPr>
                      </a:pPr>
                      <a:r>
                        <a:t>Confirm on no part nuber change to avoid homologation cost</a:t>
                      </a:r>
                    </a:p>
                  </a:txBody>
                  <a:tcPr/>
                </a:tc>
                <a:tc>
                  <a:txBody>
                    <a:bodyPr wrap="square"/>
                    <a:lstStyle/>
                    <a:p>
                      <a:pPr>
                        <a:defRPr sz="1000">
                          <a:latin typeface="Calibri"/>
                        </a:defRPr>
                      </a:pPr>
                      <a:r>
                        <a:t>INR 115.0</a:t>
                      </a:r>
                    </a:p>
                  </a:txBody>
                  <a:tcPr/>
                </a:tc>
                <a:tc>
                  <a:txBody>
                    <a:bodyPr wrap="square"/>
                    <a:lstStyle/>
                    <a:p>
                      <a:pPr>
                        <a:defRPr sz="1000">
                          <a:latin typeface="Calibri"/>
                        </a:defRPr>
                      </a:pPr>
                      <a:r>
                        <a:t>OK</a:t>
                      </a:r>
                    </a:p>
                  </a:txBody>
                  <a:tcPr/>
                </a:tc>
                <a:tc>
                  <a:txBody>
                    <a:bodyPr wrap="square"/>
                    <a:lstStyle/>
                    <a:p>
                      <a:pPr>
                        <a:defRPr sz="1000">
                          <a:latin typeface="Calibri"/>
                        </a:defRPr>
                      </a:pPr>
                      <a:r>
                        <a:t>Confirm on no part nuber change to avoid homologation cost</a:t>
                      </a:r>
                    </a:p>
                  </a:txBody>
                  <a:tcPr/>
                </a:tc>
                <a:tc>
                  <a:txBody>
                    <a:bodyPr wrap="square"/>
                    <a:lstStyle/>
                    <a:p>
                      <a:pPr>
                        <a:defRPr sz="1000">
                          <a:latin typeface="Calibri"/>
                        </a:defRPr>
                      </a:pPr>
                      <a:r>
                        <a:t>Nishant</a:t>
                      </a:r>
                    </a:p>
                  </a:txBody>
                  <a:tcPr/>
                </a:tc>
                <a:tc>
                  <a:txBody>
                    <a:bodyPr wrap="square"/>
                    <a:lstStyle/>
                    <a:p>
                      <a:pPr>
                        <a:defRPr sz="1000">
                          <a:latin typeface="Calibri"/>
                        </a:defRPr>
                      </a:pPr>
                      <a:r>
                        <a:t>2024-06-17 00:00:00</a:t>
                      </a:r>
                    </a:p>
                  </a:txBody>
                  <a:tcPr/>
                </a:tc>
              </a:tr>
              <a:tr h="320040">
                <a:tc>
                  <a:txBody>
                    <a:bodyPr wrap="square"/>
                    <a:lstStyle/>
                    <a:p>
                      <a:pPr>
                        <a:defRPr sz="1000">
                          <a:latin typeface="Calibri"/>
                        </a:defRPr>
                      </a:pPr>
                      <a:r>
                        <a:t>2311-ET-ID-24</a:t>
                      </a:r>
                    </a:p>
                  </a:txBody>
                  <a:tcPr/>
                </a:tc>
                <a:tc>
                  <a:txBody>
                    <a:bodyPr wrap="square"/>
                    <a:lstStyle/>
                    <a:p>
                      <a:pPr>
                        <a:defRPr sz="1000">
                          <a:latin typeface="Calibri"/>
                        </a:defRPr>
                      </a:pPr>
                      <a:r>
                        <a:t>Redesign the current front logo assembly making the mentioned changes,</a:t>
                      </a:r>
                    </a:p>
                    <a:p>
                      <a:pPr>
                        <a:defRPr sz="1000">
                          <a:latin typeface="Calibri"/>
                        </a:defRPr>
                      </a:pPr>
                      <a:r>
                        <a:t>1. Remove the Logo Holder (Black)</a:t>
                      </a:r>
                    </a:p>
                    <a:p>
                      <a:pPr>
                        <a:defRPr sz="1000">
                          <a:latin typeface="Calibri"/>
                        </a:defRPr>
                      </a:pPr>
                      <a:r>
                        <a:t>2. Instead of chrome plating the Logo Holding Bracket, finish it in Black and snap-fit the logo M and G onto this</a:t>
                      </a:r>
                    </a:p>
                    <a:p>
                      <a:pPr>
                        <a:defRPr sz="1000">
                          <a:latin typeface="Calibri"/>
                        </a:defRPr>
                      </a:pPr>
                      <a:r>
                        <a:t>3. Introduce a new chrome-plated edge trim to complete the design</a:t>
                      </a:r>
                    </a:p>
                  </a:txBody>
                  <a:tcPr/>
                </a:tc>
                <a:tc>
                  <a:txBody>
                    <a:bodyPr wrap="square"/>
                    <a:lstStyle/>
                    <a:p>
                      <a:pPr>
                        <a:defRPr sz="1000">
                          <a:latin typeface="Calibri"/>
                        </a:defRPr>
                      </a:pPr>
                      <a:r>
                        <a:t>nan</a:t>
                      </a:r>
                    </a:p>
                  </a:txBody>
                  <a:tcPr/>
                </a:tc>
                <a:tc>
                  <a:txBody>
                    <a:bodyPr wrap="square"/>
                    <a:lstStyle/>
                    <a:p>
                      <a:pPr>
                        <a:defRPr sz="1000">
                          <a:latin typeface="Calibri"/>
                        </a:defRPr>
                      </a:pPr>
                      <a:r>
                        <a:t>INR 132.0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Eliminate the stamped metal heat shield for the catalytic converter and replace it with a multi-layer, low-density composite thermal insulation blanket specifically designed for exhaust gas temperatures and underbody airflow.</a:t>
                      </a:r>
                    </a:p>
                  </a:txBody>
                  <a:tcPr/>
                </a:tc>
                <a:tc>
                  <a:txBody>
                    <a:bodyPr wrap="square"/>
                    <a:lstStyle/>
                    <a:p>
                      <a:pPr>
                        <a:defRPr sz="1000">
                          <a:latin typeface="Calibri"/>
                        </a:defRPr>
                      </a:pPr>
                      <a:r>
                        <a:t>The fundamental principle is to leverage advanced material science to replace a heavier, form-specific metal component with a more adaptable, lighter thermal barrier. The composite blanket will utilize ceramic fibers encapsulated within a high-temperature polymer matrix. Thermal conductivity testing of candidate materials will be paramount, simulating exhaust gas temperatures (up to 800°C under load) and sustained underbody airflow (simulated via wind tunnel at speeds up to 120 kph). Stress analysis will be performed to ensure the blanket can withstand vibration and minor impacts without degradation. Validation will involve fitting prototype blankets to test vehicles and monitoring thermal profiles of surrounding underbody components (fuel tank, wiring harnesses, floor pan) using thermocouples during extended drive cycles, including high-load scenarios.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fundamental principle is to leverage advanced material science to replace a heavier, form-specific metal component with a more adaptable, lighter thermal barrier. The composite blanket will utilize ceramic fibers encapsulated within a high-temperature polymer matrix. Thermal conductivity testing of candidate materials will be paramount, simulating exhaust gas temperatures (up to 800°C under load) and sustained underbody airflow (simulated via wind tunnel at speeds up to 120 kph). Stress analysis will be performed to ensure the blanket can withstand vibration and minor impacts without degradation. Validation will involve fitting prototype blankets to test vehicles and monitoring thermal profiles of surrounding underbody components (fuel tank, wiring harnesses, floor pan) using thermocouples during extended drive cycles, including high-load scenarios.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Integrate a structural foam into hollow sections of the vehicle's chassis (e.g., A-pillars, B-pillars, rocker panels) during the stamping or welding process, replacing the need for internal reinforcing beams or plates.</a:t>
                      </a:r>
                    </a:p>
                  </a:txBody>
                  <a:tcPr/>
                </a:tc>
                <a:tc>
                  <a:txBody>
                    <a:bodyPr wrap="square"/>
                    <a:lstStyle/>
                    <a:p>
                      <a:pPr>
                        <a:defRPr sz="1000">
                          <a:latin typeface="Calibri"/>
                        </a:defRPr>
                      </a:pPr>
                      <a:r>
                        <a:t>This idea applies the principle of transforming a hollow, less structurally efficient component into a semi-monocoque element through intelligent material infill. The foam would be a two-component, expanding polyurethane system with a controlled cure time and temperature, injected or dispensed into the hollow sections post-stamping or during sub-assembly welding. The key engineering challenge is to precisely control the expansion ratio to achieve desired stiffness and impact energy absorption without over-pressurizing the component. Finite Element Analysis (FEA) will model the structural response of foam-filled pillars under various load cases (crash, bending, torsion), comparing stiffness and energy absorption to current designs. Physical validation will involve destructive testing of prototype foam-filled structural members to verify predicted stiffness, buckling resistance, and crash performance against regulatory requirements and internal targets.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idea applies the principle of transforming a hollow, less structurally efficient component into a semi-monocoque element through intelligent material infill. The foam would be a two-component, expanding polyurethane system with a controlled cure time and temperature, injected or dispensed into the hollow sections post-stamping or during sub-assembly welding. The key engineering challenge is to precisely control the expansion ratio to achieve desired stiffness and impact energy absorption without over-pressurizing the component. Finite Element Analysis (FEA) will model the structural response of foam-filled pillars under various load cases (crash, bending, torsion), comparing stiffness and energy absorption to current designs. Physical validation will involve destructive testing of prototype foam-filled structural members to verify predicted stiffness, buckling resistance, and crash performance against regulatory requirements and internal targets.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Replace the multi-piece plastic inner fender liners with a single, thermoformed, bio-composite material sheet incorporating integrated mounting points and splash guards.</a:t>
                      </a:r>
                    </a:p>
                  </a:txBody>
                  <a:tcPr/>
                </a:tc>
                <a:tc>
                  <a:txBody>
                    <a:bodyPr wrap="square"/>
                    <a:lstStyle/>
                    <a:p>
                      <a:pPr>
                        <a:defRPr sz="1000">
                          <a:latin typeface="Calibri"/>
                        </a:defRPr>
                      </a:pPr>
                      <a:r>
                        <a:t>The core principle is to leverage advanced composite forming and material properties to reduce part count and assembly complexity while enhancing sustainability. The bio-composite would be derived from natural fibers (e.g., hemp, flax) bound by a bio-based resin, offering a lighter and more environmentally friendly alternative to conventional plastics. Thermoforming allows for complex shapes and integrated features (clips, ribs, drain channels) in a single process. Engineering validation will focus on material characterization for impact resistance (falling dart tests), abrasion resistance (simulating gravel and road debris), and moisture ingress prevention. Durability testing will involve accelerated weathering and vibration testing. Manufacturing feasibility will be assessed for large-scale thermoforming, including cycle times and tooling costs. Field testing on prototype vehicles under diverse environmental conditions will confirm performance and longevity.</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core principle is to leverage advanced composite forming and material properties to reduce part count and assembly complexity while enhancing sustainability. The bio-composite would be derived from natural fibers (e.g., hemp, flax) bound by a bio-based resin, offering a lighter and more environmentally friendly alternative to conventional plastics. Thermoforming allows for complex shapes and integrated features (clips, ribs, drain channels) in a single process. Engineering validation will focus on material characterization for impact resistance (falling dart tests), abrasion resistance (simulating gravel and road debris), and moisture ingress prevention. Durability testing will involve accelerated weathering and vibration testing. Manufacturing feasibility will be assessed for large-scale thermoforming, including cycle times and tooling costs. Field testing on prototype vehicles under diverse environmental conditions will confirm performance and longevity.</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Design the vehicle's seat structure using a single, hydroformed aluminum extrusion profile that is bent and welded to form the entire seat frame, eliminating multiple stamped steel components and fasteners.</a:t>
                      </a:r>
                    </a:p>
                  </a:txBody>
                  <a:tcPr/>
                </a:tc>
                <a:tc>
                  <a:txBody>
                    <a:bodyPr wrap="square"/>
                    <a:lstStyle/>
                    <a:p>
                      <a:pPr>
                        <a:defRPr sz="1000">
                          <a:latin typeface="Calibri"/>
                        </a:defRPr>
                      </a:pPr>
                      <a:r>
                        <a:t>This proposal applies the principle of generative design and advanced forming processes to create a highly integrated, lightweight structural element. Hydroforming allows for complex geometries and uniform wall thickness from a single tube, leading to superior strength-to-weight ratios compared to traditional fabrication. The aluminum alloy selected will be optimized for fatigue strength and formability. FEA will be used to simulate the stress distribution across the hydroformed frame under occupant loads, crash scenarios (frontal, side, rear impact), and dynamic driving conditions. Tooling design for precise bending and joining will be a critical manufacturing engineering step. Validation will involve static load testing of prototype seat frames to verify load-bearing capacity and stiffness, followed by dynamic crash testing with representative occupant models to confirm safety performance and energy absorption characteristics.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proposal applies the principle of generative design and advanced forming processes to create a highly integrated, lightweight structural element. Hydroforming allows for complex geometries and uniform wall thickness from a single tube, leading to superior strength-to-weight ratios compared to traditional fabrication. The aluminum alloy selected will be optimized for fatigue strength and formability. FEA will be used to simulate the stress distribution across the hydroformed frame under occupant loads, crash scenarios (frontal, side, rear impact), and dynamic driving conditions. Tooling design for precise bending and joining will be a critical manufacturing engineering step. Validation will involve static load testing of prototype seat frames to verify load-bearing capacity and stiffness, followed by dynamic crash testing with representative occupant models to confirm safety performance and energy absorption characteristics.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Replace the conventional metal exhaust manifold with an integrated, cast-in-place ceramic matrix composite (CMC) manifold, directly forming the exhaust ports and collector.</a:t>
                      </a:r>
                    </a:p>
                  </a:txBody>
                  <a:tcPr/>
                </a:tc>
                <a:tc>
                  <a:txBody>
                    <a:bodyPr wrap="square"/>
                    <a:lstStyle/>
                    <a:p>
                      <a:pPr>
                        <a:defRPr sz="1000">
                          <a:latin typeface="Calibri"/>
                        </a:defRPr>
                      </a:pPr>
                      <a:r>
                        <a:t>The underlying principle is to utilize the superior thermal resistance and lower density of CMCs to achieve a more efficient and lighter exhaust system component. CMCs can withstand the extreme temperatures of exhaust gases without significant degradation, eliminating the need for heavy cast iron and associated heat shielding. The casting process will be a key focus, requiring specialized techniques for uniform fiber reinforcement distribution and defect-free matrix infiltration. Engineering validation will involve extensive thermal cycling tests (simulating engine start-stop cycles) to assess fatigue and delamination resistance. High-temperature tensile and creep testing will define the material's operational limits. Computational Fluid Dynamics (CFD) will optimize the internal geometry for exhaust flow efficiency. Physical validation will include long-term engine dynamometer testing and on-road durability trials under extreme operating conditions to confirm performance and longevity.</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underlying principle is to utilize the superior thermal resistance and lower density of CMCs to achieve a more efficient and lighter exhaust system component. CMCs can withstand the extreme temperatures of exhaust gases without significant degradation, eliminating the need for heavy cast iron and associated heat shielding. The casting process will be a key focus, requiring specialized techniques for uniform fiber reinforcement distribution and defect-free matrix infiltration. Engineering validation will involve extensive thermal cycling tests (simulating engine start-stop cycles) to assess fatigue and delamination resistance. High-temperature tensile and creep testing will define the material's operational limits. Computational Fluid Dynamics (CFD) will optimize the internal geometry for exhaust flow efficiency. Physical validation will include long-term engine dynamometer testing and on-road durability trials under extreme operating conditions to confirm performance and longevity.</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3)</a:t>
            </a:r>
          </a:p>
        </p:txBody>
      </p:sp>
      <p:graphicFrame>
        <p:nvGraphicFramePr>
          <p:cNvPr id="3" name="Table 2"/>
          <p:cNvGraphicFramePr>
            <a:graphicFrameLocks noGrp="1"/>
          </p:cNvGraphicFramePr>
          <p:nvPr/>
        </p:nvGraphicFramePr>
        <p:xfrm>
          <a:off x="182880" y="640080"/>
          <a:ext cx="8778240" cy="329184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29718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Develop a modular, bio-based adhesive system for bonding interior trim panels and sub-assemblies, replacing mechanical fasteners (screws, clips) and traditional solvent-based adhesives.</a:t>
                      </a:r>
                    </a:p>
                  </a:txBody>
                  <a:tcPr/>
                </a:tc>
                <a:tc>
                  <a:txBody>
                    <a:bodyPr wrap="square"/>
                    <a:lstStyle/>
                    <a:p>
                      <a:pPr>
                        <a:defRPr sz="1000">
                          <a:latin typeface="Calibri"/>
                        </a:defRPr>
                      </a:pPr>
                      <a:r>
                        <a:t>This proposal leverages the principle of material substitution with sustainable alternatives and process simplification. The bio-based adhesive would be derived from renewable resources (e.g., plant oils, starches) and engineered for appropriate tack, cure time, and bond strength for various interior materials (plastics, textiles, composites). The modular aspect allows for tailored formulations for different applications. Engineering validation will involve testing bond strength (shear, peel, tensile) on representative substrate combinations at various temperatures and humidity levels, simulating cabin environments. Accelerated aging tests will assess long-term durability and resistance to UV and thermal degradation. The application process will be evaluated for manufacturing line integration, including dispensing methods and cure profiles. Validation will include fitting prototype interior panels and conducting shake-and-rattle tests, as well as impact tests to ensure panel integrity and occupant safety.</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proposal leverages the principle of material substitution with sustainable alternatives and process simplification. The bio-based adhesive would be derived from renewable resources (e.g., plant oils, starches) and engineered for appropriate tack, cure time, and bond strength for various interior materials (plastics, textiles, composites). The modular aspect allows for tailored formulations for different applications. Engineering validation will involve testing bond strength (shear, peel, tensile) on representative substrate combinations at various temperatures and humidity levels, simulating cabin environments. Accelerated aging tests will assess long-term durability and resistance to UV and thermal degradation. The application process will be evaluated for manufacturing line integration, including dispensing methods and cure profiles. Validation will include fitting prototype interior panels and conducting shake-and-rattle tests, as well as impact tests to ensure panel integrity and occupant safety.</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11</a:t>
            </a:r>
          </a:p>
          <a:p>
            <a:pPr>
              <a:defRPr sz="1000">
                <a:latin typeface="Calibri"/>
              </a:defRPr>
            </a:pPr>
            <a:r>
              <a:t>• Total Potential Savings: INR 601.00</a:t>
            </a:r>
          </a:p>
          <a:p>
            <a:pPr>
              <a:defRPr sz="1000">
                <a:latin typeface="Calibri"/>
              </a:defRPr>
            </a:pPr>
            <a:r>
              <a:t>• Implemented Ideas: 0</a:t>
            </a:r>
          </a:p>
          <a:p>
            <a:pPr>
              <a:defRPr sz="1000">
                <a:latin typeface="Calibri"/>
              </a:defRPr>
            </a:pPr>
            <a:r>
              <a:t>• Status OK: 1</a:t>
            </a:r>
          </a:p>
          <a:p>
            <a:pPr>
              <a:defRPr sz="1000">
                <a:latin typeface="Calibri"/>
              </a:defRPr>
            </a:pPr>
            <a:r>
              <a:t>• Status TBD: 2</a:t>
            </a:r>
          </a:p>
          <a:p>
            <a:pPr>
              <a:defRPr sz="1000">
                <a:latin typeface="Calibri"/>
              </a:defRPr>
            </a:pPr>
            <a:r>
              <a:t>• Status NG: 2</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11 ideas analyzed.</a:t>
            </a:r>
          </a:p>
          <a:p>
            <a:pPr>
              <a:defRPr sz="1800">
                <a:latin typeface="Calibri"/>
              </a:defRPr>
            </a:pPr>
            <a:r>
              <a:t>Total Savings: INR 601.00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
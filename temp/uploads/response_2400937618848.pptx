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Sheet1!$A$2:$A$9</c:f>
              <c:strCache>
                <c:ptCount val="8"/>
                <c:pt idx="0">
                  <c:v>AI-GEN-01</c:v>
                </c:pt>
                <c:pt idx="1">
                  <c:v>AI-GEN-02</c:v>
                </c:pt>
                <c:pt idx="2">
                  <c:v>AI-GEN-03</c:v>
                </c:pt>
                <c:pt idx="3">
                  <c:v>AI-GEN-04</c:v>
                </c:pt>
                <c:pt idx="4">
                  <c:v>AI-GEN-05</c:v>
                </c:pt>
                <c:pt idx="5">
                  <c:v>AI-GEN-06</c:v>
                </c:pt>
                <c:pt idx="6">
                  <c:v>WEB-GEN-01</c:v>
                </c:pt>
                <c:pt idx="7">
                  <c:v>WEB-GEN-02</c:v>
                </c:pt>
              </c:strCache>
            </c:strRef>
          </c:cat>
          <c:val>
            <c:numRef>
              <c:f>Sheet1!$B$2:$B$9</c:f>
              <c:numCache>
                <c:formatCode>General</c:formatCode>
                <c:ptCount val="8"/>
                <c:pt idx="0">
                  <c:v>0</c:v>
                </c:pt>
                <c:pt idx="1">
                  <c:v>0</c:v>
                </c:pt>
                <c:pt idx="2">
                  <c:v>0</c:v>
                </c:pt>
                <c:pt idx="3">
                  <c:v>0</c:v>
                </c:pt>
                <c:pt idx="4">
                  <c:v>0</c:v>
                </c:pt>
                <c:pt idx="5">
                  <c:v>0</c:v>
                </c:pt>
                <c:pt idx="6">
                  <c:v>0</c:v>
                </c:pt>
                <c:pt idx="7">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Implement a semi-active damping system utilizing Magnetorheological (MR) fluid dampers instead of traditional hydraulic dampers. This system would adjust damping force in real-time based on road conditions and driving inputs.</a:t>
                      </a:r>
                    </a:p>
                  </a:txBody>
                  <a:tcPr/>
                </a:tc>
                <a:tc>
                  <a:txBody>
                    <a:bodyPr wrap="square"/>
                    <a:lstStyle/>
                    <a:p>
                      <a:pPr>
                        <a:defRPr sz="1000">
                          <a:latin typeface="Calibri"/>
                        </a:defRPr>
                      </a:pPr>
                      <a:r>
                        <a:t>The core principle here is dynamic control of damping force. MR fluid dampers contain a fluid whose viscosity changes instantaneously when subjected to a magnetic field. By controlling the current to electromagnets within the damper, we can precisely and rapidly alter the damping coefficient. This allows for a softer ride on smooth surfaces by reducing damping and firmer damping for stability and control during dynamic maneuvers or rough terrain.  Validation will involve extensive simulation using multi-body dynamics (MBD) models calibrated with real-world road data.  This will be followed by track testing and public road validation under various load conditions and speeds, comparing ride comfort metrics (e.g., ISO 2631 vibration discomfort) and handling performance against the benchmark Tata EV.  Sensor integration (accelerometers, steering angle sensors, vehicle speed) and a dedicated control unit will be crucial for real-time adjustments.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core principle here is dynamic control of damping force. MR fluid dampers contain a fluid whose viscosity changes instantaneously when subjected to a magnetic field. By controlling the current to electromagnets within the damper, we can precisely and rapidly alter the damping coefficient. This allows for a softer ride on smooth surfaces by reducing damping and firmer damping for stability and control during dynamic maneuvers or rough terrain.  Validation will involve extensive simulation using multi-body dynamics (MBD) models calibrated with real-world road data.  This will be followed by track testing and public road validation under various load conditions and speeds, comparing ride comfort metrics (e.g., ISO 2631 vibration discomfort) and handling performance against the benchmark Tata EV.  Sensor integration (accelerometers, steering angle sensors, vehicle speed) and a dedicated control unit will be crucial for real-time adjustments.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Utilize advanced composite materials for control arms and links, such as carbon fiber reinforced polymer (CFRP) or glass fiber reinforced polymer (GFRP), to reduce unsprung mass and improve dynamic response.</a:t>
                      </a:r>
                    </a:p>
                  </a:txBody>
                  <a:tcPr/>
                </a:tc>
                <a:tc>
                  <a:txBody>
                    <a:bodyPr wrap="square"/>
                    <a:lstStyle/>
                    <a:p>
                      <a:pPr>
                        <a:defRPr sz="1000">
                          <a:latin typeface="Calibri"/>
                        </a:defRPr>
                      </a:pPr>
                      <a:r>
                        <a:t>Reducing unsprung mass is a fundamental principle for enhancing ride comfort and handling. Lighter suspension components (control arms, knuckles, wheel hubs) mean the suspension has less inertia to overcome when reacting to road irregularities. This allows the springs and dampers to work more effectively, isolating the vehicle body from impacts.  We will perform FEA (Finite Element Analysis) to optimize the topology and material layup of these composite components for strength and stiffness, ensuring they meet or exceed OEM durability requirements.  Validation will involve virtual crash simulations, fatigue testing on test rigs, and ultimately, on-vehicle testing to measure improvements in ride frequency response and reduction in transmitted vibrations.  Comparison will be made to the current aluminum or steel components and the benchmark vehicle's unsprung mass contribution.</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Reducing unsprung mass is a fundamental principle for enhancing ride comfort and handling. Lighter suspension components (control arms, knuckles, wheel hubs) mean the suspension has less inertia to overcome when reacting to road irregularities. This allows the springs and dampers to work more effectively, isolating the vehicle body from impacts.  We will perform FEA (Finite Element Analysis) to optimize the topology and material layup of these composite components for strength and stiffness, ensuring they meet or exceed OEM durability requirements.  Validation will involve virtual crash simulations, fatigue testing on test rigs, and ultimately, on-vehicle testing to measure improvements in ride frequency response and reduction in transmitted vibrations.  Comparison will be made to the current aluminum or steel components and the benchmark vehicle's unsprung mass contribution.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Introduce an adaptive air suspension system with variable spring rates and ride height control, allowing for on-the-fly adjustment of suspension stiffness and ground clearance.</a:t>
                      </a:r>
                    </a:p>
                  </a:txBody>
                  <a:tcPr/>
                </a:tc>
                <a:tc>
                  <a:txBody>
                    <a:bodyPr wrap="square"/>
                    <a:lstStyle/>
                    <a:p>
                      <a:pPr>
                        <a:defRPr sz="1000">
                          <a:latin typeface="Calibri"/>
                        </a:defRPr>
                      </a:pPr>
                      <a:r>
                        <a:t>The principle of variable stiffness and controlled damping is key here. Air springs provide a nearly linear spring rate or can be tuned for progressive stiffness, offering a smoother ride than conventional coil springs. By integrating with an electronic control unit (ECU) and sensors, the system can actively adjust air pressure in the bellows to alter the spring rate based on driving mode (comfort, sport) or detected road conditions.  Ride height control further enhances comfort by optimizing suspension travel and aerodynamic profile. Validation will involve MBD simulations to model the air spring dynamics and control algorithms.  Extensive real-world testing will assess ride quality across a spectrum of road surfaces, passenger comfort levels, and handling characteristics.  Data logging of air pressure, ride height, and accelerations will be used for comparison with the Tata EV.</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principle of variable stiffness and controlled damping is key here. Air springs provide a nearly linear spring rate or can be tuned for progressive stiffness, offering a smoother ride than conventional coil springs. By integrating with an electronic control unit (ECU) and sensors, the system can actively adjust air pressure in the bellows to alter the spring rate based on driving mode (comfort, sport) or detected road conditions.  Ride height control further enhances comfort by optimizing suspension travel and aerodynamic profile. Validation will involve MBD simulations to model the air spring dynamics and control algorithms.  Extensive real-world testing will assess ride quality across a spectrum of road surfaces, passenger comfort levels, and handling characteristics.  Data logging of air pressure, ride height, and accelerations will be used for comparison with the Tata EV.</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Optimize the kinematic design of the suspension linkages (e.g., multi-link rear, double-wishbone front) to minimize camber and toe changes during suspension travel, particularly under load and during cornering.</a:t>
                      </a:r>
                    </a:p>
                  </a:txBody>
                  <a:tcPr/>
                </a:tc>
                <a:tc>
                  <a:txBody>
                    <a:bodyPr wrap="square"/>
                    <a:lstStyle/>
                    <a:p>
                      <a:pPr>
                        <a:defRPr sz="1000">
                          <a:latin typeface="Calibri"/>
                        </a:defRPr>
                      </a:pPr>
                      <a:r>
                        <a:t>Suspension geometry is governed by fundamental principles of kinematics.  Unwanted changes in wheel alignment (camber, toe) during suspension compression and rebound directly impact tire contact patch stability and steering feel, leading to a harsher or less predictable ride.  By carefully designing the pivot points and lengths of the suspension arms, we can achieve a 'kinematically stable' design that keeps the tire more perpendicular to the road surface under a wider range of conditions.  This reduces the need for overly stiff damping to counteract alignment shifts.  Validation will involve sophisticated MBD simulations to map wheel alignment changes against suspension travel and load.  On-track testing will assess tire wear patterns and steering response.  We will analyze the suspension geometry of the Tata EV to identify areas for improvement in wheel kinematic behavior.</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Suspension geometry is governed by fundamental principles of kinematics.  Unwanted changes in wheel alignment (camber, toe) during suspension compression and rebound directly impact tire contact patch stability and steering feel, leading to a harsher or less predictable ride.  By carefully designing the pivot points and lengths of the suspension arms, we can achieve a 'kinematically stable' design that keeps the tire more perpendicular to the road surface under a wider range of conditions.  This reduces the need for overly stiff damping to counteract alignment shifts.  Validation will involve sophisticated MBD simulations to map wheel alignment changes against suspension travel and load.  On-track testing will assess tire wear patterns and steering response.  We will analyze the suspension geometry of the Tata EV to identify areas for improvement in wheel kinematic behavior.</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Integrate active engine/powertrain mounts that actively counteract vibrations generated by the electric motor and drivetrain, isolating the cabin from powertrain noise and vibration.</a:t>
                      </a:r>
                    </a:p>
                  </a:txBody>
                  <a:tcPr/>
                </a:tc>
                <a:tc>
                  <a:txBody>
                    <a:bodyPr wrap="square"/>
                    <a:lstStyle/>
                    <a:p>
                      <a:pPr>
                        <a:defRPr sz="1000">
                          <a:latin typeface="Calibri"/>
                        </a:defRPr>
                      </a:pPr>
                      <a:r>
                        <a:t>While not strictly a 'suspension' component, the principle of vibration isolation extends to the powertrain. Electric powertrains, though generally smoother than ICE, can still generate high-frequency vibrations. Active mounts use actuators (e.g., piezoelectric or electromagnetic) to generate counter-vibrations that cancel out the unwanted powertrain vibrations before they transmit to the chassis and cabin. This directly contributes to perceived ride smoothness. Validation will involve modal analysis of the powertrain and chassis to identify dominant vibration frequencies.  The active mount control system will be developed and tested using vibration shakers and then integrated into the vehicle.  Subjective and objective measurements of cabin noise and vibration levels (NVH) will be compared against the benchmark vehicle.</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While not strictly a 'suspension' component, the principle of vibration isolation extends to the powertrain. Electric powertrains, though generally smoother than ICE, can still generate high-frequency vibrations. Active mounts use actuators (e.g., piezoelectric or electromagnetic) to generate counter-vibrations that cancel out the unwanted powertrain vibrations before they transmit to the chassis and cabin. This directly contributes to perceived ride smoothness. Validation will involve modal analysis of the powertrain and chassis to identify dominant vibration frequencies.  The active mount control system will be developed and tested using vibration shakers and then integrated into the vehicle.  Subjective and objective measurements of cabin noise and vibration levels (NVH) will be compared against the benchmark vehicle.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44602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14859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Employ a dual-rate or progressive coil spring design with carefully selected spring rates and damping characteristics to provide a compliant initial response for small bumps and a more controlled response for larger impacts.</a:t>
                      </a:r>
                    </a:p>
                  </a:txBody>
                  <a:tcPr/>
                </a:tc>
                <a:tc>
                  <a:txBody>
                    <a:bodyPr wrap="square"/>
                    <a:lstStyle/>
                    <a:p>
                      <a:pPr>
                        <a:defRPr sz="1000">
                          <a:latin typeface="Calibri"/>
                        </a:defRPr>
                      </a:pPr>
                      <a:r>
                        <a:t>This proposal leverages the principle of variable spring stiffness without active systems.  Dual-rate springs can be achieved through various methods, such as using a spring with two different winding pitches or incorporating a helper spring.  The softer initial rate allows the suspension to absorb minor road imperfections with minimal disturbance to the cabin, providing a 'gliding' sensation. As the suspension compresses further, the stiffer rate engages, providing the necessary support and control for larger bumps, potholes, or during dynamic driving.  The damping profile of the shock absorber will be meticulously tuned to complement the spring rates. Validation will involve bench testing of spring characteristics and damper force curves.  Extensive on-road testing will be conducted to evaluate ride comfort over diverse road surfaces, focusing on the transition between the two spring rates and the overall damping performance.  We will analyze the spring and damping curves of the Tata EV suspension to inform our design parameters.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proposal leverages the principle of variable spring stiffness without active systems.  Dual-rate springs can be achieved through various methods, such as using a spring with two different winding pitches or incorporating a helper spring.  The softer initial rate allows the suspension to absorb minor road imperfections with minimal disturbance to the cabin, providing a 'gliding' sensation. As the suspension compresses further, the stiffer rate engages, providing the necessary support and control for larger bumps, potholes, or during dynamic driving.  The damping profile of the shock absorber will be meticulously tuned to complement the spring rates. Validation will involve bench testing of spring characteristics and damper force curves.  Extensive on-road testing will be conducted to evaluate ride comfort over diverse road surfaces, focusing on the transition between the two spring rates and the overall damping performance.  We will analyze the spring and damping curves of the Tata EV suspension to inform our design parameters.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WEB-GEN-01</a:t>
                      </a:r>
                    </a:p>
                  </a:txBody>
                  <a:tcPr/>
                </a:tc>
                <a:tc>
                  <a:txBody>
                    <a:bodyPr wrap="square"/>
                    <a:lstStyle/>
                    <a:p>
                      <a:pPr>
                        <a:defRPr sz="1000">
                          <a:latin typeface="Calibri"/>
                        </a:defRPr>
                      </a:pPr>
                      <a:r>
                        <a:t>Optimize Aerodynamic Package for Specific Track Types</a:t>
                      </a:r>
                    </a:p>
                  </a:txBody>
                  <a:tcPr/>
                </a:tc>
                <a:tc>
                  <a:txBody>
                    <a:bodyPr wrap="square"/>
                    <a:lstStyle/>
                    <a:p>
                      <a:pPr>
                        <a:defRPr sz="1000">
                          <a:latin typeface="Calibri"/>
                        </a:defRPr>
                      </a:pPr>
                      <a:r>
                        <a:t>Analyze performance data to identify tracks where high downforce configurations are not providing a significant advantage. Engineer and implement a lower downforce (lowDF) aerodynamic package that can be utilized on circuits like Monza, Baku, and Las Vegas. This involves re-designing or modifying elements such as wings, bargeboards, and floor configurations to reduce drag and improve straight-line speed, thereby potentially reducing engine load and fuel consumption. Source: https://www.f1technical.net/forum/viewtopic.php?t=32054&amp;start=8220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Analyze performance data to identify tracks where high downforce configurations are not providing a significant advantage. Engineer and implement a lower downforce (lowDF) aerodynamic package that can be utilized on circuits like Monza, Baku, and Las Vegas. This involves re-designing or modifying elements such as wings, bargeboards, and floor configurations to reduce drag and improve straight-line speed, thereby potentially reducing engine load and fuel consumption. Source: https://www.f1technical.net/forum/viewtopic.php?t=32054&amp;start=8220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WEB-GEN-02</a:t>
                      </a:r>
                    </a:p>
                  </a:txBody>
                  <a:tcPr/>
                </a:tc>
                <a:tc>
                  <a:txBody>
                    <a:bodyPr wrap="square"/>
                    <a:lstStyle/>
                    <a:p>
                      <a:pPr>
                        <a:defRPr sz="1000">
                          <a:latin typeface="Calibri"/>
                        </a:defRPr>
                      </a:pPr>
                      <a:r>
                        <a:t>Streamline Design and Technical Team Collaboration</a:t>
                      </a:r>
                    </a:p>
                  </a:txBody>
                  <a:tcPr/>
                </a:tc>
                <a:tc>
                  <a:txBody>
                    <a:bodyPr wrap="square"/>
                    <a:lstStyle/>
                    <a:p>
                      <a:pPr>
                        <a:defRPr sz="1000">
                          <a:latin typeface="Calibri"/>
                        </a:defRPr>
                      </a:pPr>
                      <a:r>
                        <a:t>Implement a structured process or platform that facilitates better communication and integration between design and technical teams. This could involve cross-functional workshops, shared digital modeling environments, or the appointment of liaison engineers. The goal is to ensure that design decisions are informed by technical feasibility and performance requirements early in the process, preventing costly rework or sub-optimal component selection. Source: https://www.f1technical.net/forum/viewtopic.php?t=32054&amp;start=90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Implement a structured process or platform that facilitates better communication and integration between design and technical teams. This could involve cross-functional workshops, shared digital modeling environments, or the appointment of liaison engineers. The goal is to ensure that design decisions are informed by technical feasibility and performance requirements early in the process, preventing costly rework or sub-optimal component selection. Source: https://www.f1technical.net/forum/viewtopic.php?t=32054&amp;start=90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8</a:t>
            </a:r>
          </a:p>
          <a:p>
            <a:pPr>
              <a:defRPr sz="1000">
                <a:latin typeface="Calibri"/>
              </a:defRPr>
            </a:pPr>
            <a:r>
              <a:t>• Total Potential Savings: INR 0.00</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8 ideas analyzed.</a:t>
            </a:r>
          </a:p>
          <a:p>
            <a:pPr>
              <a:defRPr sz="1800">
                <a:latin typeface="Calibri"/>
              </a:defRPr>
            </a:pPr>
            <a:r>
              <a:t>Total Savings: INR 0.00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
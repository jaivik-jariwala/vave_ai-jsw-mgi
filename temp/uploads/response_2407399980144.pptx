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Sheet1!$A$2:$A$14</c:f>
              <c:strCache>
                <c:ptCount val="13"/>
                <c:pt idx="0">
                  <c:v>2311-SS-ID-04</c:v>
                </c:pt>
                <c:pt idx="1">
                  <c:v>2311-PRODUCT-ID-07</c:v>
                </c:pt>
                <c:pt idx="2">
                  <c:v>2311-PRODUCT-ID-13</c:v>
                </c:pt>
                <c:pt idx="3">
                  <c:v>2311-PRODUCT-ID-11</c:v>
                </c:pt>
                <c:pt idx="4">
                  <c:v>2311-IT-ID-01</c:v>
                </c:pt>
                <c:pt idx="5">
                  <c:v>AI-GEN-01</c:v>
                </c:pt>
                <c:pt idx="6">
                  <c:v>AI-GEN-02</c:v>
                </c:pt>
                <c:pt idx="7">
                  <c:v>AI-GEN-03</c:v>
                </c:pt>
                <c:pt idx="8">
                  <c:v>AI-GEN-04</c:v>
                </c:pt>
                <c:pt idx="9">
                  <c:v>AI-GEN-05</c:v>
                </c:pt>
                <c:pt idx="10">
                  <c:v>AI-GEN-06</c:v>
                </c:pt>
                <c:pt idx="11">
                  <c:v>WEB-GEN-01</c:v>
                </c:pt>
                <c:pt idx="12">
                  <c:v>WEB-GEN-02</c:v>
                </c:pt>
              </c:strCache>
            </c:strRef>
          </c:cat>
          <c:val>
            <c:numRef>
              <c:f>Sheet1!$B$2:$B$14</c:f>
              <c:numCache>
                <c:formatCode>General</c:formatCode>
                <c:ptCount val="13"/>
                <c:pt idx="0">
                  <c:v>48.0</c:v>
                </c:pt>
                <c:pt idx="1">
                  <c:v>115.0</c:v>
                </c:pt>
                <c:pt idx="2">
                  <c:v>141.0</c:v>
                </c:pt>
                <c:pt idx="3">
                  <c:v>89.0</c:v>
                </c:pt>
                <c:pt idx="4">
                  <c:v>52.0</c:v>
                </c:pt>
                <c:pt idx="5">
                  <c:v>0</c:v>
                </c:pt>
                <c:pt idx="6">
                  <c:v>0</c:v>
                </c:pt>
                <c:pt idx="7">
                  <c:v>0</c:v>
                </c:pt>
                <c:pt idx="8">
                  <c:v>0</c:v>
                </c:pt>
                <c:pt idx="9">
                  <c:v>0</c:v>
                </c:pt>
                <c:pt idx="10">
                  <c:v>0</c:v>
                </c:pt>
                <c:pt idx="11">
                  <c:v>0</c:v>
                </c:pt>
                <c:pt idx="12">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1</c:v>
                </c:pt>
                <c:pt idx="2">
                  <c:v>1</c:v>
                </c:pt>
                <c:pt idx="3">
                  <c:v>3</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2311-SS-ID-04</a:t>
                      </a:r>
                    </a:p>
                  </a:txBody>
                  <a:tcPr/>
                </a:tc>
                <a:tc>
                  <a:txBody>
                    <a:bodyPr wrap="square"/>
                    <a:lstStyle/>
                    <a:p>
                      <a:pPr>
                        <a:defRPr sz="1000">
                          <a:latin typeface="Calibri"/>
                        </a:defRPr>
                      </a:pPr>
                      <a:r>
                        <a:t>Substitute the leather upholstery on the left-hand (LH) and right-hand (RH) sides of the third-row seat bases with the same fabric utilized on the LH and RH sides of the corresponding backrests</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INR 48.0</a:t>
                      </a:r>
                    </a:p>
                  </a:txBody>
                  <a:tcPr/>
                </a:tc>
                <a:tc>
                  <a:txBody>
                    <a:bodyPr wrap="square"/>
                    <a:lstStyle/>
                    <a:p>
                      <a:pPr>
                        <a:defRPr sz="1000">
                          <a:latin typeface="Calibri"/>
                        </a:defRPr>
                      </a:pPr>
                      <a:r>
                        <a:t>NG</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2023-11-10 00:00:00</a:t>
                      </a:r>
                    </a:p>
                  </a:txBody>
                  <a:tcPr/>
                </a:tc>
              </a:tr>
              <a:tr h="320040">
                <a:tc>
                  <a:txBody>
                    <a:bodyPr wrap="square"/>
                    <a:lstStyle/>
                    <a:p>
                      <a:pPr>
                        <a:defRPr sz="1000">
                          <a:latin typeface="Calibri"/>
                        </a:defRPr>
                      </a:pPr>
                      <a:r>
                        <a:t>2311-PRODUCT-ID-07</a:t>
                      </a:r>
                    </a:p>
                  </a:txBody>
                  <a:tcPr/>
                </a:tc>
                <a:tc>
                  <a:txBody>
                    <a:bodyPr wrap="square"/>
                    <a:lstStyle/>
                    <a:p>
                      <a:pPr>
                        <a:defRPr sz="1000">
                          <a:latin typeface="Calibri"/>
                        </a:defRPr>
                      </a:pPr>
                      <a:r>
                        <a:t>De-content the plastic trims found protecting the top tethers from both sides of the seat as the tethers could be placed within the seat fabric itself and a slit on the same could facilitate easy access</a:t>
                      </a:r>
                    </a:p>
                  </a:txBody>
                  <a:tcPr/>
                </a:tc>
                <a:tc>
                  <a:txBody>
                    <a:bodyPr wrap="square"/>
                    <a:lstStyle/>
                    <a:p>
                      <a:pPr>
                        <a:defRPr sz="1000">
                          <a:latin typeface="Calibri"/>
                        </a:defRPr>
                      </a:pPr>
                      <a:r>
                        <a:t>Confirm on no part nuber change to avoid homologation cost</a:t>
                      </a:r>
                    </a:p>
                  </a:txBody>
                  <a:tcPr/>
                </a:tc>
                <a:tc>
                  <a:txBody>
                    <a:bodyPr wrap="square"/>
                    <a:lstStyle/>
                    <a:p>
                      <a:pPr>
                        <a:defRPr sz="1000">
                          <a:latin typeface="Calibri"/>
                        </a:defRPr>
                      </a:pPr>
                      <a:r>
                        <a:t>INR 115.0</a:t>
                      </a:r>
                    </a:p>
                  </a:txBody>
                  <a:tcPr/>
                </a:tc>
                <a:tc>
                  <a:txBody>
                    <a:bodyPr wrap="square"/>
                    <a:lstStyle/>
                    <a:p>
                      <a:pPr>
                        <a:defRPr sz="1000">
                          <a:latin typeface="Calibri"/>
                        </a:defRPr>
                      </a:pPr>
                      <a:r>
                        <a:t>OK</a:t>
                      </a:r>
                    </a:p>
                  </a:txBody>
                  <a:tcPr/>
                </a:tc>
                <a:tc>
                  <a:txBody>
                    <a:bodyPr wrap="square"/>
                    <a:lstStyle/>
                    <a:p>
                      <a:pPr>
                        <a:defRPr sz="1000">
                          <a:latin typeface="Calibri"/>
                        </a:defRPr>
                      </a:pPr>
                      <a:r>
                        <a:t>Confirm on no part nuber change to avoid homologation cost</a:t>
                      </a:r>
                    </a:p>
                  </a:txBody>
                  <a:tcPr/>
                </a:tc>
                <a:tc>
                  <a:txBody>
                    <a:bodyPr wrap="square"/>
                    <a:lstStyle/>
                    <a:p>
                      <a:pPr>
                        <a:defRPr sz="1000">
                          <a:latin typeface="Calibri"/>
                        </a:defRPr>
                      </a:pPr>
                      <a:r>
                        <a:t>Nishant</a:t>
                      </a:r>
                    </a:p>
                  </a:txBody>
                  <a:tcPr/>
                </a:tc>
                <a:tc>
                  <a:txBody>
                    <a:bodyPr wrap="square"/>
                    <a:lstStyle/>
                    <a:p>
                      <a:pPr>
                        <a:defRPr sz="1000">
                          <a:latin typeface="Calibri"/>
                        </a:defRPr>
                      </a:pPr>
                      <a:r>
                        <a:t>2024-06-17 00:00:00</a:t>
                      </a:r>
                    </a:p>
                  </a:txBody>
                  <a:tcPr/>
                </a:tc>
              </a:tr>
              <a:tr h="320040">
                <a:tc>
                  <a:txBody>
                    <a:bodyPr wrap="square"/>
                    <a:lstStyle/>
                    <a:p>
                      <a:pPr>
                        <a:defRPr sz="1000">
                          <a:latin typeface="Calibri"/>
                        </a:defRPr>
                      </a:pPr>
                      <a:r>
                        <a:t>2311-PRODUCT-ID-13</a:t>
                      </a:r>
                    </a:p>
                  </a:txBody>
                  <a:tcPr/>
                </a:tc>
                <a:tc>
                  <a:txBody>
                    <a:bodyPr wrap="square"/>
                    <a:lstStyle/>
                    <a:p>
                      <a:pPr>
                        <a:defRPr sz="1000">
                          <a:latin typeface="Calibri"/>
                        </a:defRPr>
                      </a:pPr>
                      <a:r>
                        <a:t>Eliminate the plastic trim provided around the bottom anchor point at the driver side seatbelt and follow the same methodology provided at the co-driver's side.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2311-PRODUCT-ID-11</a:t>
                      </a:r>
                    </a:p>
                  </a:txBody>
                  <a:tcPr/>
                </a:tc>
                <a:tc>
                  <a:txBody>
                    <a:bodyPr wrap="square"/>
                    <a:lstStyle/>
                    <a:p>
                      <a:pPr>
                        <a:defRPr sz="1000">
                          <a:latin typeface="Calibri"/>
                        </a:defRPr>
                      </a:pPr>
                      <a:r>
                        <a:t>Reduce the width of the trunk liner flap by 60mm from the upper edge.</a:t>
                      </a:r>
                    </a:p>
                  </a:txBody>
                  <a:tcPr/>
                </a:tc>
                <a:tc>
                  <a:txBody>
                    <a:bodyPr wrap="square"/>
                    <a:lstStyle/>
                    <a:p>
                      <a:pPr>
                        <a:defRPr sz="1000">
                          <a:latin typeface="Calibri"/>
                        </a:defRPr>
                      </a:pPr>
                      <a:r>
                        <a:t>Confirm business case for 20mm reduction</a:t>
                      </a:r>
                    </a:p>
                  </a:txBody>
                  <a:tcPr/>
                </a:tc>
                <a:tc>
                  <a:txBody>
                    <a:bodyPr wrap="square"/>
                    <a:lstStyle/>
                    <a:p>
                      <a:pPr>
                        <a:defRPr sz="1000">
                          <a:latin typeface="Calibri"/>
                        </a:defRPr>
                      </a:pPr>
                      <a:r>
                        <a:t>INR 89.0</a:t>
                      </a:r>
                    </a:p>
                  </a:txBody>
                  <a:tcPr/>
                </a:tc>
                <a:tc>
                  <a:txBody>
                    <a:bodyPr wrap="square"/>
                    <a:lstStyle/>
                    <a:p>
                      <a:pPr>
                        <a:defRPr sz="1000">
                          <a:latin typeface="Calibri"/>
                        </a:defRPr>
                      </a:pPr>
                      <a:r>
                        <a:t>TBD</a:t>
                      </a:r>
                    </a:p>
                  </a:txBody>
                  <a:tcPr/>
                </a:tc>
                <a:tc>
                  <a:txBody>
                    <a:bodyPr wrap="square"/>
                    <a:lstStyle/>
                    <a:p>
                      <a:pPr>
                        <a:defRPr sz="1000">
                          <a:latin typeface="Calibri"/>
                        </a:defRPr>
                      </a:pPr>
                      <a:r>
                        <a:t>Confirm business case for 20mm reduction</a:t>
                      </a:r>
                    </a:p>
                  </a:txBody>
                  <a:tcPr/>
                </a:tc>
                <a:tc>
                  <a:txBody>
                    <a:bodyPr wrap="square"/>
                    <a:lstStyle/>
                    <a:p>
                      <a:pPr>
                        <a:defRPr sz="1000">
                          <a:latin typeface="Calibri"/>
                        </a:defRPr>
                      </a:pPr>
                      <a:r>
                        <a:t>Kalp</a:t>
                      </a:r>
                    </a:p>
                  </a:txBody>
                  <a:tcPr/>
                </a:tc>
                <a:tc>
                  <a:txBody>
                    <a:bodyPr wrap="square"/>
                    <a:lstStyle/>
                    <a:p>
                      <a:pPr>
                        <a:defRPr sz="1000">
                          <a:latin typeface="Calibri"/>
                        </a:defRPr>
                      </a:pPr>
                      <a:r>
                        <a:t>2024-02-14 00:00:00</a:t>
                      </a:r>
                    </a:p>
                  </a:txBody>
                  <a:tcPr/>
                </a:tc>
              </a:tr>
              <a:tr h="320040">
                <a:tc>
                  <a:txBody>
                    <a:bodyPr wrap="square"/>
                    <a:lstStyle/>
                    <a:p>
                      <a:pPr>
                        <a:defRPr sz="1000">
                          <a:latin typeface="Calibri"/>
                        </a:defRPr>
                      </a:pPr>
                      <a:r>
                        <a:t>2311-IT-ID-01</a:t>
                      </a:r>
                    </a:p>
                  </a:txBody>
                  <a:tcPr/>
                </a:tc>
                <a:tc>
                  <a:txBody>
                    <a:bodyPr wrap="square"/>
                    <a:lstStyle/>
                    <a:p>
                      <a:pPr>
                        <a:defRPr sz="1000">
                          <a:latin typeface="Calibri"/>
                        </a:defRPr>
                      </a:pPr>
                      <a:r>
                        <a:t>Remove the fabric cover pasted onto the foot pad provided at the footwell area of the co-driver seat.</a:t>
                      </a:r>
                    </a:p>
                  </a:txBody>
                  <a:tcPr/>
                </a:tc>
                <a:tc>
                  <a:txBody>
                    <a:bodyPr wrap="square"/>
                    <a:lstStyle/>
                    <a:p>
                      <a:pPr>
                        <a:defRPr sz="1000">
                          <a:latin typeface="Calibri"/>
                        </a:defRPr>
                      </a:pPr>
                      <a:r>
                        <a:t>Check technical Feasibility</a:t>
                      </a:r>
                    </a:p>
                  </a:txBody>
                  <a:tcPr/>
                </a:tc>
                <a:tc>
                  <a:txBody>
                    <a:bodyPr wrap="square"/>
                    <a:lstStyle/>
                    <a:p>
                      <a:pPr>
                        <a:defRPr sz="1000">
                          <a:latin typeface="Calibri"/>
                        </a:defRPr>
                      </a:pPr>
                      <a:r>
                        <a:t>INR 52.0</a:t>
                      </a:r>
                    </a:p>
                  </a:txBody>
                  <a:tcPr/>
                </a:tc>
                <a:tc>
                  <a:txBody>
                    <a:bodyPr wrap="square"/>
                    <a:lstStyle/>
                    <a:p>
                      <a:pPr>
                        <a:defRPr sz="1000">
                          <a:latin typeface="Calibri"/>
                        </a:defRPr>
                      </a:pPr>
                      <a:r>
                        <a:t>NG</a:t>
                      </a:r>
                    </a:p>
                  </a:txBody>
                  <a:tcPr/>
                </a:tc>
                <a:tc>
                  <a:txBody>
                    <a:bodyPr wrap="square"/>
                    <a:lstStyle/>
                    <a:p>
                      <a:pPr>
                        <a:defRPr sz="1000">
                          <a:latin typeface="Calibri"/>
                        </a:defRPr>
                      </a:pPr>
                      <a:r>
                        <a:t>Check technical Feasibility</a:t>
                      </a:r>
                    </a:p>
                  </a:txBody>
                  <a:tcPr/>
                </a:tc>
                <a:tc>
                  <a:txBody>
                    <a:bodyPr wrap="square"/>
                    <a:lstStyle/>
                    <a:p>
                      <a:pPr>
                        <a:defRPr sz="1000">
                          <a:latin typeface="Calibri"/>
                        </a:defRPr>
                      </a:pPr>
                      <a:r>
                        <a:t>Nishant</a:t>
                      </a:r>
                    </a:p>
                  </a:txBody>
                  <a:tcPr/>
                </a:tc>
                <a:tc>
                  <a:txBody>
                    <a:bodyPr wrap="square"/>
                    <a:lstStyle/>
                    <a:p>
                      <a:pPr>
                        <a:defRPr sz="1000">
                          <a:latin typeface="Calibri"/>
                        </a:defRPr>
                      </a:pPr>
                      <a:r>
                        <a:t>2023-11-03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Replace the current multi-density foam cushioning in the seat base with a single-density, high-resilience foam formulation, optimized for load-bearing and comfort requirements through finite element analysis.</a:t>
                      </a:r>
                    </a:p>
                  </a:txBody>
                  <a:tcPr/>
                </a:tc>
                <a:tc>
                  <a:txBody>
                    <a:bodyPr wrap="square"/>
                    <a:lstStyle/>
                    <a:p>
                      <a:pPr>
                        <a:defRPr sz="1000">
                          <a:latin typeface="Calibri"/>
                        </a:defRPr>
                      </a:pPr>
                      <a:r>
                        <a:t>The current multi-density foam offers localized support but increases material complexity and potentially manufacturing cost. A single-density, high-resilience foam can achieve equivalent or superior comfort and durability through careful formulation and structural design. This requires material characterization of various foam types, including compression set, load-bearing capacity, and vibration damping. FEA will be used to simulate occupant loads and predict comfort levels. Physical testing will involve dynamic ride comfort assessments and long-term durability trials under simulated usage conditions. Validation will focus on meeting NVH targets and anthropometric comfort standards.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current multi-density foam offers localized support but increases material complexity and potentially manufacturing cost. A single-density, high-resilience foam can achieve equivalent or superior comfort and durability through careful formulation and structural design. This requires material characterization of various foam types, including compression set, load-bearing capacity, and vibration damping. FEA will be used to simulate occupant loads and predict comfort levels. Physical testing will involve dynamic ride comfort assessments and long-term durability trials under simulated usage conditions. Validation will focus on meeting NVH targets and anthropometric comfort standards.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Substitute the current stitched fabric seams on seat bolsters and accent panels with an ultrasonic welding process, eliminating the need for thread and reducing labor time.</a:t>
                      </a:r>
                    </a:p>
                  </a:txBody>
                  <a:tcPr/>
                </a:tc>
                <a:tc>
                  <a:txBody>
                    <a:bodyPr wrap="square"/>
                    <a:lstStyle/>
                    <a:p>
                      <a:pPr>
                        <a:defRPr sz="1000">
                          <a:latin typeface="Calibri"/>
                        </a:defRPr>
                      </a:pPr>
                      <a:r>
                        <a:t>Stitching is a labor-intensive process and requires specific threads, increasing material and manufacturing costs. Ultrasonic welding creates a molecular bond between fabric layers, offering a clean, durable, and cost-effective alternative. Material compatibility studies are crucial to identify suitable fabric types for welding. Process parameter optimization (frequency, amplitude, dwell time) will be conducted on test samples to ensure bond strength and aesthetic quality. Validation will involve peel strength tests, abrasion resistance tests, and visual inspections for seam integrity and appearance. Accelerated aging tests will confirm long-term durability.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Stitching is a labor-intensive process and requires specific threads, increasing material and manufacturing costs. Ultrasonic welding creates a molecular bond between fabric layers, offering a clean, durable, and cost-effective alternative. Material compatibility studies are crucial to identify suitable fabric types for welding. Process parameter optimization (frequency, amplitude, dwell time) will be conducted on test samples to ensure bond strength and aesthetic quality. Validation will involve peel strength tests, abrasion resistance tests, and visual inspections for seam integrity and appearance. Accelerated aging tests will confirm long-term durability.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Eliminate the separate plastic lumbar support adjuster housing and integrate its functionality directly into the seat frame structure using molded plastic or stamped metal, supported by internal webbing or cable tensioning.</a:t>
                      </a:r>
                    </a:p>
                  </a:txBody>
                  <a:tcPr/>
                </a:tc>
                <a:tc>
                  <a:txBody>
                    <a:bodyPr wrap="square"/>
                    <a:lstStyle/>
                    <a:p>
                      <a:pPr>
                        <a:defRPr sz="1000">
                          <a:latin typeface="Calibri"/>
                        </a:defRPr>
                      </a:pPr>
                      <a:r>
                        <a:t>Dedicated plastic housings for lumbar adjusters add part count and assembly complexity. Integrating the mechanism into the existing seat frame reduces component count and assembly steps. This requires redesigning the seat frame to accommodate internal supports and adjustment mechanisms, potentially using molded plastic inserts or strategically placed stamped metal features. Load path analysis will be performed to ensure the structural integrity of the modified frame under occupant load. Prototyping and functional testing of the integrated adjustment mechanism will be critical. Durability testing of the integrated system under repeated adjustments is essential. Validation will confirm ease of operation and long-term reliability.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Dedicated plastic housings for lumbar adjusters add part count and assembly complexity. Integrating the mechanism into the existing seat frame reduces component count and assembly steps. This requires redesigning the seat frame to accommodate internal supports and adjustment mechanisms, potentially using molded plastic inserts or strategically placed stamped metal features. Load path analysis will be performed to ensure the structural integrity of the modified frame under occupant load. Prototyping and functional testing of the integrated adjustment mechanism will be critical. Durability testing of the integrated system under repeated adjustments is essential. Validation will confirm ease of operation and long-term reliability.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Replace the complex, multi-piece plastic seat back panel with a single-injection molded component that incorporates integrated mounting points and aesthetic features.</a:t>
                      </a:r>
                    </a:p>
                  </a:txBody>
                  <a:tcPr/>
                </a:tc>
                <a:tc>
                  <a:txBody>
                    <a:bodyPr wrap="square"/>
                    <a:lstStyle/>
                    <a:p>
                      <a:pPr>
                        <a:defRPr sz="1000">
                          <a:latin typeface="Calibri"/>
                        </a:defRPr>
                      </a:pPr>
                      <a:r>
                        <a:t>Current multi-piece back panels often involve several plastic parts, clips, and fasteners, increasing assembly time and potential for rattles. A single-injection molded panel simplifies manufacturing and assembly. This requires advanced mold design to incorporate all necessary features, such as mounting bosses, texture, and potentially integrated storage pockets. Material selection will focus on achieving the required stiffness, impact resistance, and aesthetic finish. FEA will be used to analyze the structural integrity of the single-piece design under impact and vibration. Tooling validation and pilot production runs will be performed to ensure consistency and quality. Validation will include impact testing (e.g., FMVSS 201) and vibration testing.</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 multi-piece back panels often involve several plastic parts, clips, and fasteners, increasing assembly time and potential for rattles. A single-injection molded panel simplifies manufacturing and assembly. This requires advanced mold design to incorporate all necessary features, such as mounting bosses, texture, and potentially integrated storage pockets. Material selection will focus on achieving the required stiffness, impact resistance, and aesthetic finish. FEA will be used to analyze the structural integrity of the single-piece design under impact and vibration. Tooling validation and pilot production runs will be performed to ensure consistency and quality. Validation will include impact testing (e.g., FMVSS 201) and vibration testing.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Investigate the use of recycled or bio-based composite materials for structural seat components (e.g., seat pans, back frames) that currently utilize virgin plastics or metals, without compromising structural integrity or flame retardancy requirements.</a:t>
                      </a:r>
                    </a:p>
                  </a:txBody>
                  <a:tcPr/>
                </a:tc>
                <a:tc>
                  <a:txBody>
                    <a:bodyPr wrap="square"/>
                    <a:lstStyle/>
                    <a:p>
                      <a:pPr>
                        <a:defRPr sz="1000">
                          <a:latin typeface="Calibri"/>
                        </a:defRPr>
                      </a:pPr>
                      <a:r>
                        <a:t>The use of virgin plastics and metals contributes significantly to material cost and environmental impact. Recycled or bio-based composites can offer a more sustainable and potentially cost-effective alternative. This necessitates thorough material research and development to identify composites that meet automotive-grade specifications for strength, stiffness, impact resistance, and UV stability. Flame retardancy testing according to automotive standards is critical. Mechanical testing, including tensile, flexural, and impact tests, will be performed on prototype components. Long-term aging studies will assess performance under various environmental conditions. Validation will involve full component testing and comparison against current material performance benchmarks.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use of virgin plastics and metals contributes significantly to material cost and environmental impact. Recycled or bio-based composites can offer a more sustainable and potentially cost-effective alternative. This necessitates thorough material research and development to identify composites that meet automotive-grade specifications for strength, stiffness, impact resistance, and UV stability. Flame retardancy testing according to automotive standards is critical. Mechanical testing, including tensile, flexural, and impact tests, will be performed on prototype components. Long-term aging studies will assess performance under various environmental conditions. Validation will involve full component testing and comparison against current material performance benchmarks.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44602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4859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Optimize the seat fabric pattern layout to maximize material utilization and minimize waste during cutting operations, potentially by reconfiguring panel shapes and reducing seam allowances where structurally permissible.</a:t>
                      </a:r>
                    </a:p>
                  </a:txBody>
                  <a:tcPr/>
                </a:tc>
                <a:tc>
                  <a:txBody>
                    <a:bodyPr wrap="square"/>
                    <a:lstStyle/>
                    <a:p>
                      <a:pPr>
                        <a:defRPr sz="1000">
                          <a:latin typeface="Calibri"/>
                        </a:defRPr>
                      </a:pPr>
                      <a:r>
                        <a:t>Fabric is a significant cost driver in seat upholstery. Inefficient cutting patterns lead to substantial material waste. This idea focuses on optimizing the nesting and layout of fabric pieces for each seat component. This involves detailed analysis of current cutting patterns and exploring advanced software-driven nesting algorithms. Geometric analysis of individual fabric panels will identify opportunities for tighter packing. Reconfiguring minor panel shapes, if it doesn't compromise aesthetics or assembly, can further improve yield. Waste reduction will be quantified through material yield studies on production runs. Validation will involve comparing material consumption rates before and after implementation, and ensuring that the optimized layout does not negatively impact the assembly process or the final appearance of the seat.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Fabric is a significant cost driver in seat upholstery. Inefficient cutting patterns lead to substantial material waste. This idea focuses on optimizing the nesting and layout of fabric pieces for each seat component. This involves detailed analysis of current cutting patterns and exploring advanced software-driven nesting algorithms. Geometric analysis of individual fabric panels will identify opportunities for tighter packing. Reconfiguring minor panel shapes, if it doesn't compromise aesthetics or assembly, can further improve yield. Waste reduction will be quantified through material yield studies on production runs. Validation will involve comparing material consumption rates before and after implementation, and ensuring that the optimized layout does not negatively impact the assembly process or the final appearance of the seat.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Optimize Component Development Pace</a:t>
                      </a:r>
                    </a:p>
                  </a:txBody>
                  <a:tcPr/>
                </a:tc>
                <a:tc>
                  <a:txBody>
                    <a:bodyPr wrap="square"/>
                    <a:lstStyle/>
                    <a:p>
                      <a:pPr>
                        <a:defRPr sz="1000">
                          <a:latin typeface="Calibri"/>
                        </a:defRPr>
                      </a:pPr>
                      <a:r>
                        <a:t>Analyze the development pace of the '678' component and benchmark against potential gains (e.g., 2 tenths per month). Implement project management techniques to ensure efficient and accelerated development cycles, potentially reducing the time-to-market and associated engineering costs. Source: https://www.f1technical.net/forum/viewtopic.php?t=32051&amp;start=7200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Analyze the development pace of the '678' component and benchmark against potential gains (e.g., 2 tenths per month). Implement project management techniques to ensure efficient and accelerated development cycles, potentially reducing the time-to-market and associated engineering costs. Source: https://www.f1technical.net/forum/viewtopic.php?t=32051&amp;start=7200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Enhance Cross-Functional Team Collaboration in Design</a:t>
                      </a:r>
                    </a:p>
                  </a:txBody>
                  <a:tcPr/>
                </a:tc>
                <a:tc>
                  <a:txBody>
                    <a:bodyPr wrap="square"/>
                    <a:lstStyle/>
                    <a:p>
                      <a:pPr>
                        <a:defRPr sz="1000">
                          <a:latin typeface="Calibri"/>
                        </a:defRPr>
                      </a:pPr>
                      <a:r>
                        <a:t>Facilitate better integration and communication between design and technical teams. Implement structured workshops and joint problem-solving sessions to ensure a unified approach to component development, potentially reducing design iterations and rework, thereby saving engineering hours and material costs.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Facilitate better integration and communication between design and technical teams. Implement structured workshops and joint problem-solving sessions to ensure a unified approach to component development, potentially reducing design iterations and rework, thereby saving engineering hours and material costs.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13</a:t>
            </a:r>
          </a:p>
          <a:p>
            <a:pPr>
              <a:defRPr sz="1000">
                <a:latin typeface="Calibri"/>
              </a:defRPr>
            </a:pPr>
            <a:r>
              <a:t>• Total Potential Savings: INR 445.00</a:t>
            </a:r>
          </a:p>
          <a:p>
            <a:pPr>
              <a:defRPr sz="1000">
                <a:latin typeface="Calibri"/>
              </a:defRPr>
            </a:pPr>
            <a:r>
              <a:t>• Implemented Ideas: 0</a:t>
            </a:r>
          </a:p>
          <a:p>
            <a:pPr>
              <a:defRPr sz="1000">
                <a:latin typeface="Calibri"/>
              </a:defRPr>
            </a:pPr>
            <a:r>
              <a:t>• Status OK: 1</a:t>
            </a:r>
          </a:p>
          <a:p>
            <a:pPr>
              <a:defRPr sz="1000">
                <a:latin typeface="Calibri"/>
              </a:defRPr>
            </a:pPr>
            <a:r>
              <a:t>• Status TBD: 1</a:t>
            </a:r>
          </a:p>
          <a:p>
            <a:pPr>
              <a:defRPr sz="1000">
                <a:latin typeface="Calibri"/>
              </a:defRPr>
            </a:pPr>
            <a:r>
              <a:t>• Status NG: 3</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13 ideas analyzed.</a:t>
            </a:r>
          </a:p>
          <a:p>
            <a:pPr>
              <a:defRPr sz="1800">
                <a:latin typeface="Calibri"/>
              </a:defRPr>
            </a:pPr>
            <a:r>
              <a:t>Total Savings: INR 445.00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
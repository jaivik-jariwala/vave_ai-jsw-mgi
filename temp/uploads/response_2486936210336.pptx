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2311-EL-ID-10</c:v>
                </c:pt>
                <c:pt idx="1">
                  <c:v>2311-EL-ID-08</c:v>
                </c:pt>
                <c:pt idx="2">
                  <c:v>2311-EL-ID-09</c:v>
                </c:pt>
                <c:pt idx="3">
                  <c:v>2311-ET-ID-14</c:v>
                </c:pt>
                <c:pt idx="4">
                  <c:v>2311-EL-ID-11</c:v>
                </c:pt>
                <c:pt idx="5">
                  <c:v>AI-GEN-01</c:v>
                </c:pt>
                <c:pt idx="6">
                  <c:v>AI-GEN-02</c:v>
                </c:pt>
                <c:pt idx="7">
                  <c:v>AI-GEN-03</c:v>
                </c:pt>
                <c:pt idx="8">
                  <c:v>AI-GEN-04</c:v>
                </c:pt>
                <c:pt idx="9">
                  <c:v>AI-GEN-05</c:v>
                </c:pt>
                <c:pt idx="10">
                  <c:v>AI-GEN-06</c:v>
                </c:pt>
              </c:strCache>
            </c:strRef>
          </c:cat>
          <c:val>
            <c:numRef>
              <c:f>Sheet1!$B$2:$B$12</c:f>
              <c:numCache>
                <c:formatCode>General</c:formatCode>
                <c:ptCount val="11"/>
                <c:pt idx="0">
                  <c:v>61.0</c:v>
                </c:pt>
                <c:pt idx="1">
                  <c:v>135.0</c:v>
                </c:pt>
                <c:pt idx="2">
                  <c:v>90.0</c:v>
                </c:pt>
                <c:pt idx="3">
                  <c:v>41.0</c:v>
                </c:pt>
                <c:pt idx="4">
                  <c:v>137.0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Substitute the existing stamped steel battery enclosure for the MG Motor Windsor battery pack with a composite material structure, potentially utilizing a glass fiber reinforced polymer (GFRP) with integrated thermal management channels.</a:t>
                      </a:r>
                    </a:p>
                  </a:txBody>
                  <a:tcPr/>
                </a:tc>
                <a:tc>
                  <a:txBody>
                    <a:bodyPr wrap="square"/>
                    <a:lstStyle/>
                    <a:p>
                      <a:pPr>
                        <a:defRPr sz="1000">
                          <a:latin typeface="Calibri"/>
                        </a:defRPr>
                      </a:pPr>
                      <a:r>
                        <a:t>This approach aims to reduce material cost and weight, while enhancing thermal performance and structural integrity. The GFRP offers superior strength-to-weight ratio compared to steel.  Initial FEA will be conducted to validate structural load cases and vibration resistance.  Thermal simulation will be critical to assess heat dissipation capabilities through integrated channels, comparing against current performance.  Material selection will focus on cost-effective resins and fiber grades.  Prototype testing will involve drop tests, crush tests, and thermal cycling to validate performance and durability against regulatory requirements.</a:t>
                      </a:r>
                    </a:p>
                  </a:txBody>
                  <a:tcPr/>
                </a:tc>
                <a:tc>
                  <a:txBody>
                    <a:bodyPr wrap="square"/>
                    <a:lstStyle/>
                    <a:p>
                      <a:pPr>
                        <a:defRPr sz="1000">
                          <a:latin typeface="Calibri"/>
                        </a:defRPr>
                      </a:pPr>
                      <a:r>
                        <a:t>15000000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aims to reduce material cost and weight, while enhancing thermal performance and structural integrity. The GFRP offers superior strength-to-weight ratio compared to steel.  Initial FEA will be conducted to validate structural load cases and vibration resistance.  Thermal simulation will be critical to assess heat dissipation capabilities through integrated channels, comparing against current performance.  Material selection will focus on cost-effective resins and fiber grades.  Prototype testing will involve drop tests, crush tests, and thermal cycling to validate performance and durability against regulatory requirements.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Optimize the cell-to-pack interconnects within the MG Motor Windsor battery pack by transitioning from individual busbars with bolted connections to a consolidated, high-conductivity stamped aluminum or copper foil assembly, integrated with laser welding.</a:t>
                      </a:r>
                    </a:p>
                  </a:txBody>
                  <a:tcPr/>
                </a:tc>
                <a:tc>
                  <a:txBody>
                    <a:bodyPr wrap="square"/>
                    <a:lstStyle/>
                    <a:p>
                      <a:pPr>
                        <a:defRPr sz="1000">
                          <a:latin typeface="Calibri"/>
                        </a:defRPr>
                      </a:pPr>
                      <a:r>
                        <a:t>The current bolted busbar system is labor-intensive and prone to connection resistance variations. A consolidated foil assembly will reduce part count, assembly time, and improve electrical conductivity, thus reducing resistive losses and heat generation.  Electrical simulations will be performed to model current distribution and voltage drop across the interconnects.  Thermal analysis will confirm reduced operating temperatures.  Accelerated life testing under high current cycling will validate the long-term reliability and robustness of the laser-welded connections against vibration and thermal expansion/contraction.</a:t>
                      </a:r>
                    </a:p>
                  </a:txBody>
                  <a:tcPr/>
                </a:tc>
                <a:tc>
                  <a:txBody>
                    <a:bodyPr wrap="square"/>
                    <a:lstStyle/>
                    <a:p>
                      <a:pPr>
                        <a:defRPr sz="1000">
                          <a:latin typeface="Calibri"/>
                        </a:defRPr>
                      </a:pPr>
                      <a:r>
                        <a:t>8000000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bolted busbar system is labor-intensive and prone to connection resistance variations. A consolidated foil assembly will reduce part count, assembly time, and improve electrical conductivity, thus reducing resistive losses and heat generation.  Electrical simulations will be performed to model current distribution and voltage drop across the interconnects.  Thermal analysis will confirm reduced operating temperatures.  Accelerated life testing under high current cycling will validate the long-term reliability and robustness of the laser-welded connections against vibration and thermal expansion/contraction.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Re-evaluate the thermal management strategy for the MG Motor Windsor battery pack by investigating a hybrid approach that combines passive air cooling through optimized vent design with targeted active liquid cooling for high-density heat zones, rather than a fully liquid-cooled system.</a:t>
                      </a:r>
                    </a:p>
                  </a:txBody>
                  <a:tcPr/>
                </a:tc>
                <a:tc>
                  <a:txBody>
                    <a:bodyPr wrap="square"/>
                    <a:lstStyle/>
                    <a:p>
                      <a:pPr>
                        <a:defRPr sz="1000">
                          <a:latin typeface="Calibri"/>
                        </a:defRPr>
                      </a:pPr>
                      <a:r>
                        <a:t>A fully liquid-cooled system can be complex and costly. By leveraging passive air cooling for ambient conditions and utilizing a simpler, localized liquid cooling loop only for critical heat-generating components (e.g., module connections, BMS), overall system cost and complexity can be reduced while maintaining adequate thermal performance. Computational Fluid Dynamics (CFD) will simulate airflow patterns and heat transfer. Thermal modeling will predict component temperatures under various load conditions.  On-vehicle testing with temperature sensors at key points will validate the effectiveness of the hybrid approach compared to the current system.</a:t>
                      </a:r>
                    </a:p>
                  </a:txBody>
                  <a:tcPr/>
                </a:tc>
                <a:tc>
                  <a:txBody>
                    <a:bodyPr wrap="square"/>
                    <a:lstStyle/>
                    <a:p>
                      <a:pPr>
                        <a:defRPr sz="1000">
                          <a:latin typeface="Calibri"/>
                        </a:defRPr>
                      </a:pPr>
                      <a:r>
                        <a:t>12000000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 fully liquid-cooled system can be complex and costly. By leveraging passive air cooling for ambient conditions and utilizing a simpler, localized liquid cooling loop only for critical heat-generating components (e.g., module connections, BMS), overall system cost and complexity can be reduced while maintaining adequate thermal performance. Computational Fluid Dynamics (CFD) will simulate airflow patterns and heat transfer. Thermal modeling will predict component temperatures under various load conditions.  On-vehicle testing with temperature sensors at key points will validate the effectiveness of the hybrid approach compared to the current system.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Simplify the battery management system (BMS) housing and mounting for the MG Motor Windsor battery pack by integrating the BMS electronics directly into the main battery enclosure structure, eliminating a separate housing and associated fasteners.</a:t>
                      </a:r>
                    </a:p>
                  </a:txBody>
                  <a:tcPr/>
                </a:tc>
                <a:tc>
                  <a:txBody>
                    <a:bodyPr wrap="square"/>
                    <a:lstStyle/>
                    <a:p>
                      <a:pPr>
                        <a:defRPr sz="1000">
                          <a:latin typeface="Calibri"/>
                        </a:defRPr>
                      </a:pPr>
                      <a:r>
                        <a:t>A dedicated BMS housing adds material, assembly steps, and potential points of failure.  Integrating the BMS directly into the battery pack's main structural component reduces part count and simplifies assembly.  This requires careful consideration of electromagnetic interference (EMI) shielding and sealing for environmental protection.  FEA will assess structural integrity with integrated electronics.  EMI testing will be performed to ensure compliance with automotive standards.  Environmental testing (e.g., ingress protection, thermal cycling) will validate the integrated solution's robustness.</a:t>
                      </a:r>
                    </a:p>
                  </a:txBody>
                  <a:tcPr/>
                </a:tc>
                <a:tc>
                  <a:txBody>
                    <a:bodyPr wrap="square"/>
                    <a:lstStyle/>
                    <a:p>
                      <a:pPr>
                        <a:defRPr sz="1000">
                          <a:latin typeface="Calibri"/>
                        </a:defRPr>
                      </a:pPr>
                      <a:r>
                        <a:t>3000000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 dedicated BMS housing adds material, assembly steps, and potential points of failure.  Integrating the BMS directly into the battery pack's main structural component reduces part count and simplifies assembly.  This requires careful consideration of electromagnetic interference (EMI) shielding and sealing for environmental protection.  FEA will assess structural integrity with integrated electronics.  EMI testing will be performed to ensure compliance with automotive standards.  Environmental testing (e.g., ingress protection, thermal cycling) will validate the integrated solution's robustness.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Replace the multi-piece, complex seal design for the MG Motor Windsor battery pack enclosure with a monolithic, co-extruded seal that incorporates varied durometers for different sealing functions (e.g., water ingress, dust exclusion, vibration dampening).</a:t>
                      </a:r>
                    </a:p>
                  </a:txBody>
                  <a:tcPr/>
                </a:tc>
                <a:tc>
                  <a:txBody>
                    <a:bodyPr wrap="square"/>
                    <a:lstStyle/>
                    <a:p>
                      <a:pPr>
                        <a:defRPr sz="1000">
                          <a:latin typeface="Calibri"/>
                        </a:defRPr>
                      </a:pPr>
                      <a:r>
                        <a:t>Multi-piece seals increase tooling costs, assembly complexity, and can lead to potential leak paths at interfaces. A co-extruded monolithic seal offers cost savings through reduced tooling and assembly, and improved sealing performance due to its continuous nature.  Material science will focus on selecting appropriate elastomers for durability and sealing.  Seal compression analysis and environmental ingress testing (water jet, dust chamber) will be performed.  Vibration testing of the sealed enclosure will ensure long-term sealing integrity.</a:t>
                      </a:r>
                    </a:p>
                  </a:txBody>
                  <a:tcPr/>
                </a:tc>
                <a:tc>
                  <a:txBody>
                    <a:bodyPr wrap="square"/>
                    <a:lstStyle/>
                    <a:p>
                      <a:pPr>
                        <a:defRPr sz="1000">
                          <a:latin typeface="Calibri"/>
                        </a:defRPr>
                      </a:pPr>
                      <a:r>
                        <a:t>1000000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Multi-piece seals increase tooling costs, assembly complexity, and can lead to potential leak paths at interfaces. A co-extruded monolithic seal offers cost savings through reduced tooling and assembly, and improved sealing performance due to its continuous nature.  Material science will focus on selecting appropriate elastomers for durability and sealing.  Seal compression analysis and environmental ingress testing (water jet, dust chamber) will be performed.  Vibration testing of the sealed enclosure will ensure long-term sealing integrity.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Investigate the feasibility of a 'smart' passive cooling system for the MG Motor Windsor battery pack that utilizes phase change materials (PCMs) strategically placed within the pack to absorb peak thermal loads, thereby reducing reliance on active cooling during transient high-demand scenarios.</a:t>
                      </a:r>
                    </a:p>
                  </a:txBody>
                  <a:tcPr/>
                </a:tc>
                <a:tc>
                  <a:txBody>
                    <a:bodyPr wrap="square"/>
                    <a:lstStyle/>
                    <a:p>
                      <a:pPr>
                        <a:defRPr sz="1000">
                          <a:latin typeface="Calibri"/>
                        </a:defRPr>
                      </a:pPr>
                      <a:r>
                        <a:t>PCMs can absorb significant amounts of heat during their phase transition, acting as a thermal buffer. This passive approach can mitigate thermal runaway risks and reduce the need for complex and energy-consuming active cooling systems during short, intense power demands.  Thermal modeling will be crucial to determine the optimal type and quantity of PCM, as well as its placement within the battery pack for maximum effectiveness.  Characterization of PCM thermal properties under cycling conditions will be essential.  On-vehicle testing simulating aggressive acceleration and deceleration cycles will validate the PCM's ability to manage peak temperatures and extend battery life.</a:t>
                      </a:r>
                    </a:p>
                  </a:txBody>
                  <a:tcPr/>
                </a:tc>
                <a:tc>
                  <a:txBody>
                    <a:bodyPr wrap="square"/>
                    <a:lstStyle/>
                    <a:p>
                      <a:pPr>
                        <a:defRPr sz="1000">
                          <a:latin typeface="Calibri"/>
                        </a:defRPr>
                      </a:pPr>
                      <a:r>
                        <a:t>6000000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PCMs can absorb significant amounts of heat during their phase transition, acting as a thermal buffer. This passive approach can mitigate thermal runaway risks and reduce the need for complex and energy-consuming active cooling systems during short, intense power demands.  Thermal modeling will be crucial to determine the optimal type and quantity of PCM, as well as its placement within the battery pack for maximum effectiveness.  Characterization of PCM thermal properties under cycling conditions will be essential.  On-vehicle testing simulating aggressive acceleration and deceleration cycles will validate the PCM's ability to manage peak temperatures and extend battery life.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
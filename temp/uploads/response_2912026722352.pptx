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Sheet1!$A$2:$A$24</c:f>
              <c:strCache>
                <c:ptCount val="23"/>
                <c:pt idx="0">
                  <c:v>2311-PRODUCT-ID-01</c:v>
                </c:pt>
                <c:pt idx="1">
                  <c:v>2311-PRODUCT-ID-02</c:v>
                </c:pt>
                <c:pt idx="2">
                  <c:v>2311-PRODUCT-ID-03</c:v>
                </c:pt>
                <c:pt idx="3">
                  <c:v>2311-PRODUCT-ID-04</c:v>
                </c:pt>
                <c:pt idx="4">
                  <c:v>2311-PRODUCT-ID-05</c:v>
                </c:pt>
                <c:pt idx="5">
                  <c:v>2311-PRODUCT-ID-06</c:v>
                </c:pt>
                <c:pt idx="6">
                  <c:v>2311-PRODUCT-ID-08</c:v>
                </c:pt>
                <c:pt idx="7">
                  <c:v>2311-PRODUCT-ID-10</c:v>
                </c:pt>
                <c:pt idx="8">
                  <c:v>2311-PRODUCT-ID-13</c:v>
                </c:pt>
                <c:pt idx="9">
                  <c:v>2311-PRODUCT-ID-15</c:v>
                </c:pt>
                <c:pt idx="10">
                  <c:v>2311-PRODUCT-ID-18</c:v>
                </c:pt>
                <c:pt idx="11">
                  <c:v>2311-PRODUCT-ID-19</c:v>
                </c:pt>
                <c:pt idx="12">
                  <c:v>2311-PRODUCT-ID-20</c:v>
                </c:pt>
                <c:pt idx="13">
                  <c:v>2311-PRODUCT-ID-21</c:v>
                </c:pt>
                <c:pt idx="14">
                  <c:v>2311-PRODUCT-ID-22</c:v>
                </c:pt>
                <c:pt idx="15">
                  <c:v>2311-PRODUCT-ID-23</c:v>
                </c:pt>
                <c:pt idx="16">
                  <c:v>2311-PRODUCT-ID-24</c:v>
                </c:pt>
                <c:pt idx="17">
                  <c:v>2311-PRODUCT-ID-25</c:v>
                </c:pt>
                <c:pt idx="18">
                  <c:v>2311-AI-ID-01</c:v>
                </c:pt>
                <c:pt idx="19">
                  <c:v>2311-AI-ID-02</c:v>
                </c:pt>
                <c:pt idx="20">
                  <c:v>AI-GEN-01</c:v>
                </c:pt>
                <c:pt idx="21">
                  <c:v>AI-GEN-02</c:v>
                </c:pt>
                <c:pt idx="22">
                  <c:v>AI-GEN-03</c:v>
                </c:pt>
              </c:strCache>
            </c:strRef>
          </c:cat>
          <c:val>
            <c:numRef>
              <c:f>Sheet1!$B$2:$B$24</c:f>
              <c:numCache>
                <c:formatCode>General</c:formatCode>
                <c:ptCount val="23"/>
                <c:pt idx="0">
                  <c:v>68.0</c:v>
                </c:pt>
                <c:pt idx="1">
                  <c:v>130.0</c:v>
                </c:pt>
                <c:pt idx="2">
                  <c:v>126.0</c:v>
                </c:pt>
                <c:pt idx="3">
                  <c:v>124.0</c:v>
                </c:pt>
                <c:pt idx="4">
                  <c:v>135.0</c:v>
                </c:pt>
                <c:pt idx="5">
                  <c:v>50.0</c:v>
                </c:pt>
                <c:pt idx="6">
                  <c:v>99.0</c:v>
                </c:pt>
                <c:pt idx="7">
                  <c:v>86.0</c:v>
                </c:pt>
                <c:pt idx="8">
                  <c:v>141.0</c:v>
                </c:pt>
                <c:pt idx="9">
                  <c:v>122.0</c:v>
                </c:pt>
                <c:pt idx="10">
                  <c:v>141.0</c:v>
                </c:pt>
                <c:pt idx="11">
                  <c:v>104.0</c:v>
                </c:pt>
                <c:pt idx="12">
                  <c:v>66.0</c:v>
                </c:pt>
                <c:pt idx="13">
                  <c:v>65.0</c:v>
                </c:pt>
                <c:pt idx="14">
                  <c:v>108.0</c:v>
                </c:pt>
                <c:pt idx="15">
                  <c:v>71.0</c:v>
                </c:pt>
                <c:pt idx="16">
                  <c:v>64.0</c:v>
                </c:pt>
                <c:pt idx="17">
                  <c:v>69.0</c:v>
                </c:pt>
                <c:pt idx="18">
                  <c:v>71.0</c:v>
                </c:pt>
                <c:pt idx="19">
                  <c:v>105.0</c:v>
                </c:pt>
                <c:pt idx="20">
                  <c:v>87.53</c:v>
                </c:pt>
                <c:pt idx="21">
                  <c:v>92.39</c:v>
                </c:pt>
                <c:pt idx="22">
                  <c:v>97.25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20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a:t>
                      </a:r>
                    </a:p>
                  </a:txBody>
                  <a:tcPr/>
                </a:tc>
                <a:tc>
                  <a:txBody>
                    <a:bodyPr wrap="square"/>
                    <a:lstStyle/>
                    <a:p>
                      <a:pPr>
                        <a:defRPr sz="1000">
                          <a:latin typeface="Calibri"/>
                        </a:defRPr>
                      </a:pPr>
                      <a:r>
                        <a:t>INR 130.00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a:t>
                      </a:r>
                    </a:p>
                  </a:txBody>
                  <a:tcPr/>
                </a:tc>
                <a:tc>
                  <a:txBody>
                    <a:bodyPr wrap="square"/>
                    <a:lstStyle/>
                    <a:p>
                      <a:pPr>
                        <a:defRPr sz="1000">
                          <a:latin typeface="Calibri"/>
                        </a:defRPr>
                      </a:pPr>
                      <a:r>
                        <a:t>INR 126.00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2311-PRODUCT-ID-04</a:t>
                      </a:r>
                    </a:p>
                  </a:txBody>
                  <a:tcPr/>
                </a:tc>
                <a:tc>
                  <a:txBody>
                    <a:bodyPr wrap="square"/>
                    <a:lstStyle/>
                    <a:p>
                      <a:pPr>
                        <a:defRPr sz="1000">
                          <a:latin typeface="Calibri"/>
                        </a:defRPr>
                      </a:pPr>
                      <a:r>
                        <a:t>Replace the Steel-Fuel Filler Door Assembly in MGI with a plastic assembly as in KIA.</a:t>
                      </a:r>
                    </a:p>
                  </a:txBody>
                  <a:tcPr/>
                </a:tc>
                <a:tc>
                  <a:txBody>
                    <a:bodyPr wrap="square"/>
                    <a:lstStyle/>
                    <a:p>
                      <a:pPr>
                        <a:defRPr sz="1000">
                          <a:latin typeface="Calibri"/>
                        </a:defRPr>
                      </a:pPr>
                      <a:r>
                        <a:t>N/A</a:t>
                      </a:r>
                    </a:p>
                  </a:txBody>
                  <a:tcPr/>
                </a:tc>
                <a:tc>
                  <a:txBody>
                    <a:bodyPr wrap="square"/>
                    <a:lstStyle/>
                    <a:p>
                      <a:pPr>
                        <a:defRPr sz="1000">
                          <a:latin typeface="Calibri"/>
                        </a:defRPr>
                      </a:pPr>
                      <a:r>
                        <a:t>INR 124.00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N/A</a:t>
                      </a:r>
                    </a:p>
                  </a:txBody>
                  <a:tcPr/>
                </a:tc>
                <a:tc>
                  <a:txBody>
                    <a:bodyPr wrap="square"/>
                    <a:lstStyle/>
                    <a:p>
                      <a:pPr>
                        <a:defRPr sz="1000">
                          <a:latin typeface="Calibri"/>
                        </a:defRPr>
                      </a:pPr>
                      <a:r>
                        <a:t>INR 135.00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2311-PRODUCT-ID-06</a:t>
                      </a:r>
                    </a:p>
                  </a:txBody>
                  <a:tcPr/>
                </a:tc>
                <a:tc>
                  <a:txBody>
                    <a:bodyPr wrap="square"/>
                    <a:lstStyle/>
                    <a:p>
                      <a:pPr>
                        <a:defRPr sz="1000">
                          <a:latin typeface="Calibri"/>
                        </a:defRPr>
                      </a:pPr>
                      <a:r>
                        <a:t>Change the design of the lug nut used in MGI with the design of the lug nut used in KIA.</a:t>
                      </a:r>
                    </a:p>
                    <a:p>
                      <a:pPr>
                        <a:defRPr sz="1000">
                          <a:latin typeface="Calibri"/>
                        </a:defRPr>
                      </a:pPr>
                      <a:r>
                        <a:t>Wheel lug nut in MGI-</a:t>
                      </a:r>
                    </a:p>
                    <a:p>
                      <a:pPr>
                        <a:defRPr sz="1000">
                          <a:latin typeface="Calibri"/>
                        </a:defRPr>
                      </a:pPr>
                      <a:r>
                        <a:t>Overall length - 31.3mm</a:t>
                      </a:r>
                    </a:p>
                    <a:p>
                      <a:pPr>
                        <a:defRPr sz="1000">
                          <a:latin typeface="Calibri"/>
                        </a:defRPr>
                      </a:pPr>
                      <a:r>
                        <a:t>Thread length - 27.95mm</a:t>
                      </a:r>
                    </a:p>
                    <a:p>
                      <a:pPr>
                        <a:defRPr sz="1000">
                          <a:latin typeface="Calibri"/>
                        </a:defRPr>
                      </a:pPr>
                      <a:r>
                        <a:t>Wheel lug nut in KIA-</a:t>
                      </a:r>
                    </a:p>
                    <a:p>
                      <a:pPr>
                        <a:defRPr sz="1000">
                          <a:latin typeface="Calibri"/>
                        </a:defRPr>
                      </a:pPr>
                      <a:r>
                        <a:t>Overall length - 27.5mm</a:t>
                      </a:r>
                    </a:p>
                    <a:p>
                      <a:pPr>
                        <a:defRPr sz="1000">
                          <a:latin typeface="Calibri"/>
                        </a:defRPr>
                      </a:pPr>
                      <a:r>
                        <a:t>Thread length - 15mm</a:t>
                      </a:r>
                    </a:p>
                  </a:txBody>
                  <a:tcPr/>
                </a:tc>
                <a:tc>
                  <a:txBody>
                    <a:bodyPr wrap="square"/>
                    <a:lstStyle/>
                    <a:p>
                      <a:pPr>
                        <a:defRPr sz="1000">
                          <a:latin typeface="Calibri"/>
                        </a:defRPr>
                      </a:pPr>
                      <a:r>
                        <a:t>N/A</a:t>
                      </a:r>
                    </a:p>
                  </a:txBody>
                  <a:tcPr/>
                </a:tc>
                <a:tc>
                  <a:txBody>
                    <a:bodyPr wrap="square"/>
                    <a:lstStyle/>
                    <a:p>
                      <a:pPr>
                        <a:defRPr sz="1000">
                          <a:latin typeface="Calibri"/>
                        </a:defRPr>
                      </a:pPr>
                      <a:r>
                        <a:t>INR 50.00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2311-PRODUCT-ID-08</a:t>
                      </a:r>
                    </a:p>
                  </a:txBody>
                  <a:tcPr/>
                </a:tc>
                <a:tc>
                  <a:txBody>
                    <a:bodyPr wrap="square"/>
                    <a:lstStyle/>
                    <a:p>
                      <a:pPr>
                        <a:defRPr sz="1000">
                          <a:latin typeface="Calibri"/>
                        </a:defRPr>
                      </a:pPr>
                      <a:r>
                        <a:t>Use adhesives to glue the NVH Foam onto the engine cover instead of using steel holders on provisions</a:t>
                      </a:r>
                    </a:p>
                  </a:txBody>
                  <a:tcPr/>
                </a:tc>
                <a:tc>
                  <a:txBody>
                    <a:bodyPr wrap="square"/>
                    <a:lstStyle/>
                    <a:p>
                      <a:pPr>
                        <a:defRPr sz="1000">
                          <a:latin typeface="Calibri"/>
                        </a:defRPr>
                      </a:pPr>
                      <a:r>
                        <a:t>N/A</a:t>
                      </a:r>
                    </a:p>
                  </a:txBody>
                  <a:tcPr/>
                </a:tc>
                <a:tc>
                  <a:txBody>
                    <a:bodyPr wrap="square"/>
                    <a:lstStyle/>
                    <a:p>
                      <a:pPr>
                        <a:defRPr sz="1000">
                          <a:latin typeface="Calibri"/>
                        </a:defRPr>
                      </a:pPr>
                      <a:r>
                        <a:t>INR 99.00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2311-PRODUCT-ID-10</a:t>
                      </a:r>
                    </a:p>
                  </a:txBody>
                  <a:tcPr/>
                </a:tc>
                <a:tc>
                  <a:txBody>
                    <a:bodyPr wrap="square"/>
                    <a:lstStyle/>
                    <a:p>
                      <a:pPr>
                        <a:defRPr sz="1000">
                          <a:latin typeface="Calibri"/>
                        </a:defRPr>
                      </a:pPr>
                      <a:r>
                        <a:t>Reduce the length of the Seat Release Straps found on the second and third-row seats</a:t>
                      </a:r>
                    </a:p>
                  </a:txBody>
                  <a:tcPr/>
                </a:tc>
                <a:tc>
                  <a:txBody>
                    <a:bodyPr wrap="square"/>
                    <a:lstStyle/>
                    <a:p>
                      <a:pPr>
                        <a:defRPr sz="1000">
                          <a:latin typeface="Calibri"/>
                        </a:defRPr>
                      </a:pPr>
                      <a:r>
                        <a:t>N/A</a:t>
                      </a:r>
                    </a:p>
                  </a:txBody>
                  <a:tcPr/>
                </a:tc>
                <a:tc>
                  <a:txBody>
                    <a:bodyPr wrap="square"/>
                    <a:lstStyle/>
                    <a:p>
                      <a:pPr>
                        <a:defRPr sz="1000">
                          <a:latin typeface="Calibri"/>
                        </a:defRPr>
                      </a:pPr>
                      <a:r>
                        <a:t>INR 86.00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a:t>
                      </a:r>
                    </a:p>
                  </a:txBody>
                  <a:tcPr/>
                </a:tc>
                <a:tc>
                  <a:txBody>
                    <a:bodyPr wrap="square"/>
                    <a:lstStyle/>
                    <a:p>
                      <a:pPr>
                        <a:defRPr sz="1000">
                          <a:latin typeface="Calibri"/>
                        </a:defRPr>
                      </a:pPr>
                      <a:r>
                        <a:t>INR 141.00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2311-PRODUCT-ID-15</a:t>
                      </a:r>
                    </a:p>
                  </a:txBody>
                  <a:tcPr/>
                </a:tc>
                <a:tc>
                  <a:txBody>
                    <a:bodyPr wrap="square"/>
                    <a:lstStyle/>
                    <a:p>
                      <a:pPr>
                        <a:defRPr sz="1000">
                          <a:latin typeface="Calibri"/>
                        </a:defRPr>
                      </a:pPr>
                      <a:r>
                        <a:t>De-content the rubber seal provided on the roller arm of each door</a:t>
                      </a:r>
                    </a:p>
                  </a:txBody>
                  <a:tcPr/>
                </a:tc>
                <a:tc>
                  <a:txBody>
                    <a:bodyPr wrap="square"/>
                    <a:lstStyle/>
                    <a:p>
                      <a:pPr>
                        <a:defRPr sz="1000">
                          <a:latin typeface="Calibri"/>
                        </a:defRPr>
                      </a:pPr>
                      <a:r>
                        <a:t>N/A</a:t>
                      </a:r>
                    </a:p>
                  </a:txBody>
                  <a:tcPr/>
                </a:tc>
                <a:tc>
                  <a:txBody>
                    <a:bodyPr wrap="square"/>
                    <a:lstStyle/>
                    <a:p>
                      <a:pPr>
                        <a:defRPr sz="1000">
                          <a:latin typeface="Calibri"/>
                        </a:defRPr>
                      </a:pPr>
                      <a:r>
                        <a:t>INR 122.00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N/A</a:t>
                      </a:r>
                    </a:p>
                  </a:txBody>
                  <a:tcPr/>
                </a:tc>
                <a:tc>
                  <a:txBody>
                    <a:bodyPr wrap="square"/>
                    <a:lstStyle/>
                    <a:p>
                      <a:pPr>
                        <a:defRPr sz="1000">
                          <a:latin typeface="Calibri"/>
                        </a:defRPr>
                      </a:pPr>
                      <a:r>
                        <a:t>INR 141.00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2311-PRODUCT-ID-19</a:t>
                      </a:r>
                    </a:p>
                  </a:txBody>
                  <a:tcPr/>
                </a:tc>
                <a:tc>
                  <a:txBody>
                    <a:bodyPr wrap="square"/>
                    <a:lstStyle/>
                    <a:p>
                      <a:pPr>
                        <a:defRPr sz="1000">
                          <a:latin typeface="Calibri"/>
                        </a:defRPr>
                      </a:pPr>
                      <a:r>
                        <a:t>Utilize the single-piece rubber hose instead of the 2-piece rubber hose with a plastic T-connector.</a:t>
                      </a:r>
                    </a:p>
                  </a:txBody>
                  <a:tcPr/>
                </a:tc>
                <a:tc>
                  <a:txBody>
                    <a:bodyPr wrap="square"/>
                    <a:lstStyle/>
                    <a:p>
                      <a:pPr>
                        <a:defRPr sz="1000">
                          <a:latin typeface="Calibri"/>
                        </a:defRPr>
                      </a:pPr>
                      <a:r>
                        <a:t>N/A</a:t>
                      </a:r>
                    </a:p>
                  </a:txBody>
                  <a:tcPr/>
                </a:tc>
                <a:tc>
                  <a:txBody>
                    <a:bodyPr wrap="square"/>
                    <a:lstStyle/>
                    <a:p>
                      <a:pPr>
                        <a:defRPr sz="1000">
                          <a:latin typeface="Calibri"/>
                        </a:defRPr>
                      </a:pPr>
                      <a:r>
                        <a:t>INR 104.00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2311-PRODUCT-ID-20</a:t>
                      </a:r>
                    </a:p>
                  </a:txBody>
                  <a:tcPr/>
                </a:tc>
                <a:tc>
                  <a:txBody>
                    <a:bodyPr wrap="square"/>
                    <a:lstStyle/>
                    <a:p>
                      <a:pPr>
                        <a:defRPr sz="1000">
                          <a:latin typeface="Calibri"/>
                        </a:defRPr>
                      </a:pPr>
                      <a:r>
                        <a:t>Reduce the height of the Headrest Rod Receptacle from 11.4mm to 8.5mm</a:t>
                      </a:r>
                    </a:p>
                  </a:txBody>
                  <a:tcPr/>
                </a:tc>
                <a:tc>
                  <a:txBody>
                    <a:bodyPr wrap="square"/>
                    <a:lstStyle/>
                    <a:p>
                      <a:pPr>
                        <a:defRPr sz="1000">
                          <a:latin typeface="Calibri"/>
                        </a:defRPr>
                      </a:pPr>
                      <a:r>
                        <a:t>N/A</a:t>
                      </a:r>
                    </a:p>
                  </a:txBody>
                  <a:tcPr/>
                </a:tc>
                <a:tc>
                  <a:txBody>
                    <a:bodyPr wrap="square"/>
                    <a:lstStyle/>
                    <a:p>
                      <a:pPr>
                        <a:defRPr sz="1000">
                          <a:latin typeface="Calibri"/>
                        </a:defRPr>
                      </a:pPr>
                      <a:r>
                        <a:t>INR 66.00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N/A</a:t>
                      </a:r>
                    </a:p>
                  </a:txBody>
                  <a:tcPr/>
                </a:tc>
                <a:tc>
                  <a:txBody>
                    <a:bodyPr wrap="square"/>
                    <a:lstStyle/>
                    <a:p>
                      <a:pPr>
                        <a:defRPr sz="1000">
                          <a:latin typeface="Calibri"/>
                        </a:defRPr>
                      </a:pPr>
                      <a:r>
                        <a:t>INR 65.00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2311-PRODUCT-ID-22</a:t>
                      </a:r>
                    </a:p>
                  </a:txBody>
                  <a:tcPr/>
                </a:tc>
                <a:tc>
                  <a:txBody>
                    <a:bodyPr wrap="square"/>
                    <a:lstStyle/>
                    <a:p>
                      <a:pPr>
                        <a:defRPr sz="1000">
                          <a:latin typeface="Calibri"/>
                        </a:defRPr>
                      </a:pPr>
                      <a:r>
                        <a:t>De-content the plastic support trims found within the storage pocket flaps behind the LH and RH front seats</a:t>
                      </a:r>
                    </a:p>
                  </a:txBody>
                  <a:tcPr/>
                </a:tc>
                <a:tc>
                  <a:txBody>
                    <a:bodyPr wrap="square"/>
                    <a:lstStyle/>
                    <a:p>
                      <a:pPr>
                        <a:defRPr sz="1000">
                          <a:latin typeface="Calibri"/>
                        </a:defRPr>
                      </a:pPr>
                      <a:r>
                        <a:t>N/A</a:t>
                      </a:r>
                    </a:p>
                  </a:txBody>
                  <a:tcPr/>
                </a:tc>
                <a:tc>
                  <a:txBody>
                    <a:bodyPr wrap="square"/>
                    <a:lstStyle/>
                    <a:p>
                      <a:pPr>
                        <a:defRPr sz="1000">
                          <a:latin typeface="Calibri"/>
                        </a:defRPr>
                      </a:pPr>
                      <a:r>
                        <a:t>INR 108.00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2311-PRODUCT-ID-23</a:t>
                      </a:r>
                    </a:p>
                  </a:txBody>
                  <a:tcPr/>
                </a:tc>
                <a:tc>
                  <a:txBody>
                    <a:bodyPr wrap="square"/>
                    <a:lstStyle/>
                    <a:p>
                      <a:pPr>
                        <a:defRPr sz="1000">
                          <a:latin typeface="Calibri"/>
                        </a:defRPr>
                      </a:pPr>
                      <a:r>
                        <a:t>Redesign the Tailgate Bumper Stops in MGI into an 'L' shape reducing the length from 74mm to 40mm</a:t>
                      </a:r>
                    </a:p>
                  </a:txBody>
                  <a:tcPr/>
                </a:tc>
                <a:tc>
                  <a:txBody>
                    <a:bodyPr wrap="square"/>
                    <a:lstStyle/>
                    <a:p>
                      <a:pPr>
                        <a:defRPr sz="1000">
                          <a:latin typeface="Calibri"/>
                        </a:defRPr>
                      </a:pPr>
                      <a:r>
                        <a:t>N/A</a:t>
                      </a:r>
                    </a:p>
                  </a:txBody>
                  <a:tcPr/>
                </a:tc>
                <a:tc>
                  <a:txBody>
                    <a:bodyPr wrap="square"/>
                    <a:lstStyle/>
                    <a:p>
                      <a:pPr>
                        <a:defRPr sz="1000">
                          <a:latin typeface="Calibri"/>
                        </a:defRPr>
                      </a:pPr>
                      <a:r>
                        <a:t>INR 71.00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2311-PRODUCT-ID-24</a:t>
                      </a:r>
                    </a:p>
                  </a:txBody>
                  <a:tcPr/>
                </a:tc>
                <a:tc>
                  <a:txBody>
                    <a:bodyPr wrap="square"/>
                    <a:lstStyle/>
                    <a:p>
                      <a:pPr>
                        <a:defRPr sz="1000">
                          <a:latin typeface="Calibri"/>
                        </a:defRPr>
                      </a:pPr>
                      <a:r>
                        <a:t>Eliminate the hooks from the receptacle trims found on the RH side of the headrest assemblies reducing the overall length from 53.3mm to 40mm</a:t>
                      </a:r>
                    </a:p>
                  </a:txBody>
                  <a:tcPr/>
                </a:tc>
                <a:tc>
                  <a:txBody>
                    <a:bodyPr wrap="square"/>
                    <a:lstStyle/>
                    <a:p>
                      <a:pPr>
                        <a:defRPr sz="1000">
                          <a:latin typeface="Calibri"/>
                        </a:defRPr>
                      </a:pPr>
                      <a:r>
                        <a:t>N/A</a:t>
                      </a:r>
                    </a:p>
                  </a:txBody>
                  <a:tcPr/>
                </a:tc>
                <a:tc>
                  <a:txBody>
                    <a:bodyPr wrap="square"/>
                    <a:lstStyle/>
                    <a:p>
                      <a:pPr>
                        <a:defRPr sz="1000">
                          <a:latin typeface="Calibri"/>
                        </a:defRPr>
                      </a:pPr>
                      <a:r>
                        <a:t>INR 64.00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2311-PRODUCT-ID-25</a:t>
                      </a:r>
                    </a:p>
                  </a:txBody>
                  <a:tcPr/>
                </a:tc>
                <a:tc>
                  <a:txBody>
                    <a:bodyPr wrap="square"/>
                    <a:lstStyle/>
                    <a:p>
                      <a:pPr>
                        <a:defRPr sz="1000">
                          <a:latin typeface="Calibri"/>
                        </a:defRPr>
                      </a:pPr>
                      <a:r>
                        <a:t>Reduce the overall length of the Windshield Washer Fluid Reservoir neck by 30mm</a:t>
                      </a:r>
                    </a:p>
                  </a:txBody>
                  <a:tcPr/>
                </a:tc>
                <a:tc>
                  <a:txBody>
                    <a:bodyPr wrap="square"/>
                    <a:lstStyle/>
                    <a:p>
                      <a:pPr>
                        <a:defRPr sz="1000">
                          <a:latin typeface="Calibri"/>
                        </a:defRPr>
                      </a:pPr>
                      <a:r>
                        <a:t>N/A</a:t>
                      </a:r>
                    </a:p>
                  </a:txBody>
                  <a:tcPr/>
                </a:tc>
                <a:tc>
                  <a:txBody>
                    <a:bodyPr wrap="square"/>
                    <a:lstStyle/>
                    <a:p>
                      <a:pPr>
                        <a:defRPr sz="1000">
                          <a:latin typeface="Calibri"/>
                        </a:defRPr>
                      </a:pPr>
                      <a:r>
                        <a:t>INR 69.00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2311-AI-ID-01</a:t>
                      </a:r>
                    </a:p>
                  </a:txBody>
                  <a:tcPr/>
                </a:tc>
                <a:tc>
                  <a:txBody>
                    <a:bodyPr wrap="square"/>
                    <a:lstStyle/>
                    <a:p>
                      <a:pPr>
                        <a:defRPr sz="1000">
                          <a:latin typeface="Calibri"/>
                        </a:defRPr>
                      </a:pPr>
                      <a:r>
                        <a:t>Route the air filter bypass hose through the left of the engine assembly (left of the engine oil inlet) and thereby reduce 220mm in length.</a:t>
                      </a:r>
                    </a:p>
                  </a:txBody>
                  <a:tcPr/>
                </a:tc>
                <a:tc>
                  <a:txBody>
                    <a:bodyPr wrap="square"/>
                    <a:lstStyle/>
                    <a:p>
                      <a:pPr>
                        <a:defRPr sz="1000">
                          <a:latin typeface="Calibri"/>
                        </a:defRPr>
                      </a:pPr>
                      <a:r>
                        <a:t>N/A</a:t>
                      </a:r>
                    </a:p>
                  </a:txBody>
                  <a:tcPr/>
                </a:tc>
                <a:tc>
                  <a:txBody>
                    <a:bodyPr wrap="square"/>
                    <a:lstStyle/>
                    <a:p>
                      <a:pPr>
                        <a:defRPr sz="1000">
                          <a:latin typeface="Calibri"/>
                        </a:defRPr>
                      </a:pPr>
                      <a:r>
                        <a:t>INR 71.00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2311-AI-ID-02</a:t>
                      </a:r>
                    </a:p>
                  </a:txBody>
                  <a:tcPr/>
                </a:tc>
                <a:tc>
                  <a:txBody>
                    <a:bodyPr wrap="square"/>
                    <a:lstStyle/>
                    <a:p>
                      <a:pPr>
                        <a:defRPr sz="1000">
                          <a:latin typeface="Calibri"/>
                        </a:defRPr>
                      </a:pPr>
                      <a:r>
                        <a:t>Replace PP-T20 with PP-TD30 in the manufacture of the Air Filter Upper and Bottom Casings within the air intake assembly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105.00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Extend fastener optimization approach #1 for nan</a:t>
                      </a:r>
                    </a:p>
                  </a:txBody>
                  <a:tcPr/>
                </a:tc>
                <a:tc>
                  <a:txBody>
                    <a:bodyPr wrap="square"/>
                    <a:lstStyle/>
                    <a:p>
                      <a:pPr>
                        <a:defRPr sz="1000">
                          <a:latin typeface="Calibri"/>
                        </a:defRPr>
                      </a:pPr>
                      <a:r>
                        <a:t>N/A</a:t>
                      </a:r>
                    </a:p>
                  </a:txBody>
                  <a:tcPr/>
                </a:tc>
                <a:tc>
                  <a:txBody>
                    <a:bodyPr wrap="square"/>
                    <a:lstStyle/>
                    <a:p>
                      <a:pPr>
                        <a:defRPr sz="1000">
                          <a:latin typeface="Calibri"/>
                        </a:defRPr>
                      </a:pPr>
                      <a:r>
                        <a:t>INR 87.53</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Extend fastener optimization approach #2 for nan</a:t>
                      </a:r>
                    </a:p>
                  </a:txBody>
                  <a:tcPr/>
                </a:tc>
                <a:tc>
                  <a:txBody>
                    <a:bodyPr wrap="square"/>
                    <a:lstStyle/>
                    <a:p>
                      <a:pPr>
                        <a:defRPr sz="1000">
                          <a:latin typeface="Calibri"/>
                        </a:defRPr>
                      </a:pPr>
                      <a:r>
                        <a:t>N/A</a:t>
                      </a:r>
                    </a:p>
                  </a:txBody>
                  <a:tcPr/>
                </a:tc>
                <a:tc>
                  <a:txBody>
                    <a:bodyPr wrap="square"/>
                    <a:lstStyle/>
                    <a:p>
                      <a:pPr>
                        <a:defRPr sz="1000">
                          <a:latin typeface="Calibri"/>
                        </a:defRPr>
                      </a:pPr>
                      <a:r>
                        <a:t>INR 92.39</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Extend fastener optimization approach #3 for nan</a:t>
                      </a:r>
                    </a:p>
                  </a:txBody>
                  <a:tcPr/>
                </a:tc>
                <a:tc>
                  <a:txBody>
                    <a:bodyPr wrap="square"/>
                    <a:lstStyle/>
                    <a:p>
                      <a:pPr>
                        <a:defRPr sz="1000">
                          <a:latin typeface="Calibri"/>
                        </a:defRPr>
                      </a:pPr>
                      <a:r>
                        <a:t>N/A</a:t>
                      </a:r>
                    </a:p>
                  </a:txBody>
                  <a:tcPr/>
                </a:tc>
                <a:tc>
                  <a:txBody>
                    <a:bodyPr wrap="square"/>
                    <a:lstStyle/>
                    <a:p>
                      <a:pPr>
                        <a:defRPr sz="1000">
                          <a:latin typeface="Calibri"/>
                        </a:defRPr>
                      </a:pPr>
                      <a:r>
                        <a:t>INR 97.25</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23</a:t>
            </a:r>
          </a:p>
          <a:p>
            <a:pPr>
              <a:defRPr sz="1000">
                <a:latin typeface="Calibri"/>
              </a:defRPr>
            </a:pPr>
            <a:r>
              <a:t>• Total Potential Savings: INR 2,222.17</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20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23 ideas analyzed.</a:t>
            </a:r>
          </a:p>
          <a:p>
            <a:pPr>
              <a:defRPr sz="1800">
                <a:latin typeface="Calibri"/>
              </a:defRPr>
            </a:pPr>
            <a:r>
              <a:t>Total Savings: INR 2,222.17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
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pPr>
              <a:defRPr sz="1600">
                <a:latin typeface="Calibri"/>
              </a:defRPr>
            </a:pPr>
            <a:r>
              <a:t>Cost Savings by Idea</a:t>
            </a:r>
          </a:p>
        </c:rich>
      </c:tx>
      <c:layout/>
      <c:overlay val="0"/>
    </c:title>
    <c:autoTitleDeleted val="0"/>
    <c:plotArea>
      <c:barChart>
        <c:barDir val="col"/>
        <c:grouping val="clustered"/>
        <c:ser>
          <c:idx val="0"/>
          <c:order val="0"/>
          <c:tx>
            <c:strRef>
              <c:f>Sheet1!$B$1</c:f>
              <c:strCache>
                <c:ptCount val="1"/>
                <c:pt idx="0">
                  <c:v>Savings (INR)</c:v>
                </c:pt>
              </c:strCache>
            </c:strRef>
          </c:tx>
          <c:cat>
            <c:strRef>
              <c:f>Sheet1!$A$2:$A$57</c:f>
              <c:strCache>
                <c:ptCount val="56"/>
                <c:pt idx="0">
                  <c:v>2311-ET-ID-03</c:v>
                </c:pt>
                <c:pt idx="1">
                  <c:v>2311-DA-ID-06</c:v>
                </c:pt>
                <c:pt idx="2">
                  <c:v>2311-DA-ID-22</c:v>
                </c:pt>
                <c:pt idx="3">
                  <c:v>2311-DA-ID-26</c:v>
                </c:pt>
                <c:pt idx="4">
                  <c:v>2311-SS-ID-10</c:v>
                </c:pt>
                <c:pt idx="5">
                  <c:v>2311-DA-ID-35</c:v>
                </c:pt>
                <c:pt idx="6">
                  <c:v>2311-IT-ID-26</c:v>
                </c:pt>
                <c:pt idx="7">
                  <c:v>2311-IT-ID-16</c:v>
                </c:pt>
                <c:pt idx="8">
                  <c:v>2311-ET-ID-27</c:v>
                </c:pt>
                <c:pt idx="9">
                  <c:v>2311-IT-ID-06</c:v>
                </c:pt>
                <c:pt idx="10">
                  <c:v>2311-FS-ID-02</c:v>
                </c:pt>
                <c:pt idx="11">
                  <c:v>2311-SS-ID-01</c:v>
                </c:pt>
                <c:pt idx="12">
                  <c:v>2311-DA-ID-07</c:v>
                </c:pt>
                <c:pt idx="13">
                  <c:v>2311-EL-ID-01</c:v>
                </c:pt>
                <c:pt idx="14">
                  <c:v>2311-FS-ID-01</c:v>
                </c:pt>
                <c:pt idx="15">
                  <c:v>2311-IP-ID-05</c:v>
                </c:pt>
                <c:pt idx="16">
                  <c:v>2311-PRODUCT-ID-13</c:v>
                </c:pt>
                <c:pt idx="17">
                  <c:v>2311-PRODUCT-ID-18</c:v>
                </c:pt>
                <c:pt idx="18">
                  <c:v>2311-ET-ID-17</c:v>
                </c:pt>
                <c:pt idx="19">
                  <c:v>2311-IP-ID-16</c:v>
                </c:pt>
                <c:pt idx="20">
                  <c:v>2311-IT-ID-17</c:v>
                </c:pt>
                <c:pt idx="21">
                  <c:v>2311-EL-ID-25</c:v>
                </c:pt>
                <c:pt idx="22">
                  <c:v>2311-EL-ID-17</c:v>
                </c:pt>
                <c:pt idx="23">
                  <c:v>2311-IP-ID-11</c:v>
                </c:pt>
                <c:pt idx="24">
                  <c:v>2311-EL-ID-11</c:v>
                </c:pt>
                <c:pt idx="25">
                  <c:v>2311-IT-ID-08</c:v>
                </c:pt>
                <c:pt idx="26">
                  <c:v>2311-EX-ID-01</c:v>
                </c:pt>
                <c:pt idx="27">
                  <c:v>2311-EL-ID-08</c:v>
                </c:pt>
                <c:pt idx="28">
                  <c:v>2311-DA-ID-10</c:v>
                </c:pt>
                <c:pt idx="29">
                  <c:v>2311-PRODUCT-ID-05</c:v>
                </c:pt>
                <c:pt idx="30">
                  <c:v>2311-BIW-ID-06</c:v>
                </c:pt>
                <c:pt idx="31">
                  <c:v>2311-DA-ID-25</c:v>
                </c:pt>
                <c:pt idx="32">
                  <c:v>2311-ET-ID-20</c:v>
                </c:pt>
                <c:pt idx="33">
                  <c:v>2311-ET-ID-07</c:v>
                </c:pt>
                <c:pt idx="34">
                  <c:v>2311-ET-ID-24</c:v>
                </c:pt>
                <c:pt idx="35">
                  <c:v>2311-DA-ID-12</c:v>
                </c:pt>
                <c:pt idx="36">
                  <c:v>2311-ET-ID-11</c:v>
                </c:pt>
                <c:pt idx="37">
                  <c:v>2311-IP-ID-01</c:v>
                </c:pt>
                <c:pt idx="38">
                  <c:v>2311-ST-ID-03</c:v>
                </c:pt>
                <c:pt idx="39">
                  <c:v>2311-IP-ID-10</c:v>
                </c:pt>
                <c:pt idx="40">
                  <c:v>2311-WT-ID-01</c:v>
                </c:pt>
                <c:pt idx="41">
                  <c:v>2311-BIW-ID-02</c:v>
                </c:pt>
                <c:pt idx="42">
                  <c:v>2311-PRODUCT-ID-02</c:v>
                </c:pt>
                <c:pt idx="43">
                  <c:v>2311-DA-ID-18</c:v>
                </c:pt>
                <c:pt idx="44">
                  <c:v>2311-DA-ID-20</c:v>
                </c:pt>
                <c:pt idx="45">
                  <c:v>2311-DA-ID-37</c:v>
                </c:pt>
                <c:pt idx="46">
                  <c:v>2311-EL-ID-23</c:v>
                </c:pt>
                <c:pt idx="47">
                  <c:v>2311-SP-ID-03</c:v>
                </c:pt>
                <c:pt idx="48">
                  <c:v>2311-DA-ID-27</c:v>
                </c:pt>
                <c:pt idx="49">
                  <c:v>2311-PRODUCT-ID-03</c:v>
                </c:pt>
                <c:pt idx="50">
                  <c:v>AI-GEN-01</c:v>
                </c:pt>
                <c:pt idx="51">
                  <c:v>AI-GEN-02</c:v>
                </c:pt>
                <c:pt idx="52">
                  <c:v>AI-GEN-03</c:v>
                </c:pt>
                <c:pt idx="53">
                  <c:v>AI-GEN-04</c:v>
                </c:pt>
                <c:pt idx="54">
                  <c:v>AI-GEN-05</c:v>
                </c:pt>
                <c:pt idx="55">
                  <c:v>AI-GEN-06</c:v>
                </c:pt>
              </c:strCache>
            </c:strRef>
          </c:cat>
          <c:val>
            <c:numRef>
              <c:f>Sheet1!$B$2:$B$57</c:f>
              <c:numCache>
                <c:formatCode>General</c:formatCode>
                <c:ptCount val="56"/>
                <c:pt idx="0">
                  <c:v>148.0</c:v>
                </c:pt>
                <c:pt idx="1">
                  <c:v>148.0</c:v>
                </c:pt>
                <c:pt idx="2">
                  <c:v>148.0</c:v>
                </c:pt>
                <c:pt idx="3">
                  <c:v>147.0</c:v>
                </c:pt>
                <c:pt idx="4">
                  <c:v>147.0</c:v>
                </c:pt>
                <c:pt idx="5">
                  <c:v>147.0</c:v>
                </c:pt>
                <c:pt idx="6">
                  <c:v>145.0</c:v>
                </c:pt>
                <c:pt idx="7">
                  <c:v>145.0</c:v>
                </c:pt>
                <c:pt idx="8">
                  <c:v>145.0</c:v>
                </c:pt>
                <c:pt idx="9">
                  <c:v>144.0</c:v>
                </c:pt>
                <c:pt idx="10">
                  <c:v>144.0</c:v>
                </c:pt>
                <c:pt idx="11">
                  <c:v>144.0</c:v>
                </c:pt>
                <c:pt idx="12">
                  <c:v>143.0</c:v>
                </c:pt>
                <c:pt idx="13">
                  <c:v>142.0</c:v>
                </c:pt>
                <c:pt idx="14">
                  <c:v>142.0</c:v>
                </c:pt>
                <c:pt idx="15">
                  <c:v>141.0</c:v>
                </c:pt>
                <c:pt idx="16">
                  <c:v>141.0</c:v>
                </c:pt>
                <c:pt idx="17">
                  <c:v>141.0</c:v>
                </c:pt>
                <c:pt idx="18">
                  <c:v>141.0</c:v>
                </c:pt>
                <c:pt idx="19">
                  <c:v>140.0</c:v>
                </c:pt>
                <c:pt idx="20">
                  <c:v>140.0</c:v>
                </c:pt>
                <c:pt idx="21">
                  <c:v>140.0</c:v>
                </c:pt>
                <c:pt idx="22">
                  <c:v>139.0</c:v>
                </c:pt>
                <c:pt idx="23">
                  <c:v>138.0</c:v>
                </c:pt>
                <c:pt idx="24">
                  <c:v>137.0</c:v>
                </c:pt>
                <c:pt idx="25">
                  <c:v>137.0</c:v>
                </c:pt>
                <c:pt idx="26">
                  <c:v>136.0</c:v>
                </c:pt>
                <c:pt idx="27">
                  <c:v>135.0</c:v>
                </c:pt>
                <c:pt idx="28">
                  <c:v>135.0</c:v>
                </c:pt>
                <c:pt idx="29">
                  <c:v>135.0</c:v>
                </c:pt>
                <c:pt idx="30">
                  <c:v>135.0</c:v>
                </c:pt>
                <c:pt idx="31">
                  <c:v>134.0</c:v>
                </c:pt>
                <c:pt idx="32">
                  <c:v>133.0</c:v>
                </c:pt>
                <c:pt idx="33">
                  <c:v>133.0</c:v>
                </c:pt>
                <c:pt idx="34">
                  <c:v>132.0</c:v>
                </c:pt>
                <c:pt idx="35">
                  <c:v>131.0</c:v>
                </c:pt>
                <c:pt idx="36">
                  <c:v>131.0</c:v>
                </c:pt>
                <c:pt idx="37">
                  <c:v>131.0</c:v>
                </c:pt>
                <c:pt idx="38">
                  <c:v>131.0</c:v>
                </c:pt>
                <c:pt idx="39">
                  <c:v>130.0</c:v>
                </c:pt>
                <c:pt idx="40">
                  <c:v>130.0</c:v>
                </c:pt>
                <c:pt idx="41">
                  <c:v>130.0</c:v>
                </c:pt>
                <c:pt idx="42">
                  <c:v>130.0</c:v>
                </c:pt>
                <c:pt idx="43">
                  <c:v>129.0</c:v>
                </c:pt>
                <c:pt idx="44">
                  <c:v>129.0</c:v>
                </c:pt>
                <c:pt idx="45">
                  <c:v>127.0</c:v>
                </c:pt>
                <c:pt idx="46">
                  <c:v>127.0</c:v>
                </c:pt>
                <c:pt idx="47">
                  <c:v>127.0</c:v>
                </c:pt>
                <c:pt idx="48">
                  <c:v>126.0</c:v>
                </c:pt>
                <c:pt idx="49">
                  <c:v>126.0</c:v>
                </c:pt>
                <c:pt idx="50">
                  <c:v>0</c:v>
                </c:pt>
                <c:pt idx="51">
                  <c:v>0</c:v>
                </c:pt>
                <c:pt idx="52">
                  <c:v>0</c:v>
                </c:pt>
                <c:pt idx="53">
                  <c:v>0</c:v>
                </c:pt>
                <c:pt idx="54">
                  <c:v>0</c:v>
                </c:pt>
                <c:pt idx="55">
                  <c:v>0</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chart>
    <c:title>
      <c:tx>
        <c:rich>
          <a:bodyPr/>
          <a:lstStyle/>
          <a:p>
            <a:pPr>
              <a:defRPr sz="1600">
                <a:latin typeface="Calibri"/>
              </a:defRPr>
            </a:pPr>
            <a:r>
              <a:t>Ideas Status Distribution</a:t>
            </a:r>
          </a:p>
        </c:rich>
      </c:tx>
      <c:layout/>
      <c:overlay val="0"/>
    </c:title>
    <c:autoTitleDeleted val="0"/>
    <c:plotArea>
      <c:pieChart>
        <c:varyColors val="1"/>
        <c:ser>
          <c:idx val="0"/>
          <c:order val="0"/>
          <c:tx>
            <c:strRef>
              <c:f>Sheet1!$B$1</c:f>
              <c:strCache>
                <c:ptCount val="1"/>
                <c:pt idx="0">
                  <c:v>Status</c:v>
                </c:pt>
              </c:strCache>
            </c:strRef>
          </c:tx>
          <c:dPt>
            <c:idx val="0"/>
            <c:spPr>
              <a:solidFill>
                <a:srgbClr val="0000FF"/>
              </a:solidFill>
            </c:spPr>
          </c:dPt>
          <c:dPt>
            <c:idx val="1"/>
            <c:spPr>
              <a:solidFill>
                <a:srgbClr val="FF0000"/>
              </a:solidFill>
            </c:spPr>
          </c:dPt>
          <c:dPt>
            <c:idx val="2"/>
            <c:spPr>
              <a:solidFill>
                <a:srgbClr val="008000"/>
              </a:solidFill>
            </c:spPr>
          </c:dPt>
          <c:dPt>
            <c:idx val="3"/>
            <c:spPr>
              <a:solidFill>
                <a:srgbClr val="800080"/>
              </a:solidFill>
            </c:spPr>
          </c:dPt>
          <c:cat>
            <c:strRef>
              <c:f>Sheet1!$A$2:$A$5</c:f>
              <c:strCache>
                <c:ptCount val="4"/>
                <c:pt idx="0">
                  <c:v>Implemented</c:v>
                </c:pt>
                <c:pt idx="1">
                  <c:v>Status OK</c:v>
                </c:pt>
                <c:pt idx="2">
                  <c:v>Status TBD</c:v>
                </c:pt>
                <c:pt idx="3">
                  <c:v>Status NG</c:v>
                </c:pt>
              </c:strCache>
            </c:strRef>
          </c:cat>
          <c:val>
            <c:numRef>
              <c:f>Sheet1!$B$2:$B$5</c:f>
              <c:numCache>
                <c:formatCode>General</c:formatCode>
                <c:ptCount val="4"/>
                <c:pt idx="0">
                  <c:v>0</c:v>
                </c:pt>
                <c:pt idx="1">
                  <c:v>2</c:v>
                </c:pt>
                <c:pt idx="2">
                  <c:v>16</c:v>
                </c:pt>
                <c:pt idx="3">
                  <c:v>30</c:v>
                </c:pt>
              </c:numCache>
            </c:numRef>
          </c:val>
        </c:ser>
      </c:pieChart>
    </c:plotArea>
    <c:legend>
      <c:legendPos/>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mg.png"/>
          <p:cNvPicPr>
            <a:picLocks noChangeAspect="1"/>
          </p:cNvPicPr>
          <p:nvPr/>
        </p:nvPicPr>
        <p:blipFill>
          <a:blip r:embed="rId2"/>
          <a:stretch>
            <a:fillRect/>
          </a:stretch>
        </p:blipFill>
        <p:spPr>
          <a:xfrm>
            <a:off x="457200" y="457200"/>
            <a:ext cx="1828800" cy="1828800"/>
          </a:xfrm>
          <a:prstGeom prst="rect">
            <a:avLst/>
          </a:prstGeom>
        </p:spPr>
      </p:pic>
      <p:sp>
        <p:nvSpPr>
          <p:cNvPr id="3" name="TextBox 2"/>
          <p:cNvSpPr txBox="1"/>
          <p:nvPr/>
        </p:nvSpPr>
        <p:spPr>
          <a:xfrm>
            <a:off x="2468880" y="914400"/>
            <a:ext cx="6400800" cy="2743200"/>
          </a:xfrm>
          <a:prstGeom prst="rect">
            <a:avLst/>
          </a:prstGeom>
          <a:noFill/>
        </p:spPr>
        <p:txBody>
          <a:bodyPr wrap="square">
            <a:spAutoFit/>
          </a:bodyPr>
          <a:lstStyle/>
          <a:p/>
          <a:p>
            <a:pPr>
              <a:defRPr sz="3600" b="1">
                <a:solidFill>
                  <a:srgbClr val="DC3545"/>
                </a:solidFill>
                <a:latin typeface="Calibri"/>
              </a:defRPr>
            </a:pPr>
            <a:r>
              <a:t>JSW MG MOTOR INDIA</a:t>
            </a:r>
          </a:p>
          <a:p>
            <a:pPr>
              <a:defRPr sz="2800" b="1">
                <a:solidFill>
                  <a:srgbClr val="000000"/>
                </a:solidFill>
                <a:latin typeface="Calibri"/>
              </a:defRPr>
            </a:pPr>
            <a:r>
              <a:t>Cost Reduction Idea Analysis Presentation</a:t>
            </a:r>
          </a:p>
          <a:p>
            <a:pPr>
              <a:defRPr sz="1600">
                <a:latin typeface="Calibri"/>
              </a:defRPr>
            </a:pPr>
            <a:r>
              <a:t>Presentation generated by VAVE AI</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2311-ET-ID-03</a:t>
                      </a:r>
                    </a:p>
                  </a:txBody>
                  <a:tcPr/>
                </a:tc>
                <a:tc>
                  <a:txBody>
                    <a:bodyPr wrap="square"/>
                    <a:lstStyle/>
                    <a:p>
                      <a:pPr>
                        <a:defRPr sz="1000">
                          <a:latin typeface="Calibri"/>
                        </a:defRPr>
                      </a:pPr>
                      <a:r>
                        <a:t>Remove the Air Extractor Vent Securing Trims affixed at both ends of the rear bumper brackets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2311-DA-ID-06</a:t>
                      </a:r>
                    </a:p>
                  </a:txBody>
                  <a:tcPr/>
                </a:tc>
                <a:tc>
                  <a:txBody>
                    <a:bodyPr wrap="square"/>
                    <a:lstStyle/>
                    <a:p>
                      <a:pPr>
                        <a:defRPr sz="1000">
                          <a:latin typeface="Calibri"/>
                        </a:defRPr>
                      </a:pPr>
                      <a:r>
                        <a:t>Replace the plastic trim used on the Hood Prop Rod in MGI with a foam cover trim as in KIA</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Check supplier feasibility</a:t>
                      </a:r>
                    </a:p>
                  </a:txBody>
                  <a:tcPr/>
                </a:tc>
                <a:tc>
                  <a:txBody>
                    <a:bodyPr wrap="square"/>
                    <a:lstStyle/>
                    <a:p>
                      <a:pPr>
                        <a:defRPr sz="1000">
                          <a:latin typeface="Calibri"/>
                        </a:defRPr>
                      </a:pPr>
                      <a:r>
                        <a:t>Chirag</a:t>
                      </a:r>
                    </a:p>
                  </a:txBody>
                  <a:tcPr/>
                </a:tc>
                <a:tc>
                  <a:txBody>
                    <a:bodyPr wrap="square"/>
                    <a:lstStyle/>
                    <a:p>
                      <a:pPr>
                        <a:defRPr sz="1000">
                          <a:latin typeface="Calibri"/>
                        </a:defRPr>
                      </a:pPr>
                      <a:r>
                        <a:t>2024-02-16 00:00:00</a:t>
                      </a:r>
                    </a:p>
                  </a:txBody>
                  <a:tcPr/>
                </a:tc>
              </a:tr>
              <a:tr h="320040">
                <a:tc>
                  <a:txBody>
                    <a:bodyPr wrap="square"/>
                    <a:lstStyle/>
                    <a:p>
                      <a:pPr>
                        <a:defRPr sz="1000">
                          <a:latin typeface="Calibri"/>
                        </a:defRPr>
                      </a:pPr>
                      <a:r>
                        <a:t>2311-DA-ID-22</a:t>
                      </a:r>
                    </a:p>
                  </a:txBody>
                  <a:tcPr/>
                </a:tc>
                <a:tc>
                  <a:txBody>
                    <a:bodyPr wrap="square"/>
                    <a:lstStyle/>
                    <a:p>
                      <a:pPr>
                        <a:defRPr sz="1000">
                          <a:latin typeface="Calibri"/>
                        </a:defRPr>
                      </a:pPr>
                      <a:r>
                        <a:t>Replace PA6-GF30 with PA6-GF15 + MD25 in the manufacture of the Exterior Door Handle Rear Trims</a:t>
                      </a:r>
                    </a:p>
                  </a:txBody>
                  <a:tcPr/>
                </a:tc>
                <a:tc>
                  <a:txBody>
                    <a:bodyPr wrap="square"/>
                    <a:lstStyle/>
                    <a:p>
                      <a:pPr>
                        <a:defRPr sz="1000">
                          <a:latin typeface="Calibri"/>
                        </a:defRPr>
                      </a:pPr>
                      <a:r>
                        <a:t>nan</a:t>
                      </a:r>
                    </a:p>
                  </a:txBody>
                  <a:tcPr/>
                </a:tc>
                <a:tc>
                  <a:txBody>
                    <a:bodyPr wrap="square"/>
                    <a:lstStyle/>
                    <a:p>
                      <a:pPr>
                        <a:defRPr sz="1000">
                          <a:latin typeface="Calibri"/>
                        </a:defRPr>
                      </a:pPr>
                      <a:r>
                        <a:t>INR 148.0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2311-DA-ID-26</a:t>
                      </a:r>
                    </a:p>
                  </a:txBody>
                  <a:tcPr/>
                </a:tc>
                <a:tc>
                  <a:txBody>
                    <a:bodyPr wrap="square"/>
                    <a:lstStyle/>
                    <a:p>
                      <a:pPr>
                        <a:defRPr sz="1000">
                          <a:latin typeface="Calibri"/>
                        </a:defRPr>
                      </a:pPr>
                      <a:r>
                        <a:t>Replace the ABS blend with PP-T20 in the manufacture of the Front and Rear Door Panel Side Trims in MGI</a:t>
                      </a:r>
                    </a:p>
                  </a:txBody>
                  <a:tcPr/>
                </a:tc>
                <a:tc>
                  <a:txBody>
                    <a:bodyPr wrap="square"/>
                    <a:lstStyle/>
                    <a:p>
                      <a:pPr>
                        <a:defRPr sz="1000">
                          <a:latin typeface="Calibri"/>
                        </a:defRPr>
                      </a:pPr>
                      <a:r>
                        <a:t>nan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2311-SS-ID-10</a:t>
                      </a:r>
                    </a:p>
                  </a:txBody>
                  <a:tcPr/>
                </a:tc>
                <a:tc>
                  <a:txBody>
                    <a:bodyPr wrap="square"/>
                    <a:lstStyle/>
                    <a:p>
                      <a:pPr>
                        <a:defRPr sz="1000">
                          <a:latin typeface="Calibri"/>
                        </a:defRPr>
                      </a:pPr>
                      <a:r>
                        <a:t>Replace PP+EPDM-T20 used in the manufacture of the Second-Row Seat Bottom Cover and Cushion Cover Trims of MGI with standard PP</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INR 147.0</a:t>
                      </a:r>
                    </a:p>
                  </a:txBody>
                  <a:tcPr/>
                </a:tc>
                <a:tc>
                  <a:txBody>
                    <a:bodyPr wrap="square"/>
                    <a:lstStyle/>
                    <a:p>
                      <a:pPr>
                        <a:defRPr sz="1000">
                          <a:latin typeface="Calibri"/>
                        </a:defRPr>
                      </a:pPr>
                      <a:r>
                        <a:t>NG</a:t>
                      </a:r>
                    </a:p>
                  </a:txBody>
                  <a:tcPr/>
                </a:tc>
                <a:tc>
                  <a:txBody>
                    <a:bodyPr wrap="square"/>
                    <a:lstStyle/>
                    <a:p>
                      <a:pPr>
                        <a:defRPr sz="1000">
                          <a:latin typeface="Calibri"/>
                        </a:defRPr>
                      </a:pPr>
                      <a:r>
                        <a:t>All trims foam &amp; cover idea will be again checked for feasibility with supplier &amp; BC evaluation.</a:t>
                      </a:r>
                    </a:p>
                  </a:txBody>
                  <a:tcPr/>
                </a:tc>
                <a:tc>
                  <a:txBody>
                    <a:bodyPr wrap="square"/>
                    <a:lstStyle/>
                    <a:p>
                      <a:pPr>
                        <a:defRPr sz="1000">
                          <a:latin typeface="Calibri"/>
                        </a:defRPr>
                      </a:pPr>
                      <a:r>
                        <a:t>Kalp/Nishant</a:t>
                      </a:r>
                    </a:p>
                  </a:txBody>
                  <a:tcPr/>
                </a:tc>
                <a:tc>
                  <a:txBody>
                    <a:bodyPr wrap="square"/>
                    <a:lstStyle/>
                    <a:p>
                      <a:pPr>
                        <a:defRPr sz="1000">
                          <a:latin typeface="Calibri"/>
                        </a:defRPr>
                      </a:pPr>
                      <a:r>
                        <a:t>2023-12-31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2)</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2311-DA-ID-35</a:t>
                      </a:r>
                    </a:p>
                  </a:txBody>
                  <a:tcPr/>
                </a:tc>
                <a:tc>
                  <a:txBody>
                    <a:bodyPr wrap="square"/>
                    <a:lstStyle/>
                    <a:p>
                      <a:pPr>
                        <a:defRPr sz="1000">
                          <a:latin typeface="Calibri"/>
                        </a:defRPr>
                      </a:pPr>
                      <a:r>
                        <a:t>Replace PBT-GF30 with PA6-GF30 in the manufacture of the gear casings.</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INR 147.0</a:t>
                      </a:r>
                    </a:p>
                  </a:txBody>
                  <a:tcPr/>
                </a:tc>
                <a:tc>
                  <a:txBody>
                    <a:bodyPr wrap="square"/>
                    <a:lstStyle/>
                    <a:p>
                      <a:pPr>
                        <a:defRPr sz="1000">
                          <a:latin typeface="Calibri"/>
                        </a:defRPr>
                      </a:pPr>
                      <a:r>
                        <a:t>Hold</a:t>
                      </a:r>
                    </a:p>
                  </a:txBody>
                  <a:tcPr/>
                </a:tc>
                <a:tc>
                  <a:txBody>
                    <a:bodyPr wrap="square"/>
                    <a:lstStyle/>
                    <a:p>
                      <a:pPr>
                        <a:defRPr sz="1000">
                          <a:latin typeface="Calibri"/>
                        </a:defRPr>
                      </a:pPr>
                      <a:r>
                        <a:t>Consider in homeroom bucket</a:t>
                      </a:r>
                    </a:p>
                  </a:txBody>
                  <a:tcPr/>
                </a:tc>
                <a:tc>
                  <a:txBody>
                    <a:bodyPr wrap="square"/>
                    <a:lstStyle/>
                    <a:p>
                      <a:pPr>
                        <a:defRPr sz="1000">
                          <a:latin typeface="Calibri"/>
                        </a:defRPr>
                      </a:pPr>
                      <a:r>
                        <a:t>Ratnadeep</a:t>
                      </a:r>
                    </a:p>
                  </a:txBody>
                  <a:tcPr/>
                </a:tc>
                <a:tc>
                  <a:txBody>
                    <a:bodyPr wrap="square"/>
                    <a:lstStyle/>
                    <a:p>
                      <a:pPr>
                        <a:defRPr sz="1000">
                          <a:latin typeface="Calibri"/>
                        </a:defRPr>
                      </a:pPr>
                      <a:r>
                        <a:t>TBC</a:t>
                      </a:r>
                    </a:p>
                  </a:txBody>
                  <a:tcPr/>
                </a:tc>
              </a:tr>
              <a:tr h="320040">
                <a:tc>
                  <a:txBody>
                    <a:bodyPr wrap="square"/>
                    <a:lstStyle/>
                    <a:p>
                      <a:pPr>
                        <a:defRPr sz="1000">
                          <a:latin typeface="Calibri"/>
                        </a:defRPr>
                      </a:pPr>
                      <a:r>
                        <a:t>2311-IT-ID-26</a:t>
                      </a:r>
                    </a:p>
                  </a:txBody>
                  <a:tcPr/>
                </a:tc>
                <a:tc>
                  <a:txBody>
                    <a:bodyPr wrap="square"/>
                    <a:lstStyle/>
                    <a:p>
                      <a:pPr>
                        <a:defRPr sz="1000">
                          <a:latin typeface="Calibri"/>
                        </a:defRPr>
                      </a:pPr>
                      <a:r>
                        <a:t>Replace PP-T20 with PP in the manufacture of the grab handles within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2311-IT-ID-16</a:t>
                      </a:r>
                    </a:p>
                  </a:txBody>
                  <a:tcPr/>
                </a:tc>
                <a:tc>
                  <a:txBody>
                    <a:bodyPr wrap="square"/>
                    <a:lstStyle/>
                    <a:p>
                      <a:pPr>
                        <a:defRPr sz="1000">
                          <a:latin typeface="Calibri"/>
                        </a:defRPr>
                      </a:pPr>
                      <a:r>
                        <a:t>Replace PP+PE-T10 used in the manufacture of the Front A-Pillar Interior Trims in MGI with standard PP+PE</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2311-ET-ID-27</a:t>
                      </a:r>
                    </a:p>
                  </a:txBody>
                  <a:tcPr/>
                </a:tc>
                <a:tc>
                  <a:txBody>
                    <a:bodyPr wrap="square"/>
                    <a:lstStyle/>
                    <a:p>
                      <a:pPr>
                        <a:defRPr sz="1000">
                          <a:latin typeface="Calibri"/>
                        </a:defRPr>
                      </a:pPr>
                      <a:r>
                        <a:t>Replace the Thinsulate Acoustic Insulation used on the Front &amp; Rear Wheel Arch LH &amp; RH Liners for NVH restriction within MGI with Noiselite PP-PET Insulation</a:t>
                      </a:r>
                    </a:p>
                  </a:txBody>
                  <a:tcPr/>
                </a:tc>
                <a:tc>
                  <a:txBody>
                    <a:bodyPr wrap="square"/>
                    <a:lstStyle/>
                    <a:p>
                      <a:pPr>
                        <a:defRPr sz="1000">
                          <a:latin typeface="Calibri"/>
                        </a:defRPr>
                      </a:pPr>
                      <a:r>
                        <a:t>nan</a:t>
                      </a:r>
                    </a:p>
                  </a:txBody>
                  <a:tcPr/>
                </a:tc>
                <a:tc>
                  <a:txBody>
                    <a:bodyPr wrap="square"/>
                    <a:lstStyle/>
                    <a:p>
                      <a:pPr>
                        <a:defRPr sz="1000">
                          <a:latin typeface="Calibri"/>
                        </a:defRPr>
                      </a:pPr>
                      <a:r>
                        <a:t>INR 145.0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2311-IT-ID-06</a:t>
                      </a:r>
                    </a:p>
                  </a:txBody>
                  <a:tcPr/>
                </a:tc>
                <a:tc>
                  <a:txBody>
                    <a:bodyPr wrap="square"/>
                    <a:lstStyle/>
                    <a:p>
                      <a:pPr>
                        <a:defRPr sz="1000">
                          <a:latin typeface="Calibri"/>
                        </a:defRPr>
                      </a:pPr>
                      <a:r>
                        <a:t>Eliminate the dead pedal trim provided in MGI.</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INR 144.0</a:t>
                      </a:r>
                    </a:p>
                  </a:txBody>
                  <a:tcPr/>
                </a:tc>
                <a:tc>
                  <a:txBody>
                    <a:bodyPr wrap="square"/>
                    <a:lstStyle/>
                    <a:p>
                      <a:pPr>
                        <a:defRPr sz="1000">
                          <a:latin typeface="Calibri"/>
                        </a:defRPr>
                      </a:pPr>
                      <a:r>
                        <a:t>OK</a:t>
                      </a:r>
                    </a:p>
                  </a:txBody>
                  <a:tcPr/>
                </a:tc>
                <a:tc>
                  <a:txBody>
                    <a:bodyPr wrap="square"/>
                    <a:lstStyle/>
                    <a:p>
                      <a:pPr>
                        <a:defRPr sz="1000">
                          <a:latin typeface="Calibri"/>
                        </a:defRPr>
                      </a:pPr>
                      <a:r>
                        <a:t>Confirm date for sample availability (Functional &amp; Appearance check) - 1Nos 6 seater carpet without cut-out for dead pedal</a:t>
                      </a:r>
                    </a:p>
                  </a:txBody>
                  <a:tcPr/>
                </a:tc>
                <a:tc>
                  <a:txBody>
                    <a:bodyPr wrap="square"/>
                    <a:lstStyle/>
                    <a:p>
                      <a:pPr>
                        <a:defRPr sz="1000">
                          <a:latin typeface="Calibri"/>
                        </a:defRPr>
                      </a:pPr>
                      <a:r>
                        <a:t>Akhil</a:t>
                      </a:r>
                    </a:p>
                  </a:txBody>
                  <a:tcPr/>
                </a:tc>
                <a:tc>
                  <a:txBody>
                    <a:bodyPr wrap="square"/>
                    <a:lstStyle/>
                    <a:p>
                      <a:pPr>
                        <a:defRPr sz="1000">
                          <a:latin typeface="Calibri"/>
                        </a:defRPr>
                      </a:pPr>
                      <a:r>
                        <a:t>2024-06-15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3)</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2311-FS-ID-02</a:t>
                      </a:r>
                    </a:p>
                  </a:txBody>
                  <a:tcPr/>
                </a:tc>
                <a:tc>
                  <a:txBody>
                    <a:bodyPr wrap="square"/>
                    <a:lstStyle/>
                    <a:p>
                      <a:pPr>
                        <a:defRPr sz="1000">
                          <a:latin typeface="Calibri"/>
                        </a:defRPr>
                      </a:pPr>
                      <a:r>
                        <a:t>Replace the Steel access cover used within MGI with a Plastic (PP(assumed)) one as used in KIA</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INR 144.0</a:t>
                      </a:r>
                    </a:p>
                  </a:txBody>
                  <a:tcPr/>
                </a:tc>
                <a:tc>
                  <a:txBody>
                    <a:bodyPr wrap="square"/>
                    <a:lstStyle/>
                    <a:p>
                      <a:pPr>
                        <a:defRPr sz="1000">
                          <a:latin typeface="Calibri"/>
                        </a:defRPr>
                      </a:pPr>
                      <a:r>
                        <a:t>TBD</a:t>
                      </a:r>
                    </a:p>
                  </a:txBody>
                  <a:tcPr/>
                </a:tc>
                <a:tc>
                  <a:txBody>
                    <a:bodyPr wrap="square"/>
                    <a:lstStyle/>
                    <a:p>
                      <a:pPr>
                        <a:defRPr sz="1000">
                          <a:latin typeface="Calibri"/>
                        </a:defRPr>
                      </a:pPr>
                      <a:r>
                        <a:t>Confirm technical feasibilty </a:t>
                      </a:r>
                    </a:p>
                  </a:txBody>
                  <a:tcPr/>
                </a:tc>
                <a:tc>
                  <a:txBody>
                    <a:bodyPr wrap="square"/>
                    <a:lstStyle/>
                    <a:p>
                      <a:pPr>
                        <a:defRPr sz="1000">
                          <a:latin typeface="Calibri"/>
                        </a:defRPr>
                      </a:pPr>
                      <a:r>
                        <a:t>Sumanta</a:t>
                      </a:r>
                    </a:p>
                  </a:txBody>
                  <a:tcPr/>
                </a:tc>
                <a:tc>
                  <a:txBody>
                    <a:bodyPr wrap="square"/>
                    <a:lstStyle/>
                    <a:p>
                      <a:pPr>
                        <a:defRPr sz="1000">
                          <a:latin typeface="Calibri"/>
                        </a:defRPr>
                      </a:pPr>
                      <a:r>
                        <a:t>2024-04-23 00:00:00</a:t>
                      </a:r>
                    </a:p>
                  </a:txBody>
                  <a:tcPr/>
                </a:tc>
              </a:tr>
              <a:tr h="320040">
                <a:tc>
                  <a:txBody>
                    <a:bodyPr wrap="square"/>
                    <a:lstStyle/>
                    <a:p>
                      <a:pPr>
                        <a:defRPr sz="1000">
                          <a:latin typeface="Calibri"/>
                        </a:defRPr>
                      </a:pPr>
                      <a:r>
                        <a:t>2311-SS-ID-01</a:t>
                      </a:r>
                    </a:p>
                  </a:txBody>
                  <a:tcPr/>
                </a:tc>
                <a:tc>
                  <a:txBody>
                    <a:bodyPr wrap="square"/>
                    <a:lstStyle/>
                    <a:p>
                      <a:pPr>
                        <a:defRPr sz="1000">
                          <a:latin typeface="Calibri"/>
                        </a:defRPr>
                      </a:pPr>
                      <a:r>
                        <a:t>Reduce the width from the upper edge of the PVC panel of seat vent by 90mm.</a:t>
                      </a:r>
                    </a:p>
                  </a:txBody>
                  <a:tcPr/>
                </a:tc>
                <a:tc>
                  <a:txBody>
                    <a:bodyPr wrap="square"/>
                    <a:lstStyle/>
                    <a:p>
                      <a:pPr>
                        <a:defRPr sz="1000">
                          <a:latin typeface="Calibri"/>
                        </a:defRPr>
                      </a:pPr>
                      <a:r>
                        <a:t>nan</a:t>
                      </a:r>
                    </a:p>
                  </a:txBody>
                  <a:tcPr/>
                </a:tc>
                <a:tc>
                  <a:txBody>
                    <a:bodyPr wrap="square"/>
                    <a:lstStyle/>
                    <a:p>
                      <a:pPr>
                        <a:defRPr sz="1000">
                          <a:latin typeface="Calibri"/>
                        </a:defRPr>
                      </a:pPr>
                      <a:r>
                        <a:t>INR 144.0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2311-DA-ID-07</a:t>
                      </a:r>
                    </a:p>
                  </a:txBody>
                  <a:tcPr/>
                </a:tc>
                <a:tc>
                  <a:txBody>
                    <a:bodyPr wrap="square"/>
                    <a:lstStyle/>
                    <a:p>
                      <a:pPr>
                        <a:defRPr sz="1000">
                          <a:latin typeface="Calibri"/>
                        </a:defRPr>
                      </a:pPr>
                      <a:r>
                        <a:t>Replace PA6-GF30 with PA6-GF20 in the manufacture of the Tailgate Release/Handle Trim</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INR 143.0</a:t>
                      </a:r>
                    </a:p>
                  </a:txBody>
                  <a:tcPr/>
                </a:tc>
                <a:tc>
                  <a:txBody>
                    <a:bodyPr wrap="square"/>
                    <a:lstStyle/>
                    <a:p>
                      <a:pPr>
                        <a:defRPr sz="1000">
                          <a:latin typeface="Calibri"/>
                        </a:defRPr>
                      </a:pPr>
                      <a:r>
                        <a:t>NG</a:t>
                      </a:r>
                    </a:p>
                  </a:txBody>
                  <a:tcPr/>
                </a:tc>
                <a:tc>
                  <a:txBody>
                    <a:bodyPr wrap="square"/>
                    <a:lstStyle/>
                    <a:p>
                      <a:pPr>
                        <a:defRPr sz="1000">
                          <a:latin typeface="Calibri"/>
                        </a:defRPr>
                      </a:pPr>
                      <a:r>
                        <a:t>Confirm change content</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2311-EL-ID-01</a:t>
                      </a:r>
                    </a:p>
                  </a:txBody>
                  <a:tcPr/>
                </a:tc>
                <a:tc>
                  <a:txBody>
                    <a:bodyPr wrap="square"/>
                    <a:lstStyle/>
                    <a:p>
                      <a:pPr>
                        <a:defRPr sz="1000">
                          <a:latin typeface="Calibri"/>
                        </a:defRPr>
                      </a:pPr>
                      <a:r>
                        <a:t>Replace the 16-pin connector set used on the IRVM assembly with an 8-pin connector set.</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on 10 pin connector availability with supplier (similar to Kia)</a:t>
                      </a:r>
                    </a:p>
                  </a:txBody>
                  <a:tcPr/>
                </a:tc>
                <a:tc>
                  <a:txBody>
                    <a:bodyPr wrap="square"/>
                    <a:lstStyle/>
                    <a:p>
                      <a:pPr>
                        <a:defRPr sz="1000">
                          <a:latin typeface="Calibri"/>
                        </a:defRPr>
                      </a:pPr>
                      <a:r>
                        <a:t>Narendra</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2311-FS-ID-01</a:t>
                      </a:r>
                    </a:p>
                  </a:txBody>
                  <a:tcPr/>
                </a:tc>
                <a:tc>
                  <a:txBody>
                    <a:bodyPr wrap="square"/>
                    <a:lstStyle/>
                    <a:p>
                      <a:pPr>
                        <a:defRPr sz="1000">
                          <a:latin typeface="Calibri"/>
                        </a:defRPr>
                      </a:pPr>
                      <a:r>
                        <a:t>Remove the Neoprene Foam Sheaths present on the fuel lines and the fuel inlet hose of MGI</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INR 142.0</a:t>
                      </a:r>
                    </a:p>
                  </a:txBody>
                  <a:tcPr/>
                </a:tc>
                <a:tc>
                  <a:txBody>
                    <a:bodyPr wrap="square"/>
                    <a:lstStyle/>
                    <a:p>
                      <a:pPr>
                        <a:defRPr sz="1000">
                          <a:latin typeface="Calibri"/>
                        </a:defRPr>
                      </a:pPr>
                      <a:r>
                        <a:t>NG</a:t>
                      </a:r>
                    </a:p>
                  </a:txBody>
                  <a:tcPr/>
                </a:tc>
                <a:tc>
                  <a:txBody>
                    <a:bodyPr wrap="square"/>
                    <a:lstStyle/>
                    <a:p>
                      <a:pPr>
                        <a:defRPr sz="1000">
                          <a:latin typeface="Calibri"/>
                        </a:defRPr>
                      </a:pPr>
                      <a:r>
                        <a:t>Confirm Kia routing photos for analysis with ASI</a:t>
                      </a:r>
                    </a:p>
                  </a:txBody>
                  <a:tcPr/>
                </a:tc>
                <a:tc>
                  <a:txBody>
                    <a:bodyPr wrap="square"/>
                    <a:lstStyle/>
                    <a:p>
                      <a:pPr>
                        <a:defRPr sz="1000">
                          <a:latin typeface="Calibri"/>
                        </a:defRPr>
                      </a:pPr>
                      <a:r>
                        <a:t>Ratnadeep</a:t>
                      </a:r>
                    </a:p>
                  </a:txBody>
                  <a:tcPr/>
                </a:tc>
                <a:tc>
                  <a:txBody>
                    <a:bodyPr wrap="square"/>
                    <a:lstStyle/>
                    <a:p>
                      <a:pPr>
                        <a:defRPr sz="1000">
                          <a:latin typeface="Calibri"/>
                        </a:defRPr>
                      </a:pPr>
                      <a:r>
                        <a:t>2024-02-12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4)</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2311-IP-ID-05</a:t>
                      </a:r>
                    </a:p>
                  </a:txBody>
                  <a:tcPr/>
                </a:tc>
                <a:tc>
                  <a:txBody>
                    <a:bodyPr wrap="square"/>
                    <a:lstStyle/>
                    <a:p>
                      <a:pPr>
                        <a:defRPr sz="1000">
                          <a:latin typeface="Calibri"/>
                        </a:defRPr>
                      </a:pPr>
                      <a:r>
                        <a:t>Replace PP+EPDM+T20 with PP+T20 in the manufacture of the dashboard upper trim of the vehicle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2311-PRODUCT-ID-13</a:t>
                      </a:r>
                    </a:p>
                  </a:txBody>
                  <a:tcPr/>
                </a:tc>
                <a:tc>
                  <a:txBody>
                    <a:bodyPr wrap="square"/>
                    <a:lstStyle/>
                    <a:p>
                      <a:pPr>
                        <a:defRPr sz="1000">
                          <a:latin typeface="Calibri"/>
                        </a:defRPr>
                      </a:pPr>
                      <a:r>
                        <a:t>Eliminate the plastic trim provided around the bottom anchor point at the driver side seatbelt and follow the same methodology provided at the co-driver's side.</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2311-PRODUCT-ID-18</a:t>
                      </a:r>
                    </a:p>
                  </a:txBody>
                  <a:tcPr/>
                </a:tc>
                <a:tc>
                  <a:txBody>
                    <a:bodyPr wrap="square"/>
                    <a:lstStyle/>
                    <a:p>
                      <a:pPr>
                        <a:defRPr sz="1000">
                          <a:latin typeface="Calibri"/>
                        </a:defRPr>
                      </a:pPr>
                      <a:r>
                        <a:t>Reduce the diameter of the Headrest Rods from 12.6mm to 10mm</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Check for combined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2311-ET-ID-17</a:t>
                      </a:r>
                    </a:p>
                  </a:txBody>
                  <a:tcPr/>
                </a:tc>
                <a:tc>
                  <a:txBody>
                    <a:bodyPr wrap="square"/>
                    <a:lstStyle/>
                    <a:p>
                      <a:pPr>
                        <a:defRPr sz="1000">
                          <a:latin typeface="Calibri"/>
                        </a:defRPr>
                      </a:pPr>
                      <a:r>
                        <a:t>Reduce the wall thickness of the Bumper Lower Trim from 2.8mm to 2.4mm</a:t>
                      </a:r>
                    </a:p>
                  </a:txBody>
                  <a:tcPr/>
                </a:tc>
                <a:tc>
                  <a:txBody>
                    <a:bodyPr wrap="square"/>
                    <a:lstStyle/>
                    <a:p>
                      <a:pPr>
                        <a:defRPr sz="1000">
                          <a:latin typeface="Calibri"/>
                        </a:defRPr>
                      </a:pPr>
                      <a:r>
                        <a:t>nan</a:t>
                      </a:r>
                    </a:p>
                  </a:txBody>
                  <a:tcPr/>
                </a:tc>
                <a:tc>
                  <a:txBody>
                    <a:bodyPr wrap="square"/>
                    <a:lstStyle/>
                    <a:p>
                      <a:pPr>
                        <a:defRPr sz="1000">
                          <a:latin typeface="Calibri"/>
                        </a:defRPr>
                      </a:pPr>
                      <a:r>
                        <a:t>INR 141.0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2311-IP-ID-16</a:t>
                      </a:r>
                    </a:p>
                  </a:txBody>
                  <a:tcPr/>
                </a:tc>
                <a:tc>
                  <a:txBody>
                    <a:bodyPr wrap="square"/>
                    <a:lstStyle/>
                    <a:p>
                      <a:pPr>
                        <a:defRPr sz="1000">
                          <a:latin typeface="Calibri"/>
                        </a:defRPr>
                      </a:pPr>
                      <a:r>
                        <a:t>Replace PC-ABS with ABS in the manufacture of both Instrument Cluster Fascia Decorative Trim and the IP LHS &amp; RHS Decorative Trims since the finish could be achieved on ABS-made trims as well</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 </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5)</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2311-IT-ID-17</a:t>
                      </a:r>
                    </a:p>
                  </a:txBody>
                  <a:tcPr/>
                </a:tc>
                <a:tc>
                  <a:txBody>
                    <a:bodyPr wrap="square"/>
                    <a:lstStyle/>
                    <a:p>
                      <a:pPr>
                        <a:defRPr sz="1000">
                          <a:latin typeface="Calibri"/>
                        </a:defRPr>
                      </a:pPr>
                      <a:r>
                        <a:t>Replace the Thinsulate used in between the Interior Trims of MGI with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2311-EL-ID-25</a:t>
                      </a:r>
                    </a:p>
                  </a:txBody>
                  <a:tcPr/>
                </a:tc>
                <a:tc>
                  <a:txBody>
                    <a:bodyPr wrap="square"/>
                    <a:lstStyle/>
                    <a:p>
                      <a:pPr>
                        <a:defRPr sz="1000">
                          <a:latin typeface="Calibri"/>
                        </a:defRPr>
                      </a:pPr>
                      <a:r>
                        <a:t>Replace Brass with Steel in the manufacture of the Main Terminal Connector Bolt within the Engine-Bay Fusebox Assembly of MGI</a:t>
                      </a:r>
                    </a:p>
                  </a:txBody>
                  <a:tcPr/>
                </a:tc>
                <a:tc>
                  <a:txBody>
                    <a:bodyPr wrap="square"/>
                    <a:lstStyle/>
                    <a:p>
                      <a:pPr>
                        <a:defRPr sz="1000">
                          <a:latin typeface="Calibri"/>
                        </a:defRPr>
                      </a:pPr>
                      <a:r>
                        <a:t>nan</a:t>
                      </a:r>
                    </a:p>
                  </a:txBody>
                  <a:tcPr/>
                </a:tc>
                <a:tc>
                  <a:txBody>
                    <a:bodyPr wrap="square"/>
                    <a:lstStyle/>
                    <a:p>
                      <a:pPr>
                        <a:defRPr sz="1000">
                          <a:latin typeface="Calibri"/>
                        </a:defRPr>
                      </a:pPr>
                      <a:r>
                        <a:t>INR 140.0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2311-EL-ID-17</a:t>
                      </a:r>
                    </a:p>
                  </a:txBody>
                  <a:tcPr/>
                </a:tc>
                <a:tc>
                  <a:txBody>
                    <a:bodyPr wrap="square"/>
                    <a:lstStyle/>
                    <a:p>
                      <a:pPr>
                        <a:defRPr sz="1000">
                          <a:latin typeface="Calibri"/>
                        </a:defRPr>
                      </a:pPr>
                      <a:r>
                        <a:t>Replace the oxygen sensors used in MGI with the oxygen sensors used in KIA</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INR 139.0</a:t>
                      </a:r>
                    </a:p>
                  </a:txBody>
                  <a:tcPr/>
                </a:tc>
                <a:tc>
                  <a:txBody>
                    <a:bodyPr wrap="square"/>
                    <a:lstStyle/>
                    <a:p>
                      <a:pPr>
                        <a:defRPr sz="1000">
                          <a:latin typeface="Calibri"/>
                        </a:defRPr>
                      </a:pPr>
                      <a:r>
                        <a:t>Hold</a:t>
                      </a:r>
                    </a:p>
                  </a:txBody>
                  <a:tcPr/>
                </a:tc>
                <a:tc>
                  <a:txBody>
                    <a:bodyPr wrap="square"/>
                    <a:lstStyle/>
                    <a:p>
                      <a:pPr>
                        <a:defRPr sz="1000">
                          <a:latin typeface="Calibri"/>
                        </a:defRPr>
                      </a:pPr>
                      <a:r>
                        <a:t>Homeroom ideas to be bunched up and taken up for implementation at program level</a:t>
                      </a:r>
                    </a:p>
                    <a:p>
                      <a:pPr>
                        <a:defRPr sz="1000">
                          <a:latin typeface="Calibri"/>
                        </a:defRPr>
                      </a:pPr>
                    </a:p>
                  </a:txBody>
                  <a:tcPr/>
                </a:tc>
                <a:tc>
                  <a:txBody>
                    <a:bodyPr wrap="square"/>
                    <a:lstStyle/>
                    <a:p>
                      <a:pPr>
                        <a:defRPr sz="1000">
                          <a:latin typeface="Calibri"/>
                        </a:defRPr>
                      </a:pPr>
                      <a:r>
                        <a:t>Manish Jaju</a:t>
                      </a:r>
                    </a:p>
                  </a:txBody>
                  <a:tcPr/>
                </a:tc>
                <a:tc>
                  <a:txBody>
                    <a:bodyPr wrap="square"/>
                    <a:lstStyle/>
                    <a:p>
                      <a:pPr>
                        <a:defRPr sz="1000">
                          <a:latin typeface="Calibri"/>
                        </a:defRPr>
                      </a:pPr>
                      <a:r>
                        <a:t>2024-02-20 00:00:00</a:t>
                      </a:r>
                    </a:p>
                  </a:txBody>
                  <a:tcPr/>
                </a:tc>
              </a:tr>
              <a:tr h="320040">
                <a:tc>
                  <a:txBody>
                    <a:bodyPr wrap="square"/>
                    <a:lstStyle/>
                    <a:p>
                      <a:pPr>
                        <a:defRPr sz="1000">
                          <a:latin typeface="Calibri"/>
                        </a:defRPr>
                      </a:pPr>
                      <a:r>
                        <a:t>2311-IP-ID-11</a:t>
                      </a:r>
                    </a:p>
                  </a:txBody>
                  <a:tcPr/>
                </a:tc>
                <a:tc>
                  <a:txBody>
                    <a:bodyPr wrap="square"/>
                    <a:lstStyle/>
                    <a:p>
                      <a:pPr>
                        <a:defRPr sz="1000">
                          <a:latin typeface="Calibri"/>
                        </a:defRPr>
                      </a:pPr>
                      <a:r>
                        <a:t>Replace PC-ABS with PP-TD40 in the manufacture of the Front-Row Air Vent Casings in MGI</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INR 138.0</a:t>
                      </a:r>
                    </a:p>
                  </a:txBody>
                  <a:tcPr/>
                </a:tc>
                <a:tc>
                  <a:txBody>
                    <a:bodyPr wrap="square"/>
                    <a:lstStyle/>
                    <a:p>
                      <a:pPr>
                        <a:defRPr sz="1000">
                          <a:latin typeface="Calibri"/>
                        </a:defRPr>
                      </a:pPr>
                      <a:r>
                        <a:t>TBD</a:t>
                      </a:r>
                    </a:p>
                  </a:txBody>
                  <a:tcPr/>
                </a:tc>
                <a:tc>
                  <a:txBody>
                    <a:bodyPr wrap="square"/>
                    <a:lstStyle/>
                    <a:p>
                      <a:pPr>
                        <a:defRPr sz="1000">
                          <a:latin typeface="Calibri"/>
                        </a:defRPr>
                      </a:pPr>
                      <a:r>
                        <a:t>Potential saving evaluation of RM level is required to take this with SGMW for further discussions.</a:t>
                      </a:r>
                    </a:p>
                  </a:txBody>
                  <a:tcPr/>
                </a:tc>
                <a:tc>
                  <a:txBody>
                    <a:bodyPr wrap="square"/>
                    <a:lstStyle/>
                    <a:p>
                      <a:pPr>
                        <a:defRPr sz="1000">
                          <a:latin typeface="Calibri"/>
                        </a:defRPr>
                      </a:pPr>
                      <a:r>
                        <a:t>Kalp</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2311-EL-ID-11</a:t>
                      </a:r>
                    </a:p>
                  </a:txBody>
                  <a:tcPr/>
                </a:tc>
                <a:tc>
                  <a:txBody>
                    <a:bodyPr wrap="square"/>
                    <a:lstStyle/>
                    <a:p>
                      <a:pPr>
                        <a:defRPr sz="1000">
                          <a:latin typeface="Calibri"/>
                        </a:defRPr>
                      </a:pPr>
                      <a:r>
                        <a:t>Replace PC-ABS with ABS in the manufacture of Tail Lamp Housings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137.0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6)</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2311-IT-ID-08</a:t>
                      </a:r>
                    </a:p>
                  </a:txBody>
                  <a:tcPr/>
                </a:tc>
                <a:tc>
                  <a:txBody>
                    <a:bodyPr wrap="square"/>
                    <a:lstStyle/>
                    <a:p>
                      <a:pPr>
                        <a:defRPr sz="1000">
                          <a:latin typeface="Calibri"/>
                        </a:defRPr>
                      </a:pPr>
                      <a:r>
                        <a:t>Remove the EPDM sheet and integrate the PU Foam with the PE sheet.</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INR 137.0</a:t>
                      </a:r>
                    </a:p>
                  </a:txBody>
                  <a:tcPr/>
                </a:tc>
                <a:tc>
                  <a:txBody>
                    <a:bodyPr wrap="square"/>
                    <a:lstStyle/>
                    <a:p>
                      <a:pPr>
                        <a:defRPr sz="1000">
                          <a:latin typeface="Calibri"/>
                        </a:defRPr>
                      </a:pPr>
                      <a:r>
                        <a:t>OK</a:t>
                      </a:r>
                    </a:p>
                  </a:txBody>
                  <a:tcPr/>
                </a:tc>
                <a:tc>
                  <a:txBody>
                    <a:bodyPr wrap="square"/>
                    <a:lstStyle/>
                    <a:p>
                      <a:pPr>
                        <a:defRPr sz="1000">
                          <a:latin typeface="Calibri"/>
                        </a:defRPr>
                      </a:pPr>
                      <a:r>
                        <a:t>Confirm on vehicel trial</a:t>
                      </a:r>
                    </a:p>
                  </a:txBody>
                  <a:tcPr/>
                </a:tc>
                <a:tc>
                  <a:txBody>
                    <a:bodyPr wrap="square"/>
                    <a:lstStyle/>
                    <a:p>
                      <a:pPr>
                        <a:defRPr sz="1000">
                          <a:latin typeface="Calibri"/>
                        </a:defRPr>
                      </a:pPr>
                      <a:r>
                        <a:t>Narendra/ Ratnadeep</a:t>
                      </a:r>
                    </a:p>
                  </a:txBody>
                  <a:tcPr/>
                </a:tc>
                <a:tc>
                  <a:txBody>
                    <a:bodyPr wrap="square"/>
                    <a:lstStyle/>
                    <a:p>
                      <a:pPr>
                        <a:defRPr sz="1000">
                          <a:latin typeface="Calibri"/>
                        </a:defRPr>
                      </a:pPr>
                      <a:r>
                        <a:t>2024-06-28 00:00:00</a:t>
                      </a:r>
                    </a:p>
                  </a:txBody>
                  <a:tcPr/>
                </a:tc>
              </a:tr>
              <a:tr h="320040">
                <a:tc>
                  <a:txBody>
                    <a:bodyPr wrap="square"/>
                    <a:lstStyle/>
                    <a:p>
                      <a:pPr>
                        <a:defRPr sz="1000">
                          <a:latin typeface="Calibri"/>
                        </a:defRPr>
                      </a:pPr>
                      <a:r>
                        <a:t>2311-EX-ID-01</a:t>
                      </a:r>
                    </a:p>
                  </a:txBody>
                  <a:tcPr/>
                </a:tc>
                <a:tc>
                  <a:txBody>
                    <a:bodyPr wrap="square"/>
                    <a:lstStyle/>
                    <a:p>
                      <a:pPr>
                        <a:defRPr sz="1000">
                          <a:latin typeface="Calibri"/>
                        </a:defRPr>
                      </a:pPr>
                      <a:r>
                        <a:t>1. Remove the rubber hanger from the extension pipe near the resonator, along with its associated mounting points, and rearrange the other hangers as shown in the figure.</a:t>
                      </a:r>
                    </a:p>
                    <a:p>
                      <a:pPr>
                        <a:defRPr sz="1000">
                          <a:latin typeface="Calibri"/>
                        </a:defRPr>
                      </a:pPr>
                      <a:r>
                        <a:t>2. Relocate the hangers mounted on the resonator to the top and bottom of the resonator (onto the exhaust pipe and the extension pipe)</a:t>
                      </a:r>
                    </a:p>
                  </a:txBody>
                  <a:tcPr/>
                </a:tc>
                <a:tc>
                  <a:txBody>
                    <a:bodyPr wrap="square"/>
                    <a:lstStyle/>
                    <a:p>
                      <a:pPr>
                        <a:defRPr sz="1000">
                          <a:latin typeface="Calibri"/>
                        </a:defRPr>
                      </a:pPr>
                      <a:r>
                        <a:t>nan</a:t>
                      </a:r>
                    </a:p>
                  </a:txBody>
                  <a:tcPr/>
                </a:tc>
                <a:tc>
                  <a:txBody>
                    <a:bodyPr wrap="square"/>
                    <a:lstStyle/>
                    <a:p>
                      <a:pPr>
                        <a:defRPr sz="1000">
                          <a:latin typeface="Calibri"/>
                        </a:defRPr>
                      </a:pPr>
                      <a:r>
                        <a:t>INR 136.0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2311-EL-ID-08</a:t>
                      </a:r>
                    </a:p>
                  </a:txBody>
                  <a:tcPr/>
                </a:tc>
                <a:tc>
                  <a:txBody>
                    <a:bodyPr wrap="square"/>
                    <a:lstStyle/>
                    <a:p>
                      <a:pPr>
                        <a:defRPr sz="1000">
                          <a:latin typeface="Calibri"/>
                        </a:defRPr>
                      </a:pPr>
                      <a:r>
                        <a:t>Update the battery mounting technique in MGI to align with the one employed in KIA, including a redesign of the battery-securing enclosure.</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2311-DA-ID-10</a:t>
                      </a:r>
                    </a:p>
                  </a:txBody>
                  <a:tcPr/>
                </a:tc>
                <a:tc>
                  <a:txBody>
                    <a:bodyPr wrap="square"/>
                    <a:lstStyle/>
                    <a:p>
                      <a:pPr>
                        <a:defRPr sz="1000">
                          <a:latin typeface="Calibri"/>
                        </a:defRPr>
                      </a:pPr>
                      <a:r>
                        <a:t>Instead of using Aluminum in the manufacture of the Mirror Main Frame, use PA6-GF 50</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Homeroom ideas to be bunched up and taken up for new program</a:t>
                      </a:r>
                    </a:p>
                    <a:p>
                      <a:pPr>
                        <a:defRPr sz="1000">
                          <a:latin typeface="Calibri"/>
                        </a:defRPr>
                      </a:pP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2311-PRODUCT-ID-05</a:t>
                      </a:r>
                    </a:p>
                  </a:txBody>
                  <a:tcPr/>
                </a:tc>
                <a:tc>
                  <a:txBody>
                    <a:bodyPr wrap="square"/>
                    <a:lstStyle/>
                    <a:p>
                      <a:pPr>
                        <a:defRPr sz="1000">
                          <a:latin typeface="Calibri"/>
                        </a:defRPr>
                      </a:pPr>
                      <a:r>
                        <a:t>Reduce the projection of the 'HECTOR' badging on the tailgate at the rear end of the car from 4mm to 2.5mm</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INR 135.0</a:t>
                      </a:r>
                    </a:p>
                  </a:txBody>
                  <a:tcPr/>
                </a:tc>
                <a:tc>
                  <a:txBody>
                    <a:bodyPr wrap="square"/>
                    <a:lstStyle/>
                    <a:p>
                      <a:pPr>
                        <a:defRPr sz="1000">
                          <a:latin typeface="Calibri"/>
                        </a:defRPr>
                      </a:pPr>
                      <a:r>
                        <a:t>NG</a:t>
                      </a:r>
                    </a:p>
                  </a:txBody>
                  <a:tcPr/>
                </a:tc>
                <a:tc>
                  <a:txBody>
                    <a:bodyPr wrap="square"/>
                    <a:lstStyle/>
                    <a:p>
                      <a:pPr>
                        <a:defRPr sz="1000">
                          <a:latin typeface="Calibri"/>
                        </a:defRPr>
                      </a:pPr>
                      <a:r>
                        <a:t>Verify business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7)</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2311-BIW-ID-06</a:t>
                      </a:r>
                    </a:p>
                  </a:txBody>
                  <a:tcPr/>
                </a:tc>
                <a:tc>
                  <a:txBody>
                    <a:bodyPr wrap="square"/>
                    <a:lstStyle/>
                    <a:p>
                      <a:pPr>
                        <a:defRPr sz="1000">
                          <a:latin typeface="Calibri"/>
                        </a:defRPr>
                      </a:pPr>
                      <a:r>
                        <a:t>Reduce the Paint Coating Thickness of the highlighted Roof BiW Panel from 110 - 120μm to 70 - 80μm</a:t>
                      </a:r>
                    </a:p>
                  </a:txBody>
                  <a:tcPr/>
                </a:tc>
                <a:tc>
                  <a:txBody>
                    <a:bodyPr wrap="square"/>
                    <a:lstStyle/>
                    <a:p>
                      <a:pPr>
                        <a:defRPr sz="1000">
                          <a:latin typeface="Calibri"/>
                        </a:defRPr>
                      </a:pPr>
                      <a:r>
                        <a:t>nan</a:t>
                      </a:r>
                    </a:p>
                  </a:txBody>
                  <a:tcPr/>
                </a:tc>
                <a:tc>
                  <a:txBody>
                    <a:bodyPr wrap="square"/>
                    <a:lstStyle/>
                    <a:p>
                      <a:pPr>
                        <a:defRPr sz="1000">
                          <a:latin typeface="Calibri"/>
                        </a:defRPr>
                      </a:pPr>
                      <a:r>
                        <a:t>INR 135.0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2311-DA-ID-25</a:t>
                      </a:r>
                    </a:p>
                  </a:txBody>
                  <a:tcPr/>
                </a:tc>
                <a:tc>
                  <a:txBody>
                    <a:bodyPr wrap="square"/>
                    <a:lstStyle/>
                    <a:p>
                      <a:pPr>
                        <a:defRPr sz="1000">
                          <a:latin typeface="Calibri"/>
                        </a:defRPr>
                      </a:pPr>
                      <a:r>
                        <a:t>Replace PP-T20 used in the manufacture of the Door Panel Interior Main Trims 2 of MGI with PP-E/P-TD10</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INR 134.0</a:t>
                      </a:r>
                    </a:p>
                  </a:txBody>
                  <a:tcPr/>
                </a:tc>
                <a:tc>
                  <a:txBody>
                    <a:bodyPr wrap="square"/>
                    <a:lstStyle/>
                    <a:p>
                      <a:pPr>
                        <a:defRPr sz="1000">
                          <a:latin typeface="Calibri"/>
                        </a:defRPr>
                      </a:pPr>
                      <a:r>
                        <a:t>NG</a:t>
                      </a:r>
                    </a:p>
                  </a:txBody>
                  <a:tcPr/>
                </a:tc>
                <a:tc>
                  <a:txBody>
                    <a:bodyPr wrap="square"/>
                    <a:lstStyle/>
                    <a:p>
                      <a:pPr>
                        <a:defRPr sz="1000">
                          <a:latin typeface="Calibri"/>
                        </a:defRPr>
                      </a:pPr>
                      <a:r>
                        <a:t>Business case to be evaluated (combined for DA-ID-24 &amp; 25)</a:t>
                      </a:r>
                    </a:p>
                  </a:txBody>
                  <a:tcPr/>
                </a:tc>
                <a:tc>
                  <a:txBody>
                    <a:bodyPr wrap="square"/>
                    <a:lstStyle/>
                    <a:p>
                      <a:pPr>
                        <a:defRPr sz="1000">
                          <a:latin typeface="Calibri"/>
                        </a:defRPr>
                      </a:pPr>
                      <a:r>
                        <a:t>Kalp</a:t>
                      </a:r>
                    </a:p>
                  </a:txBody>
                  <a:tcPr/>
                </a:tc>
                <a:tc>
                  <a:txBody>
                    <a:bodyPr wrap="square"/>
                    <a:lstStyle/>
                    <a:p>
                      <a:pPr>
                        <a:defRPr sz="1000">
                          <a:latin typeface="Calibri"/>
                        </a:defRPr>
                      </a:pPr>
                      <a:r>
                        <a:t>2023-11-24 00:00:00</a:t>
                      </a:r>
                    </a:p>
                  </a:txBody>
                  <a:tcPr/>
                </a:tc>
              </a:tr>
              <a:tr h="320040">
                <a:tc>
                  <a:txBody>
                    <a:bodyPr wrap="square"/>
                    <a:lstStyle/>
                    <a:p>
                      <a:pPr>
                        <a:defRPr sz="1000">
                          <a:latin typeface="Calibri"/>
                        </a:defRPr>
                      </a:pPr>
                      <a:r>
                        <a:t>2311-ET-ID-20</a:t>
                      </a:r>
                    </a:p>
                  </a:txBody>
                  <a:tcPr/>
                </a:tc>
                <a:tc>
                  <a:txBody>
                    <a:bodyPr wrap="square"/>
                    <a:lstStyle/>
                    <a:p>
                      <a:pPr>
                        <a:defRPr sz="1000">
                          <a:latin typeface="Calibri"/>
                        </a:defRPr>
                      </a:pPr>
                      <a:r>
                        <a:t>Replace the PCB Module supplied by 'Taizhou Suzhong Antenna Group Co., Ltd.' used within the shark fin antenna of MGI with a similar one supplied by 'INFAC Elecs'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2311-ET-ID-07</a:t>
                      </a:r>
                    </a:p>
                  </a:txBody>
                  <a:tcPr/>
                </a:tc>
                <a:tc>
                  <a:txBody>
                    <a:bodyPr wrap="square"/>
                    <a:lstStyle/>
                    <a:p>
                      <a:pPr>
                        <a:defRPr sz="1000">
                          <a:latin typeface="Calibri"/>
                        </a:defRPr>
                      </a:pPr>
                      <a:r>
                        <a:t>Reduce the wall thickness of the Front and Rear Fender Garnishes present on both LH and RH sides from 3.2mm to 2.8mm</a:t>
                      </a:r>
                    </a:p>
                  </a:txBody>
                  <a:tcPr/>
                </a:tc>
                <a:tc>
                  <a:txBody>
                    <a:bodyPr wrap="square"/>
                    <a:lstStyle/>
                    <a:p>
                      <a:pPr>
                        <a:defRPr sz="1000">
                          <a:latin typeface="Calibri"/>
                        </a:defRPr>
                      </a:pPr>
                      <a:r>
                        <a:t>nan</a:t>
                      </a:r>
                    </a:p>
                  </a:txBody>
                  <a:tcPr/>
                </a:tc>
                <a:tc>
                  <a:txBody>
                    <a:bodyPr wrap="square"/>
                    <a:lstStyle/>
                    <a:p>
                      <a:pPr>
                        <a:defRPr sz="1000">
                          <a:latin typeface="Calibri"/>
                        </a:defRPr>
                      </a:pPr>
                      <a:r>
                        <a:t>INR 133.0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2311-ET-ID-24</a:t>
                      </a:r>
                    </a:p>
                  </a:txBody>
                  <a:tcPr/>
                </a:tc>
                <a:tc>
                  <a:txBody>
                    <a:bodyPr wrap="square"/>
                    <a:lstStyle/>
                    <a:p>
                      <a:pPr>
                        <a:defRPr sz="1000">
                          <a:latin typeface="Calibri"/>
                        </a:defRPr>
                      </a:pPr>
                      <a:r>
                        <a:t>Redesign the current front logo assembly making the mentioned changes,</a:t>
                      </a:r>
                    </a:p>
                    <a:p>
                      <a:pPr>
                        <a:defRPr sz="1000">
                          <a:latin typeface="Calibri"/>
                        </a:defRPr>
                      </a:pPr>
                      <a:r>
                        <a:t>1. Remove the Logo Holder (Black)</a:t>
                      </a:r>
                    </a:p>
                    <a:p>
                      <a:pPr>
                        <a:defRPr sz="1000">
                          <a:latin typeface="Calibri"/>
                        </a:defRPr>
                      </a:pPr>
                      <a:r>
                        <a:t>2. Instead of chrome plating the Logo Holding Bracket, finish it in Black and snap-fit the logo M and G onto this</a:t>
                      </a:r>
                    </a:p>
                    <a:p>
                      <a:pPr>
                        <a:defRPr sz="1000">
                          <a:latin typeface="Calibri"/>
                        </a:defRPr>
                      </a:pPr>
                      <a:r>
                        <a:t>3. Introduce a new chrome-plated edge trim to complete the design</a:t>
                      </a:r>
                    </a:p>
                  </a:txBody>
                  <a:tcPr/>
                </a:tc>
                <a:tc>
                  <a:txBody>
                    <a:bodyPr wrap="square"/>
                    <a:lstStyle/>
                    <a:p>
                      <a:pPr>
                        <a:defRPr sz="1000">
                          <a:latin typeface="Calibri"/>
                        </a:defRPr>
                      </a:pPr>
                      <a:r>
                        <a:t>nan</a:t>
                      </a:r>
                    </a:p>
                  </a:txBody>
                  <a:tcPr/>
                </a:tc>
                <a:tc>
                  <a:txBody>
                    <a:bodyPr wrap="square"/>
                    <a:lstStyle/>
                    <a:p>
                      <a:pPr>
                        <a:defRPr sz="1000">
                          <a:latin typeface="Calibri"/>
                        </a:defRPr>
                      </a:pPr>
                      <a:r>
                        <a:t>INR 132.0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8)</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2311-DA-ID-12</a:t>
                      </a:r>
                    </a:p>
                  </a:txBody>
                  <a:tcPr/>
                </a:tc>
                <a:tc>
                  <a:txBody>
                    <a:bodyPr wrap="square"/>
                    <a:lstStyle/>
                    <a:p>
                      <a:pPr>
                        <a:defRPr sz="1000">
                          <a:latin typeface="Calibri"/>
                        </a:defRPr>
                      </a:pPr>
                      <a:r>
                        <a:t>Replace ABS with PP-GF 15 in the manufacture of the LH and RH Side Spoiler Inner Trims</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2311-ET-ID-11</a:t>
                      </a:r>
                    </a:p>
                  </a:txBody>
                  <a:tcPr/>
                </a:tc>
                <a:tc>
                  <a:txBody>
                    <a:bodyPr wrap="square"/>
                    <a:lstStyle/>
                    <a:p>
                      <a:pPr>
                        <a:defRPr sz="1000">
                          <a:latin typeface="Calibri"/>
                        </a:defRPr>
                      </a:pPr>
                      <a:r>
                        <a:t>1. Remove the Foam inserts from both the LH and RH sides of MGI and use plastic trims instead as employed in KIA</a:t>
                      </a:r>
                    </a:p>
                    <a:p>
                      <a:pPr>
                        <a:defRPr sz="1000">
                          <a:latin typeface="Calibri"/>
                        </a:defRPr>
                      </a:pPr>
                      <a:r>
                        <a:t>2. Thinsulate could be used if required</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2311-IP-ID-01</a:t>
                      </a:r>
                    </a:p>
                  </a:txBody>
                  <a:tcPr/>
                </a:tc>
                <a:tc>
                  <a:txBody>
                    <a:bodyPr wrap="square"/>
                    <a:lstStyle/>
                    <a:p>
                      <a:pPr>
                        <a:defRPr sz="1000">
                          <a:latin typeface="Calibri"/>
                        </a:defRPr>
                      </a:pPr>
                      <a:r>
                        <a:t>Replace the Thinsulate used within the LH &amp; RH Centre Console Side Trims of MGI with Thermoplastic Felt</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INR 131.0</a:t>
                      </a:r>
                    </a:p>
                  </a:txBody>
                  <a:tcPr/>
                </a:tc>
                <a:tc>
                  <a:txBody>
                    <a:bodyPr wrap="square"/>
                    <a:lstStyle/>
                    <a:p>
                      <a:pPr>
                        <a:defRPr sz="1000">
                          <a:latin typeface="Calibri"/>
                        </a:defRPr>
                      </a:pPr>
                      <a:r>
                        <a:t>TBD</a:t>
                      </a:r>
                    </a:p>
                  </a:txBody>
                  <a:tcPr/>
                </a:tc>
                <a:tc>
                  <a:txBody>
                    <a:bodyPr wrap="square"/>
                    <a:lstStyle/>
                    <a:p>
                      <a:pPr>
                        <a:defRPr sz="1000">
                          <a:latin typeface="Calibri"/>
                        </a:defRPr>
                      </a:pPr>
                      <a:r>
                        <a:t>Confirm on part availability</a:t>
                      </a:r>
                    </a:p>
                  </a:txBody>
                  <a:tcPr/>
                </a:tc>
                <a:tc>
                  <a:txBody>
                    <a:bodyPr wrap="square"/>
                    <a:lstStyle/>
                    <a:p>
                      <a:pPr>
                        <a:defRPr sz="1000">
                          <a:latin typeface="Calibri"/>
                        </a:defRPr>
                      </a:pPr>
                      <a:r>
                        <a:t>Akhil/ Narendra</a:t>
                      </a:r>
                    </a:p>
                  </a:txBody>
                  <a:tcPr/>
                </a:tc>
                <a:tc>
                  <a:txBody>
                    <a:bodyPr wrap="square"/>
                    <a:lstStyle/>
                    <a:p>
                      <a:pPr>
                        <a:defRPr sz="1000">
                          <a:latin typeface="Calibri"/>
                        </a:defRPr>
                      </a:pPr>
                      <a:r>
                        <a:t>29-Mar-24</a:t>
                      </a:r>
                    </a:p>
                    <a:p>
                      <a:pPr>
                        <a:defRPr sz="1000">
                          <a:latin typeface="Calibri"/>
                        </a:defRPr>
                      </a:pPr>
                      <a:r>
                        <a:t>16-Feb-24</a:t>
                      </a:r>
                    </a:p>
                  </a:txBody>
                  <a:tcPr/>
                </a:tc>
              </a:tr>
              <a:tr h="320040">
                <a:tc>
                  <a:txBody>
                    <a:bodyPr wrap="square"/>
                    <a:lstStyle/>
                    <a:p>
                      <a:pPr>
                        <a:defRPr sz="1000">
                          <a:latin typeface="Calibri"/>
                        </a:defRPr>
                      </a:pPr>
                      <a:r>
                        <a:t>2311-ST-ID-03</a:t>
                      </a:r>
                    </a:p>
                  </a:txBody>
                  <a:tcPr/>
                </a:tc>
                <a:tc>
                  <a:txBody>
                    <a:bodyPr wrap="square"/>
                    <a:lstStyle/>
                    <a:p>
                      <a:pPr>
                        <a:defRPr sz="1000">
                          <a:latin typeface="Calibri"/>
                        </a:defRPr>
                      </a:pPr>
                      <a:r>
                        <a:t>Replace the Cast Aluminium Steering Column Mount in MGI with a fabricated sheet welded onto the shaft as used in KIA </a:t>
                      </a:r>
                    </a:p>
                  </a:txBody>
                  <a:tcPr/>
                </a:tc>
                <a:tc>
                  <a:txBody>
                    <a:bodyPr wrap="square"/>
                    <a:lstStyle/>
                    <a:p>
                      <a:pPr>
                        <a:defRPr sz="1000">
                          <a:latin typeface="Calibri"/>
                        </a:defRPr>
                      </a:pPr>
                      <a:r>
                        <a:t>nan</a:t>
                      </a:r>
                    </a:p>
                  </a:txBody>
                  <a:tcPr/>
                </a:tc>
                <a:tc>
                  <a:txBody>
                    <a:bodyPr wrap="square"/>
                    <a:lstStyle/>
                    <a:p>
                      <a:pPr>
                        <a:defRPr sz="1000">
                          <a:latin typeface="Calibri"/>
                        </a:defRPr>
                      </a:pPr>
                      <a:r>
                        <a:t>INR 131.0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2311-IP-ID-10</a:t>
                      </a:r>
                    </a:p>
                  </a:txBody>
                  <a:tcPr/>
                </a:tc>
                <a:tc>
                  <a:txBody>
                    <a:bodyPr wrap="square"/>
                    <a:lstStyle/>
                    <a:p>
                      <a:pPr>
                        <a:defRPr sz="1000">
                          <a:latin typeface="Calibri"/>
                        </a:defRPr>
                      </a:pPr>
                      <a:r>
                        <a:t>Replace PC-ABS with ABS in the manufacture of the Front-Row Armrest Inner Cover in MGI</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9)</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2311-WT-ID-01</a:t>
                      </a:r>
                    </a:p>
                  </a:txBody>
                  <a:tcPr/>
                </a:tc>
                <a:tc>
                  <a:txBody>
                    <a:bodyPr wrap="square"/>
                    <a:lstStyle/>
                    <a:p>
                      <a:pPr>
                        <a:defRPr sz="1000">
                          <a:latin typeface="Calibri"/>
                        </a:defRPr>
                      </a:pPr>
                      <a:r>
                        <a:t>Replace the Tyre Pressure Monitoring System (TPMS) sensors from 'SGMW' used in MGI with similar sensors from 'Continental Engineering Services' used in KIA.</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2311-BIW-ID-02</a:t>
                      </a:r>
                    </a:p>
                  </a:txBody>
                  <a:tcPr/>
                </a:tc>
                <a:tc>
                  <a:txBody>
                    <a:bodyPr wrap="square"/>
                    <a:lstStyle/>
                    <a:p>
                      <a:pPr>
                        <a:defRPr sz="1000">
                          <a:latin typeface="Calibri"/>
                        </a:defRPr>
                      </a:pPr>
                      <a:r>
                        <a:t>Remove the black paint coating from the LH &amp; RH A-Pillar Side Stiffener Brackets, LH &amp; RH Centre Console and Gear Selector Base Mounting Brackets on the BIW of MGI</a:t>
                      </a:r>
                    </a:p>
                  </a:txBody>
                  <a:tcPr/>
                </a:tc>
                <a:tc>
                  <a:txBody>
                    <a:bodyPr wrap="square"/>
                    <a:lstStyle/>
                    <a:p>
                      <a:pPr>
                        <a:defRPr sz="1000">
                          <a:latin typeface="Calibri"/>
                        </a:defRPr>
                      </a:pPr>
                      <a:r>
                        <a:t>CFT buy off</a:t>
                      </a:r>
                    </a:p>
                  </a:txBody>
                  <a:tcPr/>
                </a:tc>
                <a:tc>
                  <a:txBody>
                    <a:bodyPr wrap="square"/>
                    <a:lstStyle/>
                    <a:p>
                      <a:pPr>
                        <a:defRPr sz="1000">
                          <a:latin typeface="Calibri"/>
                        </a:defRPr>
                      </a:pPr>
                      <a:r>
                        <a:t>INR 130.0</a:t>
                      </a:r>
                    </a:p>
                  </a:txBody>
                  <a:tcPr/>
                </a:tc>
                <a:tc>
                  <a:txBody>
                    <a:bodyPr wrap="square"/>
                    <a:lstStyle/>
                    <a:p>
                      <a:pPr>
                        <a:defRPr sz="1000">
                          <a:latin typeface="Calibri"/>
                        </a:defRPr>
                      </a:pPr>
                      <a:r>
                        <a:t>TBD</a:t>
                      </a:r>
                    </a:p>
                  </a:txBody>
                  <a:tcPr/>
                </a:tc>
                <a:tc>
                  <a:txBody>
                    <a:bodyPr wrap="square"/>
                    <a:lstStyle/>
                    <a:p>
                      <a:pPr>
                        <a:defRPr sz="1000">
                          <a:latin typeface="Calibri"/>
                        </a:defRPr>
                      </a:pPr>
                      <a:r>
                        <a:t>CFT buy off</a:t>
                      </a:r>
                    </a:p>
                  </a:txBody>
                  <a:tcPr/>
                </a:tc>
                <a:tc>
                  <a:txBody>
                    <a:bodyPr wrap="square"/>
                    <a:lstStyle/>
                    <a:p>
                      <a:pPr>
                        <a:defRPr sz="1000">
                          <a:latin typeface="Calibri"/>
                        </a:defRPr>
                      </a:pPr>
                      <a:r>
                        <a:t>Ratnadeep</a:t>
                      </a:r>
                    </a:p>
                  </a:txBody>
                  <a:tcPr/>
                </a:tc>
                <a:tc>
                  <a:txBody>
                    <a:bodyPr wrap="square"/>
                    <a:lstStyle/>
                    <a:p>
                      <a:pPr>
                        <a:defRPr sz="1000">
                          <a:latin typeface="Calibri"/>
                        </a:defRPr>
                      </a:pPr>
                      <a:r>
                        <a:t>2024-03-29 00:00:00</a:t>
                      </a:r>
                    </a:p>
                  </a:txBody>
                  <a:tcPr/>
                </a:tc>
              </a:tr>
              <a:tr h="320040">
                <a:tc>
                  <a:txBody>
                    <a:bodyPr wrap="square"/>
                    <a:lstStyle/>
                    <a:p>
                      <a:pPr>
                        <a:defRPr sz="1000">
                          <a:latin typeface="Calibri"/>
                        </a:defRPr>
                      </a:pPr>
                      <a:r>
                        <a:t>2311-PRODUCT-ID-02</a:t>
                      </a:r>
                    </a:p>
                  </a:txBody>
                  <a:tcPr/>
                </a:tc>
                <a:tc>
                  <a:txBody>
                    <a:bodyPr wrap="square"/>
                    <a:lstStyle/>
                    <a:p>
                      <a:pPr>
                        <a:defRPr sz="1000">
                          <a:latin typeface="Calibri"/>
                        </a:defRPr>
                      </a:pPr>
                      <a:r>
                        <a:t>Replace the Plastic Caps mounted onto the doors, hood, and tailgate (total 14) with adhesive stickers.</a:t>
                      </a:r>
                    </a:p>
                  </a:txBody>
                  <a:tcPr/>
                </a:tc>
                <a:tc>
                  <a:txBody>
                    <a:bodyPr wrap="square"/>
                    <a:lstStyle/>
                    <a:p>
                      <a:pPr>
                        <a:defRPr sz="1000">
                          <a:latin typeface="Calibri"/>
                        </a:defRPr>
                      </a:pPr>
                      <a:r>
                        <a:t>nan</a:t>
                      </a:r>
                    </a:p>
                  </a:txBody>
                  <a:tcPr/>
                </a:tc>
                <a:tc>
                  <a:txBody>
                    <a:bodyPr wrap="square"/>
                    <a:lstStyle/>
                    <a:p>
                      <a:pPr>
                        <a:defRPr sz="1000">
                          <a:latin typeface="Calibri"/>
                        </a:defRPr>
                      </a:pPr>
                      <a:r>
                        <a:t>INR 130.0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2311-DA-ID-18</a:t>
                      </a:r>
                    </a:p>
                  </a:txBody>
                  <a:tcPr/>
                </a:tc>
                <a:tc>
                  <a:txBody>
                    <a:bodyPr wrap="square"/>
                    <a:lstStyle/>
                    <a:p>
                      <a:pPr>
                        <a:defRPr sz="1000">
                          <a:latin typeface="Calibri"/>
                        </a:defRPr>
                      </a:pPr>
                      <a:r>
                        <a:t>Replace ABS with PP-T 20 in the manufacture of Door Panel Interior Delta Trim Inners</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Check Bussiness case</a:t>
                      </a:r>
                    </a:p>
                  </a:txBody>
                  <a:tcPr/>
                </a:tc>
                <a:tc>
                  <a:txBody>
                    <a:bodyPr wrap="square"/>
                    <a:lstStyle/>
                    <a:p>
                      <a:pPr>
                        <a:defRPr sz="1000">
                          <a:latin typeface="Calibri"/>
                        </a:defRPr>
                      </a:pPr>
                      <a:r>
                        <a:t>Kalp</a:t>
                      </a:r>
                    </a:p>
                  </a:txBody>
                  <a:tcPr/>
                </a:tc>
                <a:tc>
                  <a:txBody>
                    <a:bodyPr wrap="square"/>
                    <a:lstStyle/>
                    <a:p>
                      <a:pPr>
                        <a:defRPr sz="1000">
                          <a:latin typeface="Calibri"/>
                        </a:defRPr>
                      </a:pPr>
                      <a:r>
                        <a:t>2023-11-08 00:00:00</a:t>
                      </a:r>
                    </a:p>
                  </a:txBody>
                  <a:tcPr/>
                </a:tc>
              </a:tr>
              <a:tr h="320040">
                <a:tc>
                  <a:txBody>
                    <a:bodyPr wrap="square"/>
                    <a:lstStyle/>
                    <a:p>
                      <a:pPr>
                        <a:defRPr sz="1000">
                          <a:latin typeface="Calibri"/>
                        </a:defRPr>
                      </a:pPr>
                      <a:r>
                        <a:t>2311-DA-ID-20</a:t>
                      </a:r>
                    </a:p>
                  </a:txBody>
                  <a:tcPr/>
                </a:tc>
                <a:tc>
                  <a:txBody>
                    <a:bodyPr wrap="square"/>
                    <a:lstStyle/>
                    <a:p>
                      <a:pPr>
                        <a:defRPr sz="1000">
                          <a:latin typeface="Calibri"/>
                        </a:defRPr>
                      </a:pPr>
                      <a:r>
                        <a:t>De-content Cable Protective Sheaths one each from all the Lock Release and Front Window Regulator assemblies of the vehicle</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INR 129.0</a:t>
                      </a:r>
                    </a:p>
                  </a:txBody>
                  <a:tcPr/>
                </a:tc>
                <a:tc>
                  <a:txBody>
                    <a:bodyPr wrap="square"/>
                    <a:lstStyle/>
                    <a:p>
                      <a:pPr>
                        <a:defRPr sz="1000">
                          <a:latin typeface="Calibri"/>
                        </a:defRPr>
                      </a:pPr>
                      <a:r>
                        <a:t>NG</a:t>
                      </a:r>
                    </a:p>
                  </a:txBody>
                  <a:tcPr/>
                </a:tc>
                <a:tc>
                  <a:txBody>
                    <a:bodyPr wrap="square"/>
                    <a:lstStyle/>
                    <a:p>
                      <a:pPr>
                        <a:defRPr sz="1000">
                          <a:latin typeface="Calibri"/>
                        </a:defRPr>
                      </a:pPr>
                      <a:r>
                        <a:t>Confirm homeroom feasibilty</a:t>
                      </a:r>
                    </a:p>
                  </a:txBody>
                  <a:tcPr/>
                </a:tc>
                <a:tc>
                  <a:txBody>
                    <a:bodyPr wrap="square"/>
                    <a:lstStyle/>
                    <a:p>
                      <a:pPr>
                        <a:defRPr sz="1000">
                          <a:latin typeface="Calibri"/>
                        </a:defRPr>
                      </a:pPr>
                      <a:r>
                        <a:t>Manish</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10)</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2311-DA-ID-37</a:t>
                      </a:r>
                    </a:p>
                  </a:txBody>
                  <a:tcPr/>
                </a:tc>
                <a:tc>
                  <a:txBody>
                    <a:bodyPr wrap="square"/>
                    <a:lstStyle/>
                    <a:p>
                      <a:pPr>
                        <a:defRPr sz="1000">
                          <a:latin typeface="Calibri"/>
                        </a:defRPr>
                      </a:pPr>
                      <a:r>
                        <a:t>Replace ABS with PP-T20 used in the manufacture of the LH and RH Mirror Outer Covers of MGI</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2311-EL-ID-23</a:t>
                      </a:r>
                    </a:p>
                  </a:txBody>
                  <a:tcPr/>
                </a:tc>
                <a:tc>
                  <a:txBody>
                    <a:bodyPr wrap="square"/>
                    <a:lstStyle/>
                    <a:p>
                      <a:pPr>
                        <a:defRPr sz="1000">
                          <a:latin typeface="Calibri"/>
                        </a:defRPr>
                      </a:pPr>
                      <a:r>
                        <a:t>Replace the Mini (Closed) Fuses used within the Engine-Bay Fuse Box of the vehicle with Micro2 (Open) Fuses</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TBD</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2311-SP-ID-03</a:t>
                      </a:r>
                    </a:p>
                  </a:txBody>
                  <a:tcPr/>
                </a:tc>
                <a:tc>
                  <a:txBody>
                    <a:bodyPr wrap="square"/>
                    <a:lstStyle/>
                    <a:p>
                      <a:pPr>
                        <a:defRPr sz="1000">
                          <a:latin typeface="Calibri"/>
                        </a:defRPr>
                      </a:pPr>
                      <a:r>
                        <a:t>Redesign the rubber mould removing the 16mm extension downwards from all three sides of the plate</a:t>
                      </a:r>
                    </a:p>
                  </a:txBody>
                  <a:tcPr/>
                </a:tc>
                <a:tc>
                  <a:txBody>
                    <a:bodyPr wrap="square"/>
                    <a:lstStyle/>
                    <a:p>
                      <a:pPr>
                        <a:defRPr sz="1000">
                          <a:latin typeface="Calibri"/>
                        </a:defRPr>
                      </a:pPr>
                      <a:r>
                        <a:t>nan</a:t>
                      </a:r>
                    </a:p>
                  </a:txBody>
                  <a:tcPr/>
                </a:tc>
                <a:tc>
                  <a:txBody>
                    <a:bodyPr wrap="square"/>
                    <a:lstStyle/>
                    <a:p>
                      <a:pPr>
                        <a:defRPr sz="1000">
                          <a:latin typeface="Calibri"/>
                        </a:defRPr>
                      </a:pPr>
                      <a:r>
                        <a:t>INR 127.0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r h="320040">
                <a:tc>
                  <a:txBody>
                    <a:bodyPr wrap="square"/>
                    <a:lstStyle/>
                    <a:p>
                      <a:pPr>
                        <a:defRPr sz="1000">
                          <a:latin typeface="Calibri"/>
                        </a:defRPr>
                      </a:pPr>
                      <a:r>
                        <a:t>2311-DA-ID-27</a:t>
                      </a:r>
                    </a:p>
                  </a:txBody>
                  <a:tcPr/>
                </a:tc>
                <a:tc>
                  <a:txBody>
                    <a:bodyPr wrap="square"/>
                    <a:lstStyle/>
                    <a:p>
                      <a:pPr>
                        <a:defRPr sz="1000">
                          <a:latin typeface="Calibri"/>
                        </a:defRPr>
                      </a:pPr>
                      <a:r>
                        <a:t>Replace ABS+PVC+PU with PP+PE-TD14 in the manufacture of both Front and Rear Passenger Armrest Trims of MGI</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New tooling cost from YFI to be confirmed for business case calculations</a:t>
                      </a:r>
                    </a:p>
                  </a:txBody>
                  <a:tcPr/>
                </a:tc>
                <a:tc>
                  <a:txBody>
                    <a:bodyPr wrap="square"/>
                    <a:lstStyle/>
                    <a:p>
                      <a:pPr>
                        <a:defRPr sz="1000">
                          <a:latin typeface="Calibri"/>
                        </a:defRPr>
                      </a:pPr>
                      <a:r>
                        <a:t>Akhil</a:t>
                      </a:r>
                    </a:p>
                  </a:txBody>
                  <a:tcPr/>
                </a:tc>
                <a:tc>
                  <a:txBody>
                    <a:bodyPr wrap="square"/>
                    <a:lstStyle/>
                    <a:p>
                      <a:pPr>
                        <a:defRPr sz="1000">
                          <a:latin typeface="Calibri"/>
                        </a:defRPr>
                      </a:pPr>
                      <a:r>
                        <a:t>2024-02-12 00:00:00</a:t>
                      </a:r>
                    </a:p>
                  </a:txBody>
                  <a:tcPr/>
                </a:tc>
              </a:tr>
              <a:tr h="320040">
                <a:tc>
                  <a:txBody>
                    <a:bodyPr wrap="square"/>
                    <a:lstStyle/>
                    <a:p>
                      <a:pPr>
                        <a:defRPr sz="1000">
                          <a:latin typeface="Calibri"/>
                        </a:defRPr>
                      </a:pPr>
                      <a:r>
                        <a:t>2311-PRODUCT-ID-03</a:t>
                      </a:r>
                    </a:p>
                  </a:txBody>
                  <a:tcPr/>
                </a:tc>
                <a:tc>
                  <a:txBody>
                    <a:bodyPr wrap="square"/>
                    <a:lstStyle/>
                    <a:p>
                      <a:pPr>
                        <a:defRPr sz="1000">
                          <a:latin typeface="Calibri"/>
                        </a:defRPr>
                      </a:pPr>
                      <a:r>
                        <a:t>Replace the rubber bushes used on the wiper blade mounting bolts with the plastic protective cap.</a:t>
                      </a:r>
                    </a:p>
                  </a:txBody>
                  <a:tcPr/>
                </a:tc>
                <a:tc>
                  <a:txBody>
                    <a:bodyPr wrap="square"/>
                    <a:lstStyle/>
                    <a:p>
                      <a:pPr>
                        <a:defRPr sz="1000">
                          <a:latin typeface="Calibri"/>
                        </a:defRPr>
                      </a:pPr>
                      <a:r>
                        <a:t>nan</a:t>
                      </a:r>
                    </a:p>
                  </a:txBody>
                  <a:tcPr/>
                </a:tc>
                <a:tc>
                  <a:txBody>
                    <a:bodyPr wrap="square"/>
                    <a:lstStyle/>
                    <a:p>
                      <a:pPr>
                        <a:defRPr sz="1000">
                          <a:latin typeface="Calibri"/>
                        </a:defRPr>
                      </a:pPr>
                      <a:r>
                        <a:t>INR 126.0</a:t>
                      </a:r>
                    </a:p>
                  </a:txBody>
                  <a:tcPr/>
                </a:tc>
                <a:tc>
                  <a:txBody>
                    <a:bodyPr wrap="square"/>
                    <a:lstStyle/>
                    <a:p>
                      <a:pPr>
                        <a:defRPr sz="1000">
                          <a:latin typeface="Calibri"/>
                        </a:defRPr>
                      </a:pPr>
                      <a:r>
                        <a:t>NG</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c>
                  <a:txBody>
                    <a:bodyPr wrap="square"/>
                    <a:lstStyle/>
                    <a:p>
                      <a:pPr>
                        <a:defRPr sz="1000">
                          <a:latin typeface="Calibri"/>
                        </a:defRPr>
                      </a:pPr>
                      <a:r>
                        <a:t>nan</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11)</a:t>
            </a:r>
          </a:p>
        </p:txBody>
      </p:sp>
      <p:graphicFrame>
        <p:nvGraphicFramePr>
          <p:cNvPr id="3" name="Table 2"/>
          <p:cNvGraphicFramePr>
            <a:graphicFrameLocks noGrp="1"/>
          </p:cNvGraphicFramePr>
          <p:nvPr/>
        </p:nvGraphicFramePr>
        <p:xfrm>
          <a:off x="182880" y="640080"/>
          <a:ext cx="8778240" cy="259080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9906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AI-GEN-01</a:t>
                      </a:r>
                    </a:p>
                  </a:txBody>
                  <a:tcPr/>
                </a:tc>
                <a:tc>
                  <a:txBody>
                    <a:bodyPr wrap="square"/>
                    <a:lstStyle/>
                    <a:p>
                      <a:pPr>
                        <a:defRPr sz="1000">
                          <a:latin typeface="Calibri"/>
                        </a:defRPr>
                      </a:pPr>
                      <a:r>
                        <a:t>Transition from stamped steel to a forged aluminum alloy (e.g., 6061-T6) for the front lower control arms.</a:t>
                      </a:r>
                    </a:p>
                  </a:txBody>
                  <a:tcPr/>
                </a:tc>
                <a:tc>
                  <a:txBody>
                    <a:bodyPr wrap="square"/>
                    <a:lstStyle/>
                    <a:p>
                      <a:pPr>
                        <a:defRPr sz="1000">
                          <a:latin typeface="Calibri"/>
                        </a:defRPr>
                      </a:pPr>
                      <a:r>
                        <a:t>Forging aluminum alloys allows for complex geometries and grain flow optimization, leading to superior strength-to-weight ratios compared to stamped steel. This reduces unsprung mass, improving dynamic response and ride comfort. Validation will involve FEA simulations to verify structural integrity under critical load cases (braking, cornering, impact), followed by physical testing of prototypes using a shaker rig and a proving ground for real-world performance assessment.</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Forging aluminum alloys allows for complex geometries and grain flow optimization, leading to superior strength-to-weight ratios compared to stamped steel. This reduces unsprung mass, improving dynamic response and ride comfort. Validation will involve FEA simulations to verify structural integrity under critical load cases (braking, cornering, impact), followed by physical testing of prototypes using a shaker rig and a proving ground for real-world performance assessment.</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AI-GEN-02</a:t>
                      </a:r>
                    </a:p>
                  </a:txBody>
                  <a:tcPr/>
                </a:tc>
                <a:tc>
                  <a:txBody>
                    <a:bodyPr wrap="square"/>
                    <a:lstStyle/>
                    <a:p>
                      <a:pPr>
                        <a:defRPr sz="1000">
                          <a:latin typeface="Calibri"/>
                        </a:defRPr>
                      </a:pPr>
                      <a:r>
                        <a:t>Utilize a high-strength aluminum casting (e.g., A356-T6) for the front lower control arms, incorporating hollow sections and optimized ribbing.</a:t>
                      </a:r>
                    </a:p>
                  </a:txBody>
                  <a:tcPr/>
                </a:tc>
                <a:tc>
                  <a:txBody>
                    <a:bodyPr wrap="square"/>
                    <a:lstStyle/>
                    <a:p>
                      <a:pPr>
                        <a:defRPr sz="1000">
                          <a:latin typeface="Calibri"/>
                        </a:defRPr>
                      </a:pPr>
                      <a:r>
                        <a:t>Casting offers significant design freedom, enabling the integration of features like internal voids and strategic reinforcement. This minimizes material usage while maintaining necessary stiffness and durability. The manufacturing process can be more cost-effective than forging for certain complex shapes. Validation will include extensive CAE analysis for stress and fatigue life prediction, followed by destructive testing (e.g., tensile, fatigue) and dynamic vehicle testing on a controlled track.</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Casting offers significant design freedom, enabling the integration of features like internal voids and strategic reinforcement. This minimizes material usage while maintaining necessary stiffness and durability. The manufacturing process can be more cost-effective than forging for certain complex shapes. Validation will include extensive CAE analysis for stress and fatigue life prediction, followed by destructive testing (e.g., tensile, fatigue) and dynamic vehicle testing on a controlled track.</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AI-GEN-03</a:t>
                      </a:r>
                    </a:p>
                  </a:txBody>
                  <a:tcPr/>
                </a:tc>
                <a:tc>
                  <a:txBody>
                    <a:bodyPr wrap="square"/>
                    <a:lstStyle/>
                    <a:p>
                      <a:pPr>
                        <a:defRPr sz="1000">
                          <a:latin typeface="Calibri"/>
                        </a:defRPr>
                      </a:pPr>
                      <a:r>
                        <a:t>Employ a fiber-reinforced polymer (FRP) composite, such as carbon fiber or glass fiber with a high-performance resin matrix, for the front lower control arms.</a:t>
                      </a:r>
                    </a:p>
                  </a:txBody>
                  <a:tcPr/>
                </a:tc>
                <a:tc>
                  <a:txBody>
                    <a:bodyPr wrap="square"/>
                    <a:lstStyle/>
                    <a:p>
                      <a:pPr>
                        <a:defRPr sz="1000">
                          <a:latin typeface="Calibri"/>
                        </a:defRPr>
                      </a:pPr>
                      <a:r>
                        <a:t>Composites offer exceptional stiffness and strength at a fraction of the weight of steel or even aluminum. Advanced lay-up techniques can tailor material properties to specific load requirements, further optimizing performance. This approach significantly reduces unsprung mass, enhancing agility and fuel efficiency. Validation will focus on fatigue and impact resistance testing using specialized composite testing equipment, alongside rigorous vehicle dynamics testing to quantify performance gains.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Composites offer exceptional stiffness and strength at a fraction of the weight of steel or even aluminum. Advanced lay-up techniques can tailor material properties to specific load requirements, further optimizing performance. This approach significantly reduces unsprung mass, enhancing agility and fuel efficiency. Validation will focus on fatigue and impact resistance testing using specialized composite testing equipment, alongside rigorous vehicle dynamics testing to quantify performance gains.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AI-GEN-04</a:t>
                      </a:r>
                    </a:p>
                  </a:txBody>
                  <a:tcPr/>
                </a:tc>
                <a:tc>
                  <a:txBody>
                    <a:bodyPr wrap="square"/>
                    <a:lstStyle/>
                    <a:p>
                      <a:pPr>
                        <a:defRPr sz="1000">
                          <a:latin typeface="Calibri"/>
                        </a:defRPr>
                      </a:pPr>
                      <a:r>
                        <a:t>Develop a hybrid aluminum-composite structure for the front lower control arms, where critical stress areas utilize forged aluminum inserts integrated within a composite shell.</a:t>
                      </a:r>
                    </a:p>
                  </a:txBody>
                  <a:tcPr/>
                </a:tc>
                <a:tc>
                  <a:txBody>
                    <a:bodyPr wrap="square"/>
                    <a:lstStyle/>
                    <a:p>
                      <a:pPr>
                        <a:defRPr sz="1000">
                          <a:latin typeface="Calibri"/>
                        </a:defRPr>
                      </a:pPr>
                      <a:r>
                        <a:t>This approach leverages the strengths of both materials. Aluminum provides excellent localized strength and impact resistance at mounting points and high-stress zones, while the composite offers low weight and high stiffness for the bulk of the arm. This provides a balance of performance, durability, and weight savings. Validation will involve detailed multi-material FEA, followed by component-level testing of the bonded interfaces and full vehicle testing to assess dynamic behavior and durability.</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This approach leverages the strengths of both materials. Aluminum provides excellent localized strength and impact resistance at mounting points and high-stress zones, while the composite offers low weight and high stiffness for the bulk of the arm. This provides a balance of performance, durability, and weight savings. Validation will involve detailed multi-material FEA, followed by component-level testing of the bonded interfaces and full vehicle testing to assess dynamic behavior and durability.</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r h="320040">
                <a:tc>
                  <a:txBody>
                    <a:bodyPr wrap="square"/>
                    <a:lstStyle/>
                    <a:p>
                      <a:pPr>
                        <a:defRPr sz="1000">
                          <a:latin typeface="Calibri"/>
                        </a:defRPr>
                      </a:pPr>
                      <a:r>
                        <a:t>AI-GEN-05</a:t>
                      </a:r>
                    </a:p>
                  </a:txBody>
                  <a:tcPr/>
                </a:tc>
                <a:tc>
                  <a:txBody>
                    <a:bodyPr wrap="square"/>
                    <a:lstStyle/>
                    <a:p>
                      <a:pPr>
                        <a:defRPr sz="1000">
                          <a:latin typeface="Calibri"/>
                        </a:defRPr>
                      </a:pPr>
                      <a:r>
                        <a:t>Investigate advanced high-strength steel (AHSS) with optimized stamping and hydroforming techniques for the front lower control arms to reduce material thickness and optimize section modulus.</a:t>
                      </a:r>
                    </a:p>
                  </a:txBody>
                  <a:tcPr/>
                </a:tc>
                <a:tc>
                  <a:txBody>
                    <a:bodyPr wrap="square"/>
                    <a:lstStyle/>
                    <a:p>
                      <a:pPr>
                        <a:defRPr sz="1000">
                          <a:latin typeface="Calibri"/>
                        </a:defRPr>
                      </a:pPr>
                      <a:r>
                        <a:t>While not an alternative material in terms of composition, AHSS allows for significantly thinner gauges and more complex shapes than traditional stamped steel. Hydroforming can create hollow sections and intricate profiles, achieving weight savings and improved stiffness. This offers a more evolutionary approach to mass reduction within existing steel supply chains. Validation will involve detailed stamping simulations, hydroforming process modeling, and extensive static and dynamic testing of the optimized AHSS components.</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While not an alternative material in terms of composition, AHSS allows for significantly thinner gauges and more complex shapes than traditional stamped steel. Hydroforming can create hollow sections and intricate profiles, achieving weight savings and improved stiffness. This offers a more evolutionary approach to mass reduction within existing steel supply chains. Validation will involve detailed stamping simulations, hydroforming process modeling, and extensive static and dynamic testing of the optimized AHSS components.</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82880"/>
            <a:ext cx="8229600" cy="365760"/>
          </a:xfrm>
          <a:prstGeom prst="rect">
            <a:avLst/>
          </a:prstGeom>
          <a:noFill/>
        </p:spPr>
        <p:txBody>
          <a:bodyPr wrap="none">
            <a:spAutoFit/>
          </a:bodyPr>
          <a:lstStyle/>
          <a:p>
            <a:pPr>
              <a:defRPr sz="1000" b="1">
                <a:latin typeface="Calibri"/>
              </a:defRPr>
            </a:pPr>
            <a:r>
              <a:t>Ideas Summary (Part 12)</a:t>
            </a:r>
          </a:p>
        </p:txBody>
      </p:sp>
      <p:graphicFrame>
        <p:nvGraphicFramePr>
          <p:cNvPr id="3" name="Table 2"/>
          <p:cNvGraphicFramePr>
            <a:graphicFrameLocks noGrp="1"/>
          </p:cNvGraphicFramePr>
          <p:nvPr/>
        </p:nvGraphicFramePr>
        <p:xfrm>
          <a:off x="182880" y="640080"/>
          <a:ext cx="8778240" cy="3291840"/>
        </p:xfrm>
        <a:graphic>
          <a:graphicData uri="http://schemas.openxmlformats.org/drawingml/2006/table">
            <a:tbl>
              <a:tblPr firstRow="1" bandRow="1">
                <a:tableStyleId>{5C22544A-7EE6-4342-B048-85BDC9FD1C3A}</a:tableStyleId>
              </a:tblPr>
              <a:tblGrid>
                <a:gridCol w="731520"/>
                <a:gridCol w="2286000"/>
                <a:gridCol w="548640"/>
                <a:gridCol w="914400"/>
                <a:gridCol w="731520"/>
                <a:gridCol w="1645920"/>
                <a:gridCol w="914400"/>
                <a:gridCol w="1005840"/>
              </a:tblGrid>
              <a:tr h="2971800">
                <a:tc>
                  <a:txBody>
                    <a:bodyPr wrap="square"/>
                    <a:lstStyle/>
                    <a:p>
                      <a:pPr>
                        <a:defRPr sz="1000" b="1">
                          <a:latin typeface="Calibri"/>
                        </a:defRPr>
                      </a:pPr>
                      <a:r>
                        <a:t>Idea ID</a:t>
                      </a:r>
                    </a:p>
                  </a:txBody>
                  <a:tcPr/>
                </a:tc>
                <a:tc>
                  <a:txBody>
                    <a:bodyPr wrap="square"/>
                    <a:lstStyle/>
                    <a:p>
                      <a:pPr>
                        <a:defRPr sz="1000" b="1">
                          <a:latin typeface="Calibri"/>
                        </a:defRPr>
                      </a:pPr>
                      <a:r>
                        <a:t>Proposal</a:t>
                      </a:r>
                    </a:p>
                  </a:txBody>
                  <a:tcPr/>
                </a:tc>
                <a:tc>
                  <a:txBody>
                    <a:bodyPr wrap="square"/>
                    <a:lstStyle/>
                    <a:p>
                      <a:pPr>
                        <a:defRPr sz="1000" b="1">
                          <a:latin typeface="Calibri"/>
                        </a:defRPr>
                      </a:pPr>
                      <a:r>
                        <a:t>Imp</a:t>
                      </a:r>
                    </a:p>
                  </a:txBody>
                  <a:tcPr/>
                </a:tc>
                <a:tc>
                  <a:txBody>
                    <a:bodyPr wrap="square"/>
                    <a:lstStyle/>
                    <a:p>
                      <a:pPr>
                        <a:defRPr sz="1000" b="1">
                          <a:latin typeface="Calibri"/>
                        </a:defRPr>
                      </a:pPr>
                      <a:r>
                        <a:t>Saving Value</a:t>
                      </a:r>
                    </a:p>
                  </a:txBody>
                  <a:tcPr/>
                </a:tc>
                <a:tc>
                  <a:txBody>
                    <a:bodyPr wrap="square"/>
                    <a:lstStyle/>
                    <a:p>
                      <a:pPr>
                        <a:defRPr sz="1000" b="1">
                          <a:latin typeface="Calibri"/>
                        </a:defRPr>
                      </a:pPr>
                      <a:r>
                        <a:t>Status</a:t>
                      </a:r>
                    </a:p>
                  </a:txBody>
                  <a:tcPr/>
                </a:tc>
                <a:tc>
                  <a:txBody>
                    <a:bodyPr wrap="square"/>
                    <a:lstStyle/>
                    <a:p>
                      <a:pPr>
                        <a:defRPr sz="1000" b="1">
                          <a:latin typeface="Calibri"/>
                        </a:defRPr>
                      </a:pPr>
                      <a:r>
                        <a:t>Way Forward</a:t>
                      </a:r>
                    </a:p>
                  </a:txBody>
                  <a:tcPr/>
                </a:tc>
                <a:tc>
                  <a:txBody>
                    <a:bodyPr wrap="square"/>
                    <a:lstStyle/>
                    <a:p>
                      <a:pPr>
                        <a:defRPr sz="1000" b="1">
                          <a:latin typeface="Calibri"/>
                        </a:defRPr>
                      </a:pPr>
                      <a:r>
                        <a:t>Responsibility</a:t>
                      </a:r>
                    </a:p>
                  </a:txBody>
                  <a:tcPr/>
                </a:tc>
                <a:tc>
                  <a:txBody>
                    <a:bodyPr wrap="square"/>
                    <a:lstStyle/>
                    <a:p>
                      <a:pPr>
                        <a:defRPr sz="1000" b="1">
                          <a:latin typeface="Calibri"/>
                        </a:defRPr>
                      </a:pPr>
                      <a:r>
                        <a:t>Date</a:t>
                      </a:r>
                    </a:p>
                  </a:txBody>
                  <a:tcPr/>
                </a:tc>
              </a:tr>
              <a:tr h="320040">
                <a:tc>
                  <a:txBody>
                    <a:bodyPr wrap="square"/>
                    <a:lstStyle/>
                    <a:p>
                      <a:pPr>
                        <a:defRPr sz="1000">
                          <a:latin typeface="Calibri"/>
                        </a:defRPr>
                      </a:pPr>
                      <a:r>
                        <a:t>AI-GEN-06</a:t>
                      </a:r>
                    </a:p>
                  </a:txBody>
                  <a:tcPr/>
                </a:tc>
                <a:tc>
                  <a:txBody>
                    <a:bodyPr wrap="square"/>
                    <a:lstStyle/>
                    <a:p>
                      <a:pPr>
                        <a:defRPr sz="1000">
                          <a:latin typeface="Calibri"/>
                        </a:defRPr>
                      </a:pPr>
                      <a:r>
                        <a:t>Explore the use of magnesium alloys (e.g., AZ91D) for the front lower control arms, potentially through die casting or thixotropic forming.</a:t>
                      </a:r>
                    </a:p>
                  </a:txBody>
                  <a:tcPr/>
                </a:tc>
                <a:tc>
                  <a:txBody>
                    <a:bodyPr wrap="square"/>
                    <a:lstStyle/>
                    <a:p>
                      <a:pPr>
                        <a:defRPr sz="1000">
                          <a:latin typeface="Calibri"/>
                        </a:defRPr>
                      </a:pPr>
                      <a:r>
                        <a:t>Magnesium alloys offer a density significantly lower than aluminum, providing the greatest potential for unsprung mass reduction. Die casting allows for high-volume production of complex shapes. While challenges exist in corrosion resistance and impact toughness, advancements in alloy development and coating technologies are mitigating these concerns. Validation will focus on material characterization, corrosion testing, impact simulations, and comprehensive vehicle testing to ensure long-term durability and performance.</a:t>
                      </a:r>
                    </a:p>
                  </a:txBody>
                  <a:tcPr/>
                </a:tc>
                <a:tc>
                  <a:txBody>
                    <a:bodyPr wrap="square"/>
                    <a:lstStyle/>
                    <a:p>
                      <a:pPr>
                        <a:defRPr sz="1000">
                          <a:latin typeface="Calibri"/>
                        </a:defRPr>
                      </a:pPr>
                      <a:r>
                        <a:t>0</a:t>
                      </a:r>
                    </a:p>
                  </a:txBody>
                  <a:tcPr/>
                </a:tc>
                <a:tc>
                  <a:txBody>
                    <a:bodyPr wrap="square"/>
                    <a:lstStyle/>
                    <a:p>
                      <a:pPr>
                        <a:defRPr sz="1000">
                          <a:latin typeface="Calibri"/>
                        </a:defRPr>
                      </a:pPr>
                      <a:r>
                        <a:t>AI Proposal</a:t>
                      </a:r>
                    </a:p>
                  </a:txBody>
                  <a:tcPr/>
                </a:tc>
                <a:tc>
                  <a:txBody>
                    <a:bodyPr wrap="square"/>
                    <a:lstStyle/>
                    <a:p>
                      <a:pPr>
                        <a:defRPr sz="1000">
                          <a:latin typeface="Calibri"/>
                        </a:defRPr>
                      </a:pPr>
                      <a:r>
                        <a:t>Magnesium alloys offer a density significantly lower than aluminum, providing the greatest potential for unsprung mass reduction. Die casting allows for high-volume production of complex shapes. While challenges exist in corrosion resistance and impact toughness, advancements in alloy development and coating technologies are mitigating these concerns. Validation will focus on material characterization, corrosion testing, impact simulations, and comprehensive vehicle testing to ensure long-term durability and performance.</a:t>
                      </a:r>
                    </a:p>
                  </a:txBody>
                  <a:tcPr/>
                </a:tc>
                <a:tc>
                  <a:txBody>
                    <a:bodyPr wrap="square"/>
                    <a:lstStyle/>
                    <a:p>
                      <a:pPr>
                        <a:defRPr sz="1000">
                          <a:latin typeface="Calibri"/>
                        </a:defRPr>
                      </a:pPr>
                      <a:r>
                        <a:t>VAVE</a:t>
                      </a:r>
                    </a:p>
                  </a:txBody>
                  <a:tcPr/>
                </a:tc>
                <a:tc>
                  <a:txBody>
                    <a:bodyPr wrap="square"/>
                    <a:lstStyle/>
                    <a:p>
                      <a:pPr>
                        <a:defRPr sz="1000">
                          <a:latin typeface="Calibri"/>
                        </a:defRPr>
                      </a:pPr>
                      <a:r>
                        <a:t>TBD</a:t>
                      </a:r>
                    </a:p>
                  </a:txBody>
                  <a:tcPr/>
                </a:tc>
              </a:tr>
            </a:tbl>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Chart Analysis Discussion</a:t>
            </a:r>
          </a:p>
        </p:txBody>
      </p:sp>
      <p:graphicFrame>
        <p:nvGraphicFramePr>
          <p:cNvPr id="3" name="Chart 2"/>
          <p:cNvGraphicFramePr>
            <a:graphicFrameLocks noGrp="1"/>
          </p:cNvGraphicFramePr>
          <p:nvPr/>
        </p:nvGraphicFramePr>
        <p:xfrm>
          <a:off x="457200" y="1371600"/>
          <a:ext cx="82296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Pie chart for ideas status</a:t>
            </a:r>
          </a:p>
        </p:txBody>
      </p:sp>
      <p:graphicFrame>
        <p:nvGraphicFramePr>
          <p:cNvPr id="3" name="Chart 2"/>
          <p:cNvGraphicFramePr>
            <a:graphicFrameLocks noGrp="1"/>
          </p:cNvGraphicFramePr>
          <p:nvPr/>
        </p:nvGraphicFramePr>
        <p:xfrm>
          <a:off x="457200" y="1371600"/>
          <a:ext cx="4114800" cy="4114800"/>
        </p:xfrm>
        <a:graphic>
          <a:graphicData uri="http://schemas.openxmlformats.org/drawingml/2006/chart">
            <c:chart xmlns:c="http://schemas.openxmlformats.org/drawingml/2006/chart" r:id="rId2"/>
          </a:graphicData>
        </a:graphic>
      </p:graphicFrame>
      <p:sp>
        <p:nvSpPr>
          <p:cNvPr id="4" name="TextBox 3"/>
          <p:cNvSpPr txBox="1"/>
          <p:nvPr/>
        </p:nvSpPr>
        <p:spPr>
          <a:xfrm>
            <a:off x="5029200" y="1371600"/>
            <a:ext cx="3657600" cy="4114800"/>
          </a:xfrm>
          <a:prstGeom prst="rect">
            <a:avLst/>
          </a:prstGeom>
          <a:noFill/>
        </p:spPr>
        <p:txBody>
          <a:bodyPr wrap="square">
            <a:spAutoFit/>
          </a:bodyPr>
          <a:lstStyle/>
          <a:p>
            <a:pPr>
              <a:defRPr sz="1000">
                <a:latin typeface="Calibri"/>
              </a:defRPr>
            </a:pPr>
          </a:p>
          <a:p>
            <a:pPr>
              <a:defRPr sz="1000">
                <a:latin typeface="Calibri"/>
              </a:defRPr>
            </a:pPr>
            <a:r>
              <a:t>• Total Ideas: 56</a:t>
            </a:r>
          </a:p>
          <a:p>
            <a:pPr>
              <a:defRPr sz="1000">
                <a:latin typeface="Calibri"/>
              </a:defRPr>
            </a:pPr>
            <a:r>
              <a:t>• Total Potential Savings: INR 6,857.00</a:t>
            </a:r>
          </a:p>
          <a:p>
            <a:pPr>
              <a:defRPr sz="1000">
                <a:latin typeface="Calibri"/>
              </a:defRPr>
            </a:pPr>
            <a:r>
              <a:t>• Implemented Ideas: 0</a:t>
            </a:r>
          </a:p>
          <a:p>
            <a:pPr>
              <a:defRPr sz="1000">
                <a:latin typeface="Calibri"/>
              </a:defRPr>
            </a:pPr>
            <a:r>
              <a:t>• Status OK: 2</a:t>
            </a:r>
          </a:p>
          <a:p>
            <a:pPr>
              <a:defRPr sz="1000">
                <a:latin typeface="Calibri"/>
              </a:defRPr>
            </a:pPr>
            <a:r>
              <a:t>• Status TBD: 16</a:t>
            </a:r>
          </a:p>
          <a:p>
            <a:pPr>
              <a:defRPr sz="1000">
                <a:latin typeface="Calibri"/>
              </a:defRPr>
            </a:pPr>
            <a:r>
              <a:t>• Status NG: 30</a:t>
            </a:r>
          </a:p>
          <a:p>
            <a:pPr>
              <a:defRPr sz="1000">
                <a:latin typeface="Calibri"/>
              </a:defRPr>
            </a:pPr>
            <a:r>
              <a:t>• The provided cost reduction ideas focus on process deletions and material replacements to reduce manufacturing costs.</a:t>
            </a:r>
          </a:p>
          <a:p>
            <a:pPr>
              <a:defRPr sz="1000">
                <a:latin typeface="Calibri"/>
              </a:defRPr>
            </a:pPr>
            <a:r>
              <a:t>• Key proposals include removing paint coatings from brackets and mounts, replacing PC-ABS with ABS, and switching to galvanized steel for window regulators.</a:t>
            </a:r>
          </a:p>
          <a:p>
            <a:pPr>
              <a:defRPr sz="1000">
                <a:latin typeface="Calibri"/>
              </a:defRPr>
            </a:pPr>
            <a:r>
              <a:t>• These changes aim to maintain functionality while reducing costs and, in some cases, weight.</a:t>
            </a:r>
          </a:p>
        </p:txBody>
      </p:sp>
      <p:sp>
        <p:nvSpPr>
          <p:cNvPr id="5" name="TextBox 4"/>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latin typeface="Calibri"/>
              </a:defRPr>
            </a:pPr>
            <a:r>
              <a:t>Summary section</a:t>
            </a:r>
          </a:p>
        </p:txBody>
      </p:sp>
      <p:sp>
        <p:nvSpPr>
          <p:cNvPr id="3" name="Content Placeholder 2"/>
          <p:cNvSpPr>
            <a:spLocks noGrp="1"/>
          </p:cNvSpPr>
          <p:nvPr>
            <p:ph idx="1"/>
          </p:nvPr>
        </p:nvSpPr>
        <p:spPr/>
        <p:txBody>
          <a:bodyPr wrap="square"/>
          <a:lstStyle/>
          <a:p>
            <a:pPr>
              <a:defRPr sz="1800">
                <a:latin typeface="Calibri"/>
              </a:defRPr>
            </a:pPr>
          </a:p>
          <a:p>
            <a:pPr>
              <a:defRPr sz="1800">
                <a:latin typeface="Calibri"/>
              </a:defRPr>
            </a:pPr>
            <a:r>
              <a:t>Total Ideas: 56 ideas analyzed.</a:t>
            </a:r>
          </a:p>
          <a:p>
            <a:pPr>
              <a:defRPr sz="1800">
                <a:latin typeface="Calibri"/>
              </a:defRPr>
            </a:pPr>
            <a:r>
              <a:t>Total Savings: INR 6,857.00 in potential cost reductions.</a:t>
            </a:r>
          </a:p>
          <a:p>
            <a:pPr>
              <a:defRPr sz="1800">
                <a:latin typeface="Calibri"/>
              </a:defRPr>
            </a:pPr>
            <a:r>
              <a:t>Key Proposals: Remove paint coatings from mounts and brackets, replace PC-ABS with ABS, and use galvanized steel for window regulators.</a:t>
            </a:r>
          </a:p>
          <a:p>
            <a:pPr>
              <a:defRPr sz="1800">
                <a:latin typeface="Calibri"/>
              </a:defRPr>
            </a:pPr>
            <a:r>
              <a:t>Status: All ideas currently TBD, pending further evaluation.</a:t>
            </a:r>
          </a:p>
          <a:p>
            <a:pPr>
              <a:defRPr sz="1800">
                <a:latin typeface="Calibri"/>
              </a:defRPr>
            </a:pPr>
            <a:r>
              <a:t>Focus: Cost reduction through process deletion and material substitution while maintaining functionality.</a:t>
            </a:r>
          </a:p>
        </p:txBody>
      </p:sp>
      <p:sp>
        <p:nvSpPr>
          <p:cNvPr id="4" name="TextBox 3"/>
          <p:cNvSpPr txBox="1"/>
          <p:nvPr/>
        </p:nvSpPr>
        <p:spPr>
          <a:xfrm>
            <a:off x="5943600" y="6217920"/>
            <a:ext cx="2743200" cy="274320"/>
          </a:xfrm>
          <a:prstGeom prst="rect">
            <a:avLst/>
          </a:prstGeom>
          <a:noFill/>
        </p:spPr>
        <p:txBody>
          <a:bodyPr wrap="none">
            <a:spAutoFit/>
          </a:bodyPr>
          <a:lstStyle/>
          <a:p>
            <a:pPr algn="r">
              <a:defRPr sz="1000">
                <a:solidFill>
                  <a:srgbClr val="969696"/>
                </a:solidFill>
              </a:defRPr>
            </a:pPr>
            <a:r>
              <a:t>Generated by VAVE-AI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
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600">
                <a:latin typeface="Calibri"/>
              </a:defRPr>
            </a:pPr>
            <a:r>
              <a:t>Cost Savings by Idea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Savings (INR)</c:v>
                </c:pt>
              </c:strCache>
            </c:strRef>
          </c:tx>
          <c:cat>
            <c:strRef>
              <c:f>Sheet1!$A$2:$A$11</c:f>
              <c:strCache>
                <c:ptCount val="10"/>
                <c:pt idx="0">
                  <c:v>2311-PRODUCT-ID-03</c:v>
                </c:pt>
                <c:pt idx="1">
                  <c:v>2311-ET-ID-11</c:v>
                </c:pt>
                <c:pt idx="2">
                  <c:v>2311-ST-ID-05</c:v>
                </c:pt>
                <c:pt idx="3">
                  <c:v>2311-FS-ID-01</c:v>
                </c:pt>
                <c:pt idx="4">
                  <c:v>2311-ST-ID-06</c:v>
                </c:pt>
                <c:pt idx="5">
                  <c:v>2311-PRODUCT-ID-15</c:v>
                </c:pt>
                <c:pt idx="6">
                  <c:v>2311-ET-ID-28</c:v>
                </c:pt>
                <c:pt idx="7">
                  <c:v>2311-DA-ID-01</c:v>
                </c:pt>
                <c:pt idx="8">
                  <c:v>2311-SS-ID-05</c:v>
                </c:pt>
                <c:pt idx="9">
                  <c:v>2311-DA-ID-17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126.0</c:v>
                </c:pt>
                <c:pt idx="1">
                  <c:v>131.0</c:v>
                </c:pt>
                <c:pt idx="2">
                  <c:v>98.0</c:v>
                </c:pt>
                <c:pt idx="3">
                  <c:v>142.0</c:v>
                </c:pt>
                <c:pt idx="4">
                  <c:v>97.0</c:v>
                </c:pt>
                <c:pt idx="5">
                  <c:v>122.0</c:v>
                </c:pt>
                <c:pt idx="6">
                  <c:v>105.0</c:v>
                </c:pt>
                <c:pt idx="7">
                  <c:v>84.0</c:v>
                </c:pt>
                <c:pt idx="8">
                  <c:v>113.0</c:v>
                </c:pt>
                <c:pt idx="9">
                  <c:v>78.0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pPr>
              <a:defRPr sz="1600">
                <a:latin typeface="Calibri"/>
              </a:defRPr>
            </a:pPr>
            <a:r>
              <a:t>Ideas Status Distribution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Status</c:v>
                </c:pt>
              </c:strCache>
            </c:strRef>
          </c:tx>
          <c:dPt>
            <c:idx val="0"/>
            <c:spPr>
              <a:solidFill>
                <a:srgbClr val="0000FF"/>
              </a:solidFill>
            </c:spPr>
          </c:dPt>
          <c:dPt>
            <c:idx val="1"/>
            <c:spPr>
              <a:solidFill>
                <a:srgbClr val="FF0000"/>
              </a:solidFill>
            </c:spPr>
          </c:dPt>
          <c:dPt>
            <c:idx val="2"/>
            <c:spPr>
              <a:solidFill>
                <a:srgbClr val="008000"/>
              </a:solidFill>
            </c:spPr>
          </c:dPt>
          <c:dPt>
            <c:idx val="3"/>
            <c:spPr>
              <a:solidFill>
                <a:srgbClr val="800080"/>
              </a:solidFill>
            </c:spPr>
          </c:dPt>
          <c:cat>
            <c:strRef>
              <c:f>Sheet1!$A$2:$A$5</c:f>
              <c:strCache>
                <c:ptCount val="4"/>
                <c:pt idx="0">
                  <c:v>Implemented</c:v>
                </c:pt>
                <c:pt idx="1">
                  <c:v>Status OK</c:v>
                </c:pt>
                <c:pt idx="2">
                  <c:v>Status TBD</c:v>
                </c:pt>
                <c:pt idx="3">
                  <c:v>Status NG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</c:v>
                </c:pt>
                <c:pt idx="1">
                  <c:v>0</c:v>
                </c:pt>
                <c:pt idx="2">
                  <c:v>2</c:v>
                </c:pt>
                <c:pt idx="3">
                  <c:v>8</c:v>
                </c:pt>
              </c:numCache>
            </c:numRef>
          </c:val>
        </c:ser>
      </c:pieChart>
    </c:plotArea>
    <c:legend>
      <c:legendPos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1828800" cy="1828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468880" y="914400"/>
            <a:ext cx="6400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3600" b="1">
                <a:solidFill>
                  <a:srgbClr val="DC3545"/>
                </a:solidFill>
                <a:latin typeface="Calibri"/>
              </a:defRPr>
            </a:pPr>
            <a:r>
              <a:t>JSW MG MOTOR INDIA</a:t>
            </a:r>
          </a:p>
          <a:p>
            <a:pPr>
              <a:defRPr sz="2800" b="1">
                <a:solidFill>
                  <a:srgbClr val="000000"/>
                </a:solidFill>
                <a:latin typeface="Calibri"/>
              </a:defRPr>
            </a:pPr>
            <a:r>
              <a:t>Cost Reduction Idea Analysis Presentation</a:t>
            </a:r>
          </a:p>
          <a:p>
            <a:pPr>
              <a:defRPr sz="1600">
                <a:latin typeface="Calibri"/>
              </a:defRPr>
            </a:pPr>
            <a:r>
              <a:t>Presentation generated by VAVE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Generated by VAVE-AI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latin typeface="Calibri"/>
              </a:defRPr>
            </a:pPr>
            <a:r>
              <a:t>Ideas Summary (Part 1)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82880" y="640080"/>
          <a:ext cx="8778240" cy="259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2286000"/>
                <a:gridCol w="548640"/>
                <a:gridCol w="914400"/>
                <a:gridCol w="731520"/>
                <a:gridCol w="1645920"/>
                <a:gridCol w="914400"/>
                <a:gridCol w="1005840"/>
              </a:tblGrid>
              <a:tr h="990600"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Idea ID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Proposal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Imp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Saving Value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Way Forward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Responsibility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Date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2311-PRODUCT-ID-03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Replace the rubber bushes used on the wiper blade mounting bolts with the plastic protective cap.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126.0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NG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2311-ET-ID-11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1. Remove the Foam inserts from both the LH and RH sides of MGI and use plastic trims instead as employed in KIA</a:t>
                      </a:r>
                    </a:p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2. Thinsulate could be used if required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131.0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NG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2311-ST-ID-05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Redesign the current Steering Column to Steering Rack Linkage Plastic Trim and the Rubber Bush associated with a smaller setup as employed in KIA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98.0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NG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2311-FS-ID-01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Remove the Neoprene Foam Sheaths present on the fuel lines and the fuel inlet hose of MGI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Confirm Kia routing photos for analysis with ASI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142.0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NG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Confirm Kia routing photos for analysis with ASI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Ratnadeep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2024-02-12 00:00:00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2311-ST-ID-06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Reduce the overall length and width of the rubber boots in MGI to match the dimensions of the similar rubber boots used in KIA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97.0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NG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94360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Generated by VAVE-AI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latin typeface="Calibri"/>
              </a:defRPr>
            </a:pPr>
            <a:r>
              <a:t>Ideas Summary (Part 2)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82880" y="640080"/>
          <a:ext cx="8778240" cy="259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2286000"/>
                <a:gridCol w="548640"/>
                <a:gridCol w="914400"/>
                <a:gridCol w="731520"/>
                <a:gridCol w="1645920"/>
                <a:gridCol w="914400"/>
                <a:gridCol w="1005840"/>
              </a:tblGrid>
              <a:tr h="990600"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Idea ID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Proposal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Imp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Saving Value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Way Forward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Responsibility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Date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2311-PRODUCT-ID-15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De-content the rubber seal provided on the roller arm of each door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122.0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NG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2311-ET-ID-28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Redesign the current Door Panel Exterior LH &amp; RH Main Trims to a similar setup as employed in KIA,</a:t>
                      </a:r>
                    </a:p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1. Employ separate LH and RH Side Claddings (PP-T30) as in KIA</a:t>
                      </a:r>
                    </a:p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2. Reduce the current width of the Front and Rear Door Panel Exterior LH &amp; RH Main Trims by 80mm and de-content the rubber seals used on all four doors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105.0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TBD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2311-DA-ID-01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Reduce the overall width of the black vinyl pasted on the B-pillar from 70mm to 25mm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84.0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NG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2311-SS-ID-05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1. Replace the leather upholstery on the flaps located at the bottom of MGI's front-row seats with fabric</a:t>
                      </a:r>
                    </a:p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2. Use the same fabric (polyester) used to upholster the unexposed seat sides within MGI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one-pager for PP approval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113.0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NG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one-pager for PP approval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Ratnadeep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2023-11-20 00:00:00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2311-DA-ID-17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Instead of using Thinsulate within the door assemblies, Felt could be utilized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Confirm on part availability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78.0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TBD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Confirm on part availability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Akhil/ Narendra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29-Mar-24</a:t>
                      </a:r>
                    </a:p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16-Feb-24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94360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Generated by VAVE-AI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latin typeface="Calibri"/>
              </a:defRPr>
            </a:pPr>
            <a:r>
              <a:t>Chart Analysis Discussion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371600"/>
          <a:ext cx="82296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94360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Generated by VAVE-AI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latin typeface="Calibri"/>
              </a:defRPr>
            </a:pPr>
            <a:r>
              <a:t>Pie chart for ideas status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371600"/>
          <a:ext cx="41148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029200" y="1371600"/>
            <a:ext cx="3657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latin typeface="Calibri"/>
              </a:defRPr>
            </a:pPr>
          </a:p>
          <a:p>
            <a:pPr>
              <a:defRPr sz="1000">
                <a:latin typeface="Calibri"/>
              </a:defRPr>
            </a:pPr>
            <a:r>
              <a:t>• Total Ideas: 10</a:t>
            </a:r>
          </a:p>
          <a:p>
            <a:pPr>
              <a:defRPr sz="1000">
                <a:latin typeface="Calibri"/>
              </a:defRPr>
            </a:pPr>
            <a:r>
              <a:t>• Total Potential Savings: INR 1,096.00</a:t>
            </a:r>
          </a:p>
          <a:p>
            <a:pPr>
              <a:defRPr sz="1000">
                <a:latin typeface="Calibri"/>
              </a:defRPr>
            </a:pPr>
            <a:r>
              <a:t>• Implemented Ideas: 0</a:t>
            </a:r>
          </a:p>
          <a:p>
            <a:pPr>
              <a:defRPr sz="1000">
                <a:latin typeface="Calibri"/>
              </a:defRPr>
            </a:pPr>
            <a:r>
              <a:t>• Status OK: 0</a:t>
            </a:r>
          </a:p>
          <a:p>
            <a:pPr>
              <a:defRPr sz="1000">
                <a:latin typeface="Calibri"/>
              </a:defRPr>
            </a:pPr>
            <a:r>
              <a:t>• Status TBD: 2</a:t>
            </a:r>
          </a:p>
          <a:p>
            <a:pPr>
              <a:defRPr sz="1000">
                <a:latin typeface="Calibri"/>
              </a:defRPr>
            </a:pPr>
            <a:r>
              <a:t>• Status NG: 8</a:t>
            </a:r>
          </a:p>
          <a:p>
            <a:pPr>
              <a:defRPr sz="1000">
                <a:latin typeface="Calibri"/>
              </a:defRPr>
            </a:pPr>
            <a:r>
              <a:t>• The provided cost reduction ideas focus on process deletions and material replacements to reduce manufacturing costs.</a:t>
            </a:r>
          </a:p>
          <a:p>
            <a:pPr>
              <a:defRPr sz="1000">
                <a:latin typeface="Calibri"/>
              </a:defRPr>
            </a:pPr>
            <a:r>
              <a:t>• Key proposals include removing paint coatings from brackets and mounts, replacing PC-ABS with ABS, and switching to galvanized steel for window regulators.</a:t>
            </a:r>
          </a:p>
          <a:p>
            <a:pPr>
              <a:defRPr sz="1000">
                <a:latin typeface="Calibri"/>
              </a:defRPr>
            </a:pPr>
            <a:r>
              <a:t>• These changes aim to maintain functionality while reducing costs and, in some cases, weight.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Generated by VAVE-AI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latin typeface="Calibri"/>
              </a:defRPr>
            </a:pPr>
            <a:r>
              <a:t>Summary section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800">
                <a:latin typeface="Calibri"/>
              </a:defRPr>
            </a:pPr>
          </a:p>
          <a:p>
            <a:pPr>
              <a:defRPr sz="1800">
                <a:latin typeface="Calibri"/>
              </a:defRPr>
            </a:pPr>
            <a:r>
              <a:t>Total Ideas: 10 ideas analyzed.</a:t>
            </a:r>
          </a:p>
          <a:p>
            <a:pPr>
              <a:defRPr sz="1800">
                <a:latin typeface="Calibri"/>
              </a:defRPr>
            </a:pPr>
            <a:r>
              <a:t>Total Savings: INR 1,096.00 in potential cost reductions.</a:t>
            </a:r>
          </a:p>
          <a:p>
            <a:pPr>
              <a:defRPr sz="1800">
                <a:latin typeface="Calibri"/>
              </a:defRPr>
            </a:pPr>
            <a:r>
              <a:t>Key Proposals: Remove paint coatings from mounts and brackets, replace PC-ABS with ABS, and use galvanized steel for window regulators.</a:t>
            </a:r>
          </a:p>
          <a:p>
            <a:pPr>
              <a:defRPr sz="1800">
                <a:latin typeface="Calibri"/>
              </a:defRPr>
            </a:pPr>
            <a:r>
              <a:t>Status: All ideas currently TBD, pending further evaluation.</a:t>
            </a:r>
          </a:p>
          <a:p>
            <a:pPr>
              <a:defRPr sz="1800">
                <a:latin typeface="Calibri"/>
              </a:defRPr>
            </a:pPr>
            <a:r>
              <a:t>Focus: Cost reduction through process deletion and material substitution while maintaining functionality.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Generated by VAVE-AI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
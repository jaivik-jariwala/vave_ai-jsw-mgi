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Sheet1!$A$2:$A$16</c:f>
              <c:strCache>
                <c:ptCount val="15"/>
                <c:pt idx="0">
                  <c:v>2311-ET-ID-03</c:v>
                </c:pt>
                <c:pt idx="1">
                  <c:v>2311-DA-ID-06</c:v>
                </c:pt>
                <c:pt idx="2">
                  <c:v>2311-DA-ID-22</c:v>
                </c:pt>
                <c:pt idx="3">
                  <c:v>2311-DA-ID-26</c:v>
                </c:pt>
                <c:pt idx="4">
                  <c:v>2311-SS-ID-10</c:v>
                </c:pt>
                <c:pt idx="5">
                  <c:v>2311-DA-ID-35</c:v>
                </c:pt>
                <c:pt idx="6">
                  <c:v>2311-IT-ID-26</c:v>
                </c:pt>
                <c:pt idx="7">
                  <c:v>2311-IT-ID-16</c:v>
                </c:pt>
                <c:pt idx="8">
                  <c:v>2311-ET-ID-27</c:v>
                </c:pt>
                <c:pt idx="9">
                  <c:v>2311-IT-ID-06</c:v>
                </c:pt>
                <c:pt idx="10">
                  <c:v>AI-GEN-01</c:v>
                </c:pt>
                <c:pt idx="11">
                  <c:v>AI-GEN-01</c:v>
                </c:pt>
                <c:pt idx="12">
                  <c:v>AI-GEN-01</c:v>
                </c:pt>
                <c:pt idx="13">
                  <c:v>AI-GEN-01</c:v>
                </c:pt>
                <c:pt idx="14">
                  <c:v>AI-GEN-01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148.0</c:v>
                </c:pt>
                <c:pt idx="1">
                  <c:v>148.0</c:v>
                </c:pt>
                <c:pt idx="2">
                  <c:v>148.0</c:v>
                </c:pt>
                <c:pt idx="3">
                  <c:v>147.0</c:v>
                </c:pt>
                <c:pt idx="4">
                  <c:v>147.0</c:v>
                </c:pt>
                <c:pt idx="5">
                  <c:v>147.0</c:v>
                </c:pt>
                <c:pt idx="6">
                  <c:v>145.0</c:v>
                </c:pt>
                <c:pt idx="7">
                  <c:v>145.0</c:v>
                </c:pt>
                <c:pt idx="8">
                  <c:v>145.0</c:v>
                </c:pt>
                <c:pt idx="9">
                  <c:v>144.0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6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2311-ET-ID-03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Remove the Air Extractor Vent Securing Trims affixed at both ends of the rear bumper brackets of the vehicle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148.0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2311-DA-ID-06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plastic trim used on the Hood Prop Rod in MGI with a foam cover trim as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Check supplier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148.0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Check supplier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Chirag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2024-02-16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2311-DA-ID-22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PA6-GF30 with PA6-GF15 + MD25 in the manufacture of the Exterior Door Handle Rear Trims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148.0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2311-DA-ID-26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ABS blend with PP-T20 in the manufacture of the Front and Rear Door Panel Side Trims 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147.0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2311-SS-ID-10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PP+EPDM-T20 used in the manufacture of the Second-Row Seat Bottom Cover and Cushion Cover Trims of MGI with standard PP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All trims foam &amp; cover idea will be again checked for feasibility with supplier &amp; BC evaluation.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147.0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All trims foam &amp; cover idea will be again checked for feasibility with supplier &amp; BC evaluation.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Kalp/Nishant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2023-12-31 00:00:00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2311-DA-ID-35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PBT-GF30 with PA6-GF30 in the manufacture of the gear casings.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Consider in homeroom bucket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147.0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Hold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Consider in homeroom bucket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Ratnadeep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TBC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2311-IT-ID-26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PP-T20 with PP in the manufacture of the grab handles within the vehicle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2311-IT-ID-16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PP+PE-T10 used in the manufacture of the Front A-Pillar Interior Trims in MGI with standard PP+PE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2311-ET-ID-27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Thinsulate Acoustic Insulation used on the Front &amp; Rear Wheel Arch LH &amp; RH Liners for NVH restriction within MGI with Noiselite PP-PET Insulation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2311-IT-ID-06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Eliminate the dead pedal trim provided in MGI.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date for sample availability (Functional &amp; Appearance check) - 1Nos 6 seater carpet without cut-out for dead pedal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144.0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date for sample availability (Functional &amp; Appearance check) - 1Nos 6 seater carpet without cut-out for dead pedal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Akhil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2024-06-15 00:00:00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with a in the manufacture of review within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₹ 110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Digital Analyst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pa6-gf30 with pa6-gf15 in the manufacture of ideas within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₹ 131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Digital Analyst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with pp-t20 in the manufacture of involving within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₹ 151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Digital Analyst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pp+epdm-t20 with standard in the manufacture of material within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₹ 172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Digital Analyst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with a in the manufacture of change within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₹ 193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Digital Analyst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15</a:t>
            </a:r>
          </a:p>
          <a:p>
            <a:pPr>
              <a:defRPr sz="1000">
                <a:latin typeface="Calibri"/>
              </a:defRPr>
            </a:pPr>
            <a:r>
              <a:t>• Total Potential Savings: INR 1,464.00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1</a:t>
            </a:r>
          </a:p>
          <a:p>
            <a:pPr>
              <a:defRPr sz="1000">
                <a:latin typeface="Calibri"/>
              </a:defRPr>
            </a:pPr>
            <a:r>
              <a:t>• Status TBD: 2</a:t>
            </a:r>
          </a:p>
          <a:p>
            <a:pPr>
              <a:defRPr sz="1000">
                <a:latin typeface="Calibri"/>
              </a:defRPr>
            </a:pPr>
            <a:r>
              <a:t>• Status NG: 6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15 ideas analyzed.</a:t>
            </a:r>
          </a:p>
          <a:p>
            <a:pPr>
              <a:defRPr sz="1800">
                <a:latin typeface="Calibri"/>
              </a:defRPr>
            </a:pPr>
            <a:r>
              <a:t>Total Savings: INR 1,464.00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
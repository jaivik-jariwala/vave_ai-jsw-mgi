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Sheet1!$A$2:$A$12</c:f>
              <c:strCache>
                <c:ptCount val="11"/>
                <c:pt idx="0">
                  <c:v>2311-WS-ID-02</c:v>
                </c:pt>
                <c:pt idx="1">
                  <c:v>2311-ST-ID-04</c:v>
                </c:pt>
                <c:pt idx="2">
                  <c:v>2311-IT-ID-19</c:v>
                </c:pt>
                <c:pt idx="3">
                  <c:v>2311-IT-ID-26</c:v>
                </c:pt>
                <c:pt idx="4">
                  <c:v>2311-PRODUCT-ID-14</c:v>
                </c:pt>
                <c:pt idx="5">
                  <c:v>AI-GEN-01</c:v>
                </c:pt>
                <c:pt idx="6">
                  <c:v>AI-GEN-02</c:v>
                </c:pt>
                <c:pt idx="7">
                  <c:v>AI-GEN-03</c:v>
                </c:pt>
                <c:pt idx="8">
                  <c:v>AI-GEN-04</c:v>
                </c:pt>
                <c:pt idx="9">
                  <c:v>AI-GEN-05</c:v>
                </c:pt>
                <c:pt idx="10">
                  <c:v>AI-GEN-06</c:v>
                </c:pt>
              </c:strCache>
            </c:strRef>
          </c:cat>
          <c:val>
            <c:numRef>
              <c:f>Sheet1!$B$2:$B$12</c:f>
              <c:numCache>
                <c:formatCode>General</c:formatCode>
                <c:ptCount val="11"/>
                <c:pt idx="0">
                  <c:v>62.0</c:v>
                </c:pt>
                <c:pt idx="1">
                  <c:v>122.0</c:v>
                </c:pt>
                <c:pt idx="2">
                  <c:v>56.0</c:v>
                </c:pt>
                <c:pt idx="3">
                  <c:v>145.0</c:v>
                </c:pt>
                <c:pt idx="4">
                  <c:v>46.0</c:v>
                </c:pt>
                <c:pt idx="5">
                  <c:v>0</c:v>
                </c:pt>
                <c:pt idx="6">
                  <c:v>0</c:v>
                </c:pt>
                <c:pt idx="7">
                  <c:v>0</c:v>
                </c:pt>
                <c:pt idx="8">
                  <c:v>0</c:v>
                </c:pt>
                <c:pt idx="9">
                  <c:v>0</c:v>
                </c:pt>
                <c:pt idx="10">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2</c:v>
                </c:pt>
                <c:pt idx="3">
                  <c:v>2</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2311-WS-ID-02</a:t>
                      </a:r>
                    </a:p>
                  </a:txBody>
                  <a:tcPr/>
                </a:tc>
                <a:tc>
                  <a:txBody>
                    <a:bodyPr wrap="square"/>
                    <a:lstStyle/>
                    <a:p>
                      <a:pPr>
                        <a:defRPr sz="1000">
                          <a:latin typeface="Calibri"/>
                        </a:defRPr>
                      </a:pPr>
                      <a:r>
                        <a:t>Reduce the wall thickness of the Wiper Linkage Bar Rod from 1.4mm to 1mm (from the inside)</a:t>
                      </a:r>
                    </a:p>
                  </a:txBody>
                  <a:tcPr/>
                </a:tc>
                <a:tc>
                  <a:txBody>
                    <a:bodyPr wrap="square"/>
                    <a:lstStyle/>
                    <a:p>
                      <a:pPr>
                        <a:defRPr sz="1000">
                          <a:latin typeface="Calibri"/>
                        </a:defRPr>
                      </a:pPr>
                      <a:r>
                        <a:t>Confirm feasibility</a:t>
                      </a:r>
                    </a:p>
                  </a:txBody>
                  <a:tcPr/>
                </a:tc>
                <a:tc>
                  <a:txBody>
                    <a:bodyPr wrap="square"/>
                    <a:lstStyle/>
                    <a:p>
                      <a:pPr>
                        <a:defRPr sz="1000">
                          <a:latin typeface="Calibri"/>
                        </a:defRPr>
                      </a:pPr>
                      <a:r>
                        <a:t>INR 62.0</a:t>
                      </a:r>
                    </a:p>
                  </a:txBody>
                  <a:tcPr/>
                </a:tc>
                <a:tc>
                  <a:txBody>
                    <a:bodyPr wrap="square"/>
                    <a:lstStyle/>
                    <a:p>
                      <a:pPr>
                        <a:defRPr sz="1000">
                          <a:latin typeface="Calibri"/>
                        </a:defRPr>
                      </a:pPr>
                      <a:r>
                        <a:t>NG</a:t>
                      </a:r>
                    </a:p>
                  </a:txBody>
                  <a:tcPr/>
                </a:tc>
                <a:tc>
                  <a:txBody>
                    <a:bodyPr wrap="square"/>
                    <a:lstStyle/>
                    <a:p>
                      <a:pPr>
                        <a:defRPr sz="1000">
                          <a:latin typeface="Calibri"/>
                        </a:defRPr>
                      </a:pPr>
                      <a:r>
                        <a:t>Confirm feasibility</a:t>
                      </a:r>
                    </a:p>
                  </a:txBody>
                  <a:tcPr/>
                </a:tc>
                <a:tc>
                  <a:txBody>
                    <a:bodyPr wrap="square"/>
                    <a:lstStyle/>
                    <a:p>
                      <a:pPr>
                        <a:defRPr sz="1000">
                          <a:latin typeface="Calibri"/>
                        </a:defRPr>
                      </a:pPr>
                      <a:r>
                        <a:t>Ojaswini</a:t>
                      </a:r>
                    </a:p>
                  </a:txBody>
                  <a:tcPr/>
                </a:tc>
                <a:tc>
                  <a:txBody>
                    <a:bodyPr wrap="square"/>
                    <a:lstStyle/>
                    <a:p>
                      <a:pPr>
                        <a:defRPr sz="1000">
                          <a:latin typeface="Calibri"/>
                        </a:defRPr>
                      </a:pPr>
                      <a:r>
                        <a:t>2024-02-16 00:00:00</a:t>
                      </a:r>
                    </a:p>
                  </a:txBody>
                  <a:tcPr/>
                </a:tc>
              </a:tr>
              <a:tr h="320040">
                <a:tc>
                  <a:txBody>
                    <a:bodyPr wrap="square"/>
                    <a:lstStyle/>
                    <a:p>
                      <a:pPr>
                        <a:defRPr sz="1000">
                          <a:latin typeface="Calibri"/>
                        </a:defRPr>
                      </a:pPr>
                      <a:r>
                        <a:t>2311-ST-ID-04</a:t>
                      </a:r>
                    </a:p>
                  </a:txBody>
                  <a:tcPr/>
                </a:tc>
                <a:tc>
                  <a:txBody>
                    <a:bodyPr wrap="square"/>
                    <a:lstStyle/>
                    <a:p>
                      <a:pPr>
                        <a:defRPr sz="1000">
                          <a:latin typeface="Calibri"/>
                        </a:defRPr>
                      </a:pPr>
                      <a:r>
                        <a:t>Reduce the length of the Iron Castings from 175mm to 110mm and Increase the length of the Rods to compensate instead, similar to the setup employed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122.0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2311-IT-ID-19</a:t>
                      </a:r>
                    </a:p>
                  </a:txBody>
                  <a:tcPr/>
                </a:tc>
                <a:tc>
                  <a:txBody>
                    <a:bodyPr wrap="square"/>
                    <a:lstStyle/>
                    <a:p>
                      <a:pPr>
                        <a:defRPr sz="1000">
                          <a:latin typeface="Calibri"/>
                        </a:defRPr>
                      </a:pPr>
                      <a:r>
                        <a:t>Process Deletion,</a:t>
                      </a:r>
                    </a:p>
                    <a:p>
                      <a:pPr>
                        <a:defRPr sz="1000">
                          <a:latin typeface="Calibri"/>
                        </a:defRPr>
                      </a:pPr>
                      <a:r>
                        <a:t>Remove the Anodizing done on the LH &amp; RH Sunroof Guide Rails in MGI</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56.0</a:t>
                      </a:r>
                    </a:p>
                  </a:txBody>
                  <a:tcPr/>
                </a:tc>
                <a:tc>
                  <a:txBody>
                    <a:bodyPr wrap="square"/>
                    <a:lstStyle/>
                    <a:p>
                      <a:pPr>
                        <a:defRPr sz="1000">
                          <a:latin typeface="Calibri"/>
                        </a:defRPr>
                      </a:pPr>
                      <a:r>
                        <a:t>Hold</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Manish Jaju</a:t>
                      </a:r>
                    </a:p>
                  </a:txBody>
                  <a:tcPr/>
                </a:tc>
                <a:tc>
                  <a:txBody>
                    <a:bodyPr wrap="square"/>
                    <a:lstStyle/>
                    <a:p>
                      <a:pPr>
                        <a:defRPr sz="1000">
                          <a:latin typeface="Calibri"/>
                        </a:defRPr>
                      </a:pPr>
                      <a:r>
                        <a:t>2024-02-20 00:00:00</a:t>
                      </a:r>
                    </a:p>
                  </a:txBody>
                  <a:tcPr/>
                </a:tc>
              </a:tr>
              <a:tr h="320040">
                <a:tc>
                  <a:txBody>
                    <a:bodyPr wrap="square"/>
                    <a:lstStyle/>
                    <a:p>
                      <a:pPr>
                        <a:defRPr sz="1000">
                          <a:latin typeface="Calibri"/>
                        </a:defRPr>
                      </a:pPr>
                      <a:r>
                        <a:t>2311-IT-ID-26</a:t>
                      </a:r>
                    </a:p>
                  </a:txBody>
                  <a:tcPr/>
                </a:tc>
                <a:tc>
                  <a:txBody>
                    <a:bodyPr wrap="square"/>
                    <a:lstStyle/>
                    <a:p>
                      <a:pPr>
                        <a:defRPr sz="1000">
                          <a:latin typeface="Calibri"/>
                        </a:defRPr>
                      </a:pPr>
                      <a:r>
                        <a:t>Replace PP-T20 with PP in the manufacture of the grab handles within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2311-PRODUCT-ID-14</a:t>
                      </a:r>
                    </a:p>
                  </a:txBody>
                  <a:tcPr/>
                </a:tc>
                <a:tc>
                  <a:txBody>
                    <a:bodyPr wrap="square"/>
                    <a:lstStyle/>
                    <a:p>
                      <a:pPr>
                        <a:defRPr sz="1000">
                          <a:latin typeface="Calibri"/>
                        </a:defRPr>
                      </a:pPr>
                      <a:r>
                        <a:t>Reduce the thickness of the rear wiper pivot bolt cover trim from 2mm to 1.3mm.</a:t>
                      </a:r>
                    </a:p>
                  </a:txBody>
                  <a:tcPr/>
                </a:tc>
                <a:tc>
                  <a:txBody>
                    <a:bodyPr wrap="square"/>
                    <a:lstStyle/>
                    <a:p>
                      <a:pPr>
                        <a:defRPr sz="1000">
                          <a:latin typeface="Calibri"/>
                        </a:defRPr>
                      </a:pPr>
                      <a:r>
                        <a:t>Confirm with homeroom on technical feasibility &amp; Confirm localization</a:t>
                      </a:r>
                    </a:p>
                  </a:txBody>
                  <a:tcPr/>
                </a:tc>
                <a:tc>
                  <a:txBody>
                    <a:bodyPr wrap="square"/>
                    <a:lstStyle/>
                    <a:p>
                      <a:pPr>
                        <a:defRPr sz="1000">
                          <a:latin typeface="Calibri"/>
                        </a:defRPr>
                      </a:pPr>
                      <a:r>
                        <a:t>INR 46.0</a:t>
                      </a:r>
                    </a:p>
                  </a:txBody>
                  <a:tcPr/>
                </a:tc>
                <a:tc>
                  <a:txBody>
                    <a:bodyPr wrap="square"/>
                    <a:lstStyle/>
                    <a:p>
                      <a:pPr>
                        <a:defRPr sz="1000">
                          <a:latin typeface="Calibri"/>
                        </a:defRPr>
                      </a:pPr>
                      <a:r>
                        <a:t>TBD</a:t>
                      </a:r>
                    </a:p>
                  </a:txBody>
                  <a:tcPr/>
                </a:tc>
                <a:tc>
                  <a:txBody>
                    <a:bodyPr wrap="square"/>
                    <a:lstStyle/>
                    <a:p>
                      <a:pPr>
                        <a:defRPr sz="1000">
                          <a:latin typeface="Calibri"/>
                        </a:defRPr>
                      </a:pPr>
                      <a:r>
                        <a:t>Confirm with homeroom on technical feasibility &amp; Confirm localization</a:t>
                      </a:r>
                    </a:p>
                  </a:txBody>
                  <a:tcPr/>
                </a:tc>
                <a:tc>
                  <a:txBody>
                    <a:bodyPr wrap="square"/>
                    <a:lstStyle/>
                    <a:p>
                      <a:pPr>
                        <a:defRPr sz="1000">
                          <a:latin typeface="Calibri"/>
                        </a:defRPr>
                      </a:pPr>
                      <a:r>
                        <a:t>Ojaswini</a:t>
                      </a:r>
                    </a:p>
                  </a:txBody>
                  <a:tcPr/>
                </a:tc>
                <a:tc>
                  <a:txBody>
                    <a:bodyPr wrap="square"/>
                    <a:lstStyle/>
                    <a:p>
                      <a:pPr>
                        <a:defRPr sz="1000">
                          <a:latin typeface="Calibri"/>
                        </a:defRPr>
                      </a:pPr>
                      <a:r>
                        <a:t>2023-12-14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Replace the current material for the push rod with a high-strength, lower-density polymer composite, such as a glass-fiber reinforced polyamide (PA-GF), to achieve equivalent or superior performance at a reduced material cost and weight.</a:t>
                      </a:r>
                    </a:p>
                  </a:txBody>
                  <a:tcPr/>
                </a:tc>
                <a:tc>
                  <a:txBody>
                    <a:bodyPr wrap="square"/>
                    <a:lstStyle/>
                    <a:p>
                      <a:pPr>
                        <a:defRPr sz="1000">
                          <a:latin typeface="Calibri"/>
                        </a:defRPr>
                      </a:pPr>
                      <a:r>
                        <a:t>Investigate material properties of various PA-GF grades, focusing on tensile strength, flexural modulus, fatigue life, and thermal expansion coefficients to match or exceed current steel/aluminum push rod specifications. Conduct FEA simulations to validate structural integrity under expected load cases (compression, bending, fatigue). Fabricate prototypes for bench testing including static load tests, cyclic fatigue tests, and environmental exposure (temperature, humidity) to verify performance and durability. Compare material cost per unit volume and estimated manufacturing costs with current materials. Target validation via a multi-axis shaker table and endurance testing simulating worst-case operational cycles. A preliminary saving value can be estimated based on material cost difference and projected weight reduction leading to fuel economy improvements.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Investigate material properties of various PA-GF grades, focusing on tensile strength, flexural modulus, fatigue life, and thermal expansion coefficients to match or exceed current steel/aluminum push rod specifications. Conduct FEA simulations to validate structural integrity under expected load cases (compression, bending, fatigue). Fabricate prototypes for bench testing including static load tests, cyclic fatigue tests, and environmental exposure (temperature, humidity) to verify performance and durability. Compare material cost per unit volume and estimated manufacturing costs with current materials. Target validation via a multi-axis shaker table and endurance testing simulating worst-case operational cycles. A preliminary saving value can be estimated based on material cost difference and projected weight reduction leading to fuel economy improvements.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Redesign the push rod end connections to utilize a snap-fit or integrated clevis design, eliminating the need for separate fasteners (bolts, nuts, washers) and associated assembly operations, potentially using a single-piece molding process.</a:t>
                      </a:r>
                    </a:p>
                  </a:txBody>
                  <a:tcPr/>
                </a:tc>
                <a:tc>
                  <a:txBody>
                    <a:bodyPr wrap="square"/>
                    <a:lstStyle/>
                    <a:p>
                      <a:pPr>
                        <a:defRPr sz="1000">
                          <a:latin typeface="Calibri"/>
                        </a:defRPr>
                      </a:pPr>
                      <a:r>
                        <a:t>Analyze current push rod end articulation requirements and mating component geometry. Explore snap-fit mechanisms and integrated clevis designs that can withstand operational loads and vibrations without loosening. Design for manufacturability (DFM) with a focus on injection molding. Perform stress analysis on the snap-fit or clevis interface under dynamic loads and pull-out forces. Prototype the redesigned ends and conduct functional fitment tests with mating components. Perform fatigue and vibration testing to ensure long-term reliability of the connection. Material selection will be critical to ensure sufficient resilience and strength for the snap-fit feature. Savings will be quantified by reduced hardware cost and assembly time. Validation will involve pull tests, torque tests, and vibration testing of the assembled joint.</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Analyze current push rod end articulation requirements and mating component geometry. Explore snap-fit mechanisms and integrated clevis designs that can withstand operational loads and vibrations without loosening. Design for manufacturability (DFM) with a focus on injection molding. Perform stress analysis on the snap-fit or clevis interface under dynamic loads and pull-out forces. Prototype the redesigned ends and conduct functional fitment tests with mating components. Perform fatigue and vibration testing to ensure long-term reliability of the connection. Material selection will be critical to ensure sufficient resilience and strength for the snap-fit feature. Savings will be quantified by reduced hardware cost and assembly time. Validation will involve pull tests, torque tests, and vibration testing of the assembled joint.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Implement a hollow section design for the push rod, maintaining structural rigidity through optimized internal ribbing or a specific cross-sectional profile, thereby reducing the amount of raw material required.</a:t>
                      </a:r>
                    </a:p>
                  </a:txBody>
                  <a:tcPr/>
                </a:tc>
                <a:tc>
                  <a:txBody>
                    <a:bodyPr wrap="square"/>
                    <a:lstStyle/>
                    <a:p>
                      <a:pPr>
                        <a:defRPr sz="1000">
                          <a:latin typeface="Calibri"/>
                        </a:defRPr>
                      </a:pPr>
                      <a:r>
                        <a:t>Perform detailed FEA analysis on solid push rod designs to identify areas of high stress concentration and excess material. Explore various hollow cross-sections (e.g., elliptical, rectangular with internal bracing) and their structural efficiency under axial compression and bending moments. Design and simulate optimized internal ribbing patterns to maintain torsional stiffness and prevent buckling. Material selection (e.g., drawn seamless steel tubing, aluminum extrusions) will consider strength-to-weight ratio and manufacturability. Prototype hollow sections and conduct axial compression tests, bending tests, and buckling analysis. Fatigue testing will be critical to assess the long-term durability of the hollow structure. Validation will include load deflection testing and resonance frequency analysis to ensure no adverse vibrational characteristics are introduced. Savings will be derived from material reduction.</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Perform detailed FEA analysis on solid push rod designs to identify areas of high stress concentration and excess material. Explore various hollow cross-sections (e.g., elliptical, rectangular with internal bracing) and their structural efficiency under axial compression and bending moments. Design and simulate optimized internal ribbing patterns to maintain torsional stiffness and prevent buckling. Material selection (e.g., drawn seamless steel tubing, aluminum extrusions) will consider strength-to-weight ratio and manufacturability. Prototype hollow sections and conduct axial compression tests, bending tests, and buckling analysis. Fatigue testing will be critical to assess the long-term durability of the hollow structure. Validation will include load deflection testing and resonance frequency analysis to ensure no adverse vibrational characteristics are introduced. Savings will be derived from material reduction.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Substitute conventional machining and joining methods for the push rod with additive manufacturing (3D printing) for specific complex geometries or customized lengths, allowing for on-demand production and optimized lattice structures.</a:t>
                      </a:r>
                    </a:p>
                  </a:txBody>
                  <a:tcPr/>
                </a:tc>
                <a:tc>
                  <a:txBody>
                    <a:bodyPr wrap="square"/>
                    <a:lstStyle/>
                    <a:p>
                      <a:pPr>
                        <a:defRPr sz="1000">
                          <a:latin typeface="Calibri"/>
                        </a:defRPr>
                      </a:pPr>
                      <a:r>
                        <a:t>Identify push rod applications where complex geometries or customization offers significant performance benefits or where traditional manufacturing is inefficient. Explore additive manufacturing technologies (e.g., selective laser melting for metals, fused deposition modeling for polymers) suitable for the required load-bearing capabilities. Design push rod components with topology optimization and lattice structures to minimize material usage while maintaining strength and stiffness. Conduct material characterization of printed parts and perform FEA simulations to validate structural performance against design requirements. Prototype printed push rods and subject them to rigorous static and dynamic testing, including fatigue and impact resistance. Validation will involve dimensional accuracy checks, material property verification, and functional testing under simulated operating conditions. Cost analysis will compare AM part cost with traditional methods for specific use cases.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Identify push rod applications where complex geometries or customization offers significant performance benefits or where traditional manufacturing is inefficient. Explore additive manufacturing technologies (e.g., selective laser melting for metals, fused deposition modeling for polymers) suitable for the required load-bearing capabilities. Design push rod components with topology optimization and lattice structures to minimize material usage while maintaining strength and stiffness. Conduct material characterization of printed parts and perform FEA simulations to validate structural performance against design requirements. Prototype printed push rods and subject them to rigorous static and dynamic testing, including fatigue and impact resistance. Validation will involve dimensional accuracy checks, material property verification, and functional testing under simulated operating conditions. Cost analysis will compare AM part cost with traditional methods for specific use cases.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Re-evaluate the required operational stroke and force requirements for specific push rod applications to potentially downsize the push rod diameter and/or reduce the material wall thickness without compromising functional performance.</a:t>
                      </a:r>
                    </a:p>
                  </a:txBody>
                  <a:tcPr/>
                </a:tc>
                <a:tc>
                  <a:txBody>
                    <a:bodyPr wrap="square"/>
                    <a:lstStyle/>
                    <a:p>
                      <a:pPr>
                        <a:defRPr sz="1000">
                          <a:latin typeface="Calibri"/>
                        </a:defRPr>
                      </a:pPr>
                      <a:r>
                        <a:t>Conduct a thorough review of system requirements and operational data for all push rod applications. Perform root cause analysis on existing push rod failures or over-engineering. Utilize dynamic simulation software to model the forces and deflections experienced by the push rod under various operating scenarios. Based on refined load cases, optimize the push rod geometry (diameter, length, wall thickness) using FEA to achieve the minimum required strength and stiffness. Consider factors such as buckling load, fatigue life, and deflection limits. Fabricate prototypes with the optimized dimensions and conduct rigorous validation testing, including load-deflection tests, fatigue endurance tests, and functional performance validation within the target system. Savings will be realized through reduced material usage and potentially simpler manufacturing processes. Validation will involve direct comparison of performance against the original specification and potentially testing across a wider temperature range.</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Conduct a thorough review of system requirements and operational data for all push rod applications. Perform root cause analysis on existing push rod failures or over-engineering. Utilize dynamic simulation software to model the forces and deflections experienced by the push rod under various operating scenarios. Based on refined load cases, optimize the push rod geometry (diameter, length, wall thickness) using FEA to achieve the minimum required strength and stiffness. Consider factors such as buckling load, fatigue life, and deflection limits. Fabricate prototypes with the optimized dimensions and conduct rigorous validation testing, including load-deflection tests, fatigue endurance tests, and functional performance validation within the target system. Savings will be realized through reduced material usage and potentially simpler manufacturing processes. Validation will involve direct comparison of performance against the original specification and potentially testing across a wider temperature range.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Investigate the use of advanced surface treatments or coatings on existing push rod materials (e.g., TiAlN, DLC for steel) to enhance wear resistance, reduce friction, and potentially allow for thinner material sections by improving fatigue strength under abrasive conditions.</a:t>
                      </a:r>
                    </a:p>
                  </a:txBody>
                  <a:tcPr/>
                </a:tc>
                <a:tc>
                  <a:txBody>
                    <a:bodyPr wrap="square"/>
                    <a:lstStyle/>
                    <a:p>
                      <a:pPr>
                        <a:defRPr sz="1000">
                          <a:latin typeface="Calibri"/>
                        </a:defRPr>
                      </a:pPr>
                      <a:r>
                        <a:t>Identify push rod applications experiencing premature wear or high friction, which might necessitate over-engineering of the base material. Research advanced thin-film coatings and surface treatments (e.g., Physical Vapor Deposition - PVD, Chemical Vapor Deposition - CVD) known for their hardness, low coefficient of friction, and wear resistance. Conduct tribological testing (e.g., pin-on-disk, reciprocating wear tests) to evaluate the performance of coated push rod samples against uncoated ones under simulated operating conditions. Perform fatigue life testing on coated components to assess any potential enhancement or detriment to fatigue strength. Analyze the adhesion and durability of the coatings under vibration and thermal cycling. If promising, prototype coated push rods for real-world testing. Validation will involve accelerated wear tests, friction coefficient measurements, and long-term durability assessments. Potential for thinner materials can be explored post-coating validation.</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Identify push rod applications experiencing premature wear or high friction, which might necessitate over-engineering of the base material. Research advanced thin-film coatings and surface treatments (e.g., Physical Vapor Deposition - PVD, Chemical Vapor Deposition - CVD) known for their hardness, low coefficient of friction, and wear resistance. Conduct tribological testing (e.g., pin-on-disk, reciprocating wear tests) to evaluate the performance of coated push rod samples against uncoated ones under simulated operating conditions. Perform fatigue life testing on coated components to assess any potential enhancement or detriment to fatigue strength. Analyze the adhesion and durability of the coatings under vibration and thermal cycling. If promising, prototype coated push rods for real-world testing. Validation will involve accelerated wear tests, friction coefficient measurements, and long-term durability assessments. Potential for thinner materials can be explored post-coating validation.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11</a:t>
            </a:r>
          </a:p>
          <a:p>
            <a:pPr>
              <a:defRPr sz="1000">
                <a:latin typeface="Calibri"/>
              </a:defRPr>
            </a:pPr>
            <a:r>
              <a:t>• Total Potential Savings: INR 431.00</a:t>
            </a:r>
          </a:p>
          <a:p>
            <a:pPr>
              <a:defRPr sz="1000">
                <a:latin typeface="Calibri"/>
              </a:defRPr>
            </a:pPr>
            <a:r>
              <a:t>• Implemented Ideas: 0</a:t>
            </a:r>
          </a:p>
          <a:p>
            <a:pPr>
              <a:defRPr sz="1000">
                <a:latin typeface="Calibri"/>
              </a:defRPr>
            </a:pPr>
            <a:r>
              <a:t>• Status OK: 0</a:t>
            </a:r>
          </a:p>
          <a:p>
            <a:pPr>
              <a:defRPr sz="1000">
                <a:latin typeface="Calibri"/>
              </a:defRPr>
            </a:pPr>
            <a:r>
              <a:t>• Status TBD: 2</a:t>
            </a:r>
          </a:p>
          <a:p>
            <a:pPr>
              <a:defRPr sz="1000">
                <a:latin typeface="Calibri"/>
              </a:defRPr>
            </a:pPr>
            <a:r>
              <a:t>• Status NG: 2</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11 ideas analyzed.</a:t>
            </a:r>
          </a:p>
          <a:p>
            <a:pPr>
              <a:defRPr sz="1800">
                <a:latin typeface="Calibri"/>
              </a:defRPr>
            </a:pPr>
            <a:r>
              <a:t>Total Savings: INR 431.00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
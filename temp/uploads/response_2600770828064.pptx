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Sheet1!$A$2:$A$14</c:f>
              <c:strCache>
                <c:ptCount val="13"/>
                <c:pt idx="0">
                  <c:v>2311-EL-ID-10</c:v>
                </c:pt>
                <c:pt idx="1">
                  <c:v>2311-EL-ID-08</c:v>
                </c:pt>
                <c:pt idx="2">
                  <c:v>2311-EL-ID-09</c:v>
                </c:pt>
                <c:pt idx="3">
                  <c:v>2311-ET-ID-14</c:v>
                </c:pt>
                <c:pt idx="4">
                  <c:v>2311-EL-ID-11</c:v>
                </c:pt>
                <c:pt idx="5">
                  <c:v>AI-GEN-01</c:v>
                </c:pt>
                <c:pt idx="6">
                  <c:v>AI-GEN-02</c:v>
                </c:pt>
                <c:pt idx="7">
                  <c:v>AI-GEN-03</c:v>
                </c:pt>
                <c:pt idx="8">
                  <c:v>AI-GEN-04</c:v>
                </c:pt>
                <c:pt idx="9">
                  <c:v>AI-GEN-05</c:v>
                </c:pt>
                <c:pt idx="10">
                  <c:v>AI-GEN-06</c:v>
                </c:pt>
                <c:pt idx="11">
                  <c:v>WEB-GEN-01</c:v>
                </c:pt>
                <c:pt idx="12">
                  <c:v>WEB-GEN-02</c:v>
                </c:pt>
              </c:strCache>
            </c:strRef>
          </c:cat>
          <c:val>
            <c:numRef>
              <c:f>Sheet1!$B$2:$B$14</c:f>
              <c:numCache>
                <c:formatCode>General</c:formatCode>
                <c:ptCount val="13"/>
                <c:pt idx="0">
                  <c:v>61.0</c:v>
                </c:pt>
                <c:pt idx="1">
                  <c:v>135.0</c:v>
                </c:pt>
                <c:pt idx="2">
                  <c:v>90.0</c:v>
                </c:pt>
                <c:pt idx="3">
                  <c:v>41.0</c:v>
                </c:pt>
                <c:pt idx="4">
                  <c:v>137.0</c:v>
                </c:pt>
                <c:pt idx="5">
                  <c:v>0</c:v>
                </c:pt>
                <c:pt idx="6">
                  <c:v>0</c:v>
                </c:pt>
                <c:pt idx="7">
                  <c:v>0</c:v>
                </c:pt>
                <c:pt idx="8">
                  <c:v>0</c:v>
                </c:pt>
                <c:pt idx="9">
                  <c:v>0</c:v>
                </c:pt>
                <c:pt idx="10">
                  <c:v>0</c:v>
                </c:pt>
                <c:pt idx="11">
                  <c:v>0</c:v>
                </c:pt>
                <c:pt idx="12">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1</c:v>
                </c:pt>
                <c:pt idx="2">
                  <c:v>2</c:v>
                </c:pt>
                <c:pt idx="3">
                  <c:v>2</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2311-EL-ID-10</a:t>
                      </a:r>
                    </a:p>
                  </a:txBody>
                  <a:tcPr/>
                </a:tc>
                <a:tc>
                  <a:txBody>
                    <a:bodyPr wrap="square"/>
                    <a:lstStyle/>
                    <a:p>
                      <a:pPr>
                        <a:defRPr sz="1000">
                          <a:latin typeface="Calibri"/>
                        </a:defRPr>
                      </a:pPr>
                      <a:r>
                        <a:t>Replace the 444GSM Battery Insulation Cover used in MGI with a 350GSM Insulation Cover</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INR 61.0</a:t>
                      </a:r>
                    </a:p>
                  </a:txBody>
                  <a:tcPr/>
                </a:tc>
                <a:tc>
                  <a:txBody>
                    <a:bodyPr wrap="square"/>
                    <a:lstStyle/>
                    <a:p>
                      <a:pPr>
                        <a:defRPr sz="1000">
                          <a:latin typeface="Calibri"/>
                        </a:defRPr>
                      </a:pPr>
                      <a:r>
                        <a:t>TBD</a:t>
                      </a:r>
                    </a:p>
                  </a:txBody>
                  <a:tcPr/>
                </a:tc>
                <a:tc>
                  <a:txBody>
                    <a:bodyPr wrap="square"/>
                    <a:lstStyle/>
                    <a:p>
                      <a:pPr>
                        <a:defRPr sz="1000">
                          <a:latin typeface="Calibri"/>
                        </a:defRPr>
                      </a:pPr>
                      <a:r>
                        <a:t>Thermal performance pending with change in density</a:t>
                      </a:r>
                    </a:p>
                  </a:txBody>
                  <a:tcPr/>
                </a:tc>
                <a:tc>
                  <a:txBody>
                    <a:bodyPr wrap="square"/>
                    <a:lstStyle/>
                    <a:p>
                      <a:pPr>
                        <a:defRPr sz="1000">
                          <a:latin typeface="Calibri"/>
                        </a:defRPr>
                      </a:pPr>
                      <a:r>
                        <a:t>Ojaswini</a:t>
                      </a:r>
                    </a:p>
                  </a:txBody>
                  <a:tcPr/>
                </a:tc>
                <a:tc>
                  <a:txBody>
                    <a:bodyPr wrap="square"/>
                    <a:lstStyle/>
                    <a:p>
                      <a:pPr>
                        <a:defRPr sz="1000">
                          <a:latin typeface="Calibri"/>
                        </a:defRPr>
                      </a:pPr>
                      <a:r>
                        <a:t>2024-03-29 00:00:00</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2311-EL-ID-09</a:t>
                      </a:r>
                    </a:p>
                  </a:txBody>
                  <a:tcPr/>
                </a:tc>
                <a:tc>
                  <a:txBody>
                    <a:bodyPr wrap="square"/>
                    <a:lstStyle/>
                    <a:p>
                      <a:pPr>
                        <a:defRPr sz="1000">
                          <a:latin typeface="Calibri"/>
                        </a:defRPr>
                      </a:pPr>
                      <a:r>
                        <a:t>Remove the separate tray provided at the base of the battery enclosure in MGI</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INR 90.0</a:t>
                      </a:r>
                    </a:p>
                  </a:txBody>
                  <a:tcPr/>
                </a:tc>
                <a:tc>
                  <a:txBody>
                    <a:bodyPr wrap="square"/>
                    <a:lstStyle/>
                    <a:p>
                      <a:pPr>
                        <a:defRPr sz="1000">
                          <a:latin typeface="Calibri"/>
                        </a:defRPr>
                      </a:pPr>
                      <a:r>
                        <a:t>NG</a:t>
                      </a:r>
                    </a:p>
                  </a:txBody>
                  <a:tcPr/>
                </a:tc>
                <a:tc>
                  <a:txBody>
                    <a:bodyPr wrap="square"/>
                    <a:lstStyle/>
                    <a:p>
                      <a:pPr>
                        <a:defRPr sz="1000">
                          <a:latin typeface="Calibri"/>
                        </a:defRPr>
                      </a:pPr>
                      <a:r>
                        <a:t>Confirm homeroom feasibility</a:t>
                      </a:r>
                    </a:p>
                  </a:txBody>
                  <a:tcPr/>
                </a:tc>
                <a:tc>
                  <a:txBody>
                    <a:bodyPr wrap="square"/>
                    <a:lstStyle/>
                    <a:p>
                      <a:pPr>
                        <a:defRPr sz="1000">
                          <a:latin typeface="Calibri"/>
                        </a:defRPr>
                      </a:pPr>
                      <a:r>
                        <a:t>Ratnadeep</a:t>
                      </a:r>
                    </a:p>
                  </a:txBody>
                  <a:tcPr/>
                </a:tc>
                <a:tc>
                  <a:txBody>
                    <a:bodyPr wrap="square"/>
                    <a:lstStyle/>
                    <a:p>
                      <a:pPr>
                        <a:defRPr sz="1000">
                          <a:latin typeface="Calibri"/>
                        </a:defRPr>
                      </a:pPr>
                      <a:r>
                        <a:t>2024-04-15 00:00:00</a:t>
                      </a:r>
                    </a:p>
                  </a:txBody>
                  <a:tcPr/>
                </a:tc>
              </a:tr>
              <a:tr h="320040">
                <a:tc>
                  <a:txBody>
                    <a:bodyPr wrap="square"/>
                    <a:lstStyle/>
                    <a:p>
                      <a:pPr>
                        <a:defRPr sz="1000">
                          <a:latin typeface="Calibri"/>
                        </a:defRPr>
                      </a:pPr>
                      <a:r>
                        <a:t>2311-ET-ID-14</a:t>
                      </a:r>
                    </a:p>
                  </a:txBody>
                  <a:tcPr/>
                </a:tc>
                <a:tc>
                  <a:txBody>
                    <a:bodyPr wrap="square"/>
                    <a:lstStyle/>
                    <a:p>
                      <a:pPr>
                        <a:defRPr sz="1000">
                          <a:latin typeface="Calibri"/>
                        </a:defRPr>
                      </a:pPr>
                      <a:r>
                        <a:t>1. Replace the 2240GSM Engine Bay Insulation Cover within MGI with a 1080 - 1100GSM Insulation Cover (PES-NF) as in KIA</a:t>
                      </a:r>
                    </a:p>
                    <a:p>
                      <a:pPr>
                        <a:defRPr sz="1000">
                          <a:latin typeface="Calibri"/>
                        </a:defRPr>
                      </a:pPr>
                      <a:r>
                        <a:t>2. Replace the 5300GSM Cabin Insulation Cover within MGI with a 4550 - 4650GSM Insulation Cover as in KIA</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41.0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2311-EL-ID-11</a:t>
                      </a:r>
                    </a:p>
                  </a:txBody>
                  <a:tcPr/>
                </a:tc>
                <a:tc>
                  <a:txBody>
                    <a:bodyPr wrap="square"/>
                    <a:lstStyle/>
                    <a:p>
                      <a:pPr>
                        <a:defRPr sz="1000">
                          <a:latin typeface="Calibri"/>
                        </a:defRPr>
                      </a:pPr>
                      <a:r>
                        <a:t>Replace PC-ABS with ABS in the manufacture of Tail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137.0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Implement a direct-injection cooling system for the battery pack, eliminating the need for a separate coolant pump and reservoir by utilizing the vehicle's primary coolant loop and a heat exchanger integrated directly into the battery casing.</a:t>
                      </a:r>
                    </a:p>
                  </a:txBody>
                  <a:tcPr/>
                </a:tc>
                <a:tc>
                  <a:txBody>
                    <a:bodyPr wrap="square"/>
                    <a:lstStyle/>
                    <a:p>
                      <a:pPr>
                        <a:defRPr sz="1000">
                          <a:latin typeface="Calibri"/>
                        </a:defRPr>
                      </a:pPr>
                      <a:r>
                        <a:t>This approach leverages existing thermal management infrastructure. The physics involves convective heat transfer from the battery cells to the coolant flowing through integrated channels. Validation will require CFD analysis to model thermal gradients under various load conditions, followed by physical testing of a prototype pack under accelerated life cycle testing and extreme temperature scenarios to confirm thermal stability and prevent thermal runaway.</a:t>
                      </a:r>
                    </a:p>
                  </a:txBody>
                  <a:tcPr/>
                </a:tc>
                <a:tc>
                  <a:txBody>
                    <a:bodyPr wrap="square"/>
                    <a:lstStyle/>
                    <a:p>
                      <a:pPr>
                        <a:defRPr sz="1000">
                          <a:latin typeface="Calibri"/>
                        </a:defRPr>
                      </a:pPr>
                      <a:r>
                        <a:t>1500000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approach leverages existing thermal management infrastructure. The physics involves convective heat transfer from the battery cells to the coolant flowing through integrated channels. Validation will require CFD analysis to model thermal gradients under various load conditions, followed by physical testing of a prototype pack under accelerated life cycle testing and extreme temperature scenarios to confirm thermal stability and prevent thermal runaway.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Substitute the current multi-piece battery enclosure with a single-piece, high-strength composite structure manufactured using advanced composite molding techniques (e.g., RTM or compression molding), thereby reducing assembly complexity and the number of fasteners.</a:t>
                      </a:r>
                    </a:p>
                  </a:txBody>
                  <a:tcPr/>
                </a:tc>
                <a:tc>
                  <a:txBody>
                    <a:bodyPr wrap="square"/>
                    <a:lstStyle/>
                    <a:p>
                      <a:pPr>
                        <a:defRPr sz="1000">
                          <a:latin typeface="Calibri"/>
                        </a:defRPr>
                      </a:pPr>
                      <a:r>
                        <a:t>The core principle here is to simplify the supply chain and manufacturing process. A single-piece design inherently reduces assembly labor and the potential for leaks or structural weaknesses at joints. Validation will involve Finite Element Analysis (FEA) to assess structural integrity under crash loads and vibration, alongside material testing to confirm long-term durability and environmental resistance of the chosen composite.</a:t>
                      </a:r>
                    </a:p>
                  </a:txBody>
                  <a:tcPr/>
                </a:tc>
                <a:tc>
                  <a:txBody>
                    <a:bodyPr wrap="square"/>
                    <a:lstStyle/>
                    <a:p>
                      <a:pPr>
                        <a:defRPr sz="1000">
                          <a:latin typeface="Calibri"/>
                        </a:defRPr>
                      </a:pPr>
                      <a:r>
                        <a:t>1200000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core principle here is to simplify the supply chain and manufacturing process. A single-piece design inherently reduces assembly labor and the potential for leaks or structural weaknesses at joints. Validation will involve Finite Element Analysis (FEA) to assess structural integrity under crash loads and vibration, alongside material testing to confirm long-term durability and environmental resistance of the chosen composite.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Redesign the battery module interconnects from traditional bolted busbars to a laser-welded or ultrasonic-welded tab system, reducing material usage and improving electrical conductivity.</a:t>
                      </a:r>
                    </a:p>
                  </a:txBody>
                  <a:tcPr/>
                </a:tc>
                <a:tc>
                  <a:txBody>
                    <a:bodyPr wrap="square"/>
                    <a:lstStyle/>
                    <a:p>
                      <a:pPr>
                        <a:defRPr sz="1000">
                          <a:latin typeface="Calibri"/>
                        </a:defRPr>
                      </a:pPr>
                      <a:r>
                        <a:t>This proposal focuses on optimizing the electrical path and reducing material waste. Welding offers a more robust and lower-resistance connection compared to bolted joints, potentially improving energy efficiency. Validation will involve cyclic stress testing of the welded joints to assess fatigue life, electrochemical impedance spectroscopy (EIS) to measure resistance changes over time, and thermal imaging during high current discharge to monitor for hot spots.</a:t>
                      </a:r>
                    </a:p>
                  </a:txBody>
                  <a:tcPr/>
                </a:tc>
                <a:tc>
                  <a:txBody>
                    <a:bodyPr wrap="square"/>
                    <a:lstStyle/>
                    <a:p>
                      <a:pPr>
                        <a:defRPr sz="1000">
                          <a:latin typeface="Calibri"/>
                        </a:defRPr>
                      </a:pPr>
                      <a:r>
                        <a:t>800000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focuses on optimizing the electrical path and reducing material waste. Welding offers a more robust and lower-resistance connection compared to bolted joints, potentially improving energy efficiency. Validation will involve cyclic stress testing of the welded joints to assess fatigue life, electrochemical impedance spectroscopy (EIS) to measure resistance changes over time, and thermal imaging during high current discharge to monitor for hot spots.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Integrate the Battery Management System (BMS) control electronics directly onto the battery module busbars or cell holders, eliminating the need for separate printed circuit boards (PCBs) and associated wiring harnesses.</a:t>
                      </a:r>
                    </a:p>
                  </a:txBody>
                  <a:tcPr/>
                </a:tc>
                <a:tc>
                  <a:txBody>
                    <a:bodyPr wrap="square"/>
                    <a:lstStyle/>
                    <a:p>
                      <a:pPr>
                        <a:defRPr sz="1000">
                          <a:latin typeface="Calibri"/>
                        </a:defRPr>
                      </a:pPr>
                      <a:r>
                        <a:t>The objective is to miniaturize and consolidate electronic components. By integrating the BMS directly, we reduce the Bill of Materials (BOM) for PCBs and connectors, and simplify assembly. Validation will involve rigorous EMI/EMC testing to ensure the integrated electronics are not susceptible to interference, and thermal simulation to confirm that the heat generated by the electronics is adequately dissipated by the battery module itself.</a:t>
                      </a:r>
                    </a:p>
                  </a:txBody>
                  <a:tcPr/>
                </a:tc>
                <a:tc>
                  <a:txBody>
                    <a:bodyPr wrap="square"/>
                    <a:lstStyle/>
                    <a:p>
                      <a:pPr>
                        <a:defRPr sz="1000">
                          <a:latin typeface="Calibri"/>
                        </a:defRPr>
                      </a:pPr>
                      <a:r>
                        <a:t>1000000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objective is to miniaturize and consolidate electronic components. By integrating the BMS directly, we reduce the Bill of Materials (BOM) for PCBs and connectors, and simplify assembly. Validation will involve rigorous EMI/EMC testing to ensure the integrated electronics are not susceptible to interference, and thermal simulation to confirm that the heat generated by the electronics is adequately dissipated by the battery module itself.</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Explore the use of a lower-density, but still functionally equivalent, thermal interface material (TIM) between battery cells and the cooling plates, based on advanced polymer composites with tailored thermal conductivity.</a:t>
                      </a:r>
                    </a:p>
                  </a:txBody>
                  <a:tcPr/>
                </a:tc>
                <a:tc>
                  <a:txBody>
                    <a:bodyPr wrap="square"/>
                    <a:lstStyle/>
                    <a:p>
                      <a:pPr>
                        <a:defRPr sz="1000">
                          <a:latin typeface="Calibri"/>
                        </a:defRPr>
                      </a:pPr>
                      <a:r>
                        <a:t>This idea targets cost reduction through material optimization. The physics of heat transfer dictates that the TIM's thermal resistance is critical. By identifying a TIM with lower density but sufficient thermal conductivity, we can reduce material cost and weight. Validation will involve comparative thermal performance testing of different TIMs under controlled conditions, measuring cell temperatures during charge/discharge cycles, and assessing long-term aging of the TIM.</a:t>
                      </a:r>
                    </a:p>
                  </a:txBody>
                  <a:tcPr/>
                </a:tc>
                <a:tc>
                  <a:txBody>
                    <a:bodyPr wrap="square"/>
                    <a:lstStyle/>
                    <a:p>
                      <a:pPr>
                        <a:defRPr sz="1000">
                          <a:latin typeface="Calibri"/>
                        </a:defRPr>
                      </a:pPr>
                      <a:r>
                        <a:t>600000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idea targets cost reduction through material optimization. The physics of heat transfer dictates that the TIM's thermal resistance is critical. By identifying a TIM with lower density but sufficient thermal conductivity, we can reduce material cost and weight. Validation will involve comparative thermal performance testing of different TIMs under controlled conditions, measuring cell temperatures during charge/discharge cycles, and assessing long-term aging of the TIM.</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44602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4859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Implement a modular cell-to-pack (CTP) design where individual battery cells are directly integrated into the battery pack structure, bypassing intermediate module housings and simplifying the overall assembly.</a:t>
                      </a:r>
                    </a:p>
                  </a:txBody>
                  <a:tcPr/>
                </a:tc>
                <a:tc>
                  <a:txBody>
                    <a:bodyPr wrap="square"/>
                    <a:lstStyle/>
                    <a:p>
                      <a:pPr>
                        <a:defRPr sz="1000">
                          <a:latin typeface="Calibri"/>
                        </a:defRPr>
                      </a:pPr>
                      <a:r>
                        <a:t>The fundamental principle is to reduce component count and assembly steps. CTP designs eliminate module casings, interconnects between modules, and associated assembly labor, leading to significant cost and weight savings. Validation will focus on ensuring structural integrity of the pack without modules, thermal management effectiveness of direct cell cooling, and robustness against vibration and shock through extensive mechanical and environmental testing.</a:t>
                      </a:r>
                    </a:p>
                  </a:txBody>
                  <a:tcPr/>
                </a:tc>
                <a:tc>
                  <a:txBody>
                    <a:bodyPr wrap="square"/>
                    <a:lstStyle/>
                    <a:p>
                      <a:pPr>
                        <a:defRPr sz="1000">
                          <a:latin typeface="Calibri"/>
                        </a:defRPr>
                      </a:pPr>
                      <a:r>
                        <a:t>2000000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fundamental principle is to reduce component count and assembly steps. CTP designs eliminate module casings, interconnects between modules, and associated assembly labor, leading to significant cost and weight savings. Validation will focus on ensuring structural integrity of the pack without modules, thermal management effectiveness of direct cell cooling, and robustness against vibration and shock through extensive mechanical and environmental testing.</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Improve cross-functional team collaboration for design efficiency</a:t>
                      </a:r>
                    </a:p>
                  </a:txBody>
                  <a:tcPr/>
                </a:tc>
                <a:tc>
                  <a:txBody>
                    <a:bodyPr wrap="square"/>
                    <a:lstStyle/>
                    <a:p>
                      <a:pPr>
                        <a:defRPr sz="1000">
                          <a:latin typeface="Calibri"/>
                        </a:defRPr>
                      </a:pPr>
                      <a:r>
                        <a:t>Implement structured workshops and integrated software platforms to foster better communication and understanding between design and technical teams. This can identify design simplifications or material substitutions early in the development cycle, reducing rework and material waste.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Implement structured workshops and integrated software platforms to foster better communication and understanding between design and technical teams. This can identify design simplifications or material substitutions early in the development cycle, reducing rework and material waste.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Streamline livery application processes</a:t>
                      </a:r>
                    </a:p>
                  </a:txBody>
                  <a:tcPr/>
                </a:tc>
                <a:tc>
                  <a:txBody>
                    <a:bodyPr wrap="square"/>
                    <a:lstStyle/>
                    <a:p>
                      <a:pPr>
                        <a:defRPr sz="1000">
                          <a:latin typeface="Calibri"/>
                        </a:defRPr>
                      </a:pPr>
                      <a:r>
                        <a:t>Analyze current livery application methods and explore alternative materials or application techniques that reduce labor, material waste, or processing time. This could involve investigating advanced vinyl wrapping technologies or more efficient paint systems if applicable to the 'mg' component. Source: https://www.f1technical.net/forum/viewtopic.php?t=32054&amp;start=7500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Analyze current livery application methods and explore alternative materials or application techniques that reduce labor, material waste, or processing time. This could involve investigating advanced vinyl wrapping technologies or more efficient paint systems if applicable to the 'mg' component. Source: https://www.f1technical.net/forum/viewtopic.php?t=32054&amp;start=7500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13</a:t>
            </a:r>
          </a:p>
          <a:p>
            <a:pPr>
              <a:defRPr sz="1000">
                <a:latin typeface="Calibri"/>
              </a:defRPr>
            </a:pPr>
            <a:r>
              <a:t>• Total Potential Savings: INR 464.00</a:t>
            </a:r>
          </a:p>
          <a:p>
            <a:pPr>
              <a:defRPr sz="1000">
                <a:latin typeface="Calibri"/>
              </a:defRPr>
            </a:pPr>
            <a:r>
              <a:t>• Implemented Ideas: 0</a:t>
            </a:r>
          </a:p>
          <a:p>
            <a:pPr>
              <a:defRPr sz="1000">
                <a:latin typeface="Calibri"/>
              </a:defRPr>
            </a:pPr>
            <a:r>
              <a:t>• Status OK: 1</a:t>
            </a:r>
          </a:p>
          <a:p>
            <a:pPr>
              <a:defRPr sz="1000">
                <a:latin typeface="Calibri"/>
              </a:defRPr>
            </a:pPr>
            <a:r>
              <a:t>• Status TBD: 2</a:t>
            </a:r>
          </a:p>
          <a:p>
            <a:pPr>
              <a:defRPr sz="1000">
                <a:latin typeface="Calibri"/>
              </a:defRPr>
            </a:pPr>
            <a:r>
              <a:t>• Status NG: 2</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13 ideas analyzed.</a:t>
            </a:r>
          </a:p>
          <a:p>
            <a:pPr>
              <a:defRPr sz="1800">
                <a:latin typeface="Calibri"/>
              </a:defRPr>
            </a:pPr>
            <a:r>
              <a:t>Total Savings: INR 464.00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
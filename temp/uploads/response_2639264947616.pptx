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Sheet1!$A$2:$A$13</c:f>
              <c:strCache>
                <c:ptCount val="12"/>
                <c:pt idx="0">
                  <c:v>2311-PRODUCT-ID-01</c:v>
                </c:pt>
                <c:pt idx="1">
                  <c:v>2311-PRODUCT-ID-21</c:v>
                </c:pt>
                <c:pt idx="2">
                  <c:v>2311-PRODUCT-ID-22</c:v>
                </c:pt>
                <c:pt idx="3">
                  <c:v>2311-BA-ID-02</c:v>
                </c:pt>
                <c:pt idx="4">
                  <c:v>2311-DA-ID-07</c:v>
                </c:pt>
                <c:pt idx="5">
                  <c:v>2311-DA-ID-15</c:v>
                </c:pt>
                <c:pt idx="6">
                  <c:v>2311-DA-ID-20</c:v>
                </c:pt>
                <c:pt idx="7">
                  <c:v>2311-EL-ID-01</c:v>
                </c:pt>
                <c:pt idx="8">
                  <c:v>2311-IP-ID-03</c:v>
                </c:pt>
                <c:pt idx="9">
                  <c:v>2311-IT-ID-01</c:v>
                </c:pt>
                <c:pt idx="10">
                  <c:v>2311-IT-ID-10</c:v>
                </c:pt>
                <c:pt idx="11">
                  <c:v>2311-WS-ID-02</c:v>
                </c:pt>
              </c:strCache>
            </c:strRef>
          </c:cat>
          <c:val>
            <c:numRef>
              <c:f>Sheet1!$B$2:$B$13</c:f>
              <c:numCache>
                <c:formatCode>General</c:formatCode>
                <c:ptCount val="12"/>
                <c:pt idx="0">
                  <c:v>68.0</c:v>
                </c:pt>
                <c:pt idx="1">
                  <c:v>65.0</c:v>
                </c:pt>
                <c:pt idx="2">
                  <c:v>108.0</c:v>
                </c:pt>
                <c:pt idx="3">
                  <c:v>102.0</c:v>
                </c:pt>
                <c:pt idx="4">
                  <c:v>143.0</c:v>
                </c:pt>
                <c:pt idx="5">
                  <c:v>51.0</c:v>
                </c:pt>
                <c:pt idx="6">
                  <c:v>129.0</c:v>
                </c:pt>
                <c:pt idx="7">
                  <c:v>142.0</c:v>
                </c:pt>
                <c:pt idx="8">
                  <c:v>72.0</c:v>
                </c:pt>
                <c:pt idx="9">
                  <c:v>52.0</c:v>
                </c:pt>
                <c:pt idx="10">
                  <c:v>68.0</c:v>
                </c:pt>
                <c:pt idx="11">
                  <c:v>62.0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12</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2311-PRODUCT-ID-01</a:t>
                      </a:r>
                    </a:p>
                  </a:txBody>
                  <a:tcPr/>
                </a:tc>
                <a:tc>
                  <a:txBody>
                    <a:bodyPr wrap="square"/>
                    <a:lstStyle/>
                    <a:p>
                      <a:pPr>
                        <a:defRPr sz="1000">
                          <a:latin typeface="Calibri"/>
                        </a:defRPr>
                      </a:pPr>
                      <a:r>
                        <a:t>Replace the dual LED lamps used for rear license plate illumination with a pair of single LED lamps.</a:t>
                      </a:r>
                    </a:p>
                  </a:txBody>
                  <a:tcPr/>
                </a:tc>
                <a:tc>
                  <a:txBody>
                    <a:bodyPr wrap="square"/>
                    <a:lstStyle/>
                    <a:p>
                      <a:pPr>
                        <a:defRPr sz="1000">
                          <a:latin typeface="Calibri"/>
                        </a:defRPr>
                      </a:pPr>
                      <a:r>
                        <a:t>N/A</a:t>
                      </a:r>
                    </a:p>
                  </a:txBody>
                  <a:tcPr/>
                </a:tc>
                <a:tc>
                  <a:txBody>
                    <a:bodyPr wrap="square"/>
                    <a:lstStyle/>
                    <a:p>
                      <a:pPr>
                        <a:defRPr sz="1000">
                          <a:latin typeface="Calibri"/>
                        </a:defRPr>
                      </a:pPr>
                      <a:r>
                        <a:t>INR 68.00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2311-PRODUCT-ID-21</a:t>
                      </a:r>
                    </a:p>
                  </a:txBody>
                  <a:tcPr/>
                </a:tc>
                <a:tc>
                  <a:txBody>
                    <a:bodyPr wrap="square"/>
                    <a:lstStyle/>
                    <a:p>
                      <a:pPr>
                        <a:defRPr sz="1000">
                          <a:latin typeface="Calibri"/>
                        </a:defRPr>
                      </a:pPr>
                      <a:r>
                        <a:t>De-content the Spacer Plates mounted onto the door frame and if required, increase the length of the latch receiver on the Striker Plate to ensure the doors close smoothly and securely</a:t>
                      </a:r>
                    </a:p>
                  </a:txBody>
                  <a:tcPr/>
                </a:tc>
                <a:tc>
                  <a:txBody>
                    <a:bodyPr wrap="square"/>
                    <a:lstStyle/>
                    <a:p>
                      <a:pPr>
                        <a:defRPr sz="1000">
                          <a:latin typeface="Calibri"/>
                        </a:defRPr>
                      </a:pPr>
                      <a:r>
                        <a:t>N/A</a:t>
                      </a:r>
                    </a:p>
                  </a:txBody>
                  <a:tcPr/>
                </a:tc>
                <a:tc>
                  <a:txBody>
                    <a:bodyPr wrap="square"/>
                    <a:lstStyle/>
                    <a:p>
                      <a:pPr>
                        <a:defRPr sz="1000">
                          <a:latin typeface="Calibri"/>
                        </a:defRPr>
                      </a:pPr>
                      <a:r>
                        <a:t>INR 65.00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2311-PRODUCT-ID-22</a:t>
                      </a:r>
                    </a:p>
                  </a:txBody>
                  <a:tcPr/>
                </a:tc>
                <a:tc>
                  <a:txBody>
                    <a:bodyPr wrap="square"/>
                    <a:lstStyle/>
                    <a:p>
                      <a:pPr>
                        <a:defRPr sz="1000">
                          <a:latin typeface="Calibri"/>
                        </a:defRPr>
                      </a:pPr>
                      <a:r>
                        <a:t>De-content the plastic support trims found within the storage pocket flaps behind the LH and RH front seats</a:t>
                      </a:r>
                    </a:p>
                  </a:txBody>
                  <a:tcPr/>
                </a:tc>
                <a:tc>
                  <a:txBody>
                    <a:bodyPr wrap="square"/>
                    <a:lstStyle/>
                    <a:p>
                      <a:pPr>
                        <a:defRPr sz="1000">
                          <a:latin typeface="Calibri"/>
                        </a:defRPr>
                      </a:pPr>
                      <a:r>
                        <a:t>N/A</a:t>
                      </a:r>
                    </a:p>
                  </a:txBody>
                  <a:tcPr/>
                </a:tc>
                <a:tc>
                  <a:txBody>
                    <a:bodyPr wrap="square"/>
                    <a:lstStyle/>
                    <a:p>
                      <a:pPr>
                        <a:defRPr sz="1000">
                          <a:latin typeface="Calibri"/>
                        </a:defRPr>
                      </a:pPr>
                      <a:r>
                        <a:t>INR 108.00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2311-BA-ID-02</a:t>
                      </a:r>
                    </a:p>
                  </a:txBody>
                  <a:tcPr/>
                </a:tc>
                <a:tc>
                  <a:txBody>
                    <a:bodyPr wrap="square"/>
                    <a:lstStyle/>
                    <a:p>
                      <a:pPr>
                        <a:defRPr sz="1000">
                          <a:latin typeface="Calibri"/>
                        </a:defRPr>
                      </a:pPr>
                      <a:r>
                        <a:t>Remove the black paint coating from the Brake Caliper Mounting Brackets on all four brake assemblies of MGI, following the procedure used for the front brake caliper mounting brackets in KIA.</a:t>
                      </a:r>
                    </a:p>
                  </a:txBody>
                  <a:tcPr/>
                </a:tc>
                <a:tc>
                  <a:txBody>
                    <a:bodyPr wrap="square"/>
                    <a:lstStyle/>
                    <a:p>
                      <a:pPr>
                        <a:defRPr sz="1000">
                          <a:latin typeface="Calibri"/>
                        </a:defRPr>
                      </a:pPr>
                      <a:r>
                        <a:t>N/A</a:t>
                      </a:r>
                    </a:p>
                  </a:txBody>
                  <a:tcPr/>
                </a:tc>
                <a:tc>
                  <a:txBody>
                    <a:bodyPr wrap="square"/>
                    <a:lstStyle/>
                    <a:p>
                      <a:pPr>
                        <a:defRPr sz="1000">
                          <a:latin typeface="Calibri"/>
                        </a:defRPr>
                      </a:pPr>
                      <a:r>
                        <a:t>INR 102.00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2311-DA-ID-07</a:t>
                      </a:r>
                    </a:p>
                  </a:txBody>
                  <a:tcPr/>
                </a:tc>
                <a:tc>
                  <a:txBody>
                    <a:bodyPr wrap="square"/>
                    <a:lstStyle/>
                    <a:p>
                      <a:pPr>
                        <a:defRPr sz="1000">
                          <a:latin typeface="Calibri"/>
                        </a:defRPr>
                      </a:pPr>
                      <a:r>
                        <a:t>Replace PA6-GF30 with PA6-GF20 in the manufacture of the Tailgate Release/Handle Trim</a:t>
                      </a:r>
                    </a:p>
                  </a:txBody>
                  <a:tcPr/>
                </a:tc>
                <a:tc>
                  <a:txBody>
                    <a:bodyPr wrap="square"/>
                    <a:lstStyle/>
                    <a:p>
                      <a:pPr>
                        <a:defRPr sz="1000">
                          <a:latin typeface="Calibri"/>
                        </a:defRPr>
                      </a:pPr>
                      <a:r>
                        <a:t>N/A</a:t>
                      </a:r>
                    </a:p>
                  </a:txBody>
                  <a:tcPr/>
                </a:tc>
                <a:tc>
                  <a:txBody>
                    <a:bodyPr wrap="square"/>
                    <a:lstStyle/>
                    <a:p>
                      <a:pPr>
                        <a:defRPr sz="1000">
                          <a:latin typeface="Calibri"/>
                        </a:defRPr>
                      </a:pPr>
                      <a:r>
                        <a:t>INR 143.00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2311-DA-ID-15</a:t>
                      </a:r>
                    </a:p>
                  </a:txBody>
                  <a:tcPr/>
                </a:tc>
                <a:tc>
                  <a:txBody>
                    <a:bodyPr wrap="square"/>
                    <a:lstStyle/>
                    <a:p>
                      <a:pPr>
                        <a:defRPr sz="1000">
                          <a:latin typeface="Calibri"/>
                        </a:defRPr>
                      </a:pPr>
                      <a:r>
                        <a:t>Replace PC-ABS with ABS in the manufacture of Speaker Trims present on the door assemblies.</a:t>
                      </a:r>
                    </a:p>
                  </a:txBody>
                  <a:tcPr/>
                </a:tc>
                <a:tc>
                  <a:txBody>
                    <a:bodyPr wrap="square"/>
                    <a:lstStyle/>
                    <a:p>
                      <a:pPr>
                        <a:defRPr sz="1000">
                          <a:latin typeface="Calibri"/>
                        </a:defRPr>
                      </a:pPr>
                      <a:r>
                        <a:t>N/A</a:t>
                      </a:r>
                    </a:p>
                  </a:txBody>
                  <a:tcPr/>
                </a:tc>
                <a:tc>
                  <a:txBody>
                    <a:bodyPr wrap="square"/>
                    <a:lstStyle/>
                    <a:p>
                      <a:pPr>
                        <a:defRPr sz="1000">
                          <a:latin typeface="Calibri"/>
                        </a:defRPr>
                      </a:pPr>
                      <a:r>
                        <a:t>INR 51.00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2311-DA-ID-20</a:t>
                      </a:r>
                    </a:p>
                  </a:txBody>
                  <a:tcPr/>
                </a:tc>
                <a:tc>
                  <a:txBody>
                    <a:bodyPr wrap="square"/>
                    <a:lstStyle/>
                    <a:p>
                      <a:pPr>
                        <a:defRPr sz="1000">
                          <a:latin typeface="Calibri"/>
                        </a:defRPr>
                      </a:pPr>
                      <a:r>
                        <a:t>De-content Cable Protective Sheaths one each from all the Lock Release and Front Window Regulator assemblies of the vehicle</a:t>
                      </a:r>
                    </a:p>
                  </a:txBody>
                  <a:tcPr/>
                </a:tc>
                <a:tc>
                  <a:txBody>
                    <a:bodyPr wrap="square"/>
                    <a:lstStyle/>
                    <a:p>
                      <a:pPr>
                        <a:defRPr sz="1000">
                          <a:latin typeface="Calibri"/>
                        </a:defRPr>
                      </a:pPr>
                      <a:r>
                        <a:t>N/A</a:t>
                      </a:r>
                    </a:p>
                  </a:txBody>
                  <a:tcPr/>
                </a:tc>
                <a:tc>
                  <a:txBody>
                    <a:bodyPr wrap="square"/>
                    <a:lstStyle/>
                    <a:p>
                      <a:pPr>
                        <a:defRPr sz="1000">
                          <a:latin typeface="Calibri"/>
                        </a:defRPr>
                      </a:pPr>
                      <a:r>
                        <a:t>INR 129.00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2311-EL-ID-01</a:t>
                      </a:r>
                    </a:p>
                  </a:txBody>
                  <a:tcPr/>
                </a:tc>
                <a:tc>
                  <a:txBody>
                    <a:bodyPr wrap="square"/>
                    <a:lstStyle/>
                    <a:p>
                      <a:pPr>
                        <a:defRPr sz="1000">
                          <a:latin typeface="Calibri"/>
                        </a:defRPr>
                      </a:pPr>
                      <a:r>
                        <a:t>Replace the 16-pin connector set used on the IRVM assembly with an 8-pin connector set.</a:t>
                      </a:r>
                    </a:p>
                  </a:txBody>
                  <a:tcPr/>
                </a:tc>
                <a:tc>
                  <a:txBody>
                    <a:bodyPr wrap="square"/>
                    <a:lstStyle/>
                    <a:p>
                      <a:pPr>
                        <a:defRPr sz="1000">
                          <a:latin typeface="Calibri"/>
                        </a:defRPr>
                      </a:pPr>
                      <a:r>
                        <a:t>N/A</a:t>
                      </a:r>
                    </a:p>
                  </a:txBody>
                  <a:tcPr/>
                </a:tc>
                <a:tc>
                  <a:txBody>
                    <a:bodyPr wrap="square"/>
                    <a:lstStyle/>
                    <a:p>
                      <a:pPr>
                        <a:defRPr sz="1000">
                          <a:latin typeface="Calibri"/>
                        </a:defRPr>
                      </a:pPr>
                      <a:r>
                        <a:t>INR 142.00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2311-IP-ID-03</a:t>
                      </a:r>
                    </a:p>
                  </a:txBody>
                  <a:tcPr/>
                </a:tc>
                <a:tc>
                  <a:txBody>
                    <a:bodyPr wrap="square"/>
                    <a:lstStyle/>
                    <a:p>
                      <a:pPr>
                        <a:defRPr sz="1000">
                          <a:latin typeface="Calibri"/>
                        </a:defRPr>
                      </a:pPr>
                      <a:r>
                        <a:t>Replace PC-ABS with ABS in the manufacture of Centre Console LH and RH Garnish Trims and the Infotainment Screen Garnish Trim present within the interior of the vehicle</a:t>
                      </a:r>
                    </a:p>
                  </a:txBody>
                  <a:tcPr/>
                </a:tc>
                <a:tc>
                  <a:txBody>
                    <a:bodyPr wrap="square"/>
                    <a:lstStyle/>
                    <a:p>
                      <a:pPr>
                        <a:defRPr sz="1000">
                          <a:latin typeface="Calibri"/>
                        </a:defRPr>
                      </a:pPr>
                      <a:r>
                        <a:t>N/A</a:t>
                      </a:r>
                    </a:p>
                  </a:txBody>
                  <a:tcPr/>
                </a:tc>
                <a:tc>
                  <a:txBody>
                    <a:bodyPr wrap="square"/>
                    <a:lstStyle/>
                    <a:p>
                      <a:pPr>
                        <a:defRPr sz="1000">
                          <a:latin typeface="Calibri"/>
                        </a:defRPr>
                      </a:pPr>
                      <a:r>
                        <a:t>INR 72.00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2311-IT-ID-01</a:t>
                      </a:r>
                    </a:p>
                  </a:txBody>
                  <a:tcPr/>
                </a:tc>
                <a:tc>
                  <a:txBody>
                    <a:bodyPr wrap="square"/>
                    <a:lstStyle/>
                    <a:p>
                      <a:pPr>
                        <a:defRPr sz="1000">
                          <a:latin typeface="Calibri"/>
                        </a:defRPr>
                      </a:pPr>
                      <a:r>
                        <a:t>Remove the fabric cover pasted onto the foot pad provided at the footwell area of the co-driver seat.</a:t>
                      </a:r>
                    </a:p>
                  </a:txBody>
                  <a:tcPr/>
                </a:tc>
                <a:tc>
                  <a:txBody>
                    <a:bodyPr wrap="square"/>
                    <a:lstStyle/>
                    <a:p>
                      <a:pPr>
                        <a:defRPr sz="1000">
                          <a:latin typeface="Calibri"/>
                        </a:defRPr>
                      </a:pPr>
                      <a:r>
                        <a:t>N/A</a:t>
                      </a:r>
                    </a:p>
                  </a:txBody>
                  <a:tcPr/>
                </a:tc>
                <a:tc>
                  <a:txBody>
                    <a:bodyPr wrap="square"/>
                    <a:lstStyle/>
                    <a:p>
                      <a:pPr>
                        <a:defRPr sz="1000">
                          <a:latin typeface="Calibri"/>
                        </a:defRPr>
                      </a:pPr>
                      <a:r>
                        <a:t>INR 52.00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262128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19812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2311-IT-ID-10</a:t>
                      </a:r>
                    </a:p>
                  </a:txBody>
                  <a:tcPr/>
                </a:tc>
                <a:tc>
                  <a:txBody>
                    <a:bodyPr wrap="square"/>
                    <a:lstStyle/>
                    <a:p>
                      <a:pPr>
                        <a:defRPr sz="1000">
                          <a:latin typeface="Calibri"/>
                        </a:defRPr>
                      </a:pPr>
                      <a:r>
                        <a:t>Replace PP-T20 with PP in the manufacture of the Dead Pedal Trim present mounted onto the driver's footwell</a:t>
                      </a:r>
                    </a:p>
                  </a:txBody>
                  <a:tcPr/>
                </a:tc>
                <a:tc>
                  <a:txBody>
                    <a:bodyPr wrap="square"/>
                    <a:lstStyle/>
                    <a:p>
                      <a:pPr>
                        <a:defRPr sz="1000">
                          <a:latin typeface="Calibri"/>
                        </a:defRPr>
                      </a:pPr>
                      <a:r>
                        <a:t>N/A</a:t>
                      </a:r>
                    </a:p>
                  </a:txBody>
                  <a:tcPr/>
                </a:tc>
                <a:tc>
                  <a:txBody>
                    <a:bodyPr wrap="square"/>
                    <a:lstStyle/>
                    <a:p>
                      <a:pPr>
                        <a:defRPr sz="1000">
                          <a:latin typeface="Calibri"/>
                        </a:defRPr>
                      </a:pPr>
                      <a:r>
                        <a:t>INR 68.00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2311-WS-ID-02</a:t>
                      </a:r>
                    </a:p>
                  </a:txBody>
                  <a:tcPr/>
                </a:tc>
                <a:tc>
                  <a:txBody>
                    <a:bodyPr wrap="square"/>
                    <a:lstStyle/>
                    <a:p>
                      <a:pPr>
                        <a:defRPr sz="1000">
                          <a:latin typeface="Calibri"/>
                        </a:defRPr>
                      </a:pPr>
                      <a:r>
                        <a:t>Reduce the wall thickness of the Wiper Linkage Bar Rod from 1.4mm to 1mm (from the inside)</a:t>
                      </a:r>
                    </a:p>
                  </a:txBody>
                  <a:tcPr/>
                </a:tc>
                <a:tc>
                  <a:txBody>
                    <a:bodyPr wrap="square"/>
                    <a:lstStyle/>
                    <a:p>
                      <a:pPr>
                        <a:defRPr sz="1000">
                          <a:latin typeface="Calibri"/>
                        </a:defRPr>
                      </a:pPr>
                      <a:r>
                        <a:t>N/A</a:t>
                      </a:r>
                    </a:p>
                  </a:txBody>
                  <a:tcPr/>
                </a:tc>
                <a:tc>
                  <a:txBody>
                    <a:bodyPr wrap="square"/>
                    <a:lstStyle/>
                    <a:p>
                      <a:pPr>
                        <a:defRPr sz="1000">
                          <a:latin typeface="Calibri"/>
                        </a:defRPr>
                      </a:pPr>
                      <a:r>
                        <a:t>INR 62.00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12</a:t>
            </a:r>
          </a:p>
          <a:p>
            <a:pPr>
              <a:defRPr sz="1000">
                <a:latin typeface="Calibri"/>
              </a:defRPr>
            </a:pPr>
            <a:r>
              <a:t>• Total Potential Savings: INR 1,062.00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12</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12 ideas analyzed.</a:t>
            </a:r>
          </a:p>
          <a:p>
            <a:pPr>
              <a:defRPr sz="1800">
                <a:latin typeface="Calibri"/>
              </a:defRPr>
            </a:pPr>
            <a:r>
              <a:t>Total Savings: INR 1,062.00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
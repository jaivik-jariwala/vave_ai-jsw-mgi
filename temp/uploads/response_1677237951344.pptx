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Sheet1!$A$2:$A$10</c:f>
              <c:strCache>
                <c:ptCount val="9"/>
                <c:pt idx="0">
                  <c:v>AI-GEN-01</c:v>
                </c:pt>
                <c:pt idx="1">
                  <c:v>AI-GEN-02</c:v>
                </c:pt>
                <c:pt idx="2">
                  <c:v>AI-GEN-03</c:v>
                </c:pt>
                <c:pt idx="3">
                  <c:v>AI-GEN-04</c:v>
                </c:pt>
                <c:pt idx="4">
                  <c:v>AI-GEN-05</c:v>
                </c:pt>
                <c:pt idx="5">
                  <c:v>AI-GEN-06</c:v>
                </c:pt>
                <c:pt idx="6">
                  <c:v>WEB-GEN-01</c:v>
                </c:pt>
                <c:pt idx="7">
                  <c:v>WEB-GEN-02</c:v>
                </c:pt>
                <c:pt idx="8">
                  <c:v>WEB-GEN-03</c:v>
                </c:pt>
              </c:strCache>
            </c:strRef>
          </c:cat>
          <c:val>
            <c:numRef>
              <c:f>Sheet1!$B$2:$B$10</c:f>
              <c:numCache>
                <c:formatCode>General</c:formatCode>
                <c:ptCount val="9"/>
                <c:pt idx="0">
                  <c:v>0</c:v>
                </c:pt>
                <c:pt idx="1">
                  <c:v>0</c:v>
                </c:pt>
                <c:pt idx="2">
                  <c:v>0</c:v>
                </c:pt>
                <c:pt idx="3">
                  <c:v>0</c:v>
                </c:pt>
                <c:pt idx="4">
                  <c:v>0</c:v>
                </c:pt>
                <c:pt idx="5">
                  <c:v>0</c:v>
                </c:pt>
                <c:pt idx="6">
                  <c:v>0</c:v>
                </c:pt>
                <c:pt idx="7">
                  <c:v>0</c:v>
                </c:pt>
                <c:pt idx="8">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0</c:v>
                </c:pt>
                <c:pt idx="3">
                  <c:v>0</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Implement a forged steel process for the suspension rod instead of machining from bar stock. This involves forming the rod's shape through intense pressure and heat, reducing material waste and potentially simplifying post-forging operations.</a:t>
                      </a:r>
                    </a:p>
                  </a:txBody>
                  <a:tcPr/>
                </a:tc>
                <a:tc>
                  <a:txBody>
                    <a:bodyPr wrap="square"/>
                    <a:lstStyle/>
                    <a:p>
                      <a:pPr>
                        <a:defRPr sz="1000">
                          <a:latin typeface="Calibri"/>
                        </a:defRPr>
                      </a:pPr>
                      <a:r>
                        <a:t>Investigate the feasibility of using high-volume forging dies for the specific geometry of the suspension rod. Analyze the material flow characteristics of the chosen steel alloy under forging conditions to ensure structural integrity and absence of voids. Finite Element Analysis (FEA) will be used to simulate the forging process and predict potential defects. Subsequent metallographic examination and mechanical testing (tensile strength, yield strength, fatigue testing) on forged samples will validate performance against machined parts. Perform comparative cost analysis of forging dies and machining operations.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Investigate the feasibility of using high-volume forging dies for the specific geometry of the suspension rod. Analyze the material flow characteristics of the chosen steel alloy under forging conditions to ensure structural integrity and absence of voids. Finite Element Analysis (FEA) will be used to simulate the forging process and predict potential defects. Subsequent metallographic examination and mechanical testing (tensile strength, yield strength, fatigue testing) on forged samples will validate performance against machined parts. Perform comparative cost analysis of forging dies and machining operations.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Transition to a hot-rolled seamless tube for the suspension rod body, eliminating the need for a separate welding operation common in some hollow rod designs. This utilizes the inherent strength and uniformity of seamless tubing.</a:t>
                      </a:r>
                    </a:p>
                  </a:txBody>
                  <a:tcPr/>
                </a:tc>
                <a:tc>
                  <a:txBody>
                    <a:bodyPr wrap="square"/>
                    <a:lstStyle/>
                    <a:p>
                      <a:pPr>
                        <a:defRPr sz="1000">
                          <a:latin typeface="Calibri"/>
                        </a:defRPr>
                      </a:pPr>
                      <a:r>
                        <a:t>Define precise dimensional tolerances and material specifications for hot-rolled seamless tubing suitable for suspension rod applications. Conduct analysis to confirm the ability of the seamless tube to withstand axial and bending loads under dynamic operating conditions. Perform rigorous burst pressure testing and axial load fatigue testing on prototype tubes to ensure equivalent or superior performance to existing designs. Evaluate supplier capabilities for producing tubes with the required surface finish and internal geometry to minimize post-processing.</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Define precise dimensional tolerances and material specifications for hot-rolled seamless tubing suitable for suspension rod applications. Conduct analysis to confirm the ability of the seamless tube to withstand axial and bending loads under dynamic operating conditions. Perform rigorous burst pressure testing and axial load fatigue testing on prototype tubes to ensure equivalent or superior performance to existing designs. Evaluate supplier capabilities for producing tubes with the required surface finish and internal geometry to minimize post-processing.</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Develop a composite material suspension rod utilizing a unidirectional carbon fiber pre-impregnated tape wound onto a resin-infused core. This approach offers high stiffness-to-weight ratio and customizable fiber orientation for load paths.</a:t>
                      </a:r>
                    </a:p>
                  </a:txBody>
                  <a:tcPr/>
                </a:tc>
                <a:tc>
                  <a:txBody>
                    <a:bodyPr wrap="square"/>
                    <a:lstStyle/>
                    <a:p>
                      <a:pPr>
                        <a:defRPr sz="1000">
                          <a:latin typeface="Calibri"/>
                        </a:defRPr>
                      </a:pPr>
                      <a:r>
                        <a:t>Determine the optimal fiber layup sequence and resin system based on the anticipated stress states of the suspension rod. Perform detailed FEA to model the anisotropic behavior of the composite material and predict its response under various load conditions, including impact. Validate stiffness, strength, and fatigue life through static and dynamic testing of prototype composite rods. Investigate the long-term durability against environmental factors (moisture, temperature fluctuations) and impact resistance through specific test protocols. Consider manufacturing scalability and tooling costs for composite winding and curing.</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Determine the optimal fiber layup sequence and resin system based on the anticipated stress states of the suspension rod. Perform detailed FEA to model the anisotropic behavior of the composite material and predict its response under various load conditions, including impact. Validate stiffness, strength, and fatigue life through static and dynamic testing of prototype composite rods. Investigate the long-term durability against environmental factors (moisture, temperature fluctuations) and impact resistance through specific test protocols. Consider manufacturing scalability and tooling costs for composite winding and curing.</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Integrate a specialized surface treatment, such as a plasma-nitriding process, onto a standard steel alloy suspension rod. This creates a hardened surface layer that enhances wear resistance and fatigue life without significantly increasing material costs.</a:t>
                      </a:r>
                    </a:p>
                  </a:txBody>
                  <a:tcPr/>
                </a:tc>
                <a:tc>
                  <a:txBody>
                    <a:bodyPr wrap="square"/>
                    <a:lstStyle/>
                    <a:p>
                      <a:pPr>
                        <a:defRPr sz="1000">
                          <a:latin typeface="Calibri"/>
                        </a:defRPr>
                      </a:pPr>
                      <a:r>
                        <a:t>Select a suitable steel alloy that responds effectively to plasma nitriding. Define the plasma nitriding parameters (temperature, gas mixture, time) to achieve the desired case depth and surface hardness profile. Utilize microhardness testing and profilometry to characterize the treated surface. Conduct fatigue testing on nitrided specimens under representative load cycles and compare results with untreated or conventionally treated rods. Investigate potential effects of the treatment on the core material properties and overall ductility. Assess the environmental impact and energy consumption of the plasma nitriding process.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Select a suitable steel alloy that responds effectively to plasma nitriding. Define the plasma nitriding parameters (temperature, gas mixture, time) to achieve the desired case depth and surface hardness profile. Utilize microhardness testing and profilometry to characterize the treated surface. Conduct fatigue testing on nitrided specimens under representative load cycles and compare results with untreated or conventionally treated rods. Investigate potential effects of the treatment on the core material properties and overall ductility. Assess the environmental impact and energy consumption of the plasma nitriding process.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Redesign the suspension rod to incorporate a hollow, internally ribbed structure. This maintains torsional and bending stiffness while reducing the overall mass of the solid rod. Ribs can be optimized using topology optimization.</a:t>
                      </a:r>
                    </a:p>
                  </a:txBody>
                  <a:tcPr/>
                </a:tc>
                <a:tc>
                  <a:txBody>
                    <a:bodyPr wrap="square"/>
                    <a:lstStyle/>
                    <a:p>
                      <a:pPr>
                        <a:defRPr sz="1000">
                          <a:latin typeface="Calibri"/>
                        </a:defRPr>
                      </a:pPr>
                      <a:r>
                        <a:t>Employ topology optimization software to identify the most efficient material distribution within the suspension rod's volume for the given load cases. Utilize additive manufacturing (e.g., selective laser melting or binder jetting) for prototyping and small-batch production of the complex internal geometry. Validate the structural integrity and stiffness of the ribbed design through FEA and physical load testing. Perform fatigue analysis to ensure long-term reliability. Evaluate the cost-effectiveness of additive manufacturing versus traditional methods for this specific component, considering part complexity and production volume.</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Employ topology optimization software to identify the most efficient material distribution within the suspension rod's volume for the given load cases. Utilize additive manufacturing (e.g., selective laser melting or binder jetting) for prototyping and small-batch production of the complex internal geometry. Validate the structural integrity and stiffness of the ribbed design through FEA and physical load testing. Perform fatigue analysis to ensure long-term reliability. Evaluate the cost-effectiveness of additive manufacturing versus traditional methods for this specific component, considering part complexity and production volume.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46888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118872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Explore the use of a high-strength aluminum alloy with a heat treatment process for the suspension rod. This offers a significant weight reduction compared to steel, provided the necessary fatigue strength and corrosion resistance can be achieved.</a:t>
                      </a:r>
                    </a:p>
                  </a:txBody>
                  <a:tcPr/>
                </a:tc>
                <a:tc>
                  <a:txBody>
                    <a:bodyPr wrap="square"/>
                    <a:lstStyle/>
                    <a:p>
                      <a:pPr>
                        <a:defRPr sz="1000">
                          <a:latin typeface="Calibri"/>
                        </a:defRPr>
                      </a:pPr>
                      <a:r>
                        <a:t>Identify aluminum alloys (e.g., 7000 series) with mechanical properties comparable to or exceeding those of the current steel suspension rod. Develop a heat treatment cycle optimized for the chosen alloy to maximize tensile strength, yield strength, and fatigue endurance limit. Conduct comprehensive fatigue testing under simulated road conditions, including consideration for fretting fatigue at connection points. Assess corrosion resistance through salt spray and electrochemical tests. Evaluate joining methods for end fittings and seals, as aluminum's galvanic properties differ from steel.</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Identify aluminum alloys (e.g., 7000 series) with mechanical properties comparable to or exceeding those of the current steel suspension rod. Develop a heat treatment cycle optimized for the chosen alloy to maximize tensile strength, yield strength, and fatigue endurance limit. Conduct comprehensive fatigue testing under simulated road conditions, including consideration for fretting fatigue at connection points. Assess corrosion resistance through salt spray and electrochemical tests. Evaluate joining methods for end fittings and seals, as aluminum's galvanic properties differ from steel.</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WEB-GEN-01</a:t>
                      </a:r>
                    </a:p>
                  </a:txBody>
                  <a:tcPr/>
                </a:tc>
                <a:tc>
                  <a:txBody>
                    <a:bodyPr wrap="square"/>
                    <a:lstStyle/>
                    <a:p>
                      <a:pPr>
                        <a:defRPr sz="1000">
                          <a:latin typeface="Calibri"/>
                        </a:defRPr>
                      </a:pPr>
                      <a:r>
                        <a:t>Leverage AI for value chain transformation</a:t>
                      </a:r>
                    </a:p>
                  </a:txBody>
                  <a:tcPr/>
                </a:tc>
                <a:tc>
                  <a:txBody>
                    <a:bodyPr wrap="square"/>
                    <a:lstStyle/>
                    <a:p>
                      <a:pPr>
                        <a:defRPr sz="1000">
                          <a:latin typeface="Calibri"/>
                        </a:defRPr>
                      </a:pPr>
                      <a:r>
                        <a:t>Explore trends, benefits, and real-world opportunities of AI integration across the automotive value chain. (Source: S&amp;P Global)</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Explore trends, benefits, and real-world opportunities of AI integration across the automotive value chain. (Source: S&amp;P Global)</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WEB-GEN-02</a:t>
                      </a:r>
                    </a:p>
                  </a:txBody>
                  <a:tcPr/>
                </a:tc>
                <a:tc>
                  <a:txBody>
                    <a:bodyPr wrap="square"/>
                    <a:lstStyle/>
                    <a:p>
                      <a:pPr>
                        <a:defRPr sz="1000">
                          <a:latin typeface="Calibri"/>
                        </a:defRPr>
                      </a:pPr>
                      <a:r>
                        <a:t>Adapt to EV and advanced technology integration in aftermarket</a:t>
                      </a:r>
                    </a:p>
                  </a:txBody>
                  <a:tcPr/>
                </a:tc>
                <a:tc>
                  <a:txBody>
                    <a:bodyPr wrap="square"/>
                    <a:lstStyle/>
                    <a:p>
                      <a:pPr>
                        <a:defRPr sz="1000">
                          <a:latin typeface="Calibri"/>
                        </a:defRPr>
                      </a:pPr>
                      <a:r>
                        <a:t>Stakeholders must evolve business models and processes to accommodate the shift towards Electric Vehicles (EVs) and advanced technologies in the automotive aftermarket. (Source: S&amp;P Global)</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Stakeholders must evolve business models and processes to accommodate the shift towards Electric Vehicles (EVs) and advanced technologies in the automotive aftermarket. (Source: S&amp;P Global)</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WEB-GEN-03</a:t>
                      </a:r>
                    </a:p>
                  </a:txBody>
                  <a:tcPr/>
                </a:tc>
                <a:tc>
                  <a:txBody>
                    <a:bodyPr wrap="square"/>
                    <a:lstStyle/>
                    <a:p>
                      <a:pPr>
                        <a:defRPr sz="1000">
                          <a:latin typeface="Calibri"/>
                        </a:defRPr>
                      </a:pPr>
                      <a:r>
                        <a:t>Mitigate supply chain disruptions and labor shortages</a:t>
                      </a:r>
                    </a:p>
                  </a:txBody>
                  <a:tcPr/>
                </a:tc>
                <a:tc>
                  <a:txBody>
                    <a:bodyPr wrap="square"/>
                    <a:lstStyle/>
                    <a:p>
                      <a:pPr>
                        <a:defRPr sz="1000">
                          <a:latin typeface="Calibri"/>
                        </a:defRPr>
                      </a:pPr>
                      <a:r>
                        <a:t>Develop strategies to address and mitigate the impact of supply chain disruptions and labor shortages within the automotive industry. (Source: S&amp;P Global)</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Develop strategies to address and mitigate the impact of supply chain disruptions and labor shortages within the automotive industry. (Source: S&amp;P Global)</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9</a:t>
            </a:r>
          </a:p>
          <a:p>
            <a:pPr>
              <a:defRPr sz="1000">
                <a:latin typeface="Calibri"/>
              </a:defRPr>
            </a:pPr>
            <a:r>
              <a:t>• Total Potential Savings: INR 0.00</a:t>
            </a:r>
          </a:p>
          <a:p>
            <a:pPr>
              <a:defRPr sz="1000">
                <a:latin typeface="Calibri"/>
              </a:defRPr>
            </a:pPr>
            <a:r>
              <a:t>• Implemented Ideas: 0</a:t>
            </a:r>
          </a:p>
          <a:p>
            <a:pPr>
              <a:defRPr sz="1000">
                <a:latin typeface="Calibri"/>
              </a:defRPr>
            </a:pPr>
            <a:r>
              <a:t>• Status OK: 0</a:t>
            </a:r>
          </a:p>
          <a:p>
            <a:pPr>
              <a:defRPr sz="1000">
                <a:latin typeface="Calibri"/>
              </a:defRPr>
            </a:pPr>
            <a:r>
              <a:t>• Status TBD: 0</a:t>
            </a:r>
          </a:p>
          <a:p>
            <a:pPr>
              <a:defRPr sz="1000">
                <a:latin typeface="Calibri"/>
              </a:defRPr>
            </a:pPr>
            <a:r>
              <a:t>• Status NG: 0</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9 ideas analyzed.</a:t>
            </a:r>
          </a:p>
          <a:p>
            <a:pPr>
              <a:defRPr sz="1800">
                <a:latin typeface="Calibri"/>
              </a:defRPr>
            </a:pPr>
            <a:r>
              <a:t>Total Savings: INR 0.00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
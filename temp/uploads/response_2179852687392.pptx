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Sheet1!$A$2:$A$11</c:f>
              <c:strCache>
                <c:ptCount val="10"/>
                <c:pt idx="0">
                  <c:v>2311-SP-ID-01</c:v>
                </c:pt>
                <c:pt idx="1">
                  <c:v>2311-BA-ID-01</c:v>
                </c:pt>
                <c:pt idx="2">
                  <c:v>2311-PA-ID-02</c:v>
                </c:pt>
                <c:pt idx="3">
                  <c:v>2311-PA-ID-01</c:v>
                </c:pt>
                <c:pt idx="4">
                  <c:v>AI-GEN-01</c:v>
                </c:pt>
                <c:pt idx="5">
                  <c:v>AI-GEN-02</c:v>
                </c:pt>
                <c:pt idx="6">
                  <c:v>AI-GEN-03</c:v>
                </c:pt>
                <c:pt idx="7">
                  <c:v>AI-GEN-04</c:v>
                </c:pt>
                <c:pt idx="8">
                  <c:v>AI-GEN-05</c:v>
                </c:pt>
                <c:pt idx="9">
                  <c:v>AI-GEN-06</c:v>
                </c:pt>
              </c:strCache>
            </c:strRef>
          </c:cat>
          <c:val>
            <c:numRef>
              <c:f>Sheet1!$B$2:$B$11</c:f>
              <c:numCache>
                <c:formatCode>General</c:formatCode>
                <c:ptCount val="10"/>
                <c:pt idx="0">
                  <c:v>57.0</c:v>
                </c:pt>
                <c:pt idx="1">
                  <c:v>47.0</c:v>
                </c:pt>
                <c:pt idx="2">
                  <c:v>113.0</c:v>
                </c:pt>
                <c:pt idx="3">
                  <c:v>115.0</c:v>
                </c:pt>
                <c:pt idx="4">
                  <c:v>0</c:v>
                </c:pt>
                <c:pt idx="5">
                  <c:v>0</c:v>
                </c:pt>
                <c:pt idx="6">
                  <c:v>0</c:v>
                </c:pt>
                <c:pt idx="7">
                  <c:v>0</c:v>
                </c:pt>
                <c:pt idx="8">
                  <c:v>0</c:v>
                </c:pt>
                <c:pt idx="9">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2</c:v>
                </c:pt>
                <c:pt idx="3">
                  <c:v>2</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2311-SP-ID-01</a:t>
                      </a:r>
                    </a:p>
                  </a:txBody>
                  <a:tcPr/>
                </a:tc>
                <a:tc>
                  <a:txBody>
                    <a:bodyPr wrap="square"/>
                    <a:lstStyle/>
                    <a:p>
                      <a:pPr>
                        <a:defRPr sz="1000">
                          <a:latin typeface="Calibri"/>
                        </a:defRPr>
                      </a:pPr>
                      <a:r>
                        <a:t>1. Reduce the overall wall thickness of the Brake Dust Cover Plates present on all four wheel hubs of the vehicles from 1mm to 0.8mm</a:t>
                      </a:r>
                    </a:p>
                    <a:p>
                      <a:pPr>
                        <a:defRPr sz="1000">
                          <a:latin typeface="Calibri"/>
                        </a:defRPr>
                      </a:pPr>
                      <a:r>
                        <a:t>2. Reduce the paint coating thickness on each side of all four plates from 56 microns to 27.8 microns</a:t>
                      </a:r>
                    </a:p>
                  </a:txBody>
                  <a:tcPr/>
                </a:tc>
                <a:tc>
                  <a:txBody>
                    <a:bodyPr wrap="square"/>
                    <a:lstStyle/>
                    <a:p>
                      <a:pPr>
                        <a:defRPr sz="1000">
                          <a:latin typeface="Calibri"/>
                        </a:defRPr>
                      </a:pPr>
                      <a:r>
                        <a:t>nan</a:t>
                      </a:r>
                    </a:p>
                  </a:txBody>
                  <a:tcPr/>
                </a:tc>
                <a:tc>
                  <a:txBody>
                    <a:bodyPr wrap="square"/>
                    <a:lstStyle/>
                    <a:p>
                      <a:pPr>
                        <a:defRPr sz="1000">
                          <a:latin typeface="Calibri"/>
                        </a:defRPr>
                      </a:pPr>
                      <a:r>
                        <a:t>INR 57.0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2311-BA-ID-01</a:t>
                      </a:r>
                    </a:p>
                  </a:txBody>
                  <a:tcPr/>
                </a:tc>
                <a:tc>
                  <a:txBody>
                    <a:bodyPr wrap="square"/>
                    <a:lstStyle/>
                    <a:p>
                      <a:pPr>
                        <a:defRPr sz="1000">
                          <a:latin typeface="Calibri"/>
                        </a:defRPr>
                      </a:pPr>
                      <a:r>
                        <a:t>The Brake Booster Plate in MGI could be integrated into the Dashboard BIW of the vehicle as done in KIA</a:t>
                      </a:r>
                    </a:p>
                  </a:txBody>
                  <a:tcPr/>
                </a:tc>
                <a:tc>
                  <a:txBody>
                    <a:bodyPr wrap="square"/>
                    <a:lstStyle/>
                    <a:p>
                      <a:pPr>
                        <a:defRPr sz="1000">
                          <a:latin typeface="Calibri"/>
                        </a:defRPr>
                      </a:pPr>
                      <a:r>
                        <a:t>nan</a:t>
                      </a:r>
                    </a:p>
                  </a:txBody>
                  <a:tcPr/>
                </a:tc>
                <a:tc>
                  <a:txBody>
                    <a:bodyPr wrap="square"/>
                    <a:lstStyle/>
                    <a:p>
                      <a:pPr>
                        <a:defRPr sz="1000">
                          <a:latin typeface="Calibri"/>
                        </a:defRPr>
                      </a:pPr>
                      <a:r>
                        <a:t>INR 47.0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2311-PA-ID-02</a:t>
                      </a:r>
                    </a:p>
                  </a:txBody>
                  <a:tcPr/>
                </a:tc>
                <a:tc>
                  <a:txBody>
                    <a:bodyPr wrap="square"/>
                    <a:lstStyle/>
                    <a:p>
                      <a:pPr>
                        <a:defRPr sz="1000">
                          <a:latin typeface="Calibri"/>
                        </a:defRPr>
                      </a:pPr>
                      <a:r>
                        <a:t>Redesign the current Brake Pedal Mounting Bracket used in MGI to a similar bracket used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113.0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2311-PA-ID-01</a:t>
                      </a:r>
                    </a:p>
                  </a:txBody>
                  <a:tcPr/>
                </a:tc>
                <a:tc>
                  <a:txBody>
                    <a:bodyPr wrap="square"/>
                    <a:lstStyle/>
                    <a:p>
                      <a:pPr>
                        <a:defRPr sz="1000">
                          <a:latin typeface="Calibri"/>
                        </a:defRPr>
                      </a:pPr>
                      <a:r>
                        <a:t>Remove the black paint coating on the Brake Pedal Mounting Bracket within MGI</a:t>
                      </a:r>
                    </a:p>
                  </a:txBody>
                  <a:tcPr/>
                </a:tc>
                <a:tc>
                  <a:txBody>
                    <a:bodyPr wrap="square"/>
                    <a:lstStyle/>
                    <a:p>
                      <a:pPr>
                        <a:defRPr sz="1000">
                          <a:latin typeface="Calibri"/>
                        </a:defRPr>
                      </a:pPr>
                      <a:r>
                        <a:t>nan</a:t>
                      </a:r>
                    </a:p>
                  </a:txBody>
                  <a:tcPr/>
                </a:tc>
                <a:tc>
                  <a:txBody>
                    <a:bodyPr wrap="square"/>
                    <a:lstStyle/>
                    <a:p>
                      <a:pPr>
                        <a:defRPr sz="1000">
                          <a:latin typeface="Calibri"/>
                        </a:defRPr>
                      </a:pPr>
                      <a:r>
                        <a:t>INR 115.0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Transition the brake caliper housing from a traditional cast iron to a forged aluminum alloy (e.g., 6061-T6) with optimized internal fluid passages.</a:t>
                      </a:r>
                    </a:p>
                  </a:txBody>
                  <a:tcPr/>
                </a:tc>
                <a:tc>
                  <a:txBody>
                    <a:bodyPr wrap="square"/>
                    <a:lstStyle/>
                    <a:p>
                      <a:pPr>
                        <a:defRPr sz="1000">
                          <a:latin typeface="Calibri"/>
                        </a:defRPr>
                      </a:pPr>
                      <a:r>
                        <a:t>The primary cost reduction will stem from material cost savings and a reduction in machining complexity due to the inherent properties of forged aluminum. Aluminum offers a significantly better strength-to-weight ratio compared to cast iron, allowing for thinner wall sections while maintaining structural integrity under high braking pressures. The forging process itself can reduce porosity and improve material uniformity, potentially leading to improved thermal dissipation. Validation will involve finite element analysis (FEA) to simulate extreme braking loads and thermal cycling to ensure structural integrity and fatigue life. Physical testing will include burst pressure tests, fade tests, and durability testing on a dynamometer and in-vehicle on a test track to validate performance against existing cast iron calipers.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primary cost reduction will stem from material cost savings and a reduction in machining complexity due to the inherent properties of forged aluminum. Aluminum offers a significantly better strength-to-weight ratio compared to cast iron, allowing for thinner wall sections while maintaining structural integrity under high braking pressures. The forging process itself can reduce porosity and improve material uniformity, potentially leading to improved thermal dissipation. Validation will involve finite element analysis (FEA) to simulate extreme braking loads and thermal cycling to ensure structural integrity and fatigue life. Physical testing will include burst pressure tests, fade tests, and durability testing on a dynamometer and in-vehicle on a test track to validate performance against existing cast iron calipers.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Replace the standard brake fluid reservoir with a molded, integrated plastic reservoir directly attached to the master cylinder assembly, eliminating separate hoses and fittings.</a:t>
                      </a:r>
                    </a:p>
                  </a:txBody>
                  <a:tcPr/>
                </a:tc>
                <a:tc>
                  <a:txBody>
                    <a:bodyPr wrap="square"/>
                    <a:lstStyle/>
                    <a:p>
                      <a:pPr>
                        <a:defRPr sz="1000">
                          <a:latin typeface="Calibri"/>
                        </a:defRPr>
                      </a:pPr>
                      <a:r>
                        <a:t>This redesign eliminates the cost of a separate metal or plastic reservoir, associated sealing components, and multiple hose assemblies. The integrated plastic design will leverage blow molding or injection molding techniques, allowing for complex shapes optimized for packaging and fluid level monitoring. The material will be a high-performance, chemically resistant polymer capable of withstanding brake fluid and engine bay temperatures. Validation will involve long-term compatibility testing with various brake fluids, leakage testing under thermal and pressure cycling, and vibration testing to ensure durability of the integrated mounting points. Functional validation will confirm consistent fluid delivery under all operating conditions.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redesign eliminates the cost of a separate metal or plastic reservoir, associated sealing components, and multiple hose assemblies. The integrated plastic design will leverage blow molding or injection molding techniques, allowing for complex shapes optimized for packaging and fluid level monitoring. The material will be a high-performance, chemically resistant polymer capable of withstanding brake fluid and engine bay temperatures. Validation will involve long-term compatibility testing with various brake fluids, leakage testing under thermal and pressure cycling, and vibration testing to ensure durability of the integrated mounting points. Functional validation will confirm consistent fluid delivery under all operating conditions.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Implement a 'silent' brake pad formulation utilizing advanced ceramic-matrix composites with optimized fiber orientation to reduce wear particulates and eliminate noise-generating friction mechanisms.</a:t>
                      </a:r>
                    </a:p>
                  </a:txBody>
                  <a:tcPr/>
                </a:tc>
                <a:tc>
                  <a:txBody>
                    <a:bodyPr wrap="square"/>
                    <a:lstStyle/>
                    <a:p>
                      <a:pPr>
                        <a:defRPr sz="1000">
                          <a:latin typeface="Calibri"/>
                        </a:defRPr>
                      </a:pPr>
                      <a:r>
                        <a:t>Traditional brake pads often incorporate metallic elements that contribute to noise and wear. This proposal focuses on a composite material where ceramic fibers are precisely oriented to manage friction forces and thermal expansion. This will reduce the need for anti-squeal shims and coatings, simplifying the caliper assembly. The composite material's inherent wear resistance will also extend pad life, indirectly reducing maintenance costs. Validation will involve extensive NVH (Noise, Vibration, Harshness) testing, including subjective and objective assessments in controlled acoustic chambers and on-vehicle. Wear rate testing on dynamometers and real-world driving cycles will be conducted to confirm extended service life. Material characterization will confirm thermal stability and fade resistance.</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Traditional brake pads often incorporate metallic elements that contribute to noise and wear. This proposal focuses on a composite material where ceramic fibers are precisely oriented to manage friction forces and thermal expansion. This will reduce the need for anti-squeal shims and coatings, simplifying the caliper assembly. The composite material's inherent wear resistance will also extend pad life, indirectly reducing maintenance costs. Validation will involve extensive NVH (Noise, Vibration, Harshness) testing, including subjective and objective assessments in controlled acoustic chambers and on-vehicle. Wear rate testing on dynamometers and real-world driving cycles will be conducted to confirm extended service life. Material characterization will confirm thermal stability and fade resistance.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Develop a unified brake disc and hub assembly where the disc is directly bolted to a specially designed aluminum alloy wheel hub, eliminating the separate caliper mounting bracket on the knuckle.</a:t>
                      </a:r>
                    </a:p>
                  </a:txBody>
                  <a:tcPr/>
                </a:tc>
                <a:tc>
                  <a:txBody>
                    <a:bodyPr wrap="square"/>
                    <a:lstStyle/>
                    <a:p>
                      <a:pPr>
                        <a:defRPr sz="1000">
                          <a:latin typeface="Calibri"/>
                        </a:defRPr>
                      </a:pPr>
                      <a:r>
                        <a:t>By integrating the caliper mounting features directly into a redesigned wheel hub assembly, we eliminate a separate bracket component and its associated fasteners. This approach leverages the strength and precision of an aluminum alloy hub, which can be forged or cast and then precisely machined. The disc would attach via a robust bolt pattern to this hub. This reduces part count, assembly time, and potential for misassembly. Validation will focus on ensuring the hub can withstand the shear and bending loads from the caliper under heavy braking. FEA will be critical in determining the optimal hub geometry and material thickness. Rigorous dynamic testing on a test rig simulating braking forces, as well as on-vehicle road testing, will confirm the integrity and performance of this integrated system.</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By integrating the caliper mounting features directly into a redesigned wheel hub assembly, we eliminate a separate bracket component and its associated fasteners. This approach leverages the strength and precision of an aluminum alloy hub, which can be forged or cast and then precisely machined. The disc would attach via a robust bolt pattern to this hub. This reduces part count, assembly time, and potential for misassembly. Validation will focus on ensuring the hub can withstand the shear and bending loads from the caliper under heavy braking. FEA will be critical in determining the optimal hub geometry and material thickness. Rigorous dynamic testing on a test rig simulating braking forces, as well as on-vehicle road testing, will confirm the integrity and performance of this integrated system.</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Investigate and implement a single-piston, floating caliper design for rear brakes, optimized for weight and cost, while ensuring adequate performance for regenerative braking integration.</a:t>
                      </a:r>
                    </a:p>
                  </a:txBody>
                  <a:tcPr/>
                </a:tc>
                <a:tc>
                  <a:txBody>
                    <a:bodyPr wrap="square"/>
                    <a:lstStyle/>
                    <a:p>
                      <a:pPr>
                        <a:defRPr sz="1000">
                          <a:latin typeface="Calibri"/>
                        </a:defRPr>
                      </a:pPr>
                      <a:r>
                        <a:t>Many rear brake systems currently use fixed calipers or larger floating caliper designs than necessary, especially when regenerative braking handles a significant portion of deceleration. A single-piston floating caliper, optimized through FEA for necessary clamping force and thermal management, can offer substantial cost and weight savings. The design will focus on minimizing piston size and housing mass while maintaining proper pad retraction and wear characteristics. Material selection will lean towards aluminum alloys for the caliper body. Validation will involve performance mapping with and without regenerative braking assist, fade testing under simulated worst-case scenarios, and durability testing to confirm the lifespan of seals and the slider mechanism. NVH testing will ensure acceptable noise levels.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Many rear brake systems currently use fixed calipers or larger floating caliper designs than necessary, especially when regenerative braking handles a significant portion of deceleration. A single-piston floating caliper, optimized through FEA for necessary clamping force and thermal management, can offer substantial cost and weight savings. The design will focus on minimizing piston size and housing mass while maintaining proper pad retraction and wear characteristics. Material selection will lean towards aluminum alloys for the caliper body. Validation will involve performance mapping with and without regenerative braking assist, fade testing under simulated worst-case scenarios, and durability testing to confirm the lifespan of seals and the slider mechanism. NVH testing will ensure acceptable noise levels.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Replace conventional brake pedal return springs with a pre-tensioned composite leaf spring integrated into the pedal arm structure.</a:t>
                      </a:r>
                    </a:p>
                  </a:txBody>
                  <a:tcPr/>
                </a:tc>
                <a:tc>
                  <a:txBody>
                    <a:bodyPr wrap="square"/>
                    <a:lstStyle/>
                    <a:p>
                      <a:pPr>
                        <a:defRPr sz="1000">
                          <a:latin typeface="Calibri"/>
                        </a:defRPr>
                      </a:pPr>
                      <a:r>
                        <a:t>This proposal aims to replace the conventional coil spring, clip, and retaining components with a single, molded composite element that acts as both a structural reinforcement for the pedal arm and the return spring mechanism. The composite material's inherent flexibility and fatigue resistance will provide the necessary restoring force. This reduces part count, assembly complexity, and the potential for spring fatigue failure. The design will allow for tunable spring rates through material selection and lay-up. Validation will involve FEA to confirm the stress distribution and fatigue life of the composite leaf spring under repeated pedal actuation cycles. Dynamic testing on a pedal rig and in-vehicle testing will verify the feel, consistency, and durability of the return mechanism.</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proposal aims to replace the conventional coil spring, clip, and retaining components with a single, molded composite element that acts as both a structural reinforcement for the pedal arm and the return spring mechanism. The composite material's inherent flexibility and fatigue resistance will provide the necessary restoring force. This reduces part count, assembly complexity, and the potential for spring fatigue failure. The design will allow for tunable spring rates through material selection and lay-up. Validation will involve FEA to confirm the stress distribution and fatigue life of the composite leaf spring under repeated pedal actuation cycles. Dynamic testing on a pedal rig and in-vehicle testing will verify the feel, consistency, and durability of the return mechanism.</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10</a:t>
            </a:r>
          </a:p>
          <a:p>
            <a:pPr>
              <a:defRPr sz="1000">
                <a:latin typeface="Calibri"/>
              </a:defRPr>
            </a:pPr>
            <a:r>
              <a:t>• Total Potential Savings: INR 332.00</a:t>
            </a:r>
          </a:p>
          <a:p>
            <a:pPr>
              <a:defRPr sz="1000">
                <a:latin typeface="Calibri"/>
              </a:defRPr>
            </a:pPr>
            <a:r>
              <a:t>• Implemented Ideas: 0</a:t>
            </a:r>
          </a:p>
          <a:p>
            <a:pPr>
              <a:defRPr sz="1000">
                <a:latin typeface="Calibri"/>
              </a:defRPr>
            </a:pPr>
            <a:r>
              <a:t>• Status OK: 0</a:t>
            </a:r>
          </a:p>
          <a:p>
            <a:pPr>
              <a:defRPr sz="1000">
                <a:latin typeface="Calibri"/>
              </a:defRPr>
            </a:pPr>
            <a:r>
              <a:t>• Status TBD: 2</a:t>
            </a:r>
          </a:p>
          <a:p>
            <a:pPr>
              <a:defRPr sz="1000">
                <a:latin typeface="Calibri"/>
              </a:defRPr>
            </a:pPr>
            <a:r>
              <a:t>• Status NG: 2</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10 ideas analyzed.</a:t>
            </a:r>
          </a:p>
          <a:p>
            <a:pPr>
              <a:defRPr sz="1800">
                <a:latin typeface="Calibri"/>
              </a:defRPr>
            </a:pPr>
            <a:r>
              <a:t>Total Savings: INR 332.00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